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7"/>
  </p:notesMasterIdLst>
  <p:sldIdLst>
    <p:sldId id="273" r:id="rId2"/>
    <p:sldId id="284" r:id="rId3"/>
    <p:sldId id="286" r:id="rId4"/>
    <p:sldId id="260" r:id="rId5"/>
    <p:sldId id="281" r:id="rId6"/>
    <p:sldId id="282" r:id="rId7"/>
    <p:sldId id="277" r:id="rId8"/>
    <p:sldId id="270" r:id="rId9"/>
    <p:sldId id="278" r:id="rId10"/>
    <p:sldId id="298" r:id="rId11"/>
    <p:sldId id="285" r:id="rId12"/>
    <p:sldId id="276" r:id="rId13"/>
    <p:sldId id="287" r:id="rId14"/>
    <p:sldId id="288" r:id="rId15"/>
    <p:sldId id="295" r:id="rId16"/>
    <p:sldId id="290" r:id="rId17"/>
    <p:sldId id="291" r:id="rId18"/>
    <p:sldId id="297" r:id="rId19"/>
    <p:sldId id="293" r:id="rId20"/>
    <p:sldId id="280" r:id="rId21"/>
    <p:sldId id="279" r:id="rId22"/>
    <p:sldId id="274" r:id="rId23"/>
    <p:sldId id="272" r:id="rId24"/>
    <p:sldId id="256" r:id="rId25"/>
    <p:sldId id="257" r:id="rId26"/>
  </p:sldIdLst>
  <p:sldSz cx="9144000" cy="5143500" type="screen16x9"/>
  <p:notesSz cx="6858000" cy="9144000"/>
  <p:embeddedFontLst>
    <p:embeddedFont>
      <p:font typeface="Manrope" panose="020B0604020202020204" charset="0"/>
      <p:regular r:id="rId28"/>
      <p:bold r:id="rId29"/>
    </p:embeddedFont>
    <p:embeddedFont>
      <p:font typeface="Manrope Medium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747775"/>
          </p15:clr>
        </p15:guide>
        <p15:guide id="2" pos="320">
          <p15:clr>
            <a:srgbClr val="747775"/>
          </p15:clr>
        </p15:guide>
        <p15:guide id="3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>
        <p:guide orient="horz"/>
        <p:guide pos="32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DE644644-5CE4-88E7-12DC-CD546D0FD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D6059731-852F-4318-6777-6D8D53CD7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1EDC9DDF-5B1F-7965-A9AF-5DC0AC1B9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383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24D611B5-D7AD-B389-18EA-B1C371DB3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>
            <a:extLst>
              <a:ext uri="{FF2B5EF4-FFF2-40B4-BE49-F238E27FC236}">
                <a16:creationId xmlns:a16="http://schemas.microsoft.com/office/drawing/2014/main" id="{99C8D2A7-2F69-7D88-3C3D-4DA31F14C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>
            <a:extLst>
              <a:ext uri="{FF2B5EF4-FFF2-40B4-BE49-F238E27FC236}">
                <a16:creationId xmlns:a16="http://schemas.microsoft.com/office/drawing/2014/main" id="{0F5893AB-7F15-357C-D203-B3A8AF962C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451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599add369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1" name="Google Shape;121;g37599add369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599add369_0_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49" name="Google Shape;249;g37599add369_0_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A52812F2-3C3A-FAE8-1BBD-DC89CC91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F87114D1-9F57-44AC-1BAE-ABEDE86B92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B33D8A9A-F396-06B7-3331-A728212F7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718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A60F4D34-D62D-9E2A-F75A-D26CF775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FECE6097-6BD7-21D5-A3DB-DE8CCC83CE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846E369C-97F8-94CF-EAD0-C9B8903655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3767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24F1333C-2806-C1E2-30B5-6D4991AA0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>
            <a:extLst>
              <a:ext uri="{FF2B5EF4-FFF2-40B4-BE49-F238E27FC236}">
                <a16:creationId xmlns:a16="http://schemas.microsoft.com/office/drawing/2014/main" id="{0629C908-6786-7606-BB90-2B7847E1C0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>
            <a:extLst>
              <a:ext uri="{FF2B5EF4-FFF2-40B4-BE49-F238E27FC236}">
                <a16:creationId xmlns:a16="http://schemas.microsoft.com/office/drawing/2014/main" id="{B1FD9C78-4137-7782-F93E-5F80695809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310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C80334B1-3A98-F056-6060-CA3D84AE1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94E37692-E064-DEF3-B183-CC62639B36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D102129D-5E03-754F-EF2B-6D5201820A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2942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>
          <a:extLst>
            <a:ext uri="{FF2B5EF4-FFF2-40B4-BE49-F238E27FC236}">
              <a16:creationId xmlns:a16="http://schemas.microsoft.com/office/drawing/2014/main" id="{ECA38CF9-1F75-83CF-0249-477CA46F4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599add369_0_361:notes">
            <a:extLst>
              <a:ext uri="{FF2B5EF4-FFF2-40B4-BE49-F238E27FC236}">
                <a16:creationId xmlns:a16="http://schemas.microsoft.com/office/drawing/2014/main" id="{055C5A5F-C653-4EEB-9BED-846FBA676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40" name="Google Shape;340;g37599add369_0_361:notes">
            <a:extLst>
              <a:ext uri="{FF2B5EF4-FFF2-40B4-BE49-F238E27FC236}">
                <a16:creationId xmlns:a16="http://schemas.microsoft.com/office/drawing/2014/main" id="{8C4A4734-4C1C-2DCB-9BD2-7C083A5AE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441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EEF0C503-E1AE-CA3A-9468-051F3B1B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32AE3918-7602-5BA4-E10B-7BC54361D4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8043E21D-C7CA-BC74-00F0-B8107C916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37706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98502FD2-F81C-E7C1-6DE6-C773E5CB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599add369_0_286:notes">
            <a:extLst>
              <a:ext uri="{FF2B5EF4-FFF2-40B4-BE49-F238E27FC236}">
                <a16:creationId xmlns:a16="http://schemas.microsoft.com/office/drawing/2014/main" id="{25278427-EED0-A6AF-A413-6A1AC5D2E1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91" name="Google Shape;291;g37599add369_0_286:notes">
            <a:extLst>
              <a:ext uri="{FF2B5EF4-FFF2-40B4-BE49-F238E27FC236}">
                <a16:creationId xmlns:a16="http://schemas.microsoft.com/office/drawing/2014/main" id="{8FD546E0-A34F-FA95-389E-33E3B0CA6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2455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7599add369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301" name="Google Shape;301;g37599add369_0_2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7599add369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273" name="Google Shape;273;g37599add369_0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599add36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66" name="Google Shape;66;g37599add36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/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/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TFM: EasyMoney</a:t>
            </a: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C1623F8-8DAB-A6FD-8E66-F47348DD2B47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15.11.2025 rev 00</a:t>
            </a:r>
            <a:endParaRPr lang="en-GB" sz="1000" u="sng" dirty="0">
              <a:solidFill>
                <a:schemeClr val="bg1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47BD954-4621-2305-4F08-A94930991D2C}"/>
              </a:ext>
            </a:extLst>
          </p:cNvPr>
          <p:cNvSpPr txBox="1"/>
          <p:nvPr/>
        </p:nvSpPr>
        <p:spPr>
          <a:xfrm>
            <a:off x="6542715" y="2110313"/>
            <a:ext cx="24458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solidFill>
                  <a:schemeClr val="bg1"/>
                </a:solidFill>
              </a:rPr>
              <a:t>         Realizado por:</a:t>
            </a:r>
          </a:p>
          <a:p>
            <a:r>
              <a:rPr lang="es-ES" sz="800" dirty="0">
                <a:solidFill>
                  <a:schemeClr val="bg1"/>
                </a:solidFill>
              </a:rPr>
              <a:t>	Joaquín Perticari</a:t>
            </a:r>
          </a:p>
          <a:p>
            <a:r>
              <a:rPr lang="es-ES" sz="800" dirty="0">
                <a:solidFill>
                  <a:schemeClr val="bg1"/>
                </a:solidFill>
              </a:rPr>
              <a:t>	Jordi Servat</a:t>
            </a:r>
          </a:p>
          <a:p>
            <a:r>
              <a:rPr lang="es-ES" sz="800" dirty="0">
                <a:solidFill>
                  <a:schemeClr val="bg1"/>
                </a:solidFill>
              </a:rPr>
              <a:t>	Christian Méndez</a:t>
            </a:r>
          </a:p>
          <a:p>
            <a:r>
              <a:rPr lang="es-ES" sz="800" dirty="0">
                <a:solidFill>
                  <a:schemeClr val="bg1"/>
                </a:solidFill>
              </a:rPr>
              <a:t>	Juan David Sánchez</a:t>
            </a:r>
          </a:p>
          <a:p>
            <a:r>
              <a:rPr lang="es-ES" sz="800" dirty="0">
                <a:solidFill>
                  <a:schemeClr val="bg1"/>
                </a:solidFill>
              </a:rPr>
              <a:t>	Enrique González</a:t>
            </a:r>
            <a:endParaRPr lang="en-GB" sz="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FAE457A5-C1B1-9217-E321-9319A897B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76E8C47D-6A8B-D071-FAF0-523BE4EB6A3F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7CB788E6-C121-CCE2-902D-9E75E4D3876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B9C8507D-382F-52EE-4297-C211247ECCE6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42ED1362-CD75-499E-707C-0EBC043CA6CC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527BC235-6795-961E-2CA6-A9EAF912B238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T1: PowerBI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14040243-DC8B-A109-26F1-A297BCA9629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4F1CA7B-8351-5325-1B42-54D2B40F9705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Realizado por Enrique González Fernández                                                                                                                       12.11.2025 rev borrador</a:t>
            </a:r>
            <a:endParaRPr lang="en-GB" sz="10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834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C7E12531-A930-1A40-D2C4-313C1941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14078F7E-2EB3-B9C6-3B52-AC06D6F3082C}"/>
              </a:ext>
            </a:extLst>
          </p:cNvPr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>
            <a:extLst>
              <a:ext uri="{FF2B5EF4-FFF2-40B4-BE49-F238E27FC236}">
                <a16:creationId xmlns:a16="http://schemas.microsoft.com/office/drawing/2014/main" id="{131D1757-426B-81D9-C2B8-09315D86DB92}"/>
              </a:ext>
            </a:extLst>
          </p:cNvPr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8B667E1A-2E6F-742A-A39B-1FE00C4E2BFC}"/>
              </a:ext>
            </a:extLst>
          </p:cNvPr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>
            <a:extLst>
              <a:ext uri="{FF2B5EF4-FFF2-40B4-BE49-F238E27FC236}">
                <a16:creationId xmlns:a16="http://schemas.microsoft.com/office/drawing/2014/main" id="{AE92DABC-8082-D410-7630-62E76E31E7A0}"/>
              </a:ext>
            </a:extLst>
          </p:cNvPr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>
            <a:extLst>
              <a:ext uri="{FF2B5EF4-FFF2-40B4-BE49-F238E27FC236}">
                <a16:creationId xmlns:a16="http://schemas.microsoft.com/office/drawing/2014/main" id="{47EC19D7-FA41-A5B0-0B4D-AE97BA018233}"/>
              </a:ext>
            </a:extLst>
          </p:cNvPr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>
            <a:extLst>
              <a:ext uri="{FF2B5EF4-FFF2-40B4-BE49-F238E27FC236}">
                <a16:creationId xmlns:a16="http://schemas.microsoft.com/office/drawing/2014/main" id="{98A34789-B7DB-3DF7-1D81-0F4B8AE34ACD}"/>
              </a:ext>
            </a:extLst>
          </p:cNvPr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4.- Análisis de datos Sales.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>
            <a:extLst>
              <a:ext uri="{FF2B5EF4-FFF2-40B4-BE49-F238E27FC236}">
                <a16:creationId xmlns:a16="http://schemas.microsoft.com/office/drawing/2014/main" id="{5AF81E89-AD72-0DF4-3F68-572AE3003105}"/>
              </a:ext>
            </a:extLst>
          </p:cNvPr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>
            <a:extLst>
              <a:ext uri="{FF2B5EF4-FFF2-40B4-BE49-F238E27FC236}">
                <a16:creationId xmlns:a16="http://schemas.microsoft.com/office/drawing/2014/main" id="{EEDD4088-8FA6-3A6F-8185-BFB3206270A7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>
              <a:extLst>
                <a:ext uri="{FF2B5EF4-FFF2-40B4-BE49-F238E27FC236}">
                  <a16:creationId xmlns:a16="http://schemas.microsoft.com/office/drawing/2014/main" id="{40007B16-47D5-F7C3-7EEB-81ACCD5C695F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>
              <a:extLst>
                <a:ext uri="{FF2B5EF4-FFF2-40B4-BE49-F238E27FC236}">
                  <a16:creationId xmlns:a16="http://schemas.microsoft.com/office/drawing/2014/main" id="{0EABEE4C-F11B-5F7E-83DA-C1366A50BD44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>
              <a:extLst>
                <a:ext uri="{FF2B5EF4-FFF2-40B4-BE49-F238E27FC236}">
                  <a16:creationId xmlns:a16="http://schemas.microsoft.com/office/drawing/2014/main" id="{193AA814-9E96-08AC-6E89-6EC5DB125E06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>
            <a:extLst>
              <a:ext uri="{FF2B5EF4-FFF2-40B4-BE49-F238E27FC236}">
                <a16:creationId xmlns:a16="http://schemas.microsoft.com/office/drawing/2014/main" id="{3AA27AD5-4ECC-2738-C049-DBFF9274A21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>
            <a:extLst>
              <a:ext uri="{FF2B5EF4-FFF2-40B4-BE49-F238E27FC236}">
                <a16:creationId xmlns:a16="http://schemas.microsoft.com/office/drawing/2014/main" id="{7E14E384-B458-B178-66E1-65A2F0A6D7B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>
            <a:extLst>
              <a:ext uri="{FF2B5EF4-FFF2-40B4-BE49-F238E27FC236}">
                <a16:creationId xmlns:a16="http://schemas.microsoft.com/office/drawing/2014/main" id="{5EBD8EDE-F106-CA66-E021-7DFC3CB4D35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>
            <a:extLst>
              <a:ext uri="{FF2B5EF4-FFF2-40B4-BE49-F238E27FC236}">
                <a16:creationId xmlns:a16="http://schemas.microsoft.com/office/drawing/2014/main" id="{D12367D2-813B-EE19-F1EE-EF3E5F1800D4}"/>
              </a:ext>
            </a:extLst>
          </p:cNvPr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>
            <a:extLst>
              <a:ext uri="{FF2B5EF4-FFF2-40B4-BE49-F238E27FC236}">
                <a16:creationId xmlns:a16="http://schemas.microsoft.com/office/drawing/2014/main" id="{E34BA00C-C6DD-CC80-1803-1B9C671B1148}"/>
              </a:ext>
            </a:extLst>
          </p:cNvPr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>
            <a:extLst>
              <a:ext uri="{FF2B5EF4-FFF2-40B4-BE49-F238E27FC236}">
                <a16:creationId xmlns:a16="http://schemas.microsoft.com/office/drawing/2014/main" id="{3ABE2E16-44FF-4089-246F-A85904DC0CD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6207C6FD-618F-1D9F-919D-A8D97A229AA6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E14E220F-72A7-C00D-1F12-7AD3270E00EF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5.- Análisis de datos Customer_Products.</a:t>
            </a:r>
            <a:endParaRPr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FB8C66C5-FCA5-9E78-C09C-2EC02824FFB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74AE0B5-42BE-9F23-31E0-68E5913F7D90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T1: PowerBI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128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7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125" name="Google Shape;125;p17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6" name="Google Shape;126;p17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127" name="Google Shape;127;p17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Elipse 1">
            <a:extLst>
              <a:ext uri="{FF2B5EF4-FFF2-40B4-BE49-F238E27FC236}">
                <a16:creationId xmlns:a16="http://schemas.microsoft.com/office/drawing/2014/main" id="{60CBE66A-ED80-C4DF-0FCE-B29D9CB61C12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BF2E03-F87F-71DF-017F-941A3242FC4E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FE98324-CC30-4E00-9068-6510CBCE0BE5}"/>
              </a:ext>
            </a:extLst>
          </p:cNvPr>
          <p:cNvSpPr/>
          <p:nvPr/>
        </p:nvSpPr>
        <p:spPr>
          <a:xfrm>
            <a:off x="1109721" y="853672"/>
            <a:ext cx="7523225" cy="1234380"/>
          </a:xfrm>
          <a:prstGeom prst="roundRect">
            <a:avLst/>
          </a:prstGeom>
          <a:solidFill>
            <a:schemeClr val="bg1">
              <a:alpha val="10000"/>
            </a:schemeClr>
          </a:solidFill>
          <a:ln w="38100">
            <a:solidFill>
              <a:srgbClr val="FFC000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PETICIONES EJECUTIVAS (Carol)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Mejorar la rentabilidad en la cartera de clientes según penetración de mercado (Producto-Mercado Actual).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PowerBI con KPIs (Evolutivos y DeepDive).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Datos que aporten valor al análisis de </a:t>
            </a:r>
            <a:r>
              <a:rPr lang="es-ES" sz="1000" b="1" dirty="0">
                <a:solidFill>
                  <a:srgbClr val="FF0000"/>
                </a:solidFill>
              </a:rPr>
              <a:t>VENTAS</a:t>
            </a:r>
            <a:r>
              <a:rPr lang="es-ES" sz="1000" b="1" dirty="0">
                <a:solidFill>
                  <a:schemeClr val="tx1"/>
                </a:solidFill>
              </a:rPr>
              <a:t> </a:t>
            </a:r>
            <a:r>
              <a:rPr lang="es-ES" sz="1000" b="1" dirty="0">
                <a:solidFill>
                  <a:srgbClr val="FF0000"/>
                </a:solidFill>
              </a:rPr>
              <a:t>/</a:t>
            </a:r>
            <a:r>
              <a:rPr lang="es-ES" sz="1000" dirty="0">
                <a:solidFill>
                  <a:schemeClr val="tx1"/>
                </a:solidFill>
              </a:rPr>
              <a:t> </a:t>
            </a:r>
            <a:r>
              <a:rPr lang="es-ES" sz="1000" b="1" dirty="0">
                <a:solidFill>
                  <a:srgbClr val="FF0000"/>
                </a:solidFill>
              </a:rPr>
              <a:t>PROFUNDIZAR ANALISIS DEL CLIENTE</a:t>
            </a:r>
            <a:r>
              <a:rPr lang="es-ES" sz="1000" dirty="0">
                <a:solidFill>
                  <a:schemeClr val="tx1"/>
                </a:solidFill>
              </a:rPr>
              <a:t>. 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Ejemplos: productos vendidos / mes. Saber quien contrata nuevos o viejos clientes.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Tareas T2,T3 y T4.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D394B8F-0532-0856-785C-EE236DDD099C}"/>
              </a:ext>
            </a:extLst>
          </p:cNvPr>
          <p:cNvSpPr/>
          <p:nvPr/>
        </p:nvSpPr>
        <p:spPr>
          <a:xfrm>
            <a:off x="1109721" y="2365108"/>
            <a:ext cx="7523225" cy="1021556"/>
          </a:xfrm>
          <a:prstGeom prst="roundRect">
            <a:avLst/>
          </a:prstGeom>
          <a:solidFill>
            <a:schemeClr val="bg1">
              <a:alpha val="10000"/>
            </a:schemeClr>
          </a:solidFill>
          <a:ln w="38100">
            <a:solidFill>
              <a:srgbClr val="FFC000">
                <a:alpha val="92000"/>
              </a:srgbClr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DICCIONARIO DE TABLAS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  <a:latin typeface="Arial"/>
                <a:cs typeface="Arial"/>
              </a:rPr>
              <a:t>Se presentan los datos en #5 tablas en Excel con datos separados por comas. </a:t>
            </a:r>
            <a:r>
              <a:rPr lang="es-ES" sz="1000" dirty="0">
                <a:solidFill>
                  <a:srgbClr val="FF0000"/>
                </a:solidFill>
                <a:latin typeface="Arial"/>
                <a:cs typeface="Arial"/>
              </a:rPr>
              <a:t>¿Customer_Products se descarta a priori?.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#4 tablas orientadas a ventas (SocioDemographics, Customer_Commercial_Activity, Sales, Product_Description).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rgbClr val="FF0000"/>
                </a:solidFill>
                <a:latin typeface="Arial"/>
                <a:cs typeface="Arial"/>
              </a:rPr>
              <a:t>La tabla de Product_Description tiene la información limpia.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Definición del diagrama Entidad-Relación (PK, FK y relaciones entre entidades).</a:t>
            </a: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CFA7131-68A0-A542-5B6E-96F0A0724921}"/>
              </a:ext>
            </a:extLst>
          </p:cNvPr>
          <p:cNvSpPr/>
          <p:nvPr/>
        </p:nvSpPr>
        <p:spPr>
          <a:xfrm>
            <a:off x="1109724" y="3663721"/>
            <a:ext cx="7523225" cy="953453"/>
          </a:xfrm>
          <a:prstGeom prst="roundRect">
            <a:avLst/>
          </a:prstGeom>
          <a:solidFill>
            <a:schemeClr val="bg1">
              <a:alpha val="10000"/>
            </a:schemeClr>
          </a:solidFill>
          <a:ln w="38100">
            <a:solidFill>
              <a:srgbClr val="FFC000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</a:rPr>
              <a:t>POWER BI Preliminar</a:t>
            </a:r>
            <a:endParaRPr lang="es-ES" b="1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Arial"/>
                <a:cs typeface="Arial"/>
              </a:rPr>
              <a:t>Se seleccionan #14 posibles variables de los #39 atributos iniciales.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Arial"/>
                <a:cs typeface="Arial"/>
              </a:rPr>
              <a:t>Variables financieras destacadas: active_customer, salary, net_margin.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Arial"/>
                <a:cs typeface="Arial"/>
              </a:rPr>
              <a:t>Realización en boceto de un PowerBI preliminar.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C8320C0-2F0A-99C5-3E4E-D4D376FB35E1}"/>
              </a:ext>
            </a:extLst>
          </p:cNvPr>
          <p:cNvSpPr/>
          <p:nvPr/>
        </p:nvSpPr>
        <p:spPr>
          <a:xfrm>
            <a:off x="7124129" y="3158754"/>
            <a:ext cx="1897039" cy="1858935"/>
          </a:xfrm>
          <a:prstGeom prst="ellipse">
            <a:avLst/>
          </a:prstGeom>
          <a:gradFill flip="none" rotWithShape="1">
            <a:gsLst>
              <a:gs pos="0">
                <a:srgbClr val="FFC000">
                  <a:lumMod val="94000"/>
                </a:srgbClr>
              </a:gs>
              <a:gs pos="49000">
                <a:schemeClr val="accent4">
                  <a:lumMod val="45000"/>
                  <a:lumOff val="55000"/>
                </a:schemeClr>
              </a:gs>
              <a:gs pos="100000">
                <a:srgbClr val="FFC000"/>
              </a:gs>
              <a:gs pos="83000">
                <a:schemeClr val="accent4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50800">
            <a:solidFill>
              <a:srgbClr val="FFC000">
                <a:alpha val="88000"/>
              </a:srgb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CAC20BB-A601-D4CD-1535-5009438F8EC6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37AB5525-F3A2-46ED-CB4A-ED3C2DF347AF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5146B0E4-860B-4E6B-911B-10626C27C288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24C4AF55-8834-97D8-5E31-CCE4489CEA56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4C005EDD-C23B-6BD5-E6AA-38FDC3F968E0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EAEEDA00-6F92-F92E-E4A4-D450B3FAB396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33D08A8-F687-EADB-FE11-6E8FDA176F6C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26783AF-7A0C-D20A-2784-533C18B19AF2}"/>
              </a:ext>
            </a:extLst>
          </p:cNvPr>
          <p:cNvSpPr txBox="1"/>
          <p:nvPr/>
        </p:nvSpPr>
        <p:spPr>
          <a:xfrm>
            <a:off x="3066586" y="595086"/>
            <a:ext cx="30108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u="sng" dirty="0"/>
              <a:t>DIAGRAMA ENTIDAD-RELACIÓN</a:t>
            </a:r>
            <a:endParaRPr lang="en-GB" b="1" u="sng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9F77D2D-DFE6-42B0-9B03-A905808563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14626" r="10486" b="10914"/>
          <a:stretch>
            <a:fillRect/>
          </a:stretch>
        </p:blipFill>
        <p:spPr>
          <a:xfrm>
            <a:off x="1327866" y="902863"/>
            <a:ext cx="6673133" cy="3966503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0EF5F7B-493B-AE9A-2D18-5413F6AA9A10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3076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8850547B-8B53-177C-8196-BA78121A3A58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D7D585BF-F34C-57FF-A688-5A7659B2A04C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B7DEBECA-4E9A-5EDF-002F-84EB6215F62C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55BF7A65-5C50-6DAB-B686-9D02F4F942AF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8F82B17A-2A95-BE70-7DCB-37100852431B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08490E-5DC8-F80D-B76C-351296821FDB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E25AB7E-67C9-8CDC-C87D-842FBEE043B0}"/>
              </a:ext>
            </a:extLst>
          </p:cNvPr>
          <p:cNvSpPr txBox="1"/>
          <p:nvPr/>
        </p:nvSpPr>
        <p:spPr>
          <a:xfrm>
            <a:off x="2143478" y="489388"/>
            <a:ext cx="5337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800" b="1" dirty="0">
                <a:solidFill>
                  <a:schemeClr val="accent4">
                    <a:lumMod val="75000"/>
                  </a:schemeClr>
                </a:solidFill>
              </a:rPr>
              <a:t>DASHBOARD DE VENTAS Y RENTABILIDAD</a:t>
            </a:r>
            <a:endParaRPr lang="en-GB" sz="1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30FC5C99-E447-2BDD-9849-45532C5153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64" t="9680" r="64553" b="34442"/>
          <a:stretch>
            <a:fillRect/>
          </a:stretch>
        </p:blipFill>
        <p:spPr>
          <a:xfrm>
            <a:off x="1219462" y="858721"/>
            <a:ext cx="7185751" cy="3980908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AE35B6E-1F7E-42DC-C725-64BFF639C44B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0075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B00FB1AB-0E2F-10FB-5447-D4D98B5928B5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GB" dirty="0"/>
          </a:p>
        </p:txBody>
      </p:sp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9E13544D-1FDD-C9E2-D630-33707FDF724A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D23458C2-BF57-3294-68F4-D9983D8D1CC6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D5B21FDE-9CEF-11BF-3FFC-9DD4B4431731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5DB0C04B-B79B-9FF8-544A-527442D554AA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5D5A748A-3CA0-95D4-3E5A-4A3691EF2CB8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E6D845D-7F8F-782A-1024-25D8D97AC016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2</a:t>
            </a:r>
            <a:endParaRPr lang="en-GB" sz="2800" b="1" dirty="0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F06724C-316B-F411-3815-DAA353B7C713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8D65512F-8011-8C9C-9DE7-8994513C33AE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Excel permite filtros &lt;10.000 filas.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1D7BC93-3DC9-073A-B9BE-C96181904988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dtypes.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e histograma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 / sns.scatterplot(x=df)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isnull().sum() / DUPLICADOS df[df.duplicated (Keep=False)]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EXTRAÑOS (describe). Pandas Profile Report. 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26ED3D1C-9023-49E4-86B8-E09110859D7E}"/>
              </a:ext>
            </a:extLst>
          </p:cNvPr>
          <p:cNvSpPr/>
          <p:nvPr/>
        </p:nvSpPr>
        <p:spPr>
          <a:xfrm>
            <a:off x="1311762" y="2740201"/>
            <a:ext cx="3717445" cy="953453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</a:t>
            </a:r>
            <a:r>
              <a:rPr lang="en-GB" sz="800" dirty="0">
                <a:solidFill>
                  <a:schemeClr val="tx1"/>
                </a:solidFill>
              </a:rPr>
              <a:t>df_SD.dropna(axis=0, how='any', inplace=True)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Duplicados:df=df.drop_duplicates(subset=["comando"], keep=False)</a:t>
            </a: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9F56567F-B1B9-589B-3EDD-C7F22C6AC4C4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________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94BF49C-18D1-B6F5-F06C-2EB651D8DE53}"/>
              </a:ext>
            </a:extLst>
          </p:cNvPr>
          <p:cNvSpPr txBox="1"/>
          <p:nvPr/>
        </p:nvSpPr>
        <p:spPr>
          <a:xfrm rot="16200000">
            <a:off x="-721184" y="2314811"/>
            <a:ext cx="336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2"/>
                </a:solidFill>
              </a:rPr>
              <a:t>SOCIODEMOGRAPHICS</a:t>
            </a:r>
            <a:endParaRPr lang="en-GB" sz="1800" b="1" dirty="0">
              <a:solidFill>
                <a:schemeClr val="bg2"/>
              </a:solidFill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99E5D7E-1661-C6F5-3063-6BCA16EA02E5}"/>
              </a:ext>
            </a:extLst>
          </p:cNvPr>
          <p:cNvSpPr/>
          <p:nvPr/>
        </p:nvSpPr>
        <p:spPr>
          <a:xfrm>
            <a:off x="5630778" y="1617664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región_code:431, gender:2, salary:196080.</a:t>
            </a:r>
            <a:endParaRPr lang="es-ES" sz="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Salario max: </a:t>
            </a:r>
            <a:r>
              <a:rPr lang="en-GB" sz="800" dirty="0">
                <a:solidFill>
                  <a:srgbClr val="FF0000"/>
                </a:solidFill>
              </a:rPr>
              <a:t>6.942616e+16</a:t>
            </a:r>
            <a:r>
              <a:rPr lang="en-GB" sz="800" dirty="0"/>
              <a:t>, descontrola el resto de variables en describe().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800" dirty="0">
                <a:solidFill>
                  <a:schemeClr val="tx1"/>
                </a:solidFill>
              </a:rPr>
              <a:t>La </a:t>
            </a:r>
            <a:r>
              <a:rPr lang="en-GB" sz="800" dirty="0">
                <a:solidFill>
                  <a:srgbClr val="FF0000"/>
                </a:solidFill>
              </a:rPr>
              <a:t>pk_cid tiene muchos duplicados</a:t>
            </a:r>
            <a:r>
              <a:rPr lang="en-GB" sz="800" dirty="0">
                <a:solidFill>
                  <a:schemeClr val="tx1"/>
                </a:solidFill>
              </a:rPr>
              <a:t>.</a:t>
            </a:r>
            <a:endParaRPr lang="es-ES" sz="8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800" dirty="0">
              <a:solidFill>
                <a:schemeClr val="tx1"/>
              </a:solidFill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E00504A-0D7B-8840-ABC0-E161139B64FE}"/>
              </a:ext>
            </a:extLst>
          </p:cNvPr>
          <p:cNvSpPr/>
          <p:nvPr/>
        </p:nvSpPr>
        <p:spPr>
          <a:xfrm>
            <a:off x="5630778" y="2723175"/>
            <a:ext cx="3002171" cy="936427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rgbClr val="FF0000"/>
                </a:solidFill>
              </a:rPr>
              <a:t>Nulos, eliminar filas de todos los nulos en región_code, gender y salary (según criterio de Carme Viñas, con el objetivo de no influir en la variable “target”).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rgbClr val="FF0000"/>
                </a:solidFill>
              </a:rPr>
              <a:t>Eliminar salario máximo.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700" dirty="0">
                <a:solidFill>
                  <a:srgbClr val="FF0000"/>
                </a:solidFill>
              </a:rPr>
              <a:t>Eliminar duplicados de pk_cid.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AFB8EE3C-5C90-44CB-2865-E50CF1AC3DA3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_______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F58284EC-CBDD-D47C-EFE3-572A8F0950A6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echa: a la derecha 21">
            <a:extLst>
              <a:ext uri="{FF2B5EF4-FFF2-40B4-BE49-F238E27FC236}">
                <a16:creationId xmlns:a16="http://schemas.microsoft.com/office/drawing/2014/main" id="{601D73CB-19B1-E370-9112-9FF382FF4668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lecha: a la derecha 22">
            <a:extLst>
              <a:ext uri="{FF2B5EF4-FFF2-40B4-BE49-F238E27FC236}">
                <a16:creationId xmlns:a16="http://schemas.microsoft.com/office/drawing/2014/main" id="{670A6C57-CDC5-19A5-86E4-272D903196F3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E5B5F25-0B2C-1EB7-1BEC-44078190B392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528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27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252" name="Google Shape;252;p27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3" name="Google Shape;253;p27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254" name="Google Shape;254;p27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Elipse 1">
            <a:extLst>
              <a:ext uri="{FF2B5EF4-FFF2-40B4-BE49-F238E27FC236}">
                <a16:creationId xmlns:a16="http://schemas.microsoft.com/office/drawing/2014/main" id="{4C6EB486-4DB1-AA2F-89F1-3BBD1A3C198E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91762D0-C31F-00F7-A9B2-9CA38BBF123F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3</a:t>
            </a:r>
            <a:endParaRPr lang="en-GB" sz="2800" b="1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A826E68-5EA7-E323-68F1-95CEB3B0DED0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FD081FA-50FA-D853-0CB5-69D0DEB0BBB6}"/>
              </a:ext>
            </a:extLst>
          </p:cNvPr>
          <p:cNvSpPr/>
          <p:nvPr/>
        </p:nvSpPr>
        <p:spPr>
          <a:xfrm>
            <a:off x="1311762" y="2740201"/>
            <a:ext cx="3717445" cy="987504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</a:t>
            </a:r>
            <a:r>
              <a:rPr lang="en-GB" sz="800" dirty="0">
                <a:solidFill>
                  <a:schemeClr val="tx1"/>
                </a:solidFill>
              </a:rPr>
              <a:t>df_SD.dropna(axis=0, how='any', inplace=True)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AD8C950-F525-06AA-9F94-F351BF77FD90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75EB47F-91F6-99A4-72CB-B4698769001C}"/>
              </a:ext>
            </a:extLst>
          </p:cNvPr>
          <p:cNvSpPr txBox="1"/>
          <p:nvPr/>
        </p:nvSpPr>
        <p:spPr>
          <a:xfrm rot="16200000">
            <a:off x="-1067151" y="2362852"/>
            <a:ext cx="40550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bg2"/>
                </a:solidFill>
              </a:rPr>
              <a:t>CUSTOMER_COMMERCIAL_ACTIVITY</a:t>
            </a:r>
            <a:endParaRPr lang="en-GB" b="1" dirty="0">
              <a:solidFill>
                <a:schemeClr val="bg2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F4A751E-21FC-39E1-A0AE-73EFE95218B5}"/>
              </a:ext>
            </a:extLst>
          </p:cNvPr>
          <p:cNvSpPr/>
          <p:nvPr/>
        </p:nvSpPr>
        <p:spPr>
          <a:xfrm>
            <a:off x="5630778" y="1617664"/>
            <a:ext cx="3002171" cy="919401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en entry_channel (62) y segment (88).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No hay duplicados.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Sin valores extraños.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B916012-89F4-7266-C363-19491ABE1658}"/>
              </a:ext>
            </a:extLst>
          </p:cNvPr>
          <p:cNvSpPr/>
          <p:nvPr/>
        </p:nvSpPr>
        <p:spPr>
          <a:xfrm>
            <a:off x="5630778" y="2755485"/>
            <a:ext cx="3002171" cy="987504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rgbClr val="FF0000"/>
                </a:solidFill>
              </a:rPr>
              <a:t>Ambos nulos podrían ser eliminados, no aportan.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63FA710-1742-1C44-3EC2-A1CCDBAD0760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534E9BD-6774-566D-17E7-D512C078909A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lecha: a la derecha 14">
            <a:extLst>
              <a:ext uri="{FF2B5EF4-FFF2-40B4-BE49-F238E27FC236}">
                <a16:creationId xmlns:a16="http://schemas.microsoft.com/office/drawing/2014/main" id="{F056F1D1-6447-A52A-1CB6-F14836F8596D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CBF553CB-8802-D6B6-2111-F5617C73A54C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4E2DBAD-B67C-DC56-D3F9-02B8C4E691ED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EC56604-FAF4-BFD4-3087-0E1296F33771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6248BE-034D-0E3A-AE11-EEBC8243EC6D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18DDABC-61B6-0790-D0C8-312823F8191A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dtypes.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e histograma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 / sns.scatterplot(x=df)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isnull().sum() / DUPLICADOS df[df.duplicated (Keep=False)]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EXTRAÑOS (describe). Pandas Profile Report.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E4B331DA-3C7E-BBAE-8CED-7AB9EFDB2F20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F4E72C15-E833-4E0F-57B8-37A2F6E8C288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E58C381B-7FA1-824D-2B3F-B6528F31CF24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9200E593-A3B2-5730-039D-90F42A4B5650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09163BDF-24EC-464A-71B8-371ED22B8E07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F4C8E75-31BC-0A1B-6908-03F065BB64A6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4</a:t>
            </a:r>
            <a:endParaRPr lang="en-GB" sz="28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FE4B575-A935-7666-6D40-506CC72D09B3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ECF7A003-098D-49BE-1B6C-A5DDBE8723F5}"/>
              </a:ext>
            </a:extLst>
          </p:cNvPr>
          <p:cNvSpPr/>
          <p:nvPr/>
        </p:nvSpPr>
        <p:spPr>
          <a:xfrm>
            <a:off x="1311762" y="2740201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N/A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2EFAFDB9-7C04-1A19-6D68-A8E8BFF01C60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9DC3502-B1B8-A751-82BD-BC5147286B00}"/>
              </a:ext>
            </a:extLst>
          </p:cNvPr>
          <p:cNvSpPr txBox="1"/>
          <p:nvPr/>
        </p:nvSpPr>
        <p:spPr>
          <a:xfrm rot="16200000">
            <a:off x="-721184" y="1280092"/>
            <a:ext cx="336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2"/>
                </a:solidFill>
              </a:rPr>
              <a:t>SALES</a:t>
            </a:r>
            <a:endParaRPr lang="en-GB" sz="1800" b="1" dirty="0">
              <a:solidFill>
                <a:schemeClr val="bg2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5BBEDBB-F375-BE07-AFE1-44FDCE619D79}"/>
              </a:ext>
            </a:extLst>
          </p:cNvPr>
          <p:cNvSpPr/>
          <p:nvPr/>
        </p:nvSpPr>
        <p:spPr>
          <a:xfrm>
            <a:off x="5630778" y="1617664"/>
            <a:ext cx="3002171" cy="919401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Sin nulos.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  <a:latin typeface="Arial"/>
                <a:cs typeface="Arial"/>
              </a:rPr>
              <a:t>Sin duplicados.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No se aprecia valores extraños en net_margin.</a:t>
            </a: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4B629BEF-E700-51C0-B492-36C05830EE8F}"/>
              </a:ext>
            </a:extLst>
          </p:cNvPr>
          <p:cNvSpPr/>
          <p:nvPr/>
        </p:nvSpPr>
        <p:spPr>
          <a:xfrm>
            <a:off x="5630778" y="2755485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N/A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7A5C1F19-90B7-37A9-31F5-AF084676894B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CD78AB82-B8B4-717A-5EE7-EF27BD186AA1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A8A02B2A-7904-91D9-C1D5-EE521CCAAC58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CCB8F989-F545-4765-1032-1EEE04502E8A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61016E3A-CC2D-F96A-B111-1E8E51DD34C7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5A4FB70-E9A1-F6A9-D9D7-A5D3846B7E43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9832594-4522-FFCE-FF7F-75C8696A613E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Excel permite filtros &lt;10.000 filas.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1CEA998C-0283-51BD-4691-BAE3E233686B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dtypes.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e histograma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 / sns.scatterplot(x=df)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isnull().sum() / DUPLICADOS df[df.duplicated (Keep=False)]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EXTRAÑOS (describe). Pandas Profile Report. </a:t>
            </a:r>
          </a:p>
        </p:txBody>
      </p:sp>
    </p:spTree>
    <p:extLst>
      <p:ext uri="{BB962C8B-B14F-4D97-AF65-F5344CB8AC3E}">
        <p14:creationId xmlns:p14="http://schemas.microsoft.com/office/powerpoint/2010/main" val="3546852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8294C-F7D5-C8EF-DC82-8476F1B36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BAB90C81-AB70-CE53-E3CC-9BA100C629D2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5E3601BF-FE66-3D54-6EB2-78D3909E2160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12C3782D-B89F-7B45-5E9A-E0A108E0A409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E8DE2EB6-65E7-0C4E-4820-6B9FB77F5B89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BDE9E3A6-DEA6-1296-1EBA-F70AD2FF1669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C6A1366-0A18-78FD-582F-2E986E5305D4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5</a:t>
            </a:r>
            <a:endParaRPr lang="en-GB" sz="2800" b="1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C2483FA-6656-3351-2BE0-F6FB79A706C4}"/>
              </a:ext>
            </a:extLst>
          </p:cNvPr>
          <p:cNvSpPr/>
          <p:nvPr/>
        </p:nvSpPr>
        <p:spPr>
          <a:xfrm>
            <a:off x="1169105" y="497318"/>
            <a:ext cx="7604365" cy="4527891"/>
          </a:xfrm>
          <a:prstGeom prst="rect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601B31F-7AD4-84D9-32E3-816C47F71A12}"/>
              </a:ext>
            </a:extLst>
          </p:cNvPr>
          <p:cNvSpPr/>
          <p:nvPr/>
        </p:nvSpPr>
        <p:spPr>
          <a:xfrm>
            <a:off x="1311762" y="2740201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LIMPIEZA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Nulos: </a:t>
            </a:r>
            <a:r>
              <a:rPr lang="en-GB" sz="800" dirty="0">
                <a:solidFill>
                  <a:schemeClr val="tx1"/>
                </a:solidFill>
              </a:rPr>
              <a:t>df_SD.dropna(axis=0, how='any', inplace=True)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FF015D2-F326-8535-5C43-78B1620449C8}"/>
              </a:ext>
            </a:extLst>
          </p:cNvPr>
          <p:cNvSpPr/>
          <p:nvPr/>
        </p:nvSpPr>
        <p:spPr>
          <a:xfrm>
            <a:off x="1311762" y="3897867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PROCESAMIENTO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2DF003A-3991-0B71-F75B-22427670987A}"/>
              </a:ext>
            </a:extLst>
          </p:cNvPr>
          <p:cNvSpPr txBox="1"/>
          <p:nvPr/>
        </p:nvSpPr>
        <p:spPr>
          <a:xfrm rot="16200000">
            <a:off x="-721184" y="2291130"/>
            <a:ext cx="3363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1" dirty="0">
                <a:solidFill>
                  <a:schemeClr val="bg2"/>
                </a:solidFill>
              </a:rPr>
              <a:t>CUSTOMER_PRODUCTS</a:t>
            </a:r>
            <a:endParaRPr lang="en-GB" sz="1800" b="1" dirty="0">
              <a:solidFill>
                <a:schemeClr val="bg2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631468A7-8F35-ACC7-22E9-735663E99918}"/>
              </a:ext>
            </a:extLst>
          </p:cNvPr>
          <p:cNvSpPr/>
          <p:nvPr/>
        </p:nvSpPr>
        <p:spPr>
          <a:xfrm>
            <a:off x="5630778" y="1617664"/>
            <a:ext cx="3002171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CONCLUSIONES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Prácticamente no se contratan productos.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payroll (53) y pensión_plan (53).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  <a:latin typeface="Arial"/>
                <a:cs typeface="Arial"/>
              </a:rPr>
              <a:t>Sin duplicados.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No encuentro valores extraños.</a:t>
            </a: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10D785C2-124C-4237-F3AE-DA0E476A67C3}"/>
              </a:ext>
            </a:extLst>
          </p:cNvPr>
          <p:cNvSpPr/>
          <p:nvPr/>
        </p:nvSpPr>
        <p:spPr>
          <a:xfrm>
            <a:off x="5630778" y="2755485"/>
            <a:ext cx="3002171" cy="953453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Eliminar nulos, pues no tienen un gran número de observaciones.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38CE7970-BF69-DF12-602C-C75586E21555}"/>
              </a:ext>
            </a:extLst>
          </p:cNvPr>
          <p:cNvSpPr/>
          <p:nvPr/>
        </p:nvSpPr>
        <p:spPr>
          <a:xfrm>
            <a:off x="5630778" y="3893306"/>
            <a:ext cx="3002171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ACCIONES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XXXX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9" name="Flecha: a la derecha 18">
            <a:extLst>
              <a:ext uri="{FF2B5EF4-FFF2-40B4-BE49-F238E27FC236}">
                <a16:creationId xmlns:a16="http://schemas.microsoft.com/office/drawing/2014/main" id="{532EA708-C023-DBF6-7ABD-927404A794B2}"/>
              </a:ext>
            </a:extLst>
          </p:cNvPr>
          <p:cNvSpPr/>
          <p:nvPr/>
        </p:nvSpPr>
        <p:spPr>
          <a:xfrm>
            <a:off x="5093055" y="1966015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37ECD4B6-51C8-0984-4D04-209442297622}"/>
              </a:ext>
            </a:extLst>
          </p:cNvPr>
          <p:cNvSpPr/>
          <p:nvPr/>
        </p:nvSpPr>
        <p:spPr>
          <a:xfrm>
            <a:off x="5087830" y="3088552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lecha: a la derecha 20">
            <a:extLst>
              <a:ext uri="{FF2B5EF4-FFF2-40B4-BE49-F238E27FC236}">
                <a16:creationId xmlns:a16="http://schemas.microsoft.com/office/drawing/2014/main" id="{C31375A8-F9F9-E059-47DC-C4CFE55EC5DC}"/>
              </a:ext>
            </a:extLst>
          </p:cNvPr>
          <p:cNvSpPr/>
          <p:nvPr/>
        </p:nvSpPr>
        <p:spPr>
          <a:xfrm>
            <a:off x="5109272" y="4241657"/>
            <a:ext cx="478821" cy="324853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D611BAC9-AC67-1E1A-EC08-B280F3F2506C}"/>
              </a:ext>
            </a:extLst>
          </p:cNvPr>
          <p:cNvSpPr/>
          <p:nvPr/>
        </p:nvSpPr>
        <p:spPr>
          <a:xfrm>
            <a:off x="1311762" y="661155"/>
            <a:ext cx="1658352" cy="681038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DATOS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000" dirty="0">
                <a:solidFill>
                  <a:schemeClr val="tx1"/>
                </a:solidFill>
              </a:rPr>
              <a:t>Excel .csv.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000" dirty="0">
              <a:solidFill>
                <a:schemeClr val="tx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8C51E39-B99F-D433-2588-09AD64CD9074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T1: PowerBI</a:t>
            </a:r>
            <a:endParaRPr lang="en-GB" dirty="0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A213E1A-79D4-A4E8-70C2-1A3585832029}"/>
              </a:ext>
            </a:extLst>
          </p:cNvPr>
          <p:cNvSpPr/>
          <p:nvPr/>
        </p:nvSpPr>
        <p:spPr>
          <a:xfrm>
            <a:off x="3136864" y="661155"/>
            <a:ext cx="5496085" cy="885349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numCol="2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ANÁLISIS BÁSICO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Transformación a columnas en Excel.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Alineación de variables con DB.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Interpretación diagrama E-R.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preliminar datos en celdas.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Análisis uso Excel (pocos datos), Python (muchos datos de Excel) o SQL (muchos datos).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Excel permite filtros &lt;10.000 filas.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000" b="1" dirty="0">
                <a:solidFill>
                  <a:srgbClr val="FF0000"/>
                </a:solidFill>
              </a:rPr>
              <a:t>RESULTADO: Python (Colab) + Excel columnas.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17F5449-D818-4D19-8D33-24717EAD65B5}"/>
              </a:ext>
            </a:extLst>
          </p:cNvPr>
          <p:cNvSpPr/>
          <p:nvPr/>
        </p:nvSpPr>
        <p:spPr>
          <a:xfrm>
            <a:off x="1311762" y="1612859"/>
            <a:ext cx="3717445" cy="1021556"/>
          </a:xfrm>
          <a:prstGeom prst="roundRect">
            <a:avLst/>
          </a:prstGeom>
          <a:noFill/>
          <a:ln w="31750">
            <a:solidFill>
              <a:schemeClr val="tx1"/>
            </a:solidFill>
          </a:ln>
          <a:effectLst>
            <a:softEdge rad="0"/>
          </a:effectLst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tx1"/>
                </a:solidFill>
                <a:latin typeface="Arial"/>
                <a:cs typeface="Arial"/>
              </a:rPr>
              <a:t>ANALISIS DETALLADO en COLAB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Shape, info,describe, dtypes.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Bucle para analizar value_counts e histograma por columna.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Outliers: sns.boxplot(x=df) / sns.scatterplot(x=df)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NULOS isnull().sum() / DUPLICADOS df[df.duplicated (Keep=False)]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800" dirty="0">
                <a:solidFill>
                  <a:schemeClr val="tx1"/>
                </a:solidFill>
              </a:rPr>
              <a:t>EXTRAÑOS (describe). Pandas Profile Report. </a:t>
            </a:r>
          </a:p>
        </p:txBody>
      </p:sp>
    </p:spTree>
    <p:extLst>
      <p:ext uri="{BB962C8B-B14F-4D97-AF65-F5344CB8AC3E}">
        <p14:creationId xmlns:p14="http://schemas.microsoft.com/office/powerpoint/2010/main" val="720305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3FB64321-21D5-57B1-8E88-1E7685DDC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C3655D64-7E93-4A95-884A-3D90C2D9E343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EC44C00E-52E7-2E78-E27A-E1A50EC9E8EE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404A9BB1-AB42-E9D7-68D2-47E2778DDC6D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E6CC9232-C36F-CFF2-2882-B46000B0A9FA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EEC4B0B5-5315-9052-FD0A-325F0AB7C444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T2: Propensión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0EFE9C12-56BF-9191-9A65-582831C212D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45909E2-A429-7F7E-FCB2-F45AAA2C1213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Realizado por Enrique González Fernández                                                                                                                       12.11.2025 rev borrador</a:t>
            </a:r>
            <a:endParaRPr lang="en-GB" sz="10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723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/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/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/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/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/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/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4.- Análisis de datos Sales.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/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/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/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/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EAB844A7-CF7D-EC12-0D62-924B3157F2FA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DD46E9C2-21B1-CF02-E508-100370D1C336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5.- Acuerdos reunión equipo 19.11.2025.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5BB4DD67-31D6-2A71-E0F4-F639CE24E78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67ECBFA-F23E-D680-3CBF-FB1DDC0F7EA2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T2: Propensión</a:t>
            </a: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45559-13B7-000D-DBDC-E4F7DFB5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FE85FD8E-9743-C97D-E4B5-279D2636BBD7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2437122E-134C-53D8-1E6C-E841BA1531F1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C20CFE36-2790-D764-2E25-7B315925C9B8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8DAB729B-9FDA-7A23-308F-328027CD9326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1FD6FC0B-AAD6-7A48-B816-15CCBA4F4CA7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72711E4-2114-5690-3ED2-0E24B16E21E2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A0966A4-3ECA-BCD7-A290-BF9D9AA0FE66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T2: Propensión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60275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C5DA7804-34A8-7753-B8BF-490B206BE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CECF27C9-B066-1F9E-AA0E-CEC3BAECEF71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46336E29-4647-D37B-F661-EC6303BF076E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6469469B-8865-D9F2-058A-97445322DC9E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D2CB1373-52DC-2BDA-1F85-44FC9B7B5661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A0D932E4-EC9F-0098-C8A4-0A53AB456406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T3: Segmentación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04CFE92F-4CD1-7313-E3BC-29B6D656DCF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3CA13A0-1F00-60B7-66AD-DCE247528726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Realizado por Enrique González Fernández                                                                                                                       12.11.2025 rev borrador</a:t>
            </a:r>
            <a:endParaRPr lang="en-GB" sz="10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0916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D8CF2016-6295-BCB8-06C2-00BC4DA4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B7645395-9FE4-39EA-B21A-166997918D57}"/>
              </a:ext>
            </a:extLst>
          </p:cNvPr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>
            <a:extLst>
              <a:ext uri="{FF2B5EF4-FFF2-40B4-BE49-F238E27FC236}">
                <a16:creationId xmlns:a16="http://schemas.microsoft.com/office/drawing/2014/main" id="{94F94A02-B4A6-0D64-19B5-760F7AE618BE}"/>
              </a:ext>
            </a:extLst>
          </p:cNvPr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E39A2320-4C47-CB56-2135-FE9326DE36FE}"/>
              </a:ext>
            </a:extLst>
          </p:cNvPr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>
            <a:extLst>
              <a:ext uri="{FF2B5EF4-FFF2-40B4-BE49-F238E27FC236}">
                <a16:creationId xmlns:a16="http://schemas.microsoft.com/office/drawing/2014/main" id="{D4AD94B1-2E80-F6A5-4748-806C3D758655}"/>
              </a:ext>
            </a:extLst>
          </p:cNvPr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>
            <a:extLst>
              <a:ext uri="{FF2B5EF4-FFF2-40B4-BE49-F238E27FC236}">
                <a16:creationId xmlns:a16="http://schemas.microsoft.com/office/drawing/2014/main" id="{34C580BA-3A65-41F6-340C-E49903A8B7A7}"/>
              </a:ext>
            </a:extLst>
          </p:cNvPr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>
            <a:extLst>
              <a:ext uri="{FF2B5EF4-FFF2-40B4-BE49-F238E27FC236}">
                <a16:creationId xmlns:a16="http://schemas.microsoft.com/office/drawing/2014/main" id="{2582FE9D-4D08-C83D-4D5E-20F6A4BF20D8}"/>
              </a:ext>
            </a:extLst>
          </p:cNvPr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4.- Análisis de datos Sales.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>
            <a:extLst>
              <a:ext uri="{FF2B5EF4-FFF2-40B4-BE49-F238E27FC236}">
                <a16:creationId xmlns:a16="http://schemas.microsoft.com/office/drawing/2014/main" id="{6C5452A3-1E58-5071-E899-7C867D349A89}"/>
              </a:ext>
            </a:extLst>
          </p:cNvPr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>
            <a:extLst>
              <a:ext uri="{FF2B5EF4-FFF2-40B4-BE49-F238E27FC236}">
                <a16:creationId xmlns:a16="http://schemas.microsoft.com/office/drawing/2014/main" id="{617D2BDB-FB8D-9B38-5D66-67616B22D4BE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>
              <a:extLst>
                <a:ext uri="{FF2B5EF4-FFF2-40B4-BE49-F238E27FC236}">
                  <a16:creationId xmlns:a16="http://schemas.microsoft.com/office/drawing/2014/main" id="{0C3FA4EB-A70E-6EC8-BB54-C6D2A0EF1391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>
              <a:extLst>
                <a:ext uri="{FF2B5EF4-FFF2-40B4-BE49-F238E27FC236}">
                  <a16:creationId xmlns:a16="http://schemas.microsoft.com/office/drawing/2014/main" id="{EE3555DE-624C-D730-ECF9-14123075D17C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>
              <a:extLst>
                <a:ext uri="{FF2B5EF4-FFF2-40B4-BE49-F238E27FC236}">
                  <a16:creationId xmlns:a16="http://schemas.microsoft.com/office/drawing/2014/main" id="{250359D7-013C-0370-FD82-3729448B6C5C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>
            <a:extLst>
              <a:ext uri="{FF2B5EF4-FFF2-40B4-BE49-F238E27FC236}">
                <a16:creationId xmlns:a16="http://schemas.microsoft.com/office/drawing/2014/main" id="{F435FBD7-A81D-F2D8-4E47-DD8BE40A61C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>
            <a:extLst>
              <a:ext uri="{FF2B5EF4-FFF2-40B4-BE49-F238E27FC236}">
                <a16:creationId xmlns:a16="http://schemas.microsoft.com/office/drawing/2014/main" id="{A4444C13-0A2D-C759-4145-5E6238CF31E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>
            <a:extLst>
              <a:ext uri="{FF2B5EF4-FFF2-40B4-BE49-F238E27FC236}">
                <a16:creationId xmlns:a16="http://schemas.microsoft.com/office/drawing/2014/main" id="{DE7D7F39-743B-57BD-B6E4-366DF454338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>
            <a:extLst>
              <a:ext uri="{FF2B5EF4-FFF2-40B4-BE49-F238E27FC236}">
                <a16:creationId xmlns:a16="http://schemas.microsoft.com/office/drawing/2014/main" id="{1D7DFE67-923D-3E5E-FDE7-29566AB0EA69}"/>
              </a:ext>
            </a:extLst>
          </p:cNvPr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>
            <a:extLst>
              <a:ext uri="{FF2B5EF4-FFF2-40B4-BE49-F238E27FC236}">
                <a16:creationId xmlns:a16="http://schemas.microsoft.com/office/drawing/2014/main" id="{C3E03DA2-1890-8569-521B-99E1269C902E}"/>
              </a:ext>
            </a:extLst>
          </p:cNvPr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>
            <a:extLst>
              <a:ext uri="{FF2B5EF4-FFF2-40B4-BE49-F238E27FC236}">
                <a16:creationId xmlns:a16="http://schemas.microsoft.com/office/drawing/2014/main" id="{BE284433-F811-7784-545A-93521AE1BC3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CCDDF243-57AA-B967-9BDD-1A7300439D77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CF6449FE-E896-4F42-0975-52A2B851785C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5.- Acuerdos reunión equipo 19.11.2025.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E29BD622-FA4D-38EC-E940-ECD404625D2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67931A8-16CE-704B-4FF0-BBC3BAFE8ADE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T3: Segmentación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333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04B12-1C1E-CD91-2C2D-A0B5E7E4B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CFD8B9C3-4A14-0535-CDD4-A46665861D1A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29CDEC97-EC16-02EB-F8D0-87B82CB5A5EB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654629CB-8E1F-BE20-7601-5F1AAC16FCA6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2FB2EE94-0277-7529-C4C5-01172E6371AF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FEB80EE8-A684-F0A3-71CB-A8D61D632DE2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94EAEB3-51A2-6F1A-AD08-0778BE6EE865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4C81584-9767-B803-6CC3-B1CEC0BD446B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T3: Segmentación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6335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9F67A43C-F449-F52C-50EE-22120DE71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999F3507-5E9A-990D-A6F7-27F52819CD8C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CCAA714A-A44C-9EBF-E8FB-E3CD29A64446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EE3F7CAC-17F7-D994-C78A-F622925F4308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91A1E81A-0217-5C09-EB33-E7ACFE74D593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99150479-F005-F40E-40D8-1EA92EACCA51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tx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T4: Campaña</a:t>
            </a: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tx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644CF310-9C0E-D75F-ED33-FA570E45EB4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F8C97EF-262E-6C3E-BDFC-F35BDE610E7D}"/>
              </a:ext>
            </a:extLst>
          </p:cNvPr>
          <p:cNvSpPr txBox="1"/>
          <p:nvPr/>
        </p:nvSpPr>
        <p:spPr>
          <a:xfrm>
            <a:off x="561248" y="4677796"/>
            <a:ext cx="842730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u="sng" dirty="0">
                <a:solidFill>
                  <a:schemeClr val="bg1"/>
                </a:solidFill>
              </a:rPr>
              <a:t>Realizado por Enrique González Fernández                                                                                                                       12.11.2025 rev borrador</a:t>
            </a:r>
            <a:endParaRPr lang="en-GB" sz="1000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649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8F472E3E-DFF0-566C-BA41-0DC2657B9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3">
            <a:extLst>
              <a:ext uri="{FF2B5EF4-FFF2-40B4-BE49-F238E27FC236}">
                <a16:creationId xmlns:a16="http://schemas.microsoft.com/office/drawing/2014/main" id="{9C1EE162-1172-E487-B82F-AF9EC00C514A}"/>
              </a:ext>
            </a:extLst>
          </p:cNvPr>
          <p:cNvSpPr txBox="1"/>
          <p:nvPr/>
        </p:nvSpPr>
        <p:spPr>
          <a:xfrm>
            <a:off x="4665396" y="2393550"/>
            <a:ext cx="4262703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3. </a:t>
            </a:r>
            <a:r>
              <a:rPr lang="es" sz="1200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Análisis datos Customer_Comercial_Activity.</a:t>
            </a:r>
            <a:endParaRPr sz="1200"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3" name="Google Shape;343;p33">
            <a:extLst>
              <a:ext uri="{FF2B5EF4-FFF2-40B4-BE49-F238E27FC236}">
                <a16:creationId xmlns:a16="http://schemas.microsoft.com/office/drawing/2014/main" id="{55F38C7F-7327-0AA5-16F2-FFD2B99FD358}"/>
              </a:ext>
            </a:extLst>
          </p:cNvPr>
          <p:cNvSpPr txBox="1"/>
          <p:nvPr/>
        </p:nvSpPr>
        <p:spPr>
          <a:xfrm>
            <a:off x="422317" y="1009982"/>
            <a:ext cx="25476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Contenido</a:t>
            </a:r>
            <a:endParaRPr sz="270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44" name="Google Shape;344;p33">
            <a:extLst>
              <a:ext uri="{FF2B5EF4-FFF2-40B4-BE49-F238E27FC236}">
                <a16:creationId xmlns:a16="http://schemas.microsoft.com/office/drawing/2014/main" id="{B16B886E-63E2-08FC-FB53-5A3DF8A5979C}"/>
              </a:ext>
            </a:extLst>
          </p:cNvPr>
          <p:cNvSpPr txBox="1"/>
          <p:nvPr/>
        </p:nvSpPr>
        <p:spPr>
          <a:xfrm>
            <a:off x="4666124" y="1944350"/>
            <a:ext cx="3567721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2. Análisis datos SocioDemographics.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5" name="Google Shape;345;p33">
            <a:extLst>
              <a:ext uri="{FF2B5EF4-FFF2-40B4-BE49-F238E27FC236}">
                <a16:creationId xmlns:a16="http://schemas.microsoft.com/office/drawing/2014/main" id="{745CBA0B-EB9D-C013-7BD2-0D71210C4D89}"/>
              </a:ext>
            </a:extLst>
          </p:cNvPr>
          <p:cNvCxnSpPr/>
          <p:nvPr/>
        </p:nvCxnSpPr>
        <p:spPr>
          <a:xfrm>
            <a:off x="4753950" y="2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33">
            <a:extLst>
              <a:ext uri="{FF2B5EF4-FFF2-40B4-BE49-F238E27FC236}">
                <a16:creationId xmlns:a16="http://schemas.microsoft.com/office/drawing/2014/main" id="{79CB77E4-A66C-0994-364F-DDDB2ABAB14C}"/>
              </a:ext>
            </a:extLst>
          </p:cNvPr>
          <p:cNvCxnSpPr/>
          <p:nvPr/>
        </p:nvCxnSpPr>
        <p:spPr>
          <a:xfrm>
            <a:off x="4753232" y="28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7" name="Google Shape;347;p33">
            <a:extLst>
              <a:ext uri="{FF2B5EF4-FFF2-40B4-BE49-F238E27FC236}">
                <a16:creationId xmlns:a16="http://schemas.microsoft.com/office/drawing/2014/main" id="{F4A220A9-0E05-3863-1345-0CF8A500323E}"/>
              </a:ext>
            </a:extLst>
          </p:cNvPr>
          <p:cNvSpPr txBox="1"/>
          <p:nvPr/>
        </p:nvSpPr>
        <p:spPr>
          <a:xfrm>
            <a:off x="4662299" y="2893550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4.- Análisis de datos Sales.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48" name="Google Shape;348;p33">
            <a:extLst>
              <a:ext uri="{FF2B5EF4-FFF2-40B4-BE49-F238E27FC236}">
                <a16:creationId xmlns:a16="http://schemas.microsoft.com/office/drawing/2014/main" id="{B1F03252-D35A-C9A4-25AF-23854B037868}"/>
              </a:ext>
            </a:extLst>
          </p:cNvPr>
          <p:cNvCxnSpPr/>
          <p:nvPr/>
        </p:nvCxnSpPr>
        <p:spPr>
          <a:xfrm>
            <a:off x="4750117" y="3306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9" name="Google Shape;349;p33">
            <a:extLst>
              <a:ext uri="{FF2B5EF4-FFF2-40B4-BE49-F238E27FC236}">
                <a16:creationId xmlns:a16="http://schemas.microsoft.com/office/drawing/2014/main" id="{044D0839-485E-9B51-700E-D31E463D1812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350" name="Google Shape;350;p33" title="iso (16).png">
              <a:extLst>
                <a:ext uri="{FF2B5EF4-FFF2-40B4-BE49-F238E27FC236}">
                  <a16:creationId xmlns:a16="http://schemas.microsoft.com/office/drawing/2014/main" id="{528A46C6-289A-956F-6CD0-3DEDC5A41D1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351" name="Google Shape;351;p33">
              <a:extLst>
                <a:ext uri="{FF2B5EF4-FFF2-40B4-BE49-F238E27FC236}">
                  <a16:creationId xmlns:a16="http://schemas.microsoft.com/office/drawing/2014/main" id="{4328E33D-056A-AE56-696A-4573E2A658AB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52" name="Google Shape;352;p33">
              <a:extLst>
                <a:ext uri="{FF2B5EF4-FFF2-40B4-BE49-F238E27FC236}">
                  <a16:creationId xmlns:a16="http://schemas.microsoft.com/office/drawing/2014/main" id="{9F5E1196-1FB3-ADA2-3215-94AF139FBBA0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pic>
        <p:nvPicPr>
          <p:cNvPr id="353" name="Google Shape;353;p33" title="Frame 2411.png">
            <a:extLst>
              <a:ext uri="{FF2B5EF4-FFF2-40B4-BE49-F238E27FC236}">
                <a16:creationId xmlns:a16="http://schemas.microsoft.com/office/drawing/2014/main" id="{69BBD48B-F511-9F14-5D3F-25208CD35E04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006774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3" title="Frame 2411.png">
            <a:extLst>
              <a:ext uri="{FF2B5EF4-FFF2-40B4-BE49-F238E27FC236}">
                <a16:creationId xmlns:a16="http://schemas.microsoft.com/office/drawing/2014/main" id="{E0B6FEA2-C452-7F50-0D71-B41F0D5E760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2506762"/>
            <a:ext cx="186675" cy="18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33" title="Frame 2411.png">
            <a:extLst>
              <a:ext uri="{FF2B5EF4-FFF2-40B4-BE49-F238E27FC236}">
                <a16:creationId xmlns:a16="http://schemas.microsoft.com/office/drawing/2014/main" id="{31FA06F7-EF83-B4ED-35C2-EAC7956F7A1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1502" y="3006724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3">
            <a:extLst>
              <a:ext uri="{FF2B5EF4-FFF2-40B4-BE49-F238E27FC236}">
                <a16:creationId xmlns:a16="http://schemas.microsoft.com/office/drawing/2014/main" id="{F3BCEC2C-FE3E-A961-82FA-3E1CD032BABA}"/>
              </a:ext>
            </a:extLst>
          </p:cNvPr>
          <p:cNvSpPr txBox="1"/>
          <p:nvPr/>
        </p:nvSpPr>
        <p:spPr>
          <a:xfrm>
            <a:off x="4661878" y="1501250"/>
            <a:ext cx="3567722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1. Análisis diccionario_tablas. Power BI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cxnSp>
        <p:nvCxnSpPr>
          <p:cNvPr id="357" name="Google Shape;357;p33">
            <a:extLst>
              <a:ext uri="{FF2B5EF4-FFF2-40B4-BE49-F238E27FC236}">
                <a16:creationId xmlns:a16="http://schemas.microsoft.com/office/drawing/2014/main" id="{9E92A264-4816-4D0C-1FA6-1CE4E2CC10BB}"/>
              </a:ext>
            </a:extLst>
          </p:cNvPr>
          <p:cNvCxnSpPr/>
          <p:nvPr/>
        </p:nvCxnSpPr>
        <p:spPr>
          <a:xfrm>
            <a:off x="4775092" y="1901650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58" name="Google Shape;358;p33" title="Frame 2411.png">
            <a:extLst>
              <a:ext uri="{FF2B5EF4-FFF2-40B4-BE49-F238E27FC236}">
                <a16:creationId xmlns:a16="http://schemas.microsoft.com/office/drawing/2014/main" id="{D53F685D-8CD4-33A1-D28C-B457DD34BF9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66477" y="1601724"/>
            <a:ext cx="186675" cy="186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8;p33">
            <a:extLst>
              <a:ext uri="{FF2B5EF4-FFF2-40B4-BE49-F238E27FC236}">
                <a16:creationId xmlns:a16="http://schemas.microsoft.com/office/drawing/2014/main" id="{BA21EF4E-E31D-3EDD-607B-9FE469D7AC32}"/>
              </a:ext>
            </a:extLst>
          </p:cNvPr>
          <p:cNvCxnSpPr/>
          <p:nvPr/>
        </p:nvCxnSpPr>
        <p:spPr>
          <a:xfrm>
            <a:off x="4775092" y="3807966"/>
            <a:ext cx="3879000" cy="0"/>
          </a:xfrm>
          <a:prstGeom prst="straightConnector1">
            <a:avLst/>
          </a:prstGeom>
          <a:noFill/>
          <a:ln w="9525" cap="flat" cmpd="sng">
            <a:solidFill>
              <a:srgbClr val="99999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347;p33">
            <a:extLst>
              <a:ext uri="{FF2B5EF4-FFF2-40B4-BE49-F238E27FC236}">
                <a16:creationId xmlns:a16="http://schemas.microsoft.com/office/drawing/2014/main" id="{19280A71-7C1B-541D-57CB-2B32BDC96D4C}"/>
              </a:ext>
            </a:extLst>
          </p:cNvPr>
          <p:cNvSpPr txBox="1"/>
          <p:nvPr/>
        </p:nvSpPr>
        <p:spPr>
          <a:xfrm>
            <a:off x="4661878" y="3393549"/>
            <a:ext cx="3804178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>
                <a:solidFill>
                  <a:schemeClr val="bg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5.- Acuerdos reunión equipo 19.11.2025.</a:t>
            </a:r>
            <a:endParaRPr dirty="0">
              <a:solidFill>
                <a:schemeClr val="bg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4" name="Google Shape;355;p33" title="Frame 2411.png">
            <a:extLst>
              <a:ext uri="{FF2B5EF4-FFF2-40B4-BE49-F238E27FC236}">
                <a16:creationId xmlns:a16="http://schemas.microsoft.com/office/drawing/2014/main" id="{0F77E63D-0828-70D5-A20F-D08819A5A02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4024" y="3485962"/>
            <a:ext cx="186675" cy="1866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278A95A-5484-DB1A-92D1-A80F0B29DAE5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T4: Campaña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238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A18FA-BB7F-5D27-B90C-14F3EC54A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124;p17">
            <a:extLst>
              <a:ext uri="{FF2B5EF4-FFF2-40B4-BE49-F238E27FC236}">
                <a16:creationId xmlns:a16="http://schemas.microsoft.com/office/drawing/2014/main" id="{CD77B067-80A7-A7D6-CBB6-74072053FCEF}"/>
              </a:ext>
            </a:extLst>
          </p:cNvPr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4" name="Google Shape;125;p17">
              <a:extLst>
                <a:ext uri="{FF2B5EF4-FFF2-40B4-BE49-F238E27FC236}">
                  <a16:creationId xmlns:a16="http://schemas.microsoft.com/office/drawing/2014/main" id="{09C5B955-5420-43CF-92DB-1F63685F0D15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" name="Google Shape;126;p17">
              <a:extLst>
                <a:ext uri="{FF2B5EF4-FFF2-40B4-BE49-F238E27FC236}">
                  <a16:creationId xmlns:a16="http://schemas.microsoft.com/office/drawing/2014/main" id="{44D88CA5-E0E1-A3D5-C328-5166338649BF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" name="Google Shape;127;p17" title="iso (15).png">
              <a:extLst>
                <a:ext uri="{FF2B5EF4-FFF2-40B4-BE49-F238E27FC236}">
                  <a16:creationId xmlns:a16="http://schemas.microsoft.com/office/drawing/2014/main" id="{448CCE8C-4CD7-CAD9-6C35-42FE44836204}"/>
                </a:ext>
              </a:extLst>
            </p:cNvPr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" name="Elipse 6">
            <a:extLst>
              <a:ext uri="{FF2B5EF4-FFF2-40B4-BE49-F238E27FC236}">
                <a16:creationId xmlns:a16="http://schemas.microsoft.com/office/drawing/2014/main" id="{7C987FD4-4F8E-33E0-CCAA-2AFE06586ECE}"/>
              </a:ext>
            </a:extLst>
          </p:cNvPr>
          <p:cNvSpPr/>
          <p:nvPr/>
        </p:nvSpPr>
        <p:spPr>
          <a:xfrm>
            <a:off x="244350" y="533400"/>
            <a:ext cx="708150" cy="660400"/>
          </a:xfrm>
          <a:prstGeom prst="ellipse">
            <a:avLst/>
          </a:prstGeom>
          <a:solidFill>
            <a:schemeClr val="tx1">
              <a:lumMod val="50000"/>
              <a:lumOff val="50000"/>
              <a:alpha val="10000"/>
            </a:schemeClr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0373A2-1D6D-E86D-E130-3AB8EF0B50AF}"/>
              </a:ext>
            </a:extLst>
          </p:cNvPr>
          <p:cNvSpPr txBox="1"/>
          <p:nvPr/>
        </p:nvSpPr>
        <p:spPr>
          <a:xfrm>
            <a:off x="411100" y="601761"/>
            <a:ext cx="29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1</a:t>
            </a:r>
            <a:endParaRPr lang="en-GB" sz="28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8A53FA3-8E42-A89A-BD3E-62830A430034}"/>
              </a:ext>
            </a:extLst>
          </p:cNvPr>
          <p:cNvSpPr txBox="1"/>
          <p:nvPr/>
        </p:nvSpPr>
        <p:spPr>
          <a:xfrm rot="16200000">
            <a:off x="-782983" y="3924304"/>
            <a:ext cx="199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T4: Campaña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1400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AE26C9CE-1737-1422-4CFB-B0A50E9A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59CAFD0E-A43A-E67C-1D64-7CEF2B96CF7B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CF23E58B-B072-8EB4-FDAF-0A08AAC99CA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6EBC1C5F-C670-F785-256D-D54A70574D29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875DC951-C4E1-91E6-46E0-0ABA1036ED92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B2AF75FC-B3E5-43E3-2A54-513BA21DA2E7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Gracias!</a:t>
            </a: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8797EF8A-193E-6525-C13E-AD559625920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9999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Shape 292">
          <a:extLst>
            <a:ext uri="{FF2B5EF4-FFF2-40B4-BE49-F238E27FC236}">
              <a16:creationId xmlns:a16="http://schemas.microsoft.com/office/drawing/2014/main" id="{C2965663-2BB1-BFC4-526B-FE881BBFC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30">
            <a:extLst>
              <a:ext uri="{FF2B5EF4-FFF2-40B4-BE49-F238E27FC236}">
                <a16:creationId xmlns:a16="http://schemas.microsoft.com/office/drawing/2014/main" id="{7A74F2CC-8E55-2915-8BAC-89FA657DA20F}"/>
              </a:ext>
            </a:extLst>
          </p:cNvPr>
          <p:cNvGrpSpPr/>
          <p:nvPr/>
        </p:nvGrpSpPr>
        <p:grpSpPr>
          <a:xfrm>
            <a:off x="411898" y="43745"/>
            <a:ext cx="8222165" cy="350400"/>
            <a:chOff x="411898" y="43745"/>
            <a:chExt cx="8222165" cy="350400"/>
          </a:xfrm>
        </p:grpSpPr>
        <p:pic>
          <p:nvPicPr>
            <p:cNvPr id="294" name="Google Shape;294;p30" title="iso (16).png">
              <a:extLst>
                <a:ext uri="{FF2B5EF4-FFF2-40B4-BE49-F238E27FC236}">
                  <a16:creationId xmlns:a16="http://schemas.microsoft.com/office/drawing/2014/main" id="{BAAEB902-0A4B-B6D9-24D2-C877D13B6F0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7388" y="120063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5" name="Google Shape;295;p30">
              <a:extLst>
                <a:ext uri="{FF2B5EF4-FFF2-40B4-BE49-F238E27FC236}">
                  <a16:creationId xmlns:a16="http://schemas.microsoft.com/office/drawing/2014/main" id="{A3D4445B-ACAE-018C-04A1-D934CF185E29}"/>
                </a:ext>
              </a:extLst>
            </p:cNvPr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6" name="Google Shape;296;p30">
              <a:extLst>
                <a:ext uri="{FF2B5EF4-FFF2-40B4-BE49-F238E27FC236}">
                  <a16:creationId xmlns:a16="http://schemas.microsoft.com/office/drawing/2014/main" id="{17777084-E5D4-11B3-B9DF-0065A8E7C640}"/>
                </a:ext>
              </a:extLst>
            </p:cNvPr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</p:grpSp>
      <p:sp>
        <p:nvSpPr>
          <p:cNvPr id="297" name="Google Shape;297;p30">
            <a:extLst>
              <a:ext uri="{FF2B5EF4-FFF2-40B4-BE49-F238E27FC236}">
                <a16:creationId xmlns:a16="http://schemas.microsoft.com/office/drawing/2014/main" id="{7436E5E9-224A-54A7-463B-502C71C760E8}"/>
              </a:ext>
            </a:extLst>
          </p:cNvPr>
          <p:cNvSpPr txBox="1"/>
          <p:nvPr/>
        </p:nvSpPr>
        <p:spPr>
          <a:xfrm>
            <a:off x="411900" y="3078300"/>
            <a:ext cx="5703000" cy="8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 dirty="0">
                <a:solidFill>
                  <a:schemeClr val="lt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Background</a:t>
            </a: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600" dirty="0">
              <a:solidFill>
                <a:schemeClr val="lt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pic>
        <p:nvPicPr>
          <p:cNvPr id="298" name="Google Shape;298;p30" title="Group 413 (1).png">
            <a:extLst>
              <a:ext uri="{FF2B5EF4-FFF2-40B4-BE49-F238E27FC236}">
                <a16:creationId xmlns:a16="http://schemas.microsoft.com/office/drawing/2014/main" id="{2E51EFA9-3FDD-ADB9-BE22-689D8E3BB9C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575" y="3216675"/>
            <a:ext cx="1830501" cy="1222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39944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" name="Google Shape;303;p31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304" name="Google Shape;304;p31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5" name="Google Shape;305;p31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306" name="Google Shape;306;p31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7" name="Google Shape;307;p31"/>
          <p:cNvSpPr txBox="1"/>
          <p:nvPr/>
        </p:nvSpPr>
        <p:spPr>
          <a:xfrm>
            <a:off x="714000" y="459500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Comunidad y ecosistema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08" name="Google Shape;308;p31"/>
          <p:cNvSpPr txBox="1"/>
          <p:nvPr/>
        </p:nvSpPr>
        <p:spPr>
          <a:xfrm>
            <a:off x="714012" y="1262294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•Es la plataforma de desarrollo colaborativo más grande del mundo.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•Permite crear portafolio profesional, muy valorado en entrevistas técnicas.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9" name="Google Shape;309;p31"/>
          <p:cNvSpPr txBox="1"/>
          <p:nvPr/>
        </p:nvSpPr>
        <p:spPr>
          <a:xfrm>
            <a:off x="3352648" y="459500"/>
            <a:ext cx="245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Pull Requests y revisiones de código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10" name="Google Shape;310;p31"/>
          <p:cNvSpPr txBox="1"/>
          <p:nvPr/>
        </p:nvSpPr>
        <p:spPr>
          <a:xfrm>
            <a:off x="3352657" y="1273557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•GitHub popularizó el modelo de pull request, que se ha convertido en estándar.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•Herramientas muy potentes para revisión de código: comentarios en línea, sugerencias de cambios,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1" name="Google Shape;311;p31"/>
          <p:cNvSpPr txBox="1"/>
          <p:nvPr/>
        </p:nvSpPr>
        <p:spPr>
          <a:xfrm>
            <a:off x="6175246" y="459501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Integraciones y GitHub Actions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12" name="Google Shape;312;p31"/>
          <p:cNvSpPr txBox="1"/>
          <p:nvPr/>
        </p:nvSpPr>
        <p:spPr>
          <a:xfrm>
            <a:off x="6175240" y="1279476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GitHub Actions permite configurar CI/CD (tests, builds, despliegues) de manera nativa, sin depender de servicios externos.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Un gran Marketplace con piezas adicionales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13" name="Google Shape;313;p31"/>
          <p:cNvCxnSpPr/>
          <p:nvPr/>
        </p:nvCxnSpPr>
        <p:spPr>
          <a:xfrm>
            <a:off x="511050" y="1105552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4" name="Google Shape;314;p31"/>
          <p:cNvSpPr/>
          <p:nvPr/>
        </p:nvSpPr>
        <p:spPr>
          <a:xfrm>
            <a:off x="792600" y="1043000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1"/>
          <p:cNvSpPr/>
          <p:nvPr/>
        </p:nvSpPr>
        <p:spPr>
          <a:xfrm>
            <a:off x="3441530" y="105192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31"/>
          <p:cNvSpPr/>
          <p:nvPr/>
        </p:nvSpPr>
        <p:spPr>
          <a:xfrm>
            <a:off x="6271205" y="104483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14000" y="3278900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Gestión de proyectos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18" name="Google Shape;318;p31"/>
          <p:cNvSpPr txBox="1"/>
          <p:nvPr/>
        </p:nvSpPr>
        <p:spPr>
          <a:xfrm>
            <a:off x="714012" y="4081694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•Milestones y etiquetas para organizar el trabajo.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9" name="Google Shape;319;p31"/>
          <p:cNvSpPr txBox="1"/>
          <p:nvPr/>
        </p:nvSpPr>
        <p:spPr>
          <a:xfrm>
            <a:off x="3352648" y="3278900"/>
            <a:ext cx="245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Seguridad y control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20" name="Google Shape;320;p31"/>
          <p:cNvSpPr txBox="1"/>
          <p:nvPr/>
        </p:nvSpPr>
        <p:spPr>
          <a:xfrm>
            <a:off x="3352657" y="4092957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•Escaneo automático de vulnerabilidades en dependencias y controles de permisos granulares para equipos.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1" name="Google Shape;321;p31"/>
          <p:cNvSpPr txBox="1"/>
          <p:nvPr/>
        </p:nvSpPr>
        <p:spPr>
          <a:xfrm>
            <a:off x="6175246" y="3278901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Experiencia de usuario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322" name="Google Shape;322;p31"/>
          <p:cNvSpPr txBox="1"/>
          <p:nvPr/>
        </p:nvSpPr>
        <p:spPr>
          <a:xfrm>
            <a:off x="6175240" y="4098876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Interfaz web intuitiva y limpia, muy fácil de usar incluso para principiantes.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323" name="Google Shape;323;p31"/>
          <p:cNvCxnSpPr/>
          <p:nvPr/>
        </p:nvCxnSpPr>
        <p:spPr>
          <a:xfrm>
            <a:off x="511050" y="3924952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1"/>
          <p:cNvSpPr/>
          <p:nvPr/>
        </p:nvSpPr>
        <p:spPr>
          <a:xfrm>
            <a:off x="792600" y="3862400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1"/>
          <p:cNvSpPr/>
          <p:nvPr/>
        </p:nvSpPr>
        <p:spPr>
          <a:xfrm>
            <a:off x="3441530" y="387132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31"/>
          <p:cNvSpPr/>
          <p:nvPr/>
        </p:nvSpPr>
        <p:spPr>
          <a:xfrm>
            <a:off x="6271205" y="386423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27" name="Google Shape;327;p31"/>
          <p:cNvCxnSpPr/>
          <p:nvPr/>
        </p:nvCxnSpPr>
        <p:spPr>
          <a:xfrm>
            <a:off x="520500" y="3001027"/>
            <a:ext cx="8121900" cy="0"/>
          </a:xfrm>
          <a:prstGeom prst="straightConnector1">
            <a:avLst/>
          </a:prstGeom>
          <a:noFill/>
          <a:ln w="114300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29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276" name="Google Shape;276;p29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7" name="Google Shape;277;p29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278" name="Google Shape;278;p29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9" name="Google Shape;279;p29"/>
          <p:cNvSpPr txBox="1"/>
          <p:nvPr/>
        </p:nvSpPr>
        <p:spPr>
          <a:xfrm>
            <a:off x="714000" y="878600"/>
            <a:ext cx="27276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Repositorio remoto centralizado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714012" y="1681394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•Actúan como un punto de encuentro para los equipos.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•Aunque Git es distribuido, tener un repositorio remoto común facilita que todos sincronicen los cambios en un lugar confiable.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•Garantiza respaldo en la nube, evitando depender solo de los equipos locales.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1" name="Google Shape;281;p29"/>
          <p:cNvSpPr txBox="1"/>
          <p:nvPr/>
        </p:nvSpPr>
        <p:spPr>
          <a:xfrm>
            <a:off x="3352655" y="878603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Automatización e integración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3352657" y="1692657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•Integración con CI/CD (integración y despliegue continuo).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•Puedes configurar pipelines automáticos que ejecuten tests, builds y despliegues cada vez que subes código.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•Integración con herramientas externas de monitoreo, seguridad y calidad del software.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6175246" y="878601"/>
            <a:ext cx="1797900" cy="4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Gestión de proyectos</a:t>
            </a:r>
            <a:endParaRPr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6175240" y="1698576"/>
            <a:ext cx="2310000" cy="7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 Tableros de tareas (Kanban, issues, epics).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Asignación de responsables y seguimiento de bugs.</a:t>
            </a:r>
            <a:b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</a:b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• Wikis y documentación asociada directamente al repositorio.</a:t>
            </a: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285" name="Google Shape;285;p29"/>
          <p:cNvCxnSpPr/>
          <p:nvPr/>
        </p:nvCxnSpPr>
        <p:spPr>
          <a:xfrm>
            <a:off x="511050" y="1524652"/>
            <a:ext cx="81219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6" name="Google Shape;286;p29"/>
          <p:cNvSpPr/>
          <p:nvPr/>
        </p:nvSpPr>
        <p:spPr>
          <a:xfrm>
            <a:off x="792600" y="1462100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3441530" y="147102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6271205" y="1463935"/>
            <a:ext cx="125100" cy="125100"/>
          </a:xfrm>
          <a:prstGeom prst="ellipse">
            <a:avLst/>
          </a:prstGeom>
          <a:solidFill>
            <a:srgbClr val="141414"/>
          </a:solidFill>
          <a:ln w="9525" cap="flat" cmpd="sng">
            <a:solidFill>
              <a:srgbClr val="1414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Ellipse 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866711">
            <a:off x="1135341" y="802143"/>
            <a:ext cx="2397041" cy="239703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2704575" y="1620675"/>
            <a:ext cx="2331600" cy="23316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999999"/>
                </a:solidFill>
              </a:rPr>
              <a:t>Foto docente</a:t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5357479" y="2460850"/>
            <a:ext cx="20436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rPr>
              <a:t>Senior AI engineer en Rauda</a:t>
            </a:r>
            <a:endParaRPr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grpSp>
        <p:nvGrpSpPr>
          <p:cNvPr id="58" name="Google Shape;58;p13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59" name="Google Shape;59;p13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Google Shape;60;p13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61" name="Google Shape;61;p13" title="iso (15)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3"/>
          <p:cNvSpPr txBox="1"/>
          <p:nvPr/>
        </p:nvSpPr>
        <p:spPr>
          <a:xfrm>
            <a:off x="5357475" y="2909300"/>
            <a:ext cx="2844000" cy="8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6F6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14"/>
          <p:cNvGrpSpPr/>
          <p:nvPr/>
        </p:nvGrpSpPr>
        <p:grpSpPr>
          <a:xfrm>
            <a:off x="411898" y="43745"/>
            <a:ext cx="8221052" cy="350400"/>
            <a:chOff x="411898" y="43745"/>
            <a:chExt cx="8221052" cy="350400"/>
          </a:xfrm>
        </p:grpSpPr>
        <p:cxnSp>
          <p:nvCxnSpPr>
            <p:cNvPr id="69" name="Google Shape;69;p14"/>
            <p:cNvCxnSpPr/>
            <p:nvPr/>
          </p:nvCxnSpPr>
          <p:spPr>
            <a:xfrm>
              <a:off x="511050" y="373827"/>
              <a:ext cx="8121900" cy="0"/>
            </a:xfrm>
            <a:prstGeom prst="straightConnector1">
              <a:avLst/>
            </a:prstGeom>
            <a:noFill/>
            <a:ln w="9525" cap="flat" cmpd="sng">
              <a:solidFill>
                <a:srgbClr val="B7B7B7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" name="Google Shape;70;p14"/>
            <p:cNvSpPr txBox="1"/>
            <p:nvPr/>
          </p:nvSpPr>
          <p:spPr>
            <a:xfrm>
              <a:off x="411898" y="43745"/>
              <a:ext cx="3929700" cy="35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800">
                  <a:solidFill>
                    <a:srgbClr val="999999"/>
                  </a:solidFill>
                  <a:latin typeface="Manrope"/>
                  <a:ea typeface="Manrope"/>
                  <a:cs typeface="Manrope"/>
                  <a:sym typeface="Manrope"/>
                </a:rPr>
                <a:t>Nuclio Digital School</a:t>
              </a:r>
              <a:endParaRPr sz="800">
                <a:solidFill>
                  <a:srgbClr val="999999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pic>
          <p:nvPicPr>
            <p:cNvPr id="71" name="Google Shape;71;p14" title="iso (15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446275" y="118284"/>
              <a:ext cx="186675" cy="1866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2" name="Google Shape;72;p14"/>
          <p:cNvSpPr/>
          <p:nvPr/>
        </p:nvSpPr>
        <p:spPr>
          <a:xfrm>
            <a:off x="4663526" y="2653034"/>
            <a:ext cx="1492673" cy="1162583"/>
          </a:xfrm>
          <a:custGeom>
            <a:avLst/>
            <a:gdLst/>
            <a:ahLst/>
            <a:cxnLst/>
            <a:rect l="l" t="t" r="r" b="b"/>
            <a:pathLst>
              <a:path w="828" h="644" extrusionOk="0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8" y="618"/>
                  <a:pt x="828" y="618"/>
                  <a:pt x="828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61476" y="3279686"/>
            <a:ext cx="1494198" cy="1162583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1871058" y="2653034"/>
            <a:ext cx="1489623" cy="1162583"/>
          </a:xfrm>
          <a:custGeom>
            <a:avLst/>
            <a:gdLst/>
            <a:ahLst/>
            <a:cxnLst/>
            <a:rect l="l" t="t" r="r" b="b"/>
            <a:pathLst>
              <a:path w="827" h="644" extrusionOk="0">
                <a:moveTo>
                  <a:pt x="0" y="296"/>
                </a:moveTo>
                <a:cubicBezTo>
                  <a:pt x="111" y="328"/>
                  <a:pt x="111" y="328"/>
                  <a:pt x="111" y="328"/>
                </a:cubicBezTo>
                <a:cubicBezTo>
                  <a:pt x="111" y="453"/>
                  <a:pt x="111" y="453"/>
                  <a:pt x="111" y="453"/>
                </a:cubicBezTo>
                <a:cubicBezTo>
                  <a:pt x="111" y="453"/>
                  <a:pt x="423" y="249"/>
                  <a:pt x="691" y="644"/>
                </a:cubicBezTo>
                <a:cubicBezTo>
                  <a:pt x="827" y="618"/>
                  <a:pt x="827" y="618"/>
                  <a:pt x="827" y="618"/>
                </a:cubicBezTo>
                <a:cubicBezTo>
                  <a:pt x="824" y="490"/>
                  <a:pt x="824" y="490"/>
                  <a:pt x="824" y="490"/>
                </a:cubicBezTo>
                <a:cubicBezTo>
                  <a:pt x="824" y="490"/>
                  <a:pt x="492" y="0"/>
                  <a:pt x="0" y="29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3274532" y="3279686"/>
            <a:ext cx="1494198" cy="1162583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1928873" y="3708864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795675" y="3708864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602072" y="2557700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3357806" y="2557700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6779" y="4012007"/>
            <a:ext cx="720689" cy="2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8539" y="2759987"/>
            <a:ext cx="509797" cy="512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5087" y="2868214"/>
            <a:ext cx="811983" cy="253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38674" y="4065459"/>
            <a:ext cx="811985" cy="16115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4"/>
          <p:cNvSpPr/>
          <p:nvPr/>
        </p:nvSpPr>
        <p:spPr>
          <a:xfrm>
            <a:off x="6163785" y="3279681"/>
            <a:ext cx="1231094" cy="1162597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217783" y="2653022"/>
            <a:ext cx="897900" cy="874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06442" y="2796483"/>
            <a:ext cx="720688" cy="587419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4"/>
          <p:cNvSpPr/>
          <p:nvPr/>
        </p:nvSpPr>
        <p:spPr>
          <a:xfrm>
            <a:off x="7341337" y="3527369"/>
            <a:ext cx="1126200" cy="950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426124" y="3913695"/>
            <a:ext cx="956542" cy="17764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6440" dist="27330" dir="5400000" algn="t" rotWithShape="0">
              <a:srgbClr val="000000">
                <a:alpha val="45880"/>
              </a:srgbClr>
            </a:outerShdw>
          </a:effectLst>
        </p:spPr>
      </p:pic>
      <p:sp>
        <p:nvSpPr>
          <p:cNvPr id="89" name="Google Shape;89;p14"/>
          <p:cNvSpPr/>
          <p:nvPr/>
        </p:nvSpPr>
        <p:spPr>
          <a:xfrm rot="-10799969" flipH="1">
            <a:off x="7341325" y="2726044"/>
            <a:ext cx="1367326" cy="1016562"/>
          </a:xfrm>
          <a:custGeom>
            <a:avLst/>
            <a:gdLst/>
            <a:ahLst/>
            <a:cxnLst/>
            <a:rect l="l" t="t" r="r" b="b"/>
            <a:pathLst>
              <a:path w="829" h="644" extrusionOk="0">
                <a:moveTo>
                  <a:pt x="0" y="346"/>
                </a:moveTo>
                <a:cubicBezTo>
                  <a:pt x="112" y="314"/>
                  <a:pt x="112" y="314"/>
                  <a:pt x="112" y="314"/>
                </a:cubicBezTo>
                <a:cubicBezTo>
                  <a:pt x="112" y="190"/>
                  <a:pt x="112" y="190"/>
                  <a:pt x="112" y="190"/>
                </a:cubicBezTo>
                <a:cubicBezTo>
                  <a:pt x="112" y="190"/>
                  <a:pt x="423" y="394"/>
                  <a:pt x="693" y="0"/>
                </a:cubicBezTo>
                <a:cubicBezTo>
                  <a:pt x="829" y="27"/>
                  <a:pt x="829" y="27"/>
                  <a:pt x="829" y="27"/>
                </a:cubicBezTo>
                <a:cubicBezTo>
                  <a:pt x="825" y="156"/>
                  <a:pt x="825" y="156"/>
                  <a:pt x="825" y="156"/>
                </a:cubicBezTo>
                <a:cubicBezTo>
                  <a:pt x="825" y="156"/>
                  <a:pt x="491" y="644"/>
                  <a:pt x="0" y="346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27330" dist="18220" dir="5400000" algn="ctr" rotWithShape="0">
              <a:srgbClr val="000000">
                <a:alpha val="20000"/>
              </a:srgbClr>
            </a:outerShdw>
          </a:effectLst>
        </p:spPr>
        <p:txBody>
          <a:bodyPr spcFirstLastPara="1" wrap="square" lIns="131175" tIns="65575" rIns="131175" bIns="655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82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22325" y="1009969"/>
            <a:ext cx="2547600" cy="11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Mi trayectoria</a:t>
            </a:r>
            <a:endParaRPr sz="27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1662</Words>
  <Application>Microsoft Office PowerPoint</Application>
  <PresentationFormat>Presentación en pantalla (16:9)</PresentationFormat>
  <Paragraphs>270</Paragraphs>
  <Slides>25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0" baseType="lpstr">
      <vt:lpstr>Calibri</vt:lpstr>
      <vt:lpstr>Arial</vt:lpstr>
      <vt:lpstr>Manrope</vt:lpstr>
      <vt:lpstr>Manrope Medium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Enrique González Fernández</cp:lastModifiedBy>
  <cp:revision>71</cp:revision>
  <dcterms:modified xsi:type="dcterms:W3CDTF">2025-11-15T14:56:39Z</dcterms:modified>
</cp:coreProperties>
</file>