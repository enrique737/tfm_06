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5.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tags/tag6.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ags/tag7.xml" ContentType="application/vnd.openxmlformats-officedocument.presentationml.tags+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5.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6.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notesSlides/notesSlide7.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notesSlides/notesSlide8.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9.xml" ContentType="application/vnd.openxmlformats-officedocument.presentationml.notesSlide+xml"/>
  <Override PartName="/ppt/tags/tag142.xml" ContentType="application/vnd.openxmlformats-officedocument.presentationml.tags+xml"/>
  <Override PartName="/ppt/notesSlides/notesSlide10.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11.xml" ContentType="application/vnd.openxmlformats-officedocument.presentationml.notesSlide+xml"/>
  <Override PartName="/ppt/tags/tag146.xml" ContentType="application/vnd.openxmlformats-officedocument.presentationml.tags+xml"/>
  <Override PartName="/ppt/notesSlides/notesSlide12.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0" r:id="rId2"/>
    <p:sldMasterId id="2147483726" r:id="rId3"/>
    <p:sldMasterId id="2147483751" r:id="rId4"/>
    <p:sldMasterId id="2147483763" r:id="rId5"/>
    <p:sldMasterId id="2147483775" r:id="rId6"/>
    <p:sldMasterId id="2147483793" r:id="rId7"/>
    <p:sldMasterId id="2147483806" r:id="rId8"/>
  </p:sldMasterIdLst>
  <p:notesMasterIdLst>
    <p:notesMasterId r:id="rId55"/>
  </p:notesMasterIdLst>
  <p:sldIdLst>
    <p:sldId id="280" r:id="rId9"/>
    <p:sldId id="281" r:id="rId10"/>
    <p:sldId id="386" r:id="rId11"/>
    <p:sldId id="697" r:id="rId12"/>
    <p:sldId id="665" r:id="rId13"/>
    <p:sldId id="387" r:id="rId14"/>
    <p:sldId id="268" r:id="rId15"/>
    <p:sldId id="698" r:id="rId16"/>
    <p:sldId id="259" r:id="rId17"/>
    <p:sldId id="604" r:id="rId18"/>
    <p:sldId id="673" r:id="rId19"/>
    <p:sldId id="715" r:id="rId20"/>
    <p:sldId id="716" r:id="rId21"/>
    <p:sldId id="670" r:id="rId22"/>
    <p:sldId id="683" r:id="rId23"/>
    <p:sldId id="719" r:id="rId24"/>
    <p:sldId id="671" r:id="rId25"/>
    <p:sldId id="672" r:id="rId26"/>
    <p:sldId id="674" r:id="rId27"/>
    <p:sldId id="725" r:id="rId28"/>
    <p:sldId id="726" r:id="rId29"/>
    <p:sldId id="675" r:id="rId30"/>
    <p:sldId id="677" r:id="rId31"/>
    <p:sldId id="708" r:id="rId32"/>
    <p:sldId id="709" r:id="rId33"/>
    <p:sldId id="711" r:id="rId34"/>
    <p:sldId id="710" r:id="rId35"/>
    <p:sldId id="371" r:id="rId36"/>
    <p:sldId id="712" r:id="rId37"/>
    <p:sldId id="727" r:id="rId38"/>
    <p:sldId id="700" r:id="rId39"/>
    <p:sldId id="721" r:id="rId40"/>
    <p:sldId id="722" r:id="rId41"/>
    <p:sldId id="713" r:id="rId42"/>
    <p:sldId id="724" r:id="rId43"/>
    <p:sldId id="704" r:id="rId44"/>
    <p:sldId id="705" r:id="rId45"/>
    <p:sldId id="706" r:id="rId46"/>
    <p:sldId id="720" r:id="rId47"/>
    <p:sldId id="276" r:id="rId48"/>
    <p:sldId id="390" r:id="rId49"/>
    <p:sldId id="391" r:id="rId50"/>
    <p:sldId id="681" r:id="rId51"/>
    <p:sldId id="679" r:id="rId52"/>
    <p:sldId id="680" r:id="rId53"/>
    <p:sldId id="714" r:id="rId54"/>
  </p:sldIdLst>
  <p:sldSz cx="9906000" cy="6858000" type="A4"/>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3232"/>
    <a:srgbClr val="0086AC"/>
    <a:srgbClr val="4BACC6"/>
    <a:srgbClr val="9AAE04"/>
    <a:srgbClr val="0097B7"/>
    <a:srgbClr val="3CB2C3"/>
    <a:srgbClr val="FFFFFF"/>
    <a:srgbClr val="DCE6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31" autoAdjust="0"/>
    <p:restoredTop sz="94705" autoAdjust="0"/>
  </p:normalViewPr>
  <p:slideViewPr>
    <p:cSldViewPr>
      <p:cViewPr varScale="1">
        <p:scale>
          <a:sx n="105" d="100"/>
          <a:sy n="105" d="100"/>
        </p:scale>
        <p:origin x="768" y="78"/>
      </p:cViewPr>
      <p:guideLst>
        <p:guide orient="horz" pos="2160"/>
        <p:guide pos="3120"/>
      </p:guideLst>
    </p:cSldViewPr>
  </p:slideViewPr>
  <p:outlineViewPr>
    <p:cViewPr>
      <p:scale>
        <a:sx n="33" d="100"/>
        <a:sy n="33" d="100"/>
      </p:scale>
      <p:origin x="0" y="470"/>
    </p:cViewPr>
  </p:outlineViewPr>
  <p:notesTextViewPr>
    <p:cViewPr>
      <p:scale>
        <a:sx n="1" d="1"/>
        <a:sy n="1" d="1"/>
      </p:scale>
      <p:origin x="0" y="0"/>
    </p:cViewPr>
  </p:notesTextViewPr>
  <p:sorterViewPr>
    <p:cViewPr>
      <p:scale>
        <a:sx n="100" d="100"/>
        <a:sy n="100" d="100"/>
      </p:scale>
      <p:origin x="0" y="2247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notesMaster" Target="notesMasters/notes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theme" Target="theme/theme1.xml"/><Relationship Id="rId5" Type="http://schemas.openxmlformats.org/officeDocument/2006/relationships/slideMaster" Target="slideMasters/slideMaster5.xml"/><Relationship Id="rId19"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tableStyles" Target="tableStyle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viewProps" Target="viewProps.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647978-10D8-40E5-9116-C27C4C8F4C6C}" type="datetimeFigureOut">
              <a:rPr lang="es-ES" smtClean="0"/>
              <a:t>04/04/2026</a:t>
            </a:fld>
            <a:endParaRPr lang="es-ES" dirty="0"/>
          </a:p>
        </p:txBody>
      </p:sp>
      <p:sp>
        <p:nvSpPr>
          <p:cNvPr id="4" name="3 Marcador de imagen de diapositiva"/>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57B20A-59B1-4D1D-9E7D-1E60074AECD7}" type="slidenum">
              <a:rPr lang="es-ES" smtClean="0"/>
              <a:t>‹Nº›</a:t>
            </a:fld>
            <a:endParaRPr lang="es-ES" dirty="0"/>
          </a:p>
        </p:txBody>
      </p:sp>
    </p:spTree>
    <p:extLst>
      <p:ext uri="{BB962C8B-B14F-4D97-AF65-F5344CB8AC3E}">
        <p14:creationId xmlns:p14="http://schemas.microsoft.com/office/powerpoint/2010/main" val="1598376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52500" y="685800"/>
            <a:ext cx="4953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80512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952500" y="685800"/>
            <a:ext cx="4953000" cy="3429000"/>
          </a:xfrm>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5CA7D0B6-4382-49FA-B35B-735367EF9215}" type="slidenum">
              <a:rPr lang="es-ES" smtClean="0">
                <a:solidFill>
                  <a:prstClr val="black"/>
                </a:solidFill>
              </a:rPr>
              <a:pPr/>
              <a:t>11</a:t>
            </a:fld>
            <a:endParaRPr lang="es-ES" dirty="0">
              <a:solidFill>
                <a:prstClr val="black"/>
              </a:solidFill>
            </a:endParaRPr>
          </a:p>
        </p:txBody>
      </p:sp>
    </p:spTree>
    <p:extLst>
      <p:ext uri="{BB962C8B-B14F-4D97-AF65-F5344CB8AC3E}">
        <p14:creationId xmlns:p14="http://schemas.microsoft.com/office/powerpoint/2010/main" val="3810342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952500" y="685800"/>
            <a:ext cx="4953000" cy="3429000"/>
          </a:xfrm>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FE26EB90-CCB4-4E0C-BE82-0E855EAFB2C1}" type="slidenum">
              <a:rPr lang="es-ES" smtClean="0">
                <a:solidFill>
                  <a:prstClr val="black"/>
                </a:solidFill>
              </a:rPr>
              <a:pPr/>
              <a:t>12</a:t>
            </a:fld>
            <a:endParaRPr lang="es-ES" dirty="0">
              <a:solidFill>
                <a:prstClr val="black"/>
              </a:solidFill>
            </a:endParaRPr>
          </a:p>
        </p:txBody>
      </p:sp>
    </p:spTree>
    <p:extLst>
      <p:ext uri="{BB962C8B-B14F-4D97-AF65-F5344CB8AC3E}">
        <p14:creationId xmlns:p14="http://schemas.microsoft.com/office/powerpoint/2010/main" val="839689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952500" y="685800"/>
            <a:ext cx="4953000" cy="3429000"/>
          </a:xfrm>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FE26EB90-CCB4-4E0C-BE82-0E855EAFB2C1}" type="slidenum">
              <a:rPr lang="es-ES" smtClean="0">
                <a:solidFill>
                  <a:prstClr val="black"/>
                </a:solidFill>
              </a:rPr>
              <a:pPr/>
              <a:t>13</a:t>
            </a:fld>
            <a:endParaRPr lang="es-ES" dirty="0">
              <a:solidFill>
                <a:prstClr val="black"/>
              </a:solidFill>
            </a:endParaRPr>
          </a:p>
        </p:txBody>
      </p:sp>
    </p:spTree>
    <p:extLst>
      <p:ext uri="{BB962C8B-B14F-4D97-AF65-F5344CB8AC3E}">
        <p14:creationId xmlns:p14="http://schemas.microsoft.com/office/powerpoint/2010/main" val="839689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FE26EB90-CCB4-4E0C-BE82-0E855EAFB2C1}" type="slidenum">
              <a:rPr lang="es-ES" smtClean="0">
                <a:solidFill>
                  <a:prstClr val="black"/>
                </a:solidFill>
              </a:rPr>
              <a:pPr/>
              <a:t>16</a:t>
            </a:fld>
            <a:endParaRPr lang="es-ES" dirty="0">
              <a:solidFill>
                <a:prstClr val="black"/>
              </a:solidFill>
            </a:endParaRPr>
          </a:p>
        </p:txBody>
      </p:sp>
    </p:spTree>
    <p:extLst>
      <p:ext uri="{BB962C8B-B14F-4D97-AF65-F5344CB8AC3E}">
        <p14:creationId xmlns:p14="http://schemas.microsoft.com/office/powerpoint/2010/main" val="8396892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FE26EB90-CCB4-4E0C-BE82-0E855EAFB2C1}" type="slidenum">
              <a:rPr lang="es-ES" smtClean="0">
                <a:solidFill>
                  <a:prstClr val="black"/>
                </a:solidFill>
              </a:rPr>
              <a:pPr/>
              <a:t>20</a:t>
            </a:fld>
            <a:endParaRPr lang="es-ES" dirty="0">
              <a:solidFill>
                <a:prstClr val="black"/>
              </a:solidFill>
            </a:endParaRPr>
          </a:p>
        </p:txBody>
      </p:sp>
    </p:spTree>
    <p:extLst>
      <p:ext uri="{BB962C8B-B14F-4D97-AF65-F5344CB8AC3E}">
        <p14:creationId xmlns:p14="http://schemas.microsoft.com/office/powerpoint/2010/main" val="839689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FE26EB90-CCB4-4E0C-BE82-0E855EAFB2C1}" type="slidenum">
              <a:rPr lang="es-ES" smtClean="0">
                <a:solidFill>
                  <a:prstClr val="black"/>
                </a:solidFill>
              </a:rPr>
              <a:pPr/>
              <a:t>21</a:t>
            </a:fld>
            <a:endParaRPr lang="es-ES" dirty="0">
              <a:solidFill>
                <a:prstClr val="black"/>
              </a:solidFill>
            </a:endParaRPr>
          </a:p>
        </p:txBody>
      </p:sp>
    </p:spTree>
    <p:extLst>
      <p:ext uri="{BB962C8B-B14F-4D97-AF65-F5344CB8AC3E}">
        <p14:creationId xmlns:p14="http://schemas.microsoft.com/office/powerpoint/2010/main" val="839689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FE26EB90-CCB4-4E0C-BE82-0E855EAFB2C1}" type="slidenum">
              <a:rPr lang="es-ES" smtClean="0">
                <a:solidFill>
                  <a:prstClr val="black"/>
                </a:solidFill>
              </a:rPr>
              <a:pPr/>
              <a:t>23</a:t>
            </a:fld>
            <a:endParaRPr lang="es-ES" dirty="0">
              <a:solidFill>
                <a:prstClr val="black"/>
              </a:solidFill>
            </a:endParaRPr>
          </a:p>
        </p:txBody>
      </p:sp>
    </p:spTree>
    <p:extLst>
      <p:ext uri="{BB962C8B-B14F-4D97-AF65-F5344CB8AC3E}">
        <p14:creationId xmlns:p14="http://schemas.microsoft.com/office/powerpoint/2010/main" val="839689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FE26EB90-CCB4-4E0C-BE82-0E855EAFB2C1}" type="slidenum">
              <a:rPr lang="es-ES" smtClean="0">
                <a:solidFill>
                  <a:prstClr val="black"/>
                </a:solidFill>
              </a:rPr>
              <a:pPr/>
              <a:t>24</a:t>
            </a:fld>
            <a:endParaRPr lang="es-ES" dirty="0">
              <a:solidFill>
                <a:prstClr val="black"/>
              </a:solidFill>
            </a:endParaRPr>
          </a:p>
        </p:txBody>
      </p:sp>
    </p:spTree>
    <p:extLst>
      <p:ext uri="{BB962C8B-B14F-4D97-AF65-F5344CB8AC3E}">
        <p14:creationId xmlns:p14="http://schemas.microsoft.com/office/powerpoint/2010/main" val="8396892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FE26EB90-CCB4-4E0C-BE82-0E855EAFB2C1}" type="slidenum">
              <a:rPr lang="es-ES" smtClean="0">
                <a:solidFill>
                  <a:prstClr val="black"/>
                </a:solidFill>
              </a:rPr>
              <a:pPr/>
              <a:t>25</a:t>
            </a:fld>
            <a:endParaRPr lang="es-ES" dirty="0">
              <a:solidFill>
                <a:prstClr val="black"/>
              </a:solidFill>
            </a:endParaRPr>
          </a:p>
        </p:txBody>
      </p:sp>
    </p:spTree>
    <p:extLst>
      <p:ext uri="{BB962C8B-B14F-4D97-AF65-F5344CB8AC3E}">
        <p14:creationId xmlns:p14="http://schemas.microsoft.com/office/powerpoint/2010/main" val="839689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FE26EB90-CCB4-4E0C-BE82-0E855EAFB2C1}" type="slidenum">
              <a:rPr lang="es-ES" smtClean="0">
                <a:solidFill>
                  <a:prstClr val="black"/>
                </a:solidFill>
              </a:rPr>
              <a:pPr/>
              <a:t>26</a:t>
            </a:fld>
            <a:endParaRPr lang="es-ES" dirty="0">
              <a:solidFill>
                <a:prstClr val="black"/>
              </a:solidFill>
            </a:endParaRPr>
          </a:p>
        </p:txBody>
      </p:sp>
    </p:spTree>
    <p:extLst>
      <p:ext uri="{BB962C8B-B14F-4D97-AF65-F5344CB8AC3E}">
        <p14:creationId xmlns:p14="http://schemas.microsoft.com/office/powerpoint/2010/main" val="839689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FE26EB90-CCB4-4E0C-BE82-0E855EAFB2C1}" type="slidenum">
              <a:rPr lang="es-ES" smtClean="0">
                <a:solidFill>
                  <a:prstClr val="black"/>
                </a:solidFill>
              </a:rPr>
              <a:pPr/>
              <a:t>27</a:t>
            </a:fld>
            <a:endParaRPr lang="es-ES" dirty="0">
              <a:solidFill>
                <a:prstClr val="black"/>
              </a:solidFill>
            </a:endParaRPr>
          </a:p>
        </p:txBody>
      </p:sp>
    </p:spTree>
    <p:extLst>
      <p:ext uri="{BB962C8B-B14F-4D97-AF65-F5344CB8AC3E}">
        <p14:creationId xmlns:p14="http://schemas.microsoft.com/office/powerpoint/2010/main" val="839689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0D8C8073-607A-428D-AC7C-C0226A506A1A}" type="slidenum">
              <a:rPr lang="es-ES" smtClean="0">
                <a:solidFill>
                  <a:prstClr val="black"/>
                </a:solidFill>
              </a:rPr>
              <a:pPr/>
              <a:t>30</a:t>
            </a:fld>
            <a:endParaRPr lang="es-ES" dirty="0">
              <a:solidFill>
                <a:prstClr val="black"/>
              </a:solidFill>
            </a:endParaRPr>
          </a:p>
        </p:txBody>
      </p:sp>
    </p:spTree>
    <p:extLst>
      <p:ext uri="{BB962C8B-B14F-4D97-AF65-F5344CB8AC3E}">
        <p14:creationId xmlns:p14="http://schemas.microsoft.com/office/powerpoint/2010/main" val="3129890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952500" y="685800"/>
            <a:ext cx="4953000" cy="3429000"/>
          </a:xfrm>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78D567DD-408F-45AC-BC13-A3EF86099666}" type="slidenum">
              <a:rPr lang="es-ES" smtClean="0"/>
              <a:t>32</a:t>
            </a:fld>
            <a:endParaRPr lang="es-ES" dirty="0"/>
          </a:p>
        </p:txBody>
      </p:sp>
    </p:spTree>
    <p:extLst>
      <p:ext uri="{BB962C8B-B14F-4D97-AF65-F5344CB8AC3E}">
        <p14:creationId xmlns:p14="http://schemas.microsoft.com/office/powerpoint/2010/main" val="887496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0D8C8073-607A-428D-AC7C-C0226A506A1A}" type="slidenum">
              <a:rPr lang="es-ES" smtClean="0"/>
              <a:t>33</a:t>
            </a:fld>
            <a:endParaRPr lang="es-ES" dirty="0"/>
          </a:p>
        </p:txBody>
      </p:sp>
    </p:spTree>
    <p:extLst>
      <p:ext uri="{BB962C8B-B14F-4D97-AF65-F5344CB8AC3E}">
        <p14:creationId xmlns:p14="http://schemas.microsoft.com/office/powerpoint/2010/main" val="189930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952500" y="685800"/>
            <a:ext cx="4953000" cy="3429000"/>
          </a:xfrm>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78D567DD-408F-45AC-BC13-A3EF86099666}" type="slidenum">
              <a:rPr lang="es-ES" smtClean="0"/>
              <a:t>36</a:t>
            </a:fld>
            <a:endParaRPr lang="es-ES" dirty="0"/>
          </a:p>
        </p:txBody>
      </p:sp>
    </p:spTree>
    <p:extLst>
      <p:ext uri="{BB962C8B-B14F-4D97-AF65-F5344CB8AC3E}">
        <p14:creationId xmlns:p14="http://schemas.microsoft.com/office/powerpoint/2010/main" val="887496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0D8C8073-607A-428D-AC7C-C0226A506A1A}" type="slidenum">
              <a:rPr lang="es-ES" smtClean="0"/>
              <a:t>37</a:t>
            </a:fld>
            <a:endParaRPr lang="es-ES" dirty="0"/>
          </a:p>
        </p:txBody>
      </p:sp>
    </p:spTree>
    <p:extLst>
      <p:ext uri="{BB962C8B-B14F-4D97-AF65-F5344CB8AC3E}">
        <p14:creationId xmlns:p14="http://schemas.microsoft.com/office/powerpoint/2010/main" val="1899306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952500" y="685800"/>
            <a:ext cx="4953000" cy="3429000"/>
          </a:xfrm>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78D567DD-408F-45AC-BC13-A3EF86099666}" type="slidenum">
              <a:rPr lang="es-ES" smtClean="0"/>
              <a:t>38</a:t>
            </a:fld>
            <a:endParaRPr lang="es-ES" dirty="0"/>
          </a:p>
        </p:txBody>
      </p:sp>
    </p:spTree>
    <p:extLst>
      <p:ext uri="{BB962C8B-B14F-4D97-AF65-F5344CB8AC3E}">
        <p14:creationId xmlns:p14="http://schemas.microsoft.com/office/powerpoint/2010/main" val="887496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6.xml"/><Relationship Id="rId1" Type="http://schemas.openxmlformats.org/officeDocument/2006/relationships/tags" Target="../tags/tag6.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7.xml"/><Relationship Id="rId1" Type="http://schemas.openxmlformats.org/officeDocument/2006/relationships/tags" Target="../tags/tag7.xml"/><Relationship Id="rId4" Type="http://schemas.openxmlformats.org/officeDocument/2006/relationships/image" Target="../media/image1.emf"/></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742950" y="2130438"/>
            <a:ext cx="84201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E21C553C-9A78-4DC3-ADC4-1800F6DD6D35}" type="datetimeFigureOut">
              <a:rPr lang="es-ES" smtClean="0"/>
              <a:t>04/04/2026</a:t>
            </a:fld>
            <a:endParaRPr lang="es-ES" dirty="0"/>
          </a:p>
        </p:txBody>
      </p:sp>
      <p:sp>
        <p:nvSpPr>
          <p:cNvPr id="5" name="4 Marcador de pie de página"/>
          <p:cNvSpPr>
            <a:spLocks noGrp="1"/>
          </p:cNvSpPr>
          <p:nvPr>
            <p:ph type="ftr" sz="quarter" idx="11"/>
          </p:nvPr>
        </p:nvSpPr>
        <p:spPr/>
        <p:txBody>
          <a:bodyPr/>
          <a:lstStyle/>
          <a:p>
            <a:endParaRPr lang="es-ES" dirty="0"/>
          </a:p>
        </p:txBody>
      </p:sp>
    </p:spTree>
    <p:extLst>
      <p:ext uri="{BB962C8B-B14F-4D97-AF65-F5344CB8AC3E}">
        <p14:creationId xmlns:p14="http://schemas.microsoft.com/office/powerpoint/2010/main" val="972563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21C553C-9A78-4DC3-ADC4-1800F6DD6D35}" type="datetimeFigureOut">
              <a:rPr lang="es-ES" smtClean="0"/>
              <a:t>04/04/2026</a:t>
            </a:fld>
            <a:endParaRPr lang="es-ES" dirty="0"/>
          </a:p>
        </p:txBody>
      </p:sp>
      <p:sp>
        <p:nvSpPr>
          <p:cNvPr id="5" name="4 Marcador de pie de página"/>
          <p:cNvSpPr>
            <a:spLocks noGrp="1"/>
          </p:cNvSpPr>
          <p:nvPr>
            <p:ph type="ftr" sz="quarter" idx="11"/>
          </p:nvPr>
        </p:nvSpPr>
        <p:spPr/>
        <p:txBody>
          <a:bodyPr/>
          <a:lstStyle/>
          <a:p>
            <a:endParaRPr lang="es-ES" dirty="0"/>
          </a:p>
        </p:txBody>
      </p:sp>
    </p:spTree>
    <p:extLst>
      <p:ext uri="{BB962C8B-B14F-4D97-AF65-F5344CB8AC3E}">
        <p14:creationId xmlns:p14="http://schemas.microsoft.com/office/powerpoint/2010/main" val="1924843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82506" y="4406913"/>
            <a:ext cx="84201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E21C553C-9A78-4DC3-ADC4-1800F6DD6D35}" type="datetimeFigureOut">
              <a:rPr lang="es-ES" smtClean="0"/>
              <a:t>04/04/2026</a:t>
            </a:fld>
            <a:endParaRPr lang="es-ES" dirty="0"/>
          </a:p>
        </p:txBody>
      </p:sp>
      <p:sp>
        <p:nvSpPr>
          <p:cNvPr id="5" name="4 Marcador de pie de página"/>
          <p:cNvSpPr>
            <a:spLocks noGrp="1"/>
          </p:cNvSpPr>
          <p:nvPr>
            <p:ph type="ftr" sz="quarter" idx="11"/>
          </p:nvPr>
        </p:nvSpPr>
        <p:spPr/>
        <p:txBody>
          <a:bodyPr/>
          <a:lstStyle/>
          <a:p>
            <a:endParaRPr lang="es-ES" dirty="0"/>
          </a:p>
        </p:txBody>
      </p:sp>
    </p:spTree>
    <p:extLst>
      <p:ext uri="{BB962C8B-B14F-4D97-AF65-F5344CB8AC3E}">
        <p14:creationId xmlns:p14="http://schemas.microsoft.com/office/powerpoint/2010/main" val="2439728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536575" y="1600206"/>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5448300" y="1600206"/>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E21C553C-9A78-4DC3-ADC4-1800F6DD6D35}" type="datetimeFigureOut">
              <a:rPr lang="es-ES" smtClean="0"/>
              <a:t>04/04/2026</a:t>
            </a:fld>
            <a:endParaRPr lang="es-ES" dirty="0"/>
          </a:p>
        </p:txBody>
      </p:sp>
      <p:sp>
        <p:nvSpPr>
          <p:cNvPr id="6" name="5 Marcador de pie de página"/>
          <p:cNvSpPr>
            <a:spLocks noGrp="1"/>
          </p:cNvSpPr>
          <p:nvPr>
            <p:ph type="ftr" sz="quarter" idx="11"/>
          </p:nvPr>
        </p:nvSpPr>
        <p:spPr/>
        <p:txBody>
          <a:bodyPr/>
          <a:lstStyle/>
          <a:p>
            <a:endParaRPr lang="es-ES" dirty="0"/>
          </a:p>
        </p:txBody>
      </p:sp>
    </p:spTree>
    <p:extLst>
      <p:ext uri="{BB962C8B-B14F-4D97-AF65-F5344CB8AC3E}">
        <p14:creationId xmlns:p14="http://schemas.microsoft.com/office/powerpoint/2010/main" val="1662013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4638"/>
            <a:ext cx="89154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5032115"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5032115"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E21C553C-9A78-4DC3-ADC4-1800F6DD6D35}" type="datetimeFigureOut">
              <a:rPr lang="es-ES" smtClean="0"/>
              <a:t>04/04/2026</a:t>
            </a:fld>
            <a:endParaRPr lang="es-ES" dirty="0"/>
          </a:p>
        </p:txBody>
      </p:sp>
      <p:sp>
        <p:nvSpPr>
          <p:cNvPr id="8" name="7 Marcador de pie de página"/>
          <p:cNvSpPr>
            <a:spLocks noGrp="1"/>
          </p:cNvSpPr>
          <p:nvPr>
            <p:ph type="ftr" sz="quarter" idx="11"/>
          </p:nvPr>
        </p:nvSpPr>
        <p:spPr/>
        <p:txBody>
          <a:bodyPr/>
          <a:lstStyle/>
          <a:p>
            <a:endParaRPr lang="es-ES" dirty="0"/>
          </a:p>
        </p:txBody>
      </p:sp>
    </p:spTree>
    <p:extLst>
      <p:ext uri="{BB962C8B-B14F-4D97-AF65-F5344CB8AC3E}">
        <p14:creationId xmlns:p14="http://schemas.microsoft.com/office/powerpoint/2010/main" val="3657487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E21C553C-9A78-4DC3-ADC4-1800F6DD6D35}" type="datetimeFigureOut">
              <a:rPr lang="es-ES" smtClean="0"/>
              <a:t>04/04/2026</a:t>
            </a:fld>
            <a:endParaRPr lang="es-ES" dirty="0"/>
          </a:p>
        </p:txBody>
      </p:sp>
      <p:sp>
        <p:nvSpPr>
          <p:cNvPr id="4" name="3 Marcador de pie de página"/>
          <p:cNvSpPr>
            <a:spLocks noGrp="1"/>
          </p:cNvSpPr>
          <p:nvPr>
            <p:ph type="ftr" sz="quarter" idx="11"/>
          </p:nvPr>
        </p:nvSpPr>
        <p:spPr/>
        <p:txBody>
          <a:bodyPr/>
          <a:lstStyle/>
          <a:p>
            <a:endParaRPr lang="es-ES" dirty="0"/>
          </a:p>
        </p:txBody>
      </p:sp>
    </p:spTree>
    <p:extLst>
      <p:ext uri="{BB962C8B-B14F-4D97-AF65-F5344CB8AC3E}">
        <p14:creationId xmlns:p14="http://schemas.microsoft.com/office/powerpoint/2010/main" val="513687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E21C553C-9A78-4DC3-ADC4-1800F6DD6D35}" type="datetimeFigureOut">
              <a:rPr lang="es-ES" smtClean="0"/>
              <a:t>04/04/2026</a:t>
            </a:fld>
            <a:endParaRPr lang="es-ES" dirty="0"/>
          </a:p>
        </p:txBody>
      </p:sp>
      <p:sp>
        <p:nvSpPr>
          <p:cNvPr id="3" name="2 Marcador de pie de página"/>
          <p:cNvSpPr>
            <a:spLocks noGrp="1"/>
          </p:cNvSpPr>
          <p:nvPr>
            <p:ph type="ftr" sz="quarter" idx="11"/>
          </p:nvPr>
        </p:nvSpPr>
        <p:spPr/>
        <p:txBody>
          <a:bodyPr/>
          <a:lstStyle/>
          <a:p>
            <a:endParaRPr lang="es-ES" dirty="0"/>
          </a:p>
        </p:txBody>
      </p:sp>
    </p:spTree>
    <p:extLst>
      <p:ext uri="{BB962C8B-B14F-4D97-AF65-F5344CB8AC3E}">
        <p14:creationId xmlns:p14="http://schemas.microsoft.com/office/powerpoint/2010/main" val="1026466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3050"/>
            <a:ext cx="3259006"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872972" y="273062"/>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95300" y="1435103"/>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21C553C-9A78-4DC3-ADC4-1800F6DD6D35}" type="datetimeFigureOut">
              <a:rPr lang="es-ES" smtClean="0"/>
              <a:t>04/04/2026</a:t>
            </a:fld>
            <a:endParaRPr lang="es-ES" dirty="0"/>
          </a:p>
        </p:txBody>
      </p:sp>
      <p:sp>
        <p:nvSpPr>
          <p:cNvPr id="6" name="5 Marcador de pie de página"/>
          <p:cNvSpPr>
            <a:spLocks noGrp="1"/>
          </p:cNvSpPr>
          <p:nvPr>
            <p:ph type="ftr" sz="quarter" idx="11"/>
          </p:nvPr>
        </p:nvSpPr>
        <p:spPr/>
        <p:txBody>
          <a:bodyPr/>
          <a:lstStyle/>
          <a:p>
            <a:endParaRPr lang="es-ES" dirty="0"/>
          </a:p>
        </p:txBody>
      </p:sp>
    </p:spTree>
    <p:extLst>
      <p:ext uri="{BB962C8B-B14F-4D97-AF65-F5344CB8AC3E}">
        <p14:creationId xmlns:p14="http://schemas.microsoft.com/office/powerpoint/2010/main" val="3701708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941645" y="4800600"/>
            <a:ext cx="59436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3 Marcador de texto"/>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21C553C-9A78-4DC3-ADC4-1800F6DD6D35}" type="datetimeFigureOut">
              <a:rPr lang="es-ES" smtClean="0"/>
              <a:t>04/04/2026</a:t>
            </a:fld>
            <a:endParaRPr lang="es-ES" dirty="0"/>
          </a:p>
        </p:txBody>
      </p:sp>
      <p:sp>
        <p:nvSpPr>
          <p:cNvPr id="6" name="5 Marcador de pie de página"/>
          <p:cNvSpPr>
            <a:spLocks noGrp="1"/>
          </p:cNvSpPr>
          <p:nvPr>
            <p:ph type="ftr" sz="quarter" idx="11"/>
          </p:nvPr>
        </p:nvSpPr>
        <p:spPr/>
        <p:txBody>
          <a:bodyPr/>
          <a:lstStyle/>
          <a:p>
            <a:endParaRPr lang="es-ES" dirty="0"/>
          </a:p>
        </p:txBody>
      </p:sp>
    </p:spTree>
    <p:extLst>
      <p:ext uri="{BB962C8B-B14F-4D97-AF65-F5344CB8AC3E}">
        <p14:creationId xmlns:p14="http://schemas.microsoft.com/office/powerpoint/2010/main" val="3594226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21C553C-9A78-4DC3-ADC4-1800F6DD6D35}" type="datetimeFigureOut">
              <a:rPr lang="es-ES" smtClean="0"/>
              <a:t>04/04/2026</a:t>
            </a:fld>
            <a:endParaRPr lang="es-ES" dirty="0"/>
          </a:p>
        </p:txBody>
      </p:sp>
      <p:sp>
        <p:nvSpPr>
          <p:cNvPr id="5" name="4 Marcador de pie de página"/>
          <p:cNvSpPr>
            <a:spLocks noGrp="1"/>
          </p:cNvSpPr>
          <p:nvPr>
            <p:ph type="ftr" sz="quarter" idx="11"/>
          </p:nvPr>
        </p:nvSpPr>
        <p:spPr/>
        <p:txBody>
          <a:bodyPr/>
          <a:lstStyle/>
          <a:p>
            <a:endParaRPr lang="es-ES" dirty="0"/>
          </a:p>
        </p:txBody>
      </p:sp>
    </p:spTree>
    <p:extLst>
      <p:ext uri="{BB962C8B-B14F-4D97-AF65-F5344CB8AC3E}">
        <p14:creationId xmlns:p14="http://schemas.microsoft.com/office/powerpoint/2010/main" val="2565022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7780337" y="274648"/>
            <a:ext cx="2414588"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536578" y="274648"/>
            <a:ext cx="7078663"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21C553C-9A78-4DC3-ADC4-1800F6DD6D35}" type="datetimeFigureOut">
              <a:rPr lang="es-ES" smtClean="0"/>
              <a:t>04/04/2026</a:t>
            </a:fld>
            <a:endParaRPr lang="es-ES" dirty="0"/>
          </a:p>
        </p:txBody>
      </p:sp>
      <p:sp>
        <p:nvSpPr>
          <p:cNvPr id="5" name="4 Marcador de pie de página"/>
          <p:cNvSpPr>
            <a:spLocks noGrp="1"/>
          </p:cNvSpPr>
          <p:nvPr>
            <p:ph type="ftr" sz="quarter" idx="11"/>
          </p:nvPr>
        </p:nvSpPr>
        <p:spPr/>
        <p:txBody>
          <a:bodyPr/>
          <a:lstStyle/>
          <a:p>
            <a:endParaRPr lang="es-ES" dirty="0"/>
          </a:p>
        </p:txBody>
      </p:sp>
    </p:spTree>
    <p:extLst>
      <p:ext uri="{BB962C8B-B14F-4D97-AF65-F5344CB8AC3E}">
        <p14:creationId xmlns:p14="http://schemas.microsoft.com/office/powerpoint/2010/main" val="1630781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Diapositiva de título">
    <p:spTree>
      <p:nvGrpSpPr>
        <p:cNvPr id="1" name=""/>
        <p:cNvGrpSpPr/>
        <p:nvPr/>
      </p:nvGrpSpPr>
      <p:grpSpPr>
        <a:xfrm>
          <a:off x="0" y="0"/>
          <a:ext cx="0" cy="0"/>
          <a:chOff x="0" y="0"/>
          <a:chExt cx="0" cy="0"/>
        </a:xfrm>
      </p:grpSpPr>
      <p:graphicFrame>
        <p:nvGraphicFramePr>
          <p:cNvPr id="21" name="Objeto 20" hidden="1"/>
          <p:cNvGraphicFramePr>
            <a:graphicFrameLocks noChangeAspect="1"/>
          </p:cNvGraphicFramePr>
          <p:nvPr userDrawn="1">
            <p:custDataLst>
              <p:tags r:id="rId1"/>
            </p:custDataLst>
            <p:extLst>
              <p:ext uri="{D42A27DB-BD31-4B8C-83A1-F6EECF244321}">
                <p14:modId xmlns:p14="http://schemas.microsoft.com/office/powerpoint/2010/main" val="763121355"/>
              </p:ext>
            </p:extLst>
          </p:nvPr>
        </p:nvGraphicFramePr>
        <p:xfrm>
          <a:off x="1724" y="1596"/>
          <a:ext cx="1719" cy="1587"/>
        </p:xfrm>
        <a:graphic>
          <a:graphicData uri="http://schemas.openxmlformats.org/presentationml/2006/ole">
            <mc:AlternateContent xmlns:mc="http://schemas.openxmlformats.org/markup-compatibility/2006">
              <mc:Choice xmlns:v="urn:schemas-microsoft-com:vml" Requires="v">
                <p:oleObj name="Diapositiva de think-cell" r:id="rId3" imgW="216" imgH="216" progId="TCLayout.ActiveDocument.1">
                  <p:embed/>
                </p:oleObj>
              </mc:Choice>
              <mc:Fallback>
                <p:oleObj name="Diapositiva de think-cell" r:id="rId3" imgW="216" imgH="216" progId="TCLayout.ActiveDocument.1">
                  <p:embed/>
                  <p:pic>
                    <p:nvPicPr>
                      <p:cNvPr id="0" name=""/>
                      <p:cNvPicPr/>
                      <p:nvPr/>
                    </p:nvPicPr>
                    <p:blipFill>
                      <a:blip r:embed="rId4"/>
                      <a:stretch>
                        <a:fillRect/>
                      </a:stretch>
                    </p:blipFill>
                    <p:spPr>
                      <a:xfrm>
                        <a:off x="1724" y="1596"/>
                        <a:ext cx="1719" cy="1587"/>
                      </a:xfrm>
                      <a:prstGeom prst="rect">
                        <a:avLst/>
                      </a:prstGeom>
                    </p:spPr>
                  </p:pic>
                </p:oleObj>
              </mc:Fallback>
            </mc:AlternateContent>
          </a:graphicData>
        </a:graphic>
      </p:graphicFrame>
    </p:spTree>
    <p:extLst>
      <p:ext uri="{BB962C8B-B14F-4D97-AF65-F5344CB8AC3E}">
        <p14:creationId xmlns:p14="http://schemas.microsoft.com/office/powerpoint/2010/main" val="291935506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Diapositiva de título">
    <p:spTree>
      <p:nvGrpSpPr>
        <p:cNvPr id="1" name=""/>
        <p:cNvGrpSpPr/>
        <p:nvPr/>
      </p:nvGrpSpPr>
      <p:grpSpPr>
        <a:xfrm>
          <a:off x="0" y="0"/>
          <a:ext cx="0" cy="0"/>
          <a:chOff x="0" y="0"/>
          <a:chExt cx="0" cy="0"/>
        </a:xfrm>
      </p:grpSpPr>
      <p:graphicFrame>
        <p:nvGraphicFramePr>
          <p:cNvPr id="21" name="Objeto 20" hidden="1"/>
          <p:cNvGraphicFramePr>
            <a:graphicFrameLocks noChangeAspect="1"/>
          </p:cNvGraphicFramePr>
          <p:nvPr userDrawn="1">
            <p:custDataLst>
              <p:tags r:id="rId1"/>
            </p:custDataLst>
            <p:extLst>
              <p:ext uri="{D42A27DB-BD31-4B8C-83A1-F6EECF244321}">
                <p14:modId xmlns:p14="http://schemas.microsoft.com/office/powerpoint/2010/main" val="191351864"/>
              </p:ext>
            </p:extLst>
          </p:nvPr>
        </p:nvGraphicFramePr>
        <p:xfrm>
          <a:off x="1731" y="1606"/>
          <a:ext cx="1719" cy="1587"/>
        </p:xfrm>
        <a:graphic>
          <a:graphicData uri="http://schemas.openxmlformats.org/presentationml/2006/ole">
            <mc:AlternateContent xmlns:mc="http://schemas.openxmlformats.org/markup-compatibility/2006">
              <mc:Choice xmlns:v="urn:schemas-microsoft-com:vml" Requires="v">
                <p:oleObj name="Diapositiva de think-cell" r:id="rId3" imgW="216" imgH="216" progId="TCLayout.ActiveDocument.1">
                  <p:embed/>
                </p:oleObj>
              </mc:Choice>
              <mc:Fallback>
                <p:oleObj name="Diapositiva de think-cell" r:id="rId3" imgW="216" imgH="216" progId="TCLayout.ActiveDocument.1">
                  <p:embed/>
                  <p:pic>
                    <p:nvPicPr>
                      <p:cNvPr id="0" name=""/>
                      <p:cNvPicPr/>
                      <p:nvPr/>
                    </p:nvPicPr>
                    <p:blipFill>
                      <a:blip r:embed="rId4"/>
                      <a:stretch>
                        <a:fillRect/>
                      </a:stretch>
                    </p:blipFill>
                    <p:spPr>
                      <a:xfrm>
                        <a:off x="1731" y="1606"/>
                        <a:ext cx="1719" cy="1587"/>
                      </a:xfrm>
                      <a:prstGeom prst="rect">
                        <a:avLst/>
                      </a:prstGeom>
                    </p:spPr>
                  </p:pic>
                </p:oleObj>
              </mc:Fallback>
            </mc:AlternateContent>
          </a:graphicData>
        </a:graphic>
      </p:graphicFrame>
    </p:spTree>
    <p:extLst>
      <p:ext uri="{BB962C8B-B14F-4D97-AF65-F5344CB8AC3E}">
        <p14:creationId xmlns:p14="http://schemas.microsoft.com/office/powerpoint/2010/main" val="166296169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1"/>
            </p:custDataLst>
            <p:extLst>
              <p:ext uri="{D42A27DB-BD31-4B8C-83A1-F6EECF244321}">
                <p14:modId xmlns:p14="http://schemas.microsoft.com/office/powerpoint/2010/main" val="2329748884"/>
              </p:ext>
            </p:extLst>
          </p:nvPr>
        </p:nvGraphicFramePr>
        <p:xfrm>
          <a:off x="1731" y="1606"/>
          <a:ext cx="1719" cy="1587"/>
        </p:xfrm>
        <a:graphic>
          <a:graphicData uri="http://schemas.openxmlformats.org/presentationml/2006/ole">
            <mc:AlternateContent xmlns:mc="http://schemas.openxmlformats.org/markup-compatibility/2006">
              <mc:Choice xmlns:v="urn:schemas-microsoft-com:vml" Requires="v">
                <p:oleObj name="Diapositiva de think-cell" r:id="rId3" imgW="216" imgH="216" progId="TCLayout.ActiveDocument.1">
                  <p:embed/>
                </p:oleObj>
              </mc:Choice>
              <mc:Fallback>
                <p:oleObj name="Diapositiva de think-cell" r:id="rId3" imgW="216" imgH="216" progId="TCLayout.ActiveDocument.1">
                  <p:embed/>
                  <p:pic>
                    <p:nvPicPr>
                      <p:cNvPr id="0" name=""/>
                      <p:cNvPicPr/>
                      <p:nvPr/>
                    </p:nvPicPr>
                    <p:blipFill>
                      <a:blip r:embed="rId4"/>
                      <a:stretch>
                        <a:fillRect/>
                      </a:stretch>
                    </p:blipFill>
                    <p:spPr>
                      <a:xfrm>
                        <a:off x="1731" y="1606"/>
                        <a:ext cx="1719" cy="1587"/>
                      </a:xfrm>
                      <a:prstGeom prst="rect">
                        <a:avLst/>
                      </a:prstGeom>
                    </p:spPr>
                  </p:pic>
                </p:oleObj>
              </mc:Fallback>
            </mc:AlternateContent>
          </a:graphicData>
        </a:graphic>
      </p:graphicFrame>
    </p:spTree>
    <p:extLst>
      <p:ext uri="{BB962C8B-B14F-4D97-AF65-F5344CB8AC3E}">
        <p14:creationId xmlns:p14="http://schemas.microsoft.com/office/powerpoint/2010/main" val="2155903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215921"/>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7640319"/>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Diseño personalizado">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1"/>
            </p:custDataLst>
            <p:extLst>
              <p:ext uri="{D42A27DB-BD31-4B8C-83A1-F6EECF244321}">
                <p14:modId xmlns:p14="http://schemas.microsoft.com/office/powerpoint/2010/main" val="3900897181"/>
              </p:ext>
            </p:extLst>
          </p:nvPr>
        </p:nvGraphicFramePr>
        <p:xfrm>
          <a:off x="1731" y="1606"/>
          <a:ext cx="1719" cy="1587"/>
        </p:xfrm>
        <a:graphic>
          <a:graphicData uri="http://schemas.openxmlformats.org/presentationml/2006/ole">
            <mc:AlternateContent xmlns:mc="http://schemas.openxmlformats.org/markup-compatibility/2006">
              <mc:Choice xmlns:v="urn:schemas-microsoft-com:vml" Requires="v">
                <p:oleObj name="Diapositiva de think-cell" r:id="rId3" imgW="216" imgH="216" progId="TCLayout.ActiveDocument.1">
                  <p:embed/>
                </p:oleObj>
              </mc:Choice>
              <mc:Fallback>
                <p:oleObj name="Diapositiva de think-cell" r:id="rId3" imgW="216" imgH="216" progId="TCLayout.ActiveDocument.1">
                  <p:embed/>
                  <p:pic>
                    <p:nvPicPr>
                      <p:cNvPr id="0" name=""/>
                      <p:cNvPicPr/>
                      <p:nvPr/>
                    </p:nvPicPr>
                    <p:blipFill>
                      <a:blip r:embed="rId4"/>
                      <a:stretch>
                        <a:fillRect/>
                      </a:stretch>
                    </p:blipFill>
                    <p:spPr>
                      <a:xfrm>
                        <a:off x="1731" y="1606"/>
                        <a:ext cx="1719" cy="1587"/>
                      </a:xfrm>
                      <a:prstGeom prst="rect">
                        <a:avLst/>
                      </a:prstGeom>
                    </p:spPr>
                  </p:pic>
                </p:oleObj>
              </mc:Fallback>
            </mc:AlternateContent>
          </a:graphicData>
        </a:graphic>
      </p:graphicFrame>
    </p:spTree>
    <p:extLst>
      <p:ext uri="{BB962C8B-B14F-4D97-AF65-F5344CB8AC3E}">
        <p14:creationId xmlns:p14="http://schemas.microsoft.com/office/powerpoint/2010/main" val="638196477"/>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969160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742950" y="2130430"/>
            <a:ext cx="84201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C95C91DD-0F74-4729-AB97-0530F3618DAC}"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a:xfrm>
            <a:off x="7099300" y="6356355"/>
            <a:ext cx="2311400" cy="365125"/>
          </a:xfrm>
          <a:prstGeom prst="rect">
            <a:avLst/>
          </a:prstGeom>
        </p:spPr>
        <p:txBody>
          <a:bodyPr/>
          <a:lstStyle/>
          <a:p>
            <a:fld id="{6FF9C37A-AD0D-4E27-9AAF-6DE57D713675}"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3700572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C95C91DD-0F74-4729-AB97-0530F3618DAC}"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a:xfrm>
            <a:off x="7099300" y="6356355"/>
            <a:ext cx="2311400" cy="365125"/>
          </a:xfrm>
          <a:prstGeom prst="rect">
            <a:avLst/>
          </a:prstGeom>
        </p:spPr>
        <p:txBody>
          <a:bodyPr/>
          <a:lstStyle/>
          <a:p>
            <a:fld id="{6FF9C37A-AD0D-4E27-9AAF-6DE57D713675}"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1533123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82506" y="4406905"/>
            <a:ext cx="84201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C95C91DD-0F74-4729-AB97-0530F3618DAC}"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a:xfrm>
            <a:off x="7099300" y="6356355"/>
            <a:ext cx="2311400" cy="365125"/>
          </a:xfrm>
          <a:prstGeom prst="rect">
            <a:avLst/>
          </a:prstGeom>
        </p:spPr>
        <p:txBody>
          <a:bodyPr/>
          <a:lstStyle/>
          <a:p>
            <a:fld id="{6FF9C37A-AD0D-4E27-9AAF-6DE57D713675}"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11761506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536575" y="1600204"/>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5448300" y="1600204"/>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C95C91DD-0F74-4729-AB97-0530F3618DAC}"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7" name="6 Marcador de número de diapositiva"/>
          <p:cNvSpPr>
            <a:spLocks noGrp="1"/>
          </p:cNvSpPr>
          <p:nvPr>
            <p:ph type="sldNum" sz="quarter" idx="12"/>
          </p:nvPr>
        </p:nvSpPr>
        <p:spPr>
          <a:xfrm>
            <a:off x="7099300" y="6356355"/>
            <a:ext cx="2311400" cy="365125"/>
          </a:xfrm>
          <a:prstGeom prst="rect">
            <a:avLst/>
          </a:prstGeom>
        </p:spPr>
        <p:txBody>
          <a:bodyPr/>
          <a:lstStyle/>
          <a:p>
            <a:fld id="{6FF9C37A-AD0D-4E27-9AAF-6DE57D713675}"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3276014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4638"/>
            <a:ext cx="89154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5032113"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5032113"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C95C91DD-0F74-4729-AB97-0530F3618DAC}" type="datetimeFigureOut">
              <a:rPr lang="es-ES" smtClean="0">
                <a:solidFill>
                  <a:prstClr val="black">
                    <a:tint val="75000"/>
                  </a:prstClr>
                </a:solidFill>
              </a:rPr>
              <a:pPr/>
              <a:t>04/04/2026</a:t>
            </a:fld>
            <a:endParaRPr lang="es-ES" dirty="0">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9" name="8 Marcador de número de diapositiva"/>
          <p:cNvSpPr>
            <a:spLocks noGrp="1"/>
          </p:cNvSpPr>
          <p:nvPr>
            <p:ph type="sldNum" sz="quarter" idx="12"/>
          </p:nvPr>
        </p:nvSpPr>
        <p:spPr>
          <a:xfrm>
            <a:off x="7099300" y="6356355"/>
            <a:ext cx="2311400" cy="365125"/>
          </a:xfrm>
          <a:prstGeom prst="rect">
            <a:avLst/>
          </a:prstGeom>
        </p:spPr>
        <p:txBody>
          <a:bodyPr/>
          <a:lstStyle/>
          <a:p>
            <a:fld id="{6FF9C37A-AD0D-4E27-9AAF-6DE57D713675}"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4729037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C95C91DD-0F74-4729-AB97-0530F3618DAC}" type="datetimeFigureOut">
              <a:rPr lang="es-ES" smtClean="0">
                <a:solidFill>
                  <a:prstClr val="black">
                    <a:tint val="75000"/>
                  </a:prstClr>
                </a:solidFill>
              </a:rPr>
              <a:pPr/>
              <a:t>04/04/2026</a:t>
            </a:fld>
            <a:endParaRPr lang="es-ES" dirty="0">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5" name="4 Marcador de número de diapositiva"/>
          <p:cNvSpPr>
            <a:spLocks noGrp="1"/>
          </p:cNvSpPr>
          <p:nvPr>
            <p:ph type="sldNum" sz="quarter" idx="12"/>
          </p:nvPr>
        </p:nvSpPr>
        <p:spPr>
          <a:xfrm>
            <a:off x="7099300" y="6356355"/>
            <a:ext cx="2311400" cy="365125"/>
          </a:xfrm>
          <a:prstGeom prst="rect">
            <a:avLst/>
          </a:prstGeom>
        </p:spPr>
        <p:txBody>
          <a:bodyPr/>
          <a:lstStyle/>
          <a:p>
            <a:fld id="{6FF9C37A-AD0D-4E27-9AAF-6DE57D713675}"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37026345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C95C91DD-0F74-4729-AB97-0530F3618DAC}" type="datetimeFigureOut">
              <a:rPr lang="es-ES" smtClean="0">
                <a:solidFill>
                  <a:prstClr val="black">
                    <a:tint val="75000"/>
                  </a:prstClr>
                </a:solidFill>
              </a:rPr>
              <a:pPr/>
              <a:t>04/04/2026</a:t>
            </a:fld>
            <a:endParaRPr lang="es-ES" dirty="0">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s-ES" dirty="0">
              <a:solidFill>
                <a:prstClr val="black">
                  <a:tint val="75000"/>
                </a:prstClr>
              </a:solidFill>
            </a:endParaRPr>
          </a:p>
        </p:txBody>
      </p:sp>
    </p:spTree>
    <p:extLst>
      <p:ext uri="{BB962C8B-B14F-4D97-AF65-F5344CB8AC3E}">
        <p14:creationId xmlns:p14="http://schemas.microsoft.com/office/powerpoint/2010/main" val="21147512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3050"/>
            <a:ext cx="3259006"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872972" y="273052"/>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95300" y="1435102"/>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C95C91DD-0F74-4729-AB97-0530F3618DAC}"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Tree>
    <p:extLst>
      <p:ext uri="{BB962C8B-B14F-4D97-AF65-F5344CB8AC3E}">
        <p14:creationId xmlns:p14="http://schemas.microsoft.com/office/powerpoint/2010/main" val="14488098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941645" y="4800600"/>
            <a:ext cx="59436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3 Marcador de texto"/>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C95C91DD-0F74-4729-AB97-0530F3618DAC}"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7" name="6 Marcador de número de diapositiva"/>
          <p:cNvSpPr>
            <a:spLocks noGrp="1"/>
          </p:cNvSpPr>
          <p:nvPr>
            <p:ph type="sldNum" sz="quarter" idx="12"/>
          </p:nvPr>
        </p:nvSpPr>
        <p:spPr>
          <a:xfrm>
            <a:off x="7099300" y="6356355"/>
            <a:ext cx="2311400" cy="365125"/>
          </a:xfrm>
          <a:prstGeom prst="rect">
            <a:avLst/>
          </a:prstGeom>
        </p:spPr>
        <p:txBody>
          <a:bodyPr/>
          <a:lstStyle/>
          <a:p>
            <a:fld id="{6FF9C37A-AD0D-4E27-9AAF-6DE57D713675}"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2098162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C95C91DD-0F74-4729-AB97-0530F3618DAC}"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a:xfrm>
            <a:off x="7099300" y="6356355"/>
            <a:ext cx="2311400" cy="365125"/>
          </a:xfrm>
          <a:prstGeom prst="rect">
            <a:avLst/>
          </a:prstGeom>
        </p:spPr>
        <p:txBody>
          <a:bodyPr/>
          <a:lstStyle/>
          <a:p>
            <a:fld id="{6FF9C37A-AD0D-4E27-9AAF-6DE57D713675}"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8991302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7780337" y="274639"/>
            <a:ext cx="2414588"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536577" y="274639"/>
            <a:ext cx="7078663"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C95C91DD-0F74-4729-AB97-0530F3618DAC}"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a:xfrm>
            <a:off x="7099300" y="6356355"/>
            <a:ext cx="2311400" cy="365125"/>
          </a:xfrm>
          <a:prstGeom prst="rect">
            <a:avLst/>
          </a:prstGeom>
        </p:spPr>
        <p:txBody>
          <a:bodyPr/>
          <a:lstStyle/>
          <a:p>
            <a:fld id="{6FF9C37A-AD0D-4E27-9AAF-6DE57D713675}"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34230947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742950" y="2130426"/>
            <a:ext cx="84201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a:xfrm>
            <a:off x="7099300" y="6356351"/>
            <a:ext cx="2311400" cy="365125"/>
          </a:xfrm>
          <a:prstGeom prst="rect">
            <a:avLst/>
          </a:prstGeom>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8540069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a:xfrm>
            <a:off x="7099300" y="6356351"/>
            <a:ext cx="2311400" cy="365125"/>
          </a:xfrm>
          <a:prstGeom prst="rect">
            <a:avLst/>
          </a:prstGeom>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38177361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82506" y="4406901"/>
            <a:ext cx="84201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a:xfrm>
            <a:off x="7099300" y="6356351"/>
            <a:ext cx="2311400" cy="365125"/>
          </a:xfrm>
          <a:prstGeom prst="rect">
            <a:avLst/>
          </a:prstGeom>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8116810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7" name="6 Marcador de número de diapositiva"/>
          <p:cNvSpPr>
            <a:spLocks noGrp="1"/>
          </p:cNvSpPr>
          <p:nvPr>
            <p:ph type="sldNum" sz="quarter" idx="12"/>
          </p:nvPr>
        </p:nvSpPr>
        <p:spPr>
          <a:xfrm>
            <a:off x="7099300" y="6356351"/>
            <a:ext cx="2311400" cy="365125"/>
          </a:xfrm>
          <a:prstGeom prst="rect">
            <a:avLst/>
          </a:prstGeom>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4423239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9" name="8 Marcador de número de diapositiva"/>
          <p:cNvSpPr>
            <a:spLocks noGrp="1"/>
          </p:cNvSpPr>
          <p:nvPr>
            <p:ph type="sldNum" sz="quarter" idx="12"/>
          </p:nvPr>
        </p:nvSpPr>
        <p:spPr>
          <a:xfrm>
            <a:off x="7099300" y="6356351"/>
            <a:ext cx="2311400" cy="365125"/>
          </a:xfrm>
          <a:prstGeom prst="rect">
            <a:avLst/>
          </a:prstGeom>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7401458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5" name="4 Marcador de número de diapositiva"/>
          <p:cNvSpPr>
            <a:spLocks noGrp="1"/>
          </p:cNvSpPr>
          <p:nvPr>
            <p:ph type="sldNum" sz="quarter" idx="12"/>
          </p:nvPr>
        </p:nvSpPr>
        <p:spPr>
          <a:xfrm>
            <a:off x="7099300" y="6356351"/>
            <a:ext cx="2311400" cy="365125"/>
          </a:xfrm>
          <a:prstGeom prst="rect">
            <a:avLst/>
          </a:prstGeom>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4854823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4" name="3 Marcador de número de diapositiva"/>
          <p:cNvSpPr>
            <a:spLocks noGrp="1"/>
          </p:cNvSpPr>
          <p:nvPr>
            <p:ph type="sldNum" sz="quarter" idx="12"/>
          </p:nvPr>
        </p:nvSpPr>
        <p:spPr>
          <a:xfrm>
            <a:off x="7099300" y="6356351"/>
            <a:ext cx="2311400" cy="365125"/>
          </a:xfrm>
          <a:prstGeom prst="rect">
            <a:avLst/>
          </a:prstGeom>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8202005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3050"/>
            <a:ext cx="3259006"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7" name="6 Marcador de número de diapositiva"/>
          <p:cNvSpPr>
            <a:spLocks noGrp="1"/>
          </p:cNvSpPr>
          <p:nvPr>
            <p:ph type="sldNum" sz="quarter" idx="12"/>
          </p:nvPr>
        </p:nvSpPr>
        <p:spPr>
          <a:xfrm>
            <a:off x="7099300" y="6356351"/>
            <a:ext cx="2311400" cy="365125"/>
          </a:xfrm>
          <a:prstGeom prst="rect">
            <a:avLst/>
          </a:prstGeom>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7184037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941645" y="4800600"/>
            <a:ext cx="59436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3 Marcador de texto"/>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7" name="6 Marcador de número de diapositiva"/>
          <p:cNvSpPr>
            <a:spLocks noGrp="1"/>
          </p:cNvSpPr>
          <p:nvPr>
            <p:ph type="sldNum" sz="quarter" idx="12"/>
          </p:nvPr>
        </p:nvSpPr>
        <p:spPr>
          <a:xfrm>
            <a:off x="7099300" y="6356351"/>
            <a:ext cx="2311400" cy="365125"/>
          </a:xfrm>
          <a:prstGeom prst="rect">
            <a:avLst/>
          </a:prstGeom>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339001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a:xfrm>
            <a:off x="7099300" y="6356351"/>
            <a:ext cx="2311400" cy="365125"/>
          </a:xfrm>
          <a:prstGeom prst="rect">
            <a:avLst/>
          </a:prstGeom>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330080041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7181850" y="274639"/>
            <a:ext cx="222885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95300" y="274639"/>
            <a:ext cx="652145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a:xfrm>
            <a:off x="7099300" y="6356351"/>
            <a:ext cx="2311400" cy="365125"/>
          </a:xfrm>
          <a:prstGeom prst="rect">
            <a:avLst/>
          </a:prstGeom>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3927311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742950" y="2130426"/>
            <a:ext cx="84201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47332508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1559575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82506" y="4406901"/>
            <a:ext cx="84201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34946587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35569179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1753908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4686586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06373320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3050"/>
            <a:ext cx="3259006"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37912493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941645" y="4800600"/>
            <a:ext cx="59436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3 Marcador de texto"/>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86786475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328248808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7181850" y="274639"/>
            <a:ext cx="222885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95300" y="274639"/>
            <a:ext cx="652145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6492749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742950" y="2130426"/>
            <a:ext cx="84201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7A985A2B-2D2C-46ED-B63E-CC4C09919523}"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123542069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7A985A2B-2D2C-46ED-B63E-CC4C09919523}"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6835183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82506" y="4406901"/>
            <a:ext cx="84201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7A985A2B-2D2C-46ED-B63E-CC4C09919523}"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309265861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536575" y="1600201"/>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5448300" y="1600201"/>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7A985A2B-2D2C-46ED-B63E-CC4C09919523}"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2710200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4638"/>
            <a:ext cx="89154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7A985A2B-2D2C-46ED-B63E-CC4C09919523}"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400172019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7A985A2B-2D2C-46ED-B63E-CC4C09919523}"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18599147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7A985A2B-2D2C-46ED-B63E-CC4C09919523}"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1133632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3050"/>
            <a:ext cx="3259006"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7A985A2B-2D2C-46ED-B63E-CC4C09919523}"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34297199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941645" y="4800600"/>
            <a:ext cx="59436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3 Marcador de texto"/>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7A985A2B-2D2C-46ED-B63E-CC4C09919523}"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75490219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7A985A2B-2D2C-46ED-B63E-CC4C09919523}"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41330333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7780337" y="274639"/>
            <a:ext cx="2414588"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536575" y="274639"/>
            <a:ext cx="7078663"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7A985A2B-2D2C-46ED-B63E-CC4C09919523}"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163436949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name="1_Diapositiva de título">
    <p:spTree>
      <p:nvGrpSpPr>
        <p:cNvPr id="1" name=""/>
        <p:cNvGrpSpPr/>
        <p:nvPr/>
      </p:nvGrpSpPr>
      <p:grpSpPr>
        <a:xfrm>
          <a:off x="0" y="0"/>
          <a:ext cx="0" cy="0"/>
          <a:chOff x="0" y="0"/>
          <a:chExt cx="0" cy="0"/>
        </a:xfrm>
      </p:grpSpPr>
      <p:graphicFrame>
        <p:nvGraphicFramePr>
          <p:cNvPr id="21" name="Objeto 20" hidden="1"/>
          <p:cNvGraphicFramePr>
            <a:graphicFrameLocks noChangeAspect="1"/>
          </p:cNvGraphicFramePr>
          <p:nvPr userDrawn="1">
            <p:custDataLst>
              <p:tags r:id="rId1"/>
            </p:custDataLst>
            <p:extLst>
              <p:ext uri="{D42A27DB-BD31-4B8C-83A1-F6EECF244321}">
                <p14:modId xmlns:p14="http://schemas.microsoft.com/office/powerpoint/2010/main" val="2936938741"/>
              </p:ext>
            </p:extLst>
          </p:nvPr>
        </p:nvGraphicFramePr>
        <p:xfrm>
          <a:off x="1724" y="1595"/>
          <a:ext cx="1719" cy="1587"/>
        </p:xfrm>
        <a:graphic>
          <a:graphicData uri="http://schemas.openxmlformats.org/presentationml/2006/ole">
            <mc:AlternateContent xmlns:mc="http://schemas.openxmlformats.org/markup-compatibility/2006">
              <mc:Choice xmlns:v="urn:schemas-microsoft-com:vml" Requires="v">
                <p:oleObj name="Diapositiva de think-cell" r:id="rId3" imgW="216" imgH="216" progId="TCLayout.ActiveDocument.1">
                  <p:embed/>
                </p:oleObj>
              </mc:Choice>
              <mc:Fallback>
                <p:oleObj name="Diapositiva de think-cell" r:id="rId3" imgW="216" imgH="216" progId="TCLayout.ActiveDocument.1">
                  <p:embed/>
                  <p:pic>
                    <p:nvPicPr>
                      <p:cNvPr id="0" name=""/>
                      <p:cNvPicPr/>
                      <p:nvPr/>
                    </p:nvPicPr>
                    <p:blipFill>
                      <a:blip r:embed="rId4"/>
                      <a:stretch>
                        <a:fillRect/>
                      </a:stretch>
                    </p:blipFill>
                    <p:spPr>
                      <a:xfrm>
                        <a:off x="1724" y="1595"/>
                        <a:ext cx="1719" cy="1587"/>
                      </a:xfrm>
                      <a:prstGeom prst="rect">
                        <a:avLst/>
                      </a:prstGeom>
                    </p:spPr>
                  </p:pic>
                </p:oleObj>
              </mc:Fallback>
            </mc:AlternateContent>
          </a:graphicData>
        </a:graphic>
      </p:graphicFrame>
      <p:pic>
        <p:nvPicPr>
          <p:cNvPr id="16" name="Picture 2" descr="C:\Users\jsalceda\Desktop\everis_logo-01.png"/>
          <p:cNvPicPr>
            <a:picLocks noChangeAspect="1" noChangeArrowheads="1"/>
          </p:cNvPicPr>
          <p:nvPr userDrawn="1"/>
        </p:nvPicPr>
        <p:blipFill>
          <a:blip r:embed="rId5" cstate="email">
            <a:extLst>
              <a:ext uri="{28A0092B-C50C-407E-A947-70E740481C1C}">
                <a14:useLocalDpi xmlns:a14="http://schemas.microsoft.com/office/drawing/2010/main"/>
              </a:ext>
            </a:extLst>
          </a:blip>
          <a:srcRect/>
          <a:stretch>
            <a:fillRect/>
          </a:stretch>
        </p:blipFill>
        <p:spPr bwMode="auto">
          <a:xfrm>
            <a:off x="8607776" y="212860"/>
            <a:ext cx="971859" cy="634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635848"/>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77732729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3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16676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4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70963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5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08366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742950" y="2130438"/>
            <a:ext cx="84201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Tree>
    <p:extLst>
      <p:ext uri="{BB962C8B-B14F-4D97-AF65-F5344CB8AC3E}">
        <p14:creationId xmlns:p14="http://schemas.microsoft.com/office/powerpoint/2010/main" val="108526046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Tree>
    <p:extLst>
      <p:ext uri="{BB962C8B-B14F-4D97-AF65-F5344CB8AC3E}">
        <p14:creationId xmlns:p14="http://schemas.microsoft.com/office/powerpoint/2010/main" val="39623515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82506" y="4406913"/>
            <a:ext cx="84201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Tree>
    <p:extLst>
      <p:ext uri="{BB962C8B-B14F-4D97-AF65-F5344CB8AC3E}">
        <p14:creationId xmlns:p14="http://schemas.microsoft.com/office/powerpoint/2010/main" val="133715074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536575" y="1600206"/>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5448300" y="1600206"/>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Tree>
    <p:extLst>
      <p:ext uri="{BB962C8B-B14F-4D97-AF65-F5344CB8AC3E}">
        <p14:creationId xmlns:p14="http://schemas.microsoft.com/office/powerpoint/2010/main" val="46841620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4638"/>
            <a:ext cx="89154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5032115"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5032115"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s-ES" dirty="0">
              <a:solidFill>
                <a:prstClr val="black">
                  <a:tint val="75000"/>
                </a:prstClr>
              </a:solidFill>
            </a:endParaRPr>
          </a:p>
        </p:txBody>
      </p:sp>
    </p:spTree>
    <p:extLst>
      <p:ext uri="{BB962C8B-B14F-4D97-AF65-F5344CB8AC3E}">
        <p14:creationId xmlns:p14="http://schemas.microsoft.com/office/powerpoint/2010/main" val="421661384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s-ES" dirty="0">
              <a:solidFill>
                <a:prstClr val="black">
                  <a:tint val="75000"/>
                </a:prstClr>
              </a:solidFill>
            </a:endParaRPr>
          </a:p>
        </p:txBody>
      </p:sp>
    </p:spTree>
    <p:extLst>
      <p:ext uri="{BB962C8B-B14F-4D97-AF65-F5344CB8AC3E}">
        <p14:creationId xmlns:p14="http://schemas.microsoft.com/office/powerpoint/2010/main" val="345251864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s-ES" dirty="0">
              <a:solidFill>
                <a:prstClr val="black">
                  <a:tint val="75000"/>
                </a:prstClr>
              </a:solidFill>
            </a:endParaRPr>
          </a:p>
        </p:txBody>
      </p:sp>
    </p:spTree>
    <p:extLst>
      <p:ext uri="{BB962C8B-B14F-4D97-AF65-F5344CB8AC3E}">
        <p14:creationId xmlns:p14="http://schemas.microsoft.com/office/powerpoint/2010/main" val="163218312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3050"/>
            <a:ext cx="3259006"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872972" y="273062"/>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95300" y="1435103"/>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Tree>
    <p:extLst>
      <p:ext uri="{BB962C8B-B14F-4D97-AF65-F5344CB8AC3E}">
        <p14:creationId xmlns:p14="http://schemas.microsoft.com/office/powerpoint/2010/main" val="302240682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941645" y="4800600"/>
            <a:ext cx="59436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3 Marcador de texto"/>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ES" dirty="0">
              <a:solidFill>
                <a:prstClr val="black">
                  <a:tint val="75000"/>
                </a:prstClr>
              </a:solidFill>
            </a:endParaRPr>
          </a:p>
        </p:txBody>
      </p:sp>
    </p:spTree>
    <p:extLst>
      <p:ext uri="{BB962C8B-B14F-4D97-AF65-F5344CB8AC3E}">
        <p14:creationId xmlns:p14="http://schemas.microsoft.com/office/powerpoint/2010/main" val="320964127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Tree>
    <p:extLst>
      <p:ext uri="{BB962C8B-B14F-4D97-AF65-F5344CB8AC3E}">
        <p14:creationId xmlns:p14="http://schemas.microsoft.com/office/powerpoint/2010/main" val="16854830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7780337" y="274648"/>
            <a:ext cx="2414588"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536578" y="274648"/>
            <a:ext cx="7078663"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ES" dirty="0">
              <a:solidFill>
                <a:prstClr val="black">
                  <a:tint val="75000"/>
                </a:prstClr>
              </a:solidFill>
            </a:endParaRPr>
          </a:p>
        </p:txBody>
      </p:sp>
    </p:spTree>
    <p:extLst>
      <p:ext uri="{BB962C8B-B14F-4D97-AF65-F5344CB8AC3E}">
        <p14:creationId xmlns:p14="http://schemas.microsoft.com/office/powerpoint/2010/main" val="286706779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x">
  <p:cSld name="1_Diapositiva de título">
    <p:spTree>
      <p:nvGrpSpPr>
        <p:cNvPr id="1" name=""/>
        <p:cNvGrpSpPr/>
        <p:nvPr/>
      </p:nvGrpSpPr>
      <p:grpSpPr>
        <a:xfrm>
          <a:off x="0" y="0"/>
          <a:ext cx="0" cy="0"/>
          <a:chOff x="0" y="0"/>
          <a:chExt cx="0" cy="0"/>
        </a:xfrm>
      </p:grpSpPr>
      <p:graphicFrame>
        <p:nvGraphicFramePr>
          <p:cNvPr id="21" name="Objeto 20" hidden="1"/>
          <p:cNvGraphicFramePr>
            <a:graphicFrameLocks noChangeAspect="1"/>
          </p:cNvGraphicFramePr>
          <p:nvPr userDrawn="1">
            <p:custDataLst>
              <p:tags r:id="rId1"/>
            </p:custDataLst>
            <p:extLst>
              <p:ext uri="{D42A27DB-BD31-4B8C-83A1-F6EECF244321}">
                <p14:modId xmlns:p14="http://schemas.microsoft.com/office/powerpoint/2010/main" val="1722368966"/>
              </p:ext>
            </p:extLst>
          </p:nvPr>
        </p:nvGraphicFramePr>
        <p:xfrm>
          <a:off x="1724" y="1596"/>
          <a:ext cx="1719" cy="1587"/>
        </p:xfrm>
        <a:graphic>
          <a:graphicData uri="http://schemas.openxmlformats.org/presentationml/2006/ole">
            <mc:AlternateContent xmlns:mc="http://schemas.openxmlformats.org/markup-compatibility/2006">
              <mc:Choice xmlns:v="urn:schemas-microsoft-com:vml" Requires="v">
                <p:oleObj name="Diapositiva de think-cell" r:id="rId3" imgW="216" imgH="216" progId="TCLayout.ActiveDocument.1">
                  <p:embed/>
                </p:oleObj>
              </mc:Choice>
              <mc:Fallback>
                <p:oleObj name="Diapositiva de think-cell" r:id="rId3" imgW="216" imgH="216" progId="TCLayout.ActiveDocument.1">
                  <p:embed/>
                  <p:pic>
                    <p:nvPicPr>
                      <p:cNvPr id="0" name=""/>
                      <p:cNvPicPr/>
                      <p:nvPr/>
                    </p:nvPicPr>
                    <p:blipFill>
                      <a:blip r:embed="rId4"/>
                      <a:stretch>
                        <a:fillRect/>
                      </a:stretch>
                    </p:blipFill>
                    <p:spPr>
                      <a:xfrm>
                        <a:off x="1724" y="1596"/>
                        <a:ext cx="1719" cy="1587"/>
                      </a:xfrm>
                      <a:prstGeom prst="rect">
                        <a:avLst/>
                      </a:prstGeom>
                    </p:spPr>
                  </p:pic>
                </p:oleObj>
              </mc:Fallback>
            </mc:AlternateContent>
          </a:graphicData>
        </a:graphic>
      </p:graphicFrame>
    </p:spTree>
    <p:extLst>
      <p:ext uri="{BB962C8B-B14F-4D97-AF65-F5344CB8AC3E}">
        <p14:creationId xmlns:p14="http://schemas.microsoft.com/office/powerpoint/2010/main" val="3159622979"/>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742950" y="2130426"/>
            <a:ext cx="84201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E21C553C-9A78-4DC3-ADC4-1800F6DD6D35}" type="datetimeFigureOut">
              <a:rPr lang="es-ES" smtClean="0"/>
              <a:t>04/04/2026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7A985A2B-2D2C-46ED-B63E-CC4C09919523}" type="slidenum">
              <a:rPr lang="es-ES" smtClean="0"/>
              <a:t>‹Nº›</a:t>
            </a:fld>
            <a:endParaRPr lang="es-ES"/>
          </a:p>
        </p:txBody>
      </p:sp>
    </p:spTree>
    <p:extLst>
      <p:ext uri="{BB962C8B-B14F-4D97-AF65-F5344CB8AC3E}">
        <p14:creationId xmlns:p14="http://schemas.microsoft.com/office/powerpoint/2010/main" val="21119436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21C553C-9A78-4DC3-ADC4-1800F6DD6D35}" type="datetimeFigureOut">
              <a:rPr lang="es-ES" smtClean="0"/>
              <a:t>04/04/2026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7A985A2B-2D2C-46ED-B63E-CC4C09919523}" type="slidenum">
              <a:rPr lang="es-ES" smtClean="0"/>
              <a:t>‹Nº›</a:t>
            </a:fld>
            <a:endParaRPr lang="es-ES"/>
          </a:p>
        </p:txBody>
      </p:sp>
    </p:spTree>
    <p:extLst>
      <p:ext uri="{BB962C8B-B14F-4D97-AF65-F5344CB8AC3E}">
        <p14:creationId xmlns:p14="http://schemas.microsoft.com/office/powerpoint/2010/main" val="60875662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82506" y="4406901"/>
            <a:ext cx="84201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E21C553C-9A78-4DC3-ADC4-1800F6DD6D35}" type="datetimeFigureOut">
              <a:rPr lang="es-ES" smtClean="0"/>
              <a:t>04/04/2026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7A985A2B-2D2C-46ED-B63E-CC4C09919523}" type="slidenum">
              <a:rPr lang="es-ES" smtClean="0"/>
              <a:t>‹Nº›</a:t>
            </a:fld>
            <a:endParaRPr lang="es-ES"/>
          </a:p>
        </p:txBody>
      </p:sp>
    </p:spTree>
    <p:extLst>
      <p:ext uri="{BB962C8B-B14F-4D97-AF65-F5344CB8AC3E}">
        <p14:creationId xmlns:p14="http://schemas.microsoft.com/office/powerpoint/2010/main" val="187429963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536575" y="1600201"/>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5448300" y="1600201"/>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E21C553C-9A78-4DC3-ADC4-1800F6DD6D35}" type="datetimeFigureOut">
              <a:rPr lang="es-ES" smtClean="0"/>
              <a:t>04/04/2026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7A985A2B-2D2C-46ED-B63E-CC4C09919523}" type="slidenum">
              <a:rPr lang="es-ES" smtClean="0"/>
              <a:t>‹Nº›</a:t>
            </a:fld>
            <a:endParaRPr lang="es-ES"/>
          </a:p>
        </p:txBody>
      </p:sp>
    </p:spTree>
    <p:extLst>
      <p:ext uri="{BB962C8B-B14F-4D97-AF65-F5344CB8AC3E}">
        <p14:creationId xmlns:p14="http://schemas.microsoft.com/office/powerpoint/2010/main" val="96698678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4638"/>
            <a:ext cx="89154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E21C553C-9A78-4DC3-ADC4-1800F6DD6D35}" type="datetimeFigureOut">
              <a:rPr lang="es-ES" smtClean="0"/>
              <a:t>04/04/2026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7A985A2B-2D2C-46ED-B63E-CC4C09919523}" type="slidenum">
              <a:rPr lang="es-ES" smtClean="0"/>
              <a:t>‹Nº›</a:t>
            </a:fld>
            <a:endParaRPr lang="es-ES"/>
          </a:p>
        </p:txBody>
      </p:sp>
    </p:spTree>
    <p:extLst>
      <p:ext uri="{BB962C8B-B14F-4D97-AF65-F5344CB8AC3E}">
        <p14:creationId xmlns:p14="http://schemas.microsoft.com/office/powerpoint/2010/main" val="140640047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E21C553C-9A78-4DC3-ADC4-1800F6DD6D35}" type="datetimeFigureOut">
              <a:rPr lang="es-ES" smtClean="0"/>
              <a:t>04/04/2026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7A985A2B-2D2C-46ED-B63E-CC4C09919523}" type="slidenum">
              <a:rPr lang="es-ES" smtClean="0"/>
              <a:t>‹Nº›</a:t>
            </a:fld>
            <a:endParaRPr lang="es-ES"/>
          </a:p>
        </p:txBody>
      </p:sp>
    </p:spTree>
    <p:extLst>
      <p:ext uri="{BB962C8B-B14F-4D97-AF65-F5344CB8AC3E}">
        <p14:creationId xmlns:p14="http://schemas.microsoft.com/office/powerpoint/2010/main" val="189030154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E21C553C-9A78-4DC3-ADC4-1800F6DD6D35}" type="datetimeFigureOut">
              <a:rPr lang="es-ES" smtClean="0"/>
              <a:t>04/04/2026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7A985A2B-2D2C-46ED-B63E-CC4C09919523}" type="slidenum">
              <a:rPr lang="es-ES" smtClean="0"/>
              <a:t>‹Nº›</a:t>
            </a:fld>
            <a:endParaRPr lang="es-ES"/>
          </a:p>
        </p:txBody>
      </p:sp>
    </p:spTree>
    <p:extLst>
      <p:ext uri="{BB962C8B-B14F-4D97-AF65-F5344CB8AC3E}">
        <p14:creationId xmlns:p14="http://schemas.microsoft.com/office/powerpoint/2010/main" val="310333764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3050"/>
            <a:ext cx="3259006"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21C553C-9A78-4DC3-ADC4-1800F6DD6D35}" type="datetimeFigureOut">
              <a:rPr lang="es-ES" smtClean="0"/>
              <a:t>04/04/2026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7A985A2B-2D2C-46ED-B63E-CC4C09919523}" type="slidenum">
              <a:rPr lang="es-ES" smtClean="0"/>
              <a:t>‹Nº›</a:t>
            </a:fld>
            <a:endParaRPr lang="es-ES"/>
          </a:p>
        </p:txBody>
      </p:sp>
    </p:spTree>
    <p:extLst>
      <p:ext uri="{BB962C8B-B14F-4D97-AF65-F5344CB8AC3E}">
        <p14:creationId xmlns:p14="http://schemas.microsoft.com/office/powerpoint/2010/main" val="126461655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941645" y="4800600"/>
            <a:ext cx="59436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21C553C-9A78-4DC3-ADC4-1800F6DD6D35}" type="datetimeFigureOut">
              <a:rPr lang="es-ES" smtClean="0"/>
              <a:t>04/04/2026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7A985A2B-2D2C-46ED-B63E-CC4C09919523}" type="slidenum">
              <a:rPr lang="es-ES" smtClean="0"/>
              <a:t>‹Nº›</a:t>
            </a:fld>
            <a:endParaRPr lang="es-ES"/>
          </a:p>
        </p:txBody>
      </p:sp>
    </p:spTree>
    <p:extLst>
      <p:ext uri="{BB962C8B-B14F-4D97-AF65-F5344CB8AC3E}">
        <p14:creationId xmlns:p14="http://schemas.microsoft.com/office/powerpoint/2010/main" val="92867964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21C553C-9A78-4DC3-ADC4-1800F6DD6D35}" type="datetimeFigureOut">
              <a:rPr lang="es-ES" smtClean="0"/>
              <a:t>04/04/2026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7A985A2B-2D2C-46ED-B63E-CC4C09919523}" type="slidenum">
              <a:rPr lang="es-ES" smtClean="0"/>
              <a:t>‹Nº›</a:t>
            </a:fld>
            <a:endParaRPr lang="es-ES"/>
          </a:p>
        </p:txBody>
      </p:sp>
    </p:spTree>
    <p:extLst>
      <p:ext uri="{BB962C8B-B14F-4D97-AF65-F5344CB8AC3E}">
        <p14:creationId xmlns:p14="http://schemas.microsoft.com/office/powerpoint/2010/main" val="186679895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7780337" y="274639"/>
            <a:ext cx="2414588"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536575" y="274639"/>
            <a:ext cx="7078663"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E21C553C-9A78-4DC3-ADC4-1800F6DD6D35}" type="datetimeFigureOut">
              <a:rPr lang="es-ES" smtClean="0"/>
              <a:t>04/04/2026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7A985A2B-2D2C-46ED-B63E-CC4C09919523}" type="slidenum">
              <a:rPr lang="es-ES" smtClean="0"/>
              <a:t>‹Nº›</a:t>
            </a:fld>
            <a:endParaRPr lang="es-ES"/>
          </a:p>
        </p:txBody>
      </p:sp>
    </p:spTree>
    <p:extLst>
      <p:ext uri="{BB962C8B-B14F-4D97-AF65-F5344CB8AC3E}">
        <p14:creationId xmlns:p14="http://schemas.microsoft.com/office/powerpoint/2010/main" val="1475077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image" Target="../media/image1.emf"/><Relationship Id="rId4" Type="http://schemas.openxmlformats.org/officeDocument/2006/relationships/slideLayout" Target="../slideLayouts/slideLayout16.xml"/><Relationship Id="rId9" Type="http://schemas.openxmlformats.org/officeDocument/2006/relationships/oleObject" Target="../embeddings/oleObject2.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4.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5.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theme" Target="../theme/theme6.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theme" Target="../theme/theme7.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7.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theme" Target="../theme/theme8.xml"/><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95300" y="1600206"/>
            <a:ext cx="89154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95300" y="6356363"/>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1C553C-9A78-4DC3-ADC4-1800F6DD6D35}" type="datetimeFigureOut">
              <a:rPr lang="es-ES" smtClean="0"/>
              <a:t>04/04/2026</a:t>
            </a:fld>
            <a:endParaRPr lang="es-ES" dirty="0"/>
          </a:p>
        </p:txBody>
      </p:sp>
      <p:sp>
        <p:nvSpPr>
          <p:cNvPr id="5" name="4 Marcador de pie de página"/>
          <p:cNvSpPr>
            <a:spLocks noGrp="1"/>
          </p:cNvSpPr>
          <p:nvPr>
            <p:ph type="ftr" sz="quarter" idx="3"/>
          </p:nvPr>
        </p:nvSpPr>
        <p:spPr>
          <a:xfrm>
            <a:off x="3384550" y="6356363"/>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Tree>
    <p:extLst>
      <p:ext uri="{BB962C8B-B14F-4D97-AF65-F5344CB8AC3E}">
        <p14:creationId xmlns:p14="http://schemas.microsoft.com/office/powerpoint/2010/main" val="1627050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9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userDrawn="1">
            <p:custDataLst>
              <p:tags r:id="rId8"/>
            </p:custDataLst>
            <p:extLst>
              <p:ext uri="{D42A27DB-BD31-4B8C-83A1-F6EECF244321}">
                <p14:modId xmlns:p14="http://schemas.microsoft.com/office/powerpoint/2010/main" val="3262299777"/>
              </p:ext>
            </p:extLst>
          </p:nvPr>
        </p:nvGraphicFramePr>
        <p:xfrm>
          <a:off x="1731" y="1606"/>
          <a:ext cx="1719" cy="1587"/>
        </p:xfrm>
        <a:graphic>
          <a:graphicData uri="http://schemas.openxmlformats.org/presentationml/2006/ole">
            <mc:AlternateContent xmlns:mc="http://schemas.openxmlformats.org/markup-compatibility/2006">
              <mc:Choice xmlns:v="urn:schemas-microsoft-com:vml" Requires="v">
                <p:oleObj name="Diapositiva de think-cell" r:id="rId9" imgW="216" imgH="216" progId="TCLayout.ActiveDocument.1">
                  <p:embed/>
                </p:oleObj>
              </mc:Choice>
              <mc:Fallback>
                <p:oleObj name="Diapositiva de think-cell" r:id="rId9" imgW="216" imgH="216" progId="TCLayout.ActiveDocument.1">
                  <p:embed/>
                  <p:pic>
                    <p:nvPicPr>
                      <p:cNvPr id="0" name=""/>
                      <p:cNvPicPr/>
                      <p:nvPr/>
                    </p:nvPicPr>
                    <p:blipFill>
                      <a:blip r:embed="rId10"/>
                      <a:stretch>
                        <a:fillRect/>
                      </a:stretch>
                    </p:blipFill>
                    <p:spPr>
                      <a:xfrm>
                        <a:off x="1731" y="1606"/>
                        <a:ext cx="1719" cy="1587"/>
                      </a:xfrm>
                      <a:prstGeom prst="rect">
                        <a:avLst/>
                      </a:prstGeom>
                    </p:spPr>
                  </p:pic>
                </p:oleObj>
              </mc:Fallback>
            </mc:AlternateContent>
          </a:graphicData>
        </a:graphic>
      </p:graphicFrame>
      <p:sp>
        <p:nvSpPr>
          <p:cNvPr id="2" name="Shape 2"/>
          <p:cNvSpPr>
            <a:spLocks noGrp="1"/>
          </p:cNvSpPr>
          <p:nvPr>
            <p:ph type="sldNum" sz="quarter" idx="2"/>
          </p:nvPr>
        </p:nvSpPr>
        <p:spPr>
          <a:xfrm>
            <a:off x="7099300" y="5893315"/>
            <a:ext cx="2311400" cy="255014"/>
          </a:xfrm>
          <a:prstGeom prst="rect">
            <a:avLst/>
          </a:prstGeom>
          <a:ln w="3175">
            <a:miter lim="400000"/>
          </a:ln>
        </p:spPr>
        <p:txBody>
          <a:bodyPr lIns="19594" tIns="19594" rIns="19594" bIns="19594" anchor="ctr">
            <a:spAutoFit/>
          </a:bodyPr>
          <a:lstStyle>
            <a:lvl1pPr algn="r">
              <a:defRPr sz="1400">
                <a:solidFill>
                  <a:srgbClr val="888888"/>
                </a:solidFill>
                <a:latin typeface="Arial"/>
                <a:ea typeface="Arial"/>
                <a:cs typeface="Arial"/>
                <a:sym typeface="Arial"/>
              </a:defRPr>
            </a:lvl1pPr>
          </a:lstStyle>
          <a:p>
            <a:pPr defTabSz="825500"/>
            <a:fld id="{86CB4B4D-7CA3-9044-876B-883B54F8677D}" type="slidenum">
              <a:rPr kern="0"/>
              <a:pPr defTabSz="825500"/>
              <a:t>‹Nº›</a:t>
            </a:fld>
            <a:endParaRPr kern="0" dirty="0"/>
          </a:p>
        </p:txBody>
      </p:sp>
    </p:spTree>
    <p:extLst>
      <p:ext uri="{BB962C8B-B14F-4D97-AF65-F5344CB8AC3E}">
        <p14:creationId xmlns:p14="http://schemas.microsoft.com/office/powerpoint/2010/main" val="345534157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Lst>
  <p:transition spd="med"/>
  <p:hf hdr="0" ftr="0" dt="0"/>
  <p:txStyles>
    <p:titleStyle>
      <a:lvl1pPr algn="ctr">
        <a:defRPr sz="2200">
          <a:latin typeface="Calibri"/>
          <a:ea typeface="Calibri"/>
          <a:cs typeface="Calibri"/>
          <a:sym typeface="Calibri"/>
        </a:defRPr>
      </a:lvl1pPr>
      <a:lvl2pPr algn="ctr">
        <a:defRPr sz="2200">
          <a:latin typeface="Calibri"/>
          <a:ea typeface="Calibri"/>
          <a:cs typeface="Calibri"/>
          <a:sym typeface="Calibri"/>
        </a:defRPr>
      </a:lvl2pPr>
      <a:lvl3pPr algn="ctr">
        <a:defRPr sz="2200">
          <a:latin typeface="Calibri"/>
          <a:ea typeface="Calibri"/>
          <a:cs typeface="Calibri"/>
          <a:sym typeface="Calibri"/>
        </a:defRPr>
      </a:lvl3pPr>
      <a:lvl4pPr algn="ctr">
        <a:defRPr sz="2200">
          <a:latin typeface="Calibri"/>
          <a:ea typeface="Calibri"/>
          <a:cs typeface="Calibri"/>
          <a:sym typeface="Calibri"/>
        </a:defRPr>
      </a:lvl4pPr>
      <a:lvl5pPr algn="ctr">
        <a:defRPr sz="2200">
          <a:latin typeface="Calibri"/>
          <a:ea typeface="Calibri"/>
          <a:cs typeface="Calibri"/>
          <a:sym typeface="Calibri"/>
        </a:defRPr>
      </a:lvl5pPr>
      <a:lvl6pPr algn="ctr">
        <a:defRPr sz="2200">
          <a:latin typeface="Calibri"/>
          <a:ea typeface="Calibri"/>
          <a:cs typeface="Calibri"/>
          <a:sym typeface="Calibri"/>
        </a:defRPr>
      </a:lvl6pPr>
      <a:lvl7pPr algn="ctr">
        <a:defRPr sz="2200">
          <a:latin typeface="Calibri"/>
          <a:ea typeface="Calibri"/>
          <a:cs typeface="Calibri"/>
          <a:sym typeface="Calibri"/>
        </a:defRPr>
      </a:lvl7pPr>
      <a:lvl8pPr algn="ctr">
        <a:defRPr sz="2200">
          <a:latin typeface="Calibri"/>
          <a:ea typeface="Calibri"/>
          <a:cs typeface="Calibri"/>
          <a:sym typeface="Calibri"/>
        </a:defRPr>
      </a:lvl8pPr>
      <a:lvl9pPr algn="ctr">
        <a:defRPr sz="2200">
          <a:latin typeface="Calibri"/>
          <a:ea typeface="Calibri"/>
          <a:cs typeface="Calibri"/>
          <a:sym typeface="Calibri"/>
        </a:defRPr>
      </a:lvl9pPr>
    </p:titleStyle>
    <p:bodyStyle>
      <a:lvl1pPr marL="171449" indent="-171449">
        <a:spcBef>
          <a:spcPts val="700"/>
        </a:spcBef>
        <a:buSzPct val="100000"/>
        <a:buFont typeface="Arial"/>
        <a:buChar char="•"/>
        <a:defRPr sz="1600">
          <a:latin typeface="Calibri"/>
          <a:ea typeface="Calibri"/>
          <a:cs typeface="Calibri"/>
          <a:sym typeface="Calibri"/>
        </a:defRPr>
      </a:lvl1pPr>
      <a:lvl2pPr marL="620481" indent="-163284">
        <a:spcBef>
          <a:spcPts val="700"/>
        </a:spcBef>
        <a:buSzPct val="100000"/>
        <a:buFont typeface="Arial"/>
        <a:buChar char="–"/>
        <a:defRPr sz="1600">
          <a:latin typeface="Calibri"/>
          <a:ea typeface="Calibri"/>
          <a:cs typeface="Calibri"/>
          <a:sym typeface="Calibri"/>
        </a:defRPr>
      </a:lvl2pPr>
      <a:lvl3pPr marL="1066793" indent="-152399">
        <a:spcBef>
          <a:spcPts val="700"/>
        </a:spcBef>
        <a:buSzPct val="100000"/>
        <a:buFont typeface="Arial"/>
        <a:buChar char="•"/>
        <a:defRPr sz="1600">
          <a:latin typeface="Calibri"/>
          <a:ea typeface="Calibri"/>
          <a:cs typeface="Calibri"/>
          <a:sym typeface="Calibri"/>
        </a:defRPr>
      </a:lvl3pPr>
      <a:lvl4pPr marL="1554471" indent="-182879">
        <a:spcBef>
          <a:spcPts val="700"/>
        </a:spcBef>
        <a:buSzPct val="100000"/>
        <a:buFont typeface="Arial"/>
        <a:buChar char="–"/>
        <a:defRPr sz="1600">
          <a:latin typeface="Calibri"/>
          <a:ea typeface="Calibri"/>
          <a:cs typeface="Calibri"/>
          <a:sym typeface="Calibri"/>
        </a:defRPr>
      </a:lvl4pPr>
      <a:lvl5pPr marL="2011668" indent="-182878">
        <a:spcBef>
          <a:spcPts val="700"/>
        </a:spcBef>
        <a:buSzPct val="100000"/>
        <a:buFont typeface="Arial"/>
        <a:buChar char="»"/>
        <a:defRPr sz="1600">
          <a:latin typeface="Calibri"/>
          <a:ea typeface="Calibri"/>
          <a:cs typeface="Calibri"/>
          <a:sym typeface="Calibri"/>
        </a:defRPr>
      </a:lvl5pPr>
      <a:lvl6pPr marL="2468865" indent="-182878">
        <a:spcBef>
          <a:spcPts val="700"/>
        </a:spcBef>
        <a:buSzPct val="100000"/>
        <a:buFont typeface="Arial"/>
        <a:buChar char="•"/>
        <a:defRPr sz="1600">
          <a:latin typeface="Calibri"/>
          <a:ea typeface="Calibri"/>
          <a:cs typeface="Calibri"/>
          <a:sym typeface="Calibri"/>
        </a:defRPr>
      </a:lvl6pPr>
      <a:lvl7pPr marL="2926062" indent="-182878">
        <a:spcBef>
          <a:spcPts val="700"/>
        </a:spcBef>
        <a:buSzPct val="100000"/>
        <a:buFont typeface="Arial"/>
        <a:buChar char="•"/>
        <a:defRPr sz="1600">
          <a:latin typeface="Calibri"/>
          <a:ea typeface="Calibri"/>
          <a:cs typeface="Calibri"/>
          <a:sym typeface="Calibri"/>
        </a:defRPr>
      </a:lvl7pPr>
      <a:lvl8pPr marL="3383259" indent="-182878">
        <a:spcBef>
          <a:spcPts val="700"/>
        </a:spcBef>
        <a:buSzPct val="100000"/>
        <a:buFont typeface="Arial"/>
        <a:buChar char="•"/>
        <a:defRPr sz="1600">
          <a:latin typeface="Calibri"/>
          <a:ea typeface="Calibri"/>
          <a:cs typeface="Calibri"/>
          <a:sym typeface="Calibri"/>
        </a:defRPr>
      </a:lvl8pPr>
      <a:lvl9pPr marL="3840457" indent="-182878">
        <a:spcBef>
          <a:spcPts val="700"/>
        </a:spcBef>
        <a:buSzPct val="100000"/>
        <a:buFont typeface="Arial"/>
        <a:buChar char="•"/>
        <a:defRPr sz="1600">
          <a:latin typeface="Calibri"/>
          <a:ea typeface="Calibri"/>
          <a:cs typeface="Calibri"/>
          <a:sym typeface="Calibri"/>
        </a:defRPr>
      </a:lvl9pPr>
    </p:bodyStyle>
    <p:otherStyle>
      <a:lvl1pPr algn="r" defTabSz="825495">
        <a:defRPr sz="1400">
          <a:solidFill>
            <a:schemeClr val="tx1"/>
          </a:solidFill>
          <a:latin typeface="+mn-lt"/>
          <a:ea typeface="+mn-ea"/>
          <a:cs typeface="+mn-cs"/>
          <a:sym typeface="Arial"/>
        </a:defRPr>
      </a:lvl1pPr>
      <a:lvl2pPr algn="r" defTabSz="825495">
        <a:defRPr sz="1400">
          <a:solidFill>
            <a:schemeClr val="tx1"/>
          </a:solidFill>
          <a:latin typeface="+mn-lt"/>
          <a:ea typeface="+mn-ea"/>
          <a:cs typeface="+mn-cs"/>
          <a:sym typeface="Arial"/>
        </a:defRPr>
      </a:lvl2pPr>
      <a:lvl3pPr algn="r" defTabSz="825495">
        <a:defRPr sz="1400">
          <a:solidFill>
            <a:schemeClr val="tx1"/>
          </a:solidFill>
          <a:latin typeface="+mn-lt"/>
          <a:ea typeface="+mn-ea"/>
          <a:cs typeface="+mn-cs"/>
          <a:sym typeface="Arial"/>
        </a:defRPr>
      </a:lvl3pPr>
      <a:lvl4pPr algn="r" defTabSz="825495">
        <a:defRPr sz="1400">
          <a:solidFill>
            <a:schemeClr val="tx1"/>
          </a:solidFill>
          <a:latin typeface="+mn-lt"/>
          <a:ea typeface="+mn-ea"/>
          <a:cs typeface="+mn-cs"/>
          <a:sym typeface="Arial"/>
        </a:defRPr>
      </a:lvl4pPr>
      <a:lvl5pPr algn="r" defTabSz="825495">
        <a:defRPr sz="1400">
          <a:solidFill>
            <a:schemeClr val="tx1"/>
          </a:solidFill>
          <a:latin typeface="+mn-lt"/>
          <a:ea typeface="+mn-ea"/>
          <a:cs typeface="+mn-cs"/>
          <a:sym typeface="Arial"/>
        </a:defRPr>
      </a:lvl5pPr>
      <a:lvl6pPr algn="r" defTabSz="825495">
        <a:defRPr sz="1400">
          <a:solidFill>
            <a:schemeClr val="tx1"/>
          </a:solidFill>
          <a:latin typeface="+mn-lt"/>
          <a:ea typeface="+mn-ea"/>
          <a:cs typeface="+mn-cs"/>
          <a:sym typeface="Arial"/>
        </a:defRPr>
      </a:lvl6pPr>
      <a:lvl7pPr algn="r" defTabSz="825495">
        <a:defRPr sz="1400">
          <a:solidFill>
            <a:schemeClr val="tx1"/>
          </a:solidFill>
          <a:latin typeface="+mn-lt"/>
          <a:ea typeface="+mn-ea"/>
          <a:cs typeface="+mn-cs"/>
          <a:sym typeface="Arial"/>
        </a:defRPr>
      </a:lvl7pPr>
      <a:lvl8pPr algn="r" defTabSz="825495">
        <a:defRPr sz="1400">
          <a:solidFill>
            <a:schemeClr val="tx1"/>
          </a:solidFill>
          <a:latin typeface="+mn-lt"/>
          <a:ea typeface="+mn-ea"/>
          <a:cs typeface="+mn-cs"/>
          <a:sym typeface="Arial"/>
        </a:defRPr>
      </a:lvl8pPr>
      <a:lvl9pPr algn="r" defTabSz="825495">
        <a:defRPr sz="1400">
          <a:solidFill>
            <a:schemeClr val="tx1"/>
          </a:solidFill>
          <a:latin typeface="+mn-lt"/>
          <a:ea typeface="+mn-ea"/>
          <a:cs typeface="+mn-cs"/>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95300" y="1600204"/>
            <a:ext cx="89154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95300" y="6356355"/>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5C91DD-0F74-4729-AB97-0530F3618DAC}"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3"/>
          </p:nvPr>
        </p:nvSpPr>
        <p:spPr>
          <a:xfrm>
            <a:off x="3384550" y="6356355"/>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solidFill>
                <a:prstClr val="black">
                  <a:tint val="75000"/>
                </a:prstClr>
              </a:solidFill>
            </a:endParaRPr>
          </a:p>
        </p:txBody>
      </p:sp>
    </p:spTree>
    <p:extLst>
      <p:ext uri="{BB962C8B-B14F-4D97-AF65-F5344CB8AC3E}">
        <p14:creationId xmlns:p14="http://schemas.microsoft.com/office/powerpoint/2010/main" val="941599262"/>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solidFill>
                <a:prstClr val="black">
                  <a:tint val="75000"/>
                </a:prstClr>
              </a:solidFill>
            </a:endParaRPr>
          </a:p>
        </p:txBody>
      </p:sp>
    </p:spTree>
    <p:extLst>
      <p:ext uri="{BB962C8B-B14F-4D97-AF65-F5344CB8AC3E}">
        <p14:creationId xmlns:p14="http://schemas.microsoft.com/office/powerpoint/2010/main" val="1556544678"/>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8F2772-30C5-4D04-847A-829349C32E13}"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solidFill>
                <a:prstClr val="black">
                  <a:tint val="75000"/>
                </a:prstClr>
              </a:solidFill>
            </a:endParaRPr>
          </a:p>
        </p:txBody>
      </p:sp>
      <p:sp>
        <p:nvSpPr>
          <p:cNvPr id="6" name="5 Marcador de número de diapositiva"/>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84214-365E-429E-AC04-55CF082616E7}"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4194902413"/>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solidFill>
                <a:prstClr val="black">
                  <a:tint val="75000"/>
                </a:prstClr>
              </a:solidFill>
            </a:endParaRPr>
          </a:p>
        </p:txBody>
      </p:sp>
      <p:sp>
        <p:nvSpPr>
          <p:cNvPr id="6" name="5 Marcador de número de diapositiva"/>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985A2B-2D2C-46ED-B63E-CC4C09919523}" type="slidenum">
              <a:rPr lang="es-ES" smtClean="0">
                <a:solidFill>
                  <a:prstClr val="black">
                    <a:tint val="75000"/>
                  </a:prstClr>
                </a:solidFill>
              </a:rPr>
              <a:pPr/>
              <a:t>‹Nº›</a:t>
            </a:fld>
            <a:endParaRPr lang="es-ES" dirty="0">
              <a:solidFill>
                <a:prstClr val="black">
                  <a:tint val="75000"/>
                </a:prstClr>
              </a:solidFill>
            </a:endParaRPr>
          </a:p>
        </p:txBody>
      </p:sp>
    </p:spTree>
    <p:extLst>
      <p:ext uri="{BB962C8B-B14F-4D97-AF65-F5344CB8AC3E}">
        <p14:creationId xmlns:p14="http://schemas.microsoft.com/office/powerpoint/2010/main" val="279766126"/>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95300" y="1600206"/>
            <a:ext cx="89154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95300" y="6356363"/>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1C553C-9A78-4DC3-ADC4-1800F6DD6D35}" type="datetimeFigureOut">
              <a:rPr lang="es-ES" smtClean="0">
                <a:solidFill>
                  <a:prstClr val="black">
                    <a:tint val="75000"/>
                  </a:prstClr>
                </a:solidFill>
              </a:rPr>
              <a:pPr/>
              <a:t>04/04/2026</a:t>
            </a:fld>
            <a:endParaRPr lang="es-ES" dirty="0">
              <a:solidFill>
                <a:prstClr val="black">
                  <a:tint val="75000"/>
                </a:prstClr>
              </a:solidFill>
            </a:endParaRPr>
          </a:p>
        </p:txBody>
      </p:sp>
      <p:sp>
        <p:nvSpPr>
          <p:cNvPr id="5" name="4 Marcador de pie de página"/>
          <p:cNvSpPr>
            <a:spLocks noGrp="1"/>
          </p:cNvSpPr>
          <p:nvPr>
            <p:ph type="ftr" sz="quarter" idx="3"/>
          </p:nvPr>
        </p:nvSpPr>
        <p:spPr>
          <a:xfrm>
            <a:off x="3384550" y="6356363"/>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solidFill>
                <a:prstClr val="black">
                  <a:tint val="75000"/>
                </a:prstClr>
              </a:solidFill>
            </a:endParaRPr>
          </a:p>
        </p:txBody>
      </p:sp>
    </p:spTree>
    <p:extLst>
      <p:ext uri="{BB962C8B-B14F-4D97-AF65-F5344CB8AC3E}">
        <p14:creationId xmlns:p14="http://schemas.microsoft.com/office/powerpoint/2010/main" val="4140591546"/>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1C553C-9A78-4DC3-ADC4-1800F6DD6D35}" type="datetimeFigureOut">
              <a:rPr lang="es-ES" smtClean="0"/>
              <a:t>04/04/2026</a:t>
            </a:fld>
            <a:endParaRPr lang="es-ES"/>
          </a:p>
        </p:txBody>
      </p:sp>
      <p:sp>
        <p:nvSpPr>
          <p:cNvPr id="5" name="4 Marcador de pie de página"/>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985A2B-2D2C-46ED-B63E-CC4C09919523}" type="slidenum">
              <a:rPr lang="es-ES" smtClean="0"/>
              <a:t>‹Nº›</a:t>
            </a:fld>
            <a:endParaRPr lang="es-ES"/>
          </a:p>
        </p:txBody>
      </p:sp>
    </p:spTree>
    <p:extLst>
      <p:ext uri="{BB962C8B-B14F-4D97-AF65-F5344CB8AC3E}">
        <p14:creationId xmlns:p14="http://schemas.microsoft.com/office/powerpoint/2010/main" val="1970614747"/>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2.xml"/><Relationship Id="rId13" Type="http://schemas.openxmlformats.org/officeDocument/2006/relationships/image" Target="../media/image14.png"/><Relationship Id="rId18" Type="http://schemas.openxmlformats.org/officeDocument/2006/relationships/image" Target="../media/image18.png"/><Relationship Id="rId26" Type="http://schemas.openxmlformats.org/officeDocument/2006/relationships/image" Target="../media/image23.png"/><Relationship Id="rId3" Type="http://schemas.openxmlformats.org/officeDocument/2006/relationships/tags" Target="../tags/tag11.xml"/><Relationship Id="rId21" Type="http://schemas.openxmlformats.org/officeDocument/2006/relationships/image" Target="../media/image20.png"/><Relationship Id="rId7" Type="http://schemas.openxmlformats.org/officeDocument/2006/relationships/slideLayout" Target="../slideLayouts/slideLayout20.xml"/><Relationship Id="rId12" Type="http://schemas.openxmlformats.org/officeDocument/2006/relationships/image" Target="../media/image13.png"/><Relationship Id="rId17" Type="http://schemas.openxmlformats.org/officeDocument/2006/relationships/image" Target="../media/image17.png"/><Relationship Id="rId25" Type="http://schemas.microsoft.com/office/2007/relationships/hdphoto" Target="../media/hdphoto5.wdp"/><Relationship Id="rId2" Type="http://schemas.openxmlformats.org/officeDocument/2006/relationships/tags" Target="../tags/tag10.xml"/><Relationship Id="rId16" Type="http://schemas.openxmlformats.org/officeDocument/2006/relationships/image" Target="../media/image16.png"/><Relationship Id="rId20" Type="http://schemas.microsoft.com/office/2007/relationships/hdphoto" Target="../media/hdphoto3.wdp"/><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image" Target="../media/image12.png"/><Relationship Id="rId24" Type="http://schemas.openxmlformats.org/officeDocument/2006/relationships/image" Target="../media/image22.png"/><Relationship Id="rId5" Type="http://schemas.openxmlformats.org/officeDocument/2006/relationships/tags" Target="../tags/tag13.xml"/><Relationship Id="rId15" Type="http://schemas.openxmlformats.org/officeDocument/2006/relationships/image" Target="../media/image15.png"/><Relationship Id="rId23" Type="http://schemas.openxmlformats.org/officeDocument/2006/relationships/image" Target="../media/image21.png"/><Relationship Id="rId10" Type="http://schemas.openxmlformats.org/officeDocument/2006/relationships/image" Target="../media/image11.png"/><Relationship Id="rId19" Type="http://schemas.openxmlformats.org/officeDocument/2006/relationships/image" Target="../media/image19.png"/><Relationship Id="rId4" Type="http://schemas.openxmlformats.org/officeDocument/2006/relationships/tags" Target="../tags/tag12.xml"/><Relationship Id="rId9" Type="http://schemas.openxmlformats.org/officeDocument/2006/relationships/image" Target="../media/image10.png"/><Relationship Id="rId14" Type="http://schemas.microsoft.com/office/2007/relationships/hdphoto" Target="../media/hdphoto2.wdp"/><Relationship Id="rId22" Type="http://schemas.microsoft.com/office/2007/relationships/hdphoto" Target="../media/hdphoto4.wdp"/><Relationship Id="rId27"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24.png"/><Relationship Id="rId4"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notesSlide" Target="../notesSlides/notesSlide4.xml"/><Relationship Id="rId7" Type="http://schemas.openxmlformats.org/officeDocument/2006/relationships/image" Target="../media/image28.png"/><Relationship Id="rId2" Type="http://schemas.openxmlformats.org/officeDocument/2006/relationships/slideLayout" Target="../slideLayouts/slideLayout20.xml"/><Relationship Id="rId1" Type="http://schemas.openxmlformats.org/officeDocument/2006/relationships/tags" Target="../tags/tag17.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0.png"/><Relationship Id="rId4" Type="http://schemas.openxmlformats.org/officeDocument/2006/relationships/image" Target="../media/image25.pn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slideLayout" Target="../slideLayouts/slideLayout53.xml"/></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32.png"/><Relationship Id="rId3" Type="http://schemas.openxmlformats.org/officeDocument/2006/relationships/tags" Target="../tags/tag23.xml"/><Relationship Id="rId7" Type="http://schemas.openxmlformats.org/officeDocument/2006/relationships/image" Target="../media/image21.png"/><Relationship Id="rId12" Type="http://schemas.microsoft.com/office/2007/relationships/hdphoto" Target="../media/hdphoto7.wdp"/><Relationship Id="rId2" Type="http://schemas.openxmlformats.org/officeDocument/2006/relationships/tags" Target="../tags/tag22.xml"/><Relationship Id="rId16" Type="http://schemas.openxmlformats.org/officeDocument/2006/relationships/image" Target="../media/image23.png"/><Relationship Id="rId1" Type="http://schemas.openxmlformats.org/officeDocument/2006/relationships/tags" Target="../tags/tag21.xml"/><Relationship Id="rId6" Type="http://schemas.openxmlformats.org/officeDocument/2006/relationships/notesSlide" Target="../notesSlides/notesSlide5.xml"/><Relationship Id="rId11" Type="http://schemas.openxmlformats.org/officeDocument/2006/relationships/image" Target="../media/image31.png"/><Relationship Id="rId5" Type="http://schemas.openxmlformats.org/officeDocument/2006/relationships/slideLayout" Target="../slideLayouts/slideLayout31.xml"/><Relationship Id="rId15" Type="http://schemas.openxmlformats.org/officeDocument/2006/relationships/image" Target="../media/image33.png"/><Relationship Id="rId10" Type="http://schemas.openxmlformats.org/officeDocument/2006/relationships/image" Target="../media/image18.png"/><Relationship Id="rId4" Type="http://schemas.openxmlformats.org/officeDocument/2006/relationships/tags" Target="../tags/tag24.xml"/><Relationship Id="rId9" Type="http://schemas.openxmlformats.org/officeDocument/2006/relationships/image" Target="../media/image11.png"/><Relationship Id="rId14" Type="http://schemas.microsoft.com/office/2007/relationships/hdphoto" Target="../media/hdphoto8.wd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tags" Target="../tags/tag42.xml"/><Relationship Id="rId26" Type="http://schemas.openxmlformats.org/officeDocument/2006/relationships/image" Target="../media/image21.png"/><Relationship Id="rId3" Type="http://schemas.openxmlformats.org/officeDocument/2006/relationships/tags" Target="../tags/tag27.xml"/><Relationship Id="rId21" Type="http://schemas.openxmlformats.org/officeDocument/2006/relationships/tags" Target="../tags/tag45.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tags" Target="../tags/tag41.xml"/><Relationship Id="rId25" Type="http://schemas.openxmlformats.org/officeDocument/2006/relationships/image" Target="../media/image35.png"/><Relationship Id="rId2" Type="http://schemas.openxmlformats.org/officeDocument/2006/relationships/tags" Target="../tags/tag26.xml"/><Relationship Id="rId16" Type="http://schemas.openxmlformats.org/officeDocument/2006/relationships/tags" Target="../tags/tag40.xml"/><Relationship Id="rId20" Type="http://schemas.openxmlformats.org/officeDocument/2006/relationships/tags" Target="../tags/tag44.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24" Type="http://schemas.openxmlformats.org/officeDocument/2006/relationships/image" Target="../media/image34.png"/><Relationship Id="rId5" Type="http://schemas.openxmlformats.org/officeDocument/2006/relationships/tags" Target="../tags/tag29.xml"/><Relationship Id="rId15" Type="http://schemas.openxmlformats.org/officeDocument/2006/relationships/tags" Target="../tags/tag39.xml"/><Relationship Id="rId23" Type="http://schemas.openxmlformats.org/officeDocument/2006/relationships/slideLayout" Target="../slideLayouts/slideLayout2.xml"/><Relationship Id="rId28" Type="http://schemas.openxmlformats.org/officeDocument/2006/relationships/image" Target="../media/image11.png"/><Relationship Id="rId10" Type="http://schemas.openxmlformats.org/officeDocument/2006/relationships/tags" Target="../tags/tag34.xml"/><Relationship Id="rId19" Type="http://schemas.openxmlformats.org/officeDocument/2006/relationships/tags" Target="../tags/tag43.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 Id="rId22" Type="http://schemas.openxmlformats.org/officeDocument/2006/relationships/tags" Target="../tags/tag46.xml"/><Relationship Id="rId27"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6" Type="http://schemas.openxmlformats.org/officeDocument/2006/relationships/tags" Target="../tags/tag72.xml"/><Relationship Id="rId21" Type="http://schemas.openxmlformats.org/officeDocument/2006/relationships/tags" Target="../tags/tag67.xml"/><Relationship Id="rId42" Type="http://schemas.openxmlformats.org/officeDocument/2006/relationships/tags" Target="../tags/tag88.xml"/><Relationship Id="rId47" Type="http://schemas.openxmlformats.org/officeDocument/2006/relationships/tags" Target="../tags/tag93.xml"/><Relationship Id="rId63" Type="http://schemas.openxmlformats.org/officeDocument/2006/relationships/tags" Target="../tags/tag109.xml"/><Relationship Id="rId68" Type="http://schemas.openxmlformats.org/officeDocument/2006/relationships/tags" Target="../tags/tag114.xml"/><Relationship Id="rId2" Type="http://schemas.openxmlformats.org/officeDocument/2006/relationships/tags" Target="../tags/tag48.xml"/><Relationship Id="rId16" Type="http://schemas.openxmlformats.org/officeDocument/2006/relationships/tags" Target="../tags/tag62.xml"/><Relationship Id="rId29" Type="http://schemas.openxmlformats.org/officeDocument/2006/relationships/tags" Target="../tags/tag75.xml"/><Relationship Id="rId11" Type="http://schemas.openxmlformats.org/officeDocument/2006/relationships/tags" Target="../tags/tag57.xml"/><Relationship Id="rId24" Type="http://schemas.openxmlformats.org/officeDocument/2006/relationships/tags" Target="../tags/tag70.xml"/><Relationship Id="rId32" Type="http://schemas.openxmlformats.org/officeDocument/2006/relationships/tags" Target="../tags/tag78.xml"/><Relationship Id="rId37" Type="http://schemas.openxmlformats.org/officeDocument/2006/relationships/tags" Target="../tags/tag83.xml"/><Relationship Id="rId40" Type="http://schemas.openxmlformats.org/officeDocument/2006/relationships/tags" Target="../tags/tag86.xml"/><Relationship Id="rId45" Type="http://schemas.openxmlformats.org/officeDocument/2006/relationships/tags" Target="../tags/tag91.xml"/><Relationship Id="rId53" Type="http://schemas.openxmlformats.org/officeDocument/2006/relationships/tags" Target="../tags/tag99.xml"/><Relationship Id="rId58" Type="http://schemas.openxmlformats.org/officeDocument/2006/relationships/tags" Target="../tags/tag104.xml"/><Relationship Id="rId66" Type="http://schemas.openxmlformats.org/officeDocument/2006/relationships/tags" Target="../tags/tag112.xml"/><Relationship Id="rId74" Type="http://schemas.openxmlformats.org/officeDocument/2006/relationships/image" Target="../media/image12.png"/><Relationship Id="rId5" Type="http://schemas.openxmlformats.org/officeDocument/2006/relationships/tags" Target="../tags/tag51.xml"/><Relationship Id="rId61" Type="http://schemas.openxmlformats.org/officeDocument/2006/relationships/tags" Target="../tags/tag107.xml"/><Relationship Id="rId19" Type="http://schemas.openxmlformats.org/officeDocument/2006/relationships/tags" Target="../tags/tag65.xml"/><Relationship Id="rId14" Type="http://schemas.openxmlformats.org/officeDocument/2006/relationships/tags" Target="../tags/tag60.xml"/><Relationship Id="rId22" Type="http://schemas.openxmlformats.org/officeDocument/2006/relationships/tags" Target="../tags/tag68.xml"/><Relationship Id="rId27" Type="http://schemas.openxmlformats.org/officeDocument/2006/relationships/tags" Target="../tags/tag73.xml"/><Relationship Id="rId30" Type="http://schemas.openxmlformats.org/officeDocument/2006/relationships/tags" Target="../tags/tag76.xml"/><Relationship Id="rId35" Type="http://schemas.openxmlformats.org/officeDocument/2006/relationships/tags" Target="../tags/tag81.xml"/><Relationship Id="rId43" Type="http://schemas.openxmlformats.org/officeDocument/2006/relationships/tags" Target="../tags/tag89.xml"/><Relationship Id="rId48" Type="http://schemas.openxmlformats.org/officeDocument/2006/relationships/tags" Target="../tags/tag94.xml"/><Relationship Id="rId56" Type="http://schemas.openxmlformats.org/officeDocument/2006/relationships/tags" Target="../tags/tag102.xml"/><Relationship Id="rId64" Type="http://schemas.openxmlformats.org/officeDocument/2006/relationships/tags" Target="../tags/tag110.xml"/><Relationship Id="rId69" Type="http://schemas.openxmlformats.org/officeDocument/2006/relationships/tags" Target="../tags/tag115.xml"/><Relationship Id="rId8" Type="http://schemas.openxmlformats.org/officeDocument/2006/relationships/tags" Target="../tags/tag54.xml"/><Relationship Id="rId51" Type="http://schemas.openxmlformats.org/officeDocument/2006/relationships/tags" Target="../tags/tag97.xml"/><Relationship Id="rId72" Type="http://schemas.openxmlformats.org/officeDocument/2006/relationships/notesSlide" Target="../notesSlides/notesSlide6.xml"/><Relationship Id="rId3" Type="http://schemas.openxmlformats.org/officeDocument/2006/relationships/tags" Target="../tags/tag49.xml"/><Relationship Id="rId12" Type="http://schemas.openxmlformats.org/officeDocument/2006/relationships/tags" Target="../tags/tag58.xml"/><Relationship Id="rId17" Type="http://schemas.openxmlformats.org/officeDocument/2006/relationships/tags" Target="../tags/tag63.xml"/><Relationship Id="rId25" Type="http://schemas.openxmlformats.org/officeDocument/2006/relationships/tags" Target="../tags/tag71.xml"/><Relationship Id="rId33" Type="http://schemas.openxmlformats.org/officeDocument/2006/relationships/tags" Target="../tags/tag79.xml"/><Relationship Id="rId38" Type="http://schemas.openxmlformats.org/officeDocument/2006/relationships/tags" Target="../tags/tag84.xml"/><Relationship Id="rId46" Type="http://schemas.openxmlformats.org/officeDocument/2006/relationships/tags" Target="../tags/tag92.xml"/><Relationship Id="rId59" Type="http://schemas.openxmlformats.org/officeDocument/2006/relationships/tags" Target="../tags/tag105.xml"/><Relationship Id="rId67" Type="http://schemas.openxmlformats.org/officeDocument/2006/relationships/tags" Target="../tags/tag113.xml"/><Relationship Id="rId20" Type="http://schemas.openxmlformats.org/officeDocument/2006/relationships/tags" Target="../tags/tag66.xml"/><Relationship Id="rId41" Type="http://schemas.openxmlformats.org/officeDocument/2006/relationships/tags" Target="../tags/tag87.xml"/><Relationship Id="rId54" Type="http://schemas.openxmlformats.org/officeDocument/2006/relationships/tags" Target="../tags/tag100.xml"/><Relationship Id="rId62" Type="http://schemas.openxmlformats.org/officeDocument/2006/relationships/tags" Target="../tags/tag108.xml"/><Relationship Id="rId70" Type="http://schemas.openxmlformats.org/officeDocument/2006/relationships/tags" Target="../tags/tag116.xml"/><Relationship Id="rId75" Type="http://schemas.openxmlformats.org/officeDocument/2006/relationships/image" Target="../media/image11.png"/><Relationship Id="rId1" Type="http://schemas.openxmlformats.org/officeDocument/2006/relationships/tags" Target="../tags/tag47.xml"/><Relationship Id="rId6" Type="http://schemas.openxmlformats.org/officeDocument/2006/relationships/tags" Target="../tags/tag52.xml"/><Relationship Id="rId15" Type="http://schemas.openxmlformats.org/officeDocument/2006/relationships/tags" Target="../tags/tag61.xml"/><Relationship Id="rId23" Type="http://schemas.openxmlformats.org/officeDocument/2006/relationships/tags" Target="../tags/tag69.xml"/><Relationship Id="rId28" Type="http://schemas.openxmlformats.org/officeDocument/2006/relationships/tags" Target="../tags/tag74.xml"/><Relationship Id="rId36" Type="http://schemas.openxmlformats.org/officeDocument/2006/relationships/tags" Target="../tags/tag82.xml"/><Relationship Id="rId49" Type="http://schemas.openxmlformats.org/officeDocument/2006/relationships/tags" Target="../tags/tag95.xml"/><Relationship Id="rId57" Type="http://schemas.openxmlformats.org/officeDocument/2006/relationships/tags" Target="../tags/tag103.xml"/><Relationship Id="rId10" Type="http://schemas.openxmlformats.org/officeDocument/2006/relationships/tags" Target="../tags/tag56.xml"/><Relationship Id="rId31" Type="http://schemas.openxmlformats.org/officeDocument/2006/relationships/tags" Target="../tags/tag77.xml"/><Relationship Id="rId44" Type="http://schemas.openxmlformats.org/officeDocument/2006/relationships/tags" Target="../tags/tag90.xml"/><Relationship Id="rId52" Type="http://schemas.openxmlformats.org/officeDocument/2006/relationships/tags" Target="../tags/tag98.xml"/><Relationship Id="rId60" Type="http://schemas.openxmlformats.org/officeDocument/2006/relationships/tags" Target="../tags/tag106.xml"/><Relationship Id="rId65" Type="http://schemas.openxmlformats.org/officeDocument/2006/relationships/tags" Target="../tags/tag111.xml"/><Relationship Id="rId73" Type="http://schemas.openxmlformats.org/officeDocument/2006/relationships/image" Target="../media/image21.png"/><Relationship Id="rId4" Type="http://schemas.openxmlformats.org/officeDocument/2006/relationships/tags" Target="../tags/tag50.xml"/><Relationship Id="rId9" Type="http://schemas.openxmlformats.org/officeDocument/2006/relationships/tags" Target="../tags/tag55.xml"/><Relationship Id="rId13" Type="http://schemas.openxmlformats.org/officeDocument/2006/relationships/tags" Target="../tags/tag59.xml"/><Relationship Id="rId18" Type="http://schemas.openxmlformats.org/officeDocument/2006/relationships/tags" Target="../tags/tag64.xml"/><Relationship Id="rId39" Type="http://schemas.openxmlformats.org/officeDocument/2006/relationships/tags" Target="../tags/tag85.xml"/><Relationship Id="rId34" Type="http://schemas.openxmlformats.org/officeDocument/2006/relationships/tags" Target="../tags/tag80.xml"/><Relationship Id="rId50" Type="http://schemas.openxmlformats.org/officeDocument/2006/relationships/tags" Target="../tags/tag96.xml"/><Relationship Id="rId55" Type="http://schemas.openxmlformats.org/officeDocument/2006/relationships/tags" Target="../tags/tag101.xml"/><Relationship Id="rId7" Type="http://schemas.openxmlformats.org/officeDocument/2006/relationships/tags" Target="../tags/tag53.xml"/><Relationship Id="rId7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tags" Target="../tags/tag124.xml"/><Relationship Id="rId13" Type="http://schemas.openxmlformats.org/officeDocument/2006/relationships/notesSlide" Target="../notesSlides/notesSlide7.xml"/><Relationship Id="rId18" Type="http://schemas.openxmlformats.org/officeDocument/2006/relationships/image" Target="../media/image40.png"/><Relationship Id="rId26" Type="http://schemas.openxmlformats.org/officeDocument/2006/relationships/image" Target="../media/image48.png"/><Relationship Id="rId3" Type="http://schemas.openxmlformats.org/officeDocument/2006/relationships/tags" Target="../tags/tag119.xml"/><Relationship Id="rId21" Type="http://schemas.openxmlformats.org/officeDocument/2006/relationships/image" Target="../media/image43.jpeg"/><Relationship Id="rId7" Type="http://schemas.openxmlformats.org/officeDocument/2006/relationships/tags" Target="../tags/tag123.xml"/><Relationship Id="rId12" Type="http://schemas.openxmlformats.org/officeDocument/2006/relationships/slideLayout" Target="../slideLayouts/slideLayout2.xml"/><Relationship Id="rId17" Type="http://schemas.openxmlformats.org/officeDocument/2006/relationships/image" Target="../media/image39.png"/><Relationship Id="rId25" Type="http://schemas.openxmlformats.org/officeDocument/2006/relationships/image" Target="../media/image47.jpeg"/><Relationship Id="rId2" Type="http://schemas.openxmlformats.org/officeDocument/2006/relationships/tags" Target="../tags/tag118.xml"/><Relationship Id="rId16" Type="http://schemas.openxmlformats.org/officeDocument/2006/relationships/image" Target="../media/image38.png"/><Relationship Id="rId20" Type="http://schemas.openxmlformats.org/officeDocument/2006/relationships/image" Target="../media/image42.png"/><Relationship Id="rId29" Type="http://schemas.openxmlformats.org/officeDocument/2006/relationships/image" Target="../media/image51.emf"/><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tags" Target="../tags/tag127.xml"/><Relationship Id="rId24" Type="http://schemas.openxmlformats.org/officeDocument/2006/relationships/image" Target="../media/image46.png"/><Relationship Id="rId32" Type="http://schemas.openxmlformats.org/officeDocument/2006/relationships/image" Target="../media/image54.png"/><Relationship Id="rId5" Type="http://schemas.openxmlformats.org/officeDocument/2006/relationships/tags" Target="../tags/tag121.xml"/><Relationship Id="rId15" Type="http://schemas.openxmlformats.org/officeDocument/2006/relationships/image" Target="../media/image37.png"/><Relationship Id="rId23" Type="http://schemas.openxmlformats.org/officeDocument/2006/relationships/image" Target="../media/image45.png"/><Relationship Id="rId28" Type="http://schemas.openxmlformats.org/officeDocument/2006/relationships/image" Target="../media/image50.png"/><Relationship Id="rId10" Type="http://schemas.openxmlformats.org/officeDocument/2006/relationships/tags" Target="../tags/tag126.xml"/><Relationship Id="rId19" Type="http://schemas.openxmlformats.org/officeDocument/2006/relationships/image" Target="../media/image41.png"/><Relationship Id="rId31" Type="http://schemas.openxmlformats.org/officeDocument/2006/relationships/image" Target="../media/image53.png"/><Relationship Id="rId4" Type="http://schemas.openxmlformats.org/officeDocument/2006/relationships/tags" Target="../tags/tag120.xml"/><Relationship Id="rId9" Type="http://schemas.openxmlformats.org/officeDocument/2006/relationships/tags" Target="../tags/tag125.xml"/><Relationship Id="rId14" Type="http://schemas.openxmlformats.org/officeDocument/2006/relationships/image" Target="../media/image36.png"/><Relationship Id="rId22" Type="http://schemas.openxmlformats.org/officeDocument/2006/relationships/image" Target="../media/image44.emf"/><Relationship Id="rId27" Type="http://schemas.openxmlformats.org/officeDocument/2006/relationships/image" Target="../media/image49.png"/><Relationship Id="rId30"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slideLayout" Target="../slideLayouts/slideLayout31.xml"/><Relationship Id="rId7" Type="http://schemas.openxmlformats.org/officeDocument/2006/relationships/image" Target="../media/image56.png"/><Relationship Id="rId2" Type="http://schemas.openxmlformats.org/officeDocument/2006/relationships/tags" Target="../tags/tag129.xml"/><Relationship Id="rId1" Type="http://schemas.openxmlformats.org/officeDocument/2006/relationships/tags" Target="../tags/tag128.xml"/><Relationship Id="rId6" Type="http://schemas.microsoft.com/office/2007/relationships/hdphoto" Target="../media/hdphoto9.wdp"/><Relationship Id="rId5" Type="http://schemas.openxmlformats.org/officeDocument/2006/relationships/image" Target="../media/image55.png"/><Relationship Id="rId4" Type="http://schemas.openxmlformats.org/officeDocument/2006/relationships/notesSlide" Target="../notesSlides/notesSlide8.xml"/><Relationship Id="rId9" Type="http://schemas.microsoft.com/office/2007/relationships/hdphoto" Target="../media/hdphoto10.wdp"/></Relationships>
</file>

<file path=ppt/slides/_rels/slide24.xml.rels><?xml version="1.0" encoding="UTF-8" standalone="yes"?>
<Relationships xmlns="http://schemas.openxmlformats.org/package/2006/relationships"><Relationship Id="rId8" Type="http://schemas.openxmlformats.org/officeDocument/2006/relationships/tags" Target="../tags/tag137.xml"/><Relationship Id="rId13" Type="http://schemas.openxmlformats.org/officeDocument/2006/relationships/slideLayout" Target="../slideLayouts/slideLayout31.xml"/><Relationship Id="rId18" Type="http://schemas.openxmlformats.org/officeDocument/2006/relationships/image" Target="../media/image11.png"/><Relationship Id="rId3" Type="http://schemas.openxmlformats.org/officeDocument/2006/relationships/tags" Target="../tags/tag132.xml"/><Relationship Id="rId7" Type="http://schemas.openxmlformats.org/officeDocument/2006/relationships/tags" Target="../tags/tag136.xml"/><Relationship Id="rId12" Type="http://schemas.openxmlformats.org/officeDocument/2006/relationships/tags" Target="../tags/tag141.xml"/><Relationship Id="rId17" Type="http://schemas.openxmlformats.org/officeDocument/2006/relationships/image" Target="../media/image12.png"/><Relationship Id="rId2" Type="http://schemas.openxmlformats.org/officeDocument/2006/relationships/tags" Target="../tags/tag131.xml"/><Relationship Id="rId16" Type="http://schemas.openxmlformats.org/officeDocument/2006/relationships/image" Target="../media/image21.png"/><Relationship Id="rId20" Type="http://schemas.openxmlformats.org/officeDocument/2006/relationships/image" Target="../media/image24.png"/><Relationship Id="rId1" Type="http://schemas.openxmlformats.org/officeDocument/2006/relationships/tags" Target="../tags/tag130.xml"/><Relationship Id="rId6" Type="http://schemas.openxmlformats.org/officeDocument/2006/relationships/tags" Target="../tags/tag135.xml"/><Relationship Id="rId11" Type="http://schemas.openxmlformats.org/officeDocument/2006/relationships/tags" Target="../tags/tag140.xml"/><Relationship Id="rId5" Type="http://schemas.openxmlformats.org/officeDocument/2006/relationships/tags" Target="../tags/tag134.xml"/><Relationship Id="rId15" Type="http://schemas.openxmlformats.org/officeDocument/2006/relationships/image" Target="../media/image10.png"/><Relationship Id="rId10" Type="http://schemas.openxmlformats.org/officeDocument/2006/relationships/tags" Target="../tags/tag139.xml"/><Relationship Id="rId19" Type="http://schemas.openxmlformats.org/officeDocument/2006/relationships/image" Target="../media/image23.png"/><Relationship Id="rId4" Type="http://schemas.openxmlformats.org/officeDocument/2006/relationships/tags" Target="../tags/tag133.xml"/><Relationship Id="rId9" Type="http://schemas.openxmlformats.org/officeDocument/2006/relationships/tags" Target="../tags/tag138.xml"/><Relationship Id="rId14"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10.xml"/><Relationship Id="rId7" Type="http://schemas.openxmlformats.org/officeDocument/2006/relationships/image" Target="../media/image21.png"/><Relationship Id="rId2" Type="http://schemas.openxmlformats.org/officeDocument/2006/relationships/slideLayout" Target="../slideLayouts/slideLayout31.xml"/><Relationship Id="rId1" Type="http://schemas.openxmlformats.org/officeDocument/2006/relationships/tags" Target="../tags/tag14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11.png"/></Relationships>
</file>

<file path=ppt/slides/_rels/slide26.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tags" Target="../tags/tag145.xml"/><Relationship Id="rId7" Type="http://schemas.openxmlformats.org/officeDocument/2006/relationships/image" Target="../media/image62.png"/><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image" Target="../media/image61.png"/><Relationship Id="rId11" Type="http://schemas.openxmlformats.org/officeDocument/2006/relationships/image" Target="../media/image11.png"/><Relationship Id="rId5" Type="http://schemas.openxmlformats.org/officeDocument/2006/relationships/notesSlide" Target="../notesSlides/notesSlide11.xml"/><Relationship Id="rId10" Type="http://schemas.openxmlformats.org/officeDocument/2006/relationships/image" Target="../media/image12.png"/><Relationship Id="rId4" Type="http://schemas.openxmlformats.org/officeDocument/2006/relationships/slideLayout" Target="../slideLayouts/slideLayout31.xml"/><Relationship Id="rId9" Type="http://schemas.openxmlformats.org/officeDocument/2006/relationships/image" Target="../media/image21.png"/></Relationships>
</file>

<file path=ppt/slides/_rels/slide2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12.xml"/><Relationship Id="rId7" Type="http://schemas.openxmlformats.org/officeDocument/2006/relationships/image" Target="../media/image12.png"/><Relationship Id="rId2" Type="http://schemas.openxmlformats.org/officeDocument/2006/relationships/slideLayout" Target="../slideLayouts/slideLayout31.xml"/><Relationship Id="rId1" Type="http://schemas.openxmlformats.org/officeDocument/2006/relationships/tags" Target="../tags/tag146.xml"/><Relationship Id="rId6" Type="http://schemas.openxmlformats.org/officeDocument/2006/relationships/image" Target="../media/image21.png"/><Relationship Id="rId5" Type="http://schemas.microsoft.com/office/2007/relationships/hdphoto" Target="../media/hdphoto11.wdp"/><Relationship Id="rId4" Type="http://schemas.openxmlformats.org/officeDocument/2006/relationships/image" Target="../media/image64.png"/></Relationships>
</file>

<file path=ppt/slides/_rels/slide28.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slideLayout" Target="../slideLayouts/slideLayout79.xml"/><Relationship Id="rId7" Type="http://schemas.openxmlformats.org/officeDocument/2006/relationships/image" Target="../media/image68.png"/><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notesSlide" Target="../notesSlides/notesSlide13.xml"/><Relationship Id="rId9" Type="http://schemas.openxmlformats.org/officeDocument/2006/relationships/image" Target="../media/image70.png"/></Relationships>
</file>

<file path=ppt/slides/_rels/slide31.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2.png"/><Relationship Id="rId7" Type="http://schemas.openxmlformats.org/officeDocument/2006/relationships/image" Target="../media/image7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74.png"/><Relationship Id="rId10" Type="http://schemas.openxmlformats.org/officeDocument/2006/relationships/image" Target="../media/image78.png"/><Relationship Id="rId4" Type="http://schemas.openxmlformats.org/officeDocument/2006/relationships/image" Target="../media/image73.png"/><Relationship Id="rId9" Type="http://schemas.openxmlformats.org/officeDocument/2006/relationships/image" Target="../media/image77.png"/></Relationships>
</file>

<file path=ppt/slides/_rels/slide33.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9.png"/><Relationship Id="rId7" Type="http://schemas.openxmlformats.org/officeDocument/2006/relationships/image" Target="../media/image72.png"/><Relationship Id="rId12" Type="http://schemas.openxmlformats.org/officeDocument/2006/relationships/image" Target="../media/image78.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68.png"/><Relationship Id="rId11" Type="http://schemas.openxmlformats.org/officeDocument/2006/relationships/image" Target="../media/image84.png"/><Relationship Id="rId5" Type="http://schemas.openxmlformats.org/officeDocument/2006/relationships/image" Target="../media/image77.png"/><Relationship Id="rId10" Type="http://schemas.openxmlformats.org/officeDocument/2006/relationships/image" Target="../media/image83.png"/><Relationship Id="rId4" Type="http://schemas.openxmlformats.org/officeDocument/2006/relationships/image" Target="../media/image80.png"/><Relationship Id="rId9" Type="http://schemas.openxmlformats.org/officeDocument/2006/relationships/image" Target="../media/image8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91.png"/><Relationship Id="rId18" Type="http://schemas.openxmlformats.org/officeDocument/2006/relationships/image" Target="../media/image96.png"/><Relationship Id="rId3" Type="http://schemas.openxmlformats.org/officeDocument/2006/relationships/slideLayout" Target="../slideLayouts/slideLayout12.xml"/><Relationship Id="rId7" Type="http://schemas.openxmlformats.org/officeDocument/2006/relationships/image" Target="../media/image87.png"/><Relationship Id="rId12" Type="http://schemas.openxmlformats.org/officeDocument/2006/relationships/image" Target="../media/image90.png"/><Relationship Id="rId17" Type="http://schemas.openxmlformats.org/officeDocument/2006/relationships/image" Target="../media/image95.png"/><Relationship Id="rId2" Type="http://schemas.openxmlformats.org/officeDocument/2006/relationships/tags" Target="../tags/tag150.xml"/><Relationship Id="rId16" Type="http://schemas.openxmlformats.org/officeDocument/2006/relationships/image" Target="../media/image94.png"/><Relationship Id="rId1" Type="http://schemas.openxmlformats.org/officeDocument/2006/relationships/tags" Target="../tags/tag149.xml"/><Relationship Id="rId6" Type="http://schemas.openxmlformats.org/officeDocument/2006/relationships/image" Target="../media/image86.png"/><Relationship Id="rId11" Type="http://schemas.openxmlformats.org/officeDocument/2006/relationships/image" Target="../media/image89.png"/><Relationship Id="rId5" Type="http://schemas.openxmlformats.org/officeDocument/2006/relationships/image" Target="../media/image68.png"/><Relationship Id="rId15" Type="http://schemas.openxmlformats.org/officeDocument/2006/relationships/image" Target="../media/image93.png"/><Relationship Id="rId10" Type="http://schemas.openxmlformats.org/officeDocument/2006/relationships/image" Target="../media/image88.jpeg"/><Relationship Id="rId19" Type="http://schemas.openxmlformats.org/officeDocument/2006/relationships/image" Target="../media/image97.png"/><Relationship Id="rId4" Type="http://schemas.openxmlformats.org/officeDocument/2006/relationships/image" Target="../media/image85.png"/><Relationship Id="rId9" Type="http://schemas.openxmlformats.org/officeDocument/2006/relationships/image" Target="../media/image70.png"/><Relationship Id="rId14" Type="http://schemas.openxmlformats.org/officeDocument/2006/relationships/image" Target="../media/image92.png"/></Relationships>
</file>

<file path=ppt/slides/_rels/slide36.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98.png"/><Relationship Id="rId7" Type="http://schemas.openxmlformats.org/officeDocument/2006/relationships/image" Target="../media/image6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73.png"/><Relationship Id="rId10" Type="http://schemas.openxmlformats.org/officeDocument/2006/relationships/image" Target="../media/image77.png"/><Relationship Id="rId4" Type="http://schemas.openxmlformats.org/officeDocument/2006/relationships/image" Target="../media/image72.png"/><Relationship Id="rId9" Type="http://schemas.openxmlformats.org/officeDocument/2006/relationships/image" Target="../media/image76.png"/></Relationships>
</file>

<file path=ppt/slides/_rels/slide37.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83.png"/><Relationship Id="rId3" Type="http://schemas.openxmlformats.org/officeDocument/2006/relationships/image" Target="../media/image98.png"/><Relationship Id="rId7" Type="http://schemas.openxmlformats.org/officeDocument/2006/relationships/image" Target="../media/image68.png"/><Relationship Id="rId12" Type="http://schemas.openxmlformats.org/officeDocument/2006/relationships/image" Target="../media/image82.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77.png"/><Relationship Id="rId11" Type="http://schemas.openxmlformats.org/officeDocument/2006/relationships/image" Target="../media/image81.png"/><Relationship Id="rId5" Type="http://schemas.openxmlformats.org/officeDocument/2006/relationships/image" Target="../media/image80.png"/><Relationship Id="rId10" Type="http://schemas.openxmlformats.org/officeDocument/2006/relationships/image" Target="../media/image74.png"/><Relationship Id="rId4" Type="http://schemas.openxmlformats.org/officeDocument/2006/relationships/image" Target="../media/image79.png"/><Relationship Id="rId9" Type="http://schemas.openxmlformats.org/officeDocument/2006/relationships/image" Target="../media/image73.png"/><Relationship Id="rId14" Type="http://schemas.openxmlformats.org/officeDocument/2006/relationships/image" Target="../media/image84.png"/></Relationships>
</file>

<file path=ppt/slides/_rels/slide38.xml.rels><?xml version="1.0" encoding="UTF-8" standalone="yes"?>
<Relationships xmlns="http://schemas.openxmlformats.org/package/2006/relationships"><Relationship Id="rId8" Type="http://schemas.openxmlformats.org/officeDocument/2006/relationships/image" Target="../media/image102.png"/><Relationship Id="rId13" Type="http://schemas.openxmlformats.org/officeDocument/2006/relationships/image" Target="../media/image89.png"/><Relationship Id="rId3" Type="http://schemas.openxmlformats.org/officeDocument/2006/relationships/image" Target="../media/image99.png"/><Relationship Id="rId7" Type="http://schemas.openxmlformats.org/officeDocument/2006/relationships/image" Target="../media/image79.png"/><Relationship Id="rId12" Type="http://schemas.openxmlformats.org/officeDocument/2006/relationships/image" Target="../media/image9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01.png"/><Relationship Id="rId11" Type="http://schemas.openxmlformats.org/officeDocument/2006/relationships/image" Target="../media/image68.png"/><Relationship Id="rId5" Type="http://schemas.openxmlformats.org/officeDocument/2006/relationships/image" Target="../media/image100.png"/><Relationship Id="rId10" Type="http://schemas.openxmlformats.org/officeDocument/2006/relationships/image" Target="../media/image104.png"/><Relationship Id="rId4" Type="http://schemas.openxmlformats.org/officeDocument/2006/relationships/image" Target="../media/image81.png"/><Relationship Id="rId9" Type="http://schemas.openxmlformats.org/officeDocument/2006/relationships/image" Target="../media/image103.png"/></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1.xml"/></Relationships>
</file>

<file path=ppt/slides/_rels/slide40.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Usersad.everis.int\enterprise_files\Spain\Madrid\Proyectos\Social and Connected Business\02.- PROYECTOS\INTERNOS\WEB EVERIS - 03112016\WEB EVERIS 03112016\02 RECURSOS WEB\FOTOS UNSPLASH\photo-1456306752358-361d2583e644.jpg"/>
          <p:cNvPicPr>
            <a:picLocks noChangeAspect="1" noChangeArrowheads="1"/>
          </p:cNvPicPr>
          <p:nvPr/>
        </p:nvPicPr>
        <p:blipFill rotWithShape="1">
          <a:blip r:embed="rId2">
            <a:extLst>
              <a:ext uri="{28A0092B-C50C-407E-A947-70E740481C1C}">
                <a14:useLocalDpi xmlns:a14="http://schemas.microsoft.com/office/drawing/2010/main" val="0"/>
              </a:ext>
            </a:extLst>
          </a:blip>
          <a:srcRect l="6655" t="3230" r="4456" b="5781"/>
          <a:stretch/>
        </p:blipFill>
        <p:spPr bwMode="auto">
          <a:xfrm>
            <a:off x="0" y="-1"/>
            <a:ext cx="9906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3 Rectángulo"/>
          <p:cNvSpPr/>
          <p:nvPr/>
        </p:nvSpPr>
        <p:spPr>
          <a:xfrm>
            <a:off x="0" y="0"/>
            <a:ext cx="9906000" cy="6858000"/>
          </a:xfrm>
          <a:prstGeom prst="rect">
            <a:avLst/>
          </a:prstGeom>
          <a:solidFill>
            <a:srgbClr val="32323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 name="Title 1"/>
          <p:cNvSpPr txBox="1">
            <a:spLocks/>
          </p:cNvSpPr>
          <p:nvPr/>
        </p:nvSpPr>
        <p:spPr>
          <a:xfrm>
            <a:off x="0" y="6429687"/>
            <a:ext cx="9905999" cy="369515"/>
          </a:xfrm>
          <a:prstGeom prst="rect">
            <a:avLst/>
          </a:prstGeom>
        </p:spPr>
        <p:txBody>
          <a:bodyPr vert="horz" lIns="91440" tIns="45720" rIns="91440" bIns="45720" rtlCol="0">
            <a:noAutofit/>
          </a:bodyPr>
          <a:lstStyle>
            <a:lvl1pPr indent="0" algn="ctr">
              <a:spcBef>
                <a:spcPct val="20000"/>
              </a:spcBef>
              <a:buFont typeface="Arial" panose="020B0604020202020204" pitchFamily="34" charset="0"/>
              <a:buNone/>
              <a:defRPr>
                <a:solidFill>
                  <a:schemeClr val="bg1"/>
                </a:solidFill>
                <a:latin typeface="HelveticaNeueLT Std Lt" pitchFamily="34" charset="0"/>
              </a:defRPr>
            </a:lvl1pPr>
            <a:lvl2pPr indent="0" algn="ctr">
              <a:spcBef>
                <a:spcPct val="20000"/>
              </a:spcBef>
              <a:buFont typeface="Arial" panose="020B0604020202020204" pitchFamily="34" charset="0"/>
              <a:buNone/>
              <a:defRPr sz="2800">
                <a:solidFill>
                  <a:schemeClr val="tx1">
                    <a:tint val="75000"/>
                  </a:schemeClr>
                </a:solidFill>
              </a:defRPr>
            </a:lvl2pPr>
            <a:lvl3pPr indent="0" algn="ctr">
              <a:spcBef>
                <a:spcPct val="20000"/>
              </a:spcBef>
              <a:buFont typeface="Arial" panose="020B0604020202020204" pitchFamily="34" charset="0"/>
              <a:buNone/>
              <a:defRPr sz="2400">
                <a:solidFill>
                  <a:schemeClr val="tx1">
                    <a:tint val="75000"/>
                  </a:schemeClr>
                </a:solidFill>
              </a:defRPr>
            </a:lvl3pPr>
            <a:lvl4pPr indent="0" algn="ctr">
              <a:spcBef>
                <a:spcPct val="20000"/>
              </a:spcBef>
              <a:buFont typeface="Arial" panose="020B0604020202020204" pitchFamily="34" charset="0"/>
              <a:buNone/>
              <a:defRPr sz="2000">
                <a:solidFill>
                  <a:schemeClr val="tx1">
                    <a:tint val="75000"/>
                  </a:schemeClr>
                </a:solidFill>
              </a:defRPr>
            </a:lvl4pPr>
            <a:lvl5pPr indent="0" algn="ctr">
              <a:spcBef>
                <a:spcPct val="20000"/>
              </a:spcBef>
              <a:buFont typeface="Arial" panose="020B0604020202020204" pitchFamily="34" charset="0"/>
              <a:buNone/>
              <a:defRPr sz="2000">
                <a:solidFill>
                  <a:schemeClr val="tx1">
                    <a:tint val="75000"/>
                  </a:schemeClr>
                </a:solidFill>
              </a:defRPr>
            </a:lvl5pPr>
            <a:lvl6pPr indent="0" algn="ctr">
              <a:spcBef>
                <a:spcPct val="20000"/>
              </a:spcBef>
              <a:buFont typeface="Arial" panose="020B0604020202020204" pitchFamily="34" charset="0"/>
              <a:buNone/>
              <a:defRPr sz="2000">
                <a:solidFill>
                  <a:schemeClr val="tx1">
                    <a:tint val="75000"/>
                  </a:schemeClr>
                </a:solidFill>
              </a:defRPr>
            </a:lvl6pPr>
            <a:lvl7pPr indent="0" algn="ctr">
              <a:spcBef>
                <a:spcPct val="20000"/>
              </a:spcBef>
              <a:buFont typeface="Arial" panose="020B0604020202020204" pitchFamily="34" charset="0"/>
              <a:buNone/>
              <a:defRPr sz="2000">
                <a:solidFill>
                  <a:schemeClr val="tx1">
                    <a:tint val="75000"/>
                  </a:schemeClr>
                </a:solidFill>
              </a:defRPr>
            </a:lvl7pPr>
            <a:lvl8pPr indent="0" algn="ctr">
              <a:spcBef>
                <a:spcPct val="20000"/>
              </a:spcBef>
              <a:buFont typeface="Arial" panose="020B0604020202020204" pitchFamily="34" charset="0"/>
              <a:buNone/>
              <a:defRPr sz="2000">
                <a:solidFill>
                  <a:schemeClr val="tx1">
                    <a:tint val="75000"/>
                  </a:schemeClr>
                </a:solidFill>
              </a:defRPr>
            </a:lvl8pPr>
            <a:lvl9pPr indent="0" algn="ctr">
              <a:spcBef>
                <a:spcPct val="20000"/>
              </a:spcBef>
              <a:buFont typeface="Arial" panose="020B0604020202020204" pitchFamily="34" charset="0"/>
              <a:buNone/>
              <a:defRPr sz="2000">
                <a:solidFill>
                  <a:schemeClr val="tx1">
                    <a:tint val="75000"/>
                  </a:schemeClr>
                </a:solidFill>
              </a:defRPr>
            </a:lvl9pPr>
          </a:lstStyle>
          <a:p>
            <a:r>
              <a:rPr lang="es-ES" sz="900" dirty="0">
                <a:latin typeface="HelveticaNeueLT Std Thin" pitchFamily="34" charset="0"/>
              </a:rPr>
              <a:t>Easy Money (Change </a:t>
            </a:r>
            <a:r>
              <a:rPr lang="es-ES" sz="900" dirty="0" err="1">
                <a:latin typeface="HelveticaNeueLT Std Thin" pitchFamily="34" charset="0"/>
              </a:rPr>
              <a:t>Perspective</a:t>
            </a:r>
            <a:r>
              <a:rPr lang="es-ES" sz="900" dirty="0">
                <a:latin typeface="HelveticaNeueLT Std Thin" pitchFamily="34" charset="0"/>
              </a:rPr>
              <a:t>)</a:t>
            </a:r>
            <a:br>
              <a:rPr lang="es-ES" sz="900" dirty="0">
                <a:latin typeface="HelveticaNeueLT Std Thin" pitchFamily="34" charset="0"/>
              </a:rPr>
            </a:br>
            <a:r>
              <a:rPr lang="es-ES" sz="900" dirty="0">
                <a:latin typeface="HelveticaNeueLT Std Thin" pitchFamily="34" charset="0"/>
              </a:rPr>
              <a:t>Servicios de externalización de la gestión del CRM</a:t>
            </a:r>
            <a:endParaRPr lang="en-US" sz="900" dirty="0">
              <a:latin typeface="HelveticaNeueLT Std Thin" pitchFamily="34" charset="0"/>
            </a:endParaRPr>
          </a:p>
        </p:txBody>
      </p:sp>
      <p:grpSp>
        <p:nvGrpSpPr>
          <p:cNvPr id="6" name="5 Grupo"/>
          <p:cNvGrpSpPr/>
          <p:nvPr/>
        </p:nvGrpSpPr>
        <p:grpSpPr>
          <a:xfrm>
            <a:off x="4767086" y="5013176"/>
            <a:ext cx="371827" cy="335014"/>
            <a:chOff x="4410121" y="6138871"/>
            <a:chExt cx="602194" cy="542573"/>
          </a:xfrm>
        </p:grpSpPr>
        <p:sp>
          <p:nvSpPr>
            <p:cNvPr id="7" name="Freeform 369"/>
            <p:cNvSpPr>
              <a:spLocks/>
            </p:cNvSpPr>
            <p:nvPr/>
          </p:nvSpPr>
          <p:spPr bwMode="auto">
            <a:xfrm>
              <a:off x="4410121" y="6381328"/>
              <a:ext cx="602194" cy="300116"/>
            </a:xfrm>
            <a:custGeom>
              <a:avLst/>
              <a:gdLst>
                <a:gd name="T0" fmla="*/ 164 w 169"/>
                <a:gd name="T1" fmla="*/ 0 h 84"/>
                <a:gd name="T2" fmla="*/ 161 w 169"/>
                <a:gd name="T3" fmla="*/ 1 h 84"/>
                <a:gd name="T4" fmla="*/ 84 w 169"/>
                <a:gd name="T5" fmla="*/ 74 h 84"/>
                <a:gd name="T6" fmla="*/ 7 w 169"/>
                <a:gd name="T7" fmla="*/ 1 h 84"/>
                <a:gd name="T8" fmla="*/ 4 w 169"/>
                <a:gd name="T9" fmla="*/ 0 h 84"/>
                <a:gd name="T10" fmla="*/ 0 w 169"/>
                <a:gd name="T11" fmla="*/ 4 h 84"/>
                <a:gd name="T12" fmla="*/ 1 w 169"/>
                <a:gd name="T13" fmla="*/ 7 h 84"/>
                <a:gd name="T14" fmla="*/ 81 w 169"/>
                <a:gd name="T15" fmla="*/ 83 h 84"/>
                <a:gd name="T16" fmla="*/ 84 w 169"/>
                <a:gd name="T17" fmla="*/ 84 h 84"/>
                <a:gd name="T18" fmla="*/ 87 w 169"/>
                <a:gd name="T19" fmla="*/ 83 h 84"/>
                <a:gd name="T20" fmla="*/ 167 w 169"/>
                <a:gd name="T21" fmla="*/ 7 h 84"/>
                <a:gd name="T22" fmla="*/ 169 w 169"/>
                <a:gd name="T23" fmla="*/ 4 h 84"/>
                <a:gd name="T24" fmla="*/ 164 w 169"/>
                <a:gd name="T2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84">
                  <a:moveTo>
                    <a:pt x="164" y="0"/>
                  </a:moveTo>
                  <a:cubicBezTo>
                    <a:pt x="163" y="0"/>
                    <a:pt x="162" y="0"/>
                    <a:pt x="161" y="1"/>
                  </a:cubicBezTo>
                  <a:cubicBezTo>
                    <a:pt x="84" y="74"/>
                    <a:pt x="84" y="74"/>
                    <a:pt x="84" y="74"/>
                  </a:cubicBezTo>
                  <a:cubicBezTo>
                    <a:pt x="7" y="1"/>
                    <a:pt x="7" y="1"/>
                    <a:pt x="7" y="1"/>
                  </a:cubicBezTo>
                  <a:cubicBezTo>
                    <a:pt x="6" y="0"/>
                    <a:pt x="5" y="0"/>
                    <a:pt x="4" y="0"/>
                  </a:cubicBezTo>
                  <a:cubicBezTo>
                    <a:pt x="2" y="0"/>
                    <a:pt x="0" y="2"/>
                    <a:pt x="0" y="4"/>
                  </a:cubicBezTo>
                  <a:cubicBezTo>
                    <a:pt x="0" y="5"/>
                    <a:pt x="0" y="6"/>
                    <a:pt x="1" y="7"/>
                  </a:cubicBezTo>
                  <a:cubicBezTo>
                    <a:pt x="81" y="83"/>
                    <a:pt x="81" y="83"/>
                    <a:pt x="81" y="83"/>
                  </a:cubicBezTo>
                  <a:cubicBezTo>
                    <a:pt x="82" y="84"/>
                    <a:pt x="83" y="84"/>
                    <a:pt x="84" y="84"/>
                  </a:cubicBezTo>
                  <a:cubicBezTo>
                    <a:pt x="85" y="84"/>
                    <a:pt x="86" y="84"/>
                    <a:pt x="87" y="83"/>
                  </a:cubicBezTo>
                  <a:cubicBezTo>
                    <a:pt x="167" y="7"/>
                    <a:pt x="167" y="7"/>
                    <a:pt x="167" y="7"/>
                  </a:cubicBezTo>
                  <a:cubicBezTo>
                    <a:pt x="168" y="6"/>
                    <a:pt x="169" y="5"/>
                    <a:pt x="169" y="4"/>
                  </a:cubicBezTo>
                  <a:cubicBezTo>
                    <a:pt x="169" y="2"/>
                    <a:pt x="167" y="0"/>
                    <a:pt x="164" y="0"/>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8" name="Freeform 369"/>
            <p:cNvSpPr>
              <a:spLocks/>
            </p:cNvSpPr>
            <p:nvPr/>
          </p:nvSpPr>
          <p:spPr bwMode="auto">
            <a:xfrm>
              <a:off x="4410121" y="6138871"/>
              <a:ext cx="602194" cy="300116"/>
            </a:xfrm>
            <a:custGeom>
              <a:avLst/>
              <a:gdLst>
                <a:gd name="T0" fmla="*/ 164 w 169"/>
                <a:gd name="T1" fmla="*/ 0 h 84"/>
                <a:gd name="T2" fmla="*/ 161 w 169"/>
                <a:gd name="T3" fmla="*/ 1 h 84"/>
                <a:gd name="T4" fmla="*/ 84 w 169"/>
                <a:gd name="T5" fmla="*/ 74 h 84"/>
                <a:gd name="T6" fmla="*/ 7 w 169"/>
                <a:gd name="T7" fmla="*/ 1 h 84"/>
                <a:gd name="T8" fmla="*/ 4 w 169"/>
                <a:gd name="T9" fmla="*/ 0 h 84"/>
                <a:gd name="T10" fmla="*/ 0 w 169"/>
                <a:gd name="T11" fmla="*/ 4 h 84"/>
                <a:gd name="T12" fmla="*/ 1 w 169"/>
                <a:gd name="T13" fmla="*/ 7 h 84"/>
                <a:gd name="T14" fmla="*/ 81 w 169"/>
                <a:gd name="T15" fmla="*/ 83 h 84"/>
                <a:gd name="T16" fmla="*/ 84 w 169"/>
                <a:gd name="T17" fmla="*/ 84 h 84"/>
                <a:gd name="T18" fmla="*/ 87 w 169"/>
                <a:gd name="T19" fmla="*/ 83 h 84"/>
                <a:gd name="T20" fmla="*/ 167 w 169"/>
                <a:gd name="T21" fmla="*/ 7 h 84"/>
                <a:gd name="T22" fmla="*/ 169 w 169"/>
                <a:gd name="T23" fmla="*/ 4 h 84"/>
                <a:gd name="T24" fmla="*/ 164 w 169"/>
                <a:gd name="T2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84">
                  <a:moveTo>
                    <a:pt x="164" y="0"/>
                  </a:moveTo>
                  <a:cubicBezTo>
                    <a:pt x="163" y="0"/>
                    <a:pt x="162" y="0"/>
                    <a:pt x="161" y="1"/>
                  </a:cubicBezTo>
                  <a:cubicBezTo>
                    <a:pt x="84" y="74"/>
                    <a:pt x="84" y="74"/>
                    <a:pt x="84" y="74"/>
                  </a:cubicBezTo>
                  <a:cubicBezTo>
                    <a:pt x="7" y="1"/>
                    <a:pt x="7" y="1"/>
                    <a:pt x="7" y="1"/>
                  </a:cubicBezTo>
                  <a:cubicBezTo>
                    <a:pt x="6" y="0"/>
                    <a:pt x="5" y="0"/>
                    <a:pt x="4" y="0"/>
                  </a:cubicBezTo>
                  <a:cubicBezTo>
                    <a:pt x="2" y="0"/>
                    <a:pt x="0" y="2"/>
                    <a:pt x="0" y="4"/>
                  </a:cubicBezTo>
                  <a:cubicBezTo>
                    <a:pt x="0" y="5"/>
                    <a:pt x="0" y="6"/>
                    <a:pt x="1" y="7"/>
                  </a:cubicBezTo>
                  <a:cubicBezTo>
                    <a:pt x="81" y="83"/>
                    <a:pt x="81" y="83"/>
                    <a:pt x="81" y="83"/>
                  </a:cubicBezTo>
                  <a:cubicBezTo>
                    <a:pt x="82" y="84"/>
                    <a:pt x="83" y="84"/>
                    <a:pt x="84" y="84"/>
                  </a:cubicBezTo>
                  <a:cubicBezTo>
                    <a:pt x="85" y="84"/>
                    <a:pt x="86" y="84"/>
                    <a:pt x="87" y="83"/>
                  </a:cubicBezTo>
                  <a:cubicBezTo>
                    <a:pt x="167" y="7"/>
                    <a:pt x="167" y="7"/>
                    <a:pt x="167" y="7"/>
                  </a:cubicBezTo>
                  <a:cubicBezTo>
                    <a:pt x="168" y="6"/>
                    <a:pt x="169" y="5"/>
                    <a:pt x="169" y="4"/>
                  </a:cubicBezTo>
                  <a:cubicBezTo>
                    <a:pt x="169" y="2"/>
                    <a:pt x="167" y="0"/>
                    <a:pt x="164" y="0"/>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p>
          </p:txBody>
        </p:sp>
      </p:grpSp>
      <p:sp>
        <p:nvSpPr>
          <p:cNvPr id="9" name="Title 1"/>
          <p:cNvSpPr txBox="1">
            <a:spLocks/>
          </p:cNvSpPr>
          <p:nvPr/>
        </p:nvSpPr>
        <p:spPr>
          <a:xfrm>
            <a:off x="0" y="3284984"/>
            <a:ext cx="9906000" cy="720080"/>
          </a:xfrm>
          <a:prstGeom prst="rect">
            <a:avLst/>
          </a:prstGeom>
        </p:spPr>
        <p:txBody>
          <a:bodyPr vert="horz" lIns="91440" tIns="45720" rIns="91440" bIns="45720" rtlCol="0">
            <a:noAutofit/>
          </a:bodyPr>
          <a:lstStyle>
            <a:lvl1pPr indent="0" algn="ctr">
              <a:spcBef>
                <a:spcPct val="20000"/>
              </a:spcBef>
              <a:buFont typeface="Arial" panose="020B0604020202020204" pitchFamily="34" charset="0"/>
              <a:buNone/>
              <a:defRPr>
                <a:solidFill>
                  <a:schemeClr val="bg1"/>
                </a:solidFill>
                <a:latin typeface="HelveticaNeueLT Std Lt" pitchFamily="34" charset="0"/>
              </a:defRPr>
            </a:lvl1pPr>
            <a:lvl2pPr indent="0" algn="ctr">
              <a:spcBef>
                <a:spcPct val="20000"/>
              </a:spcBef>
              <a:buFont typeface="Arial" panose="020B0604020202020204" pitchFamily="34" charset="0"/>
              <a:buNone/>
              <a:defRPr sz="2800">
                <a:solidFill>
                  <a:schemeClr val="tx1">
                    <a:tint val="75000"/>
                  </a:schemeClr>
                </a:solidFill>
              </a:defRPr>
            </a:lvl2pPr>
            <a:lvl3pPr indent="0" algn="ctr">
              <a:spcBef>
                <a:spcPct val="20000"/>
              </a:spcBef>
              <a:buFont typeface="Arial" panose="020B0604020202020204" pitchFamily="34" charset="0"/>
              <a:buNone/>
              <a:defRPr sz="2400">
                <a:solidFill>
                  <a:schemeClr val="tx1">
                    <a:tint val="75000"/>
                  </a:schemeClr>
                </a:solidFill>
              </a:defRPr>
            </a:lvl3pPr>
            <a:lvl4pPr indent="0" algn="ctr">
              <a:spcBef>
                <a:spcPct val="20000"/>
              </a:spcBef>
              <a:buFont typeface="Arial" panose="020B0604020202020204" pitchFamily="34" charset="0"/>
              <a:buNone/>
              <a:defRPr sz="2000">
                <a:solidFill>
                  <a:schemeClr val="tx1">
                    <a:tint val="75000"/>
                  </a:schemeClr>
                </a:solidFill>
              </a:defRPr>
            </a:lvl4pPr>
            <a:lvl5pPr indent="0" algn="ctr">
              <a:spcBef>
                <a:spcPct val="20000"/>
              </a:spcBef>
              <a:buFont typeface="Arial" panose="020B0604020202020204" pitchFamily="34" charset="0"/>
              <a:buNone/>
              <a:defRPr sz="2000">
                <a:solidFill>
                  <a:schemeClr val="tx1">
                    <a:tint val="75000"/>
                  </a:schemeClr>
                </a:solidFill>
              </a:defRPr>
            </a:lvl5pPr>
            <a:lvl6pPr indent="0" algn="ctr">
              <a:spcBef>
                <a:spcPct val="20000"/>
              </a:spcBef>
              <a:buFont typeface="Arial" panose="020B0604020202020204" pitchFamily="34" charset="0"/>
              <a:buNone/>
              <a:defRPr sz="2000">
                <a:solidFill>
                  <a:schemeClr val="tx1">
                    <a:tint val="75000"/>
                  </a:schemeClr>
                </a:solidFill>
              </a:defRPr>
            </a:lvl6pPr>
            <a:lvl7pPr indent="0" algn="ctr">
              <a:spcBef>
                <a:spcPct val="20000"/>
              </a:spcBef>
              <a:buFont typeface="Arial" panose="020B0604020202020204" pitchFamily="34" charset="0"/>
              <a:buNone/>
              <a:defRPr sz="2000">
                <a:solidFill>
                  <a:schemeClr val="tx1">
                    <a:tint val="75000"/>
                  </a:schemeClr>
                </a:solidFill>
              </a:defRPr>
            </a:lvl7pPr>
            <a:lvl8pPr indent="0" algn="ctr">
              <a:spcBef>
                <a:spcPct val="20000"/>
              </a:spcBef>
              <a:buFont typeface="Arial" panose="020B0604020202020204" pitchFamily="34" charset="0"/>
              <a:buNone/>
              <a:defRPr sz="2000">
                <a:solidFill>
                  <a:schemeClr val="tx1">
                    <a:tint val="75000"/>
                  </a:schemeClr>
                </a:solidFill>
              </a:defRPr>
            </a:lvl8pPr>
            <a:lvl9pPr indent="0" algn="ctr">
              <a:spcBef>
                <a:spcPct val="20000"/>
              </a:spcBef>
              <a:buFont typeface="Arial" panose="020B0604020202020204" pitchFamily="34" charset="0"/>
              <a:buNone/>
              <a:defRPr sz="2000">
                <a:solidFill>
                  <a:schemeClr val="tx1">
                    <a:tint val="75000"/>
                  </a:schemeClr>
                </a:solidFill>
              </a:defRPr>
            </a:lvl9pPr>
          </a:lstStyle>
          <a:p>
            <a:r>
              <a:rPr lang="es-ES" sz="3600" dirty="0">
                <a:latin typeface="Corporate A BQ" panose="02000503080000020004" pitchFamily="2" charset="0"/>
              </a:rPr>
              <a:t>Easy Money</a:t>
            </a:r>
            <a:endParaRPr lang="en-US" sz="3600" dirty="0">
              <a:latin typeface="Corporate A BQ" panose="02000503080000020004" pitchFamily="2" charset="0"/>
            </a:endParaRPr>
          </a:p>
        </p:txBody>
      </p:sp>
      <p:sp>
        <p:nvSpPr>
          <p:cNvPr id="12" name="Title 1"/>
          <p:cNvSpPr txBox="1">
            <a:spLocks/>
          </p:cNvSpPr>
          <p:nvPr/>
        </p:nvSpPr>
        <p:spPr>
          <a:xfrm>
            <a:off x="0" y="3998249"/>
            <a:ext cx="9906000" cy="720080"/>
          </a:xfrm>
          <a:prstGeom prst="rect">
            <a:avLst/>
          </a:prstGeom>
        </p:spPr>
        <p:txBody>
          <a:bodyPr vert="horz" lIns="91440" tIns="45720" rIns="91440" bIns="45720" rtlCol="0">
            <a:noAutofit/>
          </a:bodyPr>
          <a:lstStyle>
            <a:lvl1pPr indent="0" algn="ctr">
              <a:spcBef>
                <a:spcPct val="20000"/>
              </a:spcBef>
              <a:buFont typeface="Arial" panose="020B0604020202020204" pitchFamily="34" charset="0"/>
              <a:buNone/>
              <a:defRPr>
                <a:solidFill>
                  <a:schemeClr val="bg1"/>
                </a:solidFill>
                <a:latin typeface="HelveticaNeueLT Std Lt" pitchFamily="34" charset="0"/>
              </a:defRPr>
            </a:lvl1pPr>
            <a:lvl2pPr indent="0" algn="ctr">
              <a:spcBef>
                <a:spcPct val="20000"/>
              </a:spcBef>
              <a:buFont typeface="Arial" panose="020B0604020202020204" pitchFamily="34" charset="0"/>
              <a:buNone/>
              <a:defRPr sz="2800">
                <a:solidFill>
                  <a:schemeClr val="tx1">
                    <a:tint val="75000"/>
                  </a:schemeClr>
                </a:solidFill>
              </a:defRPr>
            </a:lvl2pPr>
            <a:lvl3pPr indent="0" algn="ctr">
              <a:spcBef>
                <a:spcPct val="20000"/>
              </a:spcBef>
              <a:buFont typeface="Arial" panose="020B0604020202020204" pitchFamily="34" charset="0"/>
              <a:buNone/>
              <a:defRPr sz="2400">
                <a:solidFill>
                  <a:schemeClr val="tx1">
                    <a:tint val="75000"/>
                  </a:schemeClr>
                </a:solidFill>
              </a:defRPr>
            </a:lvl3pPr>
            <a:lvl4pPr indent="0" algn="ctr">
              <a:spcBef>
                <a:spcPct val="20000"/>
              </a:spcBef>
              <a:buFont typeface="Arial" panose="020B0604020202020204" pitchFamily="34" charset="0"/>
              <a:buNone/>
              <a:defRPr sz="2000">
                <a:solidFill>
                  <a:schemeClr val="tx1">
                    <a:tint val="75000"/>
                  </a:schemeClr>
                </a:solidFill>
              </a:defRPr>
            </a:lvl4pPr>
            <a:lvl5pPr indent="0" algn="ctr">
              <a:spcBef>
                <a:spcPct val="20000"/>
              </a:spcBef>
              <a:buFont typeface="Arial" panose="020B0604020202020204" pitchFamily="34" charset="0"/>
              <a:buNone/>
              <a:defRPr sz="2000">
                <a:solidFill>
                  <a:schemeClr val="tx1">
                    <a:tint val="75000"/>
                  </a:schemeClr>
                </a:solidFill>
              </a:defRPr>
            </a:lvl5pPr>
            <a:lvl6pPr indent="0" algn="ctr">
              <a:spcBef>
                <a:spcPct val="20000"/>
              </a:spcBef>
              <a:buFont typeface="Arial" panose="020B0604020202020204" pitchFamily="34" charset="0"/>
              <a:buNone/>
              <a:defRPr sz="2000">
                <a:solidFill>
                  <a:schemeClr val="tx1">
                    <a:tint val="75000"/>
                  </a:schemeClr>
                </a:solidFill>
              </a:defRPr>
            </a:lvl6pPr>
            <a:lvl7pPr indent="0" algn="ctr">
              <a:spcBef>
                <a:spcPct val="20000"/>
              </a:spcBef>
              <a:buFont typeface="Arial" panose="020B0604020202020204" pitchFamily="34" charset="0"/>
              <a:buNone/>
              <a:defRPr sz="2000">
                <a:solidFill>
                  <a:schemeClr val="tx1">
                    <a:tint val="75000"/>
                  </a:schemeClr>
                </a:solidFill>
              </a:defRPr>
            </a:lvl7pPr>
            <a:lvl8pPr indent="0" algn="ctr">
              <a:spcBef>
                <a:spcPct val="20000"/>
              </a:spcBef>
              <a:buFont typeface="Arial" panose="020B0604020202020204" pitchFamily="34" charset="0"/>
              <a:buNone/>
              <a:defRPr sz="2000">
                <a:solidFill>
                  <a:schemeClr val="tx1">
                    <a:tint val="75000"/>
                  </a:schemeClr>
                </a:solidFill>
              </a:defRPr>
            </a:lvl8pPr>
            <a:lvl9pPr indent="0" algn="ctr">
              <a:spcBef>
                <a:spcPct val="20000"/>
              </a:spcBef>
              <a:buFont typeface="Arial" panose="020B0604020202020204" pitchFamily="34" charset="0"/>
              <a:buNone/>
              <a:defRPr sz="2000">
                <a:solidFill>
                  <a:schemeClr val="tx1">
                    <a:tint val="75000"/>
                  </a:schemeClr>
                </a:solidFill>
              </a:defRPr>
            </a:lvl9pPr>
          </a:lstStyle>
          <a:p>
            <a:r>
              <a:rPr lang="en-US" sz="5000" dirty="0">
                <a:latin typeface="Master Of Break" pitchFamily="2" charset="0"/>
              </a:rPr>
              <a:t>the key is always you</a:t>
            </a:r>
          </a:p>
        </p:txBody>
      </p:sp>
    </p:spTree>
    <p:extLst>
      <p:ext uri="{BB962C8B-B14F-4D97-AF65-F5344CB8AC3E}">
        <p14:creationId xmlns:p14="http://schemas.microsoft.com/office/powerpoint/2010/main" val="2737763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jsalceda\Desktop\FOTOS WEB EVERIS\photo-1455772376404-2a908684e054.jpg"/>
          <p:cNvPicPr>
            <a:picLocks noChangeAspect="1" noChangeArrowheads="1"/>
          </p:cNvPicPr>
          <p:nvPr/>
        </p:nvPicPr>
        <p:blipFill rotWithShape="1">
          <a:blip r:embed="rId2">
            <a:extLst>
              <a:ext uri="{28A0092B-C50C-407E-A947-70E740481C1C}">
                <a14:useLocalDpi xmlns:a14="http://schemas.microsoft.com/office/drawing/2010/main" val="0"/>
              </a:ext>
            </a:extLst>
          </a:blip>
          <a:srcRect l="3977"/>
          <a:stretch/>
        </p:blipFill>
        <p:spPr bwMode="auto">
          <a:xfrm>
            <a:off x="8" y="2580"/>
            <a:ext cx="9916566" cy="68832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8"/>
          <p:cNvSpPr/>
          <p:nvPr/>
        </p:nvSpPr>
        <p:spPr>
          <a:xfrm>
            <a:off x="8" y="1"/>
            <a:ext cx="5097015" cy="6885792"/>
          </a:xfrm>
          <a:prstGeom prst="rect">
            <a:avLst/>
          </a:prstGeom>
          <a:solidFill>
            <a:schemeClr val="bg1">
              <a:alpha val="60000"/>
            </a:schemeClr>
          </a:solidFill>
          <a:ln w="25400" cap="flat" cmpd="sng" algn="ctr">
            <a:noFill/>
            <a:prstDash val="solid"/>
          </a:ln>
          <a:effectLst/>
        </p:spPr>
        <p:txBody>
          <a:bodyPr rtlCol="0" anchor="ctr"/>
          <a:lstStyle/>
          <a:p>
            <a:pPr marL="0" marR="0" lvl="0" indent="0" defTabSz="1031626"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Roboto Condensed"/>
            </a:endParaRPr>
          </a:p>
        </p:txBody>
      </p:sp>
      <p:sp>
        <p:nvSpPr>
          <p:cNvPr id="10" name="5 Marcador de texto"/>
          <p:cNvSpPr txBox="1">
            <a:spLocks/>
          </p:cNvSpPr>
          <p:nvPr/>
        </p:nvSpPr>
        <p:spPr>
          <a:xfrm>
            <a:off x="235298" y="1431015"/>
            <a:ext cx="7126903" cy="4608512"/>
          </a:xfrm>
          <a:prstGeom prst="rect">
            <a:avLst/>
          </a:prstGeom>
        </p:spPr>
        <p:txBody>
          <a:bodyPr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spcBef>
                <a:spcPts val="1200"/>
              </a:spcBef>
              <a:buClr>
                <a:srgbClr val="323232"/>
              </a:buClr>
              <a:buFont typeface="+mj-lt"/>
              <a:buAutoNum type="arabicPeriod"/>
            </a:pPr>
            <a:r>
              <a:rPr lang="es-ES" sz="1600" dirty="0">
                <a:solidFill>
                  <a:schemeClr val="tx1">
                    <a:lumMod val="85000"/>
                    <a:lumOff val="15000"/>
                  </a:schemeClr>
                </a:solidFill>
                <a:latin typeface="Avenir 35" panose="00000400000000000000" pitchFamily="2" charset="0"/>
                <a:cs typeface="Arial" panose="020B0604020202020204" pitchFamily="34" charset="0"/>
              </a:rPr>
              <a:t>Equipo y contexto de proyecto</a:t>
            </a:r>
          </a:p>
          <a:p>
            <a:pPr marL="457200" indent="-457200">
              <a:spcBef>
                <a:spcPts val="1200"/>
              </a:spcBef>
              <a:buClr>
                <a:srgbClr val="323232"/>
              </a:buClr>
              <a:buFont typeface="+mj-lt"/>
              <a:buAutoNum type="arabicPeriod"/>
            </a:pPr>
            <a:r>
              <a:rPr lang="es-ES" sz="1600" dirty="0">
                <a:solidFill>
                  <a:schemeClr val="tx1">
                    <a:lumMod val="85000"/>
                    <a:lumOff val="15000"/>
                  </a:schemeClr>
                </a:solidFill>
                <a:latin typeface="Avenir 35" panose="00000400000000000000" pitchFamily="2" charset="0"/>
                <a:cs typeface="Arial" panose="020B0604020202020204" pitchFamily="34" charset="0"/>
              </a:rPr>
              <a:t>Parte 1 | Análisis Descriptivo (</a:t>
            </a:r>
            <a:r>
              <a:rPr lang="es-ES" sz="1600" dirty="0" err="1">
                <a:solidFill>
                  <a:schemeClr val="tx1">
                    <a:lumMod val="85000"/>
                    <a:lumOff val="15000"/>
                  </a:schemeClr>
                </a:solidFill>
                <a:latin typeface="Avenir 35" panose="00000400000000000000" pitchFamily="2" charset="0"/>
                <a:cs typeface="Arial" panose="020B0604020202020204" pitchFamily="34" charset="0"/>
              </a:rPr>
              <a:t>Power</a:t>
            </a:r>
            <a:r>
              <a:rPr lang="es-ES" sz="1600" dirty="0">
                <a:solidFill>
                  <a:schemeClr val="tx1">
                    <a:lumMod val="85000"/>
                    <a:lumOff val="15000"/>
                  </a:schemeClr>
                </a:solidFill>
                <a:latin typeface="Avenir 35" panose="00000400000000000000" pitchFamily="2" charset="0"/>
                <a:cs typeface="Arial" panose="020B0604020202020204" pitchFamily="34" charset="0"/>
              </a:rPr>
              <a:t> BI)</a:t>
            </a:r>
          </a:p>
          <a:p>
            <a:pPr marL="457200" indent="-457200">
              <a:spcBef>
                <a:spcPts val="1200"/>
              </a:spcBef>
              <a:buClr>
                <a:srgbClr val="323232"/>
              </a:buClr>
              <a:buFont typeface="+mj-lt"/>
              <a:buAutoNum type="arabicPeriod"/>
            </a:pPr>
            <a:r>
              <a:rPr lang="es-ES" sz="1600" dirty="0">
                <a:solidFill>
                  <a:schemeClr val="tx1">
                    <a:lumMod val="85000"/>
                    <a:lumOff val="15000"/>
                  </a:schemeClr>
                </a:solidFill>
                <a:latin typeface="Avenir 35" panose="00000400000000000000" pitchFamily="2" charset="0"/>
                <a:cs typeface="Arial" panose="020B0604020202020204" pitchFamily="34" charset="0"/>
              </a:rPr>
              <a:t>Parte 2 | </a:t>
            </a:r>
            <a:r>
              <a:rPr lang="es-ES" sz="1600" dirty="0" err="1">
                <a:solidFill>
                  <a:schemeClr val="tx1">
                    <a:lumMod val="85000"/>
                    <a:lumOff val="15000"/>
                  </a:schemeClr>
                </a:solidFill>
                <a:latin typeface="Avenir 35" panose="00000400000000000000" pitchFamily="2" charset="0"/>
                <a:cs typeface="Arial" panose="020B0604020202020204" pitchFamily="34" charset="0"/>
              </a:rPr>
              <a:t>Clusterización</a:t>
            </a:r>
            <a:endParaRPr lang="es-ES" sz="1600" dirty="0">
              <a:solidFill>
                <a:schemeClr val="tx1">
                  <a:lumMod val="85000"/>
                  <a:lumOff val="15000"/>
                </a:schemeClr>
              </a:solidFill>
              <a:latin typeface="Avenir 35" panose="00000400000000000000" pitchFamily="2" charset="0"/>
              <a:cs typeface="Arial" panose="020B0604020202020204" pitchFamily="34" charset="0"/>
            </a:endParaRPr>
          </a:p>
          <a:p>
            <a:pPr marL="457200" indent="-457200">
              <a:spcBef>
                <a:spcPts val="1200"/>
              </a:spcBef>
              <a:buClr>
                <a:srgbClr val="323232"/>
              </a:buClr>
              <a:buFont typeface="+mj-lt"/>
              <a:buAutoNum type="arabicPeriod"/>
            </a:pPr>
            <a:r>
              <a:rPr lang="es-ES" sz="1600" dirty="0">
                <a:solidFill>
                  <a:schemeClr val="tx1">
                    <a:lumMod val="85000"/>
                    <a:lumOff val="15000"/>
                  </a:schemeClr>
                </a:solidFill>
                <a:latin typeface="Avenir 35" panose="00000400000000000000" pitchFamily="2" charset="0"/>
                <a:cs typeface="Arial" panose="020B0604020202020204" pitchFamily="34" charset="0"/>
              </a:rPr>
              <a:t>Parte 3 | Modelo de Propensión</a:t>
            </a:r>
          </a:p>
          <a:p>
            <a:pPr marL="457200" indent="-457200">
              <a:spcBef>
                <a:spcPts val="1200"/>
              </a:spcBef>
              <a:buClr>
                <a:srgbClr val="323232"/>
              </a:buClr>
              <a:buFont typeface="+mj-lt"/>
              <a:buAutoNum type="arabicPeriod"/>
            </a:pPr>
            <a:r>
              <a:rPr lang="es-ES" sz="1600" dirty="0">
                <a:solidFill>
                  <a:schemeClr val="tx1">
                    <a:lumMod val="85000"/>
                    <a:lumOff val="15000"/>
                  </a:schemeClr>
                </a:solidFill>
                <a:latin typeface="Avenir 35" panose="00000400000000000000" pitchFamily="2" charset="0"/>
                <a:cs typeface="Arial" panose="020B0604020202020204" pitchFamily="34" charset="0"/>
              </a:rPr>
              <a:t>Parte 4 | Entregable de Toma de Decisiones</a:t>
            </a:r>
          </a:p>
          <a:p>
            <a:pPr marL="457200" indent="-457200">
              <a:spcBef>
                <a:spcPts val="1200"/>
              </a:spcBef>
              <a:buClr>
                <a:srgbClr val="323232"/>
              </a:buClr>
              <a:buFont typeface="+mj-lt"/>
              <a:buAutoNum type="arabicPeriod"/>
            </a:pPr>
            <a:r>
              <a:rPr lang="es-ES" sz="1600" dirty="0">
                <a:solidFill>
                  <a:schemeClr val="tx1">
                    <a:lumMod val="85000"/>
                    <a:lumOff val="15000"/>
                  </a:schemeClr>
                </a:solidFill>
                <a:latin typeface="Avenir 35" panose="00000400000000000000" pitchFamily="2" charset="0"/>
                <a:cs typeface="Arial" panose="020B0604020202020204" pitchFamily="34" charset="0"/>
              </a:rPr>
              <a:t>Valor Diferencial</a:t>
            </a:r>
          </a:p>
          <a:p>
            <a:pPr marL="457200" indent="-457200">
              <a:spcBef>
                <a:spcPts val="1200"/>
              </a:spcBef>
              <a:buClr>
                <a:srgbClr val="AAB900"/>
              </a:buClr>
              <a:buFont typeface="+mj-lt"/>
              <a:buAutoNum type="arabicPeriod"/>
            </a:pPr>
            <a:endParaRPr lang="es-ES" sz="1600" dirty="0">
              <a:solidFill>
                <a:srgbClr val="000000">
                  <a:lumMod val="65000"/>
                  <a:lumOff val="35000"/>
                </a:srgbClr>
              </a:solidFill>
              <a:latin typeface="HelveticaNeueLT Std Thin" pitchFamily="34" charset="0"/>
              <a:cs typeface="Arial" panose="020B0604020202020204" pitchFamily="34" charset="0"/>
            </a:endParaRPr>
          </a:p>
        </p:txBody>
      </p:sp>
      <p:sp>
        <p:nvSpPr>
          <p:cNvPr id="11" name="5 Marcador de texto"/>
          <p:cNvSpPr txBox="1">
            <a:spLocks/>
          </p:cNvSpPr>
          <p:nvPr/>
        </p:nvSpPr>
        <p:spPr>
          <a:xfrm>
            <a:off x="1505172" y="404678"/>
            <a:ext cx="1755445" cy="38130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1200"/>
              </a:spcBef>
              <a:buClr>
                <a:srgbClr val="323232"/>
              </a:buClr>
              <a:buNone/>
            </a:pPr>
            <a:r>
              <a:rPr lang="es-ES" sz="1800" dirty="0">
                <a:solidFill>
                  <a:schemeClr val="tx1">
                    <a:lumMod val="85000"/>
                    <a:lumOff val="15000"/>
                  </a:schemeClr>
                </a:solidFill>
                <a:latin typeface="Avenir 35" panose="00000400000000000000" pitchFamily="2" charset="0"/>
                <a:cs typeface="Arial" panose="020B0604020202020204" pitchFamily="34" charset="0"/>
              </a:rPr>
              <a:t>ÍNDICE</a:t>
            </a:r>
          </a:p>
          <a:p>
            <a:pPr marL="0" indent="0" algn="ctr">
              <a:spcBef>
                <a:spcPts val="1200"/>
              </a:spcBef>
              <a:buClr>
                <a:srgbClr val="AAB900"/>
              </a:buClr>
              <a:buNone/>
            </a:pPr>
            <a:endParaRPr lang="es-ES" sz="1800" dirty="0">
              <a:solidFill>
                <a:srgbClr val="000000">
                  <a:lumMod val="65000"/>
                  <a:lumOff val="35000"/>
                </a:srgbClr>
              </a:solidFill>
              <a:latin typeface="HelveticaNeueLT Std Thin" pitchFamily="34" charset="0"/>
              <a:cs typeface="Arial" panose="020B0604020202020204" pitchFamily="34" charset="0"/>
            </a:endParaRPr>
          </a:p>
        </p:txBody>
      </p:sp>
      <p:cxnSp>
        <p:nvCxnSpPr>
          <p:cNvPr id="12" name="11 Conector recto"/>
          <p:cNvCxnSpPr/>
          <p:nvPr/>
        </p:nvCxnSpPr>
        <p:spPr>
          <a:xfrm>
            <a:off x="1505172" y="785967"/>
            <a:ext cx="1755445" cy="0"/>
          </a:xfrm>
          <a:prstGeom prst="line">
            <a:avLst/>
          </a:prstGeom>
          <a:ln>
            <a:solidFill>
              <a:srgbClr val="323232"/>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7297440" y="6381328"/>
            <a:ext cx="2608560" cy="369515"/>
          </a:xfrm>
          <a:prstGeom prst="rect">
            <a:avLst/>
          </a:prstGeom>
        </p:spPr>
        <p:txBody>
          <a:bodyPr vert="horz" lIns="91440" tIns="45720" rIns="91440" bIns="45720" rtlCol="0">
            <a:noAutofit/>
          </a:bodyPr>
          <a:lstStyle>
            <a:lvl1pPr indent="0" algn="ctr">
              <a:spcBef>
                <a:spcPct val="20000"/>
              </a:spcBef>
              <a:buFont typeface="Arial" panose="020B0604020202020204" pitchFamily="34" charset="0"/>
              <a:buNone/>
              <a:defRPr>
                <a:solidFill>
                  <a:schemeClr val="bg1"/>
                </a:solidFill>
                <a:latin typeface="HelveticaNeueLT Std Lt" pitchFamily="34" charset="0"/>
              </a:defRPr>
            </a:lvl1pPr>
            <a:lvl2pPr indent="0" algn="ctr">
              <a:spcBef>
                <a:spcPct val="20000"/>
              </a:spcBef>
              <a:buFont typeface="Arial" panose="020B0604020202020204" pitchFamily="34" charset="0"/>
              <a:buNone/>
              <a:defRPr sz="2800">
                <a:solidFill>
                  <a:schemeClr val="tx1">
                    <a:tint val="75000"/>
                  </a:schemeClr>
                </a:solidFill>
              </a:defRPr>
            </a:lvl2pPr>
            <a:lvl3pPr indent="0" algn="ctr">
              <a:spcBef>
                <a:spcPct val="20000"/>
              </a:spcBef>
              <a:buFont typeface="Arial" panose="020B0604020202020204" pitchFamily="34" charset="0"/>
              <a:buNone/>
              <a:defRPr sz="2400">
                <a:solidFill>
                  <a:schemeClr val="tx1">
                    <a:tint val="75000"/>
                  </a:schemeClr>
                </a:solidFill>
              </a:defRPr>
            </a:lvl3pPr>
            <a:lvl4pPr indent="0" algn="ctr">
              <a:spcBef>
                <a:spcPct val="20000"/>
              </a:spcBef>
              <a:buFont typeface="Arial" panose="020B0604020202020204" pitchFamily="34" charset="0"/>
              <a:buNone/>
              <a:defRPr sz="2000">
                <a:solidFill>
                  <a:schemeClr val="tx1">
                    <a:tint val="75000"/>
                  </a:schemeClr>
                </a:solidFill>
              </a:defRPr>
            </a:lvl4pPr>
            <a:lvl5pPr indent="0" algn="ctr">
              <a:spcBef>
                <a:spcPct val="20000"/>
              </a:spcBef>
              <a:buFont typeface="Arial" panose="020B0604020202020204" pitchFamily="34" charset="0"/>
              <a:buNone/>
              <a:defRPr sz="2000">
                <a:solidFill>
                  <a:schemeClr val="tx1">
                    <a:tint val="75000"/>
                  </a:schemeClr>
                </a:solidFill>
              </a:defRPr>
            </a:lvl5pPr>
            <a:lvl6pPr indent="0" algn="ctr">
              <a:spcBef>
                <a:spcPct val="20000"/>
              </a:spcBef>
              <a:buFont typeface="Arial" panose="020B0604020202020204" pitchFamily="34" charset="0"/>
              <a:buNone/>
              <a:defRPr sz="2000">
                <a:solidFill>
                  <a:schemeClr val="tx1">
                    <a:tint val="75000"/>
                  </a:schemeClr>
                </a:solidFill>
              </a:defRPr>
            </a:lvl6pPr>
            <a:lvl7pPr indent="0" algn="ctr">
              <a:spcBef>
                <a:spcPct val="20000"/>
              </a:spcBef>
              <a:buFont typeface="Arial" panose="020B0604020202020204" pitchFamily="34" charset="0"/>
              <a:buNone/>
              <a:defRPr sz="2000">
                <a:solidFill>
                  <a:schemeClr val="tx1">
                    <a:tint val="75000"/>
                  </a:schemeClr>
                </a:solidFill>
              </a:defRPr>
            </a:lvl7pPr>
            <a:lvl8pPr indent="0" algn="ctr">
              <a:spcBef>
                <a:spcPct val="20000"/>
              </a:spcBef>
              <a:buFont typeface="Arial" panose="020B0604020202020204" pitchFamily="34" charset="0"/>
              <a:buNone/>
              <a:defRPr sz="2000">
                <a:solidFill>
                  <a:schemeClr val="tx1">
                    <a:tint val="75000"/>
                  </a:schemeClr>
                </a:solidFill>
              </a:defRPr>
            </a:lvl8pPr>
            <a:lvl9pPr indent="0" algn="ctr">
              <a:spcBef>
                <a:spcPct val="20000"/>
              </a:spcBef>
              <a:buFont typeface="Arial" panose="020B0604020202020204" pitchFamily="34" charset="0"/>
              <a:buNone/>
              <a:defRPr sz="2000">
                <a:solidFill>
                  <a:schemeClr val="tx1">
                    <a:tint val="75000"/>
                  </a:schemeClr>
                </a:solidFill>
              </a:defRPr>
            </a:lvl9pPr>
          </a:lstStyle>
          <a:p>
            <a:r>
              <a:rPr lang="en-US" sz="2000" dirty="0">
                <a:latin typeface="Master Of Break" pitchFamily="2" charset="0"/>
              </a:rPr>
              <a:t>the key is always you</a:t>
            </a:r>
          </a:p>
        </p:txBody>
      </p:sp>
      <p:sp>
        <p:nvSpPr>
          <p:cNvPr id="14"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2</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3502182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Usersad.everis.int\enterprise_files\Spain\Madrid\Proyectos\Social and Connected Business\02.- PROYECTOS\INTERNOS\WEB EVERIS - 03112016\WEB EVERIS 03112016\02 RECURSOS WEB\FOTOS UNSPLASH\photo-1448669621193-934ab544b94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66675"/>
            <a:ext cx="10287000" cy="69913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p:cNvSpPr/>
          <p:nvPr/>
        </p:nvSpPr>
        <p:spPr>
          <a:xfrm rot="2700000">
            <a:off x="3208413" y="2964164"/>
            <a:ext cx="3489172" cy="3489172"/>
          </a:xfrm>
          <a:prstGeom prst="rect">
            <a:avLst/>
          </a:prstGeom>
          <a:solidFill>
            <a:srgbClr val="323232">
              <a:alpha val="69804"/>
            </a:srgbClr>
          </a:solidFill>
          <a:ln w="1016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3"/>
          <p:cNvSpPr/>
          <p:nvPr/>
        </p:nvSpPr>
        <p:spPr>
          <a:xfrm rot="2700000">
            <a:off x="3767257" y="322606"/>
            <a:ext cx="2371484" cy="2371484"/>
          </a:xfrm>
          <a:prstGeom prst="rect">
            <a:avLst/>
          </a:prstGeom>
          <a:solidFill>
            <a:srgbClr val="323232">
              <a:alpha val="40000"/>
            </a:srgb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5"/>
          <p:cNvCxnSpPr/>
          <p:nvPr/>
        </p:nvCxnSpPr>
        <p:spPr>
          <a:xfrm>
            <a:off x="4668511" y="5163935"/>
            <a:ext cx="56454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8 Rectángulo"/>
          <p:cNvSpPr/>
          <p:nvPr/>
        </p:nvSpPr>
        <p:spPr>
          <a:xfrm>
            <a:off x="2847644" y="4524096"/>
            <a:ext cx="3977564" cy="461665"/>
          </a:xfrm>
          <a:prstGeom prst="rect">
            <a:avLst/>
          </a:prstGeom>
        </p:spPr>
        <p:txBody>
          <a:bodyPr wrap="none">
            <a:spAutoFit/>
          </a:bodyPr>
          <a:lstStyle/>
          <a:p>
            <a:pPr>
              <a:spcBef>
                <a:spcPts val="1200"/>
              </a:spcBef>
              <a:buClr>
                <a:srgbClr val="323232"/>
              </a:buClr>
            </a:pPr>
            <a:r>
              <a:rPr lang="es-ES" sz="2400" dirty="0">
                <a:solidFill>
                  <a:schemeClr val="bg1"/>
                </a:solidFill>
                <a:latin typeface="Avenir 35" panose="00000400000000000000" pitchFamily="2" charset="0"/>
                <a:cs typeface="Arial" panose="020B0604020202020204" pitchFamily="34" charset="0"/>
              </a:rPr>
              <a:t>Equipo y contexto de proyecto</a:t>
            </a:r>
          </a:p>
        </p:txBody>
      </p:sp>
      <p:sp>
        <p:nvSpPr>
          <p:cNvPr id="5" name="Rectangle 2"/>
          <p:cNvSpPr/>
          <p:nvPr/>
        </p:nvSpPr>
        <p:spPr>
          <a:xfrm rot="2700000">
            <a:off x="4356670" y="2050713"/>
            <a:ext cx="1192658" cy="1192658"/>
          </a:xfrm>
          <a:prstGeom prst="rect">
            <a:avLst/>
          </a:prstGeom>
          <a:noFill/>
          <a:ln w="1016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12 Rectángulo"/>
          <p:cNvSpPr/>
          <p:nvPr/>
        </p:nvSpPr>
        <p:spPr>
          <a:xfrm>
            <a:off x="4728767" y="2429412"/>
            <a:ext cx="428322" cy="584775"/>
          </a:xfrm>
          <a:prstGeom prst="rect">
            <a:avLst/>
          </a:prstGeom>
        </p:spPr>
        <p:txBody>
          <a:bodyPr wrap="none">
            <a:spAutoFit/>
          </a:bodyPr>
          <a:lstStyle/>
          <a:p>
            <a:pPr>
              <a:spcBef>
                <a:spcPts val="1200"/>
              </a:spcBef>
              <a:buClr>
                <a:srgbClr val="323232"/>
              </a:buClr>
            </a:pPr>
            <a:r>
              <a:rPr lang="es-ES" sz="3200" b="1" dirty="0">
                <a:solidFill>
                  <a:schemeClr val="bg1"/>
                </a:solidFill>
                <a:latin typeface="Avenir 65" panose="02000600000000000000" pitchFamily="2" charset="0"/>
                <a:cs typeface="Arial" panose="020B0604020202020204" pitchFamily="34" charset="0"/>
              </a:rPr>
              <a:t>1</a:t>
            </a:r>
          </a:p>
        </p:txBody>
      </p:sp>
      <p:sp>
        <p:nvSpPr>
          <p:cNvPr id="10" name="Title 1"/>
          <p:cNvSpPr txBox="1">
            <a:spLocks/>
          </p:cNvSpPr>
          <p:nvPr/>
        </p:nvSpPr>
        <p:spPr>
          <a:xfrm>
            <a:off x="7297440" y="6381328"/>
            <a:ext cx="2608560" cy="369515"/>
          </a:xfrm>
          <a:prstGeom prst="rect">
            <a:avLst/>
          </a:prstGeom>
        </p:spPr>
        <p:txBody>
          <a:bodyPr vert="horz" lIns="91440" tIns="45720" rIns="91440" bIns="45720" rtlCol="0">
            <a:noAutofit/>
          </a:bodyPr>
          <a:lstStyle>
            <a:lvl1pPr indent="0" algn="ctr">
              <a:spcBef>
                <a:spcPct val="20000"/>
              </a:spcBef>
              <a:buFont typeface="Arial" panose="020B0604020202020204" pitchFamily="34" charset="0"/>
              <a:buNone/>
              <a:defRPr>
                <a:solidFill>
                  <a:schemeClr val="bg1"/>
                </a:solidFill>
                <a:latin typeface="HelveticaNeueLT Std Lt" pitchFamily="34" charset="0"/>
              </a:defRPr>
            </a:lvl1pPr>
            <a:lvl2pPr indent="0" algn="ctr">
              <a:spcBef>
                <a:spcPct val="20000"/>
              </a:spcBef>
              <a:buFont typeface="Arial" panose="020B0604020202020204" pitchFamily="34" charset="0"/>
              <a:buNone/>
              <a:defRPr sz="2800">
                <a:solidFill>
                  <a:schemeClr val="tx1">
                    <a:tint val="75000"/>
                  </a:schemeClr>
                </a:solidFill>
              </a:defRPr>
            </a:lvl2pPr>
            <a:lvl3pPr indent="0" algn="ctr">
              <a:spcBef>
                <a:spcPct val="20000"/>
              </a:spcBef>
              <a:buFont typeface="Arial" panose="020B0604020202020204" pitchFamily="34" charset="0"/>
              <a:buNone/>
              <a:defRPr sz="2400">
                <a:solidFill>
                  <a:schemeClr val="tx1">
                    <a:tint val="75000"/>
                  </a:schemeClr>
                </a:solidFill>
              </a:defRPr>
            </a:lvl3pPr>
            <a:lvl4pPr indent="0" algn="ctr">
              <a:spcBef>
                <a:spcPct val="20000"/>
              </a:spcBef>
              <a:buFont typeface="Arial" panose="020B0604020202020204" pitchFamily="34" charset="0"/>
              <a:buNone/>
              <a:defRPr sz="2000">
                <a:solidFill>
                  <a:schemeClr val="tx1">
                    <a:tint val="75000"/>
                  </a:schemeClr>
                </a:solidFill>
              </a:defRPr>
            </a:lvl4pPr>
            <a:lvl5pPr indent="0" algn="ctr">
              <a:spcBef>
                <a:spcPct val="20000"/>
              </a:spcBef>
              <a:buFont typeface="Arial" panose="020B0604020202020204" pitchFamily="34" charset="0"/>
              <a:buNone/>
              <a:defRPr sz="2000">
                <a:solidFill>
                  <a:schemeClr val="tx1">
                    <a:tint val="75000"/>
                  </a:schemeClr>
                </a:solidFill>
              </a:defRPr>
            </a:lvl5pPr>
            <a:lvl6pPr indent="0" algn="ctr">
              <a:spcBef>
                <a:spcPct val="20000"/>
              </a:spcBef>
              <a:buFont typeface="Arial" panose="020B0604020202020204" pitchFamily="34" charset="0"/>
              <a:buNone/>
              <a:defRPr sz="2000">
                <a:solidFill>
                  <a:schemeClr val="tx1">
                    <a:tint val="75000"/>
                  </a:schemeClr>
                </a:solidFill>
              </a:defRPr>
            </a:lvl6pPr>
            <a:lvl7pPr indent="0" algn="ctr">
              <a:spcBef>
                <a:spcPct val="20000"/>
              </a:spcBef>
              <a:buFont typeface="Arial" panose="020B0604020202020204" pitchFamily="34" charset="0"/>
              <a:buNone/>
              <a:defRPr sz="2000">
                <a:solidFill>
                  <a:schemeClr val="tx1">
                    <a:tint val="75000"/>
                  </a:schemeClr>
                </a:solidFill>
              </a:defRPr>
            </a:lvl7pPr>
            <a:lvl8pPr indent="0" algn="ctr">
              <a:spcBef>
                <a:spcPct val="20000"/>
              </a:spcBef>
              <a:buFont typeface="Arial" panose="020B0604020202020204" pitchFamily="34" charset="0"/>
              <a:buNone/>
              <a:defRPr sz="2000">
                <a:solidFill>
                  <a:schemeClr val="tx1">
                    <a:tint val="75000"/>
                  </a:schemeClr>
                </a:solidFill>
              </a:defRPr>
            </a:lvl8pPr>
            <a:lvl9pPr indent="0" algn="ctr">
              <a:spcBef>
                <a:spcPct val="20000"/>
              </a:spcBef>
              <a:buFont typeface="Arial" panose="020B0604020202020204" pitchFamily="34" charset="0"/>
              <a:buNone/>
              <a:defRPr sz="2000">
                <a:solidFill>
                  <a:schemeClr val="tx1">
                    <a:tint val="75000"/>
                  </a:schemeClr>
                </a:solidFill>
              </a:defRPr>
            </a:lvl9pPr>
          </a:lstStyle>
          <a:p>
            <a:r>
              <a:rPr lang="es-ES" sz="2000" dirty="0">
                <a:latin typeface="Master Of Break" pitchFamily="2" charset="0"/>
              </a:rPr>
              <a:t>the key is always you</a:t>
            </a:r>
            <a:endParaRPr lang="en-US" sz="2000" dirty="0">
              <a:latin typeface="Master Of Break" pitchFamily="2" charset="0"/>
            </a:endParaRPr>
          </a:p>
        </p:txBody>
      </p:sp>
      <p:sp>
        <p:nvSpPr>
          <p:cNvPr id="11"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3</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3901939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6 CuadroTexto"/>
          <p:cNvSpPr txBox="1"/>
          <p:nvPr/>
        </p:nvSpPr>
        <p:spPr>
          <a:xfrm>
            <a:off x="632521" y="414018"/>
            <a:ext cx="8660261" cy="400110"/>
          </a:xfrm>
          <a:prstGeom prst="rect">
            <a:avLst/>
          </a:prstGeom>
          <a:noFill/>
        </p:spPr>
        <p:txBody>
          <a:bodyPr wrap="square" rtlCol="0">
            <a:spAutoFit/>
          </a:bodyPr>
          <a:lstStyle/>
          <a:p>
            <a:pPr algn="ctr"/>
            <a:r>
              <a:rPr lang="es-ES" sz="2000" dirty="0">
                <a:solidFill>
                  <a:srgbClr val="323232"/>
                </a:solidFill>
                <a:latin typeface="Avenir 65" panose="02000600000000000000" pitchFamily="2" charset="0"/>
              </a:rPr>
              <a:t>Credenciales del equipo</a:t>
            </a:r>
            <a:endParaRPr lang="es-ES" sz="1400" dirty="0">
              <a:solidFill>
                <a:srgbClr val="323232"/>
              </a:solidFill>
              <a:latin typeface="Avenir 65" panose="02000600000000000000" pitchFamily="2" charset="0"/>
            </a:endParaRPr>
          </a:p>
        </p:txBody>
      </p:sp>
      <p:sp>
        <p:nvSpPr>
          <p:cNvPr id="67"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pPr marL="457200" indent="-457200">
              <a:spcBef>
                <a:spcPts val="1200"/>
              </a:spcBef>
              <a:buClr>
                <a:srgbClr val="323232"/>
              </a:buClr>
              <a:buFont typeface="+mj-lt"/>
              <a:buAutoNum type="arabicPeriod"/>
            </a:pPr>
            <a:r>
              <a:rPr lang="es-ES" dirty="0">
                <a:solidFill>
                  <a:schemeClr val="tx1">
                    <a:lumMod val="85000"/>
                    <a:lumOff val="15000"/>
                  </a:schemeClr>
                </a:solidFill>
                <a:latin typeface="Avenir 35" panose="00000400000000000000" pitchFamily="2" charset="0"/>
                <a:cs typeface="Arial" panose="020B0604020202020204" pitchFamily="34" charset="0"/>
              </a:rPr>
              <a:t>Equipo y contexto de proyecto</a:t>
            </a:r>
          </a:p>
        </p:txBody>
      </p:sp>
      <p:sp>
        <p:nvSpPr>
          <p:cNvPr id="75" name="TextBox 2"/>
          <p:cNvSpPr txBox="1"/>
          <p:nvPr/>
        </p:nvSpPr>
        <p:spPr>
          <a:xfrm>
            <a:off x="632529" y="827087"/>
            <a:ext cx="8660261" cy="400110"/>
          </a:xfrm>
          <a:prstGeom prst="rect">
            <a:avLst/>
          </a:prstGeom>
          <a:noFill/>
        </p:spPr>
        <p:txBody>
          <a:bodyPr wrap="square" rtlCol="0">
            <a:spAutoFit/>
          </a:bodyPr>
          <a:lstStyle/>
          <a:p>
            <a:pPr algn="ctr" defTabSz="914120"/>
            <a:r>
              <a:rPr lang="es-ES" sz="1000" dirty="0">
                <a:solidFill>
                  <a:srgbClr val="323232"/>
                </a:solidFill>
                <a:latin typeface="Avenir 35" panose="00000400000000000000" pitchFamily="2" charset="0"/>
              </a:rPr>
              <a:t>El  Grupo 6 es un equipo disciplinar con diferentes capacidades técnicas y no técnicas, siendo la mejor alternativa para su banco. Nuestras credenciales como consultores son las siguientes.</a:t>
            </a:r>
            <a:endParaRPr lang="es-ES" sz="1000" b="1" dirty="0">
              <a:solidFill>
                <a:srgbClr val="323232"/>
              </a:solidFill>
              <a:latin typeface="Avenir 35" panose="00000400000000000000" pitchFamily="2" charset="0"/>
            </a:endParaRPr>
          </a:p>
        </p:txBody>
      </p:sp>
      <p:sp>
        <p:nvSpPr>
          <p:cNvPr id="36"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4</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2830811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9" name="Picture 3" descr="\\Usersad.everis.int\enterprise_files\Spain\Madrid\Proyectos\Social and Connected Business\02.- PROYECTOS\INTERNOS\WEB EVERIS - 03112016\WEB EVERIS 03112016\02 RECURSOS WEB\FOTOS UNSPLASH\photo-1424296308064-1eead03d1ad9.jpg"/>
          <p:cNvPicPr>
            <a:picLocks noChangeAspect="1" noChangeArrowheads="1"/>
          </p:cNvPicPr>
          <p:nvPr/>
        </p:nvPicPr>
        <p:blipFill rotWithShape="1">
          <a:blip r:embed="rId4">
            <a:extLst>
              <a:ext uri="{28A0092B-C50C-407E-A947-70E740481C1C}">
                <a14:useLocalDpi xmlns:a14="http://schemas.microsoft.com/office/drawing/2010/main" val="0"/>
              </a:ext>
            </a:extLst>
          </a:blip>
          <a:srcRect l="2738" t="36970" r="814" b="25708"/>
          <a:stretch/>
        </p:blipFill>
        <p:spPr bwMode="auto">
          <a:xfrm>
            <a:off x="-15731" y="1692200"/>
            <a:ext cx="9921732" cy="2559562"/>
          </a:xfrm>
          <a:prstGeom prst="rect">
            <a:avLst/>
          </a:prstGeom>
          <a:noFill/>
          <a:extLst>
            <a:ext uri="{909E8E84-426E-40DD-AFC4-6F175D3DCCD1}">
              <a14:hiddenFill xmlns:a14="http://schemas.microsoft.com/office/drawing/2010/main">
                <a:solidFill>
                  <a:srgbClr val="FFFFFF"/>
                </a:solidFill>
              </a14:hiddenFill>
            </a:ext>
          </a:extLst>
        </p:spPr>
      </p:pic>
      <p:sp>
        <p:nvSpPr>
          <p:cNvPr id="255" name="254 Rectángulo"/>
          <p:cNvSpPr/>
          <p:nvPr/>
        </p:nvSpPr>
        <p:spPr>
          <a:xfrm>
            <a:off x="-15731" y="1692200"/>
            <a:ext cx="9938823" cy="2559562"/>
          </a:xfrm>
          <a:prstGeom prst="rect">
            <a:avLst/>
          </a:prstGeom>
          <a:solidFill>
            <a:srgbClr val="323232">
              <a:alpha val="60000"/>
            </a:srgbClr>
          </a:solidFill>
          <a:ln w="12700" cap="flat" cmpd="sng" algn="ctr">
            <a:noFill/>
            <a:prstDash val="solid"/>
            <a:miter lim="800000"/>
          </a:ln>
          <a:effectLst/>
        </p:spPr>
        <p:txBody>
          <a:bodyPr rtlCol="0" anchor="ctr"/>
          <a:lstStyle/>
          <a:p>
            <a:pPr algn="ctr"/>
            <a:endParaRPr lang="en-US" sz="1350" kern="0" dirty="0">
              <a:solidFill>
                <a:schemeClr val="bg1"/>
              </a:solidFill>
              <a:latin typeface="Avenir 35" panose="00000400000000000000" pitchFamily="2" charset="0"/>
              <a:sym typeface="Calibri"/>
            </a:endParaRPr>
          </a:p>
        </p:txBody>
      </p:sp>
      <p:grpSp>
        <p:nvGrpSpPr>
          <p:cNvPr id="5" name="4 Grupo"/>
          <p:cNvGrpSpPr/>
          <p:nvPr/>
        </p:nvGrpSpPr>
        <p:grpSpPr>
          <a:xfrm>
            <a:off x="150649" y="2576704"/>
            <a:ext cx="2522251" cy="1361911"/>
            <a:chOff x="771342" y="2204864"/>
            <a:chExt cx="2328232" cy="1361911"/>
          </a:xfrm>
        </p:grpSpPr>
        <p:sp>
          <p:nvSpPr>
            <p:cNvPr id="22" name="TextBox 25"/>
            <p:cNvSpPr txBox="1"/>
            <p:nvPr/>
          </p:nvSpPr>
          <p:spPr>
            <a:xfrm>
              <a:off x="771342" y="2781945"/>
              <a:ext cx="2328232" cy="784830"/>
            </a:xfrm>
            <a:prstGeom prst="rect">
              <a:avLst/>
            </a:prstGeom>
            <a:noFill/>
          </p:spPr>
          <p:txBody>
            <a:bodyPr wrap="square" rtlCol="0">
              <a:spAutoFit/>
            </a:bodyPr>
            <a:lstStyle/>
            <a:p>
              <a:pPr algn="ctr">
                <a:defRPr/>
              </a:pPr>
              <a:r>
                <a:rPr lang="es-ES" sz="900" kern="0" dirty="0">
                  <a:solidFill>
                    <a:schemeClr val="bg1"/>
                  </a:solidFill>
                  <a:latin typeface="Avenir 35" panose="00000400000000000000" pitchFamily="2" charset="0"/>
                  <a:sym typeface="Calibri"/>
                </a:rPr>
                <a:t>Después de unos años de crisis económica global, con una feroz competitividad que se tradujo en un declive progresivo en ventas y en un recorte gradual de los precios, se ha pasado a una fase de recuperación</a:t>
              </a:r>
              <a:endParaRPr lang="en-US" sz="900" b="1" kern="0" dirty="0">
                <a:solidFill>
                  <a:schemeClr val="bg1"/>
                </a:solidFill>
                <a:latin typeface="Avenir 35" panose="00000400000000000000" pitchFamily="2" charset="0"/>
                <a:sym typeface="Calibri"/>
              </a:endParaRPr>
            </a:p>
          </p:txBody>
        </p:sp>
        <p:sp>
          <p:nvSpPr>
            <p:cNvPr id="29" name="TextBox 26"/>
            <p:cNvSpPr txBox="1"/>
            <p:nvPr/>
          </p:nvSpPr>
          <p:spPr>
            <a:xfrm>
              <a:off x="1148842" y="2204864"/>
              <a:ext cx="1589730" cy="600164"/>
            </a:xfrm>
            <a:prstGeom prst="rect">
              <a:avLst/>
            </a:prstGeom>
            <a:noFill/>
          </p:spPr>
          <p:txBody>
            <a:bodyPr wrap="square" rtlCol="0">
              <a:spAutoFit/>
            </a:bodyPr>
            <a:lstStyle/>
            <a:p>
              <a:pPr algn="ctr">
                <a:defRPr/>
              </a:pPr>
              <a:r>
                <a:rPr lang="es-ES" sz="1100" b="1" kern="0" dirty="0">
                  <a:solidFill>
                    <a:schemeClr val="bg1"/>
                  </a:solidFill>
                  <a:latin typeface="Avenir 65" panose="02000600000000000000" pitchFamily="2" charset="0"/>
                  <a:sym typeface="Calibri"/>
                </a:rPr>
                <a:t>MERCADO </a:t>
              </a:r>
            </a:p>
            <a:p>
              <a:pPr algn="ctr">
                <a:defRPr/>
              </a:pPr>
              <a:r>
                <a:rPr lang="es-ES" sz="1100" b="1" kern="0" dirty="0">
                  <a:solidFill>
                    <a:schemeClr val="bg1"/>
                  </a:solidFill>
                  <a:latin typeface="Avenir 65" panose="02000600000000000000" pitchFamily="2" charset="0"/>
                  <a:sym typeface="Calibri"/>
                </a:rPr>
                <a:t>AUTOMOVILÍSTICO EN RECUPERACIÓN</a:t>
              </a:r>
              <a:endParaRPr lang="id-ID" sz="1100" b="1" kern="0" dirty="0">
                <a:solidFill>
                  <a:schemeClr val="bg1"/>
                </a:solidFill>
                <a:latin typeface="Avenir 65" panose="02000600000000000000" pitchFamily="2" charset="0"/>
                <a:sym typeface="Calibri"/>
              </a:endParaRPr>
            </a:p>
          </p:txBody>
        </p:sp>
      </p:grpSp>
      <p:grpSp>
        <p:nvGrpSpPr>
          <p:cNvPr id="128" name="127 Grupo"/>
          <p:cNvGrpSpPr/>
          <p:nvPr/>
        </p:nvGrpSpPr>
        <p:grpSpPr>
          <a:xfrm>
            <a:off x="2661472" y="2553761"/>
            <a:ext cx="2262250" cy="1223412"/>
            <a:chOff x="899592" y="2204864"/>
            <a:chExt cx="2088231" cy="1223412"/>
          </a:xfrm>
        </p:grpSpPr>
        <p:sp>
          <p:nvSpPr>
            <p:cNvPr id="130" name="TextBox 25"/>
            <p:cNvSpPr txBox="1"/>
            <p:nvPr/>
          </p:nvSpPr>
          <p:spPr>
            <a:xfrm>
              <a:off x="899592" y="2781945"/>
              <a:ext cx="2088231" cy="646331"/>
            </a:xfrm>
            <a:prstGeom prst="rect">
              <a:avLst/>
            </a:prstGeom>
            <a:noFill/>
          </p:spPr>
          <p:txBody>
            <a:bodyPr wrap="square" rtlCol="0">
              <a:spAutoFit/>
            </a:bodyPr>
            <a:lstStyle/>
            <a:p>
              <a:pPr algn="ctr">
                <a:defRPr/>
              </a:pPr>
              <a:r>
                <a:rPr lang="es-ES" sz="900" kern="0" dirty="0">
                  <a:solidFill>
                    <a:schemeClr val="bg1"/>
                  </a:solidFill>
                  <a:latin typeface="Avenir 35" panose="00000400000000000000" pitchFamily="2" charset="0"/>
                  <a:sym typeface="Calibri"/>
                </a:rPr>
                <a:t>Ampliación del tiempo de decisión de compra del cliente e influencia de numerosas fuentes, principalmente plataformas digitales</a:t>
              </a:r>
              <a:endParaRPr lang="en-US" sz="900" kern="0" dirty="0">
                <a:solidFill>
                  <a:schemeClr val="bg1"/>
                </a:solidFill>
                <a:latin typeface="Avenir 35" panose="00000400000000000000" pitchFamily="2" charset="0"/>
                <a:sym typeface="Calibri"/>
              </a:endParaRPr>
            </a:p>
          </p:txBody>
        </p:sp>
        <p:sp>
          <p:nvSpPr>
            <p:cNvPr id="131" name="TextBox 26"/>
            <p:cNvSpPr txBox="1"/>
            <p:nvPr/>
          </p:nvSpPr>
          <p:spPr>
            <a:xfrm>
              <a:off x="1148842" y="2204864"/>
              <a:ext cx="1589730" cy="600164"/>
            </a:xfrm>
            <a:prstGeom prst="rect">
              <a:avLst/>
            </a:prstGeom>
            <a:noFill/>
          </p:spPr>
          <p:txBody>
            <a:bodyPr wrap="square" rtlCol="0">
              <a:spAutoFit/>
            </a:bodyPr>
            <a:lstStyle/>
            <a:p>
              <a:pPr algn="ctr">
                <a:defRPr/>
              </a:pPr>
              <a:r>
                <a:rPr lang="es-ES" sz="1100" b="1" kern="0" dirty="0">
                  <a:solidFill>
                    <a:schemeClr val="bg1"/>
                  </a:solidFill>
                  <a:latin typeface="Avenir 65" panose="02000600000000000000" pitchFamily="2" charset="0"/>
                  <a:sym typeface="Calibri"/>
                </a:rPr>
                <a:t>PROFUNDO CAMBIO EN LA CONDUCTA DEL CONSUMIDOR</a:t>
              </a:r>
              <a:endParaRPr lang="id-ID" sz="1100" b="1" kern="0" dirty="0">
                <a:solidFill>
                  <a:schemeClr val="bg1"/>
                </a:solidFill>
                <a:latin typeface="Avenir 65" panose="02000600000000000000" pitchFamily="2" charset="0"/>
                <a:sym typeface="Calibri"/>
              </a:endParaRPr>
            </a:p>
          </p:txBody>
        </p:sp>
      </p:grpSp>
      <p:grpSp>
        <p:nvGrpSpPr>
          <p:cNvPr id="132" name="131 Grupo"/>
          <p:cNvGrpSpPr/>
          <p:nvPr/>
        </p:nvGrpSpPr>
        <p:grpSpPr>
          <a:xfrm>
            <a:off x="5056220" y="2591372"/>
            <a:ext cx="2262250" cy="1208748"/>
            <a:chOff x="899592" y="2219528"/>
            <a:chExt cx="2088231" cy="1208748"/>
          </a:xfrm>
        </p:grpSpPr>
        <p:sp>
          <p:nvSpPr>
            <p:cNvPr id="134" name="TextBox 25"/>
            <p:cNvSpPr txBox="1"/>
            <p:nvPr/>
          </p:nvSpPr>
          <p:spPr>
            <a:xfrm>
              <a:off x="899592" y="2781945"/>
              <a:ext cx="2088231" cy="646331"/>
            </a:xfrm>
            <a:prstGeom prst="rect">
              <a:avLst/>
            </a:prstGeom>
            <a:noFill/>
          </p:spPr>
          <p:txBody>
            <a:bodyPr wrap="square" rtlCol="0">
              <a:spAutoFit/>
            </a:bodyPr>
            <a:lstStyle/>
            <a:p>
              <a:pPr algn="ctr"/>
              <a:r>
                <a:rPr lang="es-ES" sz="900" kern="0" dirty="0">
                  <a:solidFill>
                    <a:schemeClr val="bg1"/>
                  </a:solidFill>
                  <a:latin typeface="Avenir 35" panose="00000400000000000000" pitchFamily="2" charset="0"/>
                  <a:sym typeface="Calibri"/>
                </a:rPr>
                <a:t>Los consumidores no solo usan los canales online para informarse, sino que también pretenden seguir haciéndolo a lo largo de toda su relación con la marca</a:t>
              </a:r>
              <a:endParaRPr lang="en-US" sz="900" kern="0" dirty="0">
                <a:solidFill>
                  <a:schemeClr val="bg1"/>
                </a:solidFill>
                <a:latin typeface="Avenir 35" panose="00000400000000000000" pitchFamily="2" charset="0"/>
                <a:sym typeface="Calibri"/>
              </a:endParaRPr>
            </a:p>
          </p:txBody>
        </p:sp>
        <p:sp>
          <p:nvSpPr>
            <p:cNvPr id="135" name="TextBox 26"/>
            <p:cNvSpPr txBox="1"/>
            <p:nvPr/>
          </p:nvSpPr>
          <p:spPr>
            <a:xfrm>
              <a:off x="1148842" y="2219528"/>
              <a:ext cx="1589730" cy="430887"/>
            </a:xfrm>
            <a:prstGeom prst="rect">
              <a:avLst/>
            </a:prstGeom>
            <a:noFill/>
          </p:spPr>
          <p:txBody>
            <a:bodyPr wrap="square" rtlCol="0">
              <a:spAutoFit/>
            </a:bodyPr>
            <a:lstStyle/>
            <a:p>
              <a:pPr algn="ctr">
                <a:defRPr/>
              </a:pPr>
              <a:r>
                <a:rPr lang="es-ES" sz="1100" b="1" kern="0" dirty="0">
                  <a:solidFill>
                    <a:schemeClr val="bg1"/>
                  </a:solidFill>
                  <a:latin typeface="Avenir 65" panose="02000600000000000000" pitchFamily="2" charset="0"/>
                  <a:sym typeface="Calibri"/>
                </a:rPr>
                <a:t>DIGITALIZACIÓN DEL CUSTOMER JOURNEY</a:t>
              </a:r>
              <a:endParaRPr lang="id-ID" sz="1100" b="1" kern="0" dirty="0">
                <a:solidFill>
                  <a:schemeClr val="bg1"/>
                </a:solidFill>
                <a:latin typeface="Avenir 65" panose="02000600000000000000" pitchFamily="2" charset="0"/>
                <a:sym typeface="Calibri"/>
              </a:endParaRPr>
            </a:p>
          </p:txBody>
        </p:sp>
      </p:grpSp>
      <p:grpSp>
        <p:nvGrpSpPr>
          <p:cNvPr id="136" name="135 Grupo"/>
          <p:cNvGrpSpPr/>
          <p:nvPr/>
        </p:nvGrpSpPr>
        <p:grpSpPr>
          <a:xfrm>
            <a:off x="7439526" y="2591372"/>
            <a:ext cx="2262250" cy="1347247"/>
            <a:chOff x="899592" y="2219528"/>
            <a:chExt cx="2088231" cy="1347247"/>
          </a:xfrm>
        </p:grpSpPr>
        <p:sp>
          <p:nvSpPr>
            <p:cNvPr id="138" name="TextBox 25"/>
            <p:cNvSpPr txBox="1"/>
            <p:nvPr/>
          </p:nvSpPr>
          <p:spPr>
            <a:xfrm>
              <a:off x="899592" y="2781945"/>
              <a:ext cx="2088231" cy="784830"/>
            </a:xfrm>
            <a:prstGeom prst="rect">
              <a:avLst/>
            </a:prstGeom>
            <a:noFill/>
          </p:spPr>
          <p:txBody>
            <a:bodyPr wrap="square" rtlCol="0">
              <a:spAutoFit/>
            </a:bodyPr>
            <a:lstStyle/>
            <a:p>
              <a:pPr algn="ctr">
                <a:defRPr/>
              </a:pPr>
              <a:r>
                <a:rPr lang="es-ES" sz="900" kern="0" dirty="0">
                  <a:solidFill>
                    <a:schemeClr val="bg1"/>
                  </a:solidFill>
                  <a:latin typeface="Avenir 35" panose="00000400000000000000" pitchFamily="2" charset="0"/>
                  <a:sym typeface="Calibri"/>
                </a:rPr>
                <a:t>El número de visitas al dealer se ha incrementado notablemente, requiriendo que deje de ser un vendedor para convertirse en un embajador de la marca</a:t>
              </a:r>
              <a:endParaRPr lang="en-US" sz="900" kern="0" dirty="0">
                <a:solidFill>
                  <a:schemeClr val="bg1"/>
                </a:solidFill>
                <a:latin typeface="Avenir 35" panose="00000400000000000000" pitchFamily="2" charset="0"/>
                <a:sym typeface="Calibri"/>
              </a:endParaRPr>
            </a:p>
          </p:txBody>
        </p:sp>
        <p:sp>
          <p:nvSpPr>
            <p:cNvPr id="139" name="TextBox 26"/>
            <p:cNvSpPr txBox="1"/>
            <p:nvPr/>
          </p:nvSpPr>
          <p:spPr>
            <a:xfrm>
              <a:off x="1116891" y="2219528"/>
              <a:ext cx="1589730" cy="430887"/>
            </a:xfrm>
            <a:prstGeom prst="rect">
              <a:avLst/>
            </a:prstGeom>
            <a:noFill/>
          </p:spPr>
          <p:txBody>
            <a:bodyPr wrap="square" rtlCol="0">
              <a:spAutoFit/>
            </a:bodyPr>
            <a:lstStyle/>
            <a:p>
              <a:pPr algn="ctr">
                <a:defRPr/>
              </a:pPr>
              <a:r>
                <a:rPr lang="es-ES" sz="1100" b="1" kern="0" dirty="0">
                  <a:solidFill>
                    <a:schemeClr val="bg1"/>
                  </a:solidFill>
                  <a:latin typeface="Avenir 65" panose="02000600000000000000" pitchFamily="2" charset="0"/>
                  <a:sym typeface="Calibri"/>
                </a:rPr>
                <a:t>EVOLUCIÓN DEL ROL DEL DEALER</a:t>
              </a:r>
              <a:endParaRPr lang="id-ID" sz="1100" b="1" kern="0" dirty="0">
                <a:solidFill>
                  <a:schemeClr val="bg1"/>
                </a:solidFill>
                <a:latin typeface="Avenir 65" panose="02000600000000000000" pitchFamily="2" charset="0"/>
                <a:sym typeface="Calibri"/>
              </a:endParaRPr>
            </a:p>
          </p:txBody>
        </p:sp>
      </p:grpSp>
      <p:grpSp>
        <p:nvGrpSpPr>
          <p:cNvPr id="140" name="139 Grupo"/>
          <p:cNvGrpSpPr/>
          <p:nvPr/>
        </p:nvGrpSpPr>
        <p:grpSpPr>
          <a:xfrm>
            <a:off x="116465" y="4983481"/>
            <a:ext cx="2522251" cy="1281120"/>
            <a:chOff x="771342" y="2285655"/>
            <a:chExt cx="2328232" cy="1281120"/>
          </a:xfrm>
        </p:grpSpPr>
        <p:sp>
          <p:nvSpPr>
            <p:cNvPr id="142" name="TextBox 25"/>
            <p:cNvSpPr txBox="1"/>
            <p:nvPr/>
          </p:nvSpPr>
          <p:spPr>
            <a:xfrm>
              <a:off x="771342" y="2781945"/>
              <a:ext cx="2328232" cy="784830"/>
            </a:xfrm>
            <a:prstGeom prst="rect">
              <a:avLst/>
            </a:prstGeom>
            <a:noFill/>
          </p:spPr>
          <p:txBody>
            <a:bodyPr wrap="square" rtlCol="0">
              <a:spAutoFit/>
            </a:bodyPr>
            <a:lstStyle/>
            <a:p>
              <a:pPr algn="ctr">
                <a:defRPr/>
              </a:pPr>
              <a:r>
                <a:rPr lang="es-ES" sz="900" kern="0" dirty="0">
                  <a:solidFill>
                    <a:srgbClr val="3A3838"/>
                  </a:solidFill>
                  <a:latin typeface="Avenir 35" panose="00000400000000000000" pitchFamily="2" charset="0"/>
                  <a:sym typeface="Calibri"/>
                </a:rPr>
                <a:t>El incremento en la media de edad de los parques automovilísticos fuerza a las empresas a proveer satisfactoriamente servicios Post-Venta para alcanzar la lealtad a través de todo el ciclo de vida del cliente</a:t>
              </a:r>
              <a:endParaRPr lang="en-US" sz="900" b="1" kern="0" dirty="0">
                <a:solidFill>
                  <a:srgbClr val="3A3838"/>
                </a:solidFill>
                <a:latin typeface="Avenir 35" panose="00000400000000000000" pitchFamily="2" charset="0"/>
                <a:sym typeface="Calibri"/>
              </a:endParaRPr>
            </a:p>
          </p:txBody>
        </p:sp>
        <p:sp>
          <p:nvSpPr>
            <p:cNvPr id="143" name="TextBox 26"/>
            <p:cNvSpPr txBox="1"/>
            <p:nvPr/>
          </p:nvSpPr>
          <p:spPr>
            <a:xfrm>
              <a:off x="899591" y="2285655"/>
              <a:ext cx="2088232" cy="415498"/>
            </a:xfrm>
            <a:prstGeom prst="rect">
              <a:avLst/>
            </a:prstGeom>
            <a:noFill/>
          </p:spPr>
          <p:txBody>
            <a:bodyPr wrap="square" rtlCol="0">
              <a:spAutoFit/>
            </a:bodyPr>
            <a:lstStyle/>
            <a:p>
              <a:pPr algn="ctr">
                <a:defRPr/>
              </a:pPr>
              <a:r>
                <a:rPr lang="es-ES" sz="1050" b="1" kern="0" dirty="0">
                  <a:solidFill>
                    <a:srgbClr val="323232"/>
                  </a:solidFill>
                  <a:latin typeface="Avenir 65" panose="02000600000000000000" pitchFamily="2" charset="0"/>
                  <a:sym typeface="Calibri"/>
                </a:rPr>
                <a:t>INCREMENTO DE RELEVANCIA EN LOS SERVICIOS POSVENTA</a:t>
              </a:r>
              <a:endParaRPr lang="id-ID" sz="1050" b="1" kern="0" dirty="0">
                <a:solidFill>
                  <a:srgbClr val="323232"/>
                </a:solidFill>
                <a:latin typeface="Avenir 65" panose="02000600000000000000" pitchFamily="2" charset="0"/>
                <a:sym typeface="Calibri"/>
              </a:endParaRPr>
            </a:p>
          </p:txBody>
        </p:sp>
      </p:grpSp>
      <p:grpSp>
        <p:nvGrpSpPr>
          <p:cNvPr id="144" name="143 Grupo"/>
          <p:cNvGrpSpPr/>
          <p:nvPr/>
        </p:nvGrpSpPr>
        <p:grpSpPr>
          <a:xfrm>
            <a:off x="2638720" y="4902690"/>
            <a:ext cx="2262250" cy="1323439"/>
            <a:chOff x="899592" y="2204864"/>
            <a:chExt cx="2088231" cy="1323439"/>
          </a:xfrm>
        </p:grpSpPr>
        <p:sp>
          <p:nvSpPr>
            <p:cNvPr id="146" name="TextBox 25"/>
            <p:cNvSpPr txBox="1"/>
            <p:nvPr/>
          </p:nvSpPr>
          <p:spPr>
            <a:xfrm>
              <a:off x="899592" y="2781945"/>
              <a:ext cx="2088231" cy="746358"/>
            </a:xfrm>
            <a:prstGeom prst="rect">
              <a:avLst/>
            </a:prstGeom>
            <a:noFill/>
          </p:spPr>
          <p:txBody>
            <a:bodyPr wrap="square" rtlCol="0">
              <a:spAutoFit/>
            </a:bodyPr>
            <a:lstStyle/>
            <a:p>
              <a:pPr algn="ctr"/>
              <a:r>
                <a:rPr lang="es-ES" sz="850" kern="0" dirty="0">
                  <a:solidFill>
                    <a:srgbClr val="3A3838"/>
                  </a:solidFill>
                  <a:latin typeface="Avenir 35" panose="00000400000000000000" pitchFamily="2" charset="0"/>
                  <a:sym typeface="Calibri"/>
                </a:rPr>
                <a:t>Es crucial para las empresas conocer mejor a sus clientes para así poder lanzar acciones más enfocadas a su target y con mayor efectividad, basándose en Business Analytics</a:t>
              </a:r>
              <a:endParaRPr lang="en-US" sz="850" kern="0" dirty="0">
                <a:solidFill>
                  <a:srgbClr val="3A3838"/>
                </a:solidFill>
                <a:latin typeface="Avenir 35" panose="00000400000000000000" pitchFamily="2" charset="0"/>
                <a:sym typeface="Calibri"/>
              </a:endParaRPr>
            </a:p>
          </p:txBody>
        </p:sp>
        <p:sp>
          <p:nvSpPr>
            <p:cNvPr id="147" name="TextBox 26"/>
            <p:cNvSpPr txBox="1"/>
            <p:nvPr/>
          </p:nvSpPr>
          <p:spPr>
            <a:xfrm>
              <a:off x="1148842" y="2204864"/>
              <a:ext cx="1589730" cy="577081"/>
            </a:xfrm>
            <a:prstGeom prst="rect">
              <a:avLst/>
            </a:prstGeom>
            <a:noFill/>
          </p:spPr>
          <p:txBody>
            <a:bodyPr wrap="square" rtlCol="0">
              <a:spAutoFit/>
            </a:bodyPr>
            <a:lstStyle/>
            <a:p>
              <a:pPr algn="ctr">
                <a:defRPr/>
              </a:pPr>
              <a:r>
                <a:rPr lang="es-ES" sz="1050" b="1" kern="0" dirty="0">
                  <a:solidFill>
                    <a:srgbClr val="323232"/>
                  </a:solidFill>
                  <a:latin typeface="Avenir 65" panose="02000600000000000000" pitchFamily="2" charset="0"/>
                  <a:sym typeface="Calibri"/>
                </a:rPr>
                <a:t>LA IMPORTANCIA DE CONOCER AL CONSUMIDOR</a:t>
              </a:r>
              <a:endParaRPr lang="id-ID" sz="1050" b="1" kern="0" dirty="0">
                <a:solidFill>
                  <a:srgbClr val="323232"/>
                </a:solidFill>
                <a:latin typeface="Avenir 65" panose="02000600000000000000" pitchFamily="2" charset="0"/>
                <a:sym typeface="Calibri"/>
              </a:endParaRPr>
            </a:p>
          </p:txBody>
        </p:sp>
      </p:grpSp>
      <p:grpSp>
        <p:nvGrpSpPr>
          <p:cNvPr id="148" name="147 Grupo"/>
          <p:cNvGrpSpPr/>
          <p:nvPr/>
        </p:nvGrpSpPr>
        <p:grpSpPr>
          <a:xfrm>
            <a:off x="5022036" y="4915591"/>
            <a:ext cx="2262250" cy="1310539"/>
            <a:chOff x="899592" y="2217764"/>
            <a:chExt cx="2088231" cy="1310539"/>
          </a:xfrm>
        </p:grpSpPr>
        <p:sp>
          <p:nvSpPr>
            <p:cNvPr id="150" name="TextBox 25"/>
            <p:cNvSpPr txBox="1"/>
            <p:nvPr/>
          </p:nvSpPr>
          <p:spPr>
            <a:xfrm>
              <a:off x="899592" y="2781945"/>
              <a:ext cx="2088231" cy="746358"/>
            </a:xfrm>
            <a:prstGeom prst="rect">
              <a:avLst/>
            </a:prstGeom>
            <a:noFill/>
          </p:spPr>
          <p:txBody>
            <a:bodyPr wrap="square" rtlCol="0">
              <a:spAutoFit/>
            </a:bodyPr>
            <a:lstStyle/>
            <a:p>
              <a:pPr algn="ctr">
                <a:defRPr/>
              </a:pPr>
              <a:r>
                <a:rPr lang="es-ES" sz="850" kern="0" dirty="0">
                  <a:solidFill>
                    <a:srgbClr val="3A3838"/>
                  </a:solidFill>
                  <a:latin typeface="Avenir 35" panose="00000400000000000000" pitchFamily="2" charset="0"/>
                  <a:sym typeface="Calibri"/>
                </a:rPr>
                <a:t>“Poseer un coche” ya no es la prioridad en la mente de muchos jóvenes clientes, lo que empuja a las marcas automovilísticas a ofrecerles alternativas inteligentes de servicios y soluciones de movilidad.</a:t>
              </a:r>
              <a:endParaRPr lang="en-US" sz="850" kern="0" dirty="0">
                <a:solidFill>
                  <a:srgbClr val="3A3838"/>
                </a:solidFill>
                <a:latin typeface="Avenir 35" panose="00000400000000000000" pitchFamily="2" charset="0"/>
                <a:sym typeface="Calibri"/>
              </a:endParaRPr>
            </a:p>
          </p:txBody>
        </p:sp>
        <p:sp>
          <p:nvSpPr>
            <p:cNvPr id="151" name="TextBox 26"/>
            <p:cNvSpPr txBox="1"/>
            <p:nvPr/>
          </p:nvSpPr>
          <p:spPr>
            <a:xfrm>
              <a:off x="1162164" y="2217764"/>
              <a:ext cx="1589730" cy="577081"/>
            </a:xfrm>
            <a:prstGeom prst="rect">
              <a:avLst/>
            </a:prstGeom>
            <a:noFill/>
          </p:spPr>
          <p:txBody>
            <a:bodyPr wrap="square" rtlCol="0">
              <a:spAutoFit/>
            </a:bodyPr>
            <a:lstStyle/>
            <a:p>
              <a:pPr algn="ctr">
                <a:defRPr/>
              </a:pPr>
              <a:r>
                <a:rPr lang="es-ES" sz="1050" b="1" kern="0" dirty="0">
                  <a:solidFill>
                    <a:srgbClr val="323232"/>
                  </a:solidFill>
                  <a:latin typeface="Avenir 65" panose="02000600000000000000" pitchFamily="2" charset="0"/>
                  <a:sym typeface="Calibri"/>
                </a:rPr>
                <a:t>EL CAMBIO HACIA EL USO DEL COCHE COMO UN SERVICIO</a:t>
              </a:r>
              <a:endParaRPr lang="id-ID" sz="1050" b="1" kern="0" dirty="0">
                <a:solidFill>
                  <a:srgbClr val="323232"/>
                </a:solidFill>
                <a:latin typeface="Avenir 65" panose="02000600000000000000" pitchFamily="2" charset="0"/>
                <a:sym typeface="Calibri"/>
              </a:endParaRPr>
            </a:p>
          </p:txBody>
        </p:sp>
      </p:grpSp>
      <p:grpSp>
        <p:nvGrpSpPr>
          <p:cNvPr id="152" name="151 Grupo"/>
          <p:cNvGrpSpPr/>
          <p:nvPr/>
        </p:nvGrpSpPr>
        <p:grpSpPr>
          <a:xfrm>
            <a:off x="7405342" y="4983482"/>
            <a:ext cx="2262250" cy="1373445"/>
            <a:chOff x="899592" y="2285663"/>
            <a:chExt cx="2088231" cy="1373445"/>
          </a:xfrm>
        </p:grpSpPr>
        <p:sp>
          <p:nvSpPr>
            <p:cNvPr id="154" name="TextBox 25"/>
            <p:cNvSpPr txBox="1"/>
            <p:nvPr/>
          </p:nvSpPr>
          <p:spPr>
            <a:xfrm>
              <a:off x="899592" y="2781945"/>
              <a:ext cx="2088231" cy="877163"/>
            </a:xfrm>
            <a:prstGeom prst="rect">
              <a:avLst/>
            </a:prstGeom>
            <a:noFill/>
          </p:spPr>
          <p:txBody>
            <a:bodyPr wrap="square" rtlCol="0">
              <a:spAutoFit/>
            </a:bodyPr>
            <a:lstStyle/>
            <a:p>
              <a:pPr algn="ctr">
                <a:defRPr/>
              </a:pPr>
              <a:r>
                <a:rPr lang="es-ES" sz="850" kern="0" dirty="0">
                  <a:solidFill>
                    <a:srgbClr val="3A3838"/>
                  </a:solidFill>
                  <a:latin typeface="Avenir 35" panose="00000400000000000000" pitchFamily="2" charset="0"/>
                  <a:sym typeface="Calibri"/>
                </a:rPr>
                <a:t>Considerando que la conciencia medioambiental es una prioridad clave para un elevado grupo de consumidores, las empresas deben producir coches environmentally friendly (híbridos eléctricos…)</a:t>
              </a:r>
              <a:endParaRPr lang="en-US" sz="850" kern="0" dirty="0">
                <a:solidFill>
                  <a:srgbClr val="3A3838"/>
                </a:solidFill>
                <a:latin typeface="Avenir 35" panose="00000400000000000000" pitchFamily="2" charset="0"/>
                <a:sym typeface="Calibri"/>
              </a:endParaRPr>
            </a:p>
          </p:txBody>
        </p:sp>
        <p:sp>
          <p:nvSpPr>
            <p:cNvPr id="155" name="TextBox 26"/>
            <p:cNvSpPr txBox="1"/>
            <p:nvPr/>
          </p:nvSpPr>
          <p:spPr>
            <a:xfrm>
              <a:off x="1148842" y="2285663"/>
              <a:ext cx="1589730" cy="415498"/>
            </a:xfrm>
            <a:prstGeom prst="rect">
              <a:avLst/>
            </a:prstGeom>
            <a:noFill/>
          </p:spPr>
          <p:txBody>
            <a:bodyPr wrap="square" rtlCol="0">
              <a:spAutoFit/>
            </a:bodyPr>
            <a:lstStyle/>
            <a:p>
              <a:pPr algn="ctr">
                <a:defRPr/>
              </a:pPr>
              <a:r>
                <a:rPr lang="es-ES" sz="1050" b="1" kern="0" dirty="0">
                  <a:solidFill>
                    <a:srgbClr val="323232"/>
                  </a:solidFill>
                  <a:latin typeface="Avenir 65" panose="02000600000000000000" pitchFamily="2" charset="0"/>
                  <a:sym typeface="Calibri"/>
                </a:rPr>
                <a:t>CONCIENCIA MEDIOAMBIENTAL</a:t>
              </a:r>
              <a:endParaRPr lang="id-ID" sz="1050" b="1" kern="0" dirty="0">
                <a:solidFill>
                  <a:srgbClr val="323232"/>
                </a:solidFill>
                <a:latin typeface="Avenir 65" panose="02000600000000000000" pitchFamily="2" charset="0"/>
                <a:sym typeface="Calibri"/>
              </a:endParaRPr>
            </a:p>
          </p:txBody>
        </p:sp>
      </p:grpSp>
      <p:sp>
        <p:nvSpPr>
          <p:cNvPr id="94" name="AutoShape 4"/>
          <p:cNvSpPr>
            <a:spLocks noChangeArrowheads="1"/>
          </p:cNvSpPr>
          <p:nvPr>
            <p:custDataLst>
              <p:tags r:id="rId1"/>
            </p:custDataLst>
          </p:nvPr>
        </p:nvSpPr>
        <p:spPr bwMode="auto">
          <a:xfrm>
            <a:off x="435258" y="836712"/>
            <a:ext cx="9019755" cy="596860"/>
          </a:xfrm>
          <a:prstGeom prst="roundRect">
            <a:avLst>
              <a:gd name="adj" fmla="val 12500"/>
            </a:avLst>
          </a:prstGeom>
          <a:noFill/>
        </p:spPr>
        <p:txBody>
          <a:bodyPr wrap="square" rtlCol="0">
            <a:spAutoFit/>
          </a:bodyPr>
          <a:lstStyle/>
          <a:p>
            <a:pPr algn="ctr" defTabSz="914120"/>
            <a:r>
              <a:rPr lang="es-ES" sz="1000" b="1" dirty="0">
                <a:solidFill>
                  <a:srgbClr val="323232"/>
                </a:solidFill>
                <a:latin typeface="Avenir 65" panose="02000600000000000000" pitchFamily="2" charset="0"/>
                <a:sym typeface="Calibri"/>
              </a:rPr>
              <a:t>Grandes Tendencias:</a:t>
            </a:r>
          </a:p>
          <a:p>
            <a:pPr algn="ctr" defTabSz="914120"/>
            <a:r>
              <a:rPr lang="es-ES" sz="1000" dirty="0">
                <a:solidFill>
                  <a:srgbClr val="323232"/>
                </a:solidFill>
                <a:latin typeface="Avenir 35" panose="00000400000000000000" pitchFamily="2" charset="0"/>
                <a:sym typeface="Calibri"/>
              </a:rPr>
              <a:t>En línea con el resto de sectores, el sector automovilístico está experimentando también una transformación sin precedentes que ha convertido un escenario competitivo en una realidad altamente exigente.</a:t>
            </a:r>
          </a:p>
        </p:txBody>
      </p:sp>
      <p:grpSp>
        <p:nvGrpSpPr>
          <p:cNvPr id="182" name="Group 5"/>
          <p:cNvGrpSpPr/>
          <p:nvPr/>
        </p:nvGrpSpPr>
        <p:grpSpPr>
          <a:xfrm>
            <a:off x="5882570" y="4505272"/>
            <a:ext cx="541182" cy="240526"/>
            <a:chOff x="915599" y="5523981"/>
            <a:chExt cx="1469109" cy="707350"/>
          </a:xfrm>
          <a:noFill/>
        </p:grpSpPr>
        <p:sp>
          <p:nvSpPr>
            <p:cNvPr id="183" name="Freeform 104"/>
            <p:cNvSpPr>
              <a:spLocks noEditPoints="1"/>
            </p:cNvSpPr>
            <p:nvPr/>
          </p:nvSpPr>
          <p:spPr bwMode="auto">
            <a:xfrm>
              <a:off x="915599" y="5523981"/>
              <a:ext cx="1469109" cy="636052"/>
            </a:xfrm>
            <a:custGeom>
              <a:avLst/>
              <a:gdLst>
                <a:gd name="T0" fmla="*/ 331 w 331"/>
                <a:gd name="T1" fmla="*/ 140 h 143"/>
                <a:gd name="T2" fmla="*/ 302 w 331"/>
                <a:gd name="T3" fmla="*/ 143 h 143"/>
                <a:gd name="T4" fmla="*/ 271 w 331"/>
                <a:gd name="T5" fmla="*/ 108 h 143"/>
                <a:gd name="T6" fmla="*/ 243 w 331"/>
                <a:gd name="T7" fmla="*/ 137 h 143"/>
                <a:gd name="T8" fmla="*/ 244 w 331"/>
                <a:gd name="T9" fmla="*/ 143 h 143"/>
                <a:gd name="T10" fmla="*/ 225 w 331"/>
                <a:gd name="T11" fmla="*/ 143 h 143"/>
                <a:gd name="T12" fmla="*/ 89 w 331"/>
                <a:gd name="T13" fmla="*/ 143 h 143"/>
                <a:gd name="T14" fmla="*/ 84 w 331"/>
                <a:gd name="T15" fmla="*/ 143 h 143"/>
                <a:gd name="T16" fmla="*/ 85 w 331"/>
                <a:gd name="T17" fmla="*/ 137 h 143"/>
                <a:gd name="T18" fmla="*/ 57 w 331"/>
                <a:gd name="T19" fmla="*/ 108 h 143"/>
                <a:gd name="T20" fmla="*/ 29 w 331"/>
                <a:gd name="T21" fmla="*/ 137 h 143"/>
                <a:gd name="T22" fmla="*/ 30 w 331"/>
                <a:gd name="T23" fmla="*/ 143 h 143"/>
                <a:gd name="T24" fmla="*/ 9 w 331"/>
                <a:gd name="T25" fmla="*/ 143 h 143"/>
                <a:gd name="T26" fmla="*/ 6 w 331"/>
                <a:gd name="T27" fmla="*/ 105 h 143"/>
                <a:gd name="T28" fmla="*/ 15 w 331"/>
                <a:gd name="T29" fmla="*/ 88 h 143"/>
                <a:gd name="T30" fmla="*/ 243 w 331"/>
                <a:gd name="T31" fmla="*/ 78 h 143"/>
                <a:gd name="T32" fmla="*/ 331 w 331"/>
                <a:gd name="T33" fmla="*/ 104 h 143"/>
                <a:gd name="T34" fmla="*/ 331 w 331"/>
                <a:gd name="T35" fmla="*/ 140 h 143"/>
                <a:gd name="T36" fmla="*/ 116 w 331"/>
                <a:gd name="T37" fmla="*/ 61 h 143"/>
                <a:gd name="T38" fmla="*/ 49 w 331"/>
                <a:gd name="T39" fmla="*/ 82 h 143"/>
                <a:gd name="T40" fmla="*/ 116 w 331"/>
                <a:gd name="T41" fmla="*/ 82 h 143"/>
                <a:gd name="T42" fmla="*/ 116 w 331"/>
                <a:gd name="T43" fmla="*/ 61 h 143"/>
                <a:gd name="T44" fmla="*/ 231 w 331"/>
                <a:gd name="T45" fmla="*/ 82 h 143"/>
                <a:gd name="T46" fmla="*/ 131 w 331"/>
                <a:gd name="T47" fmla="*/ 59 h 143"/>
                <a:gd name="T48" fmla="*/ 131 w 331"/>
                <a:gd name="T49" fmla="*/ 82 h 143"/>
                <a:gd name="T50" fmla="*/ 231 w 331"/>
                <a:gd name="T51" fmla="*/ 82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1" h="143">
                  <a:moveTo>
                    <a:pt x="331" y="140"/>
                  </a:moveTo>
                  <a:cubicBezTo>
                    <a:pt x="302" y="143"/>
                    <a:pt x="302" y="143"/>
                    <a:pt x="302" y="143"/>
                  </a:cubicBezTo>
                  <a:cubicBezTo>
                    <a:pt x="304" y="130"/>
                    <a:pt x="292" y="108"/>
                    <a:pt x="271" y="108"/>
                  </a:cubicBezTo>
                  <a:cubicBezTo>
                    <a:pt x="256" y="108"/>
                    <a:pt x="243" y="121"/>
                    <a:pt x="243" y="137"/>
                  </a:cubicBezTo>
                  <a:cubicBezTo>
                    <a:pt x="243" y="139"/>
                    <a:pt x="243" y="141"/>
                    <a:pt x="244" y="143"/>
                  </a:cubicBezTo>
                  <a:cubicBezTo>
                    <a:pt x="225" y="143"/>
                    <a:pt x="225" y="143"/>
                    <a:pt x="225" y="143"/>
                  </a:cubicBezTo>
                  <a:cubicBezTo>
                    <a:pt x="89" y="143"/>
                    <a:pt x="89" y="143"/>
                    <a:pt x="89" y="143"/>
                  </a:cubicBezTo>
                  <a:cubicBezTo>
                    <a:pt x="84" y="143"/>
                    <a:pt x="84" y="143"/>
                    <a:pt x="84" y="143"/>
                  </a:cubicBezTo>
                  <a:cubicBezTo>
                    <a:pt x="85" y="141"/>
                    <a:pt x="85" y="139"/>
                    <a:pt x="85" y="137"/>
                  </a:cubicBezTo>
                  <a:cubicBezTo>
                    <a:pt x="85" y="121"/>
                    <a:pt x="73" y="108"/>
                    <a:pt x="57" y="108"/>
                  </a:cubicBezTo>
                  <a:cubicBezTo>
                    <a:pt x="42" y="108"/>
                    <a:pt x="29" y="121"/>
                    <a:pt x="29" y="137"/>
                  </a:cubicBezTo>
                  <a:cubicBezTo>
                    <a:pt x="29" y="139"/>
                    <a:pt x="29" y="141"/>
                    <a:pt x="30" y="143"/>
                  </a:cubicBezTo>
                  <a:cubicBezTo>
                    <a:pt x="30" y="143"/>
                    <a:pt x="28" y="143"/>
                    <a:pt x="9" y="143"/>
                  </a:cubicBezTo>
                  <a:cubicBezTo>
                    <a:pt x="0" y="134"/>
                    <a:pt x="3" y="118"/>
                    <a:pt x="6" y="105"/>
                  </a:cubicBezTo>
                  <a:cubicBezTo>
                    <a:pt x="18" y="105"/>
                    <a:pt x="15" y="88"/>
                    <a:pt x="15" y="88"/>
                  </a:cubicBezTo>
                  <a:cubicBezTo>
                    <a:pt x="168" y="0"/>
                    <a:pt x="243" y="78"/>
                    <a:pt x="243" y="78"/>
                  </a:cubicBezTo>
                  <a:cubicBezTo>
                    <a:pt x="319" y="77"/>
                    <a:pt x="331" y="104"/>
                    <a:pt x="331" y="104"/>
                  </a:cubicBezTo>
                  <a:cubicBezTo>
                    <a:pt x="331" y="104"/>
                    <a:pt x="327" y="113"/>
                    <a:pt x="331" y="140"/>
                  </a:cubicBezTo>
                  <a:close/>
                  <a:moveTo>
                    <a:pt x="116" y="61"/>
                  </a:moveTo>
                  <a:cubicBezTo>
                    <a:pt x="77" y="69"/>
                    <a:pt x="49" y="82"/>
                    <a:pt x="49" y="82"/>
                  </a:cubicBezTo>
                  <a:cubicBezTo>
                    <a:pt x="116" y="82"/>
                    <a:pt x="116" y="82"/>
                    <a:pt x="116" y="82"/>
                  </a:cubicBezTo>
                  <a:lnTo>
                    <a:pt x="116" y="61"/>
                  </a:lnTo>
                  <a:close/>
                  <a:moveTo>
                    <a:pt x="231" y="82"/>
                  </a:moveTo>
                  <a:cubicBezTo>
                    <a:pt x="231" y="82"/>
                    <a:pt x="187" y="50"/>
                    <a:pt x="131" y="59"/>
                  </a:cubicBezTo>
                  <a:cubicBezTo>
                    <a:pt x="131" y="82"/>
                    <a:pt x="131" y="82"/>
                    <a:pt x="131" y="82"/>
                  </a:cubicBezTo>
                  <a:lnTo>
                    <a:pt x="231" y="82"/>
                  </a:lnTo>
                  <a:close/>
                </a:path>
              </a:pathLst>
            </a:custGeom>
            <a:grpFill/>
            <a:ln>
              <a:solidFill>
                <a:srgbClr val="323232"/>
              </a:solidFill>
            </a:ln>
          </p:spPr>
          <p:txBody>
            <a:bodyPr vert="horz" wrap="square" lIns="68580" tIns="34290" rIns="68580" bIns="34290" numCol="1" anchor="t" anchorCtr="0" compatLnSpc="1">
              <a:prstTxWarp prst="textNoShape">
                <a:avLst/>
              </a:prstTxWarp>
            </a:bodyPr>
            <a:lstStyle/>
            <a:p>
              <a:pPr algn="ctr" defTabSz="825500"/>
              <a:endParaRPr lang="id-ID" sz="1350" kern="0">
                <a:solidFill>
                  <a:srgbClr val="0097B7"/>
                </a:solidFill>
                <a:latin typeface="Avenir 35" panose="00000400000000000000" pitchFamily="2" charset="0"/>
                <a:sym typeface="Calibri"/>
              </a:endParaRPr>
            </a:p>
          </p:txBody>
        </p:sp>
        <p:grpSp>
          <p:nvGrpSpPr>
            <p:cNvPr id="184" name="Group 178"/>
            <p:cNvGrpSpPr/>
            <p:nvPr/>
          </p:nvGrpSpPr>
          <p:grpSpPr>
            <a:xfrm>
              <a:off x="1071328" y="5745380"/>
              <a:ext cx="1157650" cy="485951"/>
              <a:chOff x="1071328" y="5745380"/>
              <a:chExt cx="1157650" cy="485951"/>
            </a:xfrm>
            <a:grpFill/>
          </p:grpSpPr>
          <p:sp>
            <p:nvSpPr>
              <p:cNvPr id="185" name="Freeform 105"/>
              <p:cNvSpPr>
                <a:spLocks noEditPoints="1"/>
              </p:cNvSpPr>
              <p:nvPr/>
            </p:nvSpPr>
            <p:spPr bwMode="auto">
              <a:xfrm>
                <a:off x="2020714" y="6030571"/>
                <a:ext cx="208264" cy="200760"/>
              </a:xfrm>
              <a:custGeom>
                <a:avLst/>
                <a:gdLst>
                  <a:gd name="T0" fmla="*/ 0 w 47"/>
                  <a:gd name="T1" fmla="*/ 23 h 45"/>
                  <a:gd name="T2" fmla="*/ 22 w 47"/>
                  <a:gd name="T3" fmla="*/ 45 h 45"/>
                  <a:gd name="T4" fmla="*/ 47 w 47"/>
                  <a:gd name="T5" fmla="*/ 23 h 45"/>
                  <a:gd name="T6" fmla="*/ 22 w 47"/>
                  <a:gd name="T7" fmla="*/ 0 h 45"/>
                  <a:gd name="T8" fmla="*/ 0 w 47"/>
                  <a:gd name="T9" fmla="*/ 23 h 45"/>
                  <a:gd name="T10" fmla="*/ 14 w 47"/>
                  <a:gd name="T11" fmla="*/ 23 h 45"/>
                  <a:gd name="T12" fmla="*/ 22 w 47"/>
                  <a:gd name="T13" fmla="*/ 14 h 45"/>
                  <a:gd name="T14" fmla="*/ 30 w 47"/>
                  <a:gd name="T15" fmla="*/ 23 h 45"/>
                  <a:gd name="T16" fmla="*/ 22 w 47"/>
                  <a:gd name="T17" fmla="*/ 31 h 45"/>
                  <a:gd name="T18" fmla="*/ 14 w 47"/>
                  <a:gd name="T19" fmla="*/ 2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45">
                    <a:moveTo>
                      <a:pt x="0" y="23"/>
                    </a:moveTo>
                    <a:cubicBezTo>
                      <a:pt x="0" y="35"/>
                      <a:pt x="10" y="45"/>
                      <a:pt x="22" y="45"/>
                    </a:cubicBezTo>
                    <a:cubicBezTo>
                      <a:pt x="34" y="45"/>
                      <a:pt x="47" y="35"/>
                      <a:pt x="47" y="23"/>
                    </a:cubicBezTo>
                    <a:cubicBezTo>
                      <a:pt x="47" y="10"/>
                      <a:pt x="34" y="0"/>
                      <a:pt x="22" y="0"/>
                    </a:cubicBezTo>
                    <a:cubicBezTo>
                      <a:pt x="10" y="0"/>
                      <a:pt x="0" y="10"/>
                      <a:pt x="0" y="23"/>
                    </a:cubicBezTo>
                    <a:close/>
                    <a:moveTo>
                      <a:pt x="14" y="23"/>
                    </a:moveTo>
                    <a:cubicBezTo>
                      <a:pt x="14" y="18"/>
                      <a:pt x="17" y="14"/>
                      <a:pt x="22" y="14"/>
                    </a:cubicBezTo>
                    <a:cubicBezTo>
                      <a:pt x="27" y="14"/>
                      <a:pt x="30" y="18"/>
                      <a:pt x="30" y="23"/>
                    </a:cubicBezTo>
                    <a:cubicBezTo>
                      <a:pt x="30" y="27"/>
                      <a:pt x="27" y="31"/>
                      <a:pt x="22" y="31"/>
                    </a:cubicBezTo>
                    <a:cubicBezTo>
                      <a:pt x="17" y="31"/>
                      <a:pt x="14" y="27"/>
                      <a:pt x="14" y="23"/>
                    </a:cubicBezTo>
                    <a:close/>
                  </a:path>
                </a:pathLst>
              </a:custGeom>
              <a:grpFill/>
              <a:ln>
                <a:solidFill>
                  <a:srgbClr val="323232"/>
                </a:solidFill>
              </a:ln>
            </p:spPr>
            <p:txBody>
              <a:bodyPr vert="horz" wrap="square" lIns="68580" tIns="34290" rIns="68580" bIns="34290" numCol="1" anchor="t" anchorCtr="0" compatLnSpc="1">
                <a:prstTxWarp prst="textNoShape">
                  <a:avLst/>
                </a:prstTxWarp>
              </a:bodyPr>
              <a:lstStyle/>
              <a:p>
                <a:pPr algn="ctr" defTabSz="825500"/>
                <a:endParaRPr lang="id-ID" sz="1350" kern="0">
                  <a:solidFill>
                    <a:srgbClr val="0097B7"/>
                  </a:solidFill>
                  <a:latin typeface="Avenir 35" panose="00000400000000000000" pitchFamily="2" charset="0"/>
                  <a:sym typeface="Calibri"/>
                </a:endParaRPr>
              </a:p>
            </p:txBody>
          </p:sp>
          <p:sp>
            <p:nvSpPr>
              <p:cNvPr id="186" name="Freeform 106"/>
              <p:cNvSpPr>
                <a:spLocks noEditPoints="1"/>
              </p:cNvSpPr>
              <p:nvPr/>
            </p:nvSpPr>
            <p:spPr bwMode="auto">
              <a:xfrm>
                <a:off x="1071328" y="6030571"/>
                <a:ext cx="189501" cy="200760"/>
              </a:xfrm>
              <a:custGeom>
                <a:avLst/>
                <a:gdLst>
                  <a:gd name="T0" fmla="*/ 0 w 43"/>
                  <a:gd name="T1" fmla="*/ 23 h 45"/>
                  <a:gd name="T2" fmla="*/ 22 w 43"/>
                  <a:gd name="T3" fmla="*/ 45 h 45"/>
                  <a:gd name="T4" fmla="*/ 43 w 43"/>
                  <a:gd name="T5" fmla="*/ 23 h 45"/>
                  <a:gd name="T6" fmla="*/ 22 w 43"/>
                  <a:gd name="T7" fmla="*/ 0 h 45"/>
                  <a:gd name="T8" fmla="*/ 0 w 43"/>
                  <a:gd name="T9" fmla="*/ 23 h 45"/>
                  <a:gd name="T10" fmla="*/ 13 w 43"/>
                  <a:gd name="T11" fmla="*/ 23 h 45"/>
                  <a:gd name="T12" fmla="*/ 22 w 43"/>
                  <a:gd name="T13" fmla="*/ 14 h 45"/>
                  <a:gd name="T14" fmla="*/ 30 w 43"/>
                  <a:gd name="T15" fmla="*/ 23 h 45"/>
                  <a:gd name="T16" fmla="*/ 22 w 43"/>
                  <a:gd name="T17" fmla="*/ 31 h 45"/>
                  <a:gd name="T18" fmla="*/ 13 w 43"/>
                  <a:gd name="T19" fmla="*/ 2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5">
                    <a:moveTo>
                      <a:pt x="0" y="23"/>
                    </a:moveTo>
                    <a:cubicBezTo>
                      <a:pt x="0" y="35"/>
                      <a:pt x="10" y="45"/>
                      <a:pt x="22" y="45"/>
                    </a:cubicBezTo>
                    <a:cubicBezTo>
                      <a:pt x="34" y="45"/>
                      <a:pt x="43" y="35"/>
                      <a:pt x="43" y="23"/>
                    </a:cubicBezTo>
                    <a:cubicBezTo>
                      <a:pt x="43" y="10"/>
                      <a:pt x="34" y="0"/>
                      <a:pt x="22" y="0"/>
                    </a:cubicBezTo>
                    <a:cubicBezTo>
                      <a:pt x="10" y="0"/>
                      <a:pt x="0" y="10"/>
                      <a:pt x="0" y="23"/>
                    </a:cubicBezTo>
                    <a:close/>
                    <a:moveTo>
                      <a:pt x="13" y="23"/>
                    </a:moveTo>
                    <a:cubicBezTo>
                      <a:pt x="13" y="18"/>
                      <a:pt x="17" y="14"/>
                      <a:pt x="22" y="14"/>
                    </a:cubicBezTo>
                    <a:cubicBezTo>
                      <a:pt x="26" y="14"/>
                      <a:pt x="30" y="18"/>
                      <a:pt x="30" y="23"/>
                    </a:cubicBezTo>
                    <a:cubicBezTo>
                      <a:pt x="30" y="27"/>
                      <a:pt x="26" y="31"/>
                      <a:pt x="22" y="31"/>
                    </a:cubicBezTo>
                    <a:cubicBezTo>
                      <a:pt x="17" y="31"/>
                      <a:pt x="13" y="27"/>
                      <a:pt x="13" y="23"/>
                    </a:cubicBezTo>
                    <a:close/>
                  </a:path>
                </a:pathLst>
              </a:custGeom>
              <a:grpFill/>
              <a:ln>
                <a:solidFill>
                  <a:srgbClr val="323232"/>
                </a:solidFill>
              </a:ln>
            </p:spPr>
            <p:txBody>
              <a:bodyPr vert="horz" wrap="square" lIns="68580" tIns="34290" rIns="68580" bIns="34290" numCol="1" anchor="t" anchorCtr="0" compatLnSpc="1">
                <a:prstTxWarp prst="textNoShape">
                  <a:avLst/>
                </a:prstTxWarp>
              </a:bodyPr>
              <a:lstStyle/>
              <a:p>
                <a:pPr algn="ctr" defTabSz="825500"/>
                <a:endParaRPr lang="id-ID" sz="1350" kern="0">
                  <a:solidFill>
                    <a:srgbClr val="0097B7"/>
                  </a:solidFill>
                  <a:latin typeface="Avenir 35" panose="00000400000000000000" pitchFamily="2" charset="0"/>
                  <a:sym typeface="Calibri"/>
                </a:endParaRPr>
              </a:p>
            </p:txBody>
          </p:sp>
          <p:sp>
            <p:nvSpPr>
              <p:cNvPr id="187" name="Freeform 107"/>
              <p:cNvSpPr>
                <a:spLocks/>
              </p:cNvSpPr>
              <p:nvPr/>
            </p:nvSpPr>
            <p:spPr bwMode="auto">
              <a:xfrm>
                <a:off x="1133245" y="5794162"/>
                <a:ext cx="296449" cy="93813"/>
              </a:xfrm>
              <a:custGeom>
                <a:avLst/>
                <a:gdLst>
                  <a:gd name="T0" fmla="*/ 67 w 67"/>
                  <a:gd name="T1" fmla="*/ 21 h 21"/>
                  <a:gd name="T2" fmla="*/ 67 w 67"/>
                  <a:gd name="T3" fmla="*/ 0 h 21"/>
                  <a:gd name="T4" fmla="*/ 0 w 67"/>
                  <a:gd name="T5" fmla="*/ 21 h 21"/>
                  <a:gd name="T6" fmla="*/ 67 w 67"/>
                  <a:gd name="T7" fmla="*/ 21 h 21"/>
                </a:gdLst>
                <a:ahLst/>
                <a:cxnLst>
                  <a:cxn ang="0">
                    <a:pos x="T0" y="T1"/>
                  </a:cxn>
                  <a:cxn ang="0">
                    <a:pos x="T2" y="T3"/>
                  </a:cxn>
                  <a:cxn ang="0">
                    <a:pos x="T4" y="T5"/>
                  </a:cxn>
                  <a:cxn ang="0">
                    <a:pos x="T6" y="T7"/>
                  </a:cxn>
                </a:cxnLst>
                <a:rect l="0" t="0" r="r" b="b"/>
                <a:pathLst>
                  <a:path w="67" h="21">
                    <a:moveTo>
                      <a:pt x="67" y="21"/>
                    </a:moveTo>
                    <a:cubicBezTo>
                      <a:pt x="67" y="0"/>
                      <a:pt x="67" y="0"/>
                      <a:pt x="67" y="0"/>
                    </a:cubicBezTo>
                    <a:cubicBezTo>
                      <a:pt x="28" y="8"/>
                      <a:pt x="0" y="21"/>
                      <a:pt x="0" y="21"/>
                    </a:cubicBezTo>
                    <a:lnTo>
                      <a:pt x="67" y="21"/>
                    </a:lnTo>
                    <a:close/>
                  </a:path>
                </a:pathLst>
              </a:custGeom>
              <a:solidFill>
                <a:srgbClr val="323232"/>
              </a:solidFill>
              <a:ln>
                <a:solidFill>
                  <a:srgbClr val="323232"/>
                </a:solidFill>
              </a:ln>
            </p:spPr>
            <p:txBody>
              <a:bodyPr vert="horz" wrap="square" lIns="68580" tIns="34290" rIns="68580" bIns="34290" numCol="1" anchor="t" anchorCtr="0" compatLnSpc="1">
                <a:prstTxWarp prst="textNoShape">
                  <a:avLst/>
                </a:prstTxWarp>
              </a:bodyPr>
              <a:lstStyle/>
              <a:p>
                <a:pPr algn="ctr" defTabSz="825500"/>
                <a:endParaRPr lang="id-ID" sz="1350" kern="0">
                  <a:solidFill>
                    <a:srgbClr val="0097B7"/>
                  </a:solidFill>
                  <a:latin typeface="Avenir 35" panose="00000400000000000000" pitchFamily="2" charset="0"/>
                  <a:sym typeface="Calibri"/>
                </a:endParaRPr>
              </a:p>
            </p:txBody>
          </p:sp>
          <p:sp>
            <p:nvSpPr>
              <p:cNvPr id="188" name="Freeform 108"/>
              <p:cNvSpPr>
                <a:spLocks/>
              </p:cNvSpPr>
              <p:nvPr/>
            </p:nvSpPr>
            <p:spPr bwMode="auto">
              <a:xfrm>
                <a:off x="1497239" y="5745380"/>
                <a:ext cx="442797" cy="142596"/>
              </a:xfrm>
              <a:custGeom>
                <a:avLst/>
                <a:gdLst>
                  <a:gd name="T0" fmla="*/ 0 w 100"/>
                  <a:gd name="T1" fmla="*/ 9 h 32"/>
                  <a:gd name="T2" fmla="*/ 0 w 100"/>
                  <a:gd name="T3" fmla="*/ 32 h 32"/>
                  <a:gd name="T4" fmla="*/ 100 w 100"/>
                  <a:gd name="T5" fmla="*/ 32 h 32"/>
                  <a:gd name="T6" fmla="*/ 0 w 100"/>
                  <a:gd name="T7" fmla="*/ 9 h 32"/>
                </a:gdLst>
                <a:ahLst/>
                <a:cxnLst>
                  <a:cxn ang="0">
                    <a:pos x="T0" y="T1"/>
                  </a:cxn>
                  <a:cxn ang="0">
                    <a:pos x="T2" y="T3"/>
                  </a:cxn>
                  <a:cxn ang="0">
                    <a:pos x="T4" y="T5"/>
                  </a:cxn>
                  <a:cxn ang="0">
                    <a:pos x="T6" y="T7"/>
                  </a:cxn>
                </a:cxnLst>
                <a:rect l="0" t="0" r="r" b="b"/>
                <a:pathLst>
                  <a:path w="100" h="32">
                    <a:moveTo>
                      <a:pt x="0" y="9"/>
                    </a:moveTo>
                    <a:cubicBezTo>
                      <a:pt x="0" y="32"/>
                      <a:pt x="0" y="32"/>
                      <a:pt x="0" y="32"/>
                    </a:cubicBezTo>
                    <a:cubicBezTo>
                      <a:pt x="100" y="32"/>
                      <a:pt x="100" y="32"/>
                      <a:pt x="100" y="32"/>
                    </a:cubicBezTo>
                    <a:cubicBezTo>
                      <a:pt x="100" y="32"/>
                      <a:pt x="56" y="0"/>
                      <a:pt x="0" y="9"/>
                    </a:cubicBezTo>
                    <a:close/>
                  </a:path>
                </a:pathLst>
              </a:custGeom>
              <a:solidFill>
                <a:srgbClr val="323232"/>
              </a:solidFill>
              <a:ln>
                <a:solidFill>
                  <a:srgbClr val="323232"/>
                </a:solidFill>
              </a:ln>
            </p:spPr>
            <p:txBody>
              <a:bodyPr vert="horz" wrap="square" lIns="68580" tIns="34290" rIns="68580" bIns="34290" numCol="1" anchor="t" anchorCtr="0" compatLnSpc="1">
                <a:prstTxWarp prst="textNoShape">
                  <a:avLst/>
                </a:prstTxWarp>
              </a:bodyPr>
              <a:lstStyle/>
              <a:p>
                <a:pPr algn="ctr" defTabSz="825500"/>
                <a:endParaRPr lang="id-ID" sz="1350" kern="0">
                  <a:solidFill>
                    <a:srgbClr val="0097B7"/>
                  </a:solidFill>
                  <a:latin typeface="Avenir 35" panose="00000400000000000000" pitchFamily="2" charset="0"/>
                  <a:sym typeface="Calibri"/>
                </a:endParaRPr>
              </a:p>
            </p:txBody>
          </p:sp>
        </p:grpSp>
      </p:grpSp>
      <p:sp>
        <p:nvSpPr>
          <p:cNvPr id="111" name="6 CuadroTexto"/>
          <p:cNvSpPr txBox="1"/>
          <p:nvPr/>
        </p:nvSpPr>
        <p:spPr>
          <a:xfrm>
            <a:off x="632521" y="414018"/>
            <a:ext cx="8660261" cy="400110"/>
          </a:xfrm>
          <a:prstGeom prst="rect">
            <a:avLst/>
          </a:prstGeom>
          <a:noFill/>
        </p:spPr>
        <p:txBody>
          <a:bodyPr wrap="square" rtlCol="0">
            <a:spAutoFit/>
          </a:bodyPr>
          <a:lstStyle/>
          <a:p>
            <a:pPr algn="ctr"/>
            <a:r>
              <a:rPr lang="es-ES" sz="2000" dirty="0">
                <a:solidFill>
                  <a:srgbClr val="323232"/>
                </a:solidFill>
                <a:latin typeface="Avenir 65" panose="02000600000000000000" pitchFamily="2" charset="0"/>
              </a:rPr>
              <a:t>¿Qué tendencias estamos observando en el caso de Easy Money?</a:t>
            </a:r>
            <a:endParaRPr lang="es-ES" sz="1400" dirty="0">
              <a:solidFill>
                <a:srgbClr val="323232"/>
              </a:solidFill>
              <a:latin typeface="Avenir 65" panose="02000600000000000000" pitchFamily="2" charset="0"/>
            </a:endParaRPr>
          </a:p>
        </p:txBody>
      </p:sp>
      <p:sp>
        <p:nvSpPr>
          <p:cNvPr id="112"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pPr marL="457200" indent="-457200">
              <a:spcBef>
                <a:spcPts val="1200"/>
              </a:spcBef>
              <a:buClr>
                <a:srgbClr val="323232"/>
              </a:buClr>
              <a:buFont typeface="+mj-lt"/>
              <a:buAutoNum type="arabicPeriod"/>
            </a:pPr>
            <a:r>
              <a:rPr lang="es-ES" dirty="0">
                <a:solidFill>
                  <a:schemeClr val="tx1">
                    <a:lumMod val="85000"/>
                    <a:lumOff val="15000"/>
                  </a:schemeClr>
                </a:solidFill>
                <a:latin typeface="Avenir 35" panose="00000400000000000000" pitchFamily="2" charset="0"/>
                <a:cs typeface="Arial" panose="020B0604020202020204" pitchFamily="34" charset="0"/>
              </a:rPr>
              <a:t>Equipo y contexto de proyecto</a:t>
            </a:r>
          </a:p>
        </p:txBody>
      </p:sp>
      <p:sp>
        <p:nvSpPr>
          <p:cNvPr id="115" name="Freeform 143"/>
          <p:cNvSpPr>
            <a:spLocks noEditPoints="1"/>
          </p:cNvSpPr>
          <p:nvPr/>
        </p:nvSpPr>
        <p:spPr bwMode="auto">
          <a:xfrm>
            <a:off x="1211607" y="2081232"/>
            <a:ext cx="432227" cy="366049"/>
          </a:xfrm>
          <a:custGeom>
            <a:avLst/>
            <a:gdLst>
              <a:gd name="T0" fmla="*/ 527 w 559"/>
              <a:gd name="T1" fmla="*/ 473 h 473"/>
              <a:gd name="T2" fmla="*/ 33 w 559"/>
              <a:gd name="T3" fmla="*/ 473 h 473"/>
              <a:gd name="T4" fmla="*/ 6 w 559"/>
              <a:gd name="T5" fmla="*/ 458 h 473"/>
              <a:gd name="T6" fmla="*/ 6 w 559"/>
              <a:gd name="T7" fmla="*/ 426 h 473"/>
              <a:gd name="T8" fmla="*/ 253 w 559"/>
              <a:gd name="T9" fmla="*/ 15 h 473"/>
              <a:gd name="T10" fmla="*/ 280 w 559"/>
              <a:gd name="T11" fmla="*/ 0 h 473"/>
              <a:gd name="T12" fmla="*/ 306 w 559"/>
              <a:gd name="T13" fmla="*/ 15 h 473"/>
              <a:gd name="T14" fmla="*/ 553 w 559"/>
              <a:gd name="T15" fmla="*/ 426 h 473"/>
              <a:gd name="T16" fmla="*/ 554 w 559"/>
              <a:gd name="T17" fmla="*/ 458 h 473"/>
              <a:gd name="T18" fmla="*/ 527 w 559"/>
              <a:gd name="T19" fmla="*/ 473 h 473"/>
              <a:gd name="T20" fmla="*/ 280 w 559"/>
              <a:gd name="T21" fmla="*/ 14 h 473"/>
              <a:gd name="T22" fmla="*/ 265 w 559"/>
              <a:gd name="T23" fmla="*/ 22 h 473"/>
              <a:gd name="T24" fmla="*/ 18 w 559"/>
              <a:gd name="T25" fmla="*/ 434 h 473"/>
              <a:gd name="T26" fmla="*/ 18 w 559"/>
              <a:gd name="T27" fmla="*/ 451 h 473"/>
              <a:gd name="T28" fmla="*/ 33 w 559"/>
              <a:gd name="T29" fmla="*/ 459 h 473"/>
              <a:gd name="T30" fmla="*/ 527 w 559"/>
              <a:gd name="T31" fmla="*/ 459 h 473"/>
              <a:gd name="T32" fmla="*/ 542 w 559"/>
              <a:gd name="T33" fmla="*/ 451 h 473"/>
              <a:gd name="T34" fmla="*/ 541 w 559"/>
              <a:gd name="T35" fmla="*/ 434 h 473"/>
              <a:gd name="T36" fmla="*/ 294 w 559"/>
              <a:gd name="T37" fmla="*/ 22 h 473"/>
              <a:gd name="T38" fmla="*/ 280 w 559"/>
              <a:gd name="T39" fmla="*/ 14 h 473"/>
              <a:gd name="T40" fmla="*/ 287 w 559"/>
              <a:gd name="T41" fmla="*/ 310 h 473"/>
              <a:gd name="T42" fmla="*/ 287 w 559"/>
              <a:gd name="T43" fmla="*/ 139 h 473"/>
              <a:gd name="T44" fmla="*/ 280 w 559"/>
              <a:gd name="T45" fmla="*/ 132 h 473"/>
              <a:gd name="T46" fmla="*/ 273 w 559"/>
              <a:gd name="T47" fmla="*/ 139 h 473"/>
              <a:gd name="T48" fmla="*/ 273 w 559"/>
              <a:gd name="T49" fmla="*/ 310 h 473"/>
              <a:gd name="T50" fmla="*/ 280 w 559"/>
              <a:gd name="T51" fmla="*/ 317 h 473"/>
              <a:gd name="T52" fmla="*/ 287 w 559"/>
              <a:gd name="T53" fmla="*/ 310 h 473"/>
              <a:gd name="T54" fmla="*/ 280 w 559"/>
              <a:gd name="T55" fmla="*/ 401 h 473"/>
              <a:gd name="T56" fmla="*/ 260 w 559"/>
              <a:gd name="T57" fmla="*/ 381 h 473"/>
              <a:gd name="T58" fmla="*/ 280 w 559"/>
              <a:gd name="T59" fmla="*/ 362 h 473"/>
              <a:gd name="T60" fmla="*/ 299 w 559"/>
              <a:gd name="T61" fmla="*/ 381 h 473"/>
              <a:gd name="T62" fmla="*/ 280 w 559"/>
              <a:gd name="T63" fmla="*/ 401 h 473"/>
              <a:gd name="T64" fmla="*/ 280 w 559"/>
              <a:gd name="T65" fmla="*/ 376 h 473"/>
              <a:gd name="T66" fmla="*/ 274 w 559"/>
              <a:gd name="T67" fmla="*/ 381 h 473"/>
              <a:gd name="T68" fmla="*/ 280 w 559"/>
              <a:gd name="T69" fmla="*/ 387 h 473"/>
              <a:gd name="T70" fmla="*/ 285 w 559"/>
              <a:gd name="T71" fmla="*/ 381 h 473"/>
              <a:gd name="T72" fmla="*/ 280 w 559"/>
              <a:gd name="T73" fmla="*/ 376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59" h="473">
                <a:moveTo>
                  <a:pt x="527" y="473"/>
                </a:moveTo>
                <a:cubicBezTo>
                  <a:pt x="33" y="473"/>
                  <a:pt x="33" y="473"/>
                  <a:pt x="33" y="473"/>
                </a:cubicBezTo>
                <a:cubicBezTo>
                  <a:pt x="22" y="473"/>
                  <a:pt x="11" y="467"/>
                  <a:pt x="6" y="458"/>
                </a:cubicBezTo>
                <a:cubicBezTo>
                  <a:pt x="0" y="448"/>
                  <a:pt x="0" y="436"/>
                  <a:pt x="6" y="426"/>
                </a:cubicBezTo>
                <a:cubicBezTo>
                  <a:pt x="253" y="15"/>
                  <a:pt x="253" y="15"/>
                  <a:pt x="253" y="15"/>
                </a:cubicBezTo>
                <a:cubicBezTo>
                  <a:pt x="259" y="5"/>
                  <a:pt x="269" y="0"/>
                  <a:pt x="280" y="0"/>
                </a:cubicBezTo>
                <a:cubicBezTo>
                  <a:pt x="291" y="0"/>
                  <a:pt x="301" y="5"/>
                  <a:pt x="306" y="15"/>
                </a:cubicBezTo>
                <a:cubicBezTo>
                  <a:pt x="553" y="426"/>
                  <a:pt x="553" y="426"/>
                  <a:pt x="553" y="426"/>
                </a:cubicBezTo>
                <a:cubicBezTo>
                  <a:pt x="559" y="436"/>
                  <a:pt x="559" y="448"/>
                  <a:pt x="554" y="458"/>
                </a:cubicBezTo>
                <a:cubicBezTo>
                  <a:pt x="548" y="467"/>
                  <a:pt x="538" y="473"/>
                  <a:pt x="527" y="473"/>
                </a:cubicBezTo>
                <a:close/>
                <a:moveTo>
                  <a:pt x="280" y="14"/>
                </a:moveTo>
                <a:cubicBezTo>
                  <a:pt x="274" y="14"/>
                  <a:pt x="268" y="17"/>
                  <a:pt x="265" y="22"/>
                </a:cubicBezTo>
                <a:cubicBezTo>
                  <a:pt x="18" y="434"/>
                  <a:pt x="18" y="434"/>
                  <a:pt x="18" y="434"/>
                </a:cubicBezTo>
                <a:cubicBezTo>
                  <a:pt x="15" y="439"/>
                  <a:pt x="15" y="445"/>
                  <a:pt x="18" y="451"/>
                </a:cubicBezTo>
                <a:cubicBezTo>
                  <a:pt x="21" y="456"/>
                  <a:pt x="27" y="459"/>
                  <a:pt x="33" y="459"/>
                </a:cubicBezTo>
                <a:cubicBezTo>
                  <a:pt x="527" y="459"/>
                  <a:pt x="527" y="459"/>
                  <a:pt x="527" y="459"/>
                </a:cubicBezTo>
                <a:cubicBezTo>
                  <a:pt x="533" y="459"/>
                  <a:pt x="539" y="456"/>
                  <a:pt x="542" y="451"/>
                </a:cubicBezTo>
                <a:cubicBezTo>
                  <a:pt x="545" y="445"/>
                  <a:pt x="545" y="439"/>
                  <a:pt x="541" y="434"/>
                </a:cubicBezTo>
                <a:cubicBezTo>
                  <a:pt x="294" y="22"/>
                  <a:pt x="294" y="22"/>
                  <a:pt x="294" y="22"/>
                </a:cubicBezTo>
                <a:cubicBezTo>
                  <a:pt x="291" y="17"/>
                  <a:pt x="286" y="14"/>
                  <a:pt x="280" y="14"/>
                </a:cubicBezTo>
                <a:close/>
                <a:moveTo>
                  <a:pt x="287" y="310"/>
                </a:moveTo>
                <a:cubicBezTo>
                  <a:pt x="287" y="139"/>
                  <a:pt x="287" y="139"/>
                  <a:pt x="287" y="139"/>
                </a:cubicBezTo>
                <a:cubicBezTo>
                  <a:pt x="287" y="135"/>
                  <a:pt x="284" y="132"/>
                  <a:pt x="280" y="132"/>
                </a:cubicBezTo>
                <a:cubicBezTo>
                  <a:pt x="276" y="132"/>
                  <a:pt x="273" y="135"/>
                  <a:pt x="273" y="139"/>
                </a:cubicBezTo>
                <a:cubicBezTo>
                  <a:pt x="273" y="310"/>
                  <a:pt x="273" y="310"/>
                  <a:pt x="273" y="310"/>
                </a:cubicBezTo>
                <a:cubicBezTo>
                  <a:pt x="273" y="314"/>
                  <a:pt x="276" y="317"/>
                  <a:pt x="280" y="317"/>
                </a:cubicBezTo>
                <a:cubicBezTo>
                  <a:pt x="284" y="317"/>
                  <a:pt x="287" y="314"/>
                  <a:pt x="287" y="310"/>
                </a:cubicBezTo>
                <a:close/>
                <a:moveTo>
                  <a:pt x="280" y="401"/>
                </a:moveTo>
                <a:cubicBezTo>
                  <a:pt x="269" y="401"/>
                  <a:pt x="260" y="392"/>
                  <a:pt x="260" y="381"/>
                </a:cubicBezTo>
                <a:cubicBezTo>
                  <a:pt x="260" y="370"/>
                  <a:pt x="269" y="362"/>
                  <a:pt x="280" y="362"/>
                </a:cubicBezTo>
                <a:cubicBezTo>
                  <a:pt x="291" y="362"/>
                  <a:pt x="299" y="370"/>
                  <a:pt x="299" y="381"/>
                </a:cubicBezTo>
                <a:cubicBezTo>
                  <a:pt x="299" y="392"/>
                  <a:pt x="291" y="401"/>
                  <a:pt x="280" y="401"/>
                </a:cubicBezTo>
                <a:close/>
                <a:moveTo>
                  <a:pt x="280" y="376"/>
                </a:moveTo>
                <a:cubicBezTo>
                  <a:pt x="277" y="376"/>
                  <a:pt x="274" y="378"/>
                  <a:pt x="274" y="381"/>
                </a:cubicBezTo>
                <a:cubicBezTo>
                  <a:pt x="274" y="384"/>
                  <a:pt x="277" y="387"/>
                  <a:pt x="280" y="387"/>
                </a:cubicBezTo>
                <a:cubicBezTo>
                  <a:pt x="283" y="387"/>
                  <a:pt x="285" y="384"/>
                  <a:pt x="285" y="381"/>
                </a:cubicBezTo>
                <a:cubicBezTo>
                  <a:pt x="285" y="378"/>
                  <a:pt x="283" y="376"/>
                  <a:pt x="280" y="376"/>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116" name="Freeform 25"/>
          <p:cNvSpPr>
            <a:spLocks noEditPoints="1"/>
          </p:cNvSpPr>
          <p:nvPr/>
        </p:nvSpPr>
        <p:spPr bwMode="auto">
          <a:xfrm>
            <a:off x="5990068" y="2090184"/>
            <a:ext cx="423418" cy="348144"/>
          </a:xfrm>
          <a:custGeom>
            <a:avLst/>
            <a:gdLst>
              <a:gd name="T0" fmla="*/ 414 w 444"/>
              <a:gd name="T1" fmla="*/ 172 h 365"/>
              <a:gd name="T2" fmla="*/ 392 w 444"/>
              <a:gd name="T3" fmla="*/ 0 h 365"/>
              <a:gd name="T4" fmla="*/ 0 w 444"/>
              <a:gd name="T5" fmla="*/ 22 h 365"/>
              <a:gd name="T6" fmla="*/ 22 w 444"/>
              <a:gd name="T7" fmla="*/ 283 h 365"/>
              <a:gd name="T8" fmla="*/ 144 w 444"/>
              <a:gd name="T9" fmla="*/ 355 h 365"/>
              <a:gd name="T10" fmla="*/ 118 w 444"/>
              <a:gd name="T11" fmla="*/ 360 h 365"/>
              <a:gd name="T12" fmla="*/ 291 w 444"/>
              <a:gd name="T13" fmla="*/ 365 h 365"/>
              <a:gd name="T14" fmla="*/ 291 w 444"/>
              <a:gd name="T15" fmla="*/ 355 h 365"/>
              <a:gd name="T16" fmla="*/ 254 w 444"/>
              <a:gd name="T17" fmla="*/ 283 h 365"/>
              <a:gd name="T18" fmla="*/ 326 w 444"/>
              <a:gd name="T19" fmla="*/ 348 h 365"/>
              <a:gd name="T20" fmla="*/ 427 w 444"/>
              <a:gd name="T21" fmla="*/ 365 h 365"/>
              <a:gd name="T22" fmla="*/ 444 w 444"/>
              <a:gd name="T23" fmla="*/ 189 h 365"/>
              <a:gd name="T24" fmla="*/ 10 w 444"/>
              <a:gd name="T25" fmla="*/ 22 h 365"/>
              <a:gd name="T26" fmla="*/ 392 w 444"/>
              <a:gd name="T27" fmla="*/ 9 h 365"/>
              <a:gd name="T28" fmla="*/ 404 w 444"/>
              <a:gd name="T29" fmla="*/ 36 h 365"/>
              <a:gd name="T30" fmla="*/ 10 w 444"/>
              <a:gd name="T31" fmla="*/ 22 h 365"/>
              <a:gd name="T32" fmla="*/ 158 w 444"/>
              <a:gd name="T33" fmla="*/ 355 h 365"/>
              <a:gd name="T34" fmla="*/ 245 w 444"/>
              <a:gd name="T35" fmla="*/ 283 h 365"/>
              <a:gd name="T36" fmla="*/ 259 w 444"/>
              <a:gd name="T37" fmla="*/ 355 h 365"/>
              <a:gd name="T38" fmla="*/ 22 w 444"/>
              <a:gd name="T39" fmla="*/ 273 h 365"/>
              <a:gd name="T40" fmla="*/ 10 w 444"/>
              <a:gd name="T41" fmla="*/ 247 h 365"/>
              <a:gd name="T42" fmla="*/ 326 w 444"/>
              <a:gd name="T43" fmla="*/ 273 h 365"/>
              <a:gd name="T44" fmla="*/ 326 w 444"/>
              <a:gd name="T45" fmla="*/ 237 h 365"/>
              <a:gd name="T46" fmla="*/ 10 w 444"/>
              <a:gd name="T47" fmla="*/ 45 h 365"/>
              <a:gd name="T48" fmla="*/ 404 w 444"/>
              <a:gd name="T49" fmla="*/ 172 h 365"/>
              <a:gd name="T50" fmla="*/ 326 w 444"/>
              <a:gd name="T51" fmla="*/ 189 h 365"/>
              <a:gd name="T52" fmla="*/ 427 w 444"/>
              <a:gd name="T53" fmla="*/ 355 h 365"/>
              <a:gd name="T54" fmla="*/ 336 w 444"/>
              <a:gd name="T55" fmla="*/ 348 h 365"/>
              <a:gd name="T56" fmla="*/ 434 w 444"/>
              <a:gd name="T57" fmla="*/ 339 h 365"/>
              <a:gd name="T58" fmla="*/ 434 w 444"/>
              <a:gd name="T59" fmla="*/ 329 h 365"/>
              <a:gd name="T60" fmla="*/ 336 w 444"/>
              <a:gd name="T61" fmla="*/ 205 h 365"/>
              <a:gd name="T62" fmla="*/ 434 w 444"/>
              <a:gd name="T63" fmla="*/ 329 h 365"/>
              <a:gd name="T64" fmla="*/ 336 w 444"/>
              <a:gd name="T65" fmla="*/ 196 h 365"/>
              <a:gd name="T66" fmla="*/ 343 w 444"/>
              <a:gd name="T67" fmla="*/ 181 h 365"/>
              <a:gd name="T68" fmla="*/ 434 w 444"/>
              <a:gd name="T69" fmla="*/ 189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4" h="365">
                <a:moveTo>
                  <a:pt x="427" y="172"/>
                </a:moveTo>
                <a:cubicBezTo>
                  <a:pt x="414" y="172"/>
                  <a:pt x="414" y="172"/>
                  <a:pt x="414" y="172"/>
                </a:cubicBezTo>
                <a:cubicBezTo>
                  <a:pt x="414" y="22"/>
                  <a:pt x="414" y="22"/>
                  <a:pt x="414" y="22"/>
                </a:cubicBezTo>
                <a:cubicBezTo>
                  <a:pt x="414" y="10"/>
                  <a:pt x="404" y="0"/>
                  <a:pt x="392" y="0"/>
                </a:cubicBezTo>
                <a:cubicBezTo>
                  <a:pt x="22" y="0"/>
                  <a:pt x="22" y="0"/>
                  <a:pt x="22" y="0"/>
                </a:cubicBezTo>
                <a:cubicBezTo>
                  <a:pt x="10" y="0"/>
                  <a:pt x="0" y="10"/>
                  <a:pt x="0" y="22"/>
                </a:cubicBezTo>
                <a:cubicBezTo>
                  <a:pt x="0" y="261"/>
                  <a:pt x="0" y="261"/>
                  <a:pt x="0" y="261"/>
                </a:cubicBezTo>
                <a:cubicBezTo>
                  <a:pt x="0" y="273"/>
                  <a:pt x="10" y="283"/>
                  <a:pt x="22" y="283"/>
                </a:cubicBezTo>
                <a:cubicBezTo>
                  <a:pt x="163" y="283"/>
                  <a:pt x="163" y="283"/>
                  <a:pt x="163" y="283"/>
                </a:cubicBezTo>
                <a:cubicBezTo>
                  <a:pt x="161" y="319"/>
                  <a:pt x="154" y="355"/>
                  <a:pt x="144" y="355"/>
                </a:cubicBezTo>
                <a:cubicBezTo>
                  <a:pt x="123" y="355"/>
                  <a:pt x="123" y="355"/>
                  <a:pt x="123" y="355"/>
                </a:cubicBezTo>
                <a:cubicBezTo>
                  <a:pt x="120" y="355"/>
                  <a:pt x="118" y="358"/>
                  <a:pt x="118" y="360"/>
                </a:cubicBezTo>
                <a:cubicBezTo>
                  <a:pt x="118" y="363"/>
                  <a:pt x="120" y="365"/>
                  <a:pt x="123" y="365"/>
                </a:cubicBezTo>
                <a:cubicBezTo>
                  <a:pt x="291" y="365"/>
                  <a:pt x="291" y="365"/>
                  <a:pt x="291" y="365"/>
                </a:cubicBezTo>
                <a:cubicBezTo>
                  <a:pt x="294" y="365"/>
                  <a:pt x="296" y="363"/>
                  <a:pt x="296" y="360"/>
                </a:cubicBezTo>
                <a:cubicBezTo>
                  <a:pt x="296" y="358"/>
                  <a:pt x="294" y="355"/>
                  <a:pt x="291" y="355"/>
                </a:cubicBezTo>
                <a:cubicBezTo>
                  <a:pt x="273" y="355"/>
                  <a:pt x="273" y="355"/>
                  <a:pt x="273" y="355"/>
                </a:cubicBezTo>
                <a:cubicBezTo>
                  <a:pt x="264" y="355"/>
                  <a:pt x="256" y="319"/>
                  <a:pt x="254" y="283"/>
                </a:cubicBezTo>
                <a:cubicBezTo>
                  <a:pt x="326" y="283"/>
                  <a:pt x="326" y="283"/>
                  <a:pt x="326" y="283"/>
                </a:cubicBezTo>
                <a:cubicBezTo>
                  <a:pt x="326" y="348"/>
                  <a:pt x="326" y="348"/>
                  <a:pt x="326" y="348"/>
                </a:cubicBezTo>
                <a:cubicBezTo>
                  <a:pt x="326" y="357"/>
                  <a:pt x="334" y="365"/>
                  <a:pt x="343" y="365"/>
                </a:cubicBezTo>
                <a:cubicBezTo>
                  <a:pt x="427" y="365"/>
                  <a:pt x="427" y="365"/>
                  <a:pt x="427" y="365"/>
                </a:cubicBezTo>
                <a:cubicBezTo>
                  <a:pt x="436" y="365"/>
                  <a:pt x="444" y="357"/>
                  <a:pt x="444" y="348"/>
                </a:cubicBezTo>
                <a:cubicBezTo>
                  <a:pt x="444" y="189"/>
                  <a:pt x="444" y="189"/>
                  <a:pt x="444" y="189"/>
                </a:cubicBezTo>
                <a:cubicBezTo>
                  <a:pt x="444" y="179"/>
                  <a:pt x="436" y="172"/>
                  <a:pt x="427" y="172"/>
                </a:cubicBezTo>
                <a:close/>
                <a:moveTo>
                  <a:pt x="10" y="22"/>
                </a:moveTo>
                <a:cubicBezTo>
                  <a:pt x="10" y="15"/>
                  <a:pt x="15" y="9"/>
                  <a:pt x="22" y="9"/>
                </a:cubicBezTo>
                <a:cubicBezTo>
                  <a:pt x="392" y="9"/>
                  <a:pt x="392" y="9"/>
                  <a:pt x="392" y="9"/>
                </a:cubicBezTo>
                <a:cubicBezTo>
                  <a:pt x="399" y="9"/>
                  <a:pt x="404" y="15"/>
                  <a:pt x="404" y="22"/>
                </a:cubicBezTo>
                <a:cubicBezTo>
                  <a:pt x="404" y="36"/>
                  <a:pt x="404" y="36"/>
                  <a:pt x="404" y="36"/>
                </a:cubicBezTo>
                <a:cubicBezTo>
                  <a:pt x="10" y="36"/>
                  <a:pt x="10" y="36"/>
                  <a:pt x="10" y="36"/>
                </a:cubicBezTo>
                <a:lnTo>
                  <a:pt x="10" y="22"/>
                </a:lnTo>
                <a:close/>
                <a:moveTo>
                  <a:pt x="259" y="355"/>
                </a:moveTo>
                <a:cubicBezTo>
                  <a:pt x="158" y="355"/>
                  <a:pt x="158" y="355"/>
                  <a:pt x="158" y="355"/>
                </a:cubicBezTo>
                <a:cubicBezTo>
                  <a:pt x="169" y="338"/>
                  <a:pt x="172" y="301"/>
                  <a:pt x="172" y="283"/>
                </a:cubicBezTo>
                <a:cubicBezTo>
                  <a:pt x="245" y="283"/>
                  <a:pt x="245" y="283"/>
                  <a:pt x="245" y="283"/>
                </a:cubicBezTo>
                <a:cubicBezTo>
                  <a:pt x="245" y="290"/>
                  <a:pt x="246" y="305"/>
                  <a:pt x="249" y="320"/>
                </a:cubicBezTo>
                <a:cubicBezTo>
                  <a:pt x="251" y="336"/>
                  <a:pt x="255" y="348"/>
                  <a:pt x="259" y="355"/>
                </a:cubicBezTo>
                <a:close/>
                <a:moveTo>
                  <a:pt x="326" y="273"/>
                </a:moveTo>
                <a:cubicBezTo>
                  <a:pt x="22" y="273"/>
                  <a:pt x="22" y="273"/>
                  <a:pt x="22" y="273"/>
                </a:cubicBezTo>
                <a:cubicBezTo>
                  <a:pt x="15" y="273"/>
                  <a:pt x="10" y="268"/>
                  <a:pt x="10" y="261"/>
                </a:cubicBezTo>
                <a:cubicBezTo>
                  <a:pt x="10" y="247"/>
                  <a:pt x="10" y="247"/>
                  <a:pt x="10" y="247"/>
                </a:cubicBezTo>
                <a:cubicBezTo>
                  <a:pt x="326" y="247"/>
                  <a:pt x="326" y="247"/>
                  <a:pt x="326" y="247"/>
                </a:cubicBezTo>
                <a:lnTo>
                  <a:pt x="326" y="273"/>
                </a:lnTo>
                <a:close/>
                <a:moveTo>
                  <a:pt x="326" y="189"/>
                </a:moveTo>
                <a:cubicBezTo>
                  <a:pt x="326" y="237"/>
                  <a:pt x="326" y="237"/>
                  <a:pt x="326" y="237"/>
                </a:cubicBezTo>
                <a:cubicBezTo>
                  <a:pt x="10" y="237"/>
                  <a:pt x="10" y="237"/>
                  <a:pt x="10" y="237"/>
                </a:cubicBezTo>
                <a:cubicBezTo>
                  <a:pt x="10" y="45"/>
                  <a:pt x="10" y="45"/>
                  <a:pt x="10" y="45"/>
                </a:cubicBezTo>
                <a:cubicBezTo>
                  <a:pt x="404" y="45"/>
                  <a:pt x="404" y="45"/>
                  <a:pt x="404" y="45"/>
                </a:cubicBezTo>
                <a:cubicBezTo>
                  <a:pt x="404" y="172"/>
                  <a:pt x="404" y="172"/>
                  <a:pt x="404" y="172"/>
                </a:cubicBezTo>
                <a:cubicBezTo>
                  <a:pt x="343" y="172"/>
                  <a:pt x="343" y="172"/>
                  <a:pt x="343" y="172"/>
                </a:cubicBezTo>
                <a:cubicBezTo>
                  <a:pt x="334" y="172"/>
                  <a:pt x="326" y="179"/>
                  <a:pt x="326" y="189"/>
                </a:cubicBezTo>
                <a:close/>
                <a:moveTo>
                  <a:pt x="434" y="348"/>
                </a:moveTo>
                <a:cubicBezTo>
                  <a:pt x="434" y="352"/>
                  <a:pt x="431" y="355"/>
                  <a:pt x="427" y="355"/>
                </a:cubicBezTo>
                <a:cubicBezTo>
                  <a:pt x="343" y="355"/>
                  <a:pt x="343" y="355"/>
                  <a:pt x="343" y="355"/>
                </a:cubicBezTo>
                <a:cubicBezTo>
                  <a:pt x="339" y="355"/>
                  <a:pt x="336" y="352"/>
                  <a:pt x="336" y="348"/>
                </a:cubicBezTo>
                <a:cubicBezTo>
                  <a:pt x="336" y="339"/>
                  <a:pt x="336" y="339"/>
                  <a:pt x="336" y="339"/>
                </a:cubicBezTo>
                <a:cubicBezTo>
                  <a:pt x="434" y="339"/>
                  <a:pt x="434" y="339"/>
                  <a:pt x="434" y="339"/>
                </a:cubicBezTo>
                <a:lnTo>
                  <a:pt x="434" y="348"/>
                </a:lnTo>
                <a:close/>
                <a:moveTo>
                  <a:pt x="434" y="329"/>
                </a:moveTo>
                <a:cubicBezTo>
                  <a:pt x="336" y="329"/>
                  <a:pt x="336" y="329"/>
                  <a:pt x="336" y="329"/>
                </a:cubicBezTo>
                <a:cubicBezTo>
                  <a:pt x="336" y="205"/>
                  <a:pt x="336" y="205"/>
                  <a:pt x="336" y="205"/>
                </a:cubicBezTo>
                <a:cubicBezTo>
                  <a:pt x="434" y="205"/>
                  <a:pt x="434" y="205"/>
                  <a:pt x="434" y="205"/>
                </a:cubicBezTo>
                <a:lnTo>
                  <a:pt x="434" y="329"/>
                </a:lnTo>
                <a:close/>
                <a:moveTo>
                  <a:pt x="434" y="196"/>
                </a:moveTo>
                <a:cubicBezTo>
                  <a:pt x="336" y="196"/>
                  <a:pt x="336" y="196"/>
                  <a:pt x="336" y="196"/>
                </a:cubicBezTo>
                <a:cubicBezTo>
                  <a:pt x="336" y="189"/>
                  <a:pt x="336" y="189"/>
                  <a:pt x="336" y="189"/>
                </a:cubicBezTo>
                <a:cubicBezTo>
                  <a:pt x="336" y="184"/>
                  <a:pt x="339" y="181"/>
                  <a:pt x="343" y="181"/>
                </a:cubicBezTo>
                <a:cubicBezTo>
                  <a:pt x="427" y="181"/>
                  <a:pt x="427" y="181"/>
                  <a:pt x="427" y="181"/>
                </a:cubicBezTo>
                <a:cubicBezTo>
                  <a:pt x="431" y="181"/>
                  <a:pt x="434" y="184"/>
                  <a:pt x="434" y="189"/>
                </a:cubicBezTo>
                <a:lnTo>
                  <a:pt x="434" y="196"/>
                </a:ln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117" name="Freeform 36"/>
          <p:cNvSpPr>
            <a:spLocks noEditPoints="1"/>
          </p:cNvSpPr>
          <p:nvPr/>
        </p:nvSpPr>
        <p:spPr bwMode="auto">
          <a:xfrm>
            <a:off x="3582579" y="2060848"/>
            <a:ext cx="420035" cy="406815"/>
          </a:xfrm>
          <a:custGeom>
            <a:avLst/>
            <a:gdLst>
              <a:gd name="T0" fmla="*/ 367 w 484"/>
              <a:gd name="T1" fmla="*/ 1 h 469"/>
              <a:gd name="T2" fmla="*/ 367 w 484"/>
              <a:gd name="T3" fmla="*/ 10 h 469"/>
              <a:gd name="T4" fmla="*/ 331 w 484"/>
              <a:gd name="T5" fmla="*/ 45 h 469"/>
              <a:gd name="T6" fmla="*/ 162 w 484"/>
              <a:gd name="T7" fmla="*/ 44 h 469"/>
              <a:gd name="T8" fmla="*/ 118 w 484"/>
              <a:gd name="T9" fmla="*/ 89 h 469"/>
              <a:gd name="T10" fmla="*/ 118 w 484"/>
              <a:gd name="T11" fmla="*/ 79 h 469"/>
              <a:gd name="T12" fmla="*/ 482 w 484"/>
              <a:gd name="T13" fmla="*/ 263 h 469"/>
              <a:gd name="T14" fmla="*/ 436 w 484"/>
              <a:gd name="T15" fmla="*/ 127 h 469"/>
              <a:gd name="T16" fmla="*/ 256 w 484"/>
              <a:gd name="T17" fmla="*/ 246 h 469"/>
              <a:gd name="T18" fmla="*/ 263 w 484"/>
              <a:gd name="T19" fmla="*/ 283 h 469"/>
              <a:gd name="T20" fmla="*/ 307 w 484"/>
              <a:gd name="T21" fmla="*/ 220 h 469"/>
              <a:gd name="T22" fmla="*/ 291 w 484"/>
              <a:gd name="T23" fmla="*/ 347 h 469"/>
              <a:gd name="T24" fmla="*/ 310 w 484"/>
              <a:gd name="T25" fmla="*/ 451 h 469"/>
              <a:gd name="T26" fmla="*/ 365 w 484"/>
              <a:gd name="T27" fmla="*/ 347 h 469"/>
              <a:gd name="T28" fmla="*/ 402 w 484"/>
              <a:gd name="T29" fmla="*/ 469 h 469"/>
              <a:gd name="T30" fmla="*/ 423 w 484"/>
              <a:gd name="T31" fmla="*/ 450 h 469"/>
              <a:gd name="T32" fmla="*/ 446 w 484"/>
              <a:gd name="T33" fmla="*/ 343 h 469"/>
              <a:gd name="T34" fmla="*/ 449 w 484"/>
              <a:gd name="T35" fmla="*/ 274 h 469"/>
              <a:gd name="T36" fmla="*/ 470 w 484"/>
              <a:gd name="T37" fmla="*/ 283 h 469"/>
              <a:gd name="T38" fmla="*/ 464 w 484"/>
              <a:gd name="T39" fmla="*/ 274 h 469"/>
              <a:gd name="T40" fmla="*/ 419 w 484"/>
              <a:gd name="T41" fmla="*/ 179 h 469"/>
              <a:gd name="T42" fmla="*/ 436 w 484"/>
              <a:gd name="T43" fmla="*/ 338 h 469"/>
              <a:gd name="T44" fmla="*/ 411 w 484"/>
              <a:gd name="T45" fmla="*/ 343 h 469"/>
              <a:gd name="T46" fmla="*/ 414 w 484"/>
              <a:gd name="T47" fmla="*/ 450 h 469"/>
              <a:gd name="T48" fmla="*/ 402 w 484"/>
              <a:gd name="T49" fmla="*/ 464 h 469"/>
              <a:gd name="T50" fmla="*/ 377 w 484"/>
              <a:gd name="T51" fmla="*/ 342 h 469"/>
              <a:gd name="T52" fmla="*/ 356 w 484"/>
              <a:gd name="T53" fmla="*/ 342 h 469"/>
              <a:gd name="T54" fmla="*/ 319 w 484"/>
              <a:gd name="T55" fmla="*/ 450 h 469"/>
              <a:gd name="T56" fmla="*/ 320 w 484"/>
              <a:gd name="T57" fmla="*/ 433 h 469"/>
              <a:gd name="T58" fmla="*/ 321 w 484"/>
              <a:gd name="T59" fmla="*/ 340 h 469"/>
              <a:gd name="T60" fmla="*/ 323 w 484"/>
              <a:gd name="T61" fmla="*/ 182 h 469"/>
              <a:gd name="T62" fmla="*/ 276 w 484"/>
              <a:gd name="T63" fmla="*/ 270 h 469"/>
              <a:gd name="T64" fmla="*/ 260 w 484"/>
              <a:gd name="T65" fmla="*/ 265 h 469"/>
              <a:gd name="T66" fmla="*/ 305 w 484"/>
              <a:gd name="T67" fmla="*/ 131 h 469"/>
              <a:gd name="T68" fmla="*/ 468 w 484"/>
              <a:gd name="T69" fmla="*/ 248 h 469"/>
              <a:gd name="T70" fmla="*/ 473 w 484"/>
              <a:gd name="T71" fmla="*/ 265 h 469"/>
              <a:gd name="T72" fmla="*/ 228 w 484"/>
              <a:gd name="T73" fmla="*/ 246 h 469"/>
              <a:gd name="T74" fmla="*/ 48 w 484"/>
              <a:gd name="T75" fmla="*/ 127 h 469"/>
              <a:gd name="T76" fmla="*/ 2 w 484"/>
              <a:gd name="T77" fmla="*/ 263 h 469"/>
              <a:gd name="T78" fmla="*/ 36 w 484"/>
              <a:gd name="T79" fmla="*/ 274 h 469"/>
              <a:gd name="T80" fmla="*/ 61 w 484"/>
              <a:gd name="T81" fmla="*/ 451 h 469"/>
              <a:gd name="T82" fmla="*/ 118 w 484"/>
              <a:gd name="T83" fmla="*/ 332 h 469"/>
              <a:gd name="T84" fmla="*/ 153 w 484"/>
              <a:gd name="T85" fmla="*/ 469 h 469"/>
              <a:gd name="T86" fmla="*/ 168 w 484"/>
              <a:gd name="T87" fmla="*/ 204 h 469"/>
              <a:gd name="T88" fmla="*/ 222 w 484"/>
              <a:gd name="T89" fmla="*/ 283 h 469"/>
              <a:gd name="T90" fmla="*/ 219 w 484"/>
              <a:gd name="T91" fmla="*/ 274 h 469"/>
              <a:gd name="T92" fmla="*/ 162 w 484"/>
              <a:gd name="T93" fmla="*/ 176 h 469"/>
              <a:gd name="T94" fmla="*/ 164 w 484"/>
              <a:gd name="T95" fmla="*/ 408 h 469"/>
              <a:gd name="T96" fmla="*/ 165 w 484"/>
              <a:gd name="T97" fmla="*/ 450 h 469"/>
              <a:gd name="T98" fmla="*/ 153 w 484"/>
              <a:gd name="T99" fmla="*/ 459 h 469"/>
              <a:gd name="T100" fmla="*/ 118 w 484"/>
              <a:gd name="T101" fmla="*/ 287 h 469"/>
              <a:gd name="T102" fmla="*/ 83 w 484"/>
              <a:gd name="T103" fmla="*/ 459 h 469"/>
              <a:gd name="T104" fmla="*/ 71 w 484"/>
              <a:gd name="T105" fmla="*/ 439 h 469"/>
              <a:gd name="T106" fmla="*/ 77 w 484"/>
              <a:gd name="T107" fmla="*/ 181 h 469"/>
              <a:gd name="T108" fmla="*/ 27 w 484"/>
              <a:gd name="T109" fmla="*/ 270 h 469"/>
              <a:gd name="T110" fmla="*/ 11 w 484"/>
              <a:gd name="T111" fmla="*/ 265 h 469"/>
              <a:gd name="T112" fmla="*/ 17 w 484"/>
              <a:gd name="T113" fmla="*/ 249 h 469"/>
              <a:gd name="T114" fmla="*/ 179 w 484"/>
              <a:gd name="T115" fmla="*/ 131 h 469"/>
              <a:gd name="T116" fmla="*/ 225 w 484"/>
              <a:gd name="T117" fmla="*/ 265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84" h="469">
                <a:moveTo>
                  <a:pt x="367" y="90"/>
                </a:moveTo>
                <a:cubicBezTo>
                  <a:pt x="391" y="90"/>
                  <a:pt x="411" y="70"/>
                  <a:pt x="411" y="45"/>
                </a:cubicBezTo>
                <a:cubicBezTo>
                  <a:pt x="411" y="21"/>
                  <a:pt x="391" y="1"/>
                  <a:pt x="367" y="1"/>
                </a:cubicBezTo>
                <a:cubicBezTo>
                  <a:pt x="342" y="1"/>
                  <a:pt x="322" y="21"/>
                  <a:pt x="322" y="45"/>
                </a:cubicBezTo>
                <a:cubicBezTo>
                  <a:pt x="322" y="70"/>
                  <a:pt x="342" y="90"/>
                  <a:pt x="367" y="90"/>
                </a:cubicBezTo>
                <a:close/>
                <a:moveTo>
                  <a:pt x="367" y="10"/>
                </a:moveTo>
                <a:cubicBezTo>
                  <a:pt x="386" y="10"/>
                  <a:pt x="402" y="26"/>
                  <a:pt x="402" y="45"/>
                </a:cubicBezTo>
                <a:cubicBezTo>
                  <a:pt x="402" y="64"/>
                  <a:pt x="386" y="80"/>
                  <a:pt x="367" y="80"/>
                </a:cubicBezTo>
                <a:cubicBezTo>
                  <a:pt x="347" y="80"/>
                  <a:pt x="331" y="64"/>
                  <a:pt x="331" y="45"/>
                </a:cubicBezTo>
                <a:cubicBezTo>
                  <a:pt x="331" y="26"/>
                  <a:pt x="347" y="10"/>
                  <a:pt x="367" y="10"/>
                </a:cubicBezTo>
                <a:close/>
                <a:moveTo>
                  <a:pt x="118" y="89"/>
                </a:moveTo>
                <a:cubicBezTo>
                  <a:pt x="142" y="89"/>
                  <a:pt x="162" y="69"/>
                  <a:pt x="162" y="44"/>
                </a:cubicBezTo>
                <a:cubicBezTo>
                  <a:pt x="162" y="20"/>
                  <a:pt x="142" y="0"/>
                  <a:pt x="118" y="0"/>
                </a:cubicBezTo>
                <a:cubicBezTo>
                  <a:pt x="93" y="0"/>
                  <a:pt x="74" y="20"/>
                  <a:pt x="74" y="44"/>
                </a:cubicBezTo>
                <a:cubicBezTo>
                  <a:pt x="74" y="69"/>
                  <a:pt x="93" y="89"/>
                  <a:pt x="118" y="89"/>
                </a:cubicBezTo>
                <a:close/>
                <a:moveTo>
                  <a:pt x="118" y="9"/>
                </a:moveTo>
                <a:cubicBezTo>
                  <a:pt x="137" y="9"/>
                  <a:pt x="153" y="25"/>
                  <a:pt x="153" y="44"/>
                </a:cubicBezTo>
                <a:cubicBezTo>
                  <a:pt x="153" y="64"/>
                  <a:pt x="137" y="79"/>
                  <a:pt x="118" y="79"/>
                </a:cubicBezTo>
                <a:cubicBezTo>
                  <a:pt x="99" y="79"/>
                  <a:pt x="83" y="64"/>
                  <a:pt x="83" y="44"/>
                </a:cubicBezTo>
                <a:cubicBezTo>
                  <a:pt x="83" y="25"/>
                  <a:pt x="99" y="9"/>
                  <a:pt x="118" y="9"/>
                </a:cubicBezTo>
                <a:close/>
                <a:moveTo>
                  <a:pt x="482" y="263"/>
                </a:moveTo>
                <a:cubicBezTo>
                  <a:pt x="482" y="262"/>
                  <a:pt x="482" y="262"/>
                  <a:pt x="482" y="262"/>
                </a:cubicBezTo>
                <a:cubicBezTo>
                  <a:pt x="481" y="261"/>
                  <a:pt x="479" y="254"/>
                  <a:pt x="477" y="246"/>
                </a:cubicBezTo>
                <a:cubicBezTo>
                  <a:pt x="465" y="211"/>
                  <a:pt x="442" y="140"/>
                  <a:pt x="436" y="127"/>
                </a:cubicBezTo>
                <a:cubicBezTo>
                  <a:pt x="427" y="107"/>
                  <a:pt x="406" y="99"/>
                  <a:pt x="367" y="99"/>
                </a:cubicBezTo>
                <a:cubicBezTo>
                  <a:pt x="327" y="99"/>
                  <a:pt x="306" y="107"/>
                  <a:pt x="297" y="127"/>
                </a:cubicBezTo>
                <a:cubicBezTo>
                  <a:pt x="291" y="140"/>
                  <a:pt x="268" y="211"/>
                  <a:pt x="256" y="246"/>
                </a:cubicBezTo>
                <a:cubicBezTo>
                  <a:pt x="254" y="254"/>
                  <a:pt x="252" y="261"/>
                  <a:pt x="251" y="262"/>
                </a:cubicBezTo>
                <a:cubicBezTo>
                  <a:pt x="251" y="262"/>
                  <a:pt x="251" y="262"/>
                  <a:pt x="251" y="263"/>
                </a:cubicBezTo>
                <a:cubicBezTo>
                  <a:pt x="249" y="271"/>
                  <a:pt x="254" y="280"/>
                  <a:pt x="263" y="283"/>
                </a:cubicBezTo>
                <a:cubicBezTo>
                  <a:pt x="265" y="283"/>
                  <a:pt x="267" y="284"/>
                  <a:pt x="269" y="284"/>
                </a:cubicBezTo>
                <a:cubicBezTo>
                  <a:pt x="276" y="284"/>
                  <a:pt x="282" y="280"/>
                  <a:pt x="284" y="274"/>
                </a:cubicBezTo>
                <a:cubicBezTo>
                  <a:pt x="307" y="220"/>
                  <a:pt x="307" y="220"/>
                  <a:pt x="307" y="220"/>
                </a:cubicBezTo>
                <a:cubicBezTo>
                  <a:pt x="287" y="342"/>
                  <a:pt x="287" y="342"/>
                  <a:pt x="287" y="342"/>
                </a:cubicBezTo>
                <a:cubicBezTo>
                  <a:pt x="287" y="343"/>
                  <a:pt x="287" y="345"/>
                  <a:pt x="288" y="346"/>
                </a:cubicBezTo>
                <a:cubicBezTo>
                  <a:pt x="289" y="347"/>
                  <a:pt x="290" y="347"/>
                  <a:pt x="291" y="347"/>
                </a:cubicBezTo>
                <a:cubicBezTo>
                  <a:pt x="313" y="347"/>
                  <a:pt x="313" y="347"/>
                  <a:pt x="313" y="347"/>
                </a:cubicBezTo>
                <a:cubicBezTo>
                  <a:pt x="312" y="379"/>
                  <a:pt x="310" y="446"/>
                  <a:pt x="310" y="450"/>
                </a:cubicBezTo>
                <a:cubicBezTo>
                  <a:pt x="310" y="450"/>
                  <a:pt x="310" y="450"/>
                  <a:pt x="310" y="451"/>
                </a:cubicBezTo>
                <a:cubicBezTo>
                  <a:pt x="311" y="461"/>
                  <a:pt x="320" y="469"/>
                  <a:pt x="331" y="469"/>
                </a:cubicBezTo>
                <a:cubicBezTo>
                  <a:pt x="342" y="469"/>
                  <a:pt x="352" y="461"/>
                  <a:pt x="353" y="451"/>
                </a:cubicBezTo>
                <a:cubicBezTo>
                  <a:pt x="365" y="347"/>
                  <a:pt x="365" y="347"/>
                  <a:pt x="365" y="347"/>
                </a:cubicBezTo>
                <a:cubicBezTo>
                  <a:pt x="368" y="347"/>
                  <a:pt x="368" y="347"/>
                  <a:pt x="368" y="347"/>
                </a:cubicBezTo>
                <a:cubicBezTo>
                  <a:pt x="380" y="451"/>
                  <a:pt x="380" y="451"/>
                  <a:pt x="380" y="451"/>
                </a:cubicBezTo>
                <a:cubicBezTo>
                  <a:pt x="381" y="461"/>
                  <a:pt x="391" y="469"/>
                  <a:pt x="402" y="469"/>
                </a:cubicBezTo>
                <a:cubicBezTo>
                  <a:pt x="402" y="469"/>
                  <a:pt x="402" y="469"/>
                  <a:pt x="402" y="469"/>
                </a:cubicBezTo>
                <a:cubicBezTo>
                  <a:pt x="413" y="469"/>
                  <a:pt x="422" y="461"/>
                  <a:pt x="423" y="451"/>
                </a:cubicBezTo>
                <a:cubicBezTo>
                  <a:pt x="423" y="450"/>
                  <a:pt x="423" y="450"/>
                  <a:pt x="423" y="450"/>
                </a:cubicBezTo>
                <a:cubicBezTo>
                  <a:pt x="423" y="446"/>
                  <a:pt x="421" y="379"/>
                  <a:pt x="420" y="347"/>
                </a:cubicBezTo>
                <a:cubicBezTo>
                  <a:pt x="442" y="347"/>
                  <a:pt x="442" y="347"/>
                  <a:pt x="442" y="347"/>
                </a:cubicBezTo>
                <a:cubicBezTo>
                  <a:pt x="444" y="347"/>
                  <a:pt x="446" y="345"/>
                  <a:pt x="446" y="343"/>
                </a:cubicBezTo>
                <a:cubicBezTo>
                  <a:pt x="446" y="342"/>
                  <a:pt x="446" y="342"/>
                  <a:pt x="446" y="341"/>
                </a:cubicBezTo>
                <a:cubicBezTo>
                  <a:pt x="426" y="220"/>
                  <a:pt x="426" y="220"/>
                  <a:pt x="426" y="220"/>
                </a:cubicBezTo>
                <a:cubicBezTo>
                  <a:pt x="449" y="274"/>
                  <a:pt x="449" y="274"/>
                  <a:pt x="449" y="274"/>
                </a:cubicBezTo>
                <a:cubicBezTo>
                  <a:pt x="451" y="280"/>
                  <a:pt x="457" y="284"/>
                  <a:pt x="464" y="284"/>
                </a:cubicBezTo>
                <a:cubicBezTo>
                  <a:pt x="464" y="284"/>
                  <a:pt x="464" y="284"/>
                  <a:pt x="464" y="284"/>
                </a:cubicBezTo>
                <a:cubicBezTo>
                  <a:pt x="466" y="284"/>
                  <a:pt x="468" y="283"/>
                  <a:pt x="470" y="283"/>
                </a:cubicBezTo>
                <a:cubicBezTo>
                  <a:pt x="479" y="280"/>
                  <a:pt x="484" y="271"/>
                  <a:pt x="482" y="263"/>
                </a:cubicBezTo>
                <a:close/>
                <a:moveTo>
                  <a:pt x="467" y="274"/>
                </a:moveTo>
                <a:cubicBezTo>
                  <a:pt x="466" y="274"/>
                  <a:pt x="465" y="274"/>
                  <a:pt x="464" y="274"/>
                </a:cubicBezTo>
                <a:cubicBezTo>
                  <a:pt x="464" y="274"/>
                  <a:pt x="464" y="274"/>
                  <a:pt x="464" y="274"/>
                </a:cubicBezTo>
                <a:cubicBezTo>
                  <a:pt x="461" y="274"/>
                  <a:pt x="458" y="273"/>
                  <a:pt x="457" y="270"/>
                </a:cubicBezTo>
                <a:cubicBezTo>
                  <a:pt x="419" y="179"/>
                  <a:pt x="419" y="179"/>
                  <a:pt x="419" y="179"/>
                </a:cubicBezTo>
                <a:cubicBezTo>
                  <a:pt x="418" y="177"/>
                  <a:pt x="415" y="176"/>
                  <a:pt x="413" y="176"/>
                </a:cubicBezTo>
                <a:cubicBezTo>
                  <a:pt x="411" y="177"/>
                  <a:pt x="409" y="179"/>
                  <a:pt x="410" y="182"/>
                </a:cubicBezTo>
                <a:cubicBezTo>
                  <a:pt x="436" y="338"/>
                  <a:pt x="436" y="338"/>
                  <a:pt x="436" y="338"/>
                </a:cubicBezTo>
                <a:cubicBezTo>
                  <a:pt x="416" y="338"/>
                  <a:pt x="416" y="338"/>
                  <a:pt x="416" y="338"/>
                </a:cubicBezTo>
                <a:cubicBezTo>
                  <a:pt x="414" y="338"/>
                  <a:pt x="413" y="339"/>
                  <a:pt x="412" y="340"/>
                </a:cubicBezTo>
                <a:cubicBezTo>
                  <a:pt x="411" y="340"/>
                  <a:pt x="411" y="342"/>
                  <a:pt x="411" y="343"/>
                </a:cubicBezTo>
                <a:cubicBezTo>
                  <a:pt x="411" y="343"/>
                  <a:pt x="412" y="370"/>
                  <a:pt x="412" y="397"/>
                </a:cubicBezTo>
                <a:cubicBezTo>
                  <a:pt x="413" y="410"/>
                  <a:pt x="413" y="423"/>
                  <a:pt x="413" y="433"/>
                </a:cubicBezTo>
                <a:cubicBezTo>
                  <a:pt x="414" y="443"/>
                  <a:pt x="414" y="447"/>
                  <a:pt x="414" y="450"/>
                </a:cubicBezTo>
                <a:cubicBezTo>
                  <a:pt x="414" y="450"/>
                  <a:pt x="414" y="450"/>
                  <a:pt x="414" y="450"/>
                </a:cubicBezTo>
                <a:cubicBezTo>
                  <a:pt x="413" y="455"/>
                  <a:pt x="408" y="459"/>
                  <a:pt x="402" y="459"/>
                </a:cubicBezTo>
                <a:cubicBezTo>
                  <a:pt x="402" y="464"/>
                  <a:pt x="402" y="464"/>
                  <a:pt x="402" y="464"/>
                </a:cubicBezTo>
                <a:cubicBezTo>
                  <a:pt x="402" y="459"/>
                  <a:pt x="402" y="459"/>
                  <a:pt x="402" y="459"/>
                </a:cubicBezTo>
                <a:cubicBezTo>
                  <a:pt x="396" y="459"/>
                  <a:pt x="390" y="455"/>
                  <a:pt x="390" y="450"/>
                </a:cubicBezTo>
                <a:cubicBezTo>
                  <a:pt x="377" y="342"/>
                  <a:pt x="377" y="342"/>
                  <a:pt x="377" y="342"/>
                </a:cubicBezTo>
                <a:cubicBezTo>
                  <a:pt x="377" y="340"/>
                  <a:pt x="375" y="338"/>
                  <a:pt x="372" y="338"/>
                </a:cubicBezTo>
                <a:cubicBezTo>
                  <a:pt x="361" y="338"/>
                  <a:pt x="361" y="338"/>
                  <a:pt x="361" y="338"/>
                </a:cubicBezTo>
                <a:cubicBezTo>
                  <a:pt x="358" y="338"/>
                  <a:pt x="356" y="340"/>
                  <a:pt x="356" y="342"/>
                </a:cubicBezTo>
                <a:cubicBezTo>
                  <a:pt x="343" y="450"/>
                  <a:pt x="343" y="450"/>
                  <a:pt x="343" y="450"/>
                </a:cubicBezTo>
                <a:cubicBezTo>
                  <a:pt x="343" y="455"/>
                  <a:pt x="338" y="459"/>
                  <a:pt x="331" y="459"/>
                </a:cubicBezTo>
                <a:cubicBezTo>
                  <a:pt x="325" y="459"/>
                  <a:pt x="320" y="455"/>
                  <a:pt x="319" y="450"/>
                </a:cubicBezTo>
                <a:cubicBezTo>
                  <a:pt x="319" y="450"/>
                  <a:pt x="319" y="450"/>
                  <a:pt x="319" y="450"/>
                </a:cubicBezTo>
                <a:cubicBezTo>
                  <a:pt x="319" y="449"/>
                  <a:pt x="319" y="447"/>
                  <a:pt x="319" y="446"/>
                </a:cubicBezTo>
                <a:cubicBezTo>
                  <a:pt x="319" y="443"/>
                  <a:pt x="320" y="439"/>
                  <a:pt x="320" y="433"/>
                </a:cubicBezTo>
                <a:cubicBezTo>
                  <a:pt x="320" y="423"/>
                  <a:pt x="320" y="410"/>
                  <a:pt x="321" y="397"/>
                </a:cubicBezTo>
                <a:cubicBezTo>
                  <a:pt x="321" y="370"/>
                  <a:pt x="322" y="343"/>
                  <a:pt x="322" y="343"/>
                </a:cubicBezTo>
                <a:cubicBezTo>
                  <a:pt x="322" y="342"/>
                  <a:pt x="322" y="340"/>
                  <a:pt x="321" y="340"/>
                </a:cubicBezTo>
                <a:cubicBezTo>
                  <a:pt x="320" y="339"/>
                  <a:pt x="319" y="338"/>
                  <a:pt x="317" y="338"/>
                </a:cubicBezTo>
                <a:cubicBezTo>
                  <a:pt x="297" y="338"/>
                  <a:pt x="297" y="338"/>
                  <a:pt x="297" y="338"/>
                </a:cubicBezTo>
                <a:cubicBezTo>
                  <a:pt x="323" y="182"/>
                  <a:pt x="323" y="182"/>
                  <a:pt x="323" y="182"/>
                </a:cubicBezTo>
                <a:cubicBezTo>
                  <a:pt x="324" y="179"/>
                  <a:pt x="322" y="177"/>
                  <a:pt x="320" y="176"/>
                </a:cubicBezTo>
                <a:cubicBezTo>
                  <a:pt x="318" y="176"/>
                  <a:pt x="315" y="177"/>
                  <a:pt x="314" y="179"/>
                </a:cubicBezTo>
                <a:cubicBezTo>
                  <a:pt x="276" y="270"/>
                  <a:pt x="276" y="270"/>
                  <a:pt x="276" y="270"/>
                </a:cubicBezTo>
                <a:cubicBezTo>
                  <a:pt x="274" y="273"/>
                  <a:pt x="270" y="275"/>
                  <a:pt x="266" y="274"/>
                </a:cubicBezTo>
                <a:cubicBezTo>
                  <a:pt x="262" y="272"/>
                  <a:pt x="259" y="268"/>
                  <a:pt x="260" y="265"/>
                </a:cubicBezTo>
                <a:cubicBezTo>
                  <a:pt x="260" y="265"/>
                  <a:pt x="260" y="265"/>
                  <a:pt x="260" y="265"/>
                </a:cubicBezTo>
                <a:cubicBezTo>
                  <a:pt x="260" y="264"/>
                  <a:pt x="261" y="263"/>
                  <a:pt x="261" y="261"/>
                </a:cubicBezTo>
                <a:cubicBezTo>
                  <a:pt x="262" y="258"/>
                  <a:pt x="264" y="254"/>
                  <a:pt x="265" y="249"/>
                </a:cubicBezTo>
                <a:cubicBezTo>
                  <a:pt x="276" y="217"/>
                  <a:pt x="300" y="143"/>
                  <a:pt x="305" y="131"/>
                </a:cubicBezTo>
                <a:cubicBezTo>
                  <a:pt x="311" y="120"/>
                  <a:pt x="322" y="108"/>
                  <a:pt x="367" y="108"/>
                </a:cubicBezTo>
                <a:cubicBezTo>
                  <a:pt x="411" y="108"/>
                  <a:pt x="422" y="120"/>
                  <a:pt x="428" y="131"/>
                </a:cubicBezTo>
                <a:cubicBezTo>
                  <a:pt x="433" y="143"/>
                  <a:pt x="457" y="217"/>
                  <a:pt x="468" y="248"/>
                </a:cubicBezTo>
                <a:cubicBezTo>
                  <a:pt x="469" y="254"/>
                  <a:pt x="471" y="258"/>
                  <a:pt x="472" y="261"/>
                </a:cubicBezTo>
                <a:cubicBezTo>
                  <a:pt x="472" y="262"/>
                  <a:pt x="473" y="264"/>
                  <a:pt x="473" y="265"/>
                </a:cubicBezTo>
                <a:cubicBezTo>
                  <a:pt x="473" y="265"/>
                  <a:pt x="473" y="265"/>
                  <a:pt x="473" y="265"/>
                </a:cubicBezTo>
                <a:cubicBezTo>
                  <a:pt x="474" y="268"/>
                  <a:pt x="471" y="272"/>
                  <a:pt x="467" y="274"/>
                </a:cubicBezTo>
                <a:close/>
                <a:moveTo>
                  <a:pt x="233" y="262"/>
                </a:moveTo>
                <a:cubicBezTo>
                  <a:pt x="233" y="261"/>
                  <a:pt x="231" y="254"/>
                  <a:pt x="228" y="246"/>
                </a:cubicBezTo>
                <a:cubicBezTo>
                  <a:pt x="217" y="211"/>
                  <a:pt x="194" y="140"/>
                  <a:pt x="188" y="127"/>
                </a:cubicBezTo>
                <a:cubicBezTo>
                  <a:pt x="178" y="107"/>
                  <a:pt x="157" y="99"/>
                  <a:pt x="118" y="99"/>
                </a:cubicBezTo>
                <a:cubicBezTo>
                  <a:pt x="79" y="99"/>
                  <a:pt x="58" y="107"/>
                  <a:pt x="48" y="127"/>
                </a:cubicBezTo>
                <a:cubicBezTo>
                  <a:pt x="42" y="140"/>
                  <a:pt x="19" y="211"/>
                  <a:pt x="8" y="246"/>
                </a:cubicBezTo>
                <a:cubicBezTo>
                  <a:pt x="5" y="254"/>
                  <a:pt x="3" y="261"/>
                  <a:pt x="3" y="262"/>
                </a:cubicBezTo>
                <a:cubicBezTo>
                  <a:pt x="2" y="262"/>
                  <a:pt x="2" y="262"/>
                  <a:pt x="2" y="263"/>
                </a:cubicBezTo>
                <a:cubicBezTo>
                  <a:pt x="0" y="271"/>
                  <a:pt x="5" y="280"/>
                  <a:pt x="14" y="283"/>
                </a:cubicBezTo>
                <a:cubicBezTo>
                  <a:pt x="16" y="283"/>
                  <a:pt x="18" y="284"/>
                  <a:pt x="20" y="284"/>
                </a:cubicBezTo>
                <a:cubicBezTo>
                  <a:pt x="27" y="284"/>
                  <a:pt x="33" y="280"/>
                  <a:pt x="36" y="274"/>
                </a:cubicBezTo>
                <a:cubicBezTo>
                  <a:pt x="68" y="204"/>
                  <a:pt x="68" y="204"/>
                  <a:pt x="68" y="204"/>
                </a:cubicBezTo>
                <a:cubicBezTo>
                  <a:pt x="65" y="298"/>
                  <a:pt x="62" y="443"/>
                  <a:pt x="61" y="450"/>
                </a:cubicBezTo>
                <a:cubicBezTo>
                  <a:pt x="61" y="450"/>
                  <a:pt x="61" y="450"/>
                  <a:pt x="61" y="451"/>
                </a:cubicBezTo>
                <a:cubicBezTo>
                  <a:pt x="62" y="461"/>
                  <a:pt x="71" y="469"/>
                  <a:pt x="83" y="469"/>
                </a:cubicBezTo>
                <a:cubicBezTo>
                  <a:pt x="94" y="469"/>
                  <a:pt x="103" y="461"/>
                  <a:pt x="104" y="451"/>
                </a:cubicBezTo>
                <a:cubicBezTo>
                  <a:pt x="118" y="332"/>
                  <a:pt x="118" y="332"/>
                  <a:pt x="118" y="332"/>
                </a:cubicBezTo>
                <a:cubicBezTo>
                  <a:pt x="132" y="451"/>
                  <a:pt x="132" y="451"/>
                  <a:pt x="132" y="451"/>
                </a:cubicBezTo>
                <a:cubicBezTo>
                  <a:pt x="133" y="461"/>
                  <a:pt x="142" y="469"/>
                  <a:pt x="153" y="469"/>
                </a:cubicBezTo>
                <a:cubicBezTo>
                  <a:pt x="153" y="469"/>
                  <a:pt x="153" y="469"/>
                  <a:pt x="153" y="469"/>
                </a:cubicBezTo>
                <a:cubicBezTo>
                  <a:pt x="165" y="469"/>
                  <a:pt x="174" y="461"/>
                  <a:pt x="175" y="451"/>
                </a:cubicBezTo>
                <a:cubicBezTo>
                  <a:pt x="175" y="450"/>
                  <a:pt x="175" y="450"/>
                  <a:pt x="175" y="450"/>
                </a:cubicBezTo>
                <a:cubicBezTo>
                  <a:pt x="174" y="443"/>
                  <a:pt x="171" y="298"/>
                  <a:pt x="168" y="204"/>
                </a:cubicBezTo>
                <a:cubicBezTo>
                  <a:pt x="200" y="274"/>
                  <a:pt x="200" y="274"/>
                  <a:pt x="200" y="274"/>
                </a:cubicBezTo>
                <a:cubicBezTo>
                  <a:pt x="203" y="280"/>
                  <a:pt x="209" y="284"/>
                  <a:pt x="216" y="284"/>
                </a:cubicBezTo>
                <a:cubicBezTo>
                  <a:pt x="218" y="284"/>
                  <a:pt x="220" y="283"/>
                  <a:pt x="222" y="283"/>
                </a:cubicBezTo>
                <a:cubicBezTo>
                  <a:pt x="230" y="280"/>
                  <a:pt x="236" y="271"/>
                  <a:pt x="234" y="263"/>
                </a:cubicBezTo>
                <a:cubicBezTo>
                  <a:pt x="234" y="262"/>
                  <a:pt x="233" y="262"/>
                  <a:pt x="233" y="262"/>
                </a:cubicBezTo>
                <a:close/>
                <a:moveTo>
                  <a:pt x="219" y="274"/>
                </a:moveTo>
                <a:cubicBezTo>
                  <a:pt x="215" y="275"/>
                  <a:pt x="210" y="274"/>
                  <a:pt x="209" y="270"/>
                </a:cubicBezTo>
                <a:cubicBezTo>
                  <a:pt x="167" y="179"/>
                  <a:pt x="167" y="179"/>
                  <a:pt x="167" y="179"/>
                </a:cubicBezTo>
                <a:cubicBezTo>
                  <a:pt x="167" y="177"/>
                  <a:pt x="164" y="176"/>
                  <a:pt x="162" y="176"/>
                </a:cubicBezTo>
                <a:cubicBezTo>
                  <a:pt x="160" y="177"/>
                  <a:pt x="158" y="179"/>
                  <a:pt x="158" y="181"/>
                </a:cubicBezTo>
                <a:cubicBezTo>
                  <a:pt x="158" y="181"/>
                  <a:pt x="160" y="248"/>
                  <a:pt x="162" y="316"/>
                </a:cubicBezTo>
                <a:cubicBezTo>
                  <a:pt x="163" y="349"/>
                  <a:pt x="163" y="383"/>
                  <a:pt x="164" y="408"/>
                </a:cubicBezTo>
                <a:cubicBezTo>
                  <a:pt x="164" y="421"/>
                  <a:pt x="165" y="431"/>
                  <a:pt x="165" y="439"/>
                </a:cubicBezTo>
                <a:cubicBezTo>
                  <a:pt x="165" y="444"/>
                  <a:pt x="165" y="448"/>
                  <a:pt x="165" y="450"/>
                </a:cubicBezTo>
                <a:cubicBezTo>
                  <a:pt x="165" y="450"/>
                  <a:pt x="165" y="450"/>
                  <a:pt x="165" y="450"/>
                </a:cubicBezTo>
                <a:cubicBezTo>
                  <a:pt x="165" y="455"/>
                  <a:pt x="160" y="459"/>
                  <a:pt x="153" y="459"/>
                </a:cubicBezTo>
                <a:cubicBezTo>
                  <a:pt x="153" y="464"/>
                  <a:pt x="153" y="464"/>
                  <a:pt x="153" y="464"/>
                </a:cubicBezTo>
                <a:cubicBezTo>
                  <a:pt x="153" y="459"/>
                  <a:pt x="153" y="459"/>
                  <a:pt x="153" y="459"/>
                </a:cubicBezTo>
                <a:cubicBezTo>
                  <a:pt x="147" y="459"/>
                  <a:pt x="142" y="455"/>
                  <a:pt x="141" y="450"/>
                </a:cubicBezTo>
                <a:cubicBezTo>
                  <a:pt x="123" y="292"/>
                  <a:pt x="123" y="292"/>
                  <a:pt x="123" y="292"/>
                </a:cubicBezTo>
                <a:cubicBezTo>
                  <a:pt x="122" y="289"/>
                  <a:pt x="120" y="287"/>
                  <a:pt x="118" y="287"/>
                </a:cubicBezTo>
                <a:cubicBezTo>
                  <a:pt x="116" y="287"/>
                  <a:pt x="114" y="289"/>
                  <a:pt x="113" y="292"/>
                </a:cubicBezTo>
                <a:cubicBezTo>
                  <a:pt x="95" y="450"/>
                  <a:pt x="95" y="450"/>
                  <a:pt x="95" y="450"/>
                </a:cubicBezTo>
                <a:cubicBezTo>
                  <a:pt x="94" y="455"/>
                  <a:pt x="89" y="459"/>
                  <a:pt x="83" y="459"/>
                </a:cubicBezTo>
                <a:cubicBezTo>
                  <a:pt x="76" y="459"/>
                  <a:pt x="71" y="455"/>
                  <a:pt x="71" y="450"/>
                </a:cubicBezTo>
                <a:cubicBezTo>
                  <a:pt x="71" y="449"/>
                  <a:pt x="71" y="448"/>
                  <a:pt x="71" y="447"/>
                </a:cubicBezTo>
                <a:cubicBezTo>
                  <a:pt x="71" y="445"/>
                  <a:pt x="71" y="442"/>
                  <a:pt x="71" y="439"/>
                </a:cubicBezTo>
                <a:cubicBezTo>
                  <a:pt x="71" y="431"/>
                  <a:pt x="71" y="421"/>
                  <a:pt x="72" y="408"/>
                </a:cubicBezTo>
                <a:cubicBezTo>
                  <a:pt x="72" y="383"/>
                  <a:pt x="73" y="349"/>
                  <a:pt x="74" y="316"/>
                </a:cubicBezTo>
                <a:cubicBezTo>
                  <a:pt x="76" y="248"/>
                  <a:pt x="77" y="181"/>
                  <a:pt x="77" y="181"/>
                </a:cubicBezTo>
                <a:cubicBezTo>
                  <a:pt x="78" y="179"/>
                  <a:pt x="76" y="177"/>
                  <a:pt x="74" y="176"/>
                </a:cubicBezTo>
                <a:cubicBezTo>
                  <a:pt x="72" y="176"/>
                  <a:pt x="69" y="177"/>
                  <a:pt x="68" y="179"/>
                </a:cubicBezTo>
                <a:cubicBezTo>
                  <a:pt x="27" y="270"/>
                  <a:pt x="27" y="270"/>
                  <a:pt x="27" y="270"/>
                </a:cubicBezTo>
                <a:cubicBezTo>
                  <a:pt x="26" y="273"/>
                  <a:pt x="23" y="274"/>
                  <a:pt x="20" y="274"/>
                </a:cubicBezTo>
                <a:cubicBezTo>
                  <a:pt x="19" y="274"/>
                  <a:pt x="18" y="274"/>
                  <a:pt x="17" y="274"/>
                </a:cubicBezTo>
                <a:cubicBezTo>
                  <a:pt x="13" y="272"/>
                  <a:pt x="11" y="268"/>
                  <a:pt x="11" y="265"/>
                </a:cubicBezTo>
                <a:cubicBezTo>
                  <a:pt x="11" y="265"/>
                  <a:pt x="11" y="265"/>
                  <a:pt x="11" y="265"/>
                </a:cubicBezTo>
                <a:cubicBezTo>
                  <a:pt x="12" y="264"/>
                  <a:pt x="12" y="263"/>
                  <a:pt x="13" y="261"/>
                </a:cubicBezTo>
                <a:cubicBezTo>
                  <a:pt x="14" y="258"/>
                  <a:pt x="15" y="254"/>
                  <a:pt x="17" y="249"/>
                </a:cubicBezTo>
                <a:cubicBezTo>
                  <a:pt x="27" y="217"/>
                  <a:pt x="51" y="143"/>
                  <a:pt x="57" y="131"/>
                </a:cubicBezTo>
                <a:cubicBezTo>
                  <a:pt x="62" y="120"/>
                  <a:pt x="74" y="108"/>
                  <a:pt x="118" y="108"/>
                </a:cubicBezTo>
                <a:cubicBezTo>
                  <a:pt x="162" y="108"/>
                  <a:pt x="174" y="120"/>
                  <a:pt x="179" y="131"/>
                </a:cubicBezTo>
                <a:cubicBezTo>
                  <a:pt x="185" y="143"/>
                  <a:pt x="209" y="217"/>
                  <a:pt x="219" y="249"/>
                </a:cubicBezTo>
                <a:cubicBezTo>
                  <a:pt x="221" y="254"/>
                  <a:pt x="222" y="258"/>
                  <a:pt x="223" y="261"/>
                </a:cubicBezTo>
                <a:cubicBezTo>
                  <a:pt x="224" y="262"/>
                  <a:pt x="224" y="264"/>
                  <a:pt x="225" y="265"/>
                </a:cubicBezTo>
                <a:cubicBezTo>
                  <a:pt x="224" y="265"/>
                  <a:pt x="224" y="265"/>
                  <a:pt x="224" y="265"/>
                </a:cubicBezTo>
                <a:cubicBezTo>
                  <a:pt x="225" y="268"/>
                  <a:pt x="223" y="272"/>
                  <a:pt x="219" y="274"/>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118" name="Freeform 39"/>
          <p:cNvSpPr>
            <a:spLocks noEditPoints="1"/>
          </p:cNvSpPr>
          <p:nvPr/>
        </p:nvSpPr>
        <p:spPr bwMode="auto">
          <a:xfrm>
            <a:off x="8375037" y="2065620"/>
            <a:ext cx="296141" cy="397270"/>
          </a:xfrm>
          <a:custGeom>
            <a:avLst/>
            <a:gdLst>
              <a:gd name="T0" fmla="*/ 235 w 342"/>
              <a:gd name="T1" fmla="*/ 50 h 458"/>
              <a:gd name="T2" fmla="*/ 136 w 342"/>
              <a:gd name="T3" fmla="*/ 50 h 458"/>
              <a:gd name="T4" fmla="*/ 185 w 342"/>
              <a:gd name="T5" fmla="*/ 9 h 458"/>
              <a:gd name="T6" fmla="*/ 185 w 342"/>
              <a:gd name="T7" fmla="*/ 90 h 458"/>
              <a:gd name="T8" fmla="*/ 185 w 342"/>
              <a:gd name="T9" fmla="*/ 9 h 458"/>
              <a:gd name="T10" fmla="*/ 321 w 342"/>
              <a:gd name="T11" fmla="*/ 183 h 458"/>
              <a:gd name="T12" fmla="*/ 254 w 342"/>
              <a:gd name="T13" fmla="*/ 118 h 458"/>
              <a:gd name="T14" fmla="*/ 176 w 342"/>
              <a:gd name="T15" fmla="*/ 114 h 458"/>
              <a:gd name="T16" fmla="*/ 97 w 342"/>
              <a:gd name="T17" fmla="*/ 165 h 458"/>
              <a:gd name="T18" fmla="*/ 2 w 342"/>
              <a:gd name="T19" fmla="*/ 171 h 458"/>
              <a:gd name="T20" fmla="*/ 93 w 342"/>
              <a:gd name="T21" fmla="*/ 214 h 458"/>
              <a:gd name="T22" fmla="*/ 110 w 342"/>
              <a:gd name="T23" fmla="*/ 213 h 458"/>
              <a:gd name="T24" fmla="*/ 185 w 342"/>
              <a:gd name="T25" fmla="*/ 247 h 458"/>
              <a:gd name="T26" fmla="*/ 127 w 342"/>
              <a:gd name="T27" fmla="*/ 321 h 458"/>
              <a:gd name="T28" fmla="*/ 90 w 342"/>
              <a:gd name="T29" fmla="*/ 446 h 458"/>
              <a:gd name="T30" fmla="*/ 140 w 342"/>
              <a:gd name="T31" fmla="*/ 443 h 458"/>
              <a:gd name="T32" fmla="*/ 181 w 342"/>
              <a:gd name="T33" fmla="*/ 343 h 458"/>
              <a:gd name="T34" fmla="*/ 213 w 342"/>
              <a:gd name="T35" fmla="*/ 311 h 458"/>
              <a:gd name="T36" fmla="*/ 266 w 342"/>
              <a:gd name="T37" fmla="*/ 458 h 458"/>
              <a:gd name="T38" fmla="*/ 295 w 342"/>
              <a:gd name="T39" fmla="*/ 425 h 458"/>
              <a:gd name="T40" fmla="*/ 245 w 342"/>
              <a:gd name="T41" fmla="*/ 177 h 458"/>
              <a:gd name="T42" fmla="*/ 297 w 342"/>
              <a:gd name="T43" fmla="*/ 267 h 458"/>
              <a:gd name="T44" fmla="*/ 337 w 342"/>
              <a:gd name="T45" fmla="*/ 277 h 458"/>
              <a:gd name="T46" fmla="*/ 106 w 342"/>
              <a:gd name="T47" fmla="*/ 204 h 458"/>
              <a:gd name="T48" fmla="*/ 21 w 342"/>
              <a:gd name="T49" fmla="*/ 186 h 458"/>
              <a:gd name="T50" fmla="*/ 30 w 342"/>
              <a:gd name="T51" fmla="*/ 162 h 458"/>
              <a:gd name="T52" fmla="*/ 100 w 342"/>
              <a:gd name="T53" fmla="*/ 174 h 458"/>
              <a:gd name="T54" fmla="*/ 162 w 342"/>
              <a:gd name="T55" fmla="*/ 150 h 458"/>
              <a:gd name="T56" fmla="*/ 106 w 342"/>
              <a:gd name="T57" fmla="*/ 204 h 458"/>
              <a:gd name="T58" fmla="*/ 270 w 342"/>
              <a:gd name="T59" fmla="*/ 449 h 458"/>
              <a:gd name="T60" fmla="*/ 221 w 342"/>
              <a:gd name="T61" fmla="*/ 303 h 458"/>
              <a:gd name="T62" fmla="*/ 286 w 342"/>
              <a:gd name="T63" fmla="*/ 426 h 458"/>
              <a:gd name="T64" fmla="*/ 320 w 342"/>
              <a:gd name="T65" fmla="*/ 276 h 458"/>
              <a:gd name="T66" fmla="*/ 285 w 342"/>
              <a:gd name="T67" fmla="*/ 199 h 458"/>
              <a:gd name="T68" fmla="*/ 239 w 342"/>
              <a:gd name="T69" fmla="*/ 160 h 458"/>
              <a:gd name="T70" fmla="*/ 232 w 342"/>
              <a:gd name="T71" fmla="*/ 165 h 458"/>
              <a:gd name="T72" fmla="*/ 194 w 342"/>
              <a:gd name="T73" fmla="*/ 317 h 458"/>
              <a:gd name="T74" fmla="*/ 147 w 342"/>
              <a:gd name="T75" fmla="*/ 400 h 458"/>
              <a:gd name="T76" fmla="*/ 114 w 342"/>
              <a:gd name="T77" fmla="*/ 449 h 458"/>
              <a:gd name="T78" fmla="*/ 98 w 342"/>
              <a:gd name="T79" fmla="*/ 419 h 458"/>
              <a:gd name="T80" fmla="*/ 194 w 342"/>
              <a:gd name="T81" fmla="*/ 251 h 458"/>
              <a:gd name="T82" fmla="*/ 171 w 342"/>
              <a:gd name="T83" fmla="*/ 148 h 458"/>
              <a:gd name="T84" fmla="*/ 202 w 342"/>
              <a:gd name="T85" fmla="*/ 111 h 458"/>
              <a:gd name="T86" fmla="*/ 307 w 342"/>
              <a:gd name="T87" fmla="*/ 177 h 458"/>
              <a:gd name="T88" fmla="*/ 331 w 342"/>
              <a:gd name="T89" fmla="*/ 26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2" h="458">
                <a:moveTo>
                  <a:pt x="185" y="99"/>
                </a:moveTo>
                <a:cubicBezTo>
                  <a:pt x="212" y="99"/>
                  <a:pt x="235" y="77"/>
                  <a:pt x="235" y="50"/>
                </a:cubicBezTo>
                <a:cubicBezTo>
                  <a:pt x="235" y="22"/>
                  <a:pt x="212" y="0"/>
                  <a:pt x="185" y="0"/>
                </a:cubicBezTo>
                <a:cubicBezTo>
                  <a:pt x="158" y="0"/>
                  <a:pt x="136" y="22"/>
                  <a:pt x="136" y="50"/>
                </a:cubicBezTo>
                <a:cubicBezTo>
                  <a:pt x="136" y="77"/>
                  <a:pt x="158" y="99"/>
                  <a:pt x="185" y="99"/>
                </a:cubicBezTo>
                <a:close/>
                <a:moveTo>
                  <a:pt x="185" y="9"/>
                </a:moveTo>
                <a:cubicBezTo>
                  <a:pt x="207" y="9"/>
                  <a:pt x="225" y="27"/>
                  <a:pt x="225" y="50"/>
                </a:cubicBezTo>
                <a:cubicBezTo>
                  <a:pt x="225" y="72"/>
                  <a:pt x="207" y="90"/>
                  <a:pt x="185" y="90"/>
                </a:cubicBezTo>
                <a:cubicBezTo>
                  <a:pt x="163" y="90"/>
                  <a:pt x="145" y="72"/>
                  <a:pt x="145" y="50"/>
                </a:cubicBezTo>
                <a:cubicBezTo>
                  <a:pt x="145" y="27"/>
                  <a:pt x="163" y="9"/>
                  <a:pt x="185" y="9"/>
                </a:cubicBezTo>
                <a:close/>
                <a:moveTo>
                  <a:pt x="340" y="258"/>
                </a:moveTo>
                <a:cubicBezTo>
                  <a:pt x="337" y="246"/>
                  <a:pt x="325" y="198"/>
                  <a:pt x="321" y="183"/>
                </a:cubicBezTo>
                <a:cubicBezTo>
                  <a:pt x="320" y="178"/>
                  <a:pt x="317" y="173"/>
                  <a:pt x="313" y="169"/>
                </a:cubicBezTo>
                <a:cubicBezTo>
                  <a:pt x="298" y="156"/>
                  <a:pt x="263" y="125"/>
                  <a:pt x="254" y="118"/>
                </a:cubicBezTo>
                <a:cubicBezTo>
                  <a:pt x="237" y="104"/>
                  <a:pt x="219" y="99"/>
                  <a:pt x="201" y="102"/>
                </a:cubicBezTo>
                <a:cubicBezTo>
                  <a:pt x="192" y="103"/>
                  <a:pt x="183" y="108"/>
                  <a:pt x="176" y="114"/>
                </a:cubicBezTo>
                <a:cubicBezTo>
                  <a:pt x="175" y="115"/>
                  <a:pt x="174" y="115"/>
                  <a:pt x="174" y="115"/>
                </a:cubicBezTo>
                <a:cubicBezTo>
                  <a:pt x="97" y="165"/>
                  <a:pt x="97" y="165"/>
                  <a:pt x="97" y="165"/>
                </a:cubicBezTo>
                <a:cubicBezTo>
                  <a:pt x="88" y="163"/>
                  <a:pt x="50" y="156"/>
                  <a:pt x="32" y="153"/>
                </a:cubicBezTo>
                <a:cubicBezTo>
                  <a:pt x="14" y="150"/>
                  <a:pt x="4" y="160"/>
                  <a:pt x="2" y="171"/>
                </a:cubicBezTo>
                <a:cubicBezTo>
                  <a:pt x="0" y="181"/>
                  <a:pt x="5" y="193"/>
                  <a:pt x="19" y="195"/>
                </a:cubicBezTo>
                <a:cubicBezTo>
                  <a:pt x="30" y="198"/>
                  <a:pt x="75" y="209"/>
                  <a:pt x="93" y="214"/>
                </a:cubicBezTo>
                <a:cubicBezTo>
                  <a:pt x="95" y="215"/>
                  <a:pt x="98" y="215"/>
                  <a:pt x="100" y="215"/>
                </a:cubicBezTo>
                <a:cubicBezTo>
                  <a:pt x="103" y="215"/>
                  <a:pt x="106" y="214"/>
                  <a:pt x="110" y="213"/>
                </a:cubicBezTo>
                <a:cubicBezTo>
                  <a:pt x="128" y="206"/>
                  <a:pt x="158" y="193"/>
                  <a:pt x="171" y="188"/>
                </a:cubicBezTo>
                <a:cubicBezTo>
                  <a:pt x="176" y="212"/>
                  <a:pt x="183" y="239"/>
                  <a:pt x="185" y="247"/>
                </a:cubicBezTo>
                <a:cubicBezTo>
                  <a:pt x="127" y="320"/>
                  <a:pt x="127" y="320"/>
                  <a:pt x="127" y="320"/>
                </a:cubicBezTo>
                <a:cubicBezTo>
                  <a:pt x="127" y="320"/>
                  <a:pt x="127" y="320"/>
                  <a:pt x="127" y="321"/>
                </a:cubicBezTo>
                <a:cubicBezTo>
                  <a:pt x="127" y="321"/>
                  <a:pt x="104" y="380"/>
                  <a:pt x="89" y="416"/>
                </a:cubicBezTo>
                <a:cubicBezTo>
                  <a:pt x="85" y="427"/>
                  <a:pt x="85" y="438"/>
                  <a:pt x="90" y="446"/>
                </a:cubicBezTo>
                <a:cubicBezTo>
                  <a:pt x="96" y="454"/>
                  <a:pt x="104" y="458"/>
                  <a:pt x="114" y="458"/>
                </a:cubicBezTo>
                <a:cubicBezTo>
                  <a:pt x="126" y="458"/>
                  <a:pt x="135" y="452"/>
                  <a:pt x="140" y="443"/>
                </a:cubicBezTo>
                <a:cubicBezTo>
                  <a:pt x="143" y="437"/>
                  <a:pt x="149" y="422"/>
                  <a:pt x="156" y="404"/>
                </a:cubicBezTo>
                <a:cubicBezTo>
                  <a:pt x="165" y="381"/>
                  <a:pt x="178" y="347"/>
                  <a:pt x="181" y="343"/>
                </a:cubicBezTo>
                <a:cubicBezTo>
                  <a:pt x="182" y="341"/>
                  <a:pt x="191" y="333"/>
                  <a:pt x="200" y="324"/>
                </a:cubicBezTo>
                <a:cubicBezTo>
                  <a:pt x="205" y="319"/>
                  <a:pt x="209" y="315"/>
                  <a:pt x="213" y="311"/>
                </a:cubicBezTo>
                <a:cubicBezTo>
                  <a:pt x="218" y="334"/>
                  <a:pt x="231" y="397"/>
                  <a:pt x="239" y="433"/>
                </a:cubicBezTo>
                <a:cubicBezTo>
                  <a:pt x="243" y="452"/>
                  <a:pt x="255" y="458"/>
                  <a:pt x="266" y="458"/>
                </a:cubicBezTo>
                <a:cubicBezTo>
                  <a:pt x="268" y="458"/>
                  <a:pt x="270" y="458"/>
                  <a:pt x="272" y="458"/>
                </a:cubicBezTo>
                <a:cubicBezTo>
                  <a:pt x="286" y="455"/>
                  <a:pt x="299" y="441"/>
                  <a:pt x="295" y="425"/>
                </a:cubicBezTo>
                <a:cubicBezTo>
                  <a:pt x="292" y="409"/>
                  <a:pt x="264" y="265"/>
                  <a:pt x="263" y="255"/>
                </a:cubicBezTo>
                <a:cubicBezTo>
                  <a:pt x="263" y="245"/>
                  <a:pt x="251" y="201"/>
                  <a:pt x="245" y="177"/>
                </a:cubicBezTo>
                <a:cubicBezTo>
                  <a:pt x="277" y="203"/>
                  <a:pt x="277" y="203"/>
                  <a:pt x="277" y="203"/>
                </a:cubicBezTo>
                <a:cubicBezTo>
                  <a:pt x="279" y="211"/>
                  <a:pt x="291" y="248"/>
                  <a:pt x="297" y="267"/>
                </a:cubicBezTo>
                <a:cubicBezTo>
                  <a:pt x="301" y="278"/>
                  <a:pt x="310" y="285"/>
                  <a:pt x="320" y="285"/>
                </a:cubicBezTo>
                <a:cubicBezTo>
                  <a:pt x="327" y="285"/>
                  <a:pt x="333" y="282"/>
                  <a:pt x="337" y="277"/>
                </a:cubicBezTo>
                <a:cubicBezTo>
                  <a:pt x="341" y="271"/>
                  <a:pt x="342" y="264"/>
                  <a:pt x="340" y="258"/>
                </a:cubicBezTo>
                <a:close/>
                <a:moveTo>
                  <a:pt x="106" y="204"/>
                </a:moveTo>
                <a:cubicBezTo>
                  <a:pt x="103" y="206"/>
                  <a:pt x="99" y="206"/>
                  <a:pt x="96" y="205"/>
                </a:cubicBezTo>
                <a:cubicBezTo>
                  <a:pt x="77" y="200"/>
                  <a:pt x="32" y="189"/>
                  <a:pt x="21" y="186"/>
                </a:cubicBezTo>
                <a:cubicBezTo>
                  <a:pt x="13" y="185"/>
                  <a:pt x="10" y="178"/>
                  <a:pt x="11" y="172"/>
                </a:cubicBezTo>
                <a:cubicBezTo>
                  <a:pt x="13" y="166"/>
                  <a:pt x="18" y="160"/>
                  <a:pt x="30" y="162"/>
                </a:cubicBezTo>
                <a:cubicBezTo>
                  <a:pt x="51" y="166"/>
                  <a:pt x="96" y="175"/>
                  <a:pt x="97" y="175"/>
                </a:cubicBezTo>
                <a:cubicBezTo>
                  <a:pt x="98" y="175"/>
                  <a:pt x="99" y="175"/>
                  <a:pt x="100" y="174"/>
                </a:cubicBezTo>
                <a:cubicBezTo>
                  <a:pt x="163" y="133"/>
                  <a:pt x="163" y="133"/>
                  <a:pt x="163" y="133"/>
                </a:cubicBezTo>
                <a:cubicBezTo>
                  <a:pt x="161" y="139"/>
                  <a:pt x="161" y="145"/>
                  <a:pt x="162" y="150"/>
                </a:cubicBezTo>
                <a:cubicBezTo>
                  <a:pt x="163" y="156"/>
                  <a:pt x="166" y="167"/>
                  <a:pt x="168" y="178"/>
                </a:cubicBezTo>
                <a:cubicBezTo>
                  <a:pt x="157" y="183"/>
                  <a:pt x="125" y="197"/>
                  <a:pt x="106" y="204"/>
                </a:cubicBezTo>
                <a:close/>
                <a:moveTo>
                  <a:pt x="286" y="426"/>
                </a:moveTo>
                <a:cubicBezTo>
                  <a:pt x="288" y="438"/>
                  <a:pt x="279" y="447"/>
                  <a:pt x="270" y="449"/>
                </a:cubicBezTo>
                <a:cubicBezTo>
                  <a:pt x="259" y="451"/>
                  <a:pt x="251" y="444"/>
                  <a:pt x="248" y="431"/>
                </a:cubicBezTo>
                <a:cubicBezTo>
                  <a:pt x="239" y="392"/>
                  <a:pt x="224" y="318"/>
                  <a:pt x="221" y="303"/>
                </a:cubicBezTo>
                <a:cubicBezTo>
                  <a:pt x="238" y="288"/>
                  <a:pt x="249" y="276"/>
                  <a:pt x="255" y="268"/>
                </a:cubicBezTo>
                <a:cubicBezTo>
                  <a:pt x="262" y="304"/>
                  <a:pt x="284" y="413"/>
                  <a:pt x="286" y="426"/>
                </a:cubicBezTo>
                <a:close/>
                <a:moveTo>
                  <a:pt x="330" y="271"/>
                </a:moveTo>
                <a:cubicBezTo>
                  <a:pt x="328" y="274"/>
                  <a:pt x="324" y="276"/>
                  <a:pt x="320" y="276"/>
                </a:cubicBezTo>
                <a:cubicBezTo>
                  <a:pt x="314" y="276"/>
                  <a:pt x="309" y="271"/>
                  <a:pt x="306" y="263"/>
                </a:cubicBezTo>
                <a:cubicBezTo>
                  <a:pt x="299" y="244"/>
                  <a:pt x="285" y="200"/>
                  <a:pt x="285" y="199"/>
                </a:cubicBezTo>
                <a:cubicBezTo>
                  <a:pt x="285" y="198"/>
                  <a:pt x="284" y="198"/>
                  <a:pt x="284" y="197"/>
                </a:cubicBezTo>
                <a:cubicBezTo>
                  <a:pt x="239" y="160"/>
                  <a:pt x="239" y="160"/>
                  <a:pt x="239" y="160"/>
                </a:cubicBezTo>
                <a:cubicBezTo>
                  <a:pt x="238" y="159"/>
                  <a:pt x="235" y="159"/>
                  <a:pt x="234" y="160"/>
                </a:cubicBezTo>
                <a:cubicBezTo>
                  <a:pt x="232" y="161"/>
                  <a:pt x="231" y="163"/>
                  <a:pt x="232" y="165"/>
                </a:cubicBezTo>
                <a:cubicBezTo>
                  <a:pt x="243" y="205"/>
                  <a:pt x="254" y="249"/>
                  <a:pt x="253" y="255"/>
                </a:cubicBezTo>
                <a:cubicBezTo>
                  <a:pt x="251" y="262"/>
                  <a:pt x="212" y="299"/>
                  <a:pt x="194" y="317"/>
                </a:cubicBezTo>
                <a:cubicBezTo>
                  <a:pt x="182" y="329"/>
                  <a:pt x="175" y="335"/>
                  <a:pt x="173" y="337"/>
                </a:cubicBezTo>
                <a:cubicBezTo>
                  <a:pt x="170" y="342"/>
                  <a:pt x="161" y="365"/>
                  <a:pt x="147" y="400"/>
                </a:cubicBezTo>
                <a:cubicBezTo>
                  <a:pt x="140" y="417"/>
                  <a:pt x="134" y="433"/>
                  <a:pt x="132" y="439"/>
                </a:cubicBezTo>
                <a:cubicBezTo>
                  <a:pt x="128" y="445"/>
                  <a:pt x="122" y="449"/>
                  <a:pt x="114" y="449"/>
                </a:cubicBezTo>
                <a:cubicBezTo>
                  <a:pt x="108" y="449"/>
                  <a:pt x="102" y="446"/>
                  <a:pt x="98" y="441"/>
                </a:cubicBezTo>
                <a:cubicBezTo>
                  <a:pt x="95" y="436"/>
                  <a:pt x="94" y="428"/>
                  <a:pt x="98" y="419"/>
                </a:cubicBezTo>
                <a:cubicBezTo>
                  <a:pt x="112" y="386"/>
                  <a:pt x="133" y="331"/>
                  <a:pt x="135" y="325"/>
                </a:cubicBezTo>
                <a:cubicBezTo>
                  <a:pt x="194" y="251"/>
                  <a:pt x="194" y="251"/>
                  <a:pt x="194" y="251"/>
                </a:cubicBezTo>
                <a:cubicBezTo>
                  <a:pt x="194" y="249"/>
                  <a:pt x="195" y="248"/>
                  <a:pt x="194" y="247"/>
                </a:cubicBezTo>
                <a:cubicBezTo>
                  <a:pt x="194" y="246"/>
                  <a:pt x="176" y="169"/>
                  <a:pt x="171" y="148"/>
                </a:cubicBezTo>
                <a:cubicBezTo>
                  <a:pt x="169" y="140"/>
                  <a:pt x="173" y="133"/>
                  <a:pt x="176" y="129"/>
                </a:cubicBezTo>
                <a:cubicBezTo>
                  <a:pt x="182" y="120"/>
                  <a:pt x="192" y="113"/>
                  <a:pt x="202" y="111"/>
                </a:cubicBezTo>
                <a:cubicBezTo>
                  <a:pt x="218" y="108"/>
                  <a:pt x="233" y="113"/>
                  <a:pt x="248" y="125"/>
                </a:cubicBezTo>
                <a:cubicBezTo>
                  <a:pt x="257" y="132"/>
                  <a:pt x="295" y="166"/>
                  <a:pt x="307" y="177"/>
                </a:cubicBezTo>
                <a:cubicBezTo>
                  <a:pt x="310" y="179"/>
                  <a:pt x="311" y="182"/>
                  <a:pt x="312" y="185"/>
                </a:cubicBezTo>
                <a:cubicBezTo>
                  <a:pt x="317" y="204"/>
                  <a:pt x="328" y="249"/>
                  <a:pt x="331" y="260"/>
                </a:cubicBezTo>
                <a:cubicBezTo>
                  <a:pt x="333" y="265"/>
                  <a:pt x="331" y="269"/>
                  <a:pt x="330" y="271"/>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119" name="Freeform 121"/>
          <p:cNvSpPr>
            <a:spLocks noEditPoints="1"/>
          </p:cNvSpPr>
          <p:nvPr/>
        </p:nvSpPr>
        <p:spPr bwMode="auto">
          <a:xfrm>
            <a:off x="1177423" y="4443118"/>
            <a:ext cx="450087" cy="366555"/>
          </a:xfrm>
          <a:custGeom>
            <a:avLst/>
            <a:gdLst>
              <a:gd name="T0" fmla="*/ 333 w 703"/>
              <a:gd name="T1" fmla="*/ 406 h 572"/>
              <a:gd name="T2" fmla="*/ 198 w 703"/>
              <a:gd name="T3" fmla="*/ 553 h 572"/>
              <a:gd name="T4" fmla="*/ 157 w 703"/>
              <a:gd name="T5" fmla="*/ 568 h 572"/>
              <a:gd name="T6" fmla="*/ 79 w 703"/>
              <a:gd name="T7" fmla="*/ 460 h 572"/>
              <a:gd name="T8" fmla="*/ 207 w 703"/>
              <a:gd name="T9" fmla="*/ 350 h 572"/>
              <a:gd name="T10" fmla="*/ 112 w 703"/>
              <a:gd name="T11" fmla="*/ 218 h 572"/>
              <a:gd name="T12" fmla="*/ 17 w 703"/>
              <a:gd name="T13" fmla="*/ 75 h 572"/>
              <a:gd name="T14" fmla="*/ 82 w 703"/>
              <a:gd name="T15" fmla="*/ 129 h 572"/>
              <a:gd name="T16" fmla="*/ 76 w 703"/>
              <a:gd name="T17" fmla="*/ 24 h 572"/>
              <a:gd name="T18" fmla="*/ 112 w 703"/>
              <a:gd name="T19" fmla="*/ 8 h 572"/>
              <a:gd name="T20" fmla="*/ 317 w 703"/>
              <a:gd name="T21" fmla="*/ 245 h 572"/>
              <a:gd name="T22" fmla="*/ 381 w 703"/>
              <a:gd name="T23" fmla="*/ 208 h 572"/>
              <a:gd name="T24" fmla="*/ 400 w 703"/>
              <a:gd name="T25" fmla="*/ 75 h 572"/>
              <a:gd name="T26" fmla="*/ 300 w 703"/>
              <a:gd name="T27" fmla="*/ 32 h 572"/>
              <a:gd name="T28" fmla="*/ 563 w 703"/>
              <a:gd name="T29" fmla="*/ 80 h 572"/>
              <a:gd name="T30" fmla="*/ 609 w 703"/>
              <a:gd name="T31" fmla="*/ 172 h 572"/>
              <a:gd name="T32" fmla="*/ 695 w 703"/>
              <a:gd name="T33" fmla="*/ 219 h 572"/>
              <a:gd name="T34" fmla="*/ 611 w 703"/>
              <a:gd name="T35" fmla="*/ 324 h 572"/>
              <a:gd name="T36" fmla="*/ 557 w 703"/>
              <a:gd name="T37" fmla="*/ 265 h 572"/>
              <a:gd name="T38" fmla="*/ 439 w 703"/>
              <a:gd name="T39" fmla="*/ 265 h 572"/>
              <a:gd name="T40" fmla="*/ 402 w 703"/>
              <a:gd name="T41" fmla="*/ 330 h 572"/>
              <a:gd name="T42" fmla="*/ 555 w 703"/>
              <a:gd name="T43" fmla="*/ 556 h 572"/>
              <a:gd name="T44" fmla="*/ 338 w 703"/>
              <a:gd name="T45" fmla="*/ 392 h 572"/>
              <a:gd name="T46" fmla="*/ 545 w 703"/>
              <a:gd name="T47" fmla="*/ 546 h 572"/>
              <a:gd name="T48" fmla="*/ 387 w 703"/>
              <a:gd name="T49" fmla="*/ 336 h 572"/>
              <a:gd name="T50" fmla="*/ 425 w 703"/>
              <a:gd name="T51" fmla="*/ 276 h 572"/>
              <a:gd name="T52" fmla="*/ 423 w 703"/>
              <a:gd name="T53" fmla="*/ 265 h 572"/>
              <a:gd name="T54" fmla="*/ 560 w 703"/>
              <a:gd name="T55" fmla="*/ 217 h 572"/>
              <a:gd name="T56" fmla="*/ 606 w 703"/>
              <a:gd name="T57" fmla="*/ 308 h 572"/>
              <a:gd name="T58" fmla="*/ 685 w 703"/>
              <a:gd name="T59" fmla="*/ 229 h 572"/>
              <a:gd name="T60" fmla="*/ 644 w 703"/>
              <a:gd name="T61" fmla="*/ 193 h 572"/>
              <a:gd name="T62" fmla="*/ 594 w 703"/>
              <a:gd name="T63" fmla="*/ 142 h 572"/>
              <a:gd name="T64" fmla="*/ 314 w 703"/>
              <a:gd name="T65" fmla="*/ 28 h 572"/>
              <a:gd name="T66" fmla="*/ 324 w 703"/>
              <a:gd name="T67" fmla="*/ 29 h 572"/>
              <a:gd name="T68" fmla="*/ 414 w 703"/>
              <a:gd name="T69" fmla="*/ 195 h 572"/>
              <a:gd name="T70" fmla="*/ 377 w 703"/>
              <a:gd name="T71" fmla="*/ 222 h 572"/>
              <a:gd name="T72" fmla="*/ 359 w 703"/>
              <a:gd name="T73" fmla="*/ 230 h 572"/>
              <a:gd name="T74" fmla="*/ 200 w 703"/>
              <a:gd name="T75" fmla="*/ 148 h 572"/>
              <a:gd name="T76" fmla="*/ 112 w 703"/>
              <a:gd name="T77" fmla="*/ 22 h 572"/>
              <a:gd name="T78" fmla="*/ 131 w 703"/>
              <a:gd name="T79" fmla="*/ 132 h 572"/>
              <a:gd name="T80" fmla="*/ 22 w 703"/>
              <a:gd name="T81" fmla="*/ 95 h 572"/>
              <a:gd name="T82" fmla="*/ 140 w 703"/>
              <a:gd name="T83" fmla="*/ 199 h 572"/>
              <a:gd name="T84" fmla="*/ 255 w 703"/>
              <a:gd name="T85" fmla="*/ 318 h 572"/>
              <a:gd name="T86" fmla="*/ 98 w 703"/>
              <a:gd name="T87" fmla="*/ 464 h 572"/>
              <a:gd name="T88" fmla="*/ 142 w 703"/>
              <a:gd name="T89" fmla="*/ 533 h 572"/>
              <a:gd name="T90" fmla="*/ 178 w 703"/>
              <a:gd name="T91" fmla="*/ 557 h 572"/>
              <a:gd name="T92" fmla="*/ 299 w 703"/>
              <a:gd name="T93" fmla="*/ 417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03" h="572">
                <a:moveTo>
                  <a:pt x="518" y="572"/>
                </a:moveTo>
                <a:cubicBezTo>
                  <a:pt x="505" y="572"/>
                  <a:pt x="494" y="568"/>
                  <a:pt x="486" y="559"/>
                </a:cubicBezTo>
                <a:cubicBezTo>
                  <a:pt x="333" y="406"/>
                  <a:pt x="333" y="406"/>
                  <a:pt x="333" y="406"/>
                </a:cubicBezTo>
                <a:cubicBezTo>
                  <a:pt x="324" y="414"/>
                  <a:pt x="316" y="421"/>
                  <a:pt x="308" y="428"/>
                </a:cubicBezTo>
                <a:cubicBezTo>
                  <a:pt x="296" y="438"/>
                  <a:pt x="285" y="448"/>
                  <a:pt x="272" y="461"/>
                </a:cubicBezTo>
                <a:cubicBezTo>
                  <a:pt x="252" y="481"/>
                  <a:pt x="216" y="530"/>
                  <a:pt x="198" y="553"/>
                </a:cubicBezTo>
                <a:cubicBezTo>
                  <a:pt x="190" y="565"/>
                  <a:pt x="188" y="567"/>
                  <a:pt x="187" y="568"/>
                </a:cubicBezTo>
                <a:cubicBezTo>
                  <a:pt x="184" y="571"/>
                  <a:pt x="177" y="572"/>
                  <a:pt x="172" y="572"/>
                </a:cubicBezTo>
                <a:cubicBezTo>
                  <a:pt x="167" y="572"/>
                  <a:pt x="160" y="571"/>
                  <a:pt x="157" y="568"/>
                </a:cubicBezTo>
                <a:cubicBezTo>
                  <a:pt x="155" y="566"/>
                  <a:pt x="145" y="556"/>
                  <a:pt x="132" y="543"/>
                </a:cubicBezTo>
                <a:cubicBezTo>
                  <a:pt x="132" y="543"/>
                  <a:pt x="83" y="494"/>
                  <a:pt x="79" y="490"/>
                </a:cubicBezTo>
                <a:cubicBezTo>
                  <a:pt x="74" y="484"/>
                  <a:pt x="73" y="466"/>
                  <a:pt x="79" y="460"/>
                </a:cubicBezTo>
                <a:cubicBezTo>
                  <a:pt x="80" y="459"/>
                  <a:pt x="82" y="457"/>
                  <a:pt x="90" y="452"/>
                </a:cubicBezTo>
                <a:cubicBezTo>
                  <a:pt x="108" y="441"/>
                  <a:pt x="144" y="418"/>
                  <a:pt x="163" y="398"/>
                </a:cubicBezTo>
                <a:cubicBezTo>
                  <a:pt x="176" y="385"/>
                  <a:pt x="191" y="368"/>
                  <a:pt x="207" y="350"/>
                </a:cubicBezTo>
                <a:cubicBezTo>
                  <a:pt x="218" y="338"/>
                  <a:pt x="229" y="325"/>
                  <a:pt x="240" y="314"/>
                </a:cubicBezTo>
                <a:cubicBezTo>
                  <a:pt x="140" y="214"/>
                  <a:pt x="140" y="214"/>
                  <a:pt x="140" y="214"/>
                </a:cubicBezTo>
                <a:cubicBezTo>
                  <a:pt x="131" y="216"/>
                  <a:pt x="121" y="218"/>
                  <a:pt x="112" y="218"/>
                </a:cubicBezTo>
                <a:cubicBezTo>
                  <a:pt x="84" y="218"/>
                  <a:pt x="57" y="207"/>
                  <a:pt x="37" y="187"/>
                </a:cubicBezTo>
                <a:cubicBezTo>
                  <a:pt x="9" y="159"/>
                  <a:pt x="0" y="118"/>
                  <a:pt x="12" y="80"/>
                </a:cubicBezTo>
                <a:cubicBezTo>
                  <a:pt x="13" y="77"/>
                  <a:pt x="15" y="76"/>
                  <a:pt x="17" y="75"/>
                </a:cubicBezTo>
                <a:cubicBezTo>
                  <a:pt x="19" y="74"/>
                  <a:pt x="22" y="75"/>
                  <a:pt x="24" y="77"/>
                </a:cubicBezTo>
                <a:cubicBezTo>
                  <a:pt x="75" y="128"/>
                  <a:pt x="75" y="128"/>
                  <a:pt x="75" y="128"/>
                </a:cubicBezTo>
                <a:cubicBezTo>
                  <a:pt x="76" y="129"/>
                  <a:pt x="78" y="129"/>
                  <a:pt x="82" y="129"/>
                </a:cubicBezTo>
                <a:cubicBezTo>
                  <a:pt x="96" y="129"/>
                  <a:pt x="117" y="125"/>
                  <a:pt x="121" y="122"/>
                </a:cubicBezTo>
                <a:cubicBezTo>
                  <a:pt x="125" y="115"/>
                  <a:pt x="129" y="83"/>
                  <a:pt x="127" y="76"/>
                </a:cubicBezTo>
                <a:cubicBezTo>
                  <a:pt x="76" y="24"/>
                  <a:pt x="76" y="24"/>
                  <a:pt x="76" y="24"/>
                </a:cubicBezTo>
                <a:cubicBezTo>
                  <a:pt x="74" y="23"/>
                  <a:pt x="74" y="20"/>
                  <a:pt x="74" y="18"/>
                </a:cubicBezTo>
                <a:cubicBezTo>
                  <a:pt x="75" y="15"/>
                  <a:pt x="77" y="14"/>
                  <a:pt x="79" y="13"/>
                </a:cubicBezTo>
                <a:cubicBezTo>
                  <a:pt x="89" y="9"/>
                  <a:pt x="101" y="8"/>
                  <a:pt x="112" y="8"/>
                </a:cubicBezTo>
                <a:cubicBezTo>
                  <a:pt x="140" y="8"/>
                  <a:pt x="166" y="18"/>
                  <a:pt x="186" y="38"/>
                </a:cubicBezTo>
                <a:cubicBezTo>
                  <a:pt x="213" y="65"/>
                  <a:pt x="223" y="104"/>
                  <a:pt x="213" y="141"/>
                </a:cubicBezTo>
                <a:cubicBezTo>
                  <a:pt x="317" y="245"/>
                  <a:pt x="317" y="245"/>
                  <a:pt x="317" y="245"/>
                </a:cubicBezTo>
                <a:cubicBezTo>
                  <a:pt x="330" y="235"/>
                  <a:pt x="342" y="226"/>
                  <a:pt x="351" y="219"/>
                </a:cubicBezTo>
                <a:cubicBezTo>
                  <a:pt x="356" y="215"/>
                  <a:pt x="360" y="212"/>
                  <a:pt x="362" y="211"/>
                </a:cubicBezTo>
                <a:cubicBezTo>
                  <a:pt x="368" y="206"/>
                  <a:pt x="375" y="205"/>
                  <a:pt x="381" y="208"/>
                </a:cubicBezTo>
                <a:cubicBezTo>
                  <a:pt x="387" y="203"/>
                  <a:pt x="387" y="203"/>
                  <a:pt x="387" y="203"/>
                </a:cubicBezTo>
                <a:cubicBezTo>
                  <a:pt x="404" y="185"/>
                  <a:pt x="404" y="185"/>
                  <a:pt x="404" y="185"/>
                </a:cubicBezTo>
                <a:cubicBezTo>
                  <a:pt x="424" y="165"/>
                  <a:pt x="450" y="125"/>
                  <a:pt x="400" y="75"/>
                </a:cubicBezTo>
                <a:cubicBezTo>
                  <a:pt x="369" y="45"/>
                  <a:pt x="332" y="43"/>
                  <a:pt x="324" y="43"/>
                </a:cubicBezTo>
                <a:cubicBezTo>
                  <a:pt x="321" y="43"/>
                  <a:pt x="319" y="43"/>
                  <a:pt x="318" y="43"/>
                </a:cubicBezTo>
                <a:cubicBezTo>
                  <a:pt x="310" y="45"/>
                  <a:pt x="302" y="40"/>
                  <a:pt x="300" y="32"/>
                </a:cubicBezTo>
                <a:cubicBezTo>
                  <a:pt x="299" y="25"/>
                  <a:pt x="301" y="19"/>
                  <a:pt x="307" y="16"/>
                </a:cubicBezTo>
                <a:cubicBezTo>
                  <a:pt x="325" y="6"/>
                  <a:pt x="354" y="0"/>
                  <a:pt x="383" y="0"/>
                </a:cubicBezTo>
                <a:cubicBezTo>
                  <a:pt x="429" y="0"/>
                  <a:pt x="497" y="14"/>
                  <a:pt x="563" y="80"/>
                </a:cubicBezTo>
                <a:cubicBezTo>
                  <a:pt x="593" y="110"/>
                  <a:pt x="606" y="127"/>
                  <a:pt x="608" y="140"/>
                </a:cubicBezTo>
                <a:cubicBezTo>
                  <a:pt x="609" y="146"/>
                  <a:pt x="608" y="152"/>
                  <a:pt x="608" y="157"/>
                </a:cubicBezTo>
                <a:cubicBezTo>
                  <a:pt x="607" y="164"/>
                  <a:pt x="607" y="169"/>
                  <a:pt x="609" y="172"/>
                </a:cubicBezTo>
                <a:cubicBezTo>
                  <a:pt x="617" y="179"/>
                  <a:pt x="627" y="181"/>
                  <a:pt x="642" y="179"/>
                </a:cubicBezTo>
                <a:cubicBezTo>
                  <a:pt x="649" y="178"/>
                  <a:pt x="657" y="181"/>
                  <a:pt x="662" y="186"/>
                </a:cubicBezTo>
                <a:cubicBezTo>
                  <a:pt x="695" y="219"/>
                  <a:pt x="695" y="219"/>
                  <a:pt x="695" y="219"/>
                </a:cubicBezTo>
                <a:cubicBezTo>
                  <a:pt x="703" y="227"/>
                  <a:pt x="703" y="240"/>
                  <a:pt x="695" y="249"/>
                </a:cubicBezTo>
                <a:cubicBezTo>
                  <a:pt x="626" y="318"/>
                  <a:pt x="626" y="318"/>
                  <a:pt x="626" y="318"/>
                </a:cubicBezTo>
                <a:cubicBezTo>
                  <a:pt x="622" y="322"/>
                  <a:pt x="616" y="324"/>
                  <a:pt x="611" y="324"/>
                </a:cubicBezTo>
                <a:cubicBezTo>
                  <a:pt x="605" y="324"/>
                  <a:pt x="600" y="322"/>
                  <a:pt x="596" y="318"/>
                </a:cubicBezTo>
                <a:cubicBezTo>
                  <a:pt x="563" y="285"/>
                  <a:pt x="563" y="285"/>
                  <a:pt x="563" y="285"/>
                </a:cubicBezTo>
                <a:cubicBezTo>
                  <a:pt x="558" y="280"/>
                  <a:pt x="556" y="273"/>
                  <a:pt x="557" y="265"/>
                </a:cubicBezTo>
                <a:cubicBezTo>
                  <a:pt x="561" y="247"/>
                  <a:pt x="558" y="235"/>
                  <a:pt x="550" y="227"/>
                </a:cubicBezTo>
                <a:cubicBezTo>
                  <a:pt x="537" y="214"/>
                  <a:pt x="528" y="210"/>
                  <a:pt x="512" y="212"/>
                </a:cubicBezTo>
                <a:cubicBezTo>
                  <a:pt x="498" y="214"/>
                  <a:pt x="471" y="234"/>
                  <a:pt x="439" y="265"/>
                </a:cubicBezTo>
                <a:cubicBezTo>
                  <a:pt x="442" y="272"/>
                  <a:pt x="442" y="279"/>
                  <a:pt x="436" y="285"/>
                </a:cubicBezTo>
                <a:cubicBezTo>
                  <a:pt x="435" y="287"/>
                  <a:pt x="432" y="291"/>
                  <a:pt x="428" y="296"/>
                </a:cubicBezTo>
                <a:cubicBezTo>
                  <a:pt x="421" y="305"/>
                  <a:pt x="412" y="317"/>
                  <a:pt x="402" y="330"/>
                </a:cubicBezTo>
                <a:cubicBezTo>
                  <a:pt x="559" y="487"/>
                  <a:pt x="559" y="487"/>
                  <a:pt x="559" y="487"/>
                </a:cubicBezTo>
                <a:cubicBezTo>
                  <a:pt x="567" y="496"/>
                  <a:pt x="572" y="508"/>
                  <a:pt x="571" y="521"/>
                </a:cubicBezTo>
                <a:cubicBezTo>
                  <a:pt x="570" y="534"/>
                  <a:pt x="565" y="546"/>
                  <a:pt x="555" y="556"/>
                </a:cubicBezTo>
                <a:cubicBezTo>
                  <a:pt x="545" y="566"/>
                  <a:pt x="531" y="572"/>
                  <a:pt x="518" y="572"/>
                </a:cubicBezTo>
                <a:close/>
                <a:moveTo>
                  <a:pt x="333" y="390"/>
                </a:moveTo>
                <a:cubicBezTo>
                  <a:pt x="335" y="390"/>
                  <a:pt x="337" y="390"/>
                  <a:pt x="338" y="392"/>
                </a:cubicBezTo>
                <a:cubicBezTo>
                  <a:pt x="496" y="550"/>
                  <a:pt x="496" y="550"/>
                  <a:pt x="496" y="550"/>
                </a:cubicBezTo>
                <a:cubicBezTo>
                  <a:pt x="502" y="555"/>
                  <a:pt x="509" y="558"/>
                  <a:pt x="518" y="558"/>
                </a:cubicBezTo>
                <a:cubicBezTo>
                  <a:pt x="527" y="558"/>
                  <a:pt x="538" y="554"/>
                  <a:pt x="545" y="546"/>
                </a:cubicBezTo>
                <a:cubicBezTo>
                  <a:pt x="552" y="539"/>
                  <a:pt x="557" y="530"/>
                  <a:pt x="557" y="520"/>
                </a:cubicBezTo>
                <a:cubicBezTo>
                  <a:pt x="558" y="511"/>
                  <a:pt x="555" y="503"/>
                  <a:pt x="549" y="497"/>
                </a:cubicBezTo>
                <a:cubicBezTo>
                  <a:pt x="387" y="336"/>
                  <a:pt x="387" y="336"/>
                  <a:pt x="387" y="336"/>
                </a:cubicBezTo>
                <a:cubicBezTo>
                  <a:pt x="385" y="333"/>
                  <a:pt x="385" y="329"/>
                  <a:pt x="387" y="326"/>
                </a:cubicBezTo>
                <a:cubicBezTo>
                  <a:pt x="399" y="312"/>
                  <a:pt x="409" y="297"/>
                  <a:pt x="416" y="288"/>
                </a:cubicBezTo>
                <a:cubicBezTo>
                  <a:pt x="421" y="282"/>
                  <a:pt x="424" y="278"/>
                  <a:pt x="425" y="276"/>
                </a:cubicBezTo>
                <a:cubicBezTo>
                  <a:pt x="428" y="274"/>
                  <a:pt x="428" y="272"/>
                  <a:pt x="425" y="270"/>
                </a:cubicBezTo>
                <a:cubicBezTo>
                  <a:pt x="425" y="270"/>
                  <a:pt x="425" y="269"/>
                  <a:pt x="425" y="269"/>
                </a:cubicBezTo>
                <a:cubicBezTo>
                  <a:pt x="423" y="268"/>
                  <a:pt x="423" y="267"/>
                  <a:pt x="423" y="265"/>
                </a:cubicBezTo>
                <a:cubicBezTo>
                  <a:pt x="422" y="263"/>
                  <a:pt x="423" y="261"/>
                  <a:pt x="425" y="259"/>
                </a:cubicBezTo>
                <a:cubicBezTo>
                  <a:pt x="451" y="233"/>
                  <a:pt x="487" y="201"/>
                  <a:pt x="511" y="198"/>
                </a:cubicBezTo>
                <a:cubicBezTo>
                  <a:pt x="534" y="196"/>
                  <a:pt x="547" y="204"/>
                  <a:pt x="560" y="217"/>
                </a:cubicBezTo>
                <a:cubicBezTo>
                  <a:pt x="571" y="228"/>
                  <a:pt x="575" y="245"/>
                  <a:pt x="571" y="267"/>
                </a:cubicBezTo>
                <a:cubicBezTo>
                  <a:pt x="571" y="269"/>
                  <a:pt x="570" y="273"/>
                  <a:pt x="573" y="275"/>
                </a:cubicBezTo>
                <a:cubicBezTo>
                  <a:pt x="606" y="308"/>
                  <a:pt x="606" y="308"/>
                  <a:pt x="606" y="308"/>
                </a:cubicBezTo>
                <a:cubicBezTo>
                  <a:pt x="608" y="310"/>
                  <a:pt x="613" y="310"/>
                  <a:pt x="616" y="308"/>
                </a:cubicBezTo>
                <a:cubicBezTo>
                  <a:pt x="685" y="239"/>
                  <a:pt x="685" y="239"/>
                  <a:pt x="685" y="239"/>
                </a:cubicBezTo>
                <a:cubicBezTo>
                  <a:pt x="687" y="236"/>
                  <a:pt x="687" y="232"/>
                  <a:pt x="685" y="229"/>
                </a:cubicBezTo>
                <a:cubicBezTo>
                  <a:pt x="652" y="196"/>
                  <a:pt x="652" y="196"/>
                  <a:pt x="652" y="196"/>
                </a:cubicBezTo>
                <a:cubicBezTo>
                  <a:pt x="650" y="194"/>
                  <a:pt x="647" y="193"/>
                  <a:pt x="645" y="193"/>
                </a:cubicBezTo>
                <a:cubicBezTo>
                  <a:pt x="645" y="193"/>
                  <a:pt x="644" y="193"/>
                  <a:pt x="644" y="193"/>
                </a:cubicBezTo>
                <a:cubicBezTo>
                  <a:pt x="624" y="196"/>
                  <a:pt x="610" y="192"/>
                  <a:pt x="600" y="182"/>
                </a:cubicBezTo>
                <a:cubicBezTo>
                  <a:pt x="592" y="174"/>
                  <a:pt x="593" y="164"/>
                  <a:pt x="594" y="155"/>
                </a:cubicBezTo>
                <a:cubicBezTo>
                  <a:pt x="594" y="151"/>
                  <a:pt x="595" y="146"/>
                  <a:pt x="594" y="142"/>
                </a:cubicBezTo>
                <a:cubicBezTo>
                  <a:pt x="592" y="129"/>
                  <a:pt x="563" y="100"/>
                  <a:pt x="553" y="90"/>
                </a:cubicBezTo>
                <a:cubicBezTo>
                  <a:pt x="490" y="27"/>
                  <a:pt x="426" y="14"/>
                  <a:pt x="383" y="14"/>
                </a:cubicBezTo>
                <a:cubicBezTo>
                  <a:pt x="351" y="14"/>
                  <a:pt x="326" y="21"/>
                  <a:pt x="314" y="28"/>
                </a:cubicBezTo>
                <a:cubicBezTo>
                  <a:pt x="314" y="28"/>
                  <a:pt x="314" y="29"/>
                  <a:pt x="314" y="29"/>
                </a:cubicBezTo>
                <a:cubicBezTo>
                  <a:pt x="315" y="30"/>
                  <a:pt x="315" y="30"/>
                  <a:pt x="315" y="30"/>
                </a:cubicBezTo>
                <a:cubicBezTo>
                  <a:pt x="318" y="29"/>
                  <a:pt x="321" y="29"/>
                  <a:pt x="324" y="29"/>
                </a:cubicBezTo>
                <a:cubicBezTo>
                  <a:pt x="333" y="29"/>
                  <a:pt x="375" y="31"/>
                  <a:pt x="410" y="65"/>
                </a:cubicBezTo>
                <a:cubicBezTo>
                  <a:pt x="435" y="90"/>
                  <a:pt x="446" y="116"/>
                  <a:pt x="442" y="143"/>
                </a:cubicBezTo>
                <a:cubicBezTo>
                  <a:pt x="439" y="168"/>
                  <a:pt x="423" y="186"/>
                  <a:pt x="414" y="195"/>
                </a:cubicBezTo>
                <a:cubicBezTo>
                  <a:pt x="396" y="213"/>
                  <a:pt x="396" y="213"/>
                  <a:pt x="396" y="213"/>
                </a:cubicBezTo>
                <a:cubicBezTo>
                  <a:pt x="387" y="222"/>
                  <a:pt x="387" y="222"/>
                  <a:pt x="387" y="222"/>
                </a:cubicBezTo>
                <a:cubicBezTo>
                  <a:pt x="384" y="224"/>
                  <a:pt x="380" y="224"/>
                  <a:pt x="377" y="222"/>
                </a:cubicBezTo>
                <a:cubicBezTo>
                  <a:pt x="376" y="221"/>
                  <a:pt x="375" y="220"/>
                  <a:pt x="374" y="220"/>
                </a:cubicBezTo>
                <a:cubicBezTo>
                  <a:pt x="373" y="220"/>
                  <a:pt x="372" y="220"/>
                  <a:pt x="371" y="222"/>
                </a:cubicBezTo>
                <a:cubicBezTo>
                  <a:pt x="369" y="223"/>
                  <a:pt x="365" y="226"/>
                  <a:pt x="359" y="230"/>
                </a:cubicBezTo>
                <a:cubicBezTo>
                  <a:pt x="350" y="237"/>
                  <a:pt x="336" y="248"/>
                  <a:pt x="321" y="260"/>
                </a:cubicBezTo>
                <a:cubicBezTo>
                  <a:pt x="318" y="262"/>
                  <a:pt x="314" y="262"/>
                  <a:pt x="311" y="260"/>
                </a:cubicBezTo>
                <a:cubicBezTo>
                  <a:pt x="200" y="148"/>
                  <a:pt x="200" y="148"/>
                  <a:pt x="200" y="148"/>
                </a:cubicBezTo>
                <a:cubicBezTo>
                  <a:pt x="198" y="146"/>
                  <a:pt x="197" y="144"/>
                  <a:pt x="198" y="141"/>
                </a:cubicBezTo>
                <a:cubicBezTo>
                  <a:pt x="209" y="108"/>
                  <a:pt x="201" y="73"/>
                  <a:pt x="176" y="48"/>
                </a:cubicBezTo>
                <a:cubicBezTo>
                  <a:pt x="159" y="31"/>
                  <a:pt x="136" y="22"/>
                  <a:pt x="112" y="22"/>
                </a:cubicBezTo>
                <a:cubicBezTo>
                  <a:pt x="106" y="22"/>
                  <a:pt x="100" y="22"/>
                  <a:pt x="95" y="23"/>
                </a:cubicBezTo>
                <a:cubicBezTo>
                  <a:pt x="138" y="66"/>
                  <a:pt x="138" y="66"/>
                  <a:pt x="138" y="66"/>
                </a:cubicBezTo>
                <a:cubicBezTo>
                  <a:pt x="147" y="75"/>
                  <a:pt x="138" y="125"/>
                  <a:pt x="131" y="132"/>
                </a:cubicBezTo>
                <a:cubicBezTo>
                  <a:pt x="124" y="139"/>
                  <a:pt x="95" y="143"/>
                  <a:pt x="82" y="143"/>
                </a:cubicBezTo>
                <a:cubicBezTo>
                  <a:pt x="73" y="143"/>
                  <a:pt x="69" y="142"/>
                  <a:pt x="66" y="139"/>
                </a:cubicBezTo>
                <a:cubicBezTo>
                  <a:pt x="22" y="95"/>
                  <a:pt x="22" y="95"/>
                  <a:pt x="22" y="95"/>
                </a:cubicBezTo>
                <a:cubicBezTo>
                  <a:pt x="17" y="125"/>
                  <a:pt x="26" y="155"/>
                  <a:pt x="47" y="177"/>
                </a:cubicBezTo>
                <a:cubicBezTo>
                  <a:pt x="65" y="194"/>
                  <a:pt x="87" y="204"/>
                  <a:pt x="112" y="204"/>
                </a:cubicBezTo>
                <a:cubicBezTo>
                  <a:pt x="121" y="204"/>
                  <a:pt x="131" y="202"/>
                  <a:pt x="140" y="199"/>
                </a:cubicBezTo>
                <a:cubicBezTo>
                  <a:pt x="143" y="198"/>
                  <a:pt x="145" y="199"/>
                  <a:pt x="147" y="201"/>
                </a:cubicBezTo>
                <a:cubicBezTo>
                  <a:pt x="255" y="308"/>
                  <a:pt x="255" y="308"/>
                  <a:pt x="255" y="308"/>
                </a:cubicBezTo>
                <a:cubicBezTo>
                  <a:pt x="258" y="311"/>
                  <a:pt x="258" y="315"/>
                  <a:pt x="255" y="318"/>
                </a:cubicBezTo>
                <a:cubicBezTo>
                  <a:pt x="243" y="331"/>
                  <a:pt x="230" y="346"/>
                  <a:pt x="217" y="360"/>
                </a:cubicBezTo>
                <a:cubicBezTo>
                  <a:pt x="201" y="378"/>
                  <a:pt x="186" y="395"/>
                  <a:pt x="173" y="408"/>
                </a:cubicBezTo>
                <a:cubicBezTo>
                  <a:pt x="152" y="428"/>
                  <a:pt x="116" y="452"/>
                  <a:pt x="98" y="464"/>
                </a:cubicBezTo>
                <a:cubicBezTo>
                  <a:pt x="95" y="466"/>
                  <a:pt x="91" y="468"/>
                  <a:pt x="89" y="469"/>
                </a:cubicBezTo>
                <a:cubicBezTo>
                  <a:pt x="89" y="472"/>
                  <a:pt x="89" y="479"/>
                  <a:pt x="90" y="481"/>
                </a:cubicBezTo>
                <a:cubicBezTo>
                  <a:pt x="95" y="486"/>
                  <a:pt x="142" y="533"/>
                  <a:pt x="142" y="533"/>
                </a:cubicBezTo>
                <a:cubicBezTo>
                  <a:pt x="154" y="545"/>
                  <a:pt x="164" y="555"/>
                  <a:pt x="166" y="557"/>
                </a:cubicBezTo>
                <a:cubicBezTo>
                  <a:pt x="167" y="558"/>
                  <a:pt x="169" y="558"/>
                  <a:pt x="172" y="558"/>
                </a:cubicBezTo>
                <a:cubicBezTo>
                  <a:pt x="175" y="558"/>
                  <a:pt x="177" y="558"/>
                  <a:pt x="178" y="557"/>
                </a:cubicBezTo>
                <a:cubicBezTo>
                  <a:pt x="179" y="556"/>
                  <a:pt x="183" y="551"/>
                  <a:pt x="187" y="545"/>
                </a:cubicBezTo>
                <a:cubicBezTo>
                  <a:pt x="204" y="521"/>
                  <a:pt x="241" y="472"/>
                  <a:pt x="262" y="451"/>
                </a:cubicBezTo>
                <a:cubicBezTo>
                  <a:pt x="275" y="438"/>
                  <a:pt x="287" y="428"/>
                  <a:pt x="299" y="417"/>
                </a:cubicBezTo>
                <a:cubicBezTo>
                  <a:pt x="309" y="409"/>
                  <a:pt x="318" y="401"/>
                  <a:pt x="329" y="392"/>
                </a:cubicBezTo>
                <a:cubicBezTo>
                  <a:pt x="330" y="390"/>
                  <a:pt x="332" y="390"/>
                  <a:pt x="333" y="390"/>
                </a:cubicBez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120" name="Freeform 42"/>
          <p:cNvSpPr>
            <a:spLocks noEditPoints="1"/>
          </p:cNvSpPr>
          <p:nvPr/>
        </p:nvSpPr>
        <p:spPr bwMode="auto">
          <a:xfrm>
            <a:off x="3593188" y="4449540"/>
            <a:ext cx="330447" cy="351991"/>
          </a:xfrm>
          <a:custGeom>
            <a:avLst/>
            <a:gdLst>
              <a:gd name="T0" fmla="*/ 122 w 419"/>
              <a:gd name="T1" fmla="*/ 141 h 491"/>
              <a:gd name="T2" fmla="*/ 156 w 419"/>
              <a:gd name="T3" fmla="*/ 239 h 491"/>
              <a:gd name="T4" fmla="*/ 169 w 419"/>
              <a:gd name="T5" fmla="*/ 276 h 491"/>
              <a:gd name="T6" fmla="*/ 194 w 419"/>
              <a:gd name="T7" fmla="*/ 293 h 491"/>
              <a:gd name="T8" fmla="*/ 220 w 419"/>
              <a:gd name="T9" fmla="*/ 276 h 491"/>
              <a:gd name="T10" fmla="*/ 233 w 419"/>
              <a:gd name="T11" fmla="*/ 239 h 491"/>
              <a:gd name="T12" fmla="*/ 266 w 419"/>
              <a:gd name="T13" fmla="*/ 141 h 491"/>
              <a:gd name="T14" fmla="*/ 194 w 419"/>
              <a:gd name="T15" fmla="*/ 283 h 491"/>
              <a:gd name="T16" fmla="*/ 207 w 419"/>
              <a:gd name="T17" fmla="*/ 276 h 491"/>
              <a:gd name="T18" fmla="*/ 223 w 419"/>
              <a:gd name="T19" fmla="*/ 263 h 491"/>
              <a:gd name="T20" fmla="*/ 169 w 419"/>
              <a:gd name="T21" fmla="*/ 266 h 491"/>
              <a:gd name="T22" fmla="*/ 165 w 419"/>
              <a:gd name="T23" fmla="*/ 244 h 491"/>
              <a:gd name="T24" fmla="*/ 223 w 419"/>
              <a:gd name="T25" fmla="*/ 263 h 491"/>
              <a:gd name="T26" fmla="*/ 223 w 419"/>
              <a:gd name="T27" fmla="*/ 235 h 491"/>
              <a:gd name="T28" fmla="*/ 199 w 419"/>
              <a:gd name="T29" fmla="*/ 168 h 491"/>
              <a:gd name="T30" fmla="*/ 221 w 419"/>
              <a:gd name="T31" fmla="*/ 134 h 491"/>
              <a:gd name="T32" fmla="*/ 194 w 419"/>
              <a:gd name="T33" fmla="*/ 159 h 491"/>
              <a:gd name="T34" fmla="*/ 168 w 419"/>
              <a:gd name="T35" fmla="*/ 134 h 491"/>
              <a:gd name="T36" fmla="*/ 190 w 419"/>
              <a:gd name="T37" fmla="*/ 168 h 491"/>
              <a:gd name="T38" fmla="*/ 165 w 419"/>
              <a:gd name="T39" fmla="*/ 235 h 491"/>
              <a:gd name="T40" fmla="*/ 132 w 419"/>
              <a:gd name="T41" fmla="*/ 141 h 491"/>
              <a:gd name="T42" fmla="*/ 257 w 419"/>
              <a:gd name="T43" fmla="*/ 141 h 491"/>
              <a:gd name="T44" fmla="*/ 407 w 419"/>
              <a:gd name="T45" fmla="*/ 250 h 491"/>
              <a:gd name="T46" fmla="*/ 374 w 419"/>
              <a:gd name="T47" fmla="*/ 183 h 491"/>
              <a:gd name="T48" fmla="*/ 374 w 419"/>
              <a:gd name="T49" fmla="*/ 118 h 491"/>
              <a:gd name="T50" fmla="*/ 193 w 419"/>
              <a:gd name="T51" fmla="*/ 0 h 491"/>
              <a:gd name="T52" fmla="*/ 61 w 419"/>
              <a:gd name="T53" fmla="*/ 288 h 491"/>
              <a:gd name="T54" fmla="*/ 72 w 419"/>
              <a:gd name="T55" fmla="*/ 454 h 491"/>
              <a:gd name="T56" fmla="*/ 197 w 419"/>
              <a:gd name="T57" fmla="*/ 491 h 491"/>
              <a:gd name="T58" fmla="*/ 259 w 419"/>
              <a:gd name="T59" fmla="*/ 480 h 491"/>
              <a:gd name="T60" fmla="*/ 345 w 419"/>
              <a:gd name="T61" fmla="*/ 413 h 491"/>
              <a:gd name="T62" fmla="*/ 378 w 419"/>
              <a:gd name="T63" fmla="*/ 391 h 491"/>
              <a:gd name="T64" fmla="*/ 378 w 419"/>
              <a:gd name="T65" fmla="*/ 360 h 491"/>
              <a:gd name="T66" fmla="*/ 388 w 419"/>
              <a:gd name="T67" fmla="*/ 339 h 491"/>
              <a:gd name="T68" fmla="*/ 394 w 419"/>
              <a:gd name="T69" fmla="*/ 319 h 491"/>
              <a:gd name="T70" fmla="*/ 390 w 419"/>
              <a:gd name="T71" fmla="*/ 304 h 491"/>
              <a:gd name="T72" fmla="*/ 409 w 419"/>
              <a:gd name="T73" fmla="*/ 289 h 491"/>
              <a:gd name="T74" fmla="*/ 407 w 419"/>
              <a:gd name="T75" fmla="*/ 250 h 491"/>
              <a:gd name="T76" fmla="*/ 385 w 419"/>
              <a:gd name="T77" fmla="*/ 286 h 491"/>
              <a:gd name="T78" fmla="*/ 380 w 419"/>
              <a:gd name="T79" fmla="*/ 307 h 491"/>
              <a:gd name="T80" fmla="*/ 385 w 419"/>
              <a:gd name="T81" fmla="*/ 317 h 491"/>
              <a:gd name="T82" fmla="*/ 376 w 419"/>
              <a:gd name="T83" fmla="*/ 331 h 491"/>
              <a:gd name="T84" fmla="*/ 375 w 419"/>
              <a:gd name="T85" fmla="*/ 344 h 491"/>
              <a:gd name="T86" fmla="*/ 369 w 419"/>
              <a:gd name="T87" fmla="*/ 365 h 491"/>
              <a:gd name="T88" fmla="*/ 347 w 419"/>
              <a:gd name="T89" fmla="*/ 404 h 491"/>
              <a:gd name="T90" fmla="*/ 261 w 419"/>
              <a:gd name="T91" fmla="*/ 386 h 491"/>
              <a:gd name="T92" fmla="*/ 250 w 419"/>
              <a:gd name="T93" fmla="*/ 476 h 491"/>
              <a:gd name="T94" fmla="*/ 89 w 419"/>
              <a:gd name="T95" fmla="*/ 307 h 491"/>
              <a:gd name="T96" fmla="*/ 9 w 419"/>
              <a:gd name="T97" fmla="*/ 167 h 491"/>
              <a:gd name="T98" fmla="*/ 193 w 419"/>
              <a:gd name="T99" fmla="*/ 9 h 491"/>
              <a:gd name="T100" fmla="*/ 365 w 419"/>
              <a:gd name="T101" fmla="*/ 120 h 491"/>
              <a:gd name="T102" fmla="*/ 365 w 419"/>
              <a:gd name="T103" fmla="*/ 180 h 491"/>
              <a:gd name="T104" fmla="*/ 399 w 419"/>
              <a:gd name="T105" fmla="*/ 255 h 491"/>
              <a:gd name="T106" fmla="*/ 405 w 419"/>
              <a:gd name="T107" fmla="*/ 281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19" h="491">
                <a:moveTo>
                  <a:pt x="194" y="69"/>
                </a:moveTo>
                <a:cubicBezTo>
                  <a:pt x="155" y="69"/>
                  <a:pt x="122" y="101"/>
                  <a:pt x="122" y="141"/>
                </a:cubicBezTo>
                <a:cubicBezTo>
                  <a:pt x="122" y="161"/>
                  <a:pt x="130" y="180"/>
                  <a:pt x="144" y="195"/>
                </a:cubicBezTo>
                <a:cubicBezTo>
                  <a:pt x="148" y="199"/>
                  <a:pt x="156" y="210"/>
                  <a:pt x="156" y="239"/>
                </a:cubicBezTo>
                <a:cubicBezTo>
                  <a:pt x="156" y="263"/>
                  <a:pt x="156" y="263"/>
                  <a:pt x="156" y="263"/>
                </a:cubicBezTo>
                <a:cubicBezTo>
                  <a:pt x="156" y="270"/>
                  <a:pt x="162" y="276"/>
                  <a:pt x="169" y="276"/>
                </a:cubicBezTo>
                <a:cubicBezTo>
                  <a:pt x="172" y="276"/>
                  <a:pt x="172" y="276"/>
                  <a:pt x="172" y="276"/>
                </a:cubicBezTo>
                <a:cubicBezTo>
                  <a:pt x="174" y="285"/>
                  <a:pt x="183" y="293"/>
                  <a:pt x="194" y="293"/>
                </a:cubicBezTo>
                <a:cubicBezTo>
                  <a:pt x="205" y="293"/>
                  <a:pt x="214" y="285"/>
                  <a:pt x="217" y="276"/>
                </a:cubicBezTo>
                <a:cubicBezTo>
                  <a:pt x="220" y="276"/>
                  <a:pt x="220" y="276"/>
                  <a:pt x="220" y="276"/>
                </a:cubicBezTo>
                <a:cubicBezTo>
                  <a:pt x="227" y="276"/>
                  <a:pt x="233" y="270"/>
                  <a:pt x="233" y="263"/>
                </a:cubicBezTo>
                <a:cubicBezTo>
                  <a:pt x="233" y="239"/>
                  <a:pt x="233" y="239"/>
                  <a:pt x="233" y="239"/>
                </a:cubicBezTo>
                <a:cubicBezTo>
                  <a:pt x="233" y="210"/>
                  <a:pt x="241" y="199"/>
                  <a:pt x="244" y="195"/>
                </a:cubicBezTo>
                <a:cubicBezTo>
                  <a:pt x="258" y="180"/>
                  <a:pt x="266" y="161"/>
                  <a:pt x="266" y="141"/>
                </a:cubicBezTo>
                <a:cubicBezTo>
                  <a:pt x="266" y="101"/>
                  <a:pt x="234" y="69"/>
                  <a:pt x="194" y="69"/>
                </a:cubicBezTo>
                <a:close/>
                <a:moveTo>
                  <a:pt x="194" y="283"/>
                </a:moveTo>
                <a:cubicBezTo>
                  <a:pt x="189" y="283"/>
                  <a:pt x="184" y="280"/>
                  <a:pt x="182" y="276"/>
                </a:cubicBezTo>
                <a:cubicBezTo>
                  <a:pt x="207" y="276"/>
                  <a:pt x="207" y="276"/>
                  <a:pt x="207" y="276"/>
                </a:cubicBezTo>
                <a:cubicBezTo>
                  <a:pt x="205" y="280"/>
                  <a:pt x="200" y="283"/>
                  <a:pt x="194" y="283"/>
                </a:cubicBezTo>
                <a:close/>
                <a:moveTo>
                  <a:pt x="223" y="263"/>
                </a:moveTo>
                <a:cubicBezTo>
                  <a:pt x="223" y="265"/>
                  <a:pt x="222" y="266"/>
                  <a:pt x="220" y="266"/>
                </a:cubicBezTo>
                <a:cubicBezTo>
                  <a:pt x="169" y="266"/>
                  <a:pt x="169" y="266"/>
                  <a:pt x="169" y="266"/>
                </a:cubicBezTo>
                <a:cubicBezTo>
                  <a:pt x="167" y="266"/>
                  <a:pt x="165" y="265"/>
                  <a:pt x="165" y="263"/>
                </a:cubicBezTo>
                <a:cubicBezTo>
                  <a:pt x="165" y="244"/>
                  <a:pt x="165" y="244"/>
                  <a:pt x="165" y="244"/>
                </a:cubicBezTo>
                <a:cubicBezTo>
                  <a:pt x="223" y="244"/>
                  <a:pt x="223" y="244"/>
                  <a:pt x="223" y="244"/>
                </a:cubicBezTo>
                <a:lnTo>
                  <a:pt x="223" y="263"/>
                </a:lnTo>
                <a:close/>
                <a:moveTo>
                  <a:pt x="237" y="188"/>
                </a:moveTo>
                <a:cubicBezTo>
                  <a:pt x="232" y="194"/>
                  <a:pt x="224" y="207"/>
                  <a:pt x="223" y="235"/>
                </a:cubicBezTo>
                <a:cubicBezTo>
                  <a:pt x="199" y="235"/>
                  <a:pt x="199" y="235"/>
                  <a:pt x="199" y="235"/>
                </a:cubicBezTo>
                <a:cubicBezTo>
                  <a:pt x="199" y="168"/>
                  <a:pt x="199" y="168"/>
                  <a:pt x="199" y="168"/>
                </a:cubicBezTo>
                <a:cubicBezTo>
                  <a:pt x="218" y="165"/>
                  <a:pt x="224" y="141"/>
                  <a:pt x="224" y="140"/>
                </a:cubicBezTo>
                <a:cubicBezTo>
                  <a:pt x="225" y="137"/>
                  <a:pt x="223" y="135"/>
                  <a:pt x="221" y="134"/>
                </a:cubicBezTo>
                <a:cubicBezTo>
                  <a:pt x="218" y="133"/>
                  <a:pt x="216" y="135"/>
                  <a:pt x="215" y="137"/>
                </a:cubicBezTo>
                <a:cubicBezTo>
                  <a:pt x="215" y="138"/>
                  <a:pt x="210" y="159"/>
                  <a:pt x="194" y="159"/>
                </a:cubicBezTo>
                <a:cubicBezTo>
                  <a:pt x="179" y="159"/>
                  <a:pt x="173" y="138"/>
                  <a:pt x="173" y="137"/>
                </a:cubicBezTo>
                <a:cubicBezTo>
                  <a:pt x="173" y="135"/>
                  <a:pt x="170" y="133"/>
                  <a:pt x="168" y="134"/>
                </a:cubicBezTo>
                <a:cubicBezTo>
                  <a:pt x="165" y="135"/>
                  <a:pt x="164" y="137"/>
                  <a:pt x="164" y="140"/>
                </a:cubicBezTo>
                <a:cubicBezTo>
                  <a:pt x="165" y="141"/>
                  <a:pt x="170" y="165"/>
                  <a:pt x="190" y="168"/>
                </a:cubicBezTo>
                <a:cubicBezTo>
                  <a:pt x="190" y="235"/>
                  <a:pt x="190" y="235"/>
                  <a:pt x="190" y="235"/>
                </a:cubicBezTo>
                <a:cubicBezTo>
                  <a:pt x="165" y="235"/>
                  <a:pt x="165" y="235"/>
                  <a:pt x="165" y="235"/>
                </a:cubicBezTo>
                <a:cubicBezTo>
                  <a:pt x="164" y="207"/>
                  <a:pt x="156" y="194"/>
                  <a:pt x="151" y="188"/>
                </a:cubicBezTo>
                <a:cubicBezTo>
                  <a:pt x="139" y="176"/>
                  <a:pt x="132" y="158"/>
                  <a:pt x="132" y="141"/>
                </a:cubicBezTo>
                <a:cubicBezTo>
                  <a:pt x="132" y="107"/>
                  <a:pt x="160" y="79"/>
                  <a:pt x="194" y="79"/>
                </a:cubicBezTo>
                <a:cubicBezTo>
                  <a:pt x="229" y="79"/>
                  <a:pt x="257" y="107"/>
                  <a:pt x="257" y="141"/>
                </a:cubicBezTo>
                <a:cubicBezTo>
                  <a:pt x="257" y="158"/>
                  <a:pt x="250" y="176"/>
                  <a:pt x="237" y="188"/>
                </a:cubicBezTo>
                <a:close/>
                <a:moveTo>
                  <a:pt x="407" y="250"/>
                </a:moveTo>
                <a:cubicBezTo>
                  <a:pt x="395" y="232"/>
                  <a:pt x="374" y="197"/>
                  <a:pt x="372" y="188"/>
                </a:cubicBezTo>
                <a:cubicBezTo>
                  <a:pt x="373" y="187"/>
                  <a:pt x="373" y="185"/>
                  <a:pt x="374" y="183"/>
                </a:cubicBezTo>
                <a:cubicBezTo>
                  <a:pt x="376" y="176"/>
                  <a:pt x="379" y="166"/>
                  <a:pt x="379" y="158"/>
                </a:cubicBezTo>
                <a:cubicBezTo>
                  <a:pt x="379" y="146"/>
                  <a:pt x="377" y="129"/>
                  <a:pt x="374" y="118"/>
                </a:cubicBezTo>
                <a:cubicBezTo>
                  <a:pt x="373" y="112"/>
                  <a:pt x="364" y="83"/>
                  <a:pt x="338" y="55"/>
                </a:cubicBezTo>
                <a:cubicBezTo>
                  <a:pt x="303" y="18"/>
                  <a:pt x="255" y="0"/>
                  <a:pt x="193" y="0"/>
                </a:cubicBezTo>
                <a:cubicBezTo>
                  <a:pt x="65" y="0"/>
                  <a:pt x="0" y="56"/>
                  <a:pt x="0" y="167"/>
                </a:cubicBezTo>
                <a:cubicBezTo>
                  <a:pt x="0" y="231"/>
                  <a:pt x="37" y="266"/>
                  <a:pt x="61" y="288"/>
                </a:cubicBezTo>
                <a:cubicBezTo>
                  <a:pt x="70" y="297"/>
                  <a:pt x="78" y="304"/>
                  <a:pt x="80" y="310"/>
                </a:cubicBezTo>
                <a:cubicBezTo>
                  <a:pt x="97" y="376"/>
                  <a:pt x="82" y="429"/>
                  <a:pt x="72" y="454"/>
                </a:cubicBezTo>
                <a:cubicBezTo>
                  <a:pt x="71" y="456"/>
                  <a:pt x="72" y="459"/>
                  <a:pt x="74" y="460"/>
                </a:cubicBezTo>
                <a:cubicBezTo>
                  <a:pt x="112" y="480"/>
                  <a:pt x="154" y="491"/>
                  <a:pt x="197" y="491"/>
                </a:cubicBezTo>
                <a:cubicBezTo>
                  <a:pt x="217" y="491"/>
                  <a:pt x="236" y="489"/>
                  <a:pt x="256" y="484"/>
                </a:cubicBezTo>
                <a:cubicBezTo>
                  <a:pt x="258" y="484"/>
                  <a:pt x="259" y="482"/>
                  <a:pt x="259" y="480"/>
                </a:cubicBezTo>
                <a:cubicBezTo>
                  <a:pt x="259" y="438"/>
                  <a:pt x="260" y="406"/>
                  <a:pt x="262" y="396"/>
                </a:cubicBezTo>
                <a:cubicBezTo>
                  <a:pt x="280" y="401"/>
                  <a:pt x="335" y="413"/>
                  <a:pt x="345" y="413"/>
                </a:cubicBezTo>
                <a:cubicBezTo>
                  <a:pt x="346" y="413"/>
                  <a:pt x="347" y="413"/>
                  <a:pt x="347" y="413"/>
                </a:cubicBezTo>
                <a:cubicBezTo>
                  <a:pt x="355" y="413"/>
                  <a:pt x="374" y="413"/>
                  <a:pt x="378" y="391"/>
                </a:cubicBezTo>
                <a:cubicBezTo>
                  <a:pt x="381" y="380"/>
                  <a:pt x="380" y="370"/>
                  <a:pt x="379" y="364"/>
                </a:cubicBezTo>
                <a:cubicBezTo>
                  <a:pt x="379" y="362"/>
                  <a:pt x="378" y="360"/>
                  <a:pt x="378" y="360"/>
                </a:cubicBezTo>
                <a:cubicBezTo>
                  <a:pt x="379" y="356"/>
                  <a:pt x="382" y="352"/>
                  <a:pt x="384" y="348"/>
                </a:cubicBezTo>
                <a:cubicBezTo>
                  <a:pt x="386" y="344"/>
                  <a:pt x="387" y="342"/>
                  <a:pt x="388" y="339"/>
                </a:cubicBezTo>
                <a:cubicBezTo>
                  <a:pt x="388" y="337"/>
                  <a:pt x="387" y="333"/>
                  <a:pt x="386" y="330"/>
                </a:cubicBezTo>
                <a:cubicBezTo>
                  <a:pt x="389" y="327"/>
                  <a:pt x="393" y="323"/>
                  <a:pt x="394" y="319"/>
                </a:cubicBezTo>
                <a:cubicBezTo>
                  <a:pt x="394" y="315"/>
                  <a:pt x="392" y="310"/>
                  <a:pt x="390" y="305"/>
                </a:cubicBezTo>
                <a:cubicBezTo>
                  <a:pt x="390" y="305"/>
                  <a:pt x="390" y="305"/>
                  <a:pt x="390" y="304"/>
                </a:cubicBezTo>
                <a:cubicBezTo>
                  <a:pt x="390" y="303"/>
                  <a:pt x="390" y="299"/>
                  <a:pt x="390" y="294"/>
                </a:cubicBezTo>
                <a:cubicBezTo>
                  <a:pt x="396" y="293"/>
                  <a:pt x="406" y="291"/>
                  <a:pt x="409" y="289"/>
                </a:cubicBezTo>
                <a:cubicBezTo>
                  <a:pt x="415" y="286"/>
                  <a:pt x="419" y="277"/>
                  <a:pt x="419" y="272"/>
                </a:cubicBezTo>
                <a:cubicBezTo>
                  <a:pt x="419" y="270"/>
                  <a:pt x="418" y="270"/>
                  <a:pt x="407" y="250"/>
                </a:cubicBezTo>
                <a:close/>
                <a:moveTo>
                  <a:pt x="405" y="281"/>
                </a:moveTo>
                <a:cubicBezTo>
                  <a:pt x="403" y="282"/>
                  <a:pt x="393" y="284"/>
                  <a:pt x="385" y="286"/>
                </a:cubicBezTo>
                <a:cubicBezTo>
                  <a:pt x="383" y="286"/>
                  <a:pt x="381" y="288"/>
                  <a:pt x="381" y="290"/>
                </a:cubicBezTo>
                <a:cubicBezTo>
                  <a:pt x="380" y="305"/>
                  <a:pt x="380" y="306"/>
                  <a:pt x="380" y="307"/>
                </a:cubicBezTo>
                <a:cubicBezTo>
                  <a:pt x="381" y="308"/>
                  <a:pt x="381" y="308"/>
                  <a:pt x="382" y="310"/>
                </a:cubicBezTo>
                <a:cubicBezTo>
                  <a:pt x="384" y="314"/>
                  <a:pt x="385" y="316"/>
                  <a:pt x="385" y="317"/>
                </a:cubicBezTo>
                <a:cubicBezTo>
                  <a:pt x="384" y="319"/>
                  <a:pt x="381" y="322"/>
                  <a:pt x="377" y="325"/>
                </a:cubicBezTo>
                <a:cubicBezTo>
                  <a:pt x="376" y="326"/>
                  <a:pt x="375" y="329"/>
                  <a:pt x="376" y="331"/>
                </a:cubicBezTo>
                <a:cubicBezTo>
                  <a:pt x="377" y="334"/>
                  <a:pt x="378" y="337"/>
                  <a:pt x="378" y="338"/>
                </a:cubicBezTo>
                <a:cubicBezTo>
                  <a:pt x="378" y="339"/>
                  <a:pt x="377" y="342"/>
                  <a:pt x="375" y="344"/>
                </a:cubicBezTo>
                <a:cubicBezTo>
                  <a:pt x="373" y="348"/>
                  <a:pt x="371" y="353"/>
                  <a:pt x="369" y="357"/>
                </a:cubicBezTo>
                <a:cubicBezTo>
                  <a:pt x="369" y="359"/>
                  <a:pt x="369" y="362"/>
                  <a:pt x="369" y="365"/>
                </a:cubicBezTo>
                <a:cubicBezTo>
                  <a:pt x="370" y="371"/>
                  <a:pt x="371" y="379"/>
                  <a:pt x="369" y="389"/>
                </a:cubicBezTo>
                <a:cubicBezTo>
                  <a:pt x="367" y="401"/>
                  <a:pt x="359" y="404"/>
                  <a:pt x="347" y="404"/>
                </a:cubicBezTo>
                <a:cubicBezTo>
                  <a:pt x="347" y="404"/>
                  <a:pt x="346" y="404"/>
                  <a:pt x="345" y="404"/>
                </a:cubicBezTo>
                <a:cubicBezTo>
                  <a:pt x="335" y="403"/>
                  <a:pt x="271" y="389"/>
                  <a:pt x="261" y="386"/>
                </a:cubicBezTo>
                <a:cubicBezTo>
                  <a:pt x="259" y="386"/>
                  <a:pt x="257" y="386"/>
                  <a:pt x="256" y="387"/>
                </a:cubicBezTo>
                <a:cubicBezTo>
                  <a:pt x="250" y="394"/>
                  <a:pt x="249" y="449"/>
                  <a:pt x="250" y="476"/>
                </a:cubicBezTo>
                <a:cubicBezTo>
                  <a:pt x="193" y="488"/>
                  <a:pt x="133" y="480"/>
                  <a:pt x="83" y="454"/>
                </a:cubicBezTo>
                <a:cubicBezTo>
                  <a:pt x="93" y="426"/>
                  <a:pt x="105" y="373"/>
                  <a:pt x="89" y="307"/>
                </a:cubicBezTo>
                <a:cubicBezTo>
                  <a:pt x="87" y="299"/>
                  <a:pt x="79" y="292"/>
                  <a:pt x="68" y="282"/>
                </a:cubicBezTo>
                <a:cubicBezTo>
                  <a:pt x="44" y="260"/>
                  <a:pt x="9" y="227"/>
                  <a:pt x="9" y="167"/>
                </a:cubicBezTo>
                <a:cubicBezTo>
                  <a:pt x="9" y="119"/>
                  <a:pt x="22" y="82"/>
                  <a:pt x="47" y="56"/>
                </a:cubicBezTo>
                <a:cubicBezTo>
                  <a:pt x="78" y="25"/>
                  <a:pt x="127" y="9"/>
                  <a:pt x="193" y="9"/>
                </a:cubicBezTo>
                <a:cubicBezTo>
                  <a:pt x="252" y="9"/>
                  <a:pt x="298" y="27"/>
                  <a:pt x="331" y="61"/>
                </a:cubicBezTo>
                <a:cubicBezTo>
                  <a:pt x="357" y="88"/>
                  <a:pt x="364" y="117"/>
                  <a:pt x="365" y="120"/>
                </a:cubicBezTo>
                <a:cubicBezTo>
                  <a:pt x="367" y="130"/>
                  <a:pt x="370" y="147"/>
                  <a:pt x="370" y="158"/>
                </a:cubicBezTo>
                <a:cubicBezTo>
                  <a:pt x="370" y="165"/>
                  <a:pt x="367" y="174"/>
                  <a:pt x="365" y="180"/>
                </a:cubicBezTo>
                <a:cubicBezTo>
                  <a:pt x="363" y="185"/>
                  <a:pt x="363" y="187"/>
                  <a:pt x="363" y="189"/>
                </a:cubicBezTo>
                <a:cubicBezTo>
                  <a:pt x="364" y="198"/>
                  <a:pt x="380" y="224"/>
                  <a:pt x="399" y="255"/>
                </a:cubicBezTo>
                <a:cubicBezTo>
                  <a:pt x="403" y="263"/>
                  <a:pt x="408" y="271"/>
                  <a:pt x="409" y="273"/>
                </a:cubicBezTo>
                <a:cubicBezTo>
                  <a:pt x="409" y="275"/>
                  <a:pt x="406" y="280"/>
                  <a:pt x="405" y="281"/>
                </a:cubicBez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121" name="Freeform 96"/>
          <p:cNvSpPr>
            <a:spLocks noEditPoints="1"/>
          </p:cNvSpPr>
          <p:nvPr/>
        </p:nvSpPr>
        <p:spPr bwMode="auto">
          <a:xfrm>
            <a:off x="8313408" y="4437112"/>
            <a:ext cx="351031" cy="375323"/>
          </a:xfrm>
          <a:custGeom>
            <a:avLst/>
            <a:gdLst>
              <a:gd name="T0" fmla="*/ 730 w 730"/>
              <a:gd name="T1" fmla="*/ 386 h 780"/>
              <a:gd name="T2" fmla="*/ 677 w 730"/>
              <a:gd name="T3" fmla="*/ 198 h 780"/>
              <a:gd name="T4" fmla="*/ 476 w 730"/>
              <a:gd name="T5" fmla="*/ 46 h 780"/>
              <a:gd name="T6" fmla="*/ 659 w 730"/>
              <a:gd name="T7" fmla="*/ 195 h 780"/>
              <a:gd name="T8" fmla="*/ 523 w 730"/>
              <a:gd name="T9" fmla="*/ 163 h 780"/>
              <a:gd name="T10" fmla="*/ 510 w 730"/>
              <a:gd name="T11" fmla="*/ 169 h 780"/>
              <a:gd name="T12" fmla="*/ 372 w 730"/>
              <a:gd name="T13" fmla="*/ 195 h 780"/>
              <a:gd name="T14" fmla="*/ 365 w 730"/>
              <a:gd name="T15" fmla="*/ 22 h 780"/>
              <a:gd name="T16" fmla="*/ 52 w 730"/>
              <a:gd name="T17" fmla="*/ 200 h 780"/>
              <a:gd name="T18" fmla="*/ 52 w 730"/>
              <a:gd name="T19" fmla="*/ 574 h 780"/>
              <a:gd name="T20" fmla="*/ 247 w 730"/>
              <a:gd name="T21" fmla="*/ 732 h 780"/>
              <a:gd name="T22" fmla="*/ 256 w 730"/>
              <a:gd name="T23" fmla="*/ 727 h 780"/>
              <a:gd name="T24" fmla="*/ 71 w 730"/>
              <a:gd name="T25" fmla="*/ 577 h 780"/>
              <a:gd name="T26" fmla="*/ 207 w 730"/>
              <a:gd name="T27" fmla="*/ 608 h 780"/>
              <a:gd name="T28" fmla="*/ 216 w 730"/>
              <a:gd name="T29" fmla="*/ 612 h 780"/>
              <a:gd name="T30" fmla="*/ 210 w 730"/>
              <a:gd name="T31" fmla="*/ 577 h 780"/>
              <a:gd name="T32" fmla="*/ 358 w 730"/>
              <a:gd name="T33" fmla="*/ 744 h 780"/>
              <a:gd name="T34" fmla="*/ 677 w 730"/>
              <a:gd name="T35" fmla="*/ 575 h 780"/>
              <a:gd name="T36" fmla="*/ 564 w 730"/>
              <a:gd name="T37" fmla="*/ 393 h 780"/>
              <a:gd name="T38" fmla="*/ 668 w 730"/>
              <a:gd name="T39" fmla="*/ 563 h 780"/>
              <a:gd name="T40" fmla="*/ 564 w 730"/>
              <a:gd name="T41" fmla="*/ 393 h 780"/>
              <a:gd name="T42" fmla="*/ 372 w 730"/>
              <a:gd name="T43" fmla="*/ 563 h 780"/>
              <a:gd name="T44" fmla="*/ 550 w 730"/>
              <a:gd name="T45" fmla="*/ 393 h 780"/>
              <a:gd name="T46" fmla="*/ 668 w 730"/>
              <a:gd name="T47" fmla="*/ 209 h 780"/>
              <a:gd name="T48" fmla="*/ 564 w 730"/>
              <a:gd name="T49" fmla="*/ 379 h 780"/>
              <a:gd name="T50" fmla="*/ 668 w 730"/>
              <a:gd name="T51" fmla="*/ 209 h 780"/>
              <a:gd name="T52" fmla="*/ 550 w 730"/>
              <a:gd name="T53" fmla="*/ 379 h 780"/>
              <a:gd name="T54" fmla="*/ 372 w 730"/>
              <a:gd name="T55" fmla="*/ 209 h 780"/>
              <a:gd name="T56" fmla="*/ 14 w 730"/>
              <a:gd name="T57" fmla="*/ 379 h 780"/>
              <a:gd name="T58" fmla="*/ 191 w 730"/>
              <a:gd name="T59" fmla="*/ 209 h 780"/>
              <a:gd name="T60" fmla="*/ 14 w 730"/>
              <a:gd name="T61" fmla="*/ 379 h 780"/>
              <a:gd name="T62" fmla="*/ 358 w 730"/>
              <a:gd name="T63" fmla="*/ 209 h 780"/>
              <a:gd name="T64" fmla="*/ 180 w 730"/>
              <a:gd name="T65" fmla="*/ 379 h 780"/>
              <a:gd name="T66" fmla="*/ 210 w 730"/>
              <a:gd name="T67" fmla="*/ 195 h 780"/>
              <a:gd name="T68" fmla="*/ 358 w 730"/>
              <a:gd name="T69" fmla="*/ 195 h 780"/>
              <a:gd name="T70" fmla="*/ 299 w 730"/>
              <a:gd name="T71" fmla="*/ 42 h 780"/>
              <a:gd name="T72" fmla="*/ 195 w 730"/>
              <a:gd name="T73" fmla="*/ 195 h 780"/>
              <a:gd name="T74" fmla="*/ 299 w 730"/>
              <a:gd name="T75" fmla="*/ 42 h 780"/>
              <a:gd name="T76" fmla="*/ 14 w 730"/>
              <a:gd name="T77" fmla="*/ 393 h 780"/>
              <a:gd name="T78" fmla="*/ 191 w 730"/>
              <a:gd name="T79" fmla="*/ 563 h 780"/>
              <a:gd name="T80" fmla="*/ 205 w 730"/>
              <a:gd name="T81" fmla="*/ 563 h 780"/>
              <a:gd name="T82" fmla="*/ 358 w 730"/>
              <a:gd name="T83" fmla="*/ 393 h 780"/>
              <a:gd name="T84" fmla="*/ 205 w 730"/>
              <a:gd name="T85" fmla="*/ 563 h 780"/>
              <a:gd name="T86" fmla="*/ 372 w 730"/>
              <a:gd name="T87" fmla="*/ 737 h 780"/>
              <a:gd name="T88" fmla="*/ 520 w 730"/>
              <a:gd name="T89" fmla="*/ 577 h 780"/>
              <a:gd name="T90" fmla="*/ 507 w 730"/>
              <a:gd name="T91" fmla="*/ 643 h 780"/>
              <a:gd name="T92" fmla="*/ 659 w 730"/>
              <a:gd name="T93" fmla="*/ 577 h 780"/>
              <a:gd name="T94" fmla="*/ 324 w 730"/>
              <a:gd name="T95" fmla="*/ 740 h 780"/>
              <a:gd name="T96" fmla="*/ 321 w 730"/>
              <a:gd name="T97" fmla="*/ 752 h 780"/>
              <a:gd name="T98" fmla="*/ 194 w 730"/>
              <a:gd name="T99" fmla="*/ 780 h 780"/>
              <a:gd name="T100" fmla="*/ 193 w 730"/>
              <a:gd name="T101" fmla="*/ 766 h 780"/>
              <a:gd name="T102" fmla="*/ 227 w 730"/>
              <a:gd name="T103" fmla="*/ 653 h 780"/>
              <a:gd name="T104" fmla="*/ 238 w 730"/>
              <a:gd name="T105" fmla="*/ 643 h 780"/>
              <a:gd name="T106" fmla="*/ 416 w 730"/>
              <a:gd name="T107" fmla="*/ 38 h 780"/>
              <a:gd name="T108" fmla="*/ 420 w 730"/>
              <a:gd name="T109" fmla="*/ 27 h 780"/>
              <a:gd name="T110" fmla="*/ 540 w 730"/>
              <a:gd name="T111" fmla="*/ 7 h 780"/>
              <a:gd name="T112" fmla="*/ 435 w 730"/>
              <a:gd name="T113" fmla="*/ 38 h 780"/>
              <a:gd name="T114" fmla="*/ 504 w 730"/>
              <a:gd name="T115" fmla="*/ 125 h 780"/>
              <a:gd name="T116" fmla="*/ 494 w 730"/>
              <a:gd name="T117" fmla="*/ 125 h 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30" h="780">
                <a:moveTo>
                  <a:pt x="678" y="573"/>
                </a:moveTo>
                <a:cubicBezTo>
                  <a:pt x="711" y="518"/>
                  <a:pt x="730" y="454"/>
                  <a:pt x="730" y="386"/>
                </a:cubicBezTo>
                <a:cubicBezTo>
                  <a:pt x="730" y="319"/>
                  <a:pt x="711" y="255"/>
                  <a:pt x="678" y="200"/>
                </a:cubicBezTo>
                <a:cubicBezTo>
                  <a:pt x="678" y="199"/>
                  <a:pt x="678" y="199"/>
                  <a:pt x="677" y="198"/>
                </a:cubicBezTo>
                <a:cubicBezTo>
                  <a:pt x="634" y="127"/>
                  <a:pt x="567" y="70"/>
                  <a:pt x="485" y="42"/>
                </a:cubicBezTo>
                <a:cubicBezTo>
                  <a:pt x="481" y="41"/>
                  <a:pt x="477" y="42"/>
                  <a:pt x="476" y="46"/>
                </a:cubicBezTo>
                <a:cubicBezTo>
                  <a:pt x="475" y="50"/>
                  <a:pt x="476" y="54"/>
                  <a:pt x="480" y="55"/>
                </a:cubicBezTo>
                <a:cubicBezTo>
                  <a:pt x="556" y="81"/>
                  <a:pt x="618" y="131"/>
                  <a:pt x="659" y="195"/>
                </a:cubicBezTo>
                <a:cubicBezTo>
                  <a:pt x="535" y="195"/>
                  <a:pt x="535" y="195"/>
                  <a:pt x="535" y="195"/>
                </a:cubicBezTo>
                <a:cubicBezTo>
                  <a:pt x="531" y="184"/>
                  <a:pt x="527" y="174"/>
                  <a:pt x="523" y="163"/>
                </a:cubicBezTo>
                <a:cubicBezTo>
                  <a:pt x="521" y="160"/>
                  <a:pt x="517" y="158"/>
                  <a:pt x="514" y="159"/>
                </a:cubicBezTo>
                <a:cubicBezTo>
                  <a:pt x="510" y="161"/>
                  <a:pt x="508" y="165"/>
                  <a:pt x="510" y="169"/>
                </a:cubicBezTo>
                <a:cubicBezTo>
                  <a:pt x="514" y="177"/>
                  <a:pt x="517" y="186"/>
                  <a:pt x="520" y="195"/>
                </a:cubicBezTo>
                <a:cubicBezTo>
                  <a:pt x="372" y="195"/>
                  <a:pt x="372" y="195"/>
                  <a:pt x="372" y="195"/>
                </a:cubicBezTo>
                <a:cubicBezTo>
                  <a:pt x="372" y="29"/>
                  <a:pt x="372" y="29"/>
                  <a:pt x="372" y="29"/>
                </a:cubicBezTo>
                <a:cubicBezTo>
                  <a:pt x="372" y="25"/>
                  <a:pt x="369" y="22"/>
                  <a:pt x="365" y="22"/>
                </a:cubicBezTo>
                <a:cubicBezTo>
                  <a:pt x="233" y="22"/>
                  <a:pt x="117" y="92"/>
                  <a:pt x="53" y="198"/>
                </a:cubicBezTo>
                <a:cubicBezTo>
                  <a:pt x="52" y="199"/>
                  <a:pt x="52" y="199"/>
                  <a:pt x="52" y="200"/>
                </a:cubicBezTo>
                <a:cubicBezTo>
                  <a:pt x="19" y="255"/>
                  <a:pt x="0" y="318"/>
                  <a:pt x="0" y="386"/>
                </a:cubicBezTo>
                <a:cubicBezTo>
                  <a:pt x="0" y="454"/>
                  <a:pt x="19" y="519"/>
                  <a:pt x="52" y="574"/>
                </a:cubicBezTo>
                <a:cubicBezTo>
                  <a:pt x="52" y="574"/>
                  <a:pt x="52" y="574"/>
                  <a:pt x="52" y="574"/>
                </a:cubicBezTo>
                <a:cubicBezTo>
                  <a:pt x="96" y="646"/>
                  <a:pt x="164" y="703"/>
                  <a:pt x="247" y="732"/>
                </a:cubicBezTo>
                <a:cubicBezTo>
                  <a:pt x="248" y="732"/>
                  <a:pt x="248" y="732"/>
                  <a:pt x="249" y="732"/>
                </a:cubicBezTo>
                <a:cubicBezTo>
                  <a:pt x="252" y="732"/>
                  <a:pt x="255" y="730"/>
                  <a:pt x="256" y="727"/>
                </a:cubicBezTo>
                <a:cubicBezTo>
                  <a:pt x="257" y="724"/>
                  <a:pt x="255" y="720"/>
                  <a:pt x="251" y="718"/>
                </a:cubicBezTo>
                <a:cubicBezTo>
                  <a:pt x="175" y="692"/>
                  <a:pt x="113" y="642"/>
                  <a:pt x="71" y="577"/>
                </a:cubicBezTo>
                <a:cubicBezTo>
                  <a:pt x="195" y="577"/>
                  <a:pt x="195" y="577"/>
                  <a:pt x="195" y="577"/>
                </a:cubicBezTo>
                <a:cubicBezTo>
                  <a:pt x="199" y="588"/>
                  <a:pt x="202" y="598"/>
                  <a:pt x="207" y="608"/>
                </a:cubicBezTo>
                <a:cubicBezTo>
                  <a:pt x="208" y="611"/>
                  <a:pt x="210" y="612"/>
                  <a:pt x="213" y="612"/>
                </a:cubicBezTo>
                <a:cubicBezTo>
                  <a:pt x="214" y="612"/>
                  <a:pt x="215" y="612"/>
                  <a:pt x="216" y="612"/>
                </a:cubicBezTo>
                <a:cubicBezTo>
                  <a:pt x="219" y="610"/>
                  <a:pt x="221" y="606"/>
                  <a:pt x="219" y="603"/>
                </a:cubicBezTo>
                <a:cubicBezTo>
                  <a:pt x="216" y="594"/>
                  <a:pt x="213" y="586"/>
                  <a:pt x="210" y="577"/>
                </a:cubicBezTo>
                <a:cubicBezTo>
                  <a:pt x="358" y="577"/>
                  <a:pt x="358" y="577"/>
                  <a:pt x="358" y="577"/>
                </a:cubicBezTo>
                <a:cubicBezTo>
                  <a:pt x="358" y="744"/>
                  <a:pt x="358" y="744"/>
                  <a:pt x="358" y="744"/>
                </a:cubicBezTo>
                <a:cubicBezTo>
                  <a:pt x="358" y="748"/>
                  <a:pt x="361" y="751"/>
                  <a:pt x="365" y="751"/>
                </a:cubicBezTo>
                <a:cubicBezTo>
                  <a:pt x="497" y="751"/>
                  <a:pt x="613" y="680"/>
                  <a:pt x="677" y="575"/>
                </a:cubicBezTo>
                <a:cubicBezTo>
                  <a:pt x="678" y="574"/>
                  <a:pt x="678" y="574"/>
                  <a:pt x="678" y="573"/>
                </a:cubicBezTo>
                <a:close/>
                <a:moveTo>
                  <a:pt x="564" y="393"/>
                </a:moveTo>
                <a:cubicBezTo>
                  <a:pt x="716" y="393"/>
                  <a:pt x="716" y="393"/>
                  <a:pt x="716" y="393"/>
                </a:cubicBezTo>
                <a:cubicBezTo>
                  <a:pt x="714" y="455"/>
                  <a:pt x="697" y="513"/>
                  <a:pt x="668" y="563"/>
                </a:cubicBezTo>
                <a:cubicBezTo>
                  <a:pt x="539" y="563"/>
                  <a:pt x="539" y="563"/>
                  <a:pt x="539" y="563"/>
                </a:cubicBezTo>
                <a:cubicBezTo>
                  <a:pt x="555" y="512"/>
                  <a:pt x="564" y="454"/>
                  <a:pt x="564" y="393"/>
                </a:cubicBezTo>
                <a:close/>
                <a:moveTo>
                  <a:pt x="525" y="563"/>
                </a:moveTo>
                <a:cubicBezTo>
                  <a:pt x="372" y="563"/>
                  <a:pt x="372" y="563"/>
                  <a:pt x="372" y="563"/>
                </a:cubicBezTo>
                <a:cubicBezTo>
                  <a:pt x="372" y="393"/>
                  <a:pt x="372" y="393"/>
                  <a:pt x="372" y="393"/>
                </a:cubicBezTo>
                <a:cubicBezTo>
                  <a:pt x="550" y="393"/>
                  <a:pt x="550" y="393"/>
                  <a:pt x="550" y="393"/>
                </a:cubicBezTo>
                <a:cubicBezTo>
                  <a:pt x="550" y="455"/>
                  <a:pt x="540" y="513"/>
                  <a:pt x="525" y="563"/>
                </a:cubicBezTo>
                <a:close/>
                <a:moveTo>
                  <a:pt x="668" y="209"/>
                </a:moveTo>
                <a:cubicBezTo>
                  <a:pt x="697" y="260"/>
                  <a:pt x="714" y="318"/>
                  <a:pt x="716" y="379"/>
                </a:cubicBezTo>
                <a:cubicBezTo>
                  <a:pt x="564" y="379"/>
                  <a:pt x="564" y="379"/>
                  <a:pt x="564" y="379"/>
                </a:cubicBezTo>
                <a:cubicBezTo>
                  <a:pt x="564" y="319"/>
                  <a:pt x="555" y="261"/>
                  <a:pt x="539" y="209"/>
                </a:cubicBezTo>
                <a:lnTo>
                  <a:pt x="668" y="209"/>
                </a:lnTo>
                <a:close/>
                <a:moveTo>
                  <a:pt x="525" y="209"/>
                </a:moveTo>
                <a:cubicBezTo>
                  <a:pt x="541" y="261"/>
                  <a:pt x="550" y="319"/>
                  <a:pt x="550" y="379"/>
                </a:cubicBezTo>
                <a:cubicBezTo>
                  <a:pt x="372" y="379"/>
                  <a:pt x="372" y="379"/>
                  <a:pt x="372" y="379"/>
                </a:cubicBezTo>
                <a:cubicBezTo>
                  <a:pt x="372" y="209"/>
                  <a:pt x="372" y="209"/>
                  <a:pt x="372" y="209"/>
                </a:cubicBezTo>
                <a:lnTo>
                  <a:pt x="525" y="209"/>
                </a:lnTo>
                <a:close/>
                <a:moveTo>
                  <a:pt x="14" y="379"/>
                </a:moveTo>
                <a:cubicBezTo>
                  <a:pt x="16" y="318"/>
                  <a:pt x="33" y="260"/>
                  <a:pt x="62" y="209"/>
                </a:cubicBezTo>
                <a:cubicBezTo>
                  <a:pt x="191" y="209"/>
                  <a:pt x="191" y="209"/>
                  <a:pt x="191" y="209"/>
                </a:cubicBezTo>
                <a:cubicBezTo>
                  <a:pt x="175" y="261"/>
                  <a:pt x="166" y="319"/>
                  <a:pt x="166" y="379"/>
                </a:cubicBezTo>
                <a:lnTo>
                  <a:pt x="14" y="379"/>
                </a:lnTo>
                <a:close/>
                <a:moveTo>
                  <a:pt x="205" y="209"/>
                </a:moveTo>
                <a:cubicBezTo>
                  <a:pt x="358" y="209"/>
                  <a:pt x="358" y="209"/>
                  <a:pt x="358" y="209"/>
                </a:cubicBezTo>
                <a:cubicBezTo>
                  <a:pt x="358" y="379"/>
                  <a:pt x="358" y="379"/>
                  <a:pt x="358" y="379"/>
                </a:cubicBezTo>
                <a:cubicBezTo>
                  <a:pt x="180" y="379"/>
                  <a:pt x="180" y="379"/>
                  <a:pt x="180" y="379"/>
                </a:cubicBezTo>
                <a:cubicBezTo>
                  <a:pt x="180" y="318"/>
                  <a:pt x="190" y="260"/>
                  <a:pt x="205" y="209"/>
                </a:cubicBezTo>
                <a:close/>
                <a:moveTo>
                  <a:pt x="210" y="195"/>
                </a:moveTo>
                <a:cubicBezTo>
                  <a:pt x="242" y="103"/>
                  <a:pt x="296" y="40"/>
                  <a:pt x="358" y="36"/>
                </a:cubicBezTo>
                <a:cubicBezTo>
                  <a:pt x="358" y="195"/>
                  <a:pt x="358" y="195"/>
                  <a:pt x="358" y="195"/>
                </a:cubicBezTo>
                <a:lnTo>
                  <a:pt x="210" y="195"/>
                </a:lnTo>
                <a:close/>
                <a:moveTo>
                  <a:pt x="299" y="42"/>
                </a:moveTo>
                <a:cubicBezTo>
                  <a:pt x="271" y="60"/>
                  <a:pt x="245" y="90"/>
                  <a:pt x="223" y="130"/>
                </a:cubicBezTo>
                <a:cubicBezTo>
                  <a:pt x="212" y="150"/>
                  <a:pt x="203" y="172"/>
                  <a:pt x="195" y="195"/>
                </a:cubicBezTo>
                <a:cubicBezTo>
                  <a:pt x="71" y="195"/>
                  <a:pt x="71" y="195"/>
                  <a:pt x="71" y="195"/>
                </a:cubicBezTo>
                <a:cubicBezTo>
                  <a:pt x="122" y="117"/>
                  <a:pt x="204" y="60"/>
                  <a:pt x="299" y="42"/>
                </a:cubicBezTo>
                <a:close/>
                <a:moveTo>
                  <a:pt x="62" y="563"/>
                </a:moveTo>
                <a:cubicBezTo>
                  <a:pt x="33" y="513"/>
                  <a:pt x="16" y="455"/>
                  <a:pt x="14" y="393"/>
                </a:cubicBezTo>
                <a:cubicBezTo>
                  <a:pt x="166" y="393"/>
                  <a:pt x="166" y="393"/>
                  <a:pt x="166" y="393"/>
                </a:cubicBezTo>
                <a:cubicBezTo>
                  <a:pt x="166" y="454"/>
                  <a:pt x="175" y="512"/>
                  <a:pt x="191" y="563"/>
                </a:cubicBezTo>
                <a:lnTo>
                  <a:pt x="62" y="563"/>
                </a:lnTo>
                <a:close/>
                <a:moveTo>
                  <a:pt x="205" y="563"/>
                </a:moveTo>
                <a:cubicBezTo>
                  <a:pt x="189" y="512"/>
                  <a:pt x="180" y="454"/>
                  <a:pt x="180" y="393"/>
                </a:cubicBezTo>
                <a:cubicBezTo>
                  <a:pt x="358" y="393"/>
                  <a:pt x="358" y="393"/>
                  <a:pt x="358" y="393"/>
                </a:cubicBezTo>
                <a:cubicBezTo>
                  <a:pt x="358" y="563"/>
                  <a:pt x="358" y="563"/>
                  <a:pt x="358" y="563"/>
                </a:cubicBezTo>
                <a:lnTo>
                  <a:pt x="205" y="563"/>
                </a:lnTo>
                <a:close/>
                <a:moveTo>
                  <a:pt x="520" y="577"/>
                </a:moveTo>
                <a:cubicBezTo>
                  <a:pt x="488" y="670"/>
                  <a:pt x="434" y="732"/>
                  <a:pt x="372" y="737"/>
                </a:cubicBezTo>
                <a:cubicBezTo>
                  <a:pt x="372" y="577"/>
                  <a:pt x="372" y="577"/>
                  <a:pt x="372" y="577"/>
                </a:cubicBezTo>
                <a:lnTo>
                  <a:pt x="520" y="577"/>
                </a:lnTo>
                <a:close/>
                <a:moveTo>
                  <a:pt x="431" y="731"/>
                </a:moveTo>
                <a:cubicBezTo>
                  <a:pt x="459" y="713"/>
                  <a:pt x="485" y="683"/>
                  <a:pt x="507" y="643"/>
                </a:cubicBezTo>
                <a:cubicBezTo>
                  <a:pt x="518" y="623"/>
                  <a:pt x="527" y="601"/>
                  <a:pt x="535" y="577"/>
                </a:cubicBezTo>
                <a:cubicBezTo>
                  <a:pt x="659" y="577"/>
                  <a:pt x="659" y="577"/>
                  <a:pt x="659" y="577"/>
                </a:cubicBezTo>
                <a:cubicBezTo>
                  <a:pt x="608" y="656"/>
                  <a:pt x="526" y="713"/>
                  <a:pt x="431" y="731"/>
                </a:cubicBezTo>
                <a:close/>
                <a:moveTo>
                  <a:pt x="324" y="740"/>
                </a:moveTo>
                <a:cubicBezTo>
                  <a:pt x="326" y="742"/>
                  <a:pt x="327" y="745"/>
                  <a:pt x="326" y="747"/>
                </a:cubicBezTo>
                <a:cubicBezTo>
                  <a:pt x="325" y="749"/>
                  <a:pt x="323" y="751"/>
                  <a:pt x="321" y="752"/>
                </a:cubicBezTo>
                <a:cubicBezTo>
                  <a:pt x="196" y="780"/>
                  <a:pt x="196" y="780"/>
                  <a:pt x="196" y="780"/>
                </a:cubicBezTo>
                <a:cubicBezTo>
                  <a:pt x="195" y="780"/>
                  <a:pt x="195" y="780"/>
                  <a:pt x="194" y="780"/>
                </a:cubicBezTo>
                <a:cubicBezTo>
                  <a:pt x="191" y="780"/>
                  <a:pt x="188" y="778"/>
                  <a:pt x="187" y="775"/>
                </a:cubicBezTo>
                <a:cubicBezTo>
                  <a:pt x="186" y="771"/>
                  <a:pt x="189" y="767"/>
                  <a:pt x="193" y="766"/>
                </a:cubicBezTo>
                <a:cubicBezTo>
                  <a:pt x="306" y="741"/>
                  <a:pt x="306" y="741"/>
                  <a:pt x="306" y="741"/>
                </a:cubicBezTo>
                <a:cubicBezTo>
                  <a:pt x="227" y="653"/>
                  <a:pt x="227" y="653"/>
                  <a:pt x="227" y="653"/>
                </a:cubicBezTo>
                <a:cubicBezTo>
                  <a:pt x="225" y="650"/>
                  <a:pt x="225" y="646"/>
                  <a:pt x="228" y="643"/>
                </a:cubicBezTo>
                <a:cubicBezTo>
                  <a:pt x="231" y="640"/>
                  <a:pt x="235" y="641"/>
                  <a:pt x="238" y="643"/>
                </a:cubicBezTo>
                <a:lnTo>
                  <a:pt x="324" y="740"/>
                </a:lnTo>
                <a:close/>
                <a:moveTo>
                  <a:pt x="416" y="38"/>
                </a:moveTo>
                <a:cubicBezTo>
                  <a:pt x="415" y="36"/>
                  <a:pt x="414" y="34"/>
                  <a:pt x="415" y="31"/>
                </a:cubicBezTo>
                <a:cubicBezTo>
                  <a:pt x="415" y="29"/>
                  <a:pt x="417" y="27"/>
                  <a:pt x="420" y="27"/>
                </a:cubicBezTo>
                <a:cubicBezTo>
                  <a:pt x="532" y="1"/>
                  <a:pt x="532" y="1"/>
                  <a:pt x="532" y="1"/>
                </a:cubicBezTo>
                <a:cubicBezTo>
                  <a:pt x="536" y="0"/>
                  <a:pt x="539" y="3"/>
                  <a:pt x="540" y="7"/>
                </a:cubicBezTo>
                <a:cubicBezTo>
                  <a:pt x="541" y="10"/>
                  <a:pt x="539" y="14"/>
                  <a:pt x="535" y="15"/>
                </a:cubicBezTo>
                <a:cubicBezTo>
                  <a:pt x="435" y="38"/>
                  <a:pt x="435" y="38"/>
                  <a:pt x="435" y="38"/>
                </a:cubicBezTo>
                <a:cubicBezTo>
                  <a:pt x="504" y="115"/>
                  <a:pt x="504" y="115"/>
                  <a:pt x="504" y="115"/>
                </a:cubicBezTo>
                <a:cubicBezTo>
                  <a:pt x="507" y="118"/>
                  <a:pt x="506" y="123"/>
                  <a:pt x="504" y="125"/>
                </a:cubicBezTo>
                <a:cubicBezTo>
                  <a:pt x="502" y="127"/>
                  <a:pt x="501" y="127"/>
                  <a:pt x="499" y="127"/>
                </a:cubicBezTo>
                <a:cubicBezTo>
                  <a:pt x="497" y="127"/>
                  <a:pt x="495" y="126"/>
                  <a:pt x="494" y="125"/>
                </a:cubicBezTo>
                <a:lnTo>
                  <a:pt x="416" y="38"/>
                </a:ln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48"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5</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415638437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4"/>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7400"/>
                    </a14:imgEffect>
                  </a14:imgLayer>
                </a14:imgProps>
              </a:ext>
              <a:ext uri="{28A0092B-C50C-407E-A947-70E740481C1C}">
                <a14:useLocalDpi xmlns:a14="http://schemas.microsoft.com/office/drawing/2010/main" val="0"/>
              </a:ext>
            </a:extLst>
          </a:blip>
          <a:srcRect/>
          <a:stretch>
            <a:fillRect/>
          </a:stretch>
        </p:blipFill>
        <p:spPr bwMode="auto">
          <a:xfrm>
            <a:off x="-163620" y="-27384"/>
            <a:ext cx="10445217" cy="6885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1"/>
          <p:cNvSpPr/>
          <p:nvPr/>
        </p:nvSpPr>
        <p:spPr>
          <a:xfrm rot="2700000">
            <a:off x="3208413" y="2964164"/>
            <a:ext cx="3489172" cy="3489172"/>
          </a:xfrm>
          <a:prstGeom prst="rect">
            <a:avLst/>
          </a:prstGeom>
          <a:solidFill>
            <a:srgbClr val="323232">
              <a:alpha val="69804"/>
            </a:srgbClr>
          </a:solidFill>
          <a:ln w="1016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3"/>
          <p:cNvSpPr/>
          <p:nvPr/>
        </p:nvSpPr>
        <p:spPr>
          <a:xfrm rot="2700000">
            <a:off x="3767257" y="322606"/>
            <a:ext cx="2371484" cy="2371484"/>
          </a:xfrm>
          <a:prstGeom prst="rect">
            <a:avLst/>
          </a:prstGeom>
          <a:solidFill>
            <a:srgbClr val="323232">
              <a:alpha val="40000"/>
            </a:srgb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5"/>
          <p:cNvCxnSpPr/>
          <p:nvPr/>
        </p:nvCxnSpPr>
        <p:spPr>
          <a:xfrm>
            <a:off x="4668511" y="5163935"/>
            <a:ext cx="56454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8 Rectángulo"/>
          <p:cNvSpPr/>
          <p:nvPr/>
        </p:nvSpPr>
        <p:spPr>
          <a:xfrm>
            <a:off x="3036508" y="4050861"/>
            <a:ext cx="3828549" cy="984885"/>
          </a:xfrm>
          <a:prstGeom prst="rect">
            <a:avLst/>
          </a:prstGeom>
        </p:spPr>
        <p:txBody>
          <a:bodyPr wrap="none">
            <a:spAutoFit/>
          </a:bodyPr>
          <a:lstStyle/>
          <a:p>
            <a:pPr algn="ctr">
              <a:spcBef>
                <a:spcPts val="1200"/>
              </a:spcBef>
              <a:buClr>
                <a:srgbClr val="323232"/>
              </a:buClr>
            </a:pPr>
            <a:r>
              <a:rPr lang="es-ES" sz="2400" dirty="0">
                <a:solidFill>
                  <a:schemeClr val="bg1"/>
                </a:solidFill>
                <a:latin typeface="Avenir 35" panose="00000400000000000000" pitchFamily="2" charset="0"/>
                <a:cs typeface="Arial" panose="020B0604020202020204" pitchFamily="34" charset="0"/>
              </a:rPr>
              <a:t>Parte 1 | Análisis Descriptivo </a:t>
            </a:r>
          </a:p>
          <a:p>
            <a:pPr algn="ctr">
              <a:spcBef>
                <a:spcPts val="1200"/>
              </a:spcBef>
              <a:buClr>
                <a:srgbClr val="323232"/>
              </a:buClr>
            </a:pPr>
            <a:r>
              <a:rPr lang="es-ES" sz="2400" dirty="0">
                <a:solidFill>
                  <a:schemeClr val="bg1"/>
                </a:solidFill>
                <a:latin typeface="Avenir 35" panose="00000400000000000000" pitchFamily="2" charset="0"/>
                <a:cs typeface="Arial" panose="020B0604020202020204" pitchFamily="34" charset="0"/>
              </a:rPr>
              <a:t>(</a:t>
            </a:r>
            <a:r>
              <a:rPr lang="es-ES" sz="2400" dirty="0" err="1">
                <a:solidFill>
                  <a:schemeClr val="bg1"/>
                </a:solidFill>
                <a:latin typeface="Avenir 35" panose="00000400000000000000" pitchFamily="2" charset="0"/>
                <a:cs typeface="Arial" panose="020B0604020202020204" pitchFamily="34" charset="0"/>
              </a:rPr>
              <a:t>Power</a:t>
            </a:r>
            <a:r>
              <a:rPr lang="es-ES" sz="2400" dirty="0">
                <a:solidFill>
                  <a:schemeClr val="bg1"/>
                </a:solidFill>
                <a:latin typeface="Avenir 35" panose="00000400000000000000" pitchFamily="2" charset="0"/>
                <a:cs typeface="Arial" panose="020B0604020202020204" pitchFamily="34" charset="0"/>
              </a:rPr>
              <a:t> BI)</a:t>
            </a:r>
          </a:p>
        </p:txBody>
      </p:sp>
      <p:sp>
        <p:nvSpPr>
          <p:cNvPr id="5" name="Rectangle 2"/>
          <p:cNvSpPr/>
          <p:nvPr/>
        </p:nvSpPr>
        <p:spPr>
          <a:xfrm rot="2700000">
            <a:off x="4356670" y="2050713"/>
            <a:ext cx="1192658" cy="1192658"/>
          </a:xfrm>
          <a:prstGeom prst="rect">
            <a:avLst/>
          </a:prstGeom>
          <a:noFill/>
          <a:ln w="1016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12 Rectángulo"/>
          <p:cNvSpPr/>
          <p:nvPr/>
        </p:nvSpPr>
        <p:spPr>
          <a:xfrm>
            <a:off x="4728767" y="2429412"/>
            <a:ext cx="428322" cy="584775"/>
          </a:xfrm>
          <a:prstGeom prst="rect">
            <a:avLst/>
          </a:prstGeom>
        </p:spPr>
        <p:txBody>
          <a:bodyPr wrap="none">
            <a:spAutoFit/>
          </a:bodyPr>
          <a:lstStyle/>
          <a:p>
            <a:pPr>
              <a:spcBef>
                <a:spcPts val="1200"/>
              </a:spcBef>
              <a:buClr>
                <a:srgbClr val="323232"/>
              </a:buClr>
            </a:pPr>
            <a:r>
              <a:rPr lang="es-ES" sz="3200" b="1" dirty="0">
                <a:solidFill>
                  <a:schemeClr val="bg1"/>
                </a:solidFill>
                <a:latin typeface="Avenir 65" panose="02000600000000000000" pitchFamily="2" charset="0"/>
                <a:cs typeface="Arial" panose="020B0604020202020204" pitchFamily="34" charset="0"/>
              </a:rPr>
              <a:t>2</a:t>
            </a:r>
          </a:p>
        </p:txBody>
      </p:sp>
      <p:sp>
        <p:nvSpPr>
          <p:cNvPr id="14" name="Title 1"/>
          <p:cNvSpPr txBox="1">
            <a:spLocks/>
          </p:cNvSpPr>
          <p:nvPr/>
        </p:nvSpPr>
        <p:spPr>
          <a:xfrm>
            <a:off x="7297440" y="6381328"/>
            <a:ext cx="2608560" cy="369515"/>
          </a:xfrm>
          <a:prstGeom prst="rect">
            <a:avLst/>
          </a:prstGeom>
        </p:spPr>
        <p:txBody>
          <a:bodyPr vert="horz" lIns="91440" tIns="45720" rIns="91440" bIns="45720" rtlCol="0">
            <a:noAutofit/>
          </a:bodyPr>
          <a:lstStyle>
            <a:lvl1pPr indent="0" algn="ctr">
              <a:spcBef>
                <a:spcPct val="20000"/>
              </a:spcBef>
              <a:buFont typeface="Arial" panose="020B0604020202020204" pitchFamily="34" charset="0"/>
              <a:buNone/>
              <a:defRPr>
                <a:solidFill>
                  <a:schemeClr val="bg1"/>
                </a:solidFill>
                <a:latin typeface="HelveticaNeueLT Std Lt" pitchFamily="34" charset="0"/>
              </a:defRPr>
            </a:lvl1pPr>
            <a:lvl2pPr indent="0" algn="ctr">
              <a:spcBef>
                <a:spcPct val="20000"/>
              </a:spcBef>
              <a:buFont typeface="Arial" panose="020B0604020202020204" pitchFamily="34" charset="0"/>
              <a:buNone/>
              <a:defRPr sz="2800">
                <a:solidFill>
                  <a:schemeClr val="tx1">
                    <a:tint val="75000"/>
                  </a:schemeClr>
                </a:solidFill>
              </a:defRPr>
            </a:lvl2pPr>
            <a:lvl3pPr indent="0" algn="ctr">
              <a:spcBef>
                <a:spcPct val="20000"/>
              </a:spcBef>
              <a:buFont typeface="Arial" panose="020B0604020202020204" pitchFamily="34" charset="0"/>
              <a:buNone/>
              <a:defRPr sz="2400">
                <a:solidFill>
                  <a:schemeClr val="tx1">
                    <a:tint val="75000"/>
                  </a:schemeClr>
                </a:solidFill>
              </a:defRPr>
            </a:lvl3pPr>
            <a:lvl4pPr indent="0" algn="ctr">
              <a:spcBef>
                <a:spcPct val="20000"/>
              </a:spcBef>
              <a:buFont typeface="Arial" panose="020B0604020202020204" pitchFamily="34" charset="0"/>
              <a:buNone/>
              <a:defRPr sz="2000">
                <a:solidFill>
                  <a:schemeClr val="tx1">
                    <a:tint val="75000"/>
                  </a:schemeClr>
                </a:solidFill>
              </a:defRPr>
            </a:lvl4pPr>
            <a:lvl5pPr indent="0" algn="ctr">
              <a:spcBef>
                <a:spcPct val="20000"/>
              </a:spcBef>
              <a:buFont typeface="Arial" panose="020B0604020202020204" pitchFamily="34" charset="0"/>
              <a:buNone/>
              <a:defRPr sz="2000">
                <a:solidFill>
                  <a:schemeClr val="tx1">
                    <a:tint val="75000"/>
                  </a:schemeClr>
                </a:solidFill>
              </a:defRPr>
            </a:lvl5pPr>
            <a:lvl6pPr indent="0" algn="ctr">
              <a:spcBef>
                <a:spcPct val="20000"/>
              </a:spcBef>
              <a:buFont typeface="Arial" panose="020B0604020202020204" pitchFamily="34" charset="0"/>
              <a:buNone/>
              <a:defRPr sz="2000">
                <a:solidFill>
                  <a:schemeClr val="tx1">
                    <a:tint val="75000"/>
                  </a:schemeClr>
                </a:solidFill>
              </a:defRPr>
            </a:lvl6pPr>
            <a:lvl7pPr indent="0" algn="ctr">
              <a:spcBef>
                <a:spcPct val="20000"/>
              </a:spcBef>
              <a:buFont typeface="Arial" panose="020B0604020202020204" pitchFamily="34" charset="0"/>
              <a:buNone/>
              <a:defRPr sz="2000">
                <a:solidFill>
                  <a:schemeClr val="tx1">
                    <a:tint val="75000"/>
                  </a:schemeClr>
                </a:solidFill>
              </a:defRPr>
            </a:lvl7pPr>
            <a:lvl8pPr indent="0" algn="ctr">
              <a:spcBef>
                <a:spcPct val="20000"/>
              </a:spcBef>
              <a:buFont typeface="Arial" panose="020B0604020202020204" pitchFamily="34" charset="0"/>
              <a:buNone/>
              <a:defRPr sz="2000">
                <a:solidFill>
                  <a:schemeClr val="tx1">
                    <a:tint val="75000"/>
                  </a:schemeClr>
                </a:solidFill>
              </a:defRPr>
            </a:lvl8pPr>
            <a:lvl9pPr indent="0" algn="ctr">
              <a:spcBef>
                <a:spcPct val="20000"/>
              </a:spcBef>
              <a:buFont typeface="Arial" panose="020B0604020202020204" pitchFamily="34" charset="0"/>
              <a:buNone/>
              <a:defRPr sz="2000">
                <a:solidFill>
                  <a:schemeClr val="tx1">
                    <a:tint val="75000"/>
                  </a:schemeClr>
                </a:solidFill>
              </a:defRPr>
            </a:lvl9pPr>
          </a:lstStyle>
          <a:p>
            <a:r>
              <a:rPr lang="es-ES" sz="2000" dirty="0">
                <a:latin typeface="Master Of Break" pitchFamily="2" charset="0"/>
              </a:rPr>
              <a:t>the key is always you</a:t>
            </a:r>
            <a:endParaRPr lang="en-US" sz="2000" dirty="0">
              <a:latin typeface="Master Of Break" pitchFamily="2" charset="0"/>
            </a:endParaRPr>
          </a:p>
        </p:txBody>
      </p:sp>
      <p:sp>
        <p:nvSpPr>
          <p:cNvPr id="11"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6</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2468157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extBox 17"/>
          <p:cNvSpPr txBox="1"/>
          <p:nvPr/>
        </p:nvSpPr>
        <p:spPr>
          <a:xfrm>
            <a:off x="4397340" y="5013177"/>
            <a:ext cx="2211849" cy="1668662"/>
          </a:xfrm>
          <a:prstGeom prst="rect">
            <a:avLst/>
          </a:prstGeom>
          <a:noFill/>
        </p:spPr>
        <p:txBody>
          <a:bodyPr wrap="square" lIns="91440" rIns="91440" rtlCol="0">
            <a:spAutoFit/>
          </a:bodyPr>
          <a:lstStyle/>
          <a:p>
            <a:pPr>
              <a:lnSpc>
                <a:spcPct val="90000"/>
              </a:lnSpc>
              <a:spcBef>
                <a:spcPts val="800"/>
              </a:spcBef>
            </a:pPr>
            <a:r>
              <a:rPr lang="es-ES" sz="1500" dirty="0">
                <a:solidFill>
                  <a:schemeClr val="bg1">
                    <a:lumMod val="50000"/>
                  </a:schemeClr>
                </a:solidFill>
                <a:latin typeface="Avenir 65" panose="02000600000000000000" pitchFamily="2" charset="0"/>
              </a:rPr>
              <a:t>….</a:t>
            </a:r>
            <a:endParaRPr lang="es-ES" sz="800" dirty="0">
              <a:solidFill>
                <a:schemeClr val="bg1">
                  <a:lumMod val="50000"/>
                </a:schemeClr>
              </a:solidFill>
              <a:latin typeface="Avenir 65" panose="02000600000000000000" pitchFamily="2" charset="0"/>
            </a:endParaRPr>
          </a:p>
          <a:p>
            <a:pPr>
              <a:lnSpc>
                <a:spcPct val="90000"/>
              </a:lnSpc>
              <a:spcBef>
                <a:spcPts val="800"/>
              </a:spcBef>
            </a:pPr>
            <a:r>
              <a:rPr lang="es-ES" sz="1050" kern="0" dirty="0">
                <a:solidFill>
                  <a:schemeClr val="bg1">
                    <a:lumMod val="50000"/>
                  </a:schemeClr>
                </a:solidFill>
                <a:latin typeface="Avenir 35" panose="00000400000000000000" pitchFamily="2" charset="0"/>
                <a:cs typeface="Arial" panose="020B0604020202020204" pitchFamily="34" charset="0"/>
              </a:rPr>
              <a:t>Maximizar el impacto de las campañas de marketing así como asegurar su alineamiento con la estrategia de negocio de Easy Money con una visión única e integrada del cliente.</a:t>
            </a:r>
          </a:p>
          <a:p>
            <a:pPr>
              <a:lnSpc>
                <a:spcPct val="90000"/>
              </a:lnSpc>
              <a:spcBef>
                <a:spcPts val="800"/>
              </a:spcBef>
            </a:pPr>
            <a:r>
              <a:rPr lang="es-ES" sz="1050" dirty="0">
                <a:solidFill>
                  <a:schemeClr val="bg1">
                    <a:lumMod val="50000"/>
                  </a:schemeClr>
                </a:solidFill>
                <a:latin typeface="Avenir 35" panose="00000400000000000000" pitchFamily="2" charset="0"/>
              </a:rPr>
              <a:t>Medir y proporcionar información de valor a las Business Units.</a:t>
            </a:r>
          </a:p>
        </p:txBody>
      </p:sp>
      <p:sp>
        <p:nvSpPr>
          <p:cNvPr id="172" name="6 CuadroTexto"/>
          <p:cNvSpPr txBox="1"/>
          <p:nvPr/>
        </p:nvSpPr>
        <p:spPr>
          <a:xfrm>
            <a:off x="632527" y="414018"/>
            <a:ext cx="8660261" cy="400110"/>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noAutofit/>
          </a:bodyPr>
          <a:lstStyle>
            <a:defPPr>
              <a:defRPr lang="es-ES"/>
            </a:defPPr>
            <a:lvl1pPr algn="ctr" defTabSz="825500">
              <a:spcBef>
                <a:spcPct val="0"/>
              </a:spcBef>
              <a:buNone/>
              <a:defRPr sz="2000" b="0" kern="0">
                <a:solidFill>
                  <a:srgbClr val="323232"/>
                </a:solidFill>
                <a:latin typeface="Avenir 65" panose="02000600000000000000" pitchFamily="2" charset="0"/>
                <a:ea typeface="+mj-ea"/>
                <a:cs typeface="+mj-cs"/>
              </a:defRPr>
            </a:lvl1pPr>
          </a:lstStyle>
          <a:p>
            <a:r>
              <a:rPr lang="es-ES" dirty="0"/>
              <a:t>ENFOQUE</a:t>
            </a:r>
          </a:p>
        </p:txBody>
      </p:sp>
      <p:sp>
        <p:nvSpPr>
          <p:cNvPr id="173"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s-ES" dirty="0">
                <a:solidFill>
                  <a:srgbClr val="323232"/>
                </a:solidFill>
                <a:latin typeface="Avenir 35" panose="00000400000000000000" pitchFamily="2" charset="0"/>
              </a:rPr>
              <a:t>Parte 1 | Análisis Descriptivo </a:t>
            </a:r>
          </a:p>
          <a:p>
            <a:endParaRPr lang="es-ES" dirty="0">
              <a:solidFill>
                <a:srgbClr val="323232"/>
              </a:solidFill>
              <a:latin typeface="Avenir 35" panose="00000400000000000000" pitchFamily="2" charset="0"/>
            </a:endParaRPr>
          </a:p>
        </p:txBody>
      </p:sp>
      <p:sp>
        <p:nvSpPr>
          <p:cNvPr id="30" name="AutoShape 4"/>
          <p:cNvSpPr>
            <a:spLocks noChangeArrowheads="1"/>
          </p:cNvSpPr>
          <p:nvPr/>
        </p:nvSpPr>
        <p:spPr bwMode="auto">
          <a:xfrm>
            <a:off x="632527" y="832079"/>
            <a:ext cx="8660261" cy="432048"/>
          </a:xfrm>
          <a:prstGeom prst="roundRect">
            <a:avLst>
              <a:gd name="adj" fmla="val 12500"/>
            </a:avLst>
          </a:prstGeom>
        </p:spPr>
        <p:txBody>
          <a:bodyPr lIns="92583" tIns="46292" rIns="92583" bIns="46292" anchor="ctr">
            <a:normAutofit/>
          </a:bodyPr>
          <a:lstStyle/>
          <a:p>
            <a:pPr algn="ctr">
              <a:lnSpc>
                <a:spcPct val="90000"/>
              </a:lnSpc>
              <a:spcBef>
                <a:spcPts val="800"/>
              </a:spcBef>
            </a:pPr>
            <a:r>
              <a:rPr lang="es-ES" sz="1000" kern="0" dirty="0">
                <a:solidFill>
                  <a:srgbClr val="323232"/>
                </a:solidFill>
                <a:latin typeface="Avenir 35" panose="00000400000000000000" pitchFamily="2" charset="0"/>
                <a:cs typeface="Arial" panose="020B0604020202020204" pitchFamily="34" charset="0"/>
              </a:rPr>
              <a:t>Entendemos que hay 5 objetivos principales a conseguir con esta iniciativa. Nuestro enfoque se centra en proporcionar la mejor solución para cada uno de ellos </a:t>
            </a:r>
          </a:p>
        </p:txBody>
      </p:sp>
      <p:sp>
        <p:nvSpPr>
          <p:cNvPr id="101" name="Freeform 6"/>
          <p:cNvSpPr>
            <a:spLocks/>
          </p:cNvSpPr>
          <p:nvPr/>
        </p:nvSpPr>
        <p:spPr bwMode="auto">
          <a:xfrm>
            <a:off x="3503034" y="1726181"/>
            <a:ext cx="1968103" cy="1541860"/>
          </a:xfrm>
          <a:custGeom>
            <a:avLst/>
            <a:gdLst>
              <a:gd name="T0" fmla="*/ 3 w 227"/>
              <a:gd name="T1" fmla="*/ 68 h 178"/>
              <a:gd name="T2" fmla="*/ 112 w 227"/>
              <a:gd name="T3" fmla="*/ 178 h 178"/>
              <a:gd name="T4" fmla="*/ 227 w 227"/>
              <a:gd name="T5" fmla="*/ 63 h 178"/>
              <a:gd name="T6" fmla="*/ 3 w 227"/>
              <a:gd name="T7" fmla="*/ 58 h 178"/>
              <a:gd name="T8" fmla="*/ 3 w 227"/>
              <a:gd name="T9" fmla="*/ 68 h 178"/>
            </a:gdLst>
            <a:ahLst/>
            <a:cxnLst>
              <a:cxn ang="0">
                <a:pos x="T0" y="T1"/>
              </a:cxn>
              <a:cxn ang="0">
                <a:pos x="T2" y="T3"/>
              </a:cxn>
              <a:cxn ang="0">
                <a:pos x="T4" y="T5"/>
              </a:cxn>
              <a:cxn ang="0">
                <a:pos x="T6" y="T7"/>
              </a:cxn>
              <a:cxn ang="0">
                <a:pos x="T8" y="T9"/>
              </a:cxn>
            </a:cxnLst>
            <a:rect l="0" t="0" r="r" b="b"/>
            <a:pathLst>
              <a:path w="227" h="178">
                <a:moveTo>
                  <a:pt x="3" y="68"/>
                </a:moveTo>
                <a:cubicBezTo>
                  <a:pt x="112" y="178"/>
                  <a:pt x="112" y="178"/>
                  <a:pt x="112" y="178"/>
                </a:cubicBezTo>
                <a:cubicBezTo>
                  <a:pt x="227" y="63"/>
                  <a:pt x="227" y="63"/>
                  <a:pt x="227" y="63"/>
                </a:cubicBezTo>
                <a:cubicBezTo>
                  <a:pt x="166" y="1"/>
                  <a:pt x="67" y="0"/>
                  <a:pt x="3" y="58"/>
                </a:cubicBezTo>
                <a:cubicBezTo>
                  <a:pt x="0" y="60"/>
                  <a:pt x="0" y="65"/>
                  <a:pt x="3" y="68"/>
                </a:cubicBezTo>
                <a:close/>
              </a:path>
            </a:pathLst>
          </a:custGeom>
          <a:solidFill>
            <a:srgbClr val="51C3CA"/>
          </a:solidFill>
          <a:ln>
            <a:no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chemeClr val="tx1">
                  <a:lumMod val="50000"/>
                  <a:lumOff val="50000"/>
                </a:schemeClr>
              </a:solidFill>
              <a:effectLst/>
              <a:uLnTx/>
              <a:uFillTx/>
              <a:latin typeface="Roboto Regular" charset="0"/>
            </a:endParaRPr>
          </a:p>
        </p:txBody>
      </p:sp>
      <p:sp>
        <p:nvSpPr>
          <p:cNvPr id="102" name="Freeform 8"/>
          <p:cNvSpPr>
            <a:spLocks/>
          </p:cNvSpPr>
          <p:nvPr/>
        </p:nvSpPr>
        <p:spPr bwMode="auto">
          <a:xfrm>
            <a:off x="4768673" y="2194096"/>
            <a:ext cx="1369219" cy="1801416"/>
          </a:xfrm>
          <a:custGeom>
            <a:avLst/>
            <a:gdLst>
              <a:gd name="T0" fmla="*/ 87 w 158"/>
              <a:gd name="T1" fmla="*/ 3 h 208"/>
              <a:gd name="T2" fmla="*/ 0 w 158"/>
              <a:gd name="T3" fmla="*/ 90 h 208"/>
              <a:gd name="T4" fmla="*/ 114 w 158"/>
              <a:gd name="T5" fmla="*/ 205 h 208"/>
              <a:gd name="T6" fmla="*/ 126 w 158"/>
              <a:gd name="T7" fmla="*/ 203 h 208"/>
              <a:gd name="T8" fmla="*/ 98 w 158"/>
              <a:gd name="T9" fmla="*/ 3 h 208"/>
              <a:gd name="T10" fmla="*/ 87 w 158"/>
              <a:gd name="T11" fmla="*/ 3 h 208"/>
            </a:gdLst>
            <a:ahLst/>
            <a:cxnLst>
              <a:cxn ang="0">
                <a:pos x="T0" y="T1"/>
              </a:cxn>
              <a:cxn ang="0">
                <a:pos x="T2" y="T3"/>
              </a:cxn>
              <a:cxn ang="0">
                <a:pos x="T4" y="T5"/>
              </a:cxn>
              <a:cxn ang="0">
                <a:pos x="T6" y="T7"/>
              </a:cxn>
              <a:cxn ang="0">
                <a:pos x="T8" y="T9"/>
              </a:cxn>
              <a:cxn ang="0">
                <a:pos x="T10" y="T11"/>
              </a:cxn>
            </a:cxnLst>
            <a:rect l="0" t="0" r="r" b="b"/>
            <a:pathLst>
              <a:path w="158" h="208">
                <a:moveTo>
                  <a:pt x="87" y="3"/>
                </a:moveTo>
                <a:cubicBezTo>
                  <a:pt x="0" y="90"/>
                  <a:pt x="0" y="90"/>
                  <a:pt x="0" y="90"/>
                </a:cubicBezTo>
                <a:cubicBezTo>
                  <a:pt x="114" y="205"/>
                  <a:pt x="114" y="205"/>
                  <a:pt x="114" y="205"/>
                </a:cubicBezTo>
                <a:cubicBezTo>
                  <a:pt x="118" y="208"/>
                  <a:pt x="124" y="207"/>
                  <a:pt x="126" y="203"/>
                </a:cubicBezTo>
                <a:cubicBezTo>
                  <a:pt x="158" y="138"/>
                  <a:pt x="148" y="59"/>
                  <a:pt x="98" y="3"/>
                </a:cubicBezTo>
                <a:cubicBezTo>
                  <a:pt x="95" y="0"/>
                  <a:pt x="90" y="0"/>
                  <a:pt x="87" y="3"/>
                </a:cubicBezTo>
                <a:close/>
              </a:path>
            </a:pathLst>
          </a:custGeom>
          <a:solidFill>
            <a:srgbClr val="3CB2C3"/>
          </a:solidFill>
          <a:ln>
            <a:no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chemeClr val="tx1">
                  <a:lumMod val="50000"/>
                  <a:lumOff val="50000"/>
                </a:schemeClr>
              </a:solidFill>
              <a:effectLst/>
              <a:uLnTx/>
              <a:uFillTx/>
              <a:latin typeface="Roboto Regular" charset="0"/>
            </a:endParaRPr>
          </a:p>
        </p:txBody>
      </p:sp>
      <p:sp>
        <p:nvSpPr>
          <p:cNvPr id="103" name="Freeform 9"/>
          <p:cNvSpPr>
            <a:spLocks/>
          </p:cNvSpPr>
          <p:nvPr/>
        </p:nvSpPr>
        <p:spPr bwMode="auto">
          <a:xfrm>
            <a:off x="4187643" y="2972765"/>
            <a:ext cx="1473994" cy="1472804"/>
          </a:xfrm>
          <a:custGeom>
            <a:avLst/>
            <a:gdLst>
              <a:gd name="T0" fmla="*/ 0 w 170"/>
              <a:gd name="T1" fmla="*/ 67 h 170"/>
              <a:gd name="T2" fmla="*/ 103 w 170"/>
              <a:gd name="T3" fmla="*/ 170 h 170"/>
              <a:gd name="T4" fmla="*/ 142 w 170"/>
              <a:gd name="T5" fmla="*/ 142 h 170"/>
              <a:gd name="T6" fmla="*/ 170 w 170"/>
              <a:gd name="T7" fmla="*/ 103 h 170"/>
              <a:gd name="T8" fmla="*/ 67 w 170"/>
              <a:gd name="T9" fmla="*/ 0 h 170"/>
              <a:gd name="T10" fmla="*/ 0 w 170"/>
              <a:gd name="T11" fmla="*/ 67 h 170"/>
            </a:gdLst>
            <a:ahLst/>
            <a:cxnLst>
              <a:cxn ang="0">
                <a:pos x="T0" y="T1"/>
              </a:cxn>
              <a:cxn ang="0">
                <a:pos x="T2" y="T3"/>
              </a:cxn>
              <a:cxn ang="0">
                <a:pos x="T4" y="T5"/>
              </a:cxn>
              <a:cxn ang="0">
                <a:pos x="T6" y="T7"/>
              </a:cxn>
              <a:cxn ang="0">
                <a:pos x="T8" y="T9"/>
              </a:cxn>
              <a:cxn ang="0">
                <a:pos x="T10" y="T11"/>
              </a:cxn>
            </a:cxnLst>
            <a:rect l="0" t="0" r="r" b="b"/>
            <a:pathLst>
              <a:path w="170" h="170">
                <a:moveTo>
                  <a:pt x="0" y="67"/>
                </a:moveTo>
                <a:cubicBezTo>
                  <a:pt x="103" y="170"/>
                  <a:pt x="103" y="170"/>
                  <a:pt x="103" y="170"/>
                </a:cubicBezTo>
                <a:cubicBezTo>
                  <a:pt x="117" y="163"/>
                  <a:pt x="130" y="153"/>
                  <a:pt x="142" y="142"/>
                </a:cubicBezTo>
                <a:cubicBezTo>
                  <a:pt x="153" y="130"/>
                  <a:pt x="163" y="117"/>
                  <a:pt x="170" y="103"/>
                </a:cubicBezTo>
                <a:cubicBezTo>
                  <a:pt x="67" y="0"/>
                  <a:pt x="67" y="0"/>
                  <a:pt x="67" y="0"/>
                </a:cubicBezTo>
                <a:lnTo>
                  <a:pt x="0" y="67"/>
                </a:lnTo>
                <a:close/>
              </a:path>
            </a:pathLst>
          </a:custGeom>
          <a:solidFill>
            <a:srgbClr val="1AA5BD"/>
          </a:solidFill>
          <a:ln>
            <a:no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chemeClr val="tx1">
                  <a:lumMod val="50000"/>
                  <a:lumOff val="50000"/>
                </a:schemeClr>
              </a:solidFill>
              <a:effectLst/>
              <a:uLnTx/>
              <a:uFillTx/>
              <a:latin typeface="Roboto Regular" charset="0"/>
            </a:endParaRPr>
          </a:p>
        </p:txBody>
      </p:sp>
      <p:sp>
        <p:nvSpPr>
          <p:cNvPr id="104" name="Freeform 7"/>
          <p:cNvSpPr>
            <a:spLocks/>
          </p:cNvSpPr>
          <p:nvPr/>
        </p:nvSpPr>
        <p:spPr bwMode="auto">
          <a:xfrm>
            <a:off x="3461285" y="3543158"/>
            <a:ext cx="1716881" cy="1298972"/>
          </a:xfrm>
          <a:custGeom>
            <a:avLst/>
            <a:gdLst>
              <a:gd name="T0" fmla="*/ 3 w 198"/>
              <a:gd name="T1" fmla="*/ 93 h 150"/>
              <a:gd name="T2" fmla="*/ 192 w 198"/>
              <a:gd name="T3" fmla="*/ 121 h 150"/>
              <a:gd name="T4" fmla="*/ 194 w 198"/>
              <a:gd name="T5" fmla="*/ 109 h 150"/>
              <a:gd name="T6" fmla="*/ 85 w 198"/>
              <a:gd name="T7" fmla="*/ 0 h 150"/>
              <a:gd name="T8" fmla="*/ 3 w 198"/>
              <a:gd name="T9" fmla="*/ 82 h 150"/>
              <a:gd name="T10" fmla="*/ 3 w 198"/>
              <a:gd name="T11" fmla="*/ 93 h 150"/>
            </a:gdLst>
            <a:ahLst/>
            <a:cxnLst>
              <a:cxn ang="0">
                <a:pos x="T0" y="T1"/>
              </a:cxn>
              <a:cxn ang="0">
                <a:pos x="T2" y="T3"/>
              </a:cxn>
              <a:cxn ang="0">
                <a:pos x="T4" y="T5"/>
              </a:cxn>
              <a:cxn ang="0">
                <a:pos x="T6" y="T7"/>
              </a:cxn>
              <a:cxn ang="0">
                <a:pos x="T8" y="T9"/>
              </a:cxn>
              <a:cxn ang="0">
                <a:pos x="T10" y="T11"/>
              </a:cxn>
            </a:cxnLst>
            <a:rect l="0" t="0" r="r" b="b"/>
            <a:pathLst>
              <a:path w="198" h="150">
                <a:moveTo>
                  <a:pt x="3" y="93"/>
                </a:moveTo>
                <a:cubicBezTo>
                  <a:pt x="56" y="141"/>
                  <a:pt x="131" y="150"/>
                  <a:pt x="192" y="121"/>
                </a:cubicBezTo>
                <a:cubicBezTo>
                  <a:pt x="196" y="119"/>
                  <a:pt x="198" y="113"/>
                  <a:pt x="194" y="109"/>
                </a:cubicBezTo>
                <a:cubicBezTo>
                  <a:pt x="85" y="0"/>
                  <a:pt x="85" y="0"/>
                  <a:pt x="85" y="0"/>
                </a:cubicBezTo>
                <a:cubicBezTo>
                  <a:pt x="3" y="82"/>
                  <a:pt x="3" y="82"/>
                  <a:pt x="3" y="82"/>
                </a:cubicBezTo>
                <a:cubicBezTo>
                  <a:pt x="0" y="85"/>
                  <a:pt x="0" y="90"/>
                  <a:pt x="3" y="93"/>
                </a:cubicBezTo>
                <a:close/>
              </a:path>
            </a:pathLst>
          </a:custGeom>
          <a:solidFill>
            <a:srgbClr val="0097B7"/>
          </a:solidFill>
          <a:ln>
            <a:no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chemeClr val="tx1">
                  <a:lumMod val="50000"/>
                  <a:lumOff val="50000"/>
                </a:schemeClr>
              </a:solidFill>
              <a:effectLst/>
              <a:uLnTx/>
              <a:uFillTx/>
              <a:latin typeface="Roboto Regular" charset="0"/>
            </a:endParaRPr>
          </a:p>
        </p:txBody>
      </p:sp>
      <p:sp>
        <p:nvSpPr>
          <p:cNvPr id="105" name="Freeform 5"/>
          <p:cNvSpPr>
            <a:spLocks/>
          </p:cNvSpPr>
          <p:nvPr/>
        </p:nvSpPr>
        <p:spPr bwMode="auto">
          <a:xfrm>
            <a:off x="3138701" y="2401265"/>
            <a:ext cx="1334691" cy="1724026"/>
          </a:xfrm>
          <a:custGeom>
            <a:avLst/>
            <a:gdLst>
              <a:gd name="T0" fmla="*/ 55 w 154"/>
              <a:gd name="T1" fmla="*/ 199 h 199"/>
              <a:gd name="T2" fmla="*/ 154 w 154"/>
              <a:gd name="T3" fmla="*/ 100 h 199"/>
              <a:gd name="T4" fmla="*/ 55 w 154"/>
              <a:gd name="T5" fmla="*/ 0 h 199"/>
              <a:gd name="T6" fmla="*/ 55 w 154"/>
              <a:gd name="T7" fmla="*/ 199 h 199"/>
            </a:gdLst>
            <a:ahLst/>
            <a:cxnLst>
              <a:cxn ang="0">
                <a:pos x="T0" y="T1"/>
              </a:cxn>
              <a:cxn ang="0">
                <a:pos x="T2" y="T3"/>
              </a:cxn>
              <a:cxn ang="0">
                <a:pos x="T4" y="T5"/>
              </a:cxn>
              <a:cxn ang="0">
                <a:pos x="T6" y="T7"/>
              </a:cxn>
            </a:cxnLst>
            <a:rect l="0" t="0" r="r" b="b"/>
            <a:pathLst>
              <a:path w="154" h="199">
                <a:moveTo>
                  <a:pt x="55" y="199"/>
                </a:moveTo>
                <a:cubicBezTo>
                  <a:pt x="154" y="100"/>
                  <a:pt x="154" y="100"/>
                  <a:pt x="154" y="100"/>
                </a:cubicBezTo>
                <a:cubicBezTo>
                  <a:pt x="55" y="0"/>
                  <a:pt x="55" y="0"/>
                  <a:pt x="55" y="0"/>
                </a:cubicBezTo>
                <a:cubicBezTo>
                  <a:pt x="0" y="55"/>
                  <a:pt x="0" y="144"/>
                  <a:pt x="55" y="199"/>
                </a:cubicBezTo>
                <a:close/>
              </a:path>
            </a:pathLst>
          </a:custGeom>
          <a:solidFill>
            <a:srgbClr val="0086AC"/>
          </a:solidFill>
          <a:ln>
            <a:noFill/>
          </a:ln>
        </p:spPr>
        <p:txBody>
          <a:bodyPr vert="horz" wrap="square" lIns="68580" tIns="34290" rIns="68580" bIns="34290" numCol="1" anchor="t" anchorCtr="0" compatLnSpc="1">
            <a:prstTxWarp prst="textNoShape">
              <a:avLst/>
            </a:prstTxWarp>
          </a:bodyPr>
          <a:lstStyle/>
          <a:p>
            <a:endParaRPr lang="en-US" sz="1350" kern="0" dirty="0">
              <a:solidFill>
                <a:schemeClr val="tx1">
                  <a:lumMod val="50000"/>
                  <a:lumOff val="50000"/>
                </a:schemeClr>
              </a:solidFill>
              <a:latin typeface="Roboto Regular" charset="0"/>
            </a:endParaRPr>
          </a:p>
        </p:txBody>
      </p:sp>
      <p:sp>
        <p:nvSpPr>
          <p:cNvPr id="106" name="Freeform 11"/>
          <p:cNvSpPr/>
          <p:nvPr/>
        </p:nvSpPr>
        <p:spPr>
          <a:xfrm flipH="1">
            <a:off x="1266388" y="1627436"/>
            <a:ext cx="2877705" cy="423761"/>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noFill/>
          <a:ln w="6350" cap="flat" cmpd="sng" algn="ctr">
            <a:solidFill>
              <a:srgbClr val="0097B7">
                <a:alpha val="50000"/>
              </a:srgbClr>
            </a:solidFill>
            <a:prstDash val="solid"/>
            <a:miter lim="800000"/>
            <a:headEnd type="none"/>
            <a:tailEnd type="oval" w="lg" len="lg"/>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chemeClr val="tx1">
                  <a:lumMod val="50000"/>
                  <a:lumOff val="50000"/>
                </a:schemeClr>
              </a:solidFill>
              <a:effectLst/>
              <a:uLnTx/>
              <a:uFillTx/>
              <a:latin typeface="Roboto Regular" charset="0"/>
            </a:endParaRPr>
          </a:p>
        </p:txBody>
      </p:sp>
      <p:sp>
        <p:nvSpPr>
          <p:cNvPr id="107" name="TextBox 12"/>
          <p:cNvSpPr txBox="1"/>
          <p:nvPr/>
        </p:nvSpPr>
        <p:spPr>
          <a:xfrm>
            <a:off x="1352600" y="1340768"/>
            <a:ext cx="1696720" cy="1814086"/>
          </a:xfrm>
          <a:prstGeom prst="rect">
            <a:avLst/>
          </a:prstGeom>
          <a:noFill/>
        </p:spPr>
        <p:txBody>
          <a:bodyPr wrap="square" lIns="91440" rIns="91440" rtlCol="0">
            <a:spAutoFit/>
          </a:bodyPr>
          <a:lstStyle/>
          <a:p>
            <a:pPr algn="r">
              <a:lnSpc>
                <a:spcPct val="90000"/>
              </a:lnSpc>
              <a:spcBef>
                <a:spcPts val="800"/>
              </a:spcBef>
            </a:pPr>
            <a:r>
              <a:rPr lang="en-US" sz="1500" dirty="0">
                <a:solidFill>
                  <a:schemeClr val="bg1">
                    <a:lumMod val="50000"/>
                  </a:schemeClr>
                </a:solidFill>
                <a:latin typeface="Avenir 65" panose="02000600000000000000" pitchFamily="2" charset="0"/>
              </a:rPr>
              <a:t>CLIENTES</a:t>
            </a:r>
          </a:p>
          <a:p>
            <a:pPr algn="r">
              <a:lnSpc>
                <a:spcPct val="90000"/>
              </a:lnSpc>
              <a:spcBef>
                <a:spcPts val="800"/>
              </a:spcBef>
            </a:pPr>
            <a:r>
              <a:rPr lang="es-ES" sz="1050" kern="0" dirty="0">
                <a:solidFill>
                  <a:schemeClr val="bg1">
                    <a:lumMod val="50000"/>
                  </a:schemeClr>
                </a:solidFill>
                <a:latin typeface="Avenir 35" panose="00000400000000000000" pitchFamily="2" charset="0"/>
                <a:cs typeface="Arial" panose="020B0604020202020204" pitchFamily="34" charset="0"/>
              </a:rPr>
              <a:t>Proporcionar una solución tecnológica que permita unificar las diferentes BBDD de Easy Money, simplificando y facilitando su uso.</a:t>
            </a:r>
          </a:p>
          <a:p>
            <a:pPr algn="r">
              <a:lnSpc>
                <a:spcPct val="90000"/>
              </a:lnSpc>
              <a:spcBef>
                <a:spcPts val="800"/>
              </a:spcBef>
            </a:pPr>
            <a:r>
              <a:rPr lang="es-ES" sz="1050" dirty="0">
                <a:solidFill>
                  <a:schemeClr val="bg1">
                    <a:lumMod val="50000"/>
                  </a:schemeClr>
                </a:solidFill>
                <a:latin typeface="Avenir 35" panose="00000400000000000000" pitchFamily="2" charset="0"/>
              </a:rPr>
              <a:t>Definir los procesos que aseguren la evolución y sostenibilidad en el tiempo. </a:t>
            </a:r>
          </a:p>
        </p:txBody>
      </p:sp>
      <p:sp>
        <p:nvSpPr>
          <p:cNvPr id="108" name="Freeform 15"/>
          <p:cNvSpPr/>
          <p:nvPr/>
        </p:nvSpPr>
        <p:spPr>
          <a:xfrm flipH="1" flipV="1">
            <a:off x="1136576" y="3526279"/>
            <a:ext cx="2380590" cy="2286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noFill/>
          <a:ln w="6350" cap="flat" cmpd="sng" algn="ctr">
            <a:solidFill>
              <a:srgbClr val="0097B7">
                <a:alpha val="50000"/>
              </a:srgbClr>
            </a:solidFill>
            <a:prstDash val="solid"/>
            <a:miter lim="800000"/>
            <a:headEnd type="none"/>
            <a:tailEnd type="oval" w="lg" len="lg"/>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chemeClr val="tx1">
                  <a:lumMod val="50000"/>
                  <a:lumOff val="50000"/>
                </a:schemeClr>
              </a:solidFill>
              <a:effectLst/>
              <a:uLnTx/>
              <a:uFillTx/>
              <a:latin typeface="Roboto Regular" charset="0"/>
            </a:endParaRPr>
          </a:p>
        </p:txBody>
      </p:sp>
      <p:sp>
        <p:nvSpPr>
          <p:cNvPr id="109" name="TextBox 18"/>
          <p:cNvSpPr txBox="1"/>
          <p:nvPr/>
        </p:nvSpPr>
        <p:spPr>
          <a:xfrm>
            <a:off x="1266388" y="3468212"/>
            <a:ext cx="1782932" cy="1814086"/>
          </a:xfrm>
          <a:prstGeom prst="rect">
            <a:avLst/>
          </a:prstGeom>
          <a:noFill/>
        </p:spPr>
        <p:txBody>
          <a:bodyPr wrap="square" lIns="91440" rIns="91440" rtlCol="0">
            <a:spAutoFit/>
          </a:bodyPr>
          <a:lstStyle/>
          <a:p>
            <a:pPr algn="r">
              <a:lnSpc>
                <a:spcPct val="90000"/>
              </a:lnSpc>
              <a:spcBef>
                <a:spcPts val="800"/>
              </a:spcBef>
            </a:pPr>
            <a:r>
              <a:rPr lang="es-ES" sz="1500" dirty="0">
                <a:solidFill>
                  <a:schemeClr val="bg1">
                    <a:lumMod val="50000"/>
                  </a:schemeClr>
                </a:solidFill>
                <a:latin typeface="Avenir 65" panose="02000600000000000000" pitchFamily="2" charset="0"/>
              </a:rPr>
              <a:t>….</a:t>
            </a:r>
          </a:p>
          <a:p>
            <a:pPr algn="r">
              <a:lnSpc>
                <a:spcPct val="90000"/>
              </a:lnSpc>
              <a:spcBef>
                <a:spcPts val="800"/>
              </a:spcBef>
            </a:pPr>
            <a:r>
              <a:rPr lang="es-ES" sz="1050" kern="0" dirty="0">
                <a:solidFill>
                  <a:schemeClr val="bg1">
                    <a:lumMod val="50000"/>
                  </a:schemeClr>
                </a:solidFill>
                <a:latin typeface="Avenir 35" panose="00000400000000000000" pitchFamily="2" charset="0"/>
                <a:cs typeface="Arial" panose="020B0604020202020204" pitchFamily="34" charset="0"/>
              </a:rPr>
              <a:t>Soportar el desarrollo de futuras funcionalidades o líneas de negocio para adaptarse a un mercado cambiante, apoyándose en herramientas líderes, escalables y robustas.</a:t>
            </a:r>
          </a:p>
          <a:p>
            <a:pPr algn="r">
              <a:lnSpc>
                <a:spcPct val="90000"/>
              </a:lnSpc>
              <a:spcBef>
                <a:spcPts val="800"/>
              </a:spcBef>
            </a:pPr>
            <a:r>
              <a:rPr lang="es-ES" sz="1050" kern="0" dirty="0">
                <a:solidFill>
                  <a:schemeClr val="bg1">
                    <a:lumMod val="50000"/>
                  </a:schemeClr>
                </a:solidFill>
                <a:latin typeface="Avenir 35" panose="00000400000000000000" pitchFamily="2" charset="0"/>
                <a:cs typeface="Arial" panose="020B0604020202020204" pitchFamily="34" charset="0"/>
              </a:rPr>
              <a:t>Medir, analizar, proponer y mejorar.</a:t>
            </a:r>
            <a:r>
              <a:rPr lang="es-ES" sz="1050" dirty="0">
                <a:solidFill>
                  <a:schemeClr val="bg1">
                    <a:lumMod val="50000"/>
                  </a:schemeClr>
                </a:solidFill>
                <a:latin typeface="Roboto Regular" charset="0"/>
              </a:rPr>
              <a:t> </a:t>
            </a:r>
          </a:p>
        </p:txBody>
      </p:sp>
      <p:sp>
        <p:nvSpPr>
          <p:cNvPr id="110" name="Freeform 13"/>
          <p:cNvSpPr/>
          <p:nvPr/>
        </p:nvSpPr>
        <p:spPr>
          <a:xfrm>
            <a:off x="5702862" y="1778188"/>
            <a:ext cx="2633691" cy="927242"/>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noFill/>
          <a:ln w="6350" cap="flat" cmpd="sng" algn="ctr">
            <a:solidFill>
              <a:srgbClr val="0097B7">
                <a:alpha val="50000"/>
              </a:srgbClr>
            </a:solidFill>
            <a:prstDash val="solid"/>
            <a:miter lim="800000"/>
            <a:headEnd type="none"/>
            <a:tailEnd type="oval"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chemeClr val="tx1">
                  <a:lumMod val="50000"/>
                  <a:lumOff val="50000"/>
                </a:schemeClr>
              </a:solidFill>
              <a:effectLst/>
              <a:uLnTx/>
              <a:uFillTx/>
              <a:latin typeface="Roboto Regular" charset="0"/>
            </a:endParaRPr>
          </a:p>
        </p:txBody>
      </p:sp>
      <p:sp>
        <p:nvSpPr>
          <p:cNvPr id="111" name="Freeform 14"/>
          <p:cNvSpPr/>
          <p:nvPr/>
        </p:nvSpPr>
        <p:spPr>
          <a:xfrm flipV="1">
            <a:off x="3806047" y="4469304"/>
            <a:ext cx="2725524" cy="8319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noFill/>
          <a:ln w="6350" cap="flat" cmpd="sng" algn="ctr">
            <a:solidFill>
              <a:srgbClr val="0097B7">
                <a:alpha val="50000"/>
              </a:srgbClr>
            </a:solidFill>
            <a:prstDash val="solid"/>
            <a:miter lim="800000"/>
            <a:headEnd type="none"/>
            <a:tailEnd type="oval"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chemeClr val="tx1">
                  <a:lumMod val="50000"/>
                  <a:lumOff val="50000"/>
                </a:schemeClr>
              </a:solidFill>
              <a:effectLst/>
              <a:uLnTx/>
              <a:uFillTx/>
              <a:latin typeface="Roboto Regular" charset="0"/>
            </a:endParaRPr>
          </a:p>
        </p:txBody>
      </p:sp>
      <p:sp>
        <p:nvSpPr>
          <p:cNvPr id="112" name="TextBox 16"/>
          <p:cNvSpPr txBox="1"/>
          <p:nvPr/>
        </p:nvSpPr>
        <p:spPr>
          <a:xfrm>
            <a:off x="6327377" y="1511347"/>
            <a:ext cx="1888718" cy="302134"/>
          </a:xfrm>
          <a:prstGeom prst="rect">
            <a:avLst/>
          </a:prstGeom>
          <a:noFill/>
        </p:spPr>
        <p:txBody>
          <a:bodyPr wrap="square" lIns="91440" rIns="91440" rtlCol="0">
            <a:spAutoFit/>
          </a:bodyPr>
          <a:lstStyle/>
          <a:p>
            <a:pPr>
              <a:lnSpc>
                <a:spcPct val="90000"/>
              </a:lnSpc>
              <a:spcBef>
                <a:spcPts val="800"/>
              </a:spcBef>
            </a:pPr>
            <a:r>
              <a:rPr lang="en-US" sz="1500" dirty="0">
                <a:solidFill>
                  <a:schemeClr val="bg1">
                    <a:lumMod val="50000"/>
                  </a:schemeClr>
                </a:solidFill>
                <a:latin typeface="Avenir 65" panose="02000600000000000000" pitchFamily="2" charset="0"/>
              </a:rPr>
              <a:t>PRODUCTO</a:t>
            </a:r>
            <a:endParaRPr lang="en-US" sz="800" dirty="0">
              <a:solidFill>
                <a:schemeClr val="bg1">
                  <a:lumMod val="50000"/>
                </a:schemeClr>
              </a:solidFill>
              <a:latin typeface="Avenir 65" panose="02000600000000000000" pitchFamily="2" charset="0"/>
            </a:endParaRPr>
          </a:p>
        </p:txBody>
      </p:sp>
      <p:sp>
        <p:nvSpPr>
          <p:cNvPr id="114" name="Freeform 14"/>
          <p:cNvSpPr/>
          <p:nvPr/>
        </p:nvSpPr>
        <p:spPr>
          <a:xfrm>
            <a:off x="5178166" y="3717029"/>
            <a:ext cx="3838271" cy="527306"/>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noFill/>
          <a:ln w="6350" cap="flat" cmpd="sng" algn="ctr">
            <a:solidFill>
              <a:srgbClr val="0097B7">
                <a:alpha val="50000"/>
              </a:srgbClr>
            </a:solidFill>
            <a:prstDash val="solid"/>
            <a:miter lim="800000"/>
            <a:headEnd type="none"/>
            <a:tailEnd type="oval"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chemeClr val="tx1">
                  <a:lumMod val="50000"/>
                  <a:lumOff val="50000"/>
                </a:schemeClr>
              </a:solidFill>
              <a:effectLst/>
              <a:uLnTx/>
              <a:uFillTx/>
              <a:latin typeface="Roboto Regular" charset="0"/>
            </a:endParaRPr>
          </a:p>
        </p:txBody>
      </p:sp>
      <p:sp>
        <p:nvSpPr>
          <p:cNvPr id="115" name="TextBox 17"/>
          <p:cNvSpPr txBox="1"/>
          <p:nvPr/>
        </p:nvSpPr>
        <p:spPr>
          <a:xfrm>
            <a:off x="6969227" y="3453720"/>
            <a:ext cx="2021126" cy="2062103"/>
          </a:xfrm>
          <a:prstGeom prst="rect">
            <a:avLst/>
          </a:prstGeom>
          <a:noFill/>
        </p:spPr>
        <p:txBody>
          <a:bodyPr wrap="square" lIns="91440" rIns="91440" rtlCol="0">
            <a:spAutoFit/>
          </a:bodyPr>
          <a:lstStyle/>
          <a:p>
            <a:pPr>
              <a:lnSpc>
                <a:spcPct val="90000"/>
              </a:lnSpc>
              <a:spcBef>
                <a:spcPts val="800"/>
              </a:spcBef>
            </a:pPr>
            <a:r>
              <a:rPr lang="es-ES" sz="1500" dirty="0">
                <a:solidFill>
                  <a:schemeClr val="bg1">
                    <a:lumMod val="50000"/>
                  </a:schemeClr>
                </a:solidFill>
                <a:latin typeface="Avenir 65" panose="02000600000000000000" pitchFamily="2" charset="0"/>
              </a:rPr>
              <a:t>….</a:t>
            </a:r>
            <a:endParaRPr lang="es-ES" sz="800" dirty="0">
              <a:solidFill>
                <a:schemeClr val="bg1">
                  <a:lumMod val="50000"/>
                </a:schemeClr>
              </a:solidFill>
              <a:latin typeface="Avenir 65" panose="02000600000000000000" pitchFamily="2" charset="0"/>
            </a:endParaRPr>
          </a:p>
          <a:p>
            <a:pPr>
              <a:lnSpc>
                <a:spcPct val="90000"/>
              </a:lnSpc>
              <a:spcBef>
                <a:spcPts val="800"/>
              </a:spcBef>
            </a:pPr>
            <a:r>
              <a:rPr lang="es-ES" sz="1050" kern="0" dirty="0">
                <a:solidFill>
                  <a:schemeClr val="bg1">
                    <a:lumMod val="50000"/>
                  </a:schemeClr>
                </a:solidFill>
                <a:latin typeface="Avenir 35" panose="00000400000000000000" pitchFamily="2" charset="0"/>
                <a:cs typeface="Arial" panose="020B0604020202020204" pitchFamily="34" charset="0"/>
              </a:rPr>
              <a:t>Conocer al cliente y ofrecerle lo que quiere no es opcional.</a:t>
            </a:r>
          </a:p>
          <a:p>
            <a:pPr>
              <a:lnSpc>
                <a:spcPct val="90000"/>
              </a:lnSpc>
              <a:spcBef>
                <a:spcPts val="800"/>
              </a:spcBef>
            </a:pPr>
            <a:r>
              <a:rPr lang="es-ES" sz="1050" kern="0" dirty="0">
                <a:solidFill>
                  <a:schemeClr val="bg1">
                    <a:lumMod val="50000"/>
                  </a:schemeClr>
                </a:solidFill>
                <a:latin typeface="Avenir 35" panose="00000400000000000000" pitchFamily="2" charset="0"/>
                <a:cs typeface="Arial" panose="020B0604020202020204" pitchFamily="34" charset="0"/>
              </a:rPr>
              <a:t>Aplicar la analítica avanzada para interpretar el pasado y predecir el futuro.</a:t>
            </a:r>
          </a:p>
          <a:p>
            <a:pPr>
              <a:lnSpc>
                <a:spcPct val="90000"/>
              </a:lnSpc>
              <a:spcBef>
                <a:spcPts val="800"/>
              </a:spcBef>
            </a:pPr>
            <a:r>
              <a:rPr lang="es-ES" sz="1050" dirty="0">
                <a:solidFill>
                  <a:schemeClr val="bg1">
                    <a:lumMod val="50000"/>
                  </a:schemeClr>
                </a:solidFill>
                <a:latin typeface="Avenir 35" panose="00000400000000000000" pitchFamily="2" charset="0"/>
              </a:rPr>
              <a:t>Entender los momentos de la verdad a lo largo de la relación entre Easy Money y sus clientes como input clave en la definición de la estrategia de Marketing.</a:t>
            </a:r>
          </a:p>
        </p:txBody>
      </p:sp>
      <p:sp>
        <p:nvSpPr>
          <p:cNvPr id="116" name="115 Rectángulo"/>
          <p:cNvSpPr/>
          <p:nvPr/>
        </p:nvSpPr>
        <p:spPr>
          <a:xfrm>
            <a:off x="4311491" y="2268468"/>
            <a:ext cx="457176" cy="369332"/>
          </a:xfrm>
          <a:prstGeom prst="rect">
            <a:avLst/>
          </a:prstGeom>
        </p:spPr>
        <p:txBody>
          <a:bodyPr wrap="none">
            <a:spAutoFit/>
          </a:bodyPr>
          <a:lstStyle/>
          <a:p>
            <a:pPr lvl="0">
              <a:defRPr/>
            </a:pPr>
            <a:r>
              <a:rPr lang="en-US" b="1" kern="0" dirty="0">
                <a:solidFill>
                  <a:schemeClr val="bg1"/>
                </a:solidFill>
                <a:latin typeface="Avenir 65" panose="02000600000000000000" pitchFamily="2" charset="0"/>
              </a:rPr>
              <a:t>01</a:t>
            </a:r>
          </a:p>
        </p:txBody>
      </p:sp>
      <p:sp>
        <p:nvSpPr>
          <p:cNvPr id="117" name="116 Rectángulo"/>
          <p:cNvSpPr/>
          <p:nvPr/>
        </p:nvSpPr>
        <p:spPr>
          <a:xfrm>
            <a:off x="5377749" y="2893946"/>
            <a:ext cx="457176" cy="369332"/>
          </a:xfrm>
          <a:prstGeom prst="rect">
            <a:avLst/>
          </a:prstGeom>
        </p:spPr>
        <p:txBody>
          <a:bodyPr wrap="none">
            <a:spAutoFit/>
          </a:bodyPr>
          <a:lstStyle/>
          <a:p>
            <a:pPr lvl="0">
              <a:defRPr/>
            </a:pPr>
            <a:r>
              <a:rPr lang="en-US" b="1" kern="0" dirty="0">
                <a:solidFill>
                  <a:schemeClr val="bg1"/>
                </a:solidFill>
                <a:latin typeface="Avenir 65" panose="02000600000000000000" pitchFamily="2" charset="0"/>
              </a:rPr>
              <a:t>02</a:t>
            </a:r>
          </a:p>
        </p:txBody>
      </p:sp>
      <p:sp>
        <p:nvSpPr>
          <p:cNvPr id="118" name="117 Rectángulo"/>
          <p:cNvSpPr/>
          <p:nvPr/>
        </p:nvSpPr>
        <p:spPr>
          <a:xfrm>
            <a:off x="4829263" y="3709167"/>
            <a:ext cx="457176" cy="369332"/>
          </a:xfrm>
          <a:prstGeom prst="rect">
            <a:avLst/>
          </a:prstGeom>
        </p:spPr>
        <p:txBody>
          <a:bodyPr wrap="none">
            <a:spAutoFit/>
          </a:bodyPr>
          <a:lstStyle/>
          <a:p>
            <a:pPr lvl="0">
              <a:defRPr/>
            </a:pPr>
            <a:r>
              <a:rPr lang="en-US" b="1" kern="0" dirty="0">
                <a:solidFill>
                  <a:schemeClr val="bg1"/>
                </a:solidFill>
                <a:latin typeface="Avenir 65" panose="02000600000000000000" pitchFamily="2" charset="0"/>
              </a:rPr>
              <a:t>03</a:t>
            </a:r>
          </a:p>
        </p:txBody>
      </p:sp>
      <p:sp>
        <p:nvSpPr>
          <p:cNvPr id="119" name="118 Rectángulo"/>
          <p:cNvSpPr/>
          <p:nvPr/>
        </p:nvSpPr>
        <p:spPr>
          <a:xfrm>
            <a:off x="4048859" y="4099972"/>
            <a:ext cx="457176" cy="369332"/>
          </a:xfrm>
          <a:prstGeom prst="rect">
            <a:avLst/>
          </a:prstGeom>
        </p:spPr>
        <p:txBody>
          <a:bodyPr wrap="none">
            <a:spAutoFit/>
          </a:bodyPr>
          <a:lstStyle/>
          <a:p>
            <a:pPr lvl="0">
              <a:defRPr/>
            </a:pPr>
            <a:r>
              <a:rPr lang="en-US" b="1" kern="0" dirty="0">
                <a:solidFill>
                  <a:schemeClr val="bg1"/>
                </a:solidFill>
                <a:latin typeface="Avenir 65" panose="02000600000000000000" pitchFamily="2" charset="0"/>
              </a:rPr>
              <a:t>04</a:t>
            </a:r>
          </a:p>
        </p:txBody>
      </p:sp>
      <p:sp>
        <p:nvSpPr>
          <p:cNvPr id="120" name="119 Rectángulo"/>
          <p:cNvSpPr/>
          <p:nvPr/>
        </p:nvSpPr>
        <p:spPr>
          <a:xfrm>
            <a:off x="3354913" y="3102502"/>
            <a:ext cx="457176" cy="369332"/>
          </a:xfrm>
          <a:prstGeom prst="rect">
            <a:avLst/>
          </a:prstGeom>
        </p:spPr>
        <p:txBody>
          <a:bodyPr wrap="none">
            <a:spAutoFit/>
          </a:bodyPr>
          <a:lstStyle/>
          <a:p>
            <a:pPr lvl="0">
              <a:defRPr/>
            </a:pPr>
            <a:r>
              <a:rPr lang="en-US" b="1" kern="0" dirty="0">
                <a:solidFill>
                  <a:schemeClr val="bg1"/>
                </a:solidFill>
                <a:latin typeface="Avenir 65" panose="02000600000000000000" pitchFamily="2" charset="0"/>
              </a:rPr>
              <a:t>05</a:t>
            </a:r>
          </a:p>
        </p:txBody>
      </p:sp>
      <p:sp>
        <p:nvSpPr>
          <p:cNvPr id="121" name="120 Elipse"/>
          <p:cNvSpPr/>
          <p:nvPr/>
        </p:nvSpPr>
        <p:spPr>
          <a:xfrm>
            <a:off x="4048859" y="2802707"/>
            <a:ext cx="952172" cy="9521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lumMod val="50000"/>
                  <a:lumOff val="50000"/>
                </a:schemeClr>
              </a:solidFill>
            </a:endParaRPr>
          </a:p>
        </p:txBody>
      </p:sp>
      <p:sp>
        <p:nvSpPr>
          <p:cNvPr id="122" name="Rectangle 45"/>
          <p:cNvSpPr/>
          <p:nvPr/>
        </p:nvSpPr>
        <p:spPr>
          <a:xfrm>
            <a:off x="4130846" y="2982307"/>
            <a:ext cx="776276" cy="583227"/>
          </a:xfrm>
          <a:prstGeom prst="rect">
            <a:avLst/>
          </a:prstGeom>
          <a:no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chemeClr val="bg1"/>
                </a:solidFill>
                <a:effectLst/>
                <a:uLnTx/>
                <a:uFillTx/>
                <a:latin typeface="Avenir 35" panose="00000400000000000000" pitchFamily="2" charset="0"/>
              </a:rPr>
              <a:t>Main</a:t>
            </a:r>
          </a:p>
          <a:p>
            <a:pPr marL="0" marR="0" lvl="0" indent="0" algn="ctr" defTabSz="914400" eaLnBrk="1" fontAlgn="auto" latinLnBrk="0" hangingPunct="1">
              <a:lnSpc>
                <a:spcPct val="100000"/>
              </a:lnSpc>
              <a:spcBef>
                <a:spcPts val="0"/>
              </a:spcBef>
              <a:spcAft>
                <a:spcPts val="0"/>
              </a:spcAft>
              <a:buClrTx/>
              <a:buSzTx/>
              <a:buFontTx/>
              <a:buNone/>
              <a:tabLst/>
              <a:defRPr/>
            </a:pPr>
            <a:r>
              <a:rPr lang="en-US" sz="1600" kern="0" dirty="0">
                <a:solidFill>
                  <a:schemeClr val="bg1"/>
                </a:solidFill>
                <a:latin typeface="Avenir 35" panose="00000400000000000000" pitchFamily="2" charset="0"/>
              </a:rPr>
              <a:t>Goals</a:t>
            </a:r>
            <a:endParaRPr kumimoji="0" lang="en-US" sz="1600" i="0" u="none" strike="noStrike" kern="0" cap="none" spc="0" normalizeH="0" baseline="0" dirty="0">
              <a:ln>
                <a:noFill/>
              </a:ln>
              <a:solidFill>
                <a:schemeClr val="bg1"/>
              </a:solidFill>
              <a:effectLst/>
              <a:uLnTx/>
              <a:uFillTx/>
              <a:latin typeface="Avenir 35" panose="00000400000000000000" pitchFamily="2" charset="0"/>
            </a:endParaRPr>
          </a:p>
        </p:txBody>
      </p:sp>
      <p:sp>
        <p:nvSpPr>
          <p:cNvPr id="123" name="Rectangle 45"/>
          <p:cNvSpPr/>
          <p:nvPr/>
        </p:nvSpPr>
        <p:spPr>
          <a:xfrm>
            <a:off x="4160912" y="2996957"/>
            <a:ext cx="776276" cy="583227"/>
          </a:xfrm>
          <a:prstGeom prst="rect">
            <a:avLst/>
          </a:prstGeom>
          <a:no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rgbClr val="323232"/>
                </a:solidFill>
                <a:effectLst/>
                <a:uLnTx/>
                <a:uFillTx/>
                <a:latin typeface="Avenir 35" panose="00000400000000000000" pitchFamily="2" charset="0"/>
              </a:rPr>
              <a:t>Your</a:t>
            </a:r>
          </a:p>
          <a:p>
            <a:pPr marL="0" marR="0" lvl="0" indent="0" algn="ctr" defTabSz="914400" eaLnBrk="1" fontAlgn="auto" latinLnBrk="0" hangingPunct="1">
              <a:lnSpc>
                <a:spcPct val="100000"/>
              </a:lnSpc>
              <a:spcBef>
                <a:spcPts val="0"/>
              </a:spcBef>
              <a:spcAft>
                <a:spcPts val="0"/>
              </a:spcAft>
              <a:buClrTx/>
              <a:buSzTx/>
              <a:buFontTx/>
              <a:buNone/>
              <a:tabLst/>
              <a:defRPr/>
            </a:pPr>
            <a:r>
              <a:rPr lang="en-US" sz="1600" kern="0" dirty="0">
                <a:solidFill>
                  <a:srgbClr val="323232"/>
                </a:solidFill>
                <a:latin typeface="Avenir 35" panose="00000400000000000000" pitchFamily="2" charset="0"/>
              </a:rPr>
              <a:t>Goals</a:t>
            </a:r>
            <a:endParaRPr kumimoji="0" lang="en-US" sz="1600" i="0" u="none" strike="noStrike" kern="0" cap="none" spc="0" normalizeH="0" baseline="0" dirty="0">
              <a:ln>
                <a:noFill/>
              </a:ln>
              <a:solidFill>
                <a:srgbClr val="323232"/>
              </a:solidFill>
              <a:effectLst/>
              <a:uLnTx/>
              <a:uFillTx/>
              <a:latin typeface="Avenir 35" panose="00000400000000000000" pitchFamily="2" charset="0"/>
            </a:endParaRPr>
          </a:p>
        </p:txBody>
      </p:sp>
      <p:sp>
        <p:nvSpPr>
          <p:cNvPr id="2" name="1 Rectángulo"/>
          <p:cNvSpPr/>
          <p:nvPr/>
        </p:nvSpPr>
        <p:spPr>
          <a:xfrm>
            <a:off x="6327377" y="1834219"/>
            <a:ext cx="1888718" cy="964880"/>
          </a:xfrm>
          <a:prstGeom prst="rect">
            <a:avLst/>
          </a:prstGeom>
          <a:noFill/>
        </p:spPr>
        <p:txBody>
          <a:bodyPr wrap="square" lIns="91440" rIns="91440" rtlCol="0">
            <a:spAutoFit/>
          </a:bodyPr>
          <a:lstStyle/>
          <a:p>
            <a:pPr>
              <a:lnSpc>
                <a:spcPct val="90000"/>
              </a:lnSpc>
              <a:spcBef>
                <a:spcPts val="800"/>
              </a:spcBef>
            </a:pPr>
            <a:r>
              <a:rPr lang="es-ES" sz="1050" dirty="0">
                <a:solidFill>
                  <a:schemeClr val="bg1">
                    <a:lumMod val="50000"/>
                  </a:schemeClr>
                </a:solidFill>
                <a:latin typeface="Avenir 35" panose="00000400000000000000" pitchFamily="2" charset="0"/>
              </a:rPr>
              <a:t>Limpiar, de-duplicar y enriquecer son las claves para obtener datos de calidad, siempre con una visión global y con el cliente en el centro.</a:t>
            </a:r>
          </a:p>
        </p:txBody>
      </p:sp>
      <p:sp>
        <p:nvSpPr>
          <p:cNvPr id="32"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7</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2700195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descr="\\Usersad.everis.int\enterprise_files\Spain\Madrid\Proyectos\Social and Connected Business\02.- PROYECTOS\INTERNOS\WEB EVERIS - 03112016\WEB EVERIS 03112016\02 RECURSOS WEB\FOTOS UNSPLASH\ZLSw0SXxThSrkXRIiCdT_DSC_034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36988"/>
            <a:ext cx="10287000" cy="6894988"/>
          </a:xfrm>
          <a:prstGeom prst="rect">
            <a:avLst/>
          </a:prstGeom>
          <a:noFill/>
          <a:extLst>
            <a:ext uri="{909E8E84-426E-40DD-AFC4-6F175D3DCCD1}">
              <a14:hiddenFill xmlns:a14="http://schemas.microsoft.com/office/drawing/2010/main">
                <a:solidFill>
                  <a:srgbClr val="FFFFFF"/>
                </a:solidFill>
              </a14:hiddenFill>
            </a:ext>
          </a:extLst>
        </p:spPr>
      </p:pic>
      <p:sp>
        <p:nvSpPr>
          <p:cNvPr id="6" name="5 Rectángulo"/>
          <p:cNvSpPr/>
          <p:nvPr/>
        </p:nvSpPr>
        <p:spPr>
          <a:xfrm>
            <a:off x="-19193" y="-36988"/>
            <a:ext cx="9938823" cy="6894988"/>
          </a:xfrm>
          <a:prstGeom prst="rect">
            <a:avLst/>
          </a:prstGeom>
          <a:solidFill>
            <a:srgbClr val="323232">
              <a:alpha val="40000"/>
            </a:srgbClr>
          </a:solidFill>
          <a:ln w="12700" cap="flat" cmpd="sng" algn="ctr">
            <a:noFill/>
            <a:prstDash val="solid"/>
            <a:miter lim="800000"/>
          </a:ln>
          <a:effectLst/>
        </p:spPr>
        <p:txBody>
          <a:bodyPr rtlCol="0" anchor="ctr"/>
          <a:lstStyle/>
          <a:p>
            <a:pPr algn="ctr"/>
            <a:endParaRPr lang="en-US" sz="1350" kern="0" dirty="0">
              <a:solidFill>
                <a:schemeClr val="bg1"/>
              </a:solidFill>
              <a:latin typeface="Avenir 35" panose="00000400000000000000" pitchFamily="2" charset="0"/>
              <a:sym typeface="Calibri"/>
            </a:endParaRPr>
          </a:p>
        </p:txBody>
      </p:sp>
      <p:sp>
        <p:nvSpPr>
          <p:cNvPr id="7" name="TextBox 25"/>
          <p:cNvSpPr txBox="1"/>
          <p:nvPr/>
        </p:nvSpPr>
        <p:spPr>
          <a:xfrm>
            <a:off x="569170" y="1772816"/>
            <a:ext cx="8687218" cy="2092881"/>
          </a:xfrm>
          <a:prstGeom prst="rect">
            <a:avLst/>
          </a:prstGeom>
          <a:noFill/>
        </p:spPr>
        <p:txBody>
          <a:bodyPr wrap="square" lIns="0" tIns="0" rIns="0" bIns="0" rtlCol="0">
            <a:spAutoFit/>
          </a:bodyPr>
          <a:lstStyle/>
          <a:p>
            <a:pPr algn="ctr"/>
            <a:r>
              <a:rPr lang="es-ES" sz="3600" b="1" dirty="0">
                <a:solidFill>
                  <a:schemeClr val="bg1"/>
                </a:solidFill>
                <a:latin typeface="Avenir 65" panose="02000600000000000000" pitchFamily="2" charset="0"/>
              </a:rPr>
              <a:t>Te acompañamos a superar tus retos con éxito</a:t>
            </a:r>
          </a:p>
          <a:p>
            <a:pPr algn="ctr"/>
            <a:endParaRPr lang="es-ES" sz="3200" dirty="0">
              <a:solidFill>
                <a:schemeClr val="bg1"/>
              </a:solidFill>
              <a:latin typeface="HelveticaNeueLT Std Thin" pitchFamily="34" charset="0"/>
            </a:endParaRPr>
          </a:p>
          <a:p>
            <a:pPr algn="ctr"/>
            <a:r>
              <a:rPr lang="es-ES" sz="3200" b="1" dirty="0">
                <a:solidFill>
                  <a:schemeClr val="bg1"/>
                </a:solidFill>
                <a:latin typeface="Avenir 65" panose="02000600000000000000" pitchFamily="2" charset="0"/>
              </a:rPr>
              <a:t>¡Déjate sorprender!</a:t>
            </a:r>
            <a:endParaRPr lang="en-US" sz="3200" b="1" dirty="0">
              <a:solidFill>
                <a:schemeClr val="bg1"/>
              </a:solidFill>
              <a:latin typeface="Avenir 65" panose="02000600000000000000" pitchFamily="2" charset="0"/>
            </a:endParaRPr>
          </a:p>
        </p:txBody>
      </p:sp>
      <p:sp>
        <p:nvSpPr>
          <p:cNvPr id="8" name="Freeform 434"/>
          <p:cNvSpPr>
            <a:spLocks noEditPoints="1"/>
          </p:cNvSpPr>
          <p:nvPr/>
        </p:nvSpPr>
        <p:spPr bwMode="auto">
          <a:xfrm>
            <a:off x="4570026" y="4293096"/>
            <a:ext cx="760384" cy="760384"/>
          </a:xfrm>
          <a:custGeom>
            <a:avLst/>
            <a:gdLst>
              <a:gd name="T0" fmla="*/ 134 w 186"/>
              <a:gd name="T1" fmla="*/ 90 h 186"/>
              <a:gd name="T2" fmla="*/ 134 w 186"/>
              <a:gd name="T3" fmla="*/ 90 h 186"/>
              <a:gd name="T4" fmla="*/ 133 w 186"/>
              <a:gd name="T5" fmla="*/ 89 h 186"/>
              <a:gd name="T6" fmla="*/ 133 w 186"/>
              <a:gd name="T7" fmla="*/ 89 h 186"/>
              <a:gd name="T8" fmla="*/ 75 w 186"/>
              <a:gd name="T9" fmla="*/ 56 h 186"/>
              <a:gd name="T10" fmla="*/ 75 w 186"/>
              <a:gd name="T11" fmla="*/ 56 h 186"/>
              <a:gd name="T12" fmla="*/ 72 w 186"/>
              <a:gd name="T13" fmla="*/ 55 h 186"/>
              <a:gd name="T14" fmla="*/ 68 w 186"/>
              <a:gd name="T15" fmla="*/ 59 h 186"/>
              <a:gd name="T16" fmla="*/ 68 w 186"/>
              <a:gd name="T17" fmla="*/ 127 h 186"/>
              <a:gd name="T18" fmla="*/ 72 w 186"/>
              <a:gd name="T19" fmla="*/ 131 h 186"/>
              <a:gd name="T20" fmla="*/ 75 w 186"/>
              <a:gd name="T21" fmla="*/ 130 h 186"/>
              <a:gd name="T22" fmla="*/ 75 w 186"/>
              <a:gd name="T23" fmla="*/ 130 h 186"/>
              <a:gd name="T24" fmla="*/ 133 w 186"/>
              <a:gd name="T25" fmla="*/ 97 h 186"/>
              <a:gd name="T26" fmla="*/ 133 w 186"/>
              <a:gd name="T27" fmla="*/ 97 h 186"/>
              <a:gd name="T28" fmla="*/ 134 w 186"/>
              <a:gd name="T29" fmla="*/ 96 h 186"/>
              <a:gd name="T30" fmla="*/ 134 w 186"/>
              <a:gd name="T31" fmla="*/ 96 h 186"/>
              <a:gd name="T32" fmla="*/ 135 w 186"/>
              <a:gd name="T33" fmla="*/ 93 h 186"/>
              <a:gd name="T34" fmla="*/ 134 w 186"/>
              <a:gd name="T35" fmla="*/ 90 h 186"/>
              <a:gd name="T36" fmla="*/ 76 w 186"/>
              <a:gd name="T37" fmla="*/ 120 h 186"/>
              <a:gd name="T38" fmla="*/ 76 w 186"/>
              <a:gd name="T39" fmla="*/ 67 h 186"/>
              <a:gd name="T40" fmla="*/ 123 w 186"/>
              <a:gd name="T41" fmla="*/ 93 h 186"/>
              <a:gd name="T42" fmla="*/ 76 w 186"/>
              <a:gd name="T43" fmla="*/ 120 h 186"/>
              <a:gd name="T44" fmla="*/ 93 w 186"/>
              <a:gd name="T45" fmla="*/ 0 h 186"/>
              <a:gd name="T46" fmla="*/ 0 w 186"/>
              <a:gd name="T47" fmla="*/ 93 h 186"/>
              <a:gd name="T48" fmla="*/ 93 w 186"/>
              <a:gd name="T49" fmla="*/ 186 h 186"/>
              <a:gd name="T50" fmla="*/ 186 w 186"/>
              <a:gd name="T51" fmla="*/ 93 h 186"/>
              <a:gd name="T52" fmla="*/ 93 w 186"/>
              <a:gd name="T53" fmla="*/ 0 h 186"/>
              <a:gd name="T54" fmla="*/ 93 w 186"/>
              <a:gd name="T55" fmla="*/ 177 h 186"/>
              <a:gd name="T56" fmla="*/ 9 w 186"/>
              <a:gd name="T57" fmla="*/ 93 h 186"/>
              <a:gd name="T58" fmla="*/ 93 w 186"/>
              <a:gd name="T59" fmla="*/ 9 h 186"/>
              <a:gd name="T60" fmla="*/ 177 w 186"/>
              <a:gd name="T61" fmla="*/ 93 h 186"/>
              <a:gd name="T62" fmla="*/ 93 w 186"/>
              <a:gd name="T63" fmla="*/ 17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6" h="186">
                <a:moveTo>
                  <a:pt x="134" y="90"/>
                </a:moveTo>
                <a:cubicBezTo>
                  <a:pt x="134" y="90"/>
                  <a:pt x="134" y="90"/>
                  <a:pt x="134" y="90"/>
                </a:cubicBezTo>
                <a:cubicBezTo>
                  <a:pt x="133" y="89"/>
                  <a:pt x="133" y="89"/>
                  <a:pt x="133" y="89"/>
                </a:cubicBezTo>
                <a:cubicBezTo>
                  <a:pt x="133" y="89"/>
                  <a:pt x="133" y="89"/>
                  <a:pt x="133" y="89"/>
                </a:cubicBezTo>
                <a:cubicBezTo>
                  <a:pt x="75" y="56"/>
                  <a:pt x="75" y="56"/>
                  <a:pt x="75" y="56"/>
                </a:cubicBezTo>
                <a:cubicBezTo>
                  <a:pt x="75" y="56"/>
                  <a:pt x="75" y="56"/>
                  <a:pt x="75" y="56"/>
                </a:cubicBezTo>
                <a:cubicBezTo>
                  <a:pt x="74" y="56"/>
                  <a:pt x="73" y="55"/>
                  <a:pt x="72" y="55"/>
                </a:cubicBezTo>
                <a:cubicBezTo>
                  <a:pt x="70" y="55"/>
                  <a:pt x="68" y="57"/>
                  <a:pt x="68" y="59"/>
                </a:cubicBezTo>
                <a:cubicBezTo>
                  <a:pt x="68" y="127"/>
                  <a:pt x="68" y="127"/>
                  <a:pt x="68" y="127"/>
                </a:cubicBezTo>
                <a:cubicBezTo>
                  <a:pt x="68" y="129"/>
                  <a:pt x="70" y="131"/>
                  <a:pt x="72" y="131"/>
                </a:cubicBezTo>
                <a:cubicBezTo>
                  <a:pt x="73" y="131"/>
                  <a:pt x="74" y="131"/>
                  <a:pt x="75" y="130"/>
                </a:cubicBezTo>
                <a:cubicBezTo>
                  <a:pt x="75" y="130"/>
                  <a:pt x="75" y="130"/>
                  <a:pt x="75" y="130"/>
                </a:cubicBezTo>
                <a:cubicBezTo>
                  <a:pt x="133" y="97"/>
                  <a:pt x="133" y="97"/>
                  <a:pt x="133" y="97"/>
                </a:cubicBezTo>
                <a:cubicBezTo>
                  <a:pt x="133" y="97"/>
                  <a:pt x="133" y="97"/>
                  <a:pt x="133" y="97"/>
                </a:cubicBezTo>
                <a:cubicBezTo>
                  <a:pt x="134" y="96"/>
                  <a:pt x="134" y="96"/>
                  <a:pt x="134" y="96"/>
                </a:cubicBezTo>
                <a:cubicBezTo>
                  <a:pt x="134" y="96"/>
                  <a:pt x="134" y="96"/>
                  <a:pt x="134" y="96"/>
                </a:cubicBezTo>
                <a:cubicBezTo>
                  <a:pt x="135" y="96"/>
                  <a:pt x="135" y="94"/>
                  <a:pt x="135" y="93"/>
                </a:cubicBezTo>
                <a:cubicBezTo>
                  <a:pt x="135" y="92"/>
                  <a:pt x="135" y="91"/>
                  <a:pt x="134" y="90"/>
                </a:cubicBezTo>
                <a:close/>
                <a:moveTo>
                  <a:pt x="76" y="120"/>
                </a:moveTo>
                <a:cubicBezTo>
                  <a:pt x="76" y="67"/>
                  <a:pt x="76" y="67"/>
                  <a:pt x="76" y="67"/>
                </a:cubicBezTo>
                <a:cubicBezTo>
                  <a:pt x="123" y="93"/>
                  <a:pt x="123" y="93"/>
                  <a:pt x="123" y="93"/>
                </a:cubicBezTo>
                <a:lnTo>
                  <a:pt x="76" y="120"/>
                </a:lnTo>
                <a:close/>
                <a:moveTo>
                  <a:pt x="93" y="0"/>
                </a:moveTo>
                <a:cubicBezTo>
                  <a:pt x="42" y="0"/>
                  <a:pt x="0" y="42"/>
                  <a:pt x="0" y="93"/>
                </a:cubicBezTo>
                <a:cubicBezTo>
                  <a:pt x="0" y="144"/>
                  <a:pt x="42" y="186"/>
                  <a:pt x="93" y="186"/>
                </a:cubicBezTo>
                <a:cubicBezTo>
                  <a:pt x="144" y="186"/>
                  <a:pt x="186" y="144"/>
                  <a:pt x="186" y="93"/>
                </a:cubicBezTo>
                <a:cubicBezTo>
                  <a:pt x="186" y="42"/>
                  <a:pt x="144" y="0"/>
                  <a:pt x="93" y="0"/>
                </a:cubicBezTo>
                <a:close/>
                <a:moveTo>
                  <a:pt x="93" y="177"/>
                </a:moveTo>
                <a:cubicBezTo>
                  <a:pt x="46" y="177"/>
                  <a:pt x="9" y="140"/>
                  <a:pt x="9" y="93"/>
                </a:cubicBezTo>
                <a:cubicBezTo>
                  <a:pt x="9" y="46"/>
                  <a:pt x="46" y="9"/>
                  <a:pt x="93" y="9"/>
                </a:cubicBezTo>
                <a:cubicBezTo>
                  <a:pt x="140" y="9"/>
                  <a:pt x="177" y="46"/>
                  <a:pt x="177" y="93"/>
                </a:cubicBezTo>
                <a:cubicBezTo>
                  <a:pt x="177" y="140"/>
                  <a:pt x="140" y="177"/>
                  <a:pt x="93" y="177"/>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9" name="Title 1"/>
          <p:cNvSpPr txBox="1">
            <a:spLocks/>
          </p:cNvSpPr>
          <p:nvPr/>
        </p:nvSpPr>
        <p:spPr>
          <a:xfrm>
            <a:off x="7297440" y="6381328"/>
            <a:ext cx="2608560" cy="369515"/>
          </a:xfrm>
          <a:prstGeom prst="rect">
            <a:avLst/>
          </a:prstGeom>
        </p:spPr>
        <p:txBody>
          <a:bodyPr vert="horz" lIns="91440" tIns="45720" rIns="91440" bIns="45720" rtlCol="0">
            <a:noAutofit/>
          </a:bodyPr>
          <a:lstStyle>
            <a:lvl1pPr indent="0" algn="ctr">
              <a:spcBef>
                <a:spcPct val="20000"/>
              </a:spcBef>
              <a:buFont typeface="Arial" panose="020B0604020202020204" pitchFamily="34" charset="0"/>
              <a:buNone/>
              <a:defRPr>
                <a:solidFill>
                  <a:schemeClr val="bg1"/>
                </a:solidFill>
                <a:latin typeface="HelveticaNeueLT Std Lt" pitchFamily="34" charset="0"/>
              </a:defRPr>
            </a:lvl1pPr>
            <a:lvl2pPr indent="0" algn="ctr">
              <a:spcBef>
                <a:spcPct val="20000"/>
              </a:spcBef>
              <a:buFont typeface="Arial" panose="020B0604020202020204" pitchFamily="34" charset="0"/>
              <a:buNone/>
              <a:defRPr sz="2800">
                <a:solidFill>
                  <a:schemeClr val="tx1">
                    <a:tint val="75000"/>
                  </a:schemeClr>
                </a:solidFill>
              </a:defRPr>
            </a:lvl2pPr>
            <a:lvl3pPr indent="0" algn="ctr">
              <a:spcBef>
                <a:spcPct val="20000"/>
              </a:spcBef>
              <a:buFont typeface="Arial" panose="020B0604020202020204" pitchFamily="34" charset="0"/>
              <a:buNone/>
              <a:defRPr sz="2400">
                <a:solidFill>
                  <a:schemeClr val="tx1">
                    <a:tint val="75000"/>
                  </a:schemeClr>
                </a:solidFill>
              </a:defRPr>
            </a:lvl3pPr>
            <a:lvl4pPr indent="0" algn="ctr">
              <a:spcBef>
                <a:spcPct val="20000"/>
              </a:spcBef>
              <a:buFont typeface="Arial" panose="020B0604020202020204" pitchFamily="34" charset="0"/>
              <a:buNone/>
              <a:defRPr sz="2000">
                <a:solidFill>
                  <a:schemeClr val="tx1">
                    <a:tint val="75000"/>
                  </a:schemeClr>
                </a:solidFill>
              </a:defRPr>
            </a:lvl4pPr>
            <a:lvl5pPr indent="0" algn="ctr">
              <a:spcBef>
                <a:spcPct val="20000"/>
              </a:spcBef>
              <a:buFont typeface="Arial" panose="020B0604020202020204" pitchFamily="34" charset="0"/>
              <a:buNone/>
              <a:defRPr sz="2000">
                <a:solidFill>
                  <a:schemeClr val="tx1">
                    <a:tint val="75000"/>
                  </a:schemeClr>
                </a:solidFill>
              </a:defRPr>
            </a:lvl5pPr>
            <a:lvl6pPr indent="0" algn="ctr">
              <a:spcBef>
                <a:spcPct val="20000"/>
              </a:spcBef>
              <a:buFont typeface="Arial" panose="020B0604020202020204" pitchFamily="34" charset="0"/>
              <a:buNone/>
              <a:defRPr sz="2000">
                <a:solidFill>
                  <a:schemeClr val="tx1">
                    <a:tint val="75000"/>
                  </a:schemeClr>
                </a:solidFill>
              </a:defRPr>
            </a:lvl6pPr>
            <a:lvl7pPr indent="0" algn="ctr">
              <a:spcBef>
                <a:spcPct val="20000"/>
              </a:spcBef>
              <a:buFont typeface="Arial" panose="020B0604020202020204" pitchFamily="34" charset="0"/>
              <a:buNone/>
              <a:defRPr sz="2000">
                <a:solidFill>
                  <a:schemeClr val="tx1">
                    <a:tint val="75000"/>
                  </a:schemeClr>
                </a:solidFill>
              </a:defRPr>
            </a:lvl7pPr>
            <a:lvl8pPr indent="0" algn="ctr">
              <a:spcBef>
                <a:spcPct val="20000"/>
              </a:spcBef>
              <a:buFont typeface="Arial" panose="020B0604020202020204" pitchFamily="34" charset="0"/>
              <a:buNone/>
              <a:defRPr sz="2000">
                <a:solidFill>
                  <a:schemeClr val="tx1">
                    <a:tint val="75000"/>
                  </a:schemeClr>
                </a:solidFill>
              </a:defRPr>
            </a:lvl8pPr>
            <a:lvl9pPr indent="0" algn="ctr">
              <a:spcBef>
                <a:spcPct val="20000"/>
              </a:spcBef>
              <a:buFont typeface="Arial" panose="020B0604020202020204" pitchFamily="34" charset="0"/>
              <a:buNone/>
              <a:defRPr sz="2000">
                <a:solidFill>
                  <a:schemeClr val="tx1">
                    <a:tint val="75000"/>
                  </a:schemeClr>
                </a:solidFill>
              </a:defRPr>
            </a:lvl9pPr>
          </a:lstStyle>
          <a:p>
            <a:r>
              <a:rPr lang="es-ES" sz="2000" dirty="0">
                <a:latin typeface="Master Of Break" pitchFamily="2" charset="0"/>
              </a:rPr>
              <a:t>the key is always you</a:t>
            </a:r>
            <a:endParaRPr lang="en-US" sz="2000" dirty="0">
              <a:latin typeface="Master Of Break" pitchFamily="2" charset="0"/>
            </a:endParaRPr>
          </a:p>
        </p:txBody>
      </p:sp>
      <p:sp>
        <p:nvSpPr>
          <p:cNvPr id="10"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8</a:t>
            </a:fld>
            <a:endParaRPr lang="es-ES" sz="1100" dirty="0">
              <a:solidFill>
                <a:srgbClr val="000000">
                  <a:tint val="75000"/>
                </a:srgbClr>
              </a:solidFill>
              <a:latin typeface="Avenir 35" panose="00000400000000000000" pitchFamily="2" charset="0"/>
            </a:endParaRPr>
          </a:p>
        </p:txBody>
      </p:sp>
      <p:sp>
        <p:nvSpPr>
          <p:cNvPr id="2" name="Rectángulo 1">
            <a:extLst>
              <a:ext uri="{FF2B5EF4-FFF2-40B4-BE49-F238E27FC236}">
                <a16:creationId xmlns:a16="http://schemas.microsoft.com/office/drawing/2014/main" id="{D6060CE0-FD03-CBC8-479F-0D297A2808BC}"/>
              </a:ext>
            </a:extLst>
          </p:cNvPr>
          <p:cNvSpPr/>
          <p:nvPr/>
        </p:nvSpPr>
        <p:spPr>
          <a:xfrm>
            <a:off x="6249144" y="4293096"/>
            <a:ext cx="3528392" cy="19810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Si me </a:t>
            </a:r>
            <a:r>
              <a:rPr lang="es-ES" dirty="0" err="1"/>
              <a:t>permitis</a:t>
            </a:r>
            <a:r>
              <a:rPr lang="es-ES" dirty="0"/>
              <a:t> la observación, somos un peligro cuando hablamos. Pero podemos controlarlo con un vídeo del </a:t>
            </a:r>
            <a:r>
              <a:rPr lang="es-ES" dirty="0" err="1"/>
              <a:t>PowerBI</a:t>
            </a:r>
            <a:endParaRPr lang="es-ES" dirty="0"/>
          </a:p>
        </p:txBody>
      </p:sp>
    </p:spTree>
    <p:extLst>
      <p:ext uri="{BB962C8B-B14F-4D97-AF65-F5344CB8AC3E}">
        <p14:creationId xmlns:p14="http://schemas.microsoft.com/office/powerpoint/2010/main" val="4149454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Usersad.everis.int\enterprise_files\Spain\Madrid\Proyectos\Social and Connected Business\02.- PROYECTOS\INTERNOS\WEB EVERIS - 03112016\WEB EVERIS 03112016\02 RECURSOS WEB\FOTOS UNSPLASH\photo-1445810694374-0a94739e4a03.jpg"/>
          <p:cNvPicPr>
            <a:picLocks noChangeAspect="1" noChangeArrowheads="1"/>
          </p:cNvPicPr>
          <p:nvPr/>
        </p:nvPicPr>
        <p:blipFill rotWithShape="1">
          <a:blip r:embed="rId2">
            <a:extLst>
              <a:ext uri="{28A0092B-C50C-407E-A947-70E740481C1C}">
                <a14:useLocalDpi xmlns:a14="http://schemas.microsoft.com/office/drawing/2010/main" val="0"/>
              </a:ext>
            </a:extLst>
          </a:blip>
          <a:srcRect l="2002" t="27923" r="1702" b="13291"/>
          <a:stretch/>
        </p:blipFill>
        <p:spPr bwMode="auto">
          <a:xfrm>
            <a:off x="0" y="1428049"/>
            <a:ext cx="9906007" cy="3706788"/>
          </a:xfrm>
          <a:prstGeom prst="rect">
            <a:avLst/>
          </a:prstGeom>
          <a:noFill/>
          <a:extLst>
            <a:ext uri="{909E8E84-426E-40DD-AFC4-6F175D3DCCD1}">
              <a14:hiddenFill xmlns:a14="http://schemas.microsoft.com/office/drawing/2010/main">
                <a:solidFill>
                  <a:srgbClr val="FFFFFF"/>
                </a:solidFill>
              </a14:hiddenFill>
            </a:ext>
          </a:extLst>
        </p:spPr>
      </p:pic>
      <p:sp>
        <p:nvSpPr>
          <p:cNvPr id="37" name="36 Rectángulo"/>
          <p:cNvSpPr/>
          <p:nvPr/>
        </p:nvSpPr>
        <p:spPr>
          <a:xfrm>
            <a:off x="-19193" y="1428048"/>
            <a:ext cx="9938823" cy="3684431"/>
          </a:xfrm>
          <a:prstGeom prst="rect">
            <a:avLst/>
          </a:prstGeom>
          <a:solidFill>
            <a:srgbClr val="323232">
              <a:alpha val="40000"/>
            </a:srgbClr>
          </a:solidFill>
          <a:ln w="12700" cap="flat" cmpd="sng" algn="ctr">
            <a:noFill/>
            <a:prstDash val="solid"/>
            <a:miter lim="800000"/>
          </a:ln>
          <a:effectLst/>
        </p:spPr>
        <p:txBody>
          <a:bodyPr rtlCol="0" anchor="ctr"/>
          <a:lstStyle/>
          <a:p>
            <a:pPr algn="ctr"/>
            <a:endParaRPr lang="en-US" sz="1350" kern="0" dirty="0">
              <a:solidFill>
                <a:schemeClr val="bg1"/>
              </a:solidFill>
              <a:latin typeface="Avenir 35" panose="00000400000000000000" pitchFamily="2" charset="0"/>
              <a:sym typeface="Calibri"/>
            </a:endParaRPr>
          </a:p>
        </p:txBody>
      </p:sp>
      <p:sp>
        <p:nvSpPr>
          <p:cNvPr id="35" name="6 CuadroTexto"/>
          <p:cNvSpPr txBox="1"/>
          <p:nvPr/>
        </p:nvSpPr>
        <p:spPr>
          <a:xfrm>
            <a:off x="632527" y="414018"/>
            <a:ext cx="8660261" cy="400110"/>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noAutofit/>
          </a:bodyPr>
          <a:lstStyle>
            <a:defPPr>
              <a:defRPr lang="es-ES"/>
            </a:defPPr>
            <a:lvl1pPr algn="ctr" defTabSz="825500">
              <a:spcBef>
                <a:spcPct val="0"/>
              </a:spcBef>
              <a:buNone/>
              <a:defRPr sz="2000" b="0" kern="0">
                <a:solidFill>
                  <a:srgbClr val="323232"/>
                </a:solidFill>
                <a:latin typeface="Avenir 65" panose="02000600000000000000" pitchFamily="2" charset="0"/>
                <a:ea typeface="+mj-ea"/>
                <a:cs typeface="+mj-cs"/>
              </a:defRPr>
            </a:lvl1pPr>
          </a:lstStyle>
          <a:p>
            <a:r>
              <a:rPr lang="es-ES" dirty="0"/>
              <a:t>VALOR DIFERENCIAL POR NUESTRA EXPERIENCIA</a:t>
            </a:r>
          </a:p>
        </p:txBody>
      </p:sp>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s-ES" dirty="0">
                <a:solidFill>
                  <a:srgbClr val="323232"/>
                </a:solidFill>
                <a:latin typeface="Avenir 35" panose="00000400000000000000" pitchFamily="2" charset="0"/>
              </a:rPr>
              <a:t>Presentación</a:t>
            </a:r>
          </a:p>
          <a:p>
            <a:endParaRPr lang="es-ES" dirty="0">
              <a:solidFill>
                <a:srgbClr val="323232"/>
              </a:solidFill>
              <a:latin typeface="Avenir 35" panose="00000400000000000000" pitchFamily="2" charset="0"/>
            </a:endParaRPr>
          </a:p>
        </p:txBody>
      </p:sp>
      <p:sp>
        <p:nvSpPr>
          <p:cNvPr id="68" name="AutoShape 4"/>
          <p:cNvSpPr>
            <a:spLocks noChangeArrowheads="1"/>
          </p:cNvSpPr>
          <p:nvPr/>
        </p:nvSpPr>
        <p:spPr bwMode="auto">
          <a:xfrm>
            <a:off x="632527" y="829649"/>
            <a:ext cx="8660261" cy="295095"/>
          </a:xfrm>
          <a:prstGeom prst="roundRect">
            <a:avLst>
              <a:gd name="adj" fmla="val 12500"/>
            </a:avLst>
          </a:prstGeom>
        </p:spPr>
        <p:txBody>
          <a:bodyPr lIns="92583" tIns="46292" rIns="92583" bIns="46292" anchor="ctr">
            <a:normAutofit/>
          </a:bodyPr>
          <a:lstStyle/>
          <a:p>
            <a:pPr algn="ctr" defTabSz="925830" rtl="0" eaLnBrk="0" fontAlgn="base" hangingPunct="0">
              <a:lnSpc>
                <a:spcPct val="110000"/>
              </a:lnSpc>
              <a:spcBef>
                <a:spcPct val="30000"/>
              </a:spcBef>
              <a:spcAft>
                <a:spcPct val="0"/>
              </a:spcAft>
            </a:pPr>
            <a:r>
              <a:rPr lang="es-ES" sz="1000" kern="1200" dirty="0">
                <a:solidFill>
                  <a:srgbClr val="323232"/>
                </a:solidFill>
                <a:latin typeface="Avenir 35" panose="00000400000000000000" pitchFamily="2" charset="0"/>
              </a:rPr>
              <a:t>Estamos convencidos de que podemos ofrecer a BANCO una forma distinta de llegar a sus objetivos </a:t>
            </a:r>
          </a:p>
        </p:txBody>
      </p:sp>
      <p:sp>
        <p:nvSpPr>
          <p:cNvPr id="17" name="TextBox 33"/>
          <p:cNvSpPr txBox="1"/>
          <p:nvPr/>
        </p:nvSpPr>
        <p:spPr>
          <a:xfrm>
            <a:off x="8049415" y="2845677"/>
            <a:ext cx="1722408" cy="1277273"/>
          </a:xfrm>
          <a:prstGeom prst="rect">
            <a:avLst/>
          </a:prstGeom>
          <a:noFill/>
        </p:spPr>
        <p:txBody>
          <a:bodyPr wrap="square" rtlCol="0">
            <a:spAutoFit/>
          </a:bodyPr>
          <a:lstStyle/>
          <a:p>
            <a:pPr algn="ctr"/>
            <a:r>
              <a:rPr lang="es-ES" sz="1100" b="1" i="1" dirty="0">
                <a:solidFill>
                  <a:srgbClr val="FFFFFF"/>
                </a:solidFill>
                <a:latin typeface="Avenir 65" panose="02000600000000000000" pitchFamily="2" charset="0"/>
              </a:rPr>
              <a:t>“Somos Digital </a:t>
            </a:r>
          </a:p>
          <a:p>
            <a:pPr algn="ctr"/>
            <a:r>
              <a:rPr lang="es-ES" sz="1100" i="1" dirty="0">
                <a:solidFill>
                  <a:srgbClr val="FFFFFF"/>
                </a:solidFill>
                <a:latin typeface="Avenir 35" panose="00000400000000000000" pitchFamily="2" charset="0"/>
              </a:rPr>
              <a:t>Incorporamos al servicio nuestras capacidades digitales que nos permiten hacer planteamientos retadores de evolución”.</a:t>
            </a:r>
          </a:p>
        </p:txBody>
      </p:sp>
      <p:sp>
        <p:nvSpPr>
          <p:cNvPr id="18" name="CuadroTexto 1"/>
          <p:cNvSpPr txBox="1"/>
          <p:nvPr/>
        </p:nvSpPr>
        <p:spPr>
          <a:xfrm>
            <a:off x="590431" y="1723665"/>
            <a:ext cx="799950" cy="962900"/>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19594" tIns="19594" rIns="19594" bIns="19594" numCol="1" spcCol="38100" rtlCol="0" anchor="t">
            <a:spAutoFit/>
          </a:bodyPr>
          <a:lstStyle/>
          <a:p>
            <a:pPr algn="ctr" rtl="0" latinLnBrk="1" hangingPunct="0"/>
            <a:r>
              <a:rPr lang="es-ES" sz="6000" b="1" dirty="0">
                <a:solidFill>
                  <a:srgbClr val="FFFFFF"/>
                </a:solidFill>
                <a:latin typeface="Avenir 65" panose="02000600000000000000" pitchFamily="2" charset="0"/>
                <a:cs typeface="Arial" panose="020B0604020202020204" pitchFamily="34" charset="0"/>
              </a:rPr>
              <a:t>1</a:t>
            </a:r>
          </a:p>
        </p:txBody>
      </p:sp>
      <p:sp>
        <p:nvSpPr>
          <p:cNvPr id="19" name="CuadroTexto 10"/>
          <p:cNvSpPr txBox="1"/>
          <p:nvPr/>
        </p:nvSpPr>
        <p:spPr>
          <a:xfrm>
            <a:off x="2574790" y="1723665"/>
            <a:ext cx="799950" cy="962900"/>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19594" tIns="19594" rIns="19594" bIns="19594" numCol="1" spcCol="38100" rtlCol="0" anchor="t">
            <a:spAutoFit/>
          </a:bodyPr>
          <a:lstStyle/>
          <a:p>
            <a:pPr algn="ctr" rtl="0" latinLnBrk="1" hangingPunct="0"/>
            <a:r>
              <a:rPr lang="es-ES" sz="6000" b="1" dirty="0">
                <a:solidFill>
                  <a:srgbClr val="FFFFFF"/>
                </a:solidFill>
                <a:latin typeface="Avenir 65" panose="02000600000000000000" pitchFamily="2" charset="0"/>
                <a:cs typeface="Arial" panose="020B0604020202020204" pitchFamily="34" charset="0"/>
              </a:rPr>
              <a:t>2</a:t>
            </a:r>
          </a:p>
        </p:txBody>
      </p:sp>
      <p:sp>
        <p:nvSpPr>
          <p:cNvPr id="20" name="CuadroTexto 11"/>
          <p:cNvSpPr txBox="1"/>
          <p:nvPr/>
        </p:nvSpPr>
        <p:spPr>
          <a:xfrm>
            <a:off x="4490422" y="1723665"/>
            <a:ext cx="799950" cy="962900"/>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19594" tIns="19594" rIns="19594" bIns="19594" numCol="1" spcCol="38100" rtlCol="0" anchor="t">
            <a:spAutoFit/>
          </a:bodyPr>
          <a:lstStyle/>
          <a:p>
            <a:pPr algn="ctr" rtl="0" latinLnBrk="1" hangingPunct="0"/>
            <a:r>
              <a:rPr lang="es-ES" sz="6000" b="1" dirty="0">
                <a:solidFill>
                  <a:srgbClr val="FFFFFF"/>
                </a:solidFill>
                <a:latin typeface="Avenir 65" panose="02000600000000000000" pitchFamily="2" charset="0"/>
                <a:cs typeface="Arial" panose="020B0604020202020204" pitchFamily="34" charset="0"/>
              </a:rPr>
              <a:t>3</a:t>
            </a:r>
          </a:p>
        </p:txBody>
      </p:sp>
      <p:sp>
        <p:nvSpPr>
          <p:cNvPr id="21" name="CuadroTexto 12"/>
          <p:cNvSpPr txBox="1"/>
          <p:nvPr/>
        </p:nvSpPr>
        <p:spPr>
          <a:xfrm>
            <a:off x="6530456" y="1723665"/>
            <a:ext cx="799950" cy="962900"/>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19594" tIns="19594" rIns="19594" bIns="19594" numCol="1" spcCol="38100" rtlCol="0" anchor="t">
            <a:spAutoFit/>
          </a:bodyPr>
          <a:lstStyle/>
          <a:p>
            <a:pPr algn="ctr" rtl="0" latinLnBrk="1" hangingPunct="0"/>
            <a:r>
              <a:rPr lang="es-ES" sz="6000" b="1" dirty="0">
                <a:solidFill>
                  <a:srgbClr val="FFFFFF"/>
                </a:solidFill>
                <a:latin typeface="Avenir 65" panose="02000600000000000000" pitchFamily="2" charset="0"/>
                <a:cs typeface="Arial" panose="020B0604020202020204" pitchFamily="34" charset="0"/>
              </a:rPr>
              <a:t>4</a:t>
            </a:r>
          </a:p>
        </p:txBody>
      </p:sp>
      <p:sp>
        <p:nvSpPr>
          <p:cNvPr id="22" name="CuadroTexto 13"/>
          <p:cNvSpPr txBox="1"/>
          <p:nvPr/>
        </p:nvSpPr>
        <p:spPr>
          <a:xfrm>
            <a:off x="8510644" y="1723665"/>
            <a:ext cx="799950" cy="962900"/>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19594" tIns="19594" rIns="19594" bIns="19594" numCol="1" spcCol="38100" rtlCol="0" anchor="t">
            <a:spAutoFit/>
          </a:bodyPr>
          <a:lstStyle/>
          <a:p>
            <a:pPr algn="ctr" rtl="0" latinLnBrk="1" hangingPunct="0"/>
            <a:r>
              <a:rPr lang="es-ES" sz="6000" b="1" dirty="0">
                <a:solidFill>
                  <a:srgbClr val="FFFFFF"/>
                </a:solidFill>
                <a:latin typeface="Avenir 65" panose="02000600000000000000" pitchFamily="2" charset="0"/>
                <a:cs typeface="Arial" panose="020B0604020202020204" pitchFamily="34" charset="0"/>
              </a:rPr>
              <a:t>5</a:t>
            </a:r>
          </a:p>
        </p:txBody>
      </p:sp>
      <p:sp>
        <p:nvSpPr>
          <p:cNvPr id="23" name="TextBox 33"/>
          <p:cNvSpPr txBox="1"/>
          <p:nvPr/>
        </p:nvSpPr>
        <p:spPr>
          <a:xfrm>
            <a:off x="129202" y="2845671"/>
            <a:ext cx="1722408" cy="1446550"/>
          </a:xfrm>
          <a:prstGeom prst="rect">
            <a:avLst/>
          </a:prstGeom>
          <a:noFill/>
        </p:spPr>
        <p:txBody>
          <a:bodyPr wrap="square" rtlCol="0">
            <a:spAutoFit/>
          </a:bodyPr>
          <a:lstStyle/>
          <a:p>
            <a:pPr algn="ctr"/>
            <a:r>
              <a:rPr lang="es-ES" sz="1100" b="1" i="1" dirty="0">
                <a:solidFill>
                  <a:srgbClr val="FFFFFF"/>
                </a:solidFill>
                <a:latin typeface="Avenir 65" panose="02000600000000000000" pitchFamily="2" charset="0"/>
              </a:rPr>
              <a:t>“El conocimiento del cliente como la base del servicio. </a:t>
            </a:r>
          </a:p>
          <a:p>
            <a:pPr algn="ctr"/>
            <a:r>
              <a:rPr lang="es-ES" sz="1100" i="1" dirty="0">
                <a:solidFill>
                  <a:srgbClr val="FFFFFF"/>
                </a:solidFill>
                <a:latin typeface="Avenir 35" panose="00000400000000000000" pitchFamily="2" charset="0"/>
              </a:rPr>
              <a:t>Utilizando capacidades de Data Quality y Analítica avanzada de datos, aplicadas ya con éxito”.</a:t>
            </a:r>
          </a:p>
        </p:txBody>
      </p:sp>
      <p:sp>
        <p:nvSpPr>
          <p:cNvPr id="24" name="TextBox 33"/>
          <p:cNvSpPr txBox="1"/>
          <p:nvPr/>
        </p:nvSpPr>
        <p:spPr>
          <a:xfrm>
            <a:off x="1985396" y="2845672"/>
            <a:ext cx="1978734" cy="1446550"/>
          </a:xfrm>
          <a:prstGeom prst="rect">
            <a:avLst/>
          </a:prstGeom>
          <a:noFill/>
        </p:spPr>
        <p:txBody>
          <a:bodyPr wrap="square" rtlCol="0">
            <a:spAutoFit/>
          </a:bodyPr>
          <a:lstStyle/>
          <a:p>
            <a:pPr algn="ctr"/>
            <a:r>
              <a:rPr lang="es-ES" sz="1100" b="1" i="1" dirty="0">
                <a:solidFill>
                  <a:srgbClr val="FFFFFF"/>
                </a:solidFill>
                <a:latin typeface="Avenir 65" panose="02000600000000000000" pitchFamily="2" charset="0"/>
              </a:rPr>
              <a:t>“Aplicación de modelos de segmentación y mapas de contacto </a:t>
            </a:r>
            <a:r>
              <a:rPr lang="es-ES" sz="1100" i="1" dirty="0">
                <a:solidFill>
                  <a:srgbClr val="FFFFFF"/>
                </a:solidFill>
                <a:latin typeface="Avenir 35" panose="00000400000000000000" pitchFamily="2" charset="0"/>
              </a:rPr>
              <a:t>que han sido aplicados en otros players del sector en España y que nos proporcionan un punto de partida sólido para trabajar”.</a:t>
            </a:r>
          </a:p>
        </p:txBody>
      </p:sp>
      <p:sp>
        <p:nvSpPr>
          <p:cNvPr id="25" name="TextBox 33"/>
          <p:cNvSpPr txBox="1"/>
          <p:nvPr/>
        </p:nvSpPr>
        <p:spPr>
          <a:xfrm>
            <a:off x="4002895" y="2845677"/>
            <a:ext cx="1894649" cy="1615827"/>
          </a:xfrm>
          <a:prstGeom prst="rect">
            <a:avLst/>
          </a:prstGeom>
          <a:noFill/>
        </p:spPr>
        <p:txBody>
          <a:bodyPr wrap="square" rtlCol="0">
            <a:spAutoFit/>
          </a:bodyPr>
          <a:lstStyle/>
          <a:p>
            <a:pPr algn="ctr"/>
            <a:r>
              <a:rPr lang="es-ES" sz="1100" b="1" i="1" dirty="0">
                <a:solidFill>
                  <a:srgbClr val="FFFFFF"/>
                </a:solidFill>
                <a:latin typeface="Avenir 65" panose="02000600000000000000" pitchFamily="2" charset="0"/>
              </a:rPr>
              <a:t>“Enfoque y capacidades globales </a:t>
            </a:r>
            <a:r>
              <a:rPr lang="es-ES" sz="1100" i="1" dirty="0">
                <a:solidFill>
                  <a:srgbClr val="FFFFFF"/>
                </a:solidFill>
                <a:latin typeface="Avenir 35" panose="00000400000000000000" pitchFamily="2" charset="0"/>
              </a:rPr>
              <a:t>que nos permiten ofrecer un servicio end-to-end, desde los conceptos más puramente tecnológicos, hasta los estratégicos y operativos de la función de Marketing”.</a:t>
            </a:r>
          </a:p>
        </p:txBody>
      </p:sp>
      <p:sp>
        <p:nvSpPr>
          <p:cNvPr id="26" name="TextBox 33"/>
          <p:cNvSpPr txBox="1"/>
          <p:nvPr/>
        </p:nvSpPr>
        <p:spPr>
          <a:xfrm>
            <a:off x="6069227" y="2845677"/>
            <a:ext cx="1722408" cy="1277273"/>
          </a:xfrm>
          <a:prstGeom prst="rect">
            <a:avLst/>
          </a:prstGeom>
          <a:noFill/>
        </p:spPr>
        <p:txBody>
          <a:bodyPr wrap="square" rtlCol="0">
            <a:spAutoFit/>
          </a:bodyPr>
          <a:lstStyle/>
          <a:p>
            <a:pPr algn="ctr"/>
            <a:r>
              <a:rPr lang="es-ES" sz="1100" b="1" i="1" dirty="0">
                <a:solidFill>
                  <a:srgbClr val="FFFFFF"/>
                </a:solidFill>
                <a:latin typeface="Avenir 65" panose="02000600000000000000" pitchFamily="2" charset="0"/>
              </a:rPr>
              <a:t>“Servicio soportado por soluciones líderes de mercado </a:t>
            </a:r>
            <a:r>
              <a:rPr lang="es-ES" sz="1100" i="1" dirty="0">
                <a:solidFill>
                  <a:srgbClr val="FFFFFF"/>
                </a:solidFill>
                <a:latin typeface="Avenir 35" panose="00000400000000000000" pitchFamily="2" charset="0"/>
              </a:rPr>
              <a:t>que garantizan la robustez, escalabilidad y capacidad de evolución”.</a:t>
            </a:r>
          </a:p>
        </p:txBody>
      </p:sp>
      <p:sp>
        <p:nvSpPr>
          <p:cNvPr id="28"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9</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871530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16 Rectángulo"/>
          <p:cNvSpPr/>
          <p:nvPr/>
        </p:nvSpPr>
        <p:spPr>
          <a:xfrm>
            <a:off x="548286" y="814128"/>
            <a:ext cx="8660260" cy="420051"/>
          </a:xfrm>
          <a:prstGeom prst="rect">
            <a:avLst/>
          </a:prstGeom>
        </p:spPr>
        <p:txBody>
          <a:bodyPr lIns="92583" tIns="46292" rIns="92583" bIns="46292" anchor="ctr">
            <a:noAutofit/>
          </a:bodyPr>
          <a:lstStyle/>
          <a:p>
            <a:pPr algn="ctr" defTabSz="925830" eaLnBrk="0" fontAlgn="base" hangingPunct="0">
              <a:lnSpc>
                <a:spcPct val="110000"/>
              </a:lnSpc>
              <a:spcBef>
                <a:spcPct val="30000"/>
              </a:spcBef>
              <a:spcAft>
                <a:spcPct val="0"/>
              </a:spcAft>
            </a:pPr>
            <a:r>
              <a:rPr lang="es-ES" sz="1000" dirty="0">
                <a:solidFill>
                  <a:srgbClr val="323232"/>
                </a:solidFill>
                <a:latin typeface="Avenir 35" panose="00000400000000000000" pitchFamily="2" charset="0"/>
              </a:rPr>
              <a:t>Proporcionar una solución tecnológica que permita unificar las diferentes BBDD de Easy Money, simplificando y facilitando su uso.</a:t>
            </a:r>
          </a:p>
          <a:p>
            <a:pPr algn="ctr" defTabSz="925830" eaLnBrk="0" fontAlgn="base" hangingPunct="0">
              <a:lnSpc>
                <a:spcPct val="110000"/>
              </a:lnSpc>
              <a:spcBef>
                <a:spcPct val="30000"/>
              </a:spcBef>
              <a:spcAft>
                <a:spcPct val="0"/>
              </a:spcAft>
            </a:pPr>
            <a:r>
              <a:rPr lang="es-ES" sz="1000" dirty="0">
                <a:solidFill>
                  <a:srgbClr val="323232"/>
                </a:solidFill>
                <a:latin typeface="Avenir 35" panose="00000400000000000000" pitchFamily="2" charset="0"/>
              </a:rPr>
              <a:t>Definir los procesos que aseguren la evolución y sostenibilidad en el tiempo </a:t>
            </a:r>
          </a:p>
        </p:txBody>
      </p:sp>
      <p:sp>
        <p:nvSpPr>
          <p:cNvPr id="9" name="6 CuadroTexto"/>
          <p:cNvSpPr txBox="1"/>
          <p:nvPr/>
        </p:nvSpPr>
        <p:spPr>
          <a:xfrm>
            <a:off x="632527" y="414018"/>
            <a:ext cx="8660261" cy="400110"/>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noAutofit/>
          </a:bodyPr>
          <a:lstStyle>
            <a:defPPr>
              <a:defRPr lang="es-ES"/>
            </a:defPPr>
            <a:lvl1pPr algn="ctr" defTabSz="825500">
              <a:spcBef>
                <a:spcPct val="0"/>
              </a:spcBef>
              <a:buNone/>
              <a:defRPr sz="2000" b="0" kern="0">
                <a:solidFill>
                  <a:srgbClr val="323232"/>
                </a:solidFill>
                <a:latin typeface="Avenir 65" panose="02000600000000000000" pitchFamily="2" charset="0"/>
                <a:ea typeface="+mj-ea"/>
                <a:cs typeface="+mj-cs"/>
              </a:defRPr>
            </a:lvl1pPr>
          </a:lstStyle>
          <a:p>
            <a:r>
              <a:rPr lang="es-ES" dirty="0"/>
              <a:t>INTEGRAR</a:t>
            </a:r>
          </a:p>
        </p:txBody>
      </p:sp>
      <p:sp>
        <p:nvSpPr>
          <p:cNvPr id="10"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s-ES" dirty="0">
                <a:solidFill>
                  <a:srgbClr val="323232"/>
                </a:solidFill>
                <a:latin typeface="Avenir 35" panose="00000400000000000000" pitchFamily="2" charset="0"/>
              </a:rPr>
              <a:t>Nuestra Visión</a:t>
            </a:r>
          </a:p>
          <a:p>
            <a:endParaRPr lang="es-ES" dirty="0">
              <a:solidFill>
                <a:srgbClr val="323232"/>
              </a:solidFill>
              <a:latin typeface="Avenir 35" panose="00000400000000000000" pitchFamily="2" charset="0"/>
            </a:endParaRPr>
          </a:p>
        </p:txBody>
      </p:sp>
      <p:sp>
        <p:nvSpPr>
          <p:cNvPr id="11" name="Oval 22"/>
          <p:cNvSpPr/>
          <p:nvPr/>
        </p:nvSpPr>
        <p:spPr>
          <a:xfrm>
            <a:off x="3728341" y="1569425"/>
            <a:ext cx="648000" cy="648000"/>
          </a:xfrm>
          <a:prstGeom prst="ellipse">
            <a:avLst/>
          </a:prstGeom>
          <a:solidFill>
            <a:srgbClr val="51C3CA"/>
          </a:solidFill>
          <a:ln w="25400" cap="flat" cmpd="sng" algn="ctr">
            <a:noFill/>
            <a:prstDash val="solid"/>
          </a:ln>
          <a:effectLst/>
        </p:spPr>
        <p:txBody>
          <a:bodyPr lIns="0" rIns="0" rtlCol="0" anchor="ctr"/>
          <a:lstStyle/>
          <a:p>
            <a:pPr algn="ctr">
              <a:lnSpc>
                <a:spcPts val="2500"/>
              </a:lnSpc>
            </a:pPr>
            <a:endParaRPr lang="es-ES" sz="2000" b="1" kern="0" dirty="0">
              <a:solidFill>
                <a:prstClr val="white"/>
              </a:solidFill>
              <a:effectLst>
                <a:outerShdw blurRad="38100" dist="38100" dir="2700000" algn="tl">
                  <a:srgbClr val="000000">
                    <a:alpha val="43137"/>
                  </a:srgbClr>
                </a:outerShdw>
              </a:effectLst>
              <a:latin typeface="Calibri"/>
            </a:endParaRPr>
          </a:p>
        </p:txBody>
      </p:sp>
      <p:sp>
        <p:nvSpPr>
          <p:cNvPr id="12" name="TextBox 25"/>
          <p:cNvSpPr txBox="1"/>
          <p:nvPr/>
        </p:nvSpPr>
        <p:spPr>
          <a:xfrm>
            <a:off x="3047331" y="2581660"/>
            <a:ext cx="2088231" cy="3693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Análisis de riesgos y oportunidades del sistema actualmente implantado</a:t>
            </a:r>
          </a:p>
        </p:txBody>
      </p:sp>
      <p:sp>
        <p:nvSpPr>
          <p:cNvPr id="13" name="Oval 22"/>
          <p:cNvSpPr/>
          <p:nvPr/>
        </p:nvSpPr>
        <p:spPr>
          <a:xfrm>
            <a:off x="1545602" y="3253007"/>
            <a:ext cx="648000" cy="648000"/>
          </a:xfrm>
          <a:prstGeom prst="ellipse">
            <a:avLst/>
          </a:prstGeom>
          <a:solidFill>
            <a:srgbClr val="51C3CA"/>
          </a:solidFill>
          <a:ln w="25400" cap="flat" cmpd="sng" algn="ctr">
            <a:noFill/>
            <a:prstDash val="solid"/>
          </a:ln>
          <a:effectLst/>
        </p:spPr>
        <p:txBody>
          <a:bodyPr lIns="0" rIns="0" rtlCol="0" anchor="ctr"/>
          <a:lstStyle/>
          <a:p>
            <a:pPr algn="ctr">
              <a:lnSpc>
                <a:spcPts val="2500"/>
              </a:lnSpc>
            </a:pPr>
            <a:endParaRPr lang="es-ES" sz="2000" b="1" kern="0" dirty="0">
              <a:solidFill>
                <a:prstClr val="white"/>
              </a:solidFill>
              <a:effectLst>
                <a:outerShdw blurRad="38100" dist="38100" dir="2700000" algn="tl">
                  <a:srgbClr val="000000">
                    <a:alpha val="43137"/>
                  </a:srgbClr>
                </a:outerShdw>
              </a:effectLst>
              <a:latin typeface="Calibri"/>
            </a:endParaRPr>
          </a:p>
        </p:txBody>
      </p:sp>
      <p:sp>
        <p:nvSpPr>
          <p:cNvPr id="14" name="TextBox 25"/>
          <p:cNvSpPr txBox="1"/>
          <p:nvPr/>
        </p:nvSpPr>
        <p:spPr>
          <a:xfrm>
            <a:off x="663840" y="4322537"/>
            <a:ext cx="2328232" cy="507831"/>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Enfoque tanto en BBDD antigua como en el mantenimiento de la nueva BBDD gracias a procedimientos específicos</a:t>
            </a:r>
            <a:endParaRPr lang="es-ES" sz="900" b="1" dirty="0">
              <a:solidFill>
                <a:schemeClr val="bg1">
                  <a:lumMod val="50000"/>
                </a:schemeClr>
              </a:solidFill>
              <a:latin typeface="Avenir 35" panose="00000400000000000000" pitchFamily="2" charset="0"/>
            </a:endParaRPr>
          </a:p>
        </p:txBody>
      </p:sp>
      <p:sp>
        <p:nvSpPr>
          <p:cNvPr id="15" name="TextBox 26"/>
          <p:cNvSpPr txBox="1"/>
          <p:nvPr/>
        </p:nvSpPr>
        <p:spPr>
          <a:xfrm>
            <a:off x="632520" y="4032258"/>
            <a:ext cx="2232248"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PROCESO DE CARGA</a:t>
            </a:r>
          </a:p>
        </p:txBody>
      </p:sp>
      <p:sp>
        <p:nvSpPr>
          <p:cNvPr id="16" name="Oval 22"/>
          <p:cNvSpPr/>
          <p:nvPr/>
        </p:nvSpPr>
        <p:spPr>
          <a:xfrm>
            <a:off x="1483085" y="1556792"/>
            <a:ext cx="648000" cy="648000"/>
          </a:xfrm>
          <a:prstGeom prst="ellipse">
            <a:avLst/>
          </a:prstGeom>
          <a:solidFill>
            <a:srgbClr val="51C3CA"/>
          </a:solidFill>
          <a:ln w="25400" cap="flat" cmpd="sng" algn="ctr">
            <a:noFill/>
            <a:prstDash val="solid"/>
          </a:ln>
          <a:effectLst/>
        </p:spPr>
        <p:txBody>
          <a:bodyPr lIns="0" rIns="0" rtlCol="0" anchor="ctr"/>
          <a:lstStyle/>
          <a:p>
            <a:pPr algn="ctr">
              <a:lnSpc>
                <a:spcPts val="2500"/>
              </a:lnSpc>
            </a:pPr>
            <a:endParaRPr lang="es-ES" sz="2000" b="1" kern="0" dirty="0">
              <a:solidFill>
                <a:prstClr val="white"/>
              </a:solidFill>
              <a:effectLst>
                <a:outerShdw blurRad="38100" dist="38100" dir="2700000" algn="tl">
                  <a:srgbClr val="000000">
                    <a:alpha val="43137"/>
                  </a:srgbClr>
                </a:outerShdw>
              </a:effectLst>
              <a:latin typeface="Calibri"/>
            </a:endParaRPr>
          </a:p>
        </p:txBody>
      </p:sp>
      <p:sp>
        <p:nvSpPr>
          <p:cNvPr id="17" name="TextBox 25"/>
          <p:cNvSpPr txBox="1"/>
          <p:nvPr/>
        </p:nvSpPr>
        <p:spPr>
          <a:xfrm>
            <a:off x="762969" y="2623851"/>
            <a:ext cx="2088231" cy="507831"/>
          </a:xfrm>
          <a:prstGeom prst="rect">
            <a:avLst/>
          </a:prstGeom>
          <a:noFill/>
        </p:spPr>
        <p:txBody>
          <a:bodyPr wrap="square" rtlCol="0">
            <a:spAutoFit/>
          </a:bodyPr>
          <a:lstStyle/>
          <a:p>
            <a:pPr algn="ctr" defTabSz="914400"/>
            <a:r>
              <a:rPr lang="es-ES" sz="900" dirty="0">
                <a:solidFill>
                  <a:schemeClr val="bg1">
                    <a:lumMod val="50000"/>
                  </a:schemeClr>
                </a:solidFill>
                <a:latin typeface="Avenir 35" panose="00000400000000000000" pitchFamily="2" charset="0"/>
              </a:rPr>
              <a:t>Normalización y traspaso de BBDD antiguas, eliminando duplicidades y divergencias</a:t>
            </a:r>
          </a:p>
        </p:txBody>
      </p:sp>
      <p:sp>
        <p:nvSpPr>
          <p:cNvPr id="18" name="TextBox 26"/>
          <p:cNvSpPr txBox="1"/>
          <p:nvPr/>
        </p:nvSpPr>
        <p:spPr>
          <a:xfrm>
            <a:off x="1012222" y="2320106"/>
            <a:ext cx="1589730"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MIGRACIÓN</a:t>
            </a:r>
          </a:p>
        </p:txBody>
      </p:sp>
      <p:sp>
        <p:nvSpPr>
          <p:cNvPr id="19" name="TextBox 26"/>
          <p:cNvSpPr txBox="1"/>
          <p:nvPr/>
        </p:nvSpPr>
        <p:spPr>
          <a:xfrm>
            <a:off x="3101341" y="2352577"/>
            <a:ext cx="1980215"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SITUACIÓN INICIAL</a:t>
            </a:r>
          </a:p>
        </p:txBody>
      </p:sp>
      <p:sp>
        <p:nvSpPr>
          <p:cNvPr id="20" name="Oval 22"/>
          <p:cNvSpPr/>
          <p:nvPr/>
        </p:nvSpPr>
        <p:spPr>
          <a:xfrm>
            <a:off x="2714444" y="5071061"/>
            <a:ext cx="648000" cy="648000"/>
          </a:xfrm>
          <a:prstGeom prst="ellipse">
            <a:avLst/>
          </a:prstGeom>
          <a:solidFill>
            <a:srgbClr val="51C3CA"/>
          </a:solidFill>
          <a:ln w="25400" cap="flat" cmpd="sng" algn="ctr">
            <a:noFill/>
            <a:prstDash val="solid"/>
          </a:ln>
          <a:effectLst/>
        </p:spPr>
        <p:txBody>
          <a:bodyPr lIns="0" rIns="0" rtlCol="0" anchor="ctr"/>
          <a:lstStyle/>
          <a:p>
            <a:pPr algn="ctr">
              <a:lnSpc>
                <a:spcPts val="2500"/>
              </a:lnSpc>
            </a:pPr>
            <a:endParaRPr lang="es-ES" sz="2000" b="1" kern="0" dirty="0">
              <a:solidFill>
                <a:prstClr val="white"/>
              </a:solidFill>
              <a:effectLst>
                <a:outerShdw blurRad="38100" dist="38100" dir="2700000" algn="tl">
                  <a:srgbClr val="000000">
                    <a:alpha val="43137"/>
                  </a:srgbClr>
                </a:outerShdw>
              </a:effectLst>
              <a:latin typeface="Calibri"/>
            </a:endParaRPr>
          </a:p>
        </p:txBody>
      </p:sp>
      <p:sp>
        <p:nvSpPr>
          <p:cNvPr id="21" name="TextBox 25"/>
          <p:cNvSpPr txBox="1"/>
          <p:nvPr/>
        </p:nvSpPr>
        <p:spPr>
          <a:xfrm>
            <a:off x="2018588" y="6089527"/>
            <a:ext cx="1924159" cy="507831"/>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Desarrollo de Mapas Conceptuales, interfaces y puntos de integración</a:t>
            </a:r>
            <a:endParaRPr lang="es-ES" sz="900" b="1" dirty="0">
              <a:solidFill>
                <a:schemeClr val="bg1">
                  <a:lumMod val="50000"/>
                </a:schemeClr>
              </a:solidFill>
              <a:latin typeface="Avenir 35" panose="00000400000000000000" pitchFamily="2" charset="0"/>
            </a:endParaRPr>
          </a:p>
        </p:txBody>
      </p:sp>
      <p:sp>
        <p:nvSpPr>
          <p:cNvPr id="22" name="TextBox 26"/>
          <p:cNvSpPr txBox="1"/>
          <p:nvPr/>
        </p:nvSpPr>
        <p:spPr>
          <a:xfrm>
            <a:off x="1977085" y="5850312"/>
            <a:ext cx="2088232"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ARQUITECTURA TÉCNICA</a:t>
            </a:r>
          </a:p>
        </p:txBody>
      </p:sp>
      <p:sp>
        <p:nvSpPr>
          <p:cNvPr id="23" name="Freeform 6"/>
          <p:cNvSpPr>
            <a:spLocks/>
          </p:cNvSpPr>
          <p:nvPr/>
        </p:nvSpPr>
        <p:spPr bwMode="auto">
          <a:xfrm>
            <a:off x="6930520" y="2051201"/>
            <a:ext cx="1968103" cy="1541860"/>
          </a:xfrm>
          <a:custGeom>
            <a:avLst/>
            <a:gdLst>
              <a:gd name="T0" fmla="*/ 3 w 227"/>
              <a:gd name="T1" fmla="*/ 68 h 178"/>
              <a:gd name="T2" fmla="*/ 112 w 227"/>
              <a:gd name="T3" fmla="*/ 178 h 178"/>
              <a:gd name="T4" fmla="*/ 227 w 227"/>
              <a:gd name="T5" fmla="*/ 63 h 178"/>
              <a:gd name="T6" fmla="*/ 3 w 227"/>
              <a:gd name="T7" fmla="*/ 58 h 178"/>
              <a:gd name="T8" fmla="*/ 3 w 227"/>
              <a:gd name="T9" fmla="*/ 68 h 178"/>
            </a:gdLst>
            <a:ahLst/>
            <a:cxnLst>
              <a:cxn ang="0">
                <a:pos x="T0" y="T1"/>
              </a:cxn>
              <a:cxn ang="0">
                <a:pos x="T2" y="T3"/>
              </a:cxn>
              <a:cxn ang="0">
                <a:pos x="T4" y="T5"/>
              </a:cxn>
              <a:cxn ang="0">
                <a:pos x="T6" y="T7"/>
              </a:cxn>
              <a:cxn ang="0">
                <a:pos x="T8" y="T9"/>
              </a:cxn>
            </a:cxnLst>
            <a:rect l="0" t="0" r="r" b="b"/>
            <a:pathLst>
              <a:path w="227" h="178">
                <a:moveTo>
                  <a:pt x="3" y="68"/>
                </a:moveTo>
                <a:cubicBezTo>
                  <a:pt x="112" y="178"/>
                  <a:pt x="112" y="178"/>
                  <a:pt x="112" y="178"/>
                </a:cubicBezTo>
                <a:cubicBezTo>
                  <a:pt x="227" y="63"/>
                  <a:pt x="227" y="63"/>
                  <a:pt x="227" y="63"/>
                </a:cubicBezTo>
                <a:cubicBezTo>
                  <a:pt x="166" y="1"/>
                  <a:pt x="67" y="0"/>
                  <a:pt x="3" y="58"/>
                </a:cubicBezTo>
                <a:cubicBezTo>
                  <a:pt x="0" y="60"/>
                  <a:pt x="0" y="65"/>
                  <a:pt x="3" y="68"/>
                </a:cubicBezTo>
                <a:close/>
              </a:path>
            </a:pathLst>
          </a:custGeom>
          <a:solidFill>
            <a:srgbClr val="51C3CA"/>
          </a:solidFill>
          <a:ln>
            <a:no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24" name="Freeform 8"/>
          <p:cNvSpPr>
            <a:spLocks/>
          </p:cNvSpPr>
          <p:nvPr/>
        </p:nvSpPr>
        <p:spPr bwMode="auto">
          <a:xfrm>
            <a:off x="8196152" y="2519116"/>
            <a:ext cx="1369219" cy="1801416"/>
          </a:xfrm>
          <a:custGeom>
            <a:avLst/>
            <a:gdLst>
              <a:gd name="T0" fmla="*/ 87 w 158"/>
              <a:gd name="T1" fmla="*/ 3 h 208"/>
              <a:gd name="T2" fmla="*/ 0 w 158"/>
              <a:gd name="T3" fmla="*/ 90 h 208"/>
              <a:gd name="T4" fmla="*/ 114 w 158"/>
              <a:gd name="T5" fmla="*/ 205 h 208"/>
              <a:gd name="T6" fmla="*/ 126 w 158"/>
              <a:gd name="T7" fmla="*/ 203 h 208"/>
              <a:gd name="T8" fmla="*/ 98 w 158"/>
              <a:gd name="T9" fmla="*/ 3 h 208"/>
              <a:gd name="T10" fmla="*/ 87 w 158"/>
              <a:gd name="T11" fmla="*/ 3 h 208"/>
            </a:gdLst>
            <a:ahLst/>
            <a:cxnLst>
              <a:cxn ang="0">
                <a:pos x="T0" y="T1"/>
              </a:cxn>
              <a:cxn ang="0">
                <a:pos x="T2" y="T3"/>
              </a:cxn>
              <a:cxn ang="0">
                <a:pos x="T4" y="T5"/>
              </a:cxn>
              <a:cxn ang="0">
                <a:pos x="T6" y="T7"/>
              </a:cxn>
              <a:cxn ang="0">
                <a:pos x="T8" y="T9"/>
              </a:cxn>
              <a:cxn ang="0">
                <a:pos x="T10" y="T11"/>
              </a:cxn>
            </a:cxnLst>
            <a:rect l="0" t="0" r="r" b="b"/>
            <a:pathLst>
              <a:path w="158" h="208">
                <a:moveTo>
                  <a:pt x="87" y="3"/>
                </a:moveTo>
                <a:cubicBezTo>
                  <a:pt x="0" y="90"/>
                  <a:pt x="0" y="90"/>
                  <a:pt x="0" y="90"/>
                </a:cubicBezTo>
                <a:cubicBezTo>
                  <a:pt x="114" y="205"/>
                  <a:pt x="114" y="205"/>
                  <a:pt x="114" y="205"/>
                </a:cubicBezTo>
                <a:cubicBezTo>
                  <a:pt x="118" y="208"/>
                  <a:pt x="124" y="207"/>
                  <a:pt x="126" y="203"/>
                </a:cubicBezTo>
                <a:cubicBezTo>
                  <a:pt x="158" y="138"/>
                  <a:pt x="148" y="59"/>
                  <a:pt x="98" y="3"/>
                </a:cubicBezTo>
                <a:cubicBezTo>
                  <a:pt x="95" y="0"/>
                  <a:pt x="90" y="0"/>
                  <a:pt x="87" y="3"/>
                </a:cubicBez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25" name="Freeform 9"/>
          <p:cNvSpPr>
            <a:spLocks/>
          </p:cNvSpPr>
          <p:nvPr/>
        </p:nvSpPr>
        <p:spPr bwMode="auto">
          <a:xfrm>
            <a:off x="7615126" y="3297785"/>
            <a:ext cx="1473994" cy="1472804"/>
          </a:xfrm>
          <a:custGeom>
            <a:avLst/>
            <a:gdLst>
              <a:gd name="T0" fmla="*/ 0 w 170"/>
              <a:gd name="T1" fmla="*/ 67 h 170"/>
              <a:gd name="T2" fmla="*/ 103 w 170"/>
              <a:gd name="T3" fmla="*/ 170 h 170"/>
              <a:gd name="T4" fmla="*/ 142 w 170"/>
              <a:gd name="T5" fmla="*/ 142 h 170"/>
              <a:gd name="T6" fmla="*/ 170 w 170"/>
              <a:gd name="T7" fmla="*/ 103 h 170"/>
              <a:gd name="T8" fmla="*/ 67 w 170"/>
              <a:gd name="T9" fmla="*/ 0 h 170"/>
              <a:gd name="T10" fmla="*/ 0 w 170"/>
              <a:gd name="T11" fmla="*/ 67 h 170"/>
            </a:gdLst>
            <a:ahLst/>
            <a:cxnLst>
              <a:cxn ang="0">
                <a:pos x="T0" y="T1"/>
              </a:cxn>
              <a:cxn ang="0">
                <a:pos x="T2" y="T3"/>
              </a:cxn>
              <a:cxn ang="0">
                <a:pos x="T4" y="T5"/>
              </a:cxn>
              <a:cxn ang="0">
                <a:pos x="T6" y="T7"/>
              </a:cxn>
              <a:cxn ang="0">
                <a:pos x="T8" y="T9"/>
              </a:cxn>
              <a:cxn ang="0">
                <a:pos x="T10" y="T11"/>
              </a:cxn>
            </a:cxnLst>
            <a:rect l="0" t="0" r="r" b="b"/>
            <a:pathLst>
              <a:path w="170" h="170">
                <a:moveTo>
                  <a:pt x="0" y="67"/>
                </a:moveTo>
                <a:cubicBezTo>
                  <a:pt x="103" y="170"/>
                  <a:pt x="103" y="170"/>
                  <a:pt x="103" y="170"/>
                </a:cubicBezTo>
                <a:cubicBezTo>
                  <a:pt x="117" y="163"/>
                  <a:pt x="130" y="153"/>
                  <a:pt x="142" y="142"/>
                </a:cubicBezTo>
                <a:cubicBezTo>
                  <a:pt x="153" y="130"/>
                  <a:pt x="163" y="117"/>
                  <a:pt x="170" y="103"/>
                </a:cubicBezTo>
                <a:cubicBezTo>
                  <a:pt x="67" y="0"/>
                  <a:pt x="67" y="0"/>
                  <a:pt x="67" y="0"/>
                </a:cubicBezTo>
                <a:lnTo>
                  <a:pt x="0" y="67"/>
                </a:ln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26" name="Freeform 7"/>
          <p:cNvSpPr>
            <a:spLocks/>
          </p:cNvSpPr>
          <p:nvPr/>
        </p:nvSpPr>
        <p:spPr bwMode="auto">
          <a:xfrm>
            <a:off x="6888767" y="3868178"/>
            <a:ext cx="1716881" cy="1298972"/>
          </a:xfrm>
          <a:custGeom>
            <a:avLst/>
            <a:gdLst>
              <a:gd name="T0" fmla="*/ 3 w 198"/>
              <a:gd name="T1" fmla="*/ 93 h 150"/>
              <a:gd name="T2" fmla="*/ 192 w 198"/>
              <a:gd name="T3" fmla="*/ 121 h 150"/>
              <a:gd name="T4" fmla="*/ 194 w 198"/>
              <a:gd name="T5" fmla="*/ 109 h 150"/>
              <a:gd name="T6" fmla="*/ 85 w 198"/>
              <a:gd name="T7" fmla="*/ 0 h 150"/>
              <a:gd name="T8" fmla="*/ 3 w 198"/>
              <a:gd name="T9" fmla="*/ 82 h 150"/>
              <a:gd name="T10" fmla="*/ 3 w 198"/>
              <a:gd name="T11" fmla="*/ 93 h 150"/>
            </a:gdLst>
            <a:ahLst/>
            <a:cxnLst>
              <a:cxn ang="0">
                <a:pos x="T0" y="T1"/>
              </a:cxn>
              <a:cxn ang="0">
                <a:pos x="T2" y="T3"/>
              </a:cxn>
              <a:cxn ang="0">
                <a:pos x="T4" y="T5"/>
              </a:cxn>
              <a:cxn ang="0">
                <a:pos x="T6" y="T7"/>
              </a:cxn>
              <a:cxn ang="0">
                <a:pos x="T8" y="T9"/>
              </a:cxn>
              <a:cxn ang="0">
                <a:pos x="T10" y="T11"/>
              </a:cxn>
            </a:cxnLst>
            <a:rect l="0" t="0" r="r" b="b"/>
            <a:pathLst>
              <a:path w="198" h="150">
                <a:moveTo>
                  <a:pt x="3" y="93"/>
                </a:moveTo>
                <a:cubicBezTo>
                  <a:pt x="56" y="141"/>
                  <a:pt x="131" y="150"/>
                  <a:pt x="192" y="121"/>
                </a:cubicBezTo>
                <a:cubicBezTo>
                  <a:pt x="196" y="119"/>
                  <a:pt x="198" y="113"/>
                  <a:pt x="194" y="109"/>
                </a:cubicBezTo>
                <a:cubicBezTo>
                  <a:pt x="85" y="0"/>
                  <a:pt x="85" y="0"/>
                  <a:pt x="85" y="0"/>
                </a:cubicBezTo>
                <a:cubicBezTo>
                  <a:pt x="3" y="82"/>
                  <a:pt x="3" y="82"/>
                  <a:pt x="3" y="82"/>
                </a:cubicBezTo>
                <a:cubicBezTo>
                  <a:pt x="0" y="85"/>
                  <a:pt x="0" y="90"/>
                  <a:pt x="3" y="93"/>
                </a:cubicBez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27" name="Freeform 5"/>
          <p:cNvSpPr>
            <a:spLocks/>
          </p:cNvSpPr>
          <p:nvPr/>
        </p:nvSpPr>
        <p:spPr bwMode="auto">
          <a:xfrm>
            <a:off x="6566186" y="2726285"/>
            <a:ext cx="1334691" cy="1724026"/>
          </a:xfrm>
          <a:custGeom>
            <a:avLst/>
            <a:gdLst>
              <a:gd name="T0" fmla="*/ 55 w 154"/>
              <a:gd name="T1" fmla="*/ 199 h 199"/>
              <a:gd name="T2" fmla="*/ 154 w 154"/>
              <a:gd name="T3" fmla="*/ 100 h 199"/>
              <a:gd name="T4" fmla="*/ 55 w 154"/>
              <a:gd name="T5" fmla="*/ 0 h 199"/>
              <a:gd name="T6" fmla="*/ 55 w 154"/>
              <a:gd name="T7" fmla="*/ 199 h 199"/>
            </a:gdLst>
            <a:ahLst/>
            <a:cxnLst>
              <a:cxn ang="0">
                <a:pos x="T0" y="T1"/>
              </a:cxn>
              <a:cxn ang="0">
                <a:pos x="T2" y="T3"/>
              </a:cxn>
              <a:cxn ang="0">
                <a:pos x="T4" y="T5"/>
              </a:cxn>
              <a:cxn ang="0">
                <a:pos x="T6" y="T7"/>
              </a:cxn>
            </a:cxnLst>
            <a:rect l="0" t="0" r="r" b="b"/>
            <a:pathLst>
              <a:path w="154" h="199">
                <a:moveTo>
                  <a:pt x="55" y="199"/>
                </a:moveTo>
                <a:cubicBezTo>
                  <a:pt x="154" y="100"/>
                  <a:pt x="154" y="100"/>
                  <a:pt x="154" y="100"/>
                </a:cubicBezTo>
                <a:cubicBezTo>
                  <a:pt x="55" y="0"/>
                  <a:pt x="55" y="0"/>
                  <a:pt x="55" y="0"/>
                </a:cubicBezTo>
                <a:cubicBezTo>
                  <a:pt x="0" y="55"/>
                  <a:pt x="0" y="144"/>
                  <a:pt x="55" y="199"/>
                </a:cubicBez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28" name="Freeform 11"/>
          <p:cNvSpPr/>
          <p:nvPr/>
        </p:nvSpPr>
        <p:spPr>
          <a:xfrm flipH="1">
            <a:off x="5817098" y="1952455"/>
            <a:ext cx="1754475" cy="423761"/>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noFill/>
          <a:ln w="6350" cap="flat" cmpd="sng" algn="ctr">
            <a:solidFill>
              <a:srgbClr val="0097B7">
                <a:alpha val="50000"/>
              </a:srgbClr>
            </a:solidFill>
            <a:prstDash val="solid"/>
            <a:miter lim="800000"/>
            <a:headEnd type="none"/>
            <a:tailEnd type="oval" w="lg" len="lg"/>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445469"/>
              </a:solidFill>
              <a:effectLst/>
              <a:uLnTx/>
              <a:uFillTx/>
              <a:latin typeface="Roboto Regular" charset="0"/>
            </a:endParaRPr>
          </a:p>
        </p:txBody>
      </p:sp>
      <p:sp>
        <p:nvSpPr>
          <p:cNvPr id="29" name="TextBox 12"/>
          <p:cNvSpPr txBox="1"/>
          <p:nvPr/>
        </p:nvSpPr>
        <p:spPr>
          <a:xfrm>
            <a:off x="5359645" y="1732709"/>
            <a:ext cx="1704506" cy="499624"/>
          </a:xfrm>
          <a:prstGeom prst="rect">
            <a:avLst/>
          </a:prstGeom>
          <a:noFill/>
        </p:spPr>
        <p:txBody>
          <a:bodyPr wrap="square" lIns="91440" rIns="91440" rtlCol="0">
            <a:spAutoFit/>
          </a:bodyPr>
          <a:lstStyle/>
          <a:p>
            <a:pPr algn="r">
              <a:lnSpc>
                <a:spcPct val="90000"/>
              </a:lnSpc>
              <a:spcBef>
                <a:spcPts val="800"/>
              </a:spcBef>
            </a:pPr>
            <a:r>
              <a:rPr lang="en-US" sz="1200" b="1" dirty="0">
                <a:solidFill>
                  <a:schemeClr val="bg1"/>
                </a:solidFill>
                <a:latin typeface="Avenir 65" panose="02000600000000000000" pitchFamily="2" charset="0"/>
              </a:rPr>
              <a:t>INTEGRAR</a:t>
            </a:r>
          </a:p>
          <a:p>
            <a:pPr algn="r">
              <a:lnSpc>
                <a:spcPct val="90000"/>
              </a:lnSpc>
              <a:spcBef>
                <a:spcPts val="800"/>
              </a:spcBef>
            </a:pPr>
            <a:r>
              <a:rPr lang="en-US" sz="900" b="1" dirty="0">
                <a:solidFill>
                  <a:schemeClr val="bg1"/>
                </a:solidFill>
                <a:latin typeface="Avenir 35" panose="00000400000000000000" pitchFamily="2" charset="0"/>
              </a:rPr>
              <a:t> </a:t>
            </a:r>
          </a:p>
        </p:txBody>
      </p:sp>
      <p:sp>
        <p:nvSpPr>
          <p:cNvPr id="30" name="29 Rectángulo"/>
          <p:cNvSpPr/>
          <p:nvPr/>
        </p:nvSpPr>
        <p:spPr>
          <a:xfrm>
            <a:off x="7738976" y="2593488"/>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01</a:t>
            </a:r>
          </a:p>
        </p:txBody>
      </p:sp>
      <p:sp>
        <p:nvSpPr>
          <p:cNvPr id="31" name="30 Rectángulo"/>
          <p:cNvSpPr/>
          <p:nvPr/>
        </p:nvSpPr>
        <p:spPr>
          <a:xfrm>
            <a:off x="8805233" y="3218966"/>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02</a:t>
            </a:r>
          </a:p>
        </p:txBody>
      </p:sp>
      <p:sp>
        <p:nvSpPr>
          <p:cNvPr id="32" name="31 Rectángulo"/>
          <p:cNvSpPr/>
          <p:nvPr/>
        </p:nvSpPr>
        <p:spPr>
          <a:xfrm>
            <a:off x="8256746" y="4034187"/>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03</a:t>
            </a:r>
          </a:p>
        </p:txBody>
      </p:sp>
      <p:sp>
        <p:nvSpPr>
          <p:cNvPr id="33" name="32 Rectángulo"/>
          <p:cNvSpPr/>
          <p:nvPr/>
        </p:nvSpPr>
        <p:spPr>
          <a:xfrm>
            <a:off x="7476342" y="4424992"/>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04</a:t>
            </a:r>
          </a:p>
        </p:txBody>
      </p:sp>
      <p:sp>
        <p:nvSpPr>
          <p:cNvPr id="34" name="33 Rectángulo"/>
          <p:cNvSpPr/>
          <p:nvPr/>
        </p:nvSpPr>
        <p:spPr>
          <a:xfrm>
            <a:off x="6782398" y="3427522"/>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05</a:t>
            </a:r>
          </a:p>
        </p:txBody>
      </p:sp>
      <p:sp>
        <p:nvSpPr>
          <p:cNvPr id="35" name="34 Elipse"/>
          <p:cNvSpPr/>
          <p:nvPr/>
        </p:nvSpPr>
        <p:spPr>
          <a:xfrm>
            <a:off x="7476343" y="3127727"/>
            <a:ext cx="952172" cy="9521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6" name="Rectangle 45"/>
          <p:cNvSpPr/>
          <p:nvPr/>
        </p:nvSpPr>
        <p:spPr>
          <a:xfrm>
            <a:off x="7558330" y="3307317"/>
            <a:ext cx="776276" cy="583227"/>
          </a:xfrm>
          <a:prstGeom prst="rect">
            <a:avLst/>
          </a:prstGeom>
          <a:no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chemeClr val="tx1">
                    <a:lumMod val="50000"/>
                    <a:lumOff val="50000"/>
                  </a:schemeClr>
                </a:solidFill>
                <a:effectLst/>
                <a:uLnTx/>
                <a:uFillTx/>
                <a:latin typeface="Avenir 35" panose="00000400000000000000" pitchFamily="2" charset="0"/>
              </a:rPr>
              <a:t>Your</a:t>
            </a:r>
          </a:p>
          <a:p>
            <a:pPr marL="0" marR="0" lvl="0" indent="0" algn="ctr" defTabSz="914400" eaLnBrk="1" fontAlgn="auto" latinLnBrk="0" hangingPunct="1">
              <a:lnSpc>
                <a:spcPct val="100000"/>
              </a:lnSpc>
              <a:spcBef>
                <a:spcPts val="0"/>
              </a:spcBef>
              <a:spcAft>
                <a:spcPts val="0"/>
              </a:spcAft>
              <a:buClrTx/>
              <a:buSzTx/>
              <a:buFontTx/>
              <a:buNone/>
              <a:tabLst/>
              <a:defRPr/>
            </a:pPr>
            <a:r>
              <a:rPr lang="en-US" sz="1600" kern="0" dirty="0">
                <a:solidFill>
                  <a:schemeClr val="tx1">
                    <a:lumMod val="50000"/>
                    <a:lumOff val="50000"/>
                  </a:schemeClr>
                </a:solidFill>
                <a:latin typeface="Avenir 35" panose="00000400000000000000" pitchFamily="2" charset="0"/>
              </a:rPr>
              <a:t>Goals</a:t>
            </a:r>
            <a:endParaRPr kumimoji="0" lang="en-US" sz="1600" i="0" u="none" strike="noStrike" kern="0" cap="none" spc="0" normalizeH="0" baseline="0" dirty="0">
              <a:ln>
                <a:noFill/>
              </a:ln>
              <a:solidFill>
                <a:schemeClr val="tx1">
                  <a:lumMod val="50000"/>
                  <a:lumOff val="50000"/>
                </a:schemeClr>
              </a:solidFill>
              <a:effectLst/>
              <a:uLnTx/>
              <a:uFillTx/>
              <a:latin typeface="Avenir 35" panose="00000400000000000000" pitchFamily="2" charset="0"/>
            </a:endParaRPr>
          </a:p>
        </p:txBody>
      </p:sp>
      <p:grpSp>
        <p:nvGrpSpPr>
          <p:cNvPr id="37" name="36 Grupo"/>
          <p:cNvGrpSpPr/>
          <p:nvPr/>
        </p:nvGrpSpPr>
        <p:grpSpPr>
          <a:xfrm>
            <a:off x="2792760" y="3329791"/>
            <a:ext cx="2408668" cy="1400874"/>
            <a:chOff x="560513" y="1569425"/>
            <a:chExt cx="2408668" cy="1400874"/>
          </a:xfrm>
        </p:grpSpPr>
        <p:sp>
          <p:nvSpPr>
            <p:cNvPr id="38" name="Oval 22"/>
            <p:cNvSpPr/>
            <p:nvPr/>
          </p:nvSpPr>
          <p:spPr>
            <a:xfrm>
              <a:off x="1528358" y="1569425"/>
              <a:ext cx="648000" cy="648000"/>
            </a:xfrm>
            <a:prstGeom prst="ellipse">
              <a:avLst/>
            </a:prstGeom>
            <a:solidFill>
              <a:srgbClr val="51C3CA"/>
            </a:solidFill>
            <a:ln w="25400" cap="flat" cmpd="sng" algn="ctr">
              <a:noFill/>
              <a:prstDash val="solid"/>
            </a:ln>
            <a:effectLst/>
          </p:spPr>
          <p:txBody>
            <a:bodyPr lIns="0" rIns="0" rtlCol="0" anchor="ctr"/>
            <a:lstStyle/>
            <a:p>
              <a:pPr algn="ctr">
                <a:lnSpc>
                  <a:spcPts val="2500"/>
                </a:lnSpc>
              </a:pPr>
              <a:endParaRPr lang="es-ES" sz="2000" b="1" kern="0" dirty="0">
                <a:solidFill>
                  <a:schemeClr val="bg1"/>
                </a:solidFill>
                <a:effectLst>
                  <a:outerShdw blurRad="38100" dist="38100" dir="2700000" algn="tl">
                    <a:srgbClr val="000000">
                      <a:alpha val="43137"/>
                    </a:srgbClr>
                  </a:outerShdw>
                </a:effectLst>
                <a:latin typeface="Calibri"/>
              </a:endParaRPr>
            </a:p>
          </p:txBody>
        </p:sp>
        <p:sp>
          <p:nvSpPr>
            <p:cNvPr id="39" name="TextBox 25"/>
            <p:cNvSpPr txBox="1"/>
            <p:nvPr/>
          </p:nvSpPr>
          <p:spPr>
            <a:xfrm>
              <a:off x="560513" y="2600967"/>
              <a:ext cx="2328232" cy="3693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Herramienta óptima en función de necesidades gracias al know-how de Grupo VI</a:t>
              </a:r>
              <a:endParaRPr lang="es-ES" sz="900" b="1" dirty="0">
                <a:solidFill>
                  <a:schemeClr val="bg1">
                    <a:lumMod val="50000"/>
                  </a:schemeClr>
                </a:solidFill>
                <a:latin typeface="Avenir 35" panose="00000400000000000000" pitchFamily="2" charset="0"/>
              </a:endParaRPr>
            </a:p>
          </p:txBody>
        </p:sp>
        <p:sp>
          <p:nvSpPr>
            <p:cNvPr id="40" name="39 CuadroTexto"/>
            <p:cNvSpPr txBox="1"/>
            <p:nvPr/>
          </p:nvSpPr>
          <p:spPr>
            <a:xfrm>
              <a:off x="1717188" y="1825719"/>
              <a:ext cx="39635" cy="131904"/>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19594" tIns="19594" rIns="19594" bIns="19594" numCol="1" spcCol="38100" rtlCol="0" anchor="t">
              <a:spAutoFit/>
            </a:bodyPr>
            <a:lstStyle/>
            <a:p>
              <a:pPr rtl="0" latinLnBrk="1" hangingPunct="0"/>
              <a:endParaRPr lang="es-ES" sz="600" b="1" dirty="0">
                <a:solidFill>
                  <a:schemeClr val="bg1"/>
                </a:solidFill>
                <a:latin typeface="Arial" panose="020B0604020202020204" pitchFamily="34" charset="0"/>
                <a:cs typeface="Arial" panose="020B0604020202020204" pitchFamily="34" charset="0"/>
              </a:endParaRPr>
            </a:p>
          </p:txBody>
        </p:sp>
        <p:sp>
          <p:nvSpPr>
            <p:cNvPr id="41" name="TextBox 26"/>
            <p:cNvSpPr txBox="1"/>
            <p:nvPr/>
          </p:nvSpPr>
          <p:spPr>
            <a:xfrm>
              <a:off x="672126" y="2352577"/>
              <a:ext cx="2297055"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HERRAMIENTA</a:t>
              </a:r>
            </a:p>
          </p:txBody>
        </p:sp>
        <p:sp>
          <p:nvSpPr>
            <p:cNvPr id="42" name="Freeform 152"/>
            <p:cNvSpPr>
              <a:spLocks noEditPoints="1"/>
            </p:cNvSpPr>
            <p:nvPr/>
          </p:nvSpPr>
          <p:spPr bwMode="auto">
            <a:xfrm>
              <a:off x="1686021" y="1732707"/>
              <a:ext cx="332674" cy="326020"/>
            </a:xfrm>
            <a:custGeom>
              <a:avLst/>
              <a:gdLst>
                <a:gd name="T0" fmla="*/ 396 w 520"/>
                <a:gd name="T1" fmla="*/ 294 h 510"/>
                <a:gd name="T2" fmla="*/ 385 w 520"/>
                <a:gd name="T3" fmla="*/ 283 h 510"/>
                <a:gd name="T4" fmla="*/ 370 w 520"/>
                <a:gd name="T5" fmla="*/ 297 h 510"/>
                <a:gd name="T6" fmla="*/ 342 w 520"/>
                <a:gd name="T7" fmla="*/ 326 h 510"/>
                <a:gd name="T8" fmla="*/ 414 w 520"/>
                <a:gd name="T9" fmla="*/ 161 h 510"/>
                <a:gd name="T10" fmla="*/ 491 w 520"/>
                <a:gd name="T11" fmla="*/ 140 h 510"/>
                <a:gd name="T12" fmla="*/ 506 w 520"/>
                <a:gd name="T13" fmla="*/ 52 h 510"/>
                <a:gd name="T14" fmla="*/ 465 w 520"/>
                <a:gd name="T15" fmla="*/ 88 h 510"/>
                <a:gd name="T16" fmla="*/ 428 w 520"/>
                <a:gd name="T17" fmla="*/ 50 h 510"/>
                <a:gd name="T18" fmla="*/ 463 w 520"/>
                <a:gd name="T19" fmla="*/ 9 h 510"/>
                <a:gd name="T20" fmla="*/ 433 w 520"/>
                <a:gd name="T21" fmla="*/ 0 h 510"/>
                <a:gd name="T22" fmla="*/ 354 w 520"/>
                <a:gd name="T23" fmla="*/ 101 h 510"/>
                <a:gd name="T24" fmla="*/ 123 w 520"/>
                <a:gd name="T25" fmla="*/ 107 h 510"/>
                <a:gd name="T26" fmla="*/ 133 w 520"/>
                <a:gd name="T27" fmla="*/ 85 h 510"/>
                <a:gd name="T28" fmla="*/ 45 w 520"/>
                <a:gd name="T29" fmla="*/ 8 h 510"/>
                <a:gd name="T30" fmla="*/ 11 w 520"/>
                <a:gd name="T31" fmla="*/ 45 h 510"/>
                <a:gd name="T32" fmla="*/ 90 w 520"/>
                <a:gd name="T33" fmla="*/ 128 h 510"/>
                <a:gd name="T34" fmla="*/ 102 w 520"/>
                <a:gd name="T35" fmla="*/ 128 h 510"/>
                <a:gd name="T36" fmla="*/ 224 w 520"/>
                <a:gd name="T37" fmla="*/ 230 h 510"/>
                <a:gd name="T38" fmla="*/ 87 w 520"/>
                <a:gd name="T39" fmla="*/ 346 h 510"/>
                <a:gd name="T40" fmla="*/ 9 w 520"/>
                <a:gd name="T41" fmla="*/ 452 h 510"/>
                <a:gd name="T42" fmla="*/ 22 w 520"/>
                <a:gd name="T43" fmla="*/ 455 h 510"/>
                <a:gd name="T44" fmla="*/ 85 w 520"/>
                <a:gd name="T45" fmla="*/ 430 h 510"/>
                <a:gd name="T46" fmla="*/ 60 w 520"/>
                <a:gd name="T47" fmla="*/ 493 h 510"/>
                <a:gd name="T48" fmla="*/ 63 w 520"/>
                <a:gd name="T49" fmla="*/ 506 h 510"/>
                <a:gd name="T50" fmla="*/ 145 w 520"/>
                <a:gd name="T51" fmla="*/ 486 h 510"/>
                <a:gd name="T52" fmla="*/ 285 w 520"/>
                <a:gd name="T53" fmla="*/ 291 h 510"/>
                <a:gd name="T54" fmla="*/ 288 w 520"/>
                <a:gd name="T55" fmla="*/ 380 h 510"/>
                <a:gd name="T56" fmla="*/ 293 w 520"/>
                <a:gd name="T57" fmla="*/ 394 h 510"/>
                <a:gd name="T58" fmla="*/ 308 w 520"/>
                <a:gd name="T59" fmla="*/ 382 h 510"/>
                <a:gd name="T60" fmla="*/ 452 w 520"/>
                <a:gd name="T61" fmla="*/ 502 h 510"/>
                <a:gd name="T62" fmla="*/ 508 w 520"/>
                <a:gd name="T63" fmla="*/ 447 h 510"/>
                <a:gd name="T64" fmla="*/ 387 w 520"/>
                <a:gd name="T65" fmla="*/ 303 h 510"/>
                <a:gd name="T66" fmla="*/ 30 w 520"/>
                <a:gd name="T67" fmla="*/ 45 h 510"/>
                <a:gd name="T68" fmla="*/ 116 w 520"/>
                <a:gd name="T69" fmla="*/ 91 h 510"/>
                <a:gd name="T70" fmla="*/ 150 w 520"/>
                <a:gd name="T71" fmla="*/ 409 h 510"/>
                <a:gd name="T72" fmla="*/ 87 w 520"/>
                <a:gd name="T73" fmla="*/ 494 h 510"/>
                <a:gd name="T74" fmla="*/ 107 w 520"/>
                <a:gd name="T75" fmla="*/ 468 h 510"/>
                <a:gd name="T76" fmla="*/ 99 w 520"/>
                <a:gd name="T77" fmla="*/ 421 h 510"/>
                <a:gd name="T78" fmla="*/ 54 w 520"/>
                <a:gd name="T79" fmla="*/ 406 h 510"/>
                <a:gd name="T80" fmla="*/ 21 w 520"/>
                <a:gd name="T81" fmla="*/ 433 h 510"/>
                <a:gd name="T82" fmla="*/ 87 w 520"/>
                <a:gd name="T83" fmla="*/ 362 h 510"/>
                <a:gd name="T84" fmla="*/ 114 w 520"/>
                <a:gd name="T85" fmla="*/ 363 h 510"/>
                <a:gd name="T86" fmla="*/ 370 w 520"/>
                <a:gd name="T87" fmla="*/ 101 h 510"/>
                <a:gd name="T88" fmla="*/ 433 w 520"/>
                <a:gd name="T89" fmla="*/ 16 h 510"/>
                <a:gd name="T90" fmla="*/ 413 w 520"/>
                <a:gd name="T91" fmla="*/ 42 h 510"/>
                <a:gd name="T92" fmla="*/ 421 w 520"/>
                <a:gd name="T93" fmla="*/ 88 h 510"/>
                <a:gd name="T94" fmla="*/ 466 w 520"/>
                <a:gd name="T95" fmla="*/ 104 h 510"/>
                <a:gd name="T96" fmla="*/ 499 w 520"/>
                <a:gd name="T97" fmla="*/ 76 h 510"/>
                <a:gd name="T98" fmla="*/ 433 w 520"/>
                <a:gd name="T99" fmla="*/ 147 h 510"/>
                <a:gd name="T100" fmla="*/ 406 w 520"/>
                <a:gd name="T101" fmla="*/ 147 h 510"/>
                <a:gd name="T102" fmla="*/ 150 w 520"/>
                <a:gd name="T103" fmla="*/ 409 h 510"/>
                <a:gd name="T104" fmla="*/ 424 w 520"/>
                <a:gd name="T105" fmla="*/ 475 h 510"/>
                <a:gd name="T106" fmla="*/ 376 w 520"/>
                <a:gd name="T107" fmla="*/ 314 h 510"/>
                <a:gd name="T108" fmla="*/ 492 w 520"/>
                <a:gd name="T109" fmla="*/ 447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0" h="510">
                  <a:moveTo>
                    <a:pt x="387" y="303"/>
                  </a:moveTo>
                  <a:cubicBezTo>
                    <a:pt x="396" y="294"/>
                    <a:pt x="396" y="294"/>
                    <a:pt x="396" y="294"/>
                  </a:cubicBezTo>
                  <a:cubicBezTo>
                    <a:pt x="399" y="291"/>
                    <a:pt x="399" y="286"/>
                    <a:pt x="396" y="283"/>
                  </a:cubicBezTo>
                  <a:cubicBezTo>
                    <a:pt x="393" y="279"/>
                    <a:pt x="388" y="279"/>
                    <a:pt x="385" y="283"/>
                  </a:cubicBezTo>
                  <a:cubicBezTo>
                    <a:pt x="370" y="297"/>
                    <a:pt x="370" y="297"/>
                    <a:pt x="370" y="297"/>
                  </a:cubicBezTo>
                  <a:cubicBezTo>
                    <a:pt x="370" y="297"/>
                    <a:pt x="370" y="297"/>
                    <a:pt x="370" y="297"/>
                  </a:cubicBezTo>
                  <a:cubicBezTo>
                    <a:pt x="370" y="297"/>
                    <a:pt x="370" y="297"/>
                    <a:pt x="370" y="297"/>
                  </a:cubicBezTo>
                  <a:cubicBezTo>
                    <a:pt x="342" y="326"/>
                    <a:pt x="342" y="326"/>
                    <a:pt x="342" y="326"/>
                  </a:cubicBezTo>
                  <a:cubicBezTo>
                    <a:pt x="296" y="280"/>
                    <a:pt x="296" y="280"/>
                    <a:pt x="296" y="280"/>
                  </a:cubicBezTo>
                  <a:cubicBezTo>
                    <a:pt x="414" y="161"/>
                    <a:pt x="414" y="161"/>
                    <a:pt x="414" y="161"/>
                  </a:cubicBezTo>
                  <a:cubicBezTo>
                    <a:pt x="421" y="163"/>
                    <a:pt x="427" y="163"/>
                    <a:pt x="433" y="163"/>
                  </a:cubicBezTo>
                  <a:cubicBezTo>
                    <a:pt x="455" y="163"/>
                    <a:pt x="476" y="155"/>
                    <a:pt x="491" y="140"/>
                  </a:cubicBezTo>
                  <a:cubicBezTo>
                    <a:pt x="513" y="118"/>
                    <a:pt x="520" y="87"/>
                    <a:pt x="512" y="58"/>
                  </a:cubicBezTo>
                  <a:cubicBezTo>
                    <a:pt x="511" y="55"/>
                    <a:pt x="509" y="53"/>
                    <a:pt x="506" y="52"/>
                  </a:cubicBezTo>
                  <a:cubicBezTo>
                    <a:pt x="503" y="52"/>
                    <a:pt x="500" y="53"/>
                    <a:pt x="498" y="55"/>
                  </a:cubicBezTo>
                  <a:cubicBezTo>
                    <a:pt x="465" y="88"/>
                    <a:pt x="465" y="88"/>
                    <a:pt x="465" y="88"/>
                  </a:cubicBezTo>
                  <a:cubicBezTo>
                    <a:pt x="435" y="80"/>
                    <a:pt x="435" y="80"/>
                    <a:pt x="435" y="80"/>
                  </a:cubicBezTo>
                  <a:cubicBezTo>
                    <a:pt x="428" y="50"/>
                    <a:pt x="428" y="50"/>
                    <a:pt x="428" y="50"/>
                  </a:cubicBezTo>
                  <a:cubicBezTo>
                    <a:pt x="461" y="17"/>
                    <a:pt x="461" y="17"/>
                    <a:pt x="461" y="17"/>
                  </a:cubicBezTo>
                  <a:cubicBezTo>
                    <a:pt x="463" y="15"/>
                    <a:pt x="463" y="12"/>
                    <a:pt x="463" y="9"/>
                  </a:cubicBezTo>
                  <a:cubicBezTo>
                    <a:pt x="462" y="6"/>
                    <a:pt x="460" y="4"/>
                    <a:pt x="457" y="3"/>
                  </a:cubicBezTo>
                  <a:cubicBezTo>
                    <a:pt x="449" y="1"/>
                    <a:pt x="441" y="0"/>
                    <a:pt x="433" y="0"/>
                  </a:cubicBezTo>
                  <a:cubicBezTo>
                    <a:pt x="411" y="0"/>
                    <a:pt x="391" y="8"/>
                    <a:pt x="376" y="24"/>
                  </a:cubicBezTo>
                  <a:cubicBezTo>
                    <a:pt x="355" y="44"/>
                    <a:pt x="347" y="73"/>
                    <a:pt x="354" y="101"/>
                  </a:cubicBezTo>
                  <a:cubicBezTo>
                    <a:pt x="236" y="219"/>
                    <a:pt x="236" y="219"/>
                    <a:pt x="236" y="219"/>
                  </a:cubicBezTo>
                  <a:cubicBezTo>
                    <a:pt x="123" y="107"/>
                    <a:pt x="123" y="107"/>
                    <a:pt x="123" y="107"/>
                  </a:cubicBezTo>
                  <a:cubicBezTo>
                    <a:pt x="133" y="97"/>
                    <a:pt x="133" y="97"/>
                    <a:pt x="133" y="97"/>
                  </a:cubicBezTo>
                  <a:cubicBezTo>
                    <a:pt x="137" y="93"/>
                    <a:pt x="137" y="88"/>
                    <a:pt x="133" y="85"/>
                  </a:cubicBezTo>
                  <a:cubicBezTo>
                    <a:pt x="56" y="8"/>
                    <a:pt x="56" y="8"/>
                    <a:pt x="56" y="8"/>
                  </a:cubicBezTo>
                  <a:cubicBezTo>
                    <a:pt x="53" y="5"/>
                    <a:pt x="48" y="5"/>
                    <a:pt x="45" y="8"/>
                  </a:cubicBezTo>
                  <a:cubicBezTo>
                    <a:pt x="13" y="40"/>
                    <a:pt x="13" y="40"/>
                    <a:pt x="13" y="40"/>
                  </a:cubicBezTo>
                  <a:cubicBezTo>
                    <a:pt x="12" y="41"/>
                    <a:pt x="11" y="43"/>
                    <a:pt x="11" y="45"/>
                  </a:cubicBezTo>
                  <a:cubicBezTo>
                    <a:pt x="11" y="47"/>
                    <a:pt x="12" y="50"/>
                    <a:pt x="13" y="51"/>
                  </a:cubicBezTo>
                  <a:cubicBezTo>
                    <a:pt x="90" y="128"/>
                    <a:pt x="90" y="128"/>
                    <a:pt x="90" y="128"/>
                  </a:cubicBezTo>
                  <a:cubicBezTo>
                    <a:pt x="92" y="130"/>
                    <a:pt x="94" y="131"/>
                    <a:pt x="96" y="131"/>
                  </a:cubicBezTo>
                  <a:cubicBezTo>
                    <a:pt x="98" y="131"/>
                    <a:pt x="100" y="130"/>
                    <a:pt x="102" y="128"/>
                  </a:cubicBezTo>
                  <a:cubicBezTo>
                    <a:pt x="112" y="118"/>
                    <a:pt x="112" y="118"/>
                    <a:pt x="112" y="118"/>
                  </a:cubicBezTo>
                  <a:cubicBezTo>
                    <a:pt x="224" y="230"/>
                    <a:pt x="224" y="230"/>
                    <a:pt x="224" y="230"/>
                  </a:cubicBezTo>
                  <a:cubicBezTo>
                    <a:pt x="106" y="349"/>
                    <a:pt x="106" y="349"/>
                    <a:pt x="106" y="349"/>
                  </a:cubicBezTo>
                  <a:cubicBezTo>
                    <a:pt x="100" y="347"/>
                    <a:pt x="93" y="346"/>
                    <a:pt x="87" y="346"/>
                  </a:cubicBezTo>
                  <a:cubicBezTo>
                    <a:pt x="65" y="346"/>
                    <a:pt x="44" y="355"/>
                    <a:pt x="29" y="370"/>
                  </a:cubicBezTo>
                  <a:cubicBezTo>
                    <a:pt x="8" y="392"/>
                    <a:pt x="0" y="423"/>
                    <a:pt x="9" y="452"/>
                  </a:cubicBezTo>
                  <a:cubicBezTo>
                    <a:pt x="9" y="455"/>
                    <a:pt x="12" y="457"/>
                    <a:pt x="14" y="457"/>
                  </a:cubicBezTo>
                  <a:cubicBezTo>
                    <a:pt x="17" y="458"/>
                    <a:pt x="20" y="457"/>
                    <a:pt x="22" y="455"/>
                  </a:cubicBezTo>
                  <a:cubicBezTo>
                    <a:pt x="55" y="422"/>
                    <a:pt x="55" y="422"/>
                    <a:pt x="55" y="422"/>
                  </a:cubicBezTo>
                  <a:cubicBezTo>
                    <a:pt x="85" y="430"/>
                    <a:pt x="85" y="430"/>
                    <a:pt x="85" y="430"/>
                  </a:cubicBezTo>
                  <a:cubicBezTo>
                    <a:pt x="93" y="460"/>
                    <a:pt x="93" y="460"/>
                    <a:pt x="93" y="460"/>
                  </a:cubicBezTo>
                  <a:cubicBezTo>
                    <a:pt x="60" y="493"/>
                    <a:pt x="60" y="493"/>
                    <a:pt x="60" y="493"/>
                  </a:cubicBezTo>
                  <a:cubicBezTo>
                    <a:pt x="58" y="495"/>
                    <a:pt x="57" y="498"/>
                    <a:pt x="58" y="501"/>
                  </a:cubicBezTo>
                  <a:cubicBezTo>
                    <a:pt x="58" y="503"/>
                    <a:pt x="60" y="506"/>
                    <a:pt x="63" y="506"/>
                  </a:cubicBezTo>
                  <a:cubicBezTo>
                    <a:pt x="71" y="509"/>
                    <a:pt x="79" y="510"/>
                    <a:pt x="87" y="510"/>
                  </a:cubicBezTo>
                  <a:cubicBezTo>
                    <a:pt x="109" y="510"/>
                    <a:pt x="129" y="502"/>
                    <a:pt x="145" y="486"/>
                  </a:cubicBezTo>
                  <a:cubicBezTo>
                    <a:pt x="165" y="466"/>
                    <a:pt x="173" y="437"/>
                    <a:pt x="166" y="409"/>
                  </a:cubicBezTo>
                  <a:cubicBezTo>
                    <a:pt x="285" y="291"/>
                    <a:pt x="285" y="291"/>
                    <a:pt x="285" y="291"/>
                  </a:cubicBezTo>
                  <a:cubicBezTo>
                    <a:pt x="331" y="337"/>
                    <a:pt x="331" y="337"/>
                    <a:pt x="331" y="337"/>
                  </a:cubicBezTo>
                  <a:cubicBezTo>
                    <a:pt x="288" y="380"/>
                    <a:pt x="288" y="380"/>
                    <a:pt x="288" y="380"/>
                  </a:cubicBezTo>
                  <a:cubicBezTo>
                    <a:pt x="285" y="383"/>
                    <a:pt x="285" y="388"/>
                    <a:pt x="288" y="391"/>
                  </a:cubicBezTo>
                  <a:cubicBezTo>
                    <a:pt x="289" y="393"/>
                    <a:pt x="291" y="394"/>
                    <a:pt x="293" y="394"/>
                  </a:cubicBezTo>
                  <a:cubicBezTo>
                    <a:pt x="295" y="394"/>
                    <a:pt x="298" y="393"/>
                    <a:pt x="299" y="391"/>
                  </a:cubicBezTo>
                  <a:cubicBezTo>
                    <a:pt x="308" y="382"/>
                    <a:pt x="308" y="382"/>
                    <a:pt x="308" y="382"/>
                  </a:cubicBezTo>
                  <a:cubicBezTo>
                    <a:pt x="412" y="486"/>
                    <a:pt x="412" y="486"/>
                    <a:pt x="412" y="486"/>
                  </a:cubicBezTo>
                  <a:cubicBezTo>
                    <a:pt x="423" y="497"/>
                    <a:pt x="437" y="502"/>
                    <a:pt x="452" y="502"/>
                  </a:cubicBezTo>
                  <a:cubicBezTo>
                    <a:pt x="466" y="502"/>
                    <a:pt x="480" y="497"/>
                    <a:pt x="491" y="486"/>
                  </a:cubicBezTo>
                  <a:cubicBezTo>
                    <a:pt x="502" y="475"/>
                    <a:pt x="508" y="461"/>
                    <a:pt x="508" y="447"/>
                  </a:cubicBezTo>
                  <a:cubicBezTo>
                    <a:pt x="508" y="432"/>
                    <a:pt x="502" y="418"/>
                    <a:pt x="491" y="407"/>
                  </a:cubicBezTo>
                  <a:lnTo>
                    <a:pt x="387" y="303"/>
                  </a:lnTo>
                  <a:close/>
                  <a:moveTo>
                    <a:pt x="96" y="111"/>
                  </a:moveTo>
                  <a:cubicBezTo>
                    <a:pt x="30" y="45"/>
                    <a:pt x="30" y="45"/>
                    <a:pt x="30" y="45"/>
                  </a:cubicBezTo>
                  <a:cubicBezTo>
                    <a:pt x="51" y="25"/>
                    <a:pt x="51" y="25"/>
                    <a:pt x="51" y="25"/>
                  </a:cubicBezTo>
                  <a:cubicBezTo>
                    <a:pt x="116" y="91"/>
                    <a:pt x="116" y="91"/>
                    <a:pt x="116" y="91"/>
                  </a:cubicBezTo>
                  <a:lnTo>
                    <a:pt x="96" y="111"/>
                  </a:lnTo>
                  <a:close/>
                  <a:moveTo>
                    <a:pt x="150" y="409"/>
                  </a:moveTo>
                  <a:cubicBezTo>
                    <a:pt x="157" y="432"/>
                    <a:pt x="151" y="458"/>
                    <a:pt x="133" y="475"/>
                  </a:cubicBezTo>
                  <a:cubicBezTo>
                    <a:pt x="121" y="487"/>
                    <a:pt x="104" y="494"/>
                    <a:pt x="87" y="494"/>
                  </a:cubicBezTo>
                  <a:cubicBezTo>
                    <a:pt x="85" y="494"/>
                    <a:pt x="83" y="494"/>
                    <a:pt x="82" y="494"/>
                  </a:cubicBezTo>
                  <a:cubicBezTo>
                    <a:pt x="107" y="468"/>
                    <a:pt x="107" y="468"/>
                    <a:pt x="107" y="468"/>
                  </a:cubicBezTo>
                  <a:cubicBezTo>
                    <a:pt x="109" y="466"/>
                    <a:pt x="110" y="463"/>
                    <a:pt x="109" y="461"/>
                  </a:cubicBezTo>
                  <a:cubicBezTo>
                    <a:pt x="99" y="421"/>
                    <a:pt x="99" y="421"/>
                    <a:pt x="99" y="421"/>
                  </a:cubicBezTo>
                  <a:cubicBezTo>
                    <a:pt x="99" y="419"/>
                    <a:pt x="96" y="416"/>
                    <a:pt x="94" y="416"/>
                  </a:cubicBezTo>
                  <a:cubicBezTo>
                    <a:pt x="54" y="406"/>
                    <a:pt x="54" y="406"/>
                    <a:pt x="54" y="406"/>
                  </a:cubicBezTo>
                  <a:cubicBezTo>
                    <a:pt x="52" y="405"/>
                    <a:pt x="49" y="406"/>
                    <a:pt x="47" y="408"/>
                  </a:cubicBezTo>
                  <a:cubicBezTo>
                    <a:pt x="21" y="433"/>
                    <a:pt x="21" y="433"/>
                    <a:pt x="21" y="433"/>
                  </a:cubicBezTo>
                  <a:cubicBezTo>
                    <a:pt x="20" y="414"/>
                    <a:pt x="27" y="395"/>
                    <a:pt x="40" y="382"/>
                  </a:cubicBezTo>
                  <a:cubicBezTo>
                    <a:pt x="53" y="369"/>
                    <a:pt x="69" y="362"/>
                    <a:pt x="87" y="362"/>
                  </a:cubicBezTo>
                  <a:cubicBezTo>
                    <a:pt x="93" y="362"/>
                    <a:pt x="100" y="363"/>
                    <a:pt x="106" y="365"/>
                  </a:cubicBezTo>
                  <a:cubicBezTo>
                    <a:pt x="109" y="366"/>
                    <a:pt x="112" y="365"/>
                    <a:pt x="114" y="363"/>
                  </a:cubicBezTo>
                  <a:cubicBezTo>
                    <a:pt x="368" y="109"/>
                    <a:pt x="368" y="109"/>
                    <a:pt x="368" y="109"/>
                  </a:cubicBezTo>
                  <a:cubicBezTo>
                    <a:pt x="371" y="107"/>
                    <a:pt x="371" y="104"/>
                    <a:pt x="370" y="101"/>
                  </a:cubicBezTo>
                  <a:cubicBezTo>
                    <a:pt x="363" y="78"/>
                    <a:pt x="370" y="52"/>
                    <a:pt x="387" y="35"/>
                  </a:cubicBezTo>
                  <a:cubicBezTo>
                    <a:pt x="399" y="23"/>
                    <a:pt x="416" y="16"/>
                    <a:pt x="433" y="16"/>
                  </a:cubicBezTo>
                  <a:cubicBezTo>
                    <a:pt x="435" y="16"/>
                    <a:pt x="437" y="16"/>
                    <a:pt x="439" y="16"/>
                  </a:cubicBezTo>
                  <a:cubicBezTo>
                    <a:pt x="413" y="42"/>
                    <a:pt x="413" y="42"/>
                    <a:pt x="413" y="42"/>
                  </a:cubicBezTo>
                  <a:cubicBezTo>
                    <a:pt x="411" y="44"/>
                    <a:pt x="410" y="47"/>
                    <a:pt x="411" y="49"/>
                  </a:cubicBezTo>
                  <a:cubicBezTo>
                    <a:pt x="421" y="88"/>
                    <a:pt x="421" y="88"/>
                    <a:pt x="421" y="88"/>
                  </a:cubicBezTo>
                  <a:cubicBezTo>
                    <a:pt x="421" y="91"/>
                    <a:pt x="424" y="94"/>
                    <a:pt x="427" y="94"/>
                  </a:cubicBezTo>
                  <a:cubicBezTo>
                    <a:pt x="466" y="104"/>
                    <a:pt x="466" y="104"/>
                    <a:pt x="466" y="104"/>
                  </a:cubicBezTo>
                  <a:cubicBezTo>
                    <a:pt x="469" y="105"/>
                    <a:pt x="471" y="104"/>
                    <a:pt x="473" y="102"/>
                  </a:cubicBezTo>
                  <a:cubicBezTo>
                    <a:pt x="499" y="76"/>
                    <a:pt x="499" y="76"/>
                    <a:pt x="499" y="76"/>
                  </a:cubicBezTo>
                  <a:cubicBezTo>
                    <a:pt x="500" y="95"/>
                    <a:pt x="494" y="114"/>
                    <a:pt x="480" y="128"/>
                  </a:cubicBezTo>
                  <a:cubicBezTo>
                    <a:pt x="467" y="141"/>
                    <a:pt x="451" y="147"/>
                    <a:pt x="433" y="147"/>
                  </a:cubicBezTo>
                  <a:cubicBezTo>
                    <a:pt x="427" y="147"/>
                    <a:pt x="420" y="147"/>
                    <a:pt x="414" y="145"/>
                  </a:cubicBezTo>
                  <a:cubicBezTo>
                    <a:pt x="411" y="144"/>
                    <a:pt x="408" y="145"/>
                    <a:pt x="406" y="147"/>
                  </a:cubicBezTo>
                  <a:cubicBezTo>
                    <a:pt x="152" y="401"/>
                    <a:pt x="152" y="401"/>
                    <a:pt x="152" y="401"/>
                  </a:cubicBezTo>
                  <a:cubicBezTo>
                    <a:pt x="150" y="403"/>
                    <a:pt x="149" y="406"/>
                    <a:pt x="150" y="409"/>
                  </a:cubicBezTo>
                  <a:close/>
                  <a:moveTo>
                    <a:pt x="480" y="475"/>
                  </a:moveTo>
                  <a:cubicBezTo>
                    <a:pt x="464" y="490"/>
                    <a:pt x="439" y="490"/>
                    <a:pt x="424" y="475"/>
                  </a:cubicBezTo>
                  <a:cubicBezTo>
                    <a:pt x="320" y="371"/>
                    <a:pt x="320" y="371"/>
                    <a:pt x="320" y="371"/>
                  </a:cubicBezTo>
                  <a:cubicBezTo>
                    <a:pt x="376" y="314"/>
                    <a:pt x="376" y="314"/>
                    <a:pt x="376" y="314"/>
                  </a:cubicBezTo>
                  <a:cubicBezTo>
                    <a:pt x="480" y="418"/>
                    <a:pt x="480" y="418"/>
                    <a:pt x="480" y="418"/>
                  </a:cubicBezTo>
                  <a:cubicBezTo>
                    <a:pt x="487" y="426"/>
                    <a:pt x="492" y="436"/>
                    <a:pt x="492" y="447"/>
                  </a:cubicBezTo>
                  <a:cubicBezTo>
                    <a:pt x="492" y="457"/>
                    <a:pt x="487" y="467"/>
                    <a:pt x="480" y="475"/>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s-ES" sz="1800" dirty="0">
                <a:solidFill>
                  <a:schemeClr val="bg1"/>
                </a:solidFill>
              </a:endParaRPr>
            </a:p>
          </p:txBody>
        </p:sp>
      </p:grpSp>
      <p:sp>
        <p:nvSpPr>
          <p:cNvPr id="43" name="Freeform 381"/>
          <p:cNvSpPr>
            <a:spLocks noEditPoints="1"/>
          </p:cNvSpPr>
          <p:nvPr/>
        </p:nvSpPr>
        <p:spPr bwMode="auto">
          <a:xfrm>
            <a:off x="3986856" y="1732707"/>
            <a:ext cx="188748" cy="341978"/>
          </a:xfrm>
          <a:custGeom>
            <a:avLst/>
            <a:gdLst>
              <a:gd name="T0" fmla="*/ 102 w 102"/>
              <a:gd name="T1" fmla="*/ 92 h 185"/>
              <a:gd name="T2" fmla="*/ 100 w 102"/>
              <a:gd name="T3" fmla="*/ 89 h 185"/>
              <a:gd name="T4" fmla="*/ 100 w 102"/>
              <a:gd name="T5" fmla="*/ 89 h 185"/>
              <a:gd name="T6" fmla="*/ 7 w 102"/>
              <a:gd name="T7" fmla="*/ 1 h 185"/>
              <a:gd name="T8" fmla="*/ 7 w 102"/>
              <a:gd name="T9" fmla="*/ 1 h 185"/>
              <a:gd name="T10" fmla="*/ 5 w 102"/>
              <a:gd name="T11" fmla="*/ 0 h 185"/>
              <a:gd name="T12" fmla="*/ 0 w 102"/>
              <a:gd name="T13" fmla="*/ 4 h 185"/>
              <a:gd name="T14" fmla="*/ 0 w 102"/>
              <a:gd name="T15" fmla="*/ 181 h 185"/>
              <a:gd name="T16" fmla="*/ 5 w 102"/>
              <a:gd name="T17" fmla="*/ 185 h 185"/>
              <a:gd name="T18" fmla="*/ 7 w 102"/>
              <a:gd name="T19" fmla="*/ 184 h 185"/>
              <a:gd name="T20" fmla="*/ 7 w 102"/>
              <a:gd name="T21" fmla="*/ 184 h 185"/>
              <a:gd name="T22" fmla="*/ 100 w 102"/>
              <a:gd name="T23" fmla="*/ 95 h 185"/>
              <a:gd name="T24" fmla="*/ 100 w 102"/>
              <a:gd name="T25" fmla="*/ 95 h 185"/>
              <a:gd name="T26" fmla="*/ 102 w 102"/>
              <a:gd name="T27" fmla="*/ 92 h 185"/>
              <a:gd name="T28" fmla="*/ 9 w 102"/>
              <a:gd name="T29" fmla="*/ 171 h 185"/>
              <a:gd name="T30" fmla="*/ 9 w 102"/>
              <a:gd name="T31" fmla="*/ 14 h 185"/>
              <a:gd name="T32" fmla="*/ 91 w 102"/>
              <a:gd name="T33" fmla="*/ 92 h 185"/>
              <a:gd name="T34" fmla="*/ 9 w 102"/>
              <a:gd name="T35" fmla="*/ 17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85">
                <a:moveTo>
                  <a:pt x="102" y="92"/>
                </a:moveTo>
                <a:cubicBezTo>
                  <a:pt x="102" y="91"/>
                  <a:pt x="101" y="90"/>
                  <a:pt x="100" y="89"/>
                </a:cubicBezTo>
                <a:cubicBezTo>
                  <a:pt x="100" y="89"/>
                  <a:pt x="100" y="89"/>
                  <a:pt x="100" y="89"/>
                </a:cubicBezTo>
                <a:cubicBezTo>
                  <a:pt x="7" y="1"/>
                  <a:pt x="7" y="1"/>
                  <a:pt x="7" y="1"/>
                </a:cubicBezTo>
                <a:cubicBezTo>
                  <a:pt x="7" y="1"/>
                  <a:pt x="7" y="1"/>
                  <a:pt x="7" y="1"/>
                </a:cubicBezTo>
                <a:cubicBezTo>
                  <a:pt x="7" y="0"/>
                  <a:pt x="6" y="0"/>
                  <a:pt x="5" y="0"/>
                </a:cubicBezTo>
                <a:cubicBezTo>
                  <a:pt x="2" y="0"/>
                  <a:pt x="0" y="1"/>
                  <a:pt x="0" y="4"/>
                </a:cubicBezTo>
                <a:cubicBezTo>
                  <a:pt x="0" y="181"/>
                  <a:pt x="0" y="181"/>
                  <a:pt x="0" y="181"/>
                </a:cubicBezTo>
                <a:cubicBezTo>
                  <a:pt x="0" y="183"/>
                  <a:pt x="2" y="185"/>
                  <a:pt x="5" y="185"/>
                </a:cubicBezTo>
                <a:cubicBezTo>
                  <a:pt x="6" y="185"/>
                  <a:pt x="7" y="185"/>
                  <a:pt x="7" y="184"/>
                </a:cubicBezTo>
                <a:cubicBezTo>
                  <a:pt x="7" y="184"/>
                  <a:pt x="7" y="184"/>
                  <a:pt x="7" y="184"/>
                </a:cubicBezTo>
                <a:cubicBezTo>
                  <a:pt x="100" y="95"/>
                  <a:pt x="100" y="95"/>
                  <a:pt x="100" y="95"/>
                </a:cubicBezTo>
                <a:cubicBezTo>
                  <a:pt x="100" y="95"/>
                  <a:pt x="100" y="95"/>
                  <a:pt x="100" y="95"/>
                </a:cubicBezTo>
                <a:cubicBezTo>
                  <a:pt x="101" y="95"/>
                  <a:pt x="102" y="94"/>
                  <a:pt x="102" y="92"/>
                </a:cubicBezTo>
                <a:close/>
                <a:moveTo>
                  <a:pt x="9" y="171"/>
                </a:moveTo>
                <a:cubicBezTo>
                  <a:pt x="9" y="14"/>
                  <a:pt x="9" y="14"/>
                  <a:pt x="9" y="14"/>
                </a:cubicBezTo>
                <a:cubicBezTo>
                  <a:pt x="91" y="92"/>
                  <a:pt x="91" y="92"/>
                  <a:pt x="91" y="92"/>
                </a:cubicBezTo>
                <a:lnTo>
                  <a:pt x="9" y="171"/>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s-ES" sz="1350" dirty="0"/>
          </a:p>
        </p:txBody>
      </p:sp>
      <p:sp>
        <p:nvSpPr>
          <p:cNvPr id="44" name="Freeform 184"/>
          <p:cNvSpPr>
            <a:spLocks noEditPoints="1"/>
          </p:cNvSpPr>
          <p:nvPr/>
        </p:nvSpPr>
        <p:spPr bwMode="auto">
          <a:xfrm>
            <a:off x="1708750" y="3457414"/>
            <a:ext cx="287216" cy="285516"/>
          </a:xfrm>
          <a:custGeom>
            <a:avLst/>
            <a:gdLst>
              <a:gd name="T0" fmla="*/ 96 w 186"/>
              <a:gd name="T1" fmla="*/ 35 h 185"/>
              <a:gd name="T2" fmla="*/ 93 w 186"/>
              <a:gd name="T3" fmla="*/ 33 h 185"/>
              <a:gd name="T4" fmla="*/ 90 w 186"/>
              <a:gd name="T5" fmla="*/ 35 h 185"/>
              <a:gd name="T6" fmla="*/ 73 w 186"/>
              <a:gd name="T7" fmla="*/ 52 h 185"/>
              <a:gd name="T8" fmla="*/ 72 w 186"/>
              <a:gd name="T9" fmla="*/ 55 h 185"/>
              <a:gd name="T10" fmla="*/ 76 w 186"/>
              <a:gd name="T11" fmla="*/ 59 h 185"/>
              <a:gd name="T12" fmla="*/ 79 w 186"/>
              <a:gd name="T13" fmla="*/ 57 h 185"/>
              <a:gd name="T14" fmla="*/ 89 w 186"/>
              <a:gd name="T15" fmla="*/ 48 h 185"/>
              <a:gd name="T16" fmla="*/ 89 w 186"/>
              <a:gd name="T17" fmla="*/ 97 h 185"/>
              <a:gd name="T18" fmla="*/ 93 w 186"/>
              <a:gd name="T19" fmla="*/ 101 h 185"/>
              <a:gd name="T20" fmla="*/ 97 w 186"/>
              <a:gd name="T21" fmla="*/ 97 h 185"/>
              <a:gd name="T22" fmla="*/ 97 w 186"/>
              <a:gd name="T23" fmla="*/ 48 h 185"/>
              <a:gd name="T24" fmla="*/ 107 w 186"/>
              <a:gd name="T25" fmla="*/ 57 h 185"/>
              <a:gd name="T26" fmla="*/ 110 w 186"/>
              <a:gd name="T27" fmla="*/ 59 h 185"/>
              <a:gd name="T28" fmla="*/ 114 w 186"/>
              <a:gd name="T29" fmla="*/ 55 h 185"/>
              <a:gd name="T30" fmla="*/ 113 w 186"/>
              <a:gd name="T31" fmla="*/ 52 h 185"/>
              <a:gd name="T32" fmla="*/ 96 w 186"/>
              <a:gd name="T33" fmla="*/ 35 h 185"/>
              <a:gd name="T34" fmla="*/ 169 w 186"/>
              <a:gd name="T35" fmla="*/ 0 h 185"/>
              <a:gd name="T36" fmla="*/ 17 w 186"/>
              <a:gd name="T37" fmla="*/ 0 h 185"/>
              <a:gd name="T38" fmla="*/ 0 w 186"/>
              <a:gd name="T39" fmla="*/ 17 h 185"/>
              <a:gd name="T40" fmla="*/ 0 w 186"/>
              <a:gd name="T41" fmla="*/ 143 h 185"/>
              <a:gd name="T42" fmla="*/ 17 w 186"/>
              <a:gd name="T43" fmla="*/ 160 h 185"/>
              <a:gd name="T44" fmla="*/ 76 w 186"/>
              <a:gd name="T45" fmla="*/ 160 h 185"/>
              <a:gd name="T46" fmla="*/ 76 w 186"/>
              <a:gd name="T47" fmla="*/ 177 h 185"/>
              <a:gd name="T48" fmla="*/ 63 w 186"/>
              <a:gd name="T49" fmla="*/ 177 h 185"/>
              <a:gd name="T50" fmla="*/ 59 w 186"/>
              <a:gd name="T51" fmla="*/ 181 h 185"/>
              <a:gd name="T52" fmla="*/ 63 w 186"/>
              <a:gd name="T53" fmla="*/ 185 h 185"/>
              <a:gd name="T54" fmla="*/ 122 w 186"/>
              <a:gd name="T55" fmla="*/ 185 h 185"/>
              <a:gd name="T56" fmla="*/ 126 w 186"/>
              <a:gd name="T57" fmla="*/ 181 h 185"/>
              <a:gd name="T58" fmla="*/ 122 w 186"/>
              <a:gd name="T59" fmla="*/ 177 h 185"/>
              <a:gd name="T60" fmla="*/ 110 w 186"/>
              <a:gd name="T61" fmla="*/ 177 h 185"/>
              <a:gd name="T62" fmla="*/ 110 w 186"/>
              <a:gd name="T63" fmla="*/ 160 h 185"/>
              <a:gd name="T64" fmla="*/ 169 w 186"/>
              <a:gd name="T65" fmla="*/ 160 h 185"/>
              <a:gd name="T66" fmla="*/ 186 w 186"/>
              <a:gd name="T67" fmla="*/ 143 h 185"/>
              <a:gd name="T68" fmla="*/ 186 w 186"/>
              <a:gd name="T69" fmla="*/ 17 h 185"/>
              <a:gd name="T70" fmla="*/ 169 w 186"/>
              <a:gd name="T71" fmla="*/ 0 h 185"/>
              <a:gd name="T72" fmla="*/ 101 w 186"/>
              <a:gd name="T73" fmla="*/ 177 h 185"/>
              <a:gd name="T74" fmla="*/ 84 w 186"/>
              <a:gd name="T75" fmla="*/ 177 h 185"/>
              <a:gd name="T76" fmla="*/ 84 w 186"/>
              <a:gd name="T77" fmla="*/ 160 h 185"/>
              <a:gd name="T78" fmla="*/ 101 w 186"/>
              <a:gd name="T79" fmla="*/ 160 h 185"/>
              <a:gd name="T80" fmla="*/ 101 w 186"/>
              <a:gd name="T81" fmla="*/ 177 h 185"/>
              <a:gd name="T82" fmla="*/ 177 w 186"/>
              <a:gd name="T83" fmla="*/ 143 h 185"/>
              <a:gd name="T84" fmla="*/ 169 w 186"/>
              <a:gd name="T85" fmla="*/ 152 h 185"/>
              <a:gd name="T86" fmla="*/ 17 w 186"/>
              <a:gd name="T87" fmla="*/ 152 h 185"/>
              <a:gd name="T88" fmla="*/ 8 w 186"/>
              <a:gd name="T89" fmla="*/ 143 h 185"/>
              <a:gd name="T90" fmla="*/ 8 w 186"/>
              <a:gd name="T91" fmla="*/ 135 h 185"/>
              <a:gd name="T92" fmla="*/ 177 w 186"/>
              <a:gd name="T93" fmla="*/ 135 h 185"/>
              <a:gd name="T94" fmla="*/ 177 w 186"/>
              <a:gd name="T95" fmla="*/ 143 h 185"/>
              <a:gd name="T96" fmla="*/ 177 w 186"/>
              <a:gd name="T97" fmla="*/ 126 h 185"/>
              <a:gd name="T98" fmla="*/ 8 w 186"/>
              <a:gd name="T99" fmla="*/ 126 h 185"/>
              <a:gd name="T100" fmla="*/ 8 w 186"/>
              <a:gd name="T101" fmla="*/ 17 h 185"/>
              <a:gd name="T102" fmla="*/ 17 w 186"/>
              <a:gd name="T103" fmla="*/ 8 h 185"/>
              <a:gd name="T104" fmla="*/ 169 w 186"/>
              <a:gd name="T105" fmla="*/ 8 h 185"/>
              <a:gd name="T106" fmla="*/ 177 w 186"/>
              <a:gd name="T107" fmla="*/ 17 h 185"/>
              <a:gd name="T108" fmla="*/ 177 w 186"/>
              <a:gd name="T109" fmla="*/ 12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6" h="185">
                <a:moveTo>
                  <a:pt x="96" y="35"/>
                </a:moveTo>
                <a:cubicBezTo>
                  <a:pt x="95" y="34"/>
                  <a:pt x="94" y="33"/>
                  <a:pt x="93" y="33"/>
                </a:cubicBezTo>
                <a:cubicBezTo>
                  <a:pt x="92" y="33"/>
                  <a:pt x="91" y="34"/>
                  <a:pt x="90" y="35"/>
                </a:cubicBezTo>
                <a:cubicBezTo>
                  <a:pt x="73" y="52"/>
                  <a:pt x="73" y="52"/>
                  <a:pt x="73" y="52"/>
                </a:cubicBezTo>
                <a:cubicBezTo>
                  <a:pt x="72" y="52"/>
                  <a:pt x="72" y="53"/>
                  <a:pt x="72" y="55"/>
                </a:cubicBezTo>
                <a:cubicBezTo>
                  <a:pt x="72" y="57"/>
                  <a:pt x="74" y="59"/>
                  <a:pt x="76" y="59"/>
                </a:cubicBezTo>
                <a:cubicBezTo>
                  <a:pt x="77" y="59"/>
                  <a:pt x="78" y="58"/>
                  <a:pt x="79" y="57"/>
                </a:cubicBezTo>
                <a:cubicBezTo>
                  <a:pt x="89" y="48"/>
                  <a:pt x="89" y="48"/>
                  <a:pt x="89" y="48"/>
                </a:cubicBezTo>
                <a:cubicBezTo>
                  <a:pt x="89" y="97"/>
                  <a:pt x="89" y="97"/>
                  <a:pt x="89" y="97"/>
                </a:cubicBezTo>
                <a:cubicBezTo>
                  <a:pt x="89" y="99"/>
                  <a:pt x="90" y="101"/>
                  <a:pt x="93" y="101"/>
                </a:cubicBezTo>
                <a:cubicBezTo>
                  <a:pt x="95" y="101"/>
                  <a:pt x="97" y="99"/>
                  <a:pt x="97" y="97"/>
                </a:cubicBezTo>
                <a:cubicBezTo>
                  <a:pt x="97" y="48"/>
                  <a:pt x="97" y="48"/>
                  <a:pt x="97" y="48"/>
                </a:cubicBezTo>
                <a:cubicBezTo>
                  <a:pt x="107" y="57"/>
                  <a:pt x="107" y="57"/>
                  <a:pt x="107" y="57"/>
                </a:cubicBezTo>
                <a:cubicBezTo>
                  <a:pt x="107" y="58"/>
                  <a:pt x="108" y="59"/>
                  <a:pt x="110" y="59"/>
                </a:cubicBezTo>
                <a:cubicBezTo>
                  <a:pt x="112" y="59"/>
                  <a:pt x="114" y="57"/>
                  <a:pt x="114" y="55"/>
                </a:cubicBezTo>
                <a:cubicBezTo>
                  <a:pt x="114" y="53"/>
                  <a:pt x="113" y="52"/>
                  <a:pt x="113" y="52"/>
                </a:cubicBezTo>
                <a:lnTo>
                  <a:pt x="96" y="35"/>
                </a:lnTo>
                <a:close/>
                <a:moveTo>
                  <a:pt x="169" y="0"/>
                </a:moveTo>
                <a:cubicBezTo>
                  <a:pt x="17" y="0"/>
                  <a:pt x="17" y="0"/>
                  <a:pt x="17" y="0"/>
                </a:cubicBezTo>
                <a:cubicBezTo>
                  <a:pt x="7" y="0"/>
                  <a:pt x="0" y="7"/>
                  <a:pt x="0" y="17"/>
                </a:cubicBezTo>
                <a:cubicBezTo>
                  <a:pt x="0" y="143"/>
                  <a:pt x="0" y="143"/>
                  <a:pt x="0" y="143"/>
                </a:cubicBezTo>
                <a:cubicBezTo>
                  <a:pt x="0" y="152"/>
                  <a:pt x="7" y="160"/>
                  <a:pt x="17" y="160"/>
                </a:cubicBezTo>
                <a:cubicBezTo>
                  <a:pt x="76" y="160"/>
                  <a:pt x="76" y="160"/>
                  <a:pt x="76" y="160"/>
                </a:cubicBezTo>
                <a:cubicBezTo>
                  <a:pt x="76" y="177"/>
                  <a:pt x="76" y="177"/>
                  <a:pt x="76" y="177"/>
                </a:cubicBezTo>
                <a:cubicBezTo>
                  <a:pt x="63" y="177"/>
                  <a:pt x="63" y="177"/>
                  <a:pt x="63" y="177"/>
                </a:cubicBezTo>
                <a:cubicBezTo>
                  <a:pt x="61" y="177"/>
                  <a:pt x="59" y="179"/>
                  <a:pt x="59" y="181"/>
                </a:cubicBezTo>
                <a:cubicBezTo>
                  <a:pt x="59" y="183"/>
                  <a:pt x="61" y="185"/>
                  <a:pt x="63" y="185"/>
                </a:cubicBezTo>
                <a:cubicBezTo>
                  <a:pt x="122" y="185"/>
                  <a:pt x="122" y="185"/>
                  <a:pt x="122" y="185"/>
                </a:cubicBezTo>
                <a:cubicBezTo>
                  <a:pt x="125" y="185"/>
                  <a:pt x="126" y="183"/>
                  <a:pt x="126" y="181"/>
                </a:cubicBezTo>
                <a:cubicBezTo>
                  <a:pt x="126" y="179"/>
                  <a:pt x="125" y="177"/>
                  <a:pt x="122" y="177"/>
                </a:cubicBezTo>
                <a:cubicBezTo>
                  <a:pt x="110" y="177"/>
                  <a:pt x="110" y="177"/>
                  <a:pt x="110" y="177"/>
                </a:cubicBezTo>
                <a:cubicBezTo>
                  <a:pt x="110" y="160"/>
                  <a:pt x="110" y="160"/>
                  <a:pt x="110" y="160"/>
                </a:cubicBezTo>
                <a:cubicBezTo>
                  <a:pt x="169" y="160"/>
                  <a:pt x="169" y="160"/>
                  <a:pt x="169" y="160"/>
                </a:cubicBezTo>
                <a:cubicBezTo>
                  <a:pt x="178" y="160"/>
                  <a:pt x="186" y="152"/>
                  <a:pt x="186" y="143"/>
                </a:cubicBezTo>
                <a:cubicBezTo>
                  <a:pt x="186" y="17"/>
                  <a:pt x="186" y="17"/>
                  <a:pt x="186" y="17"/>
                </a:cubicBezTo>
                <a:cubicBezTo>
                  <a:pt x="186" y="7"/>
                  <a:pt x="178" y="0"/>
                  <a:pt x="169" y="0"/>
                </a:cubicBezTo>
                <a:close/>
                <a:moveTo>
                  <a:pt x="101" y="177"/>
                </a:moveTo>
                <a:cubicBezTo>
                  <a:pt x="84" y="177"/>
                  <a:pt x="84" y="177"/>
                  <a:pt x="84" y="177"/>
                </a:cubicBezTo>
                <a:cubicBezTo>
                  <a:pt x="84" y="160"/>
                  <a:pt x="84" y="160"/>
                  <a:pt x="84" y="160"/>
                </a:cubicBezTo>
                <a:cubicBezTo>
                  <a:pt x="101" y="160"/>
                  <a:pt x="101" y="160"/>
                  <a:pt x="101" y="160"/>
                </a:cubicBezTo>
                <a:lnTo>
                  <a:pt x="101" y="177"/>
                </a:lnTo>
                <a:close/>
                <a:moveTo>
                  <a:pt x="177" y="143"/>
                </a:moveTo>
                <a:cubicBezTo>
                  <a:pt x="177" y="148"/>
                  <a:pt x="173" y="152"/>
                  <a:pt x="169" y="152"/>
                </a:cubicBezTo>
                <a:cubicBezTo>
                  <a:pt x="17" y="152"/>
                  <a:pt x="17" y="152"/>
                  <a:pt x="17" y="152"/>
                </a:cubicBezTo>
                <a:cubicBezTo>
                  <a:pt x="12" y="152"/>
                  <a:pt x="8" y="148"/>
                  <a:pt x="8" y="143"/>
                </a:cubicBezTo>
                <a:cubicBezTo>
                  <a:pt x="8" y="135"/>
                  <a:pt x="8" y="135"/>
                  <a:pt x="8" y="135"/>
                </a:cubicBezTo>
                <a:cubicBezTo>
                  <a:pt x="177" y="135"/>
                  <a:pt x="177" y="135"/>
                  <a:pt x="177" y="135"/>
                </a:cubicBezTo>
                <a:lnTo>
                  <a:pt x="177" y="143"/>
                </a:lnTo>
                <a:close/>
                <a:moveTo>
                  <a:pt x="177" y="126"/>
                </a:moveTo>
                <a:cubicBezTo>
                  <a:pt x="8" y="126"/>
                  <a:pt x="8" y="126"/>
                  <a:pt x="8" y="126"/>
                </a:cubicBezTo>
                <a:cubicBezTo>
                  <a:pt x="8" y="17"/>
                  <a:pt x="8" y="17"/>
                  <a:pt x="8" y="17"/>
                </a:cubicBezTo>
                <a:cubicBezTo>
                  <a:pt x="8" y="12"/>
                  <a:pt x="12" y="8"/>
                  <a:pt x="17" y="8"/>
                </a:cubicBezTo>
                <a:cubicBezTo>
                  <a:pt x="169" y="8"/>
                  <a:pt x="169" y="8"/>
                  <a:pt x="169" y="8"/>
                </a:cubicBezTo>
                <a:cubicBezTo>
                  <a:pt x="173" y="8"/>
                  <a:pt x="177" y="12"/>
                  <a:pt x="177" y="17"/>
                </a:cubicBezTo>
                <a:lnTo>
                  <a:pt x="177" y="126"/>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s-ES" sz="1350" dirty="0"/>
          </a:p>
        </p:txBody>
      </p:sp>
      <p:sp>
        <p:nvSpPr>
          <p:cNvPr id="45" name="Freeform 296"/>
          <p:cNvSpPr>
            <a:spLocks noEditPoints="1"/>
          </p:cNvSpPr>
          <p:nvPr/>
        </p:nvSpPr>
        <p:spPr bwMode="auto">
          <a:xfrm>
            <a:off x="1664933" y="1730096"/>
            <a:ext cx="284304" cy="283464"/>
          </a:xfrm>
          <a:custGeom>
            <a:avLst/>
            <a:gdLst>
              <a:gd name="T0" fmla="*/ 93 w 186"/>
              <a:gd name="T1" fmla="*/ 9 h 186"/>
              <a:gd name="T2" fmla="*/ 161 w 186"/>
              <a:gd name="T3" fmla="*/ 42 h 186"/>
              <a:gd name="T4" fmla="*/ 127 w 186"/>
              <a:gd name="T5" fmla="*/ 42 h 186"/>
              <a:gd name="T6" fmla="*/ 123 w 186"/>
              <a:gd name="T7" fmla="*/ 47 h 186"/>
              <a:gd name="T8" fmla="*/ 127 w 186"/>
              <a:gd name="T9" fmla="*/ 51 h 186"/>
              <a:gd name="T10" fmla="*/ 169 w 186"/>
              <a:gd name="T11" fmla="*/ 51 h 186"/>
              <a:gd name="T12" fmla="*/ 173 w 186"/>
              <a:gd name="T13" fmla="*/ 47 h 186"/>
              <a:gd name="T14" fmla="*/ 173 w 186"/>
              <a:gd name="T15" fmla="*/ 4 h 186"/>
              <a:gd name="T16" fmla="*/ 169 w 186"/>
              <a:gd name="T17" fmla="*/ 0 h 186"/>
              <a:gd name="T18" fmla="*/ 165 w 186"/>
              <a:gd name="T19" fmla="*/ 4 h 186"/>
              <a:gd name="T20" fmla="*/ 165 w 186"/>
              <a:gd name="T21" fmla="*/ 34 h 186"/>
              <a:gd name="T22" fmla="*/ 93 w 186"/>
              <a:gd name="T23" fmla="*/ 0 h 186"/>
              <a:gd name="T24" fmla="*/ 0 w 186"/>
              <a:gd name="T25" fmla="*/ 93 h 186"/>
              <a:gd name="T26" fmla="*/ 5 w 186"/>
              <a:gd name="T27" fmla="*/ 97 h 186"/>
              <a:gd name="T28" fmla="*/ 9 w 186"/>
              <a:gd name="T29" fmla="*/ 93 h 186"/>
              <a:gd name="T30" fmla="*/ 93 w 186"/>
              <a:gd name="T31" fmla="*/ 9 h 186"/>
              <a:gd name="T32" fmla="*/ 182 w 186"/>
              <a:gd name="T33" fmla="*/ 89 h 186"/>
              <a:gd name="T34" fmla="*/ 177 w 186"/>
              <a:gd name="T35" fmla="*/ 93 h 186"/>
              <a:gd name="T36" fmla="*/ 93 w 186"/>
              <a:gd name="T37" fmla="*/ 177 h 186"/>
              <a:gd name="T38" fmla="*/ 26 w 186"/>
              <a:gd name="T39" fmla="*/ 144 h 186"/>
              <a:gd name="T40" fmla="*/ 59 w 186"/>
              <a:gd name="T41" fmla="*/ 144 h 186"/>
              <a:gd name="T42" fmla="*/ 64 w 186"/>
              <a:gd name="T43" fmla="*/ 139 h 186"/>
              <a:gd name="T44" fmla="*/ 59 w 186"/>
              <a:gd name="T45" fmla="*/ 135 h 186"/>
              <a:gd name="T46" fmla="*/ 17 w 186"/>
              <a:gd name="T47" fmla="*/ 135 h 186"/>
              <a:gd name="T48" fmla="*/ 13 w 186"/>
              <a:gd name="T49" fmla="*/ 139 h 186"/>
              <a:gd name="T50" fmla="*/ 13 w 186"/>
              <a:gd name="T51" fmla="*/ 182 h 186"/>
              <a:gd name="T52" fmla="*/ 17 w 186"/>
              <a:gd name="T53" fmla="*/ 186 h 186"/>
              <a:gd name="T54" fmla="*/ 21 w 186"/>
              <a:gd name="T55" fmla="*/ 182 h 186"/>
              <a:gd name="T56" fmla="*/ 21 w 186"/>
              <a:gd name="T57" fmla="*/ 152 h 186"/>
              <a:gd name="T58" fmla="*/ 93 w 186"/>
              <a:gd name="T59" fmla="*/ 186 h 186"/>
              <a:gd name="T60" fmla="*/ 186 w 186"/>
              <a:gd name="T61" fmla="*/ 93 h 186"/>
              <a:gd name="T62" fmla="*/ 182 w 186"/>
              <a:gd name="T63" fmla="*/ 89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6" h="186">
                <a:moveTo>
                  <a:pt x="93" y="9"/>
                </a:moveTo>
                <a:cubicBezTo>
                  <a:pt x="121" y="9"/>
                  <a:pt x="145" y="22"/>
                  <a:pt x="161" y="42"/>
                </a:cubicBezTo>
                <a:cubicBezTo>
                  <a:pt x="127" y="42"/>
                  <a:pt x="127" y="42"/>
                  <a:pt x="127" y="42"/>
                </a:cubicBezTo>
                <a:cubicBezTo>
                  <a:pt x="125" y="42"/>
                  <a:pt x="123" y="44"/>
                  <a:pt x="123" y="47"/>
                </a:cubicBezTo>
                <a:cubicBezTo>
                  <a:pt x="123" y="49"/>
                  <a:pt x="125" y="51"/>
                  <a:pt x="127" y="51"/>
                </a:cubicBezTo>
                <a:cubicBezTo>
                  <a:pt x="169" y="51"/>
                  <a:pt x="169" y="51"/>
                  <a:pt x="169" y="51"/>
                </a:cubicBezTo>
                <a:cubicBezTo>
                  <a:pt x="171" y="51"/>
                  <a:pt x="173" y="49"/>
                  <a:pt x="173" y="47"/>
                </a:cubicBezTo>
                <a:cubicBezTo>
                  <a:pt x="173" y="4"/>
                  <a:pt x="173" y="4"/>
                  <a:pt x="173" y="4"/>
                </a:cubicBezTo>
                <a:cubicBezTo>
                  <a:pt x="173" y="2"/>
                  <a:pt x="171" y="0"/>
                  <a:pt x="169" y="0"/>
                </a:cubicBezTo>
                <a:cubicBezTo>
                  <a:pt x="167" y="0"/>
                  <a:pt x="165" y="2"/>
                  <a:pt x="165" y="4"/>
                </a:cubicBezTo>
                <a:cubicBezTo>
                  <a:pt x="165" y="34"/>
                  <a:pt x="165" y="34"/>
                  <a:pt x="165" y="34"/>
                </a:cubicBezTo>
                <a:cubicBezTo>
                  <a:pt x="148" y="13"/>
                  <a:pt x="122" y="0"/>
                  <a:pt x="93" y="0"/>
                </a:cubicBezTo>
                <a:cubicBezTo>
                  <a:pt x="42" y="0"/>
                  <a:pt x="0" y="42"/>
                  <a:pt x="0" y="93"/>
                </a:cubicBezTo>
                <a:cubicBezTo>
                  <a:pt x="0" y="95"/>
                  <a:pt x="2" y="97"/>
                  <a:pt x="5" y="97"/>
                </a:cubicBezTo>
                <a:cubicBezTo>
                  <a:pt x="7" y="97"/>
                  <a:pt x="9" y="95"/>
                  <a:pt x="9" y="93"/>
                </a:cubicBezTo>
                <a:cubicBezTo>
                  <a:pt x="9" y="46"/>
                  <a:pt x="47" y="9"/>
                  <a:pt x="93" y="9"/>
                </a:cubicBezTo>
                <a:close/>
                <a:moveTo>
                  <a:pt x="182" y="89"/>
                </a:moveTo>
                <a:cubicBezTo>
                  <a:pt x="179" y="89"/>
                  <a:pt x="177" y="91"/>
                  <a:pt x="177" y="93"/>
                </a:cubicBezTo>
                <a:cubicBezTo>
                  <a:pt x="177" y="140"/>
                  <a:pt x="140" y="177"/>
                  <a:pt x="93" y="177"/>
                </a:cubicBezTo>
                <a:cubicBezTo>
                  <a:pt x="66" y="177"/>
                  <a:pt x="41" y="164"/>
                  <a:pt x="26" y="144"/>
                </a:cubicBezTo>
                <a:cubicBezTo>
                  <a:pt x="59" y="144"/>
                  <a:pt x="59" y="144"/>
                  <a:pt x="59" y="144"/>
                </a:cubicBezTo>
                <a:cubicBezTo>
                  <a:pt x="62" y="144"/>
                  <a:pt x="64" y="142"/>
                  <a:pt x="64" y="139"/>
                </a:cubicBezTo>
                <a:cubicBezTo>
                  <a:pt x="64" y="137"/>
                  <a:pt x="62" y="135"/>
                  <a:pt x="59" y="135"/>
                </a:cubicBezTo>
                <a:cubicBezTo>
                  <a:pt x="17" y="135"/>
                  <a:pt x="17" y="135"/>
                  <a:pt x="17" y="135"/>
                </a:cubicBezTo>
                <a:cubicBezTo>
                  <a:pt x="15" y="135"/>
                  <a:pt x="13" y="137"/>
                  <a:pt x="13" y="139"/>
                </a:cubicBezTo>
                <a:cubicBezTo>
                  <a:pt x="13" y="182"/>
                  <a:pt x="13" y="182"/>
                  <a:pt x="13" y="182"/>
                </a:cubicBezTo>
                <a:cubicBezTo>
                  <a:pt x="13" y="184"/>
                  <a:pt x="15" y="186"/>
                  <a:pt x="17" y="186"/>
                </a:cubicBezTo>
                <a:cubicBezTo>
                  <a:pt x="20" y="186"/>
                  <a:pt x="21" y="184"/>
                  <a:pt x="21" y="182"/>
                </a:cubicBezTo>
                <a:cubicBezTo>
                  <a:pt x="21" y="152"/>
                  <a:pt x="21" y="152"/>
                  <a:pt x="21" y="152"/>
                </a:cubicBezTo>
                <a:cubicBezTo>
                  <a:pt x="38" y="173"/>
                  <a:pt x="64" y="186"/>
                  <a:pt x="93" y="186"/>
                </a:cubicBezTo>
                <a:cubicBezTo>
                  <a:pt x="144" y="186"/>
                  <a:pt x="186" y="144"/>
                  <a:pt x="186" y="93"/>
                </a:cubicBezTo>
                <a:cubicBezTo>
                  <a:pt x="186" y="91"/>
                  <a:pt x="184" y="89"/>
                  <a:pt x="182" y="89"/>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s-ES" sz="1350" dirty="0"/>
          </a:p>
        </p:txBody>
      </p:sp>
      <p:sp>
        <p:nvSpPr>
          <p:cNvPr id="46" name="Freeform 473"/>
          <p:cNvSpPr>
            <a:spLocks noEditPoints="1"/>
          </p:cNvSpPr>
          <p:nvPr/>
        </p:nvSpPr>
        <p:spPr bwMode="auto">
          <a:xfrm>
            <a:off x="2891491" y="5267414"/>
            <a:ext cx="283083" cy="283923"/>
          </a:xfrm>
          <a:custGeom>
            <a:avLst/>
            <a:gdLst>
              <a:gd name="T0" fmla="*/ 177 w 185"/>
              <a:gd name="T1" fmla="*/ 68 h 186"/>
              <a:gd name="T2" fmla="*/ 75 w 185"/>
              <a:gd name="T3" fmla="*/ 68 h 186"/>
              <a:gd name="T4" fmla="*/ 67 w 185"/>
              <a:gd name="T5" fmla="*/ 76 h 186"/>
              <a:gd name="T6" fmla="*/ 67 w 185"/>
              <a:gd name="T7" fmla="*/ 178 h 186"/>
              <a:gd name="T8" fmla="*/ 75 w 185"/>
              <a:gd name="T9" fmla="*/ 186 h 186"/>
              <a:gd name="T10" fmla="*/ 177 w 185"/>
              <a:gd name="T11" fmla="*/ 186 h 186"/>
              <a:gd name="T12" fmla="*/ 185 w 185"/>
              <a:gd name="T13" fmla="*/ 178 h 186"/>
              <a:gd name="T14" fmla="*/ 185 w 185"/>
              <a:gd name="T15" fmla="*/ 76 h 186"/>
              <a:gd name="T16" fmla="*/ 177 w 185"/>
              <a:gd name="T17" fmla="*/ 68 h 186"/>
              <a:gd name="T18" fmla="*/ 177 w 185"/>
              <a:gd name="T19" fmla="*/ 178 h 186"/>
              <a:gd name="T20" fmla="*/ 75 w 185"/>
              <a:gd name="T21" fmla="*/ 178 h 186"/>
              <a:gd name="T22" fmla="*/ 75 w 185"/>
              <a:gd name="T23" fmla="*/ 76 h 186"/>
              <a:gd name="T24" fmla="*/ 177 w 185"/>
              <a:gd name="T25" fmla="*/ 76 h 186"/>
              <a:gd name="T26" fmla="*/ 177 w 185"/>
              <a:gd name="T27" fmla="*/ 178 h 186"/>
              <a:gd name="T28" fmla="*/ 177 w 185"/>
              <a:gd name="T29" fmla="*/ 0 h 186"/>
              <a:gd name="T30" fmla="*/ 8 w 185"/>
              <a:gd name="T31" fmla="*/ 0 h 186"/>
              <a:gd name="T32" fmla="*/ 0 w 185"/>
              <a:gd name="T33" fmla="*/ 9 h 186"/>
              <a:gd name="T34" fmla="*/ 0 w 185"/>
              <a:gd name="T35" fmla="*/ 43 h 186"/>
              <a:gd name="T36" fmla="*/ 8 w 185"/>
              <a:gd name="T37" fmla="*/ 51 h 186"/>
              <a:gd name="T38" fmla="*/ 177 w 185"/>
              <a:gd name="T39" fmla="*/ 51 h 186"/>
              <a:gd name="T40" fmla="*/ 185 w 185"/>
              <a:gd name="T41" fmla="*/ 43 h 186"/>
              <a:gd name="T42" fmla="*/ 185 w 185"/>
              <a:gd name="T43" fmla="*/ 9 h 186"/>
              <a:gd name="T44" fmla="*/ 177 w 185"/>
              <a:gd name="T45" fmla="*/ 0 h 186"/>
              <a:gd name="T46" fmla="*/ 177 w 185"/>
              <a:gd name="T47" fmla="*/ 43 h 186"/>
              <a:gd name="T48" fmla="*/ 8 w 185"/>
              <a:gd name="T49" fmla="*/ 43 h 186"/>
              <a:gd name="T50" fmla="*/ 8 w 185"/>
              <a:gd name="T51" fmla="*/ 9 h 186"/>
              <a:gd name="T52" fmla="*/ 177 w 185"/>
              <a:gd name="T53" fmla="*/ 9 h 186"/>
              <a:gd name="T54" fmla="*/ 177 w 185"/>
              <a:gd name="T55" fmla="*/ 43 h 186"/>
              <a:gd name="T56" fmla="*/ 42 w 185"/>
              <a:gd name="T57" fmla="*/ 68 h 186"/>
              <a:gd name="T58" fmla="*/ 8 w 185"/>
              <a:gd name="T59" fmla="*/ 68 h 186"/>
              <a:gd name="T60" fmla="*/ 0 w 185"/>
              <a:gd name="T61" fmla="*/ 76 h 186"/>
              <a:gd name="T62" fmla="*/ 0 w 185"/>
              <a:gd name="T63" fmla="*/ 178 h 186"/>
              <a:gd name="T64" fmla="*/ 8 w 185"/>
              <a:gd name="T65" fmla="*/ 186 h 186"/>
              <a:gd name="T66" fmla="*/ 42 w 185"/>
              <a:gd name="T67" fmla="*/ 186 h 186"/>
              <a:gd name="T68" fmla="*/ 50 w 185"/>
              <a:gd name="T69" fmla="*/ 178 h 186"/>
              <a:gd name="T70" fmla="*/ 50 w 185"/>
              <a:gd name="T71" fmla="*/ 76 h 186"/>
              <a:gd name="T72" fmla="*/ 42 w 185"/>
              <a:gd name="T73" fmla="*/ 68 h 186"/>
              <a:gd name="T74" fmla="*/ 42 w 185"/>
              <a:gd name="T75" fmla="*/ 178 h 186"/>
              <a:gd name="T76" fmla="*/ 8 w 185"/>
              <a:gd name="T77" fmla="*/ 178 h 186"/>
              <a:gd name="T78" fmla="*/ 8 w 185"/>
              <a:gd name="T79" fmla="*/ 76 h 186"/>
              <a:gd name="T80" fmla="*/ 42 w 185"/>
              <a:gd name="T81" fmla="*/ 76 h 186"/>
              <a:gd name="T82" fmla="*/ 42 w 185"/>
              <a:gd name="T83" fmla="*/ 178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5" h="186">
                <a:moveTo>
                  <a:pt x="177" y="68"/>
                </a:moveTo>
                <a:cubicBezTo>
                  <a:pt x="75" y="68"/>
                  <a:pt x="75" y="68"/>
                  <a:pt x="75" y="68"/>
                </a:cubicBezTo>
                <a:cubicBezTo>
                  <a:pt x="71" y="68"/>
                  <a:pt x="67" y="72"/>
                  <a:pt x="67" y="76"/>
                </a:cubicBezTo>
                <a:cubicBezTo>
                  <a:pt x="67" y="178"/>
                  <a:pt x="67" y="178"/>
                  <a:pt x="67" y="178"/>
                </a:cubicBezTo>
                <a:cubicBezTo>
                  <a:pt x="67" y="182"/>
                  <a:pt x="71" y="186"/>
                  <a:pt x="75" y="186"/>
                </a:cubicBezTo>
                <a:cubicBezTo>
                  <a:pt x="177" y="186"/>
                  <a:pt x="177" y="186"/>
                  <a:pt x="177" y="186"/>
                </a:cubicBezTo>
                <a:cubicBezTo>
                  <a:pt x="181" y="186"/>
                  <a:pt x="185" y="182"/>
                  <a:pt x="185" y="178"/>
                </a:cubicBezTo>
                <a:cubicBezTo>
                  <a:pt x="185" y="76"/>
                  <a:pt x="185" y="76"/>
                  <a:pt x="185" y="76"/>
                </a:cubicBezTo>
                <a:cubicBezTo>
                  <a:pt x="185" y="72"/>
                  <a:pt x="181" y="68"/>
                  <a:pt x="177" y="68"/>
                </a:cubicBezTo>
                <a:close/>
                <a:moveTo>
                  <a:pt x="177" y="178"/>
                </a:moveTo>
                <a:cubicBezTo>
                  <a:pt x="75" y="178"/>
                  <a:pt x="75" y="178"/>
                  <a:pt x="75" y="178"/>
                </a:cubicBezTo>
                <a:cubicBezTo>
                  <a:pt x="75" y="76"/>
                  <a:pt x="75" y="76"/>
                  <a:pt x="75" y="76"/>
                </a:cubicBezTo>
                <a:cubicBezTo>
                  <a:pt x="177" y="76"/>
                  <a:pt x="177" y="76"/>
                  <a:pt x="177" y="76"/>
                </a:cubicBezTo>
                <a:lnTo>
                  <a:pt x="177" y="178"/>
                </a:lnTo>
                <a:close/>
                <a:moveTo>
                  <a:pt x="177" y="0"/>
                </a:moveTo>
                <a:cubicBezTo>
                  <a:pt x="8" y="0"/>
                  <a:pt x="8" y="0"/>
                  <a:pt x="8" y="0"/>
                </a:cubicBezTo>
                <a:cubicBezTo>
                  <a:pt x="3" y="0"/>
                  <a:pt x="0" y="4"/>
                  <a:pt x="0" y="9"/>
                </a:cubicBezTo>
                <a:cubicBezTo>
                  <a:pt x="0" y="43"/>
                  <a:pt x="0" y="43"/>
                  <a:pt x="0" y="43"/>
                </a:cubicBezTo>
                <a:cubicBezTo>
                  <a:pt x="0" y="47"/>
                  <a:pt x="3" y="51"/>
                  <a:pt x="8" y="51"/>
                </a:cubicBezTo>
                <a:cubicBezTo>
                  <a:pt x="177" y="51"/>
                  <a:pt x="177" y="51"/>
                  <a:pt x="177" y="51"/>
                </a:cubicBezTo>
                <a:cubicBezTo>
                  <a:pt x="181" y="51"/>
                  <a:pt x="185" y="47"/>
                  <a:pt x="185" y="43"/>
                </a:cubicBezTo>
                <a:cubicBezTo>
                  <a:pt x="185" y="9"/>
                  <a:pt x="185" y="9"/>
                  <a:pt x="185" y="9"/>
                </a:cubicBezTo>
                <a:cubicBezTo>
                  <a:pt x="185" y="4"/>
                  <a:pt x="181" y="0"/>
                  <a:pt x="177" y="0"/>
                </a:cubicBezTo>
                <a:close/>
                <a:moveTo>
                  <a:pt x="177" y="43"/>
                </a:moveTo>
                <a:cubicBezTo>
                  <a:pt x="8" y="43"/>
                  <a:pt x="8" y="43"/>
                  <a:pt x="8" y="43"/>
                </a:cubicBezTo>
                <a:cubicBezTo>
                  <a:pt x="8" y="9"/>
                  <a:pt x="8" y="9"/>
                  <a:pt x="8" y="9"/>
                </a:cubicBezTo>
                <a:cubicBezTo>
                  <a:pt x="177" y="9"/>
                  <a:pt x="177" y="9"/>
                  <a:pt x="177" y="9"/>
                </a:cubicBezTo>
                <a:lnTo>
                  <a:pt x="177" y="43"/>
                </a:lnTo>
                <a:close/>
                <a:moveTo>
                  <a:pt x="42" y="68"/>
                </a:moveTo>
                <a:cubicBezTo>
                  <a:pt x="8" y="68"/>
                  <a:pt x="8" y="68"/>
                  <a:pt x="8" y="68"/>
                </a:cubicBezTo>
                <a:cubicBezTo>
                  <a:pt x="3" y="68"/>
                  <a:pt x="0" y="72"/>
                  <a:pt x="0" y="76"/>
                </a:cubicBezTo>
                <a:cubicBezTo>
                  <a:pt x="0" y="178"/>
                  <a:pt x="0" y="178"/>
                  <a:pt x="0" y="178"/>
                </a:cubicBezTo>
                <a:cubicBezTo>
                  <a:pt x="0" y="182"/>
                  <a:pt x="3" y="186"/>
                  <a:pt x="8" y="186"/>
                </a:cubicBezTo>
                <a:cubicBezTo>
                  <a:pt x="42" y="186"/>
                  <a:pt x="42" y="186"/>
                  <a:pt x="42" y="186"/>
                </a:cubicBezTo>
                <a:cubicBezTo>
                  <a:pt x="46" y="186"/>
                  <a:pt x="50" y="182"/>
                  <a:pt x="50" y="178"/>
                </a:cubicBezTo>
                <a:cubicBezTo>
                  <a:pt x="50" y="76"/>
                  <a:pt x="50" y="76"/>
                  <a:pt x="50" y="76"/>
                </a:cubicBezTo>
                <a:cubicBezTo>
                  <a:pt x="50" y="72"/>
                  <a:pt x="46" y="68"/>
                  <a:pt x="42" y="68"/>
                </a:cubicBezTo>
                <a:close/>
                <a:moveTo>
                  <a:pt x="42" y="178"/>
                </a:moveTo>
                <a:cubicBezTo>
                  <a:pt x="8" y="178"/>
                  <a:pt x="8" y="178"/>
                  <a:pt x="8" y="178"/>
                </a:cubicBezTo>
                <a:cubicBezTo>
                  <a:pt x="8" y="76"/>
                  <a:pt x="8" y="76"/>
                  <a:pt x="8" y="76"/>
                </a:cubicBezTo>
                <a:cubicBezTo>
                  <a:pt x="42" y="76"/>
                  <a:pt x="42" y="76"/>
                  <a:pt x="42" y="76"/>
                </a:cubicBezTo>
                <a:lnTo>
                  <a:pt x="42" y="178"/>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s-ES" sz="1350" dirty="0"/>
          </a:p>
        </p:txBody>
      </p:sp>
      <p:sp>
        <p:nvSpPr>
          <p:cNvPr id="47"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10</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2774459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113 Flecha en U"/>
          <p:cNvSpPr/>
          <p:nvPr/>
        </p:nvSpPr>
        <p:spPr>
          <a:xfrm rot="10800000">
            <a:off x="3554054" y="4000098"/>
            <a:ext cx="5796897" cy="897579"/>
          </a:xfrm>
          <a:prstGeom prst="uturnArrow">
            <a:avLst>
              <a:gd name="adj1" fmla="val 25000"/>
              <a:gd name="adj2" fmla="val 25000"/>
              <a:gd name="adj3" fmla="val 32951"/>
              <a:gd name="adj4" fmla="val 43750"/>
              <a:gd name="adj5" fmla="val 78337"/>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sp>
        <p:nvSpPr>
          <p:cNvPr id="150" name="149 Flecha en U"/>
          <p:cNvSpPr/>
          <p:nvPr/>
        </p:nvSpPr>
        <p:spPr>
          <a:xfrm rot="10800000">
            <a:off x="678909" y="4263965"/>
            <a:ext cx="3191415" cy="634786"/>
          </a:xfrm>
          <a:custGeom>
            <a:avLst/>
            <a:gdLst>
              <a:gd name="connsiteX0" fmla="*/ 0 w 4714685"/>
              <a:gd name="connsiteY0" fmla="*/ 968400 h 968400"/>
              <a:gd name="connsiteX1" fmla="*/ 0 w 4714685"/>
              <a:gd name="connsiteY1" fmla="*/ 392686 h 968400"/>
              <a:gd name="connsiteX2" fmla="*/ 392686 w 4714685"/>
              <a:gd name="connsiteY2" fmla="*/ 0 h 968400"/>
              <a:gd name="connsiteX3" fmla="*/ 4199753 w 4714685"/>
              <a:gd name="connsiteY3" fmla="*/ 0 h 968400"/>
              <a:gd name="connsiteX4" fmla="*/ 4592439 w 4714685"/>
              <a:gd name="connsiteY4" fmla="*/ 392686 h 968400"/>
              <a:gd name="connsiteX5" fmla="*/ 4592439 w 4714685"/>
              <a:gd name="connsiteY5" fmla="*/ 392686 h 968400"/>
              <a:gd name="connsiteX6" fmla="*/ 4714685 w 4714685"/>
              <a:gd name="connsiteY6" fmla="*/ 392686 h 968400"/>
              <a:gd name="connsiteX7" fmla="*/ 4472585 w 4714685"/>
              <a:gd name="connsiteY7" fmla="*/ 634786 h 968400"/>
              <a:gd name="connsiteX8" fmla="*/ 4230485 w 4714685"/>
              <a:gd name="connsiteY8" fmla="*/ 392686 h 968400"/>
              <a:gd name="connsiteX9" fmla="*/ 4352731 w 4714685"/>
              <a:gd name="connsiteY9" fmla="*/ 392686 h 968400"/>
              <a:gd name="connsiteX10" fmla="*/ 4352731 w 4714685"/>
              <a:gd name="connsiteY10" fmla="*/ 392686 h 968400"/>
              <a:gd name="connsiteX11" fmla="*/ 4199753 w 4714685"/>
              <a:gd name="connsiteY11" fmla="*/ 239708 h 968400"/>
              <a:gd name="connsiteX12" fmla="*/ 392686 w 4714685"/>
              <a:gd name="connsiteY12" fmla="*/ 239708 h 968400"/>
              <a:gd name="connsiteX13" fmla="*/ 239708 w 4714685"/>
              <a:gd name="connsiteY13" fmla="*/ 392686 h 968400"/>
              <a:gd name="connsiteX14" fmla="*/ 239708 w 4714685"/>
              <a:gd name="connsiteY14" fmla="*/ 968400 h 968400"/>
              <a:gd name="connsiteX15" fmla="*/ 0 w 4714685"/>
              <a:gd name="connsiteY15" fmla="*/ 968400 h 968400"/>
              <a:gd name="connsiteX0" fmla="*/ 0 w 4729925"/>
              <a:gd name="connsiteY0" fmla="*/ 450240 h 968400"/>
              <a:gd name="connsiteX1" fmla="*/ 15240 w 4729925"/>
              <a:gd name="connsiteY1" fmla="*/ 392686 h 968400"/>
              <a:gd name="connsiteX2" fmla="*/ 407926 w 4729925"/>
              <a:gd name="connsiteY2" fmla="*/ 0 h 968400"/>
              <a:gd name="connsiteX3" fmla="*/ 4214993 w 4729925"/>
              <a:gd name="connsiteY3" fmla="*/ 0 h 968400"/>
              <a:gd name="connsiteX4" fmla="*/ 4607679 w 4729925"/>
              <a:gd name="connsiteY4" fmla="*/ 392686 h 968400"/>
              <a:gd name="connsiteX5" fmla="*/ 4607679 w 4729925"/>
              <a:gd name="connsiteY5" fmla="*/ 392686 h 968400"/>
              <a:gd name="connsiteX6" fmla="*/ 4729925 w 4729925"/>
              <a:gd name="connsiteY6" fmla="*/ 392686 h 968400"/>
              <a:gd name="connsiteX7" fmla="*/ 4487825 w 4729925"/>
              <a:gd name="connsiteY7" fmla="*/ 634786 h 968400"/>
              <a:gd name="connsiteX8" fmla="*/ 4245725 w 4729925"/>
              <a:gd name="connsiteY8" fmla="*/ 392686 h 968400"/>
              <a:gd name="connsiteX9" fmla="*/ 4367971 w 4729925"/>
              <a:gd name="connsiteY9" fmla="*/ 392686 h 968400"/>
              <a:gd name="connsiteX10" fmla="*/ 4367971 w 4729925"/>
              <a:gd name="connsiteY10" fmla="*/ 392686 h 968400"/>
              <a:gd name="connsiteX11" fmla="*/ 4214993 w 4729925"/>
              <a:gd name="connsiteY11" fmla="*/ 239708 h 968400"/>
              <a:gd name="connsiteX12" fmla="*/ 407926 w 4729925"/>
              <a:gd name="connsiteY12" fmla="*/ 239708 h 968400"/>
              <a:gd name="connsiteX13" fmla="*/ 254948 w 4729925"/>
              <a:gd name="connsiteY13" fmla="*/ 392686 h 968400"/>
              <a:gd name="connsiteX14" fmla="*/ 254948 w 4729925"/>
              <a:gd name="connsiteY14" fmla="*/ 968400 h 968400"/>
              <a:gd name="connsiteX15" fmla="*/ 0 w 4729925"/>
              <a:gd name="connsiteY15" fmla="*/ 450240 h 968400"/>
              <a:gd name="connsiteX0" fmla="*/ 0 w 4729925"/>
              <a:gd name="connsiteY0" fmla="*/ 450240 h 968400"/>
              <a:gd name="connsiteX1" fmla="*/ 15240 w 4729925"/>
              <a:gd name="connsiteY1" fmla="*/ 392686 h 968400"/>
              <a:gd name="connsiteX2" fmla="*/ 407926 w 4729925"/>
              <a:gd name="connsiteY2" fmla="*/ 0 h 968400"/>
              <a:gd name="connsiteX3" fmla="*/ 4214993 w 4729925"/>
              <a:gd name="connsiteY3" fmla="*/ 0 h 968400"/>
              <a:gd name="connsiteX4" fmla="*/ 4607679 w 4729925"/>
              <a:gd name="connsiteY4" fmla="*/ 392686 h 968400"/>
              <a:gd name="connsiteX5" fmla="*/ 4607679 w 4729925"/>
              <a:gd name="connsiteY5" fmla="*/ 392686 h 968400"/>
              <a:gd name="connsiteX6" fmla="*/ 4729925 w 4729925"/>
              <a:gd name="connsiteY6" fmla="*/ 392686 h 968400"/>
              <a:gd name="connsiteX7" fmla="*/ 4487825 w 4729925"/>
              <a:gd name="connsiteY7" fmla="*/ 634786 h 968400"/>
              <a:gd name="connsiteX8" fmla="*/ 4245725 w 4729925"/>
              <a:gd name="connsiteY8" fmla="*/ 392686 h 968400"/>
              <a:gd name="connsiteX9" fmla="*/ 4367971 w 4729925"/>
              <a:gd name="connsiteY9" fmla="*/ 392686 h 968400"/>
              <a:gd name="connsiteX10" fmla="*/ 4367971 w 4729925"/>
              <a:gd name="connsiteY10" fmla="*/ 392686 h 968400"/>
              <a:gd name="connsiteX11" fmla="*/ 4214993 w 4729925"/>
              <a:gd name="connsiteY11" fmla="*/ 239708 h 968400"/>
              <a:gd name="connsiteX12" fmla="*/ 407926 w 4729925"/>
              <a:gd name="connsiteY12" fmla="*/ 239708 h 968400"/>
              <a:gd name="connsiteX13" fmla="*/ 254948 w 4729925"/>
              <a:gd name="connsiteY13" fmla="*/ 392686 h 968400"/>
              <a:gd name="connsiteX14" fmla="*/ 241548 w 4729925"/>
              <a:gd name="connsiteY14" fmla="*/ 326751 h 968400"/>
              <a:gd name="connsiteX15" fmla="*/ 254948 w 4729925"/>
              <a:gd name="connsiteY15" fmla="*/ 968400 h 968400"/>
              <a:gd name="connsiteX16" fmla="*/ 0 w 4729925"/>
              <a:gd name="connsiteY16" fmla="*/ 450240 h 968400"/>
              <a:gd name="connsiteX0" fmla="*/ 0 w 4729925"/>
              <a:gd name="connsiteY0" fmla="*/ 450240 h 634786"/>
              <a:gd name="connsiteX1" fmla="*/ 15240 w 4729925"/>
              <a:gd name="connsiteY1" fmla="*/ 392686 h 634786"/>
              <a:gd name="connsiteX2" fmla="*/ 407926 w 4729925"/>
              <a:gd name="connsiteY2" fmla="*/ 0 h 634786"/>
              <a:gd name="connsiteX3" fmla="*/ 4214993 w 4729925"/>
              <a:gd name="connsiteY3" fmla="*/ 0 h 634786"/>
              <a:gd name="connsiteX4" fmla="*/ 4607679 w 4729925"/>
              <a:gd name="connsiteY4" fmla="*/ 392686 h 634786"/>
              <a:gd name="connsiteX5" fmla="*/ 4607679 w 4729925"/>
              <a:gd name="connsiteY5" fmla="*/ 392686 h 634786"/>
              <a:gd name="connsiteX6" fmla="*/ 4729925 w 4729925"/>
              <a:gd name="connsiteY6" fmla="*/ 392686 h 634786"/>
              <a:gd name="connsiteX7" fmla="*/ 4487825 w 4729925"/>
              <a:gd name="connsiteY7" fmla="*/ 634786 h 634786"/>
              <a:gd name="connsiteX8" fmla="*/ 4245725 w 4729925"/>
              <a:gd name="connsiteY8" fmla="*/ 392686 h 634786"/>
              <a:gd name="connsiteX9" fmla="*/ 4367971 w 4729925"/>
              <a:gd name="connsiteY9" fmla="*/ 392686 h 634786"/>
              <a:gd name="connsiteX10" fmla="*/ 4367971 w 4729925"/>
              <a:gd name="connsiteY10" fmla="*/ 392686 h 634786"/>
              <a:gd name="connsiteX11" fmla="*/ 4214993 w 4729925"/>
              <a:gd name="connsiteY11" fmla="*/ 239708 h 634786"/>
              <a:gd name="connsiteX12" fmla="*/ 407926 w 4729925"/>
              <a:gd name="connsiteY12" fmla="*/ 239708 h 634786"/>
              <a:gd name="connsiteX13" fmla="*/ 254948 w 4729925"/>
              <a:gd name="connsiteY13" fmla="*/ 392686 h 634786"/>
              <a:gd name="connsiteX14" fmla="*/ 241548 w 4729925"/>
              <a:gd name="connsiteY14" fmla="*/ 326751 h 634786"/>
              <a:gd name="connsiteX15" fmla="*/ 239708 w 4729925"/>
              <a:gd name="connsiteY15" fmla="*/ 473100 h 634786"/>
              <a:gd name="connsiteX16" fmla="*/ 0 w 4729925"/>
              <a:gd name="connsiteY16" fmla="*/ 450240 h 634786"/>
              <a:gd name="connsiteX0" fmla="*/ 0 w 4729925"/>
              <a:gd name="connsiteY0" fmla="*/ 450240 h 634786"/>
              <a:gd name="connsiteX1" fmla="*/ 15240 w 4729925"/>
              <a:gd name="connsiteY1" fmla="*/ 392686 h 634786"/>
              <a:gd name="connsiteX2" fmla="*/ 407926 w 4729925"/>
              <a:gd name="connsiteY2" fmla="*/ 0 h 634786"/>
              <a:gd name="connsiteX3" fmla="*/ 4214993 w 4729925"/>
              <a:gd name="connsiteY3" fmla="*/ 0 h 634786"/>
              <a:gd name="connsiteX4" fmla="*/ 4607679 w 4729925"/>
              <a:gd name="connsiteY4" fmla="*/ 392686 h 634786"/>
              <a:gd name="connsiteX5" fmla="*/ 4607679 w 4729925"/>
              <a:gd name="connsiteY5" fmla="*/ 392686 h 634786"/>
              <a:gd name="connsiteX6" fmla="*/ 4729925 w 4729925"/>
              <a:gd name="connsiteY6" fmla="*/ 392686 h 634786"/>
              <a:gd name="connsiteX7" fmla="*/ 4487825 w 4729925"/>
              <a:gd name="connsiteY7" fmla="*/ 634786 h 634786"/>
              <a:gd name="connsiteX8" fmla="*/ 4245725 w 4729925"/>
              <a:gd name="connsiteY8" fmla="*/ 392686 h 634786"/>
              <a:gd name="connsiteX9" fmla="*/ 4367971 w 4729925"/>
              <a:gd name="connsiteY9" fmla="*/ 392686 h 634786"/>
              <a:gd name="connsiteX10" fmla="*/ 4367971 w 4729925"/>
              <a:gd name="connsiteY10" fmla="*/ 392686 h 634786"/>
              <a:gd name="connsiteX11" fmla="*/ 4214993 w 4729925"/>
              <a:gd name="connsiteY11" fmla="*/ 239708 h 634786"/>
              <a:gd name="connsiteX12" fmla="*/ 407926 w 4729925"/>
              <a:gd name="connsiteY12" fmla="*/ 239708 h 634786"/>
              <a:gd name="connsiteX13" fmla="*/ 254948 w 4729925"/>
              <a:gd name="connsiteY13" fmla="*/ 392686 h 634786"/>
              <a:gd name="connsiteX14" fmla="*/ 180588 w 4729925"/>
              <a:gd name="connsiteY14" fmla="*/ 479151 h 634786"/>
              <a:gd name="connsiteX15" fmla="*/ 239708 w 4729925"/>
              <a:gd name="connsiteY15" fmla="*/ 473100 h 634786"/>
              <a:gd name="connsiteX16" fmla="*/ 0 w 4729925"/>
              <a:gd name="connsiteY16" fmla="*/ 450240 h 63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9925" h="634786">
                <a:moveTo>
                  <a:pt x="0" y="450240"/>
                </a:moveTo>
                <a:cubicBezTo>
                  <a:pt x="0" y="258335"/>
                  <a:pt x="15240" y="584591"/>
                  <a:pt x="15240" y="392686"/>
                </a:cubicBezTo>
                <a:cubicBezTo>
                  <a:pt x="15240" y="175812"/>
                  <a:pt x="191052" y="0"/>
                  <a:pt x="407926" y="0"/>
                </a:cubicBezTo>
                <a:lnTo>
                  <a:pt x="4214993" y="0"/>
                </a:lnTo>
                <a:cubicBezTo>
                  <a:pt x="4431867" y="0"/>
                  <a:pt x="4607679" y="175812"/>
                  <a:pt x="4607679" y="392686"/>
                </a:cubicBezTo>
                <a:lnTo>
                  <a:pt x="4607679" y="392686"/>
                </a:lnTo>
                <a:lnTo>
                  <a:pt x="4729925" y="392686"/>
                </a:lnTo>
                <a:lnTo>
                  <a:pt x="4487825" y="634786"/>
                </a:lnTo>
                <a:lnTo>
                  <a:pt x="4245725" y="392686"/>
                </a:lnTo>
                <a:lnTo>
                  <a:pt x="4367971" y="392686"/>
                </a:lnTo>
                <a:lnTo>
                  <a:pt x="4367971" y="392686"/>
                </a:lnTo>
                <a:cubicBezTo>
                  <a:pt x="4367971" y="308199"/>
                  <a:pt x="4299480" y="239708"/>
                  <a:pt x="4214993" y="239708"/>
                </a:cubicBezTo>
                <a:lnTo>
                  <a:pt x="407926" y="239708"/>
                </a:lnTo>
                <a:cubicBezTo>
                  <a:pt x="323439" y="239708"/>
                  <a:pt x="254948" y="308199"/>
                  <a:pt x="254948" y="392686"/>
                </a:cubicBezTo>
                <a:cubicBezTo>
                  <a:pt x="255561" y="563748"/>
                  <a:pt x="179975" y="308089"/>
                  <a:pt x="180588" y="479151"/>
                </a:cubicBezTo>
                <a:cubicBezTo>
                  <a:pt x="179975" y="527934"/>
                  <a:pt x="240321" y="424317"/>
                  <a:pt x="239708" y="473100"/>
                </a:cubicBezTo>
                <a:lnTo>
                  <a:pt x="0" y="450240"/>
                </a:lnTo>
                <a:close/>
              </a:path>
            </a:pathLst>
          </a:cu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pic>
        <p:nvPicPr>
          <p:cNvPr id="94" name="Picture 33" descr="Times New Roman, Regular - }"/>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1302893" y="1772820"/>
            <a:ext cx="1397994" cy="2585751"/>
          </a:xfrm>
          <a:prstGeom prst="rect">
            <a:avLst/>
          </a:prstGeom>
          <a:solidFill>
            <a:srgbClr val="0086AC"/>
          </a:solidFill>
        </p:spPr>
      </p:pic>
      <p:grpSp>
        <p:nvGrpSpPr>
          <p:cNvPr id="47" name="46 Grupo"/>
          <p:cNvGrpSpPr/>
          <p:nvPr/>
        </p:nvGrpSpPr>
        <p:grpSpPr>
          <a:xfrm>
            <a:off x="369282" y="2132856"/>
            <a:ext cx="1315511" cy="1640290"/>
            <a:chOff x="557212" y="3228686"/>
            <a:chExt cx="2664890" cy="1750310"/>
          </a:xfrm>
          <a:solidFill>
            <a:srgbClr val="3CB2C3"/>
          </a:solidFill>
        </p:grpSpPr>
        <p:sp>
          <p:nvSpPr>
            <p:cNvPr id="48" name="47 Pentágono"/>
            <p:cNvSpPr/>
            <p:nvPr/>
          </p:nvSpPr>
          <p:spPr>
            <a:xfrm>
              <a:off x="557212" y="3228686"/>
              <a:ext cx="2664890" cy="199576"/>
            </a:xfrm>
            <a:prstGeom prst="homePlate">
              <a:avLst>
                <a:gd name="adj" fmla="val 24655"/>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endParaRPr lang="en-GB" sz="1050" spc="-50" dirty="0">
                <a:solidFill>
                  <a:prstClr val="white"/>
                </a:solidFill>
                <a:latin typeface="Avenir 35" panose="00000400000000000000" pitchFamily="2" charset="0"/>
              </a:endParaRPr>
            </a:p>
          </p:txBody>
        </p:sp>
        <p:sp>
          <p:nvSpPr>
            <p:cNvPr id="49" name="48 Pentágono"/>
            <p:cNvSpPr/>
            <p:nvPr/>
          </p:nvSpPr>
          <p:spPr>
            <a:xfrm>
              <a:off x="557212" y="3487142"/>
              <a:ext cx="2664890" cy="199576"/>
            </a:xfrm>
            <a:prstGeom prst="homePlate">
              <a:avLst>
                <a:gd name="adj" fmla="val 24655"/>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endParaRPr lang="en-GB" sz="1050" spc="-100" dirty="0">
                <a:solidFill>
                  <a:prstClr val="white"/>
                </a:solidFill>
                <a:latin typeface="Avenir 35" panose="00000400000000000000" pitchFamily="2" charset="0"/>
              </a:endParaRPr>
            </a:p>
          </p:txBody>
        </p:sp>
        <p:sp>
          <p:nvSpPr>
            <p:cNvPr id="50" name="49 Pentágono"/>
            <p:cNvSpPr/>
            <p:nvPr/>
          </p:nvSpPr>
          <p:spPr>
            <a:xfrm>
              <a:off x="557212" y="4004054"/>
              <a:ext cx="2664890" cy="199576"/>
            </a:xfrm>
            <a:prstGeom prst="homePlate">
              <a:avLst>
                <a:gd name="adj" fmla="val 24655"/>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endParaRPr lang="en-GB" sz="1050" spc="-100" dirty="0">
                <a:solidFill>
                  <a:prstClr val="white"/>
                </a:solidFill>
                <a:latin typeface="Avenir 35" panose="00000400000000000000" pitchFamily="2" charset="0"/>
              </a:endParaRPr>
            </a:p>
          </p:txBody>
        </p:sp>
        <p:sp>
          <p:nvSpPr>
            <p:cNvPr id="51" name="50 Pentágono"/>
            <p:cNvSpPr/>
            <p:nvPr/>
          </p:nvSpPr>
          <p:spPr>
            <a:xfrm>
              <a:off x="557212" y="4520964"/>
              <a:ext cx="2664890" cy="199576"/>
            </a:xfrm>
            <a:prstGeom prst="homePlate">
              <a:avLst>
                <a:gd name="adj" fmla="val 24655"/>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endParaRPr lang="en-GB" sz="1050" spc="-100" dirty="0">
                <a:solidFill>
                  <a:prstClr val="white"/>
                </a:solidFill>
                <a:latin typeface="Avenir 35" panose="00000400000000000000" pitchFamily="2" charset="0"/>
              </a:endParaRPr>
            </a:p>
          </p:txBody>
        </p:sp>
        <p:sp>
          <p:nvSpPr>
            <p:cNvPr id="52" name="51 Pentágono"/>
            <p:cNvSpPr/>
            <p:nvPr/>
          </p:nvSpPr>
          <p:spPr>
            <a:xfrm>
              <a:off x="557212" y="3745598"/>
              <a:ext cx="2664890" cy="199576"/>
            </a:xfrm>
            <a:prstGeom prst="homePlate">
              <a:avLst>
                <a:gd name="adj" fmla="val 24655"/>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endParaRPr lang="en-GB" sz="1050" spc="-100" dirty="0">
                <a:solidFill>
                  <a:prstClr val="white"/>
                </a:solidFill>
                <a:latin typeface="Avenir 35" panose="00000400000000000000" pitchFamily="2" charset="0"/>
              </a:endParaRPr>
            </a:p>
          </p:txBody>
        </p:sp>
        <p:sp>
          <p:nvSpPr>
            <p:cNvPr id="53" name="52 Pentágono"/>
            <p:cNvSpPr/>
            <p:nvPr/>
          </p:nvSpPr>
          <p:spPr>
            <a:xfrm>
              <a:off x="557212" y="4262508"/>
              <a:ext cx="2664890" cy="199576"/>
            </a:xfrm>
            <a:prstGeom prst="homePlate">
              <a:avLst>
                <a:gd name="adj" fmla="val 24655"/>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endParaRPr lang="en-GB" sz="1050" spc="-100" dirty="0">
                <a:solidFill>
                  <a:prstClr val="white"/>
                </a:solidFill>
                <a:latin typeface="Avenir 35" panose="00000400000000000000" pitchFamily="2" charset="0"/>
              </a:endParaRPr>
            </a:p>
          </p:txBody>
        </p:sp>
        <p:sp>
          <p:nvSpPr>
            <p:cNvPr id="54" name="53 Pentágono"/>
            <p:cNvSpPr/>
            <p:nvPr/>
          </p:nvSpPr>
          <p:spPr>
            <a:xfrm>
              <a:off x="557212" y="4779420"/>
              <a:ext cx="2664890" cy="199576"/>
            </a:xfrm>
            <a:prstGeom prst="homePlate">
              <a:avLst>
                <a:gd name="adj" fmla="val 24655"/>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endParaRPr lang="en-GB" sz="1050" spc="-100" dirty="0">
                <a:solidFill>
                  <a:prstClr val="white"/>
                </a:solidFill>
                <a:latin typeface="Avenir 35" panose="00000400000000000000" pitchFamily="2" charset="0"/>
              </a:endParaRPr>
            </a:p>
          </p:txBody>
        </p:sp>
        <p:sp>
          <p:nvSpPr>
            <p:cNvPr id="68" name="67 Rectángulo redondeado"/>
            <p:cNvSpPr/>
            <p:nvPr/>
          </p:nvSpPr>
          <p:spPr>
            <a:xfrm>
              <a:off x="557212" y="4025898"/>
              <a:ext cx="2459488" cy="166313"/>
            </a:xfrm>
            <a:prstGeom prst="round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lIns="216000" rIns="36000" rtlCol="0" anchor="ctr"/>
            <a:lstStyle/>
            <a:p>
              <a:pPr algn="ctr"/>
              <a:r>
                <a:rPr lang="en-GB" sz="1050" spc="-100" dirty="0">
                  <a:solidFill>
                    <a:prstClr val="white"/>
                  </a:solidFill>
                  <a:latin typeface="Avenir 35" panose="00000400000000000000" pitchFamily="2" charset="0"/>
                  <a:cs typeface="Arial" pitchFamily="34" charset="0"/>
                </a:rPr>
                <a:t>V. O. </a:t>
              </a:r>
            </a:p>
          </p:txBody>
        </p:sp>
        <p:sp>
          <p:nvSpPr>
            <p:cNvPr id="69" name="68 Rectángulo redondeado"/>
            <p:cNvSpPr/>
            <p:nvPr/>
          </p:nvSpPr>
          <p:spPr>
            <a:xfrm>
              <a:off x="557212" y="3765705"/>
              <a:ext cx="2459488" cy="166313"/>
            </a:xfrm>
            <a:prstGeom prst="round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lIns="216000" rIns="36000" rtlCol="0" anchor="ctr"/>
            <a:lstStyle/>
            <a:p>
              <a:pPr algn="ctr"/>
              <a:r>
                <a:rPr lang="en-GB" sz="1050" spc="-100" dirty="0">
                  <a:solidFill>
                    <a:prstClr val="white"/>
                  </a:solidFill>
                  <a:latin typeface="Avenir 35" panose="00000400000000000000" pitchFamily="2" charset="0"/>
                  <a:cs typeface="Arial" pitchFamily="34" charset="0"/>
                </a:rPr>
                <a:t>CAMIONES BU</a:t>
              </a:r>
            </a:p>
          </p:txBody>
        </p:sp>
        <p:sp>
          <p:nvSpPr>
            <p:cNvPr id="70" name="69 Rectángulo redondeado"/>
            <p:cNvSpPr/>
            <p:nvPr/>
          </p:nvSpPr>
          <p:spPr>
            <a:xfrm>
              <a:off x="557212" y="4806479"/>
              <a:ext cx="2459488" cy="166313"/>
            </a:xfrm>
            <a:prstGeom prst="round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lIns="216000" rIns="36000" rtlCol="0" anchor="ctr"/>
            <a:lstStyle/>
            <a:p>
              <a:pPr algn="ctr"/>
              <a:r>
                <a:rPr lang="en-GB" sz="1050" spc="-100" dirty="0">
                  <a:solidFill>
                    <a:prstClr val="white"/>
                  </a:solidFill>
                  <a:latin typeface="Avenir 35" panose="00000400000000000000" pitchFamily="2" charset="0"/>
                  <a:cs typeface="Arial" pitchFamily="34" charset="0"/>
                </a:rPr>
                <a:t>MBFS</a:t>
              </a:r>
            </a:p>
          </p:txBody>
        </p:sp>
        <p:sp>
          <p:nvSpPr>
            <p:cNvPr id="75" name="74 Rectángulo redondeado"/>
            <p:cNvSpPr/>
            <p:nvPr/>
          </p:nvSpPr>
          <p:spPr>
            <a:xfrm>
              <a:off x="557212" y="3505512"/>
              <a:ext cx="2459488" cy="166313"/>
            </a:xfrm>
            <a:prstGeom prst="round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lIns="216000" rIns="36000" rtlCol="0" anchor="ctr"/>
            <a:lstStyle/>
            <a:p>
              <a:pPr algn="ctr"/>
              <a:r>
                <a:rPr lang="en-GB" sz="1050" spc="-100" dirty="0">
                  <a:solidFill>
                    <a:prstClr val="white"/>
                  </a:solidFill>
                  <a:latin typeface="Avenir 35" panose="00000400000000000000" pitchFamily="2" charset="0"/>
                  <a:cs typeface="Arial" pitchFamily="34" charset="0"/>
                </a:rPr>
                <a:t>FURGONETAS BU</a:t>
              </a:r>
            </a:p>
          </p:txBody>
        </p:sp>
        <p:sp>
          <p:nvSpPr>
            <p:cNvPr id="76" name="75 Rectángulo redondeado"/>
            <p:cNvSpPr/>
            <p:nvPr/>
          </p:nvSpPr>
          <p:spPr>
            <a:xfrm>
              <a:off x="557212" y="4546285"/>
              <a:ext cx="2459488" cy="166313"/>
            </a:xfrm>
            <a:prstGeom prst="round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lIns="216000" rIns="36000" rtlCol="0" anchor="ctr"/>
            <a:lstStyle/>
            <a:p>
              <a:pPr algn="ctr">
                <a:lnSpc>
                  <a:spcPct val="90000"/>
                </a:lnSpc>
              </a:pPr>
              <a:r>
                <a:rPr lang="en-GB" sz="1050" spc="-100" dirty="0">
                  <a:solidFill>
                    <a:prstClr val="white"/>
                  </a:solidFill>
                  <a:latin typeface="Avenir 35" panose="00000400000000000000" pitchFamily="2" charset="0"/>
                  <a:cs typeface="Arial" pitchFamily="34" charset="0"/>
                </a:rPr>
                <a:t>DEALER</a:t>
              </a:r>
            </a:p>
          </p:txBody>
        </p:sp>
        <p:sp>
          <p:nvSpPr>
            <p:cNvPr id="79" name="78 Rectángulo redondeado"/>
            <p:cNvSpPr/>
            <p:nvPr/>
          </p:nvSpPr>
          <p:spPr>
            <a:xfrm>
              <a:off x="557212" y="4286092"/>
              <a:ext cx="2459488" cy="166313"/>
            </a:xfrm>
            <a:prstGeom prst="round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lIns="216000" rIns="36000" rtlCol="0" anchor="ctr"/>
            <a:lstStyle/>
            <a:p>
              <a:pPr algn="ctr"/>
              <a:r>
                <a:rPr lang="en-GB" sz="1050" spc="-100" dirty="0">
                  <a:solidFill>
                    <a:prstClr val="white"/>
                  </a:solidFill>
                  <a:latin typeface="Avenir 35" panose="00000400000000000000" pitchFamily="2" charset="0"/>
                  <a:cs typeface="Arial" pitchFamily="34" charset="0"/>
                </a:rPr>
                <a:t>CLIENTE</a:t>
              </a:r>
            </a:p>
          </p:txBody>
        </p:sp>
        <p:sp>
          <p:nvSpPr>
            <p:cNvPr id="86" name="85 Rectángulo redondeado"/>
            <p:cNvSpPr/>
            <p:nvPr/>
          </p:nvSpPr>
          <p:spPr>
            <a:xfrm>
              <a:off x="557212" y="3245325"/>
              <a:ext cx="2459488" cy="166313"/>
            </a:xfrm>
            <a:prstGeom prst="round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lIns="216000" rIns="36000" rtlCol="0" anchor="ctr"/>
            <a:lstStyle/>
            <a:p>
              <a:pPr algn="ctr"/>
              <a:r>
                <a:rPr lang="en-GB" sz="1050" spc="-100" dirty="0">
                  <a:solidFill>
                    <a:prstClr val="white"/>
                  </a:solidFill>
                  <a:latin typeface="Avenir 35" panose="00000400000000000000" pitchFamily="2" charset="0"/>
                  <a:cs typeface="Arial" pitchFamily="34" charset="0"/>
                </a:rPr>
                <a:t>TURISMO BU</a:t>
              </a:r>
            </a:p>
          </p:txBody>
        </p:sp>
      </p:grpSp>
      <p:sp>
        <p:nvSpPr>
          <p:cNvPr id="30" name="TextBox 2"/>
          <p:cNvSpPr txBox="1"/>
          <p:nvPr/>
        </p:nvSpPr>
        <p:spPr>
          <a:xfrm>
            <a:off x="632524" y="827087"/>
            <a:ext cx="8660261" cy="400110"/>
          </a:xfrm>
          <a:prstGeom prst="rect">
            <a:avLst/>
          </a:prstGeom>
          <a:noFill/>
        </p:spPr>
        <p:txBody>
          <a:bodyPr wrap="square" rtlCol="0">
            <a:spAutoFit/>
          </a:bodyPr>
          <a:lstStyle/>
          <a:p>
            <a:pPr algn="ctr" defTabSz="914120"/>
            <a:r>
              <a:rPr lang="es-ES" sz="1000" dirty="0">
                <a:latin typeface="Avenir 35" panose="00000400000000000000" pitchFamily="2" charset="0"/>
              </a:rPr>
              <a:t>Proponemos una solución adaptada a las </a:t>
            </a:r>
            <a:r>
              <a:rPr lang="es-ES" sz="1000" dirty="0">
                <a:latin typeface="Avenir 65" panose="02000600000000000000" pitchFamily="2" charset="0"/>
              </a:rPr>
              <a:t>necesidades pasadas </a:t>
            </a:r>
            <a:r>
              <a:rPr lang="es-ES" sz="1000" dirty="0">
                <a:latin typeface="Avenir 35" panose="00000400000000000000" pitchFamily="2" charset="0"/>
              </a:rPr>
              <a:t>(mapas de sistemas actual),</a:t>
            </a:r>
            <a:r>
              <a:rPr lang="es-ES" sz="1000" b="1" dirty="0">
                <a:latin typeface="Avenir 65" panose="02000600000000000000" pitchFamily="2" charset="0"/>
              </a:rPr>
              <a:t> </a:t>
            </a:r>
            <a:r>
              <a:rPr lang="es-ES" sz="1000" dirty="0">
                <a:latin typeface="Avenir 65" panose="02000600000000000000" pitchFamily="2" charset="0"/>
              </a:rPr>
              <a:t>presentes</a:t>
            </a:r>
            <a:r>
              <a:rPr lang="es-ES" sz="1000" b="1" dirty="0">
                <a:latin typeface="Avenir 65" panose="02000600000000000000" pitchFamily="2" charset="0"/>
              </a:rPr>
              <a:t> </a:t>
            </a:r>
            <a:r>
              <a:rPr lang="es-ES" sz="1000" dirty="0">
                <a:latin typeface="Avenir 35" panose="00000400000000000000" pitchFamily="2" charset="0"/>
              </a:rPr>
              <a:t>(con las integraciones propuestas) y </a:t>
            </a:r>
            <a:r>
              <a:rPr lang="es-ES" sz="1000" dirty="0">
                <a:latin typeface="Avenir 65" panose="02000600000000000000" pitchFamily="2" charset="0"/>
              </a:rPr>
              <a:t>futuras</a:t>
            </a:r>
            <a:r>
              <a:rPr lang="es-ES" sz="1000" b="1" dirty="0">
                <a:latin typeface="Avenir 35" panose="00000400000000000000" pitchFamily="2" charset="0"/>
              </a:rPr>
              <a:t> </a:t>
            </a:r>
            <a:r>
              <a:rPr lang="es-ES" sz="1000" dirty="0">
                <a:latin typeface="Avenir 35" panose="00000400000000000000" pitchFamily="2" charset="0"/>
              </a:rPr>
              <a:t>(evolutivos propuestos) ofreciendo una </a:t>
            </a:r>
            <a:r>
              <a:rPr lang="es-ES" sz="1000" dirty="0">
                <a:latin typeface="Avenir 65" panose="02000600000000000000" pitchFamily="2" charset="0"/>
              </a:rPr>
              <a:t>ventaja competitiva diferencial </a:t>
            </a:r>
            <a:r>
              <a:rPr lang="es-ES" sz="1000" dirty="0">
                <a:latin typeface="Avenir 35" panose="00000400000000000000" pitchFamily="2" charset="0"/>
              </a:rPr>
              <a:t>a Easy Money en todas sus áreas de negocio</a:t>
            </a:r>
            <a:endParaRPr lang="es-ES" sz="1000" b="1" dirty="0">
              <a:latin typeface="Avenir 35" panose="00000400000000000000" pitchFamily="2" charset="0"/>
            </a:endParaRPr>
          </a:p>
        </p:txBody>
      </p:sp>
      <p:sp>
        <p:nvSpPr>
          <p:cNvPr id="3" name="AutoShape 4" descr="Delivery truck free ic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4" name="AutoShape 6" descr="Delivery truck free icon"/>
          <p:cNvSpPr>
            <a:spLocks noChangeAspect="1" noChangeArrowheads="1"/>
          </p:cNvSpPr>
          <p:nvPr/>
        </p:nvSpPr>
        <p:spPr bwMode="auto">
          <a:xfrm>
            <a:off x="307976"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11" name="AutoShape 16" descr="Delivery truck free icon"/>
          <p:cNvSpPr>
            <a:spLocks noChangeAspect="1" noChangeArrowheads="1"/>
          </p:cNvSpPr>
          <p:nvPr/>
        </p:nvSpPr>
        <p:spPr bwMode="auto">
          <a:xfrm>
            <a:off x="1069975" y="769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12" name="AutoShape 19" descr="Resultado de imagen de icon car"/>
          <p:cNvSpPr>
            <a:spLocks noChangeAspect="1" noChangeArrowheads="1"/>
          </p:cNvSpPr>
          <p:nvPr/>
        </p:nvSpPr>
        <p:spPr bwMode="auto">
          <a:xfrm>
            <a:off x="1222375" y="922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13" name="AutoShape 21" descr="Resultado de imagen de icon car"/>
          <p:cNvSpPr>
            <a:spLocks noChangeAspect="1" noChangeArrowheads="1"/>
          </p:cNvSpPr>
          <p:nvPr/>
        </p:nvSpPr>
        <p:spPr bwMode="auto">
          <a:xfrm>
            <a:off x="1374775" y="1074741"/>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pic>
        <p:nvPicPr>
          <p:cNvPr id="2073" name="Picture 25" descr="http://www.iconsdb.com/icons/preview/white/car-xxl.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84580" y="2146723"/>
            <a:ext cx="18000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075" name="Picture 27" descr="http://flaticons.net/icons/Transportation/Van.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84580" y="2382097"/>
            <a:ext cx="18000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077" name="Picture 29" descr="http://www.iconsplace.com/download/white-truck-256.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84580" y="2602786"/>
            <a:ext cx="18000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081" name="Picture 33" descr="http://cache1.asset-cache.net/xt/534195601.jpg?v=1&amp;g=fs1%7C0%7CISI%7C95%7C601&amp;s=1"/>
          <p:cNvPicPr>
            <a:picLocks noChangeAspect="1" noChangeArrowheads="1"/>
          </p:cNvPicPr>
          <p:nvPr/>
        </p:nvPicPr>
        <p:blipFill rotWithShape="1">
          <a:blip r:embed="rId13" cstate="print">
            <a:lum bright="70000" contrast="-70000"/>
            <a:extLst>
              <a:ext uri="{BEBA8EAE-BF5A-486C-A8C5-ECC9F3942E4B}">
                <a14:imgProps xmlns:a14="http://schemas.microsoft.com/office/drawing/2010/main">
                  <a14:imgLayer r:embed="rId14">
                    <a14:imgEffect>
                      <a14:backgroundRemoval t="14706" b="82353" l="14118" r="87647">
                        <a14:foregroundMark x1="54706" y1="65294" x2="54706" y2="65294"/>
                        <a14:foregroundMark x1="70000" y1="65882" x2="70000" y2="65882"/>
                        <a14:backgroundMark x1="28824" y1="42941" x2="28824" y2="42941"/>
                        <a14:backgroundMark x1="71176" y1="53529" x2="71176" y2="53529"/>
                        <a14:backgroundMark x1="60588" y1="51765" x2="60588" y2="51765"/>
                      </a14:backgroundRemoval>
                    </a14:imgEffect>
                    <a14:imgEffect>
                      <a14:artisticGlowDiffused/>
                    </a14:imgEffect>
                  </a14:imgLayer>
                </a14:imgProps>
              </a:ext>
              <a:ext uri="{28A0092B-C50C-407E-A947-70E740481C1C}">
                <a14:useLocalDpi xmlns:a14="http://schemas.microsoft.com/office/drawing/2010/main" val="0"/>
              </a:ext>
            </a:extLst>
          </a:blip>
          <a:srcRect l="14912" t="14256" r="14828" b="16300"/>
          <a:stretch/>
        </p:blipFill>
        <p:spPr bwMode="auto">
          <a:xfrm>
            <a:off x="390127" y="3371934"/>
            <a:ext cx="168911" cy="166950"/>
          </a:xfrm>
          <a:prstGeom prst="rect">
            <a:avLst/>
          </a:prstGeom>
          <a:noFill/>
          <a:extLst>
            <a:ext uri="{909E8E84-426E-40DD-AFC4-6F175D3DCCD1}">
              <a14:hiddenFill xmlns:a14="http://schemas.microsoft.com/office/drawing/2010/main">
                <a:solidFill>
                  <a:srgbClr val="FFFFFF"/>
                </a:solidFill>
              </a14:hiddenFill>
            </a:ext>
          </a:extLst>
        </p:spPr>
      </p:pic>
      <p:pic>
        <p:nvPicPr>
          <p:cNvPr id="2085" name="Picture 37" descr="https://fr.ecovadis.com/wp-content/themes/ecovadis/images/Icon-user.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10588" y="3131219"/>
            <a:ext cx="127989" cy="127989"/>
          </a:xfrm>
          <a:prstGeom prst="rect">
            <a:avLst/>
          </a:prstGeom>
          <a:noFill/>
          <a:extLst>
            <a:ext uri="{909E8E84-426E-40DD-AFC4-6F175D3DCCD1}">
              <a14:hiddenFill xmlns:a14="http://schemas.microsoft.com/office/drawing/2010/main">
                <a:solidFill>
                  <a:srgbClr val="FFFFFF"/>
                </a:solidFill>
              </a14:hiddenFill>
            </a:ext>
          </a:extLst>
        </p:spPr>
      </p:pic>
      <p:pic>
        <p:nvPicPr>
          <p:cNvPr id="2087" name="Picture 39" descr="https://www.mercedes-benz.com/wp-content/themes/mbcom/assets/images/placeholder.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5575" y="-982663"/>
            <a:ext cx="3714750" cy="2057401"/>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31" descr="http://www.chapmanchryslerjeep.com/img/home/used-cars-icon.png"/>
          <p:cNvPicPr>
            <a:picLocks noChangeAspect="1" noChangeArrowheads="1"/>
          </p:cNvPicPr>
          <p:nvPr/>
        </p:nvPicPr>
        <p:blipFill>
          <a:blip r:embed="rId17" cstate="print">
            <a:biLevel thresh="25000"/>
            <a:extLst>
              <a:ext uri="{28A0092B-C50C-407E-A947-70E740481C1C}">
                <a14:useLocalDpi xmlns:a14="http://schemas.microsoft.com/office/drawing/2010/main" val="0"/>
              </a:ext>
            </a:extLst>
          </a:blip>
          <a:srcRect/>
          <a:stretch>
            <a:fillRect/>
          </a:stretch>
        </p:blipFill>
        <p:spPr bwMode="auto">
          <a:xfrm>
            <a:off x="386417" y="2871756"/>
            <a:ext cx="176331" cy="176331"/>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41" descr="http://www.hydra-newmedia.com/wp-content/uploads/2013/02/11_mercedes_logo.png"/>
          <p:cNvPicPr>
            <a:picLocks noChangeAspect="1" noChangeArrowheads="1"/>
          </p:cNvPicPr>
          <p:nvPr/>
        </p:nvPicPr>
        <p:blipFill rotWithShape="1">
          <a:blip r:embed="rId18" cstate="print">
            <a:lum bright="70000" contrast="-70000"/>
            <a:extLst>
              <a:ext uri="{28A0092B-C50C-407E-A947-70E740481C1C}">
                <a14:useLocalDpi xmlns:a14="http://schemas.microsoft.com/office/drawing/2010/main" val="0"/>
              </a:ext>
            </a:extLst>
          </a:blip>
          <a:srcRect l="35667" r="28666" b="28132"/>
          <a:stretch/>
        </p:blipFill>
        <p:spPr bwMode="auto">
          <a:xfrm>
            <a:off x="374301" y="3586115"/>
            <a:ext cx="260185" cy="180000"/>
          </a:xfrm>
          <a:prstGeom prst="rect">
            <a:avLst/>
          </a:prstGeom>
          <a:noFill/>
          <a:extLst>
            <a:ext uri="{909E8E84-426E-40DD-AFC4-6F175D3DCCD1}">
              <a14:hiddenFill xmlns:a14="http://schemas.microsoft.com/office/drawing/2010/main">
                <a:solidFill>
                  <a:srgbClr val="FFFFFF"/>
                </a:solidFill>
              </a14:hiddenFill>
            </a:ext>
          </a:extLst>
        </p:spPr>
      </p:pic>
      <p:sp>
        <p:nvSpPr>
          <p:cNvPr id="115" name="114 CuadroTexto"/>
          <p:cNvSpPr txBox="1"/>
          <p:nvPr/>
        </p:nvSpPr>
        <p:spPr>
          <a:xfrm>
            <a:off x="355088" y="1268760"/>
            <a:ext cx="9282661" cy="431244"/>
          </a:xfrm>
          <a:prstGeom prst="rightArrow">
            <a:avLst/>
          </a:prstGeom>
          <a:solidFill>
            <a:schemeClr val="tx1">
              <a:lumMod val="65000"/>
              <a:lumOff val="35000"/>
            </a:schemeClr>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600" kern="0">
                <a:solidFill>
                  <a:srgbClr val="FFFFFF"/>
                </a:solidFill>
                <a:latin typeface="Century Gothic" panose="020B0502020202020204" pitchFamily="34" charset="0"/>
              </a:defRPr>
            </a:lvl1pPr>
          </a:lstStyle>
          <a:p>
            <a:r>
              <a:rPr lang="es-ES" sz="1200" dirty="0">
                <a:latin typeface="Avenir 35 Light" panose="00000400000000000000" pitchFamily="2" charset="0"/>
              </a:rPr>
              <a:t>Evolucionar</a:t>
            </a:r>
            <a:endParaRPr lang="es-ES" dirty="0">
              <a:latin typeface="Avenir 35 Light" panose="00000400000000000000" pitchFamily="2" charset="0"/>
            </a:endParaRPr>
          </a:p>
        </p:txBody>
      </p:sp>
      <p:sp>
        <p:nvSpPr>
          <p:cNvPr id="119" name="Content Placeholder 2"/>
          <p:cNvSpPr txBox="1">
            <a:spLocks/>
          </p:cNvSpPr>
          <p:nvPr/>
        </p:nvSpPr>
        <p:spPr bwMode="auto">
          <a:xfrm>
            <a:off x="4592960" y="4431709"/>
            <a:ext cx="4068801" cy="72548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defRPr/>
            </a:pPr>
            <a:r>
              <a:rPr lang="es-ES" sz="1000" dirty="0">
                <a:solidFill>
                  <a:prstClr val="black">
                    <a:lumMod val="75000"/>
                    <a:lumOff val="25000"/>
                  </a:prstClr>
                </a:solidFill>
                <a:latin typeface="Century Gothic" panose="020B0502020202020204" pitchFamily="34" charset="0"/>
              </a:rPr>
              <a:t>Retroalimentación</a:t>
            </a:r>
            <a:endParaRPr lang="en-AU" sz="1000" dirty="0">
              <a:solidFill>
                <a:prstClr val="black">
                  <a:lumMod val="75000"/>
                  <a:lumOff val="25000"/>
                </a:prstClr>
              </a:solidFill>
              <a:latin typeface="Century Gothic" panose="020B0502020202020204" pitchFamily="34" charset="0"/>
            </a:endParaRPr>
          </a:p>
        </p:txBody>
      </p:sp>
      <p:sp>
        <p:nvSpPr>
          <p:cNvPr id="120" name="119 CuadroTexto"/>
          <p:cNvSpPr txBox="1"/>
          <p:nvPr/>
        </p:nvSpPr>
        <p:spPr>
          <a:xfrm>
            <a:off x="355090" y="4869964"/>
            <a:ext cx="9310709" cy="431244"/>
          </a:xfrm>
          <a:prstGeom prst="leftArrow">
            <a:avLst/>
          </a:prstGeom>
          <a:solidFill>
            <a:srgbClr val="323232"/>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200" kern="0">
                <a:solidFill>
                  <a:srgbClr val="FFFFFF"/>
                </a:solidFill>
                <a:latin typeface="Century Gothic" panose="020B0502020202020204" pitchFamily="34" charset="0"/>
              </a:defRPr>
            </a:lvl1pPr>
          </a:lstStyle>
          <a:p>
            <a:r>
              <a:rPr lang="es-ES" dirty="0">
                <a:latin typeface="Avenir 35" panose="00000400000000000000" pitchFamily="2" charset="0"/>
              </a:rPr>
              <a:t>Evolucionar</a:t>
            </a:r>
          </a:p>
        </p:txBody>
      </p:sp>
      <p:sp>
        <p:nvSpPr>
          <p:cNvPr id="121" name="Content Placeholder 2"/>
          <p:cNvSpPr txBox="1">
            <a:spLocks/>
          </p:cNvSpPr>
          <p:nvPr/>
        </p:nvSpPr>
        <p:spPr bwMode="auto">
          <a:xfrm>
            <a:off x="5790727" y="3586116"/>
            <a:ext cx="4068801" cy="72548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defRPr/>
            </a:pPr>
            <a:r>
              <a:rPr lang="es-ES" sz="1000" dirty="0">
                <a:solidFill>
                  <a:prstClr val="white">
                    <a:lumMod val="50000"/>
                  </a:prstClr>
                </a:solidFill>
                <a:latin typeface="Avenir 35" panose="00000400000000000000" pitchFamily="2" charset="0"/>
              </a:rPr>
              <a:t>sales cloud</a:t>
            </a:r>
          </a:p>
          <a:p>
            <a:pPr algn="ctr">
              <a:lnSpc>
                <a:spcPct val="100000"/>
              </a:lnSpc>
              <a:spcBef>
                <a:spcPts val="0"/>
              </a:spcBef>
              <a:defRPr/>
            </a:pPr>
            <a:r>
              <a:rPr lang="es-ES" sz="1000" dirty="0">
                <a:solidFill>
                  <a:prstClr val="white">
                    <a:lumMod val="50000"/>
                  </a:prstClr>
                </a:solidFill>
                <a:latin typeface="Avenir 35" panose="00000400000000000000" pitchFamily="2" charset="0"/>
              </a:rPr>
              <a:t>marketing cloud</a:t>
            </a:r>
          </a:p>
          <a:p>
            <a:pPr algn="ctr">
              <a:lnSpc>
                <a:spcPct val="100000"/>
              </a:lnSpc>
              <a:spcBef>
                <a:spcPts val="0"/>
              </a:spcBef>
              <a:defRPr/>
            </a:pPr>
            <a:r>
              <a:rPr lang="es-ES" sz="1000" dirty="0">
                <a:solidFill>
                  <a:prstClr val="white">
                    <a:lumMod val="50000"/>
                  </a:prstClr>
                </a:solidFill>
                <a:latin typeface="Avenir 35" panose="00000400000000000000" pitchFamily="2" charset="0"/>
              </a:rPr>
              <a:t>radian6</a:t>
            </a:r>
            <a:endParaRPr lang="en-AU" sz="1000" dirty="0">
              <a:solidFill>
                <a:prstClr val="white">
                  <a:lumMod val="50000"/>
                </a:prstClr>
              </a:solidFill>
              <a:latin typeface="Avenir 35" panose="00000400000000000000" pitchFamily="2" charset="0"/>
            </a:endParaRPr>
          </a:p>
        </p:txBody>
      </p:sp>
      <p:sp>
        <p:nvSpPr>
          <p:cNvPr id="128" name="127 Pentágono"/>
          <p:cNvSpPr/>
          <p:nvPr/>
        </p:nvSpPr>
        <p:spPr>
          <a:xfrm>
            <a:off x="378198" y="3825972"/>
            <a:ext cx="1315511" cy="187031"/>
          </a:xfrm>
          <a:prstGeom prst="homePlate">
            <a:avLst>
              <a:gd name="adj" fmla="val 24655"/>
            </a:avLst>
          </a:prstGeom>
          <a:solidFill>
            <a:srgbClr val="3CB2C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endParaRPr lang="en-GB" sz="1100" spc="-100" dirty="0">
              <a:solidFill>
                <a:prstClr val="white"/>
              </a:solidFill>
              <a:latin typeface="Century Gothic" panose="020B0502020202020204" pitchFamily="34" charset="0"/>
            </a:endParaRPr>
          </a:p>
        </p:txBody>
      </p:sp>
      <p:sp>
        <p:nvSpPr>
          <p:cNvPr id="129" name="128 Pentágono"/>
          <p:cNvSpPr/>
          <p:nvPr/>
        </p:nvSpPr>
        <p:spPr>
          <a:xfrm>
            <a:off x="378198" y="4068180"/>
            <a:ext cx="1315511" cy="187031"/>
          </a:xfrm>
          <a:prstGeom prst="homePlate">
            <a:avLst>
              <a:gd name="adj" fmla="val 24655"/>
            </a:avLst>
          </a:prstGeom>
          <a:solidFill>
            <a:srgbClr val="3CB2C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endParaRPr lang="en-GB" sz="1100" spc="-100" dirty="0">
              <a:solidFill>
                <a:prstClr val="white"/>
              </a:solidFill>
              <a:latin typeface="Avenir 35" panose="00000400000000000000" pitchFamily="2" charset="0"/>
            </a:endParaRPr>
          </a:p>
        </p:txBody>
      </p:sp>
      <p:sp>
        <p:nvSpPr>
          <p:cNvPr id="130" name="129 Rectángulo redondeado"/>
          <p:cNvSpPr/>
          <p:nvPr/>
        </p:nvSpPr>
        <p:spPr>
          <a:xfrm>
            <a:off x="378198" y="4093537"/>
            <a:ext cx="1214116" cy="155859"/>
          </a:xfrm>
          <a:prstGeom prst="roundRect">
            <a:avLst/>
          </a:prstGeom>
          <a:solidFill>
            <a:srgbClr val="3CB2C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216000" rIns="36000" rtlCol="0" anchor="ctr"/>
          <a:lstStyle/>
          <a:p>
            <a:pPr algn="ctr"/>
            <a:r>
              <a:rPr lang="en-GB" sz="1100" spc="-100" dirty="0">
                <a:solidFill>
                  <a:prstClr val="white"/>
                </a:solidFill>
                <a:latin typeface="Avenir 35" panose="00000400000000000000" pitchFamily="2" charset="0"/>
                <a:cs typeface="Arial" pitchFamily="34" charset="0"/>
              </a:rPr>
              <a:t>BANCO</a:t>
            </a:r>
          </a:p>
        </p:txBody>
      </p:sp>
      <p:sp>
        <p:nvSpPr>
          <p:cNvPr id="131" name="130 Rectángulo redondeado"/>
          <p:cNvSpPr/>
          <p:nvPr/>
        </p:nvSpPr>
        <p:spPr>
          <a:xfrm>
            <a:off x="378198" y="3849697"/>
            <a:ext cx="1214116" cy="155859"/>
          </a:xfrm>
          <a:prstGeom prst="roundRect">
            <a:avLst/>
          </a:prstGeom>
          <a:solidFill>
            <a:srgbClr val="3CB2C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216000" rIns="36000" rtlCol="0" anchor="ctr"/>
          <a:lstStyle/>
          <a:p>
            <a:pPr algn="ctr">
              <a:lnSpc>
                <a:spcPct val="90000"/>
              </a:lnSpc>
            </a:pPr>
            <a:r>
              <a:rPr lang="en-GB" sz="1100" spc="-100" dirty="0">
                <a:solidFill>
                  <a:prstClr val="white"/>
                </a:solidFill>
                <a:latin typeface="Avenir 35" panose="00000400000000000000" pitchFamily="2" charset="0"/>
                <a:cs typeface="Arial" pitchFamily="34" charset="0"/>
              </a:rPr>
              <a:t>Easy Money AG</a:t>
            </a:r>
          </a:p>
        </p:txBody>
      </p:sp>
      <p:pic>
        <p:nvPicPr>
          <p:cNvPr id="132" name="Picture 41" descr="http://www.hydra-newmedia.com/wp-content/uploads/2013/02/11_mercedes_logo.png"/>
          <p:cNvPicPr>
            <a:picLocks noChangeAspect="1" noChangeArrowheads="1"/>
          </p:cNvPicPr>
          <p:nvPr/>
        </p:nvPicPr>
        <p:blipFill rotWithShape="1">
          <a:blip r:embed="rId18" cstate="print">
            <a:lum bright="70000" contrast="-70000"/>
            <a:extLst>
              <a:ext uri="{28A0092B-C50C-407E-A947-70E740481C1C}">
                <a14:useLocalDpi xmlns:a14="http://schemas.microsoft.com/office/drawing/2010/main" val="0"/>
              </a:ext>
            </a:extLst>
          </a:blip>
          <a:srcRect l="35667" r="28666" b="28132"/>
          <a:stretch/>
        </p:blipFill>
        <p:spPr bwMode="auto">
          <a:xfrm>
            <a:off x="372337" y="3820102"/>
            <a:ext cx="260185" cy="180000"/>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41" descr="http://www.hydra-newmedia.com/wp-content/uploads/2013/02/11_mercedes_logo.png"/>
          <p:cNvPicPr>
            <a:picLocks noChangeAspect="1" noChangeArrowheads="1"/>
          </p:cNvPicPr>
          <p:nvPr/>
        </p:nvPicPr>
        <p:blipFill rotWithShape="1">
          <a:blip r:embed="rId18" cstate="print">
            <a:lum bright="70000" contrast="-70000"/>
            <a:extLst>
              <a:ext uri="{28A0092B-C50C-407E-A947-70E740481C1C}">
                <a14:useLocalDpi xmlns:a14="http://schemas.microsoft.com/office/drawing/2010/main" val="0"/>
              </a:ext>
            </a:extLst>
          </a:blip>
          <a:srcRect l="35667" r="28666" b="28132"/>
          <a:stretch/>
        </p:blipFill>
        <p:spPr bwMode="auto">
          <a:xfrm>
            <a:off x="372337" y="4060511"/>
            <a:ext cx="260185" cy="180000"/>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22 Grupo"/>
          <p:cNvGrpSpPr/>
          <p:nvPr/>
        </p:nvGrpSpPr>
        <p:grpSpPr>
          <a:xfrm>
            <a:off x="517782" y="5452776"/>
            <a:ext cx="1947457" cy="928552"/>
            <a:chOff x="1786980" y="5308760"/>
            <a:chExt cx="1947457" cy="928552"/>
          </a:xfrm>
        </p:grpSpPr>
        <p:sp>
          <p:nvSpPr>
            <p:cNvPr id="151" name="9 Rectángulo redondeado"/>
            <p:cNvSpPr/>
            <p:nvPr/>
          </p:nvSpPr>
          <p:spPr>
            <a:xfrm>
              <a:off x="1786980" y="5517232"/>
              <a:ext cx="1947457" cy="720080"/>
            </a:xfrm>
            <a:prstGeom prst="roundRect">
              <a:avLst>
                <a:gd name="adj" fmla="val 0"/>
              </a:avLst>
            </a:prstGeom>
            <a:solidFill>
              <a:srgbClr val="323232"/>
            </a:solidFill>
            <a:ln>
              <a:noFill/>
            </a:ln>
          </p:spPr>
          <p:style>
            <a:lnRef idx="2">
              <a:schemeClr val="accent2">
                <a:shade val="50000"/>
              </a:schemeClr>
            </a:lnRef>
            <a:fillRef idx="1">
              <a:schemeClr val="accent2"/>
            </a:fillRef>
            <a:effectRef idx="0">
              <a:schemeClr val="accent2"/>
            </a:effectRef>
            <a:fontRef idx="minor">
              <a:schemeClr val="lt1"/>
            </a:fontRef>
          </p:style>
          <p:txBody>
            <a:bodyPr lIns="36000" tIns="252000" rIns="36000" rtlCol="0" anchor="ctr"/>
            <a:lstStyle/>
            <a:p>
              <a:pPr algn="ctr"/>
              <a:r>
                <a:rPr lang="en-US" sz="1400" dirty="0">
                  <a:solidFill>
                    <a:prstClr val="white"/>
                  </a:solidFill>
                  <a:latin typeface="Avenir 35" panose="00000400000000000000" pitchFamily="2" charset="0"/>
                  <a:cs typeface="Arial" pitchFamily="34" charset="0"/>
                </a:rPr>
                <a:t>Event Management</a:t>
              </a:r>
              <a:endParaRPr lang="en-US" dirty="0">
                <a:solidFill>
                  <a:prstClr val="white"/>
                </a:solidFill>
                <a:latin typeface="Avenir 35" panose="00000400000000000000" pitchFamily="2" charset="0"/>
                <a:cs typeface="Arial" pitchFamily="34" charset="0"/>
              </a:endParaRPr>
            </a:p>
          </p:txBody>
        </p:sp>
        <p:sp>
          <p:nvSpPr>
            <p:cNvPr id="152" name="151 Elipse"/>
            <p:cNvSpPr/>
            <p:nvPr/>
          </p:nvSpPr>
          <p:spPr>
            <a:xfrm>
              <a:off x="2480779" y="5308760"/>
              <a:ext cx="580437" cy="552025"/>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latin typeface="Avenir 35" panose="00000400000000000000" pitchFamily="2" charset="0"/>
              </a:endParaRPr>
            </a:p>
          </p:txBody>
        </p:sp>
      </p:grpSp>
      <p:sp>
        <p:nvSpPr>
          <p:cNvPr id="157" name="9 Rectángulo redondeado"/>
          <p:cNvSpPr/>
          <p:nvPr/>
        </p:nvSpPr>
        <p:spPr>
          <a:xfrm>
            <a:off x="2845188" y="5717871"/>
            <a:ext cx="1947457" cy="663461"/>
          </a:xfrm>
          <a:prstGeom prst="roundRect">
            <a:avLst>
              <a:gd name="adj" fmla="val 0"/>
            </a:avLst>
          </a:prstGeom>
          <a:solidFill>
            <a:srgbClr val="323232"/>
          </a:solidFill>
          <a:ln>
            <a:noFill/>
          </a:ln>
        </p:spPr>
        <p:style>
          <a:lnRef idx="2">
            <a:schemeClr val="accent2">
              <a:shade val="50000"/>
            </a:schemeClr>
          </a:lnRef>
          <a:fillRef idx="1">
            <a:schemeClr val="accent2"/>
          </a:fillRef>
          <a:effectRef idx="0">
            <a:schemeClr val="accent2"/>
          </a:effectRef>
          <a:fontRef idx="minor">
            <a:schemeClr val="lt1"/>
          </a:fontRef>
        </p:style>
        <p:txBody>
          <a:bodyPr lIns="36000" tIns="252000" rIns="36000" rtlCol="0" anchor="ctr"/>
          <a:lstStyle/>
          <a:p>
            <a:pPr algn="ctr"/>
            <a:r>
              <a:rPr lang="en-US" sz="1400" dirty="0">
                <a:solidFill>
                  <a:prstClr val="white"/>
                </a:solidFill>
                <a:latin typeface="Avenir 35" panose="00000400000000000000" pitchFamily="2" charset="0"/>
                <a:cs typeface="Arial" pitchFamily="34" charset="0"/>
              </a:rPr>
              <a:t>Carsharing</a:t>
            </a:r>
            <a:endParaRPr lang="en-US" dirty="0">
              <a:solidFill>
                <a:prstClr val="white"/>
              </a:solidFill>
              <a:latin typeface="Avenir 35" panose="00000400000000000000" pitchFamily="2" charset="0"/>
              <a:cs typeface="Arial" pitchFamily="34" charset="0"/>
            </a:endParaRPr>
          </a:p>
        </p:txBody>
      </p:sp>
      <p:sp>
        <p:nvSpPr>
          <p:cNvPr id="160" name="9 Rectángulo redondeado"/>
          <p:cNvSpPr/>
          <p:nvPr/>
        </p:nvSpPr>
        <p:spPr>
          <a:xfrm>
            <a:off x="5172593" y="5694605"/>
            <a:ext cx="1947457" cy="686727"/>
          </a:xfrm>
          <a:prstGeom prst="roundRect">
            <a:avLst>
              <a:gd name="adj" fmla="val 0"/>
            </a:avLst>
          </a:prstGeom>
          <a:solidFill>
            <a:srgbClr val="323232"/>
          </a:solidFill>
          <a:ln>
            <a:noFill/>
          </a:ln>
        </p:spPr>
        <p:style>
          <a:lnRef idx="2">
            <a:schemeClr val="accent2">
              <a:shade val="50000"/>
            </a:schemeClr>
          </a:lnRef>
          <a:fillRef idx="1">
            <a:schemeClr val="accent2"/>
          </a:fillRef>
          <a:effectRef idx="0">
            <a:schemeClr val="accent2"/>
          </a:effectRef>
          <a:fontRef idx="minor">
            <a:schemeClr val="lt1"/>
          </a:fontRef>
        </p:style>
        <p:txBody>
          <a:bodyPr lIns="36000" tIns="252000" rIns="36000" rtlCol="0" anchor="ctr"/>
          <a:lstStyle/>
          <a:p>
            <a:pPr algn="ctr"/>
            <a:r>
              <a:rPr lang="en-US" sz="1400" dirty="0">
                <a:solidFill>
                  <a:prstClr val="white"/>
                </a:solidFill>
                <a:latin typeface="Avenir 35" panose="00000400000000000000" pitchFamily="2" charset="0"/>
                <a:cs typeface="Arial" pitchFamily="34" charset="0"/>
              </a:rPr>
              <a:t>Connected Car</a:t>
            </a:r>
            <a:endParaRPr lang="en-US" dirty="0">
              <a:solidFill>
                <a:prstClr val="white"/>
              </a:solidFill>
              <a:latin typeface="Avenir 35" panose="00000400000000000000" pitchFamily="2" charset="0"/>
              <a:cs typeface="Arial" pitchFamily="34" charset="0"/>
            </a:endParaRPr>
          </a:p>
        </p:txBody>
      </p:sp>
      <p:sp>
        <p:nvSpPr>
          <p:cNvPr id="163" name="9 Rectángulo redondeado"/>
          <p:cNvSpPr/>
          <p:nvPr/>
        </p:nvSpPr>
        <p:spPr>
          <a:xfrm>
            <a:off x="7499996" y="5694605"/>
            <a:ext cx="1947457" cy="686727"/>
          </a:xfrm>
          <a:prstGeom prst="roundRect">
            <a:avLst>
              <a:gd name="adj" fmla="val 0"/>
            </a:avLst>
          </a:prstGeom>
          <a:solidFill>
            <a:srgbClr val="323232"/>
          </a:solidFill>
          <a:ln>
            <a:noFill/>
          </a:ln>
        </p:spPr>
        <p:style>
          <a:lnRef idx="2">
            <a:schemeClr val="accent2">
              <a:shade val="50000"/>
            </a:schemeClr>
          </a:lnRef>
          <a:fillRef idx="1">
            <a:schemeClr val="accent2"/>
          </a:fillRef>
          <a:effectRef idx="0">
            <a:schemeClr val="accent2"/>
          </a:effectRef>
          <a:fontRef idx="minor">
            <a:schemeClr val="lt1"/>
          </a:fontRef>
        </p:style>
        <p:txBody>
          <a:bodyPr lIns="36000" tIns="252000" rIns="36000" rtlCol="0" anchor="ctr"/>
          <a:lstStyle/>
          <a:p>
            <a:pPr algn="ctr"/>
            <a:r>
              <a:rPr lang="en-US" sz="1400" dirty="0">
                <a:solidFill>
                  <a:prstClr val="white"/>
                </a:solidFill>
                <a:latin typeface="Avenir 35" panose="00000400000000000000" pitchFamily="2" charset="0"/>
                <a:cs typeface="Arial" pitchFamily="34" charset="0"/>
              </a:rPr>
              <a:t>Dealer Dashboard</a:t>
            </a:r>
            <a:endParaRPr lang="en-US" dirty="0">
              <a:solidFill>
                <a:prstClr val="white"/>
              </a:solidFill>
              <a:latin typeface="Avenir 35" panose="00000400000000000000" pitchFamily="2" charset="0"/>
              <a:cs typeface="Arial" pitchFamily="34" charset="0"/>
            </a:endParaRPr>
          </a:p>
        </p:txBody>
      </p:sp>
      <p:sp>
        <p:nvSpPr>
          <p:cNvPr id="168" name="Freeform 160"/>
          <p:cNvSpPr>
            <a:spLocks noEditPoints="1"/>
          </p:cNvSpPr>
          <p:nvPr/>
        </p:nvSpPr>
        <p:spPr bwMode="auto">
          <a:xfrm>
            <a:off x="1362961" y="5600326"/>
            <a:ext cx="288000" cy="288000"/>
          </a:xfrm>
          <a:custGeom>
            <a:avLst/>
            <a:gdLst>
              <a:gd name="T0" fmla="*/ 97 w 186"/>
              <a:gd name="T1" fmla="*/ 84 h 185"/>
              <a:gd name="T2" fmla="*/ 114 w 186"/>
              <a:gd name="T3" fmla="*/ 101 h 185"/>
              <a:gd name="T4" fmla="*/ 89 w 186"/>
              <a:gd name="T5" fmla="*/ 84 h 185"/>
              <a:gd name="T6" fmla="*/ 72 w 186"/>
              <a:gd name="T7" fmla="*/ 101 h 185"/>
              <a:gd name="T8" fmla="*/ 89 w 186"/>
              <a:gd name="T9" fmla="*/ 84 h 185"/>
              <a:gd name="T10" fmla="*/ 97 w 186"/>
              <a:gd name="T11" fmla="*/ 114 h 185"/>
              <a:gd name="T12" fmla="*/ 114 w 186"/>
              <a:gd name="T13" fmla="*/ 131 h 185"/>
              <a:gd name="T14" fmla="*/ 114 w 186"/>
              <a:gd name="T15" fmla="*/ 143 h 185"/>
              <a:gd name="T16" fmla="*/ 97 w 186"/>
              <a:gd name="T17" fmla="*/ 160 h 185"/>
              <a:gd name="T18" fmla="*/ 114 w 186"/>
              <a:gd name="T19" fmla="*/ 143 h 185"/>
              <a:gd name="T20" fmla="*/ 122 w 186"/>
              <a:gd name="T21" fmla="*/ 114 h 185"/>
              <a:gd name="T22" fmla="*/ 139 w 186"/>
              <a:gd name="T23" fmla="*/ 131 h 185"/>
              <a:gd name="T24" fmla="*/ 165 w 186"/>
              <a:gd name="T25" fmla="*/ 84 h 185"/>
              <a:gd name="T26" fmla="*/ 148 w 186"/>
              <a:gd name="T27" fmla="*/ 101 h 185"/>
              <a:gd name="T28" fmla="*/ 165 w 186"/>
              <a:gd name="T29" fmla="*/ 84 h 185"/>
              <a:gd name="T30" fmla="*/ 148 w 186"/>
              <a:gd name="T31" fmla="*/ 114 h 185"/>
              <a:gd name="T32" fmla="*/ 165 w 186"/>
              <a:gd name="T33" fmla="*/ 131 h 185"/>
              <a:gd name="T34" fmla="*/ 139 w 186"/>
              <a:gd name="T35" fmla="*/ 84 h 185"/>
              <a:gd name="T36" fmla="*/ 122 w 186"/>
              <a:gd name="T37" fmla="*/ 101 h 185"/>
              <a:gd name="T38" fmla="*/ 139 w 186"/>
              <a:gd name="T39" fmla="*/ 84 h 185"/>
              <a:gd name="T40" fmla="*/ 21 w 186"/>
              <a:gd name="T41" fmla="*/ 143 h 185"/>
              <a:gd name="T42" fmla="*/ 38 w 186"/>
              <a:gd name="T43" fmla="*/ 160 h 185"/>
              <a:gd name="T44" fmla="*/ 63 w 186"/>
              <a:gd name="T45" fmla="*/ 143 h 185"/>
              <a:gd name="T46" fmla="*/ 47 w 186"/>
              <a:gd name="T47" fmla="*/ 160 h 185"/>
              <a:gd name="T48" fmla="*/ 63 w 186"/>
              <a:gd name="T49" fmla="*/ 143 h 185"/>
              <a:gd name="T50" fmla="*/ 21 w 186"/>
              <a:gd name="T51" fmla="*/ 114 h 185"/>
              <a:gd name="T52" fmla="*/ 38 w 186"/>
              <a:gd name="T53" fmla="*/ 131 h 185"/>
              <a:gd name="T54" fmla="*/ 38 w 186"/>
              <a:gd name="T55" fmla="*/ 84 h 185"/>
              <a:gd name="T56" fmla="*/ 21 w 186"/>
              <a:gd name="T57" fmla="*/ 101 h 185"/>
              <a:gd name="T58" fmla="*/ 38 w 186"/>
              <a:gd name="T59" fmla="*/ 84 h 185"/>
              <a:gd name="T60" fmla="*/ 72 w 186"/>
              <a:gd name="T61" fmla="*/ 114 h 185"/>
              <a:gd name="T62" fmla="*/ 89 w 186"/>
              <a:gd name="T63" fmla="*/ 131 h 185"/>
              <a:gd name="T64" fmla="*/ 169 w 186"/>
              <a:gd name="T65" fmla="*/ 17 h 185"/>
              <a:gd name="T66" fmla="*/ 152 w 186"/>
              <a:gd name="T67" fmla="*/ 4 h 185"/>
              <a:gd name="T68" fmla="*/ 144 w 186"/>
              <a:gd name="T69" fmla="*/ 4 h 185"/>
              <a:gd name="T70" fmla="*/ 42 w 186"/>
              <a:gd name="T71" fmla="*/ 17 h 185"/>
              <a:gd name="T72" fmla="*/ 38 w 186"/>
              <a:gd name="T73" fmla="*/ 0 h 185"/>
              <a:gd name="T74" fmla="*/ 34 w 186"/>
              <a:gd name="T75" fmla="*/ 17 h 185"/>
              <a:gd name="T76" fmla="*/ 0 w 186"/>
              <a:gd name="T77" fmla="*/ 34 h 185"/>
              <a:gd name="T78" fmla="*/ 17 w 186"/>
              <a:gd name="T79" fmla="*/ 185 h 185"/>
              <a:gd name="T80" fmla="*/ 186 w 186"/>
              <a:gd name="T81" fmla="*/ 169 h 185"/>
              <a:gd name="T82" fmla="*/ 169 w 186"/>
              <a:gd name="T83" fmla="*/ 17 h 185"/>
              <a:gd name="T84" fmla="*/ 169 w 186"/>
              <a:gd name="T85" fmla="*/ 177 h 185"/>
              <a:gd name="T86" fmla="*/ 9 w 186"/>
              <a:gd name="T87" fmla="*/ 169 h 185"/>
              <a:gd name="T88" fmla="*/ 177 w 186"/>
              <a:gd name="T89" fmla="*/ 67 h 185"/>
              <a:gd name="T90" fmla="*/ 177 w 186"/>
              <a:gd name="T91" fmla="*/ 59 h 185"/>
              <a:gd name="T92" fmla="*/ 9 w 186"/>
              <a:gd name="T93" fmla="*/ 34 h 185"/>
              <a:gd name="T94" fmla="*/ 34 w 186"/>
              <a:gd name="T95" fmla="*/ 25 h 185"/>
              <a:gd name="T96" fmla="*/ 38 w 186"/>
              <a:gd name="T97" fmla="*/ 42 h 185"/>
              <a:gd name="T98" fmla="*/ 42 w 186"/>
              <a:gd name="T99" fmla="*/ 25 h 185"/>
              <a:gd name="T100" fmla="*/ 144 w 186"/>
              <a:gd name="T101" fmla="*/ 38 h 185"/>
              <a:gd name="T102" fmla="*/ 152 w 186"/>
              <a:gd name="T103" fmla="*/ 38 h 185"/>
              <a:gd name="T104" fmla="*/ 169 w 186"/>
              <a:gd name="T105" fmla="*/ 25 h 185"/>
              <a:gd name="T106" fmla="*/ 177 w 186"/>
              <a:gd name="T107" fmla="*/ 59 h 185"/>
              <a:gd name="T108" fmla="*/ 72 w 186"/>
              <a:gd name="T109" fmla="*/ 143 h 185"/>
              <a:gd name="T110" fmla="*/ 89 w 186"/>
              <a:gd name="T111" fmla="*/ 160 h 185"/>
              <a:gd name="T112" fmla="*/ 63 w 186"/>
              <a:gd name="T113" fmla="*/ 114 h 185"/>
              <a:gd name="T114" fmla="*/ 47 w 186"/>
              <a:gd name="T115" fmla="*/ 131 h 185"/>
              <a:gd name="T116" fmla="*/ 63 w 186"/>
              <a:gd name="T117" fmla="*/ 114 h 185"/>
              <a:gd name="T118" fmla="*/ 47 w 186"/>
              <a:gd name="T119" fmla="*/ 84 h 185"/>
              <a:gd name="T120" fmla="*/ 63 w 186"/>
              <a:gd name="T121" fmla="*/ 10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6" h="185">
                <a:moveTo>
                  <a:pt x="114" y="84"/>
                </a:moveTo>
                <a:cubicBezTo>
                  <a:pt x="97" y="84"/>
                  <a:pt x="97" y="84"/>
                  <a:pt x="97" y="84"/>
                </a:cubicBezTo>
                <a:cubicBezTo>
                  <a:pt x="97" y="101"/>
                  <a:pt x="97" y="101"/>
                  <a:pt x="97" y="101"/>
                </a:cubicBezTo>
                <a:cubicBezTo>
                  <a:pt x="114" y="101"/>
                  <a:pt x="114" y="101"/>
                  <a:pt x="114" y="101"/>
                </a:cubicBezTo>
                <a:lnTo>
                  <a:pt x="114" y="84"/>
                </a:lnTo>
                <a:close/>
                <a:moveTo>
                  <a:pt x="89" y="84"/>
                </a:moveTo>
                <a:cubicBezTo>
                  <a:pt x="72" y="84"/>
                  <a:pt x="72" y="84"/>
                  <a:pt x="72" y="84"/>
                </a:cubicBezTo>
                <a:cubicBezTo>
                  <a:pt x="72" y="101"/>
                  <a:pt x="72" y="101"/>
                  <a:pt x="72" y="101"/>
                </a:cubicBezTo>
                <a:cubicBezTo>
                  <a:pt x="89" y="101"/>
                  <a:pt x="89" y="101"/>
                  <a:pt x="89" y="101"/>
                </a:cubicBezTo>
                <a:lnTo>
                  <a:pt x="89" y="84"/>
                </a:lnTo>
                <a:close/>
                <a:moveTo>
                  <a:pt x="114" y="114"/>
                </a:moveTo>
                <a:cubicBezTo>
                  <a:pt x="97" y="114"/>
                  <a:pt x="97" y="114"/>
                  <a:pt x="97" y="114"/>
                </a:cubicBezTo>
                <a:cubicBezTo>
                  <a:pt x="97" y="131"/>
                  <a:pt x="97" y="131"/>
                  <a:pt x="97" y="131"/>
                </a:cubicBezTo>
                <a:cubicBezTo>
                  <a:pt x="114" y="131"/>
                  <a:pt x="114" y="131"/>
                  <a:pt x="114" y="131"/>
                </a:cubicBezTo>
                <a:lnTo>
                  <a:pt x="114" y="114"/>
                </a:lnTo>
                <a:close/>
                <a:moveTo>
                  <a:pt x="114" y="143"/>
                </a:moveTo>
                <a:cubicBezTo>
                  <a:pt x="97" y="143"/>
                  <a:pt x="97" y="143"/>
                  <a:pt x="97" y="143"/>
                </a:cubicBezTo>
                <a:cubicBezTo>
                  <a:pt x="97" y="160"/>
                  <a:pt x="97" y="160"/>
                  <a:pt x="97" y="160"/>
                </a:cubicBezTo>
                <a:cubicBezTo>
                  <a:pt x="114" y="160"/>
                  <a:pt x="114" y="160"/>
                  <a:pt x="114" y="160"/>
                </a:cubicBezTo>
                <a:lnTo>
                  <a:pt x="114" y="143"/>
                </a:lnTo>
                <a:close/>
                <a:moveTo>
                  <a:pt x="139" y="114"/>
                </a:moveTo>
                <a:cubicBezTo>
                  <a:pt x="122" y="114"/>
                  <a:pt x="122" y="114"/>
                  <a:pt x="122" y="114"/>
                </a:cubicBezTo>
                <a:cubicBezTo>
                  <a:pt x="122" y="131"/>
                  <a:pt x="122" y="131"/>
                  <a:pt x="122" y="131"/>
                </a:cubicBezTo>
                <a:cubicBezTo>
                  <a:pt x="139" y="131"/>
                  <a:pt x="139" y="131"/>
                  <a:pt x="139" y="131"/>
                </a:cubicBezTo>
                <a:lnTo>
                  <a:pt x="139" y="114"/>
                </a:lnTo>
                <a:close/>
                <a:moveTo>
                  <a:pt x="165" y="84"/>
                </a:moveTo>
                <a:cubicBezTo>
                  <a:pt x="148" y="84"/>
                  <a:pt x="148" y="84"/>
                  <a:pt x="148" y="84"/>
                </a:cubicBezTo>
                <a:cubicBezTo>
                  <a:pt x="148" y="101"/>
                  <a:pt x="148" y="101"/>
                  <a:pt x="148" y="101"/>
                </a:cubicBezTo>
                <a:cubicBezTo>
                  <a:pt x="165" y="101"/>
                  <a:pt x="165" y="101"/>
                  <a:pt x="165" y="101"/>
                </a:cubicBezTo>
                <a:lnTo>
                  <a:pt x="165" y="84"/>
                </a:lnTo>
                <a:close/>
                <a:moveTo>
                  <a:pt x="165" y="114"/>
                </a:moveTo>
                <a:cubicBezTo>
                  <a:pt x="148" y="114"/>
                  <a:pt x="148" y="114"/>
                  <a:pt x="148" y="114"/>
                </a:cubicBezTo>
                <a:cubicBezTo>
                  <a:pt x="148" y="131"/>
                  <a:pt x="148" y="131"/>
                  <a:pt x="148" y="131"/>
                </a:cubicBezTo>
                <a:cubicBezTo>
                  <a:pt x="165" y="131"/>
                  <a:pt x="165" y="131"/>
                  <a:pt x="165" y="131"/>
                </a:cubicBezTo>
                <a:lnTo>
                  <a:pt x="165" y="114"/>
                </a:lnTo>
                <a:close/>
                <a:moveTo>
                  <a:pt x="139" y="84"/>
                </a:moveTo>
                <a:cubicBezTo>
                  <a:pt x="122" y="84"/>
                  <a:pt x="122" y="84"/>
                  <a:pt x="122" y="84"/>
                </a:cubicBezTo>
                <a:cubicBezTo>
                  <a:pt x="122" y="101"/>
                  <a:pt x="122" y="101"/>
                  <a:pt x="122" y="101"/>
                </a:cubicBezTo>
                <a:cubicBezTo>
                  <a:pt x="139" y="101"/>
                  <a:pt x="139" y="101"/>
                  <a:pt x="139" y="101"/>
                </a:cubicBezTo>
                <a:lnTo>
                  <a:pt x="139" y="84"/>
                </a:lnTo>
                <a:close/>
                <a:moveTo>
                  <a:pt x="38" y="143"/>
                </a:moveTo>
                <a:cubicBezTo>
                  <a:pt x="21" y="143"/>
                  <a:pt x="21" y="143"/>
                  <a:pt x="21" y="143"/>
                </a:cubicBezTo>
                <a:cubicBezTo>
                  <a:pt x="21" y="160"/>
                  <a:pt x="21" y="160"/>
                  <a:pt x="21" y="160"/>
                </a:cubicBezTo>
                <a:cubicBezTo>
                  <a:pt x="38" y="160"/>
                  <a:pt x="38" y="160"/>
                  <a:pt x="38" y="160"/>
                </a:cubicBezTo>
                <a:lnTo>
                  <a:pt x="38" y="143"/>
                </a:lnTo>
                <a:close/>
                <a:moveTo>
                  <a:pt x="63" y="143"/>
                </a:moveTo>
                <a:cubicBezTo>
                  <a:pt x="47" y="143"/>
                  <a:pt x="47" y="143"/>
                  <a:pt x="47" y="143"/>
                </a:cubicBezTo>
                <a:cubicBezTo>
                  <a:pt x="47" y="160"/>
                  <a:pt x="47" y="160"/>
                  <a:pt x="47" y="160"/>
                </a:cubicBezTo>
                <a:cubicBezTo>
                  <a:pt x="63" y="160"/>
                  <a:pt x="63" y="160"/>
                  <a:pt x="63" y="160"/>
                </a:cubicBezTo>
                <a:lnTo>
                  <a:pt x="63" y="143"/>
                </a:lnTo>
                <a:close/>
                <a:moveTo>
                  <a:pt x="38" y="114"/>
                </a:moveTo>
                <a:cubicBezTo>
                  <a:pt x="21" y="114"/>
                  <a:pt x="21" y="114"/>
                  <a:pt x="21" y="114"/>
                </a:cubicBezTo>
                <a:cubicBezTo>
                  <a:pt x="21" y="131"/>
                  <a:pt x="21" y="131"/>
                  <a:pt x="21" y="131"/>
                </a:cubicBezTo>
                <a:cubicBezTo>
                  <a:pt x="38" y="131"/>
                  <a:pt x="38" y="131"/>
                  <a:pt x="38" y="131"/>
                </a:cubicBezTo>
                <a:lnTo>
                  <a:pt x="38" y="114"/>
                </a:lnTo>
                <a:close/>
                <a:moveTo>
                  <a:pt x="38" y="84"/>
                </a:moveTo>
                <a:cubicBezTo>
                  <a:pt x="21" y="84"/>
                  <a:pt x="21" y="84"/>
                  <a:pt x="21" y="84"/>
                </a:cubicBezTo>
                <a:cubicBezTo>
                  <a:pt x="21" y="101"/>
                  <a:pt x="21" y="101"/>
                  <a:pt x="21" y="101"/>
                </a:cubicBezTo>
                <a:cubicBezTo>
                  <a:pt x="38" y="101"/>
                  <a:pt x="38" y="101"/>
                  <a:pt x="38" y="101"/>
                </a:cubicBezTo>
                <a:lnTo>
                  <a:pt x="38" y="84"/>
                </a:lnTo>
                <a:close/>
                <a:moveTo>
                  <a:pt x="89" y="114"/>
                </a:moveTo>
                <a:cubicBezTo>
                  <a:pt x="72" y="114"/>
                  <a:pt x="72" y="114"/>
                  <a:pt x="72" y="114"/>
                </a:cubicBezTo>
                <a:cubicBezTo>
                  <a:pt x="72" y="131"/>
                  <a:pt x="72" y="131"/>
                  <a:pt x="72" y="131"/>
                </a:cubicBezTo>
                <a:cubicBezTo>
                  <a:pt x="89" y="131"/>
                  <a:pt x="89" y="131"/>
                  <a:pt x="89" y="131"/>
                </a:cubicBezTo>
                <a:lnTo>
                  <a:pt x="89" y="114"/>
                </a:lnTo>
                <a:close/>
                <a:moveTo>
                  <a:pt x="169" y="17"/>
                </a:moveTo>
                <a:cubicBezTo>
                  <a:pt x="152" y="17"/>
                  <a:pt x="152" y="17"/>
                  <a:pt x="152" y="17"/>
                </a:cubicBezTo>
                <a:cubicBezTo>
                  <a:pt x="152" y="4"/>
                  <a:pt x="152" y="4"/>
                  <a:pt x="152" y="4"/>
                </a:cubicBezTo>
                <a:cubicBezTo>
                  <a:pt x="152" y="2"/>
                  <a:pt x="150" y="0"/>
                  <a:pt x="148" y="0"/>
                </a:cubicBezTo>
                <a:cubicBezTo>
                  <a:pt x="145" y="0"/>
                  <a:pt x="144" y="2"/>
                  <a:pt x="144" y="4"/>
                </a:cubicBezTo>
                <a:cubicBezTo>
                  <a:pt x="144" y="17"/>
                  <a:pt x="144" y="17"/>
                  <a:pt x="144" y="17"/>
                </a:cubicBezTo>
                <a:cubicBezTo>
                  <a:pt x="42" y="17"/>
                  <a:pt x="42" y="17"/>
                  <a:pt x="42" y="17"/>
                </a:cubicBezTo>
                <a:cubicBezTo>
                  <a:pt x="42" y="4"/>
                  <a:pt x="42" y="4"/>
                  <a:pt x="42" y="4"/>
                </a:cubicBezTo>
                <a:cubicBezTo>
                  <a:pt x="42" y="2"/>
                  <a:pt x="40" y="0"/>
                  <a:pt x="38" y="0"/>
                </a:cubicBezTo>
                <a:cubicBezTo>
                  <a:pt x="36" y="0"/>
                  <a:pt x="34" y="2"/>
                  <a:pt x="34" y="4"/>
                </a:cubicBezTo>
                <a:cubicBezTo>
                  <a:pt x="34" y="17"/>
                  <a:pt x="34" y="17"/>
                  <a:pt x="34" y="17"/>
                </a:cubicBezTo>
                <a:cubicBezTo>
                  <a:pt x="17" y="17"/>
                  <a:pt x="17" y="17"/>
                  <a:pt x="17" y="17"/>
                </a:cubicBezTo>
                <a:cubicBezTo>
                  <a:pt x="8" y="17"/>
                  <a:pt x="0" y="24"/>
                  <a:pt x="0" y="34"/>
                </a:cubicBezTo>
                <a:cubicBezTo>
                  <a:pt x="0" y="169"/>
                  <a:pt x="0" y="169"/>
                  <a:pt x="0" y="169"/>
                </a:cubicBezTo>
                <a:cubicBezTo>
                  <a:pt x="0" y="178"/>
                  <a:pt x="8" y="185"/>
                  <a:pt x="17" y="185"/>
                </a:cubicBezTo>
                <a:cubicBezTo>
                  <a:pt x="169" y="185"/>
                  <a:pt x="169" y="185"/>
                  <a:pt x="169" y="185"/>
                </a:cubicBezTo>
                <a:cubicBezTo>
                  <a:pt x="178" y="185"/>
                  <a:pt x="186" y="178"/>
                  <a:pt x="186" y="169"/>
                </a:cubicBezTo>
                <a:cubicBezTo>
                  <a:pt x="186" y="34"/>
                  <a:pt x="186" y="34"/>
                  <a:pt x="186" y="34"/>
                </a:cubicBezTo>
                <a:cubicBezTo>
                  <a:pt x="186" y="24"/>
                  <a:pt x="178" y="17"/>
                  <a:pt x="169" y="17"/>
                </a:cubicBezTo>
                <a:close/>
                <a:moveTo>
                  <a:pt x="177" y="169"/>
                </a:moveTo>
                <a:cubicBezTo>
                  <a:pt x="177" y="173"/>
                  <a:pt x="174" y="177"/>
                  <a:pt x="169" y="177"/>
                </a:cubicBezTo>
                <a:cubicBezTo>
                  <a:pt x="17" y="177"/>
                  <a:pt x="17" y="177"/>
                  <a:pt x="17" y="177"/>
                </a:cubicBezTo>
                <a:cubicBezTo>
                  <a:pt x="12" y="177"/>
                  <a:pt x="9" y="173"/>
                  <a:pt x="9" y="169"/>
                </a:cubicBezTo>
                <a:cubicBezTo>
                  <a:pt x="9" y="67"/>
                  <a:pt x="9" y="67"/>
                  <a:pt x="9" y="67"/>
                </a:cubicBezTo>
                <a:cubicBezTo>
                  <a:pt x="177" y="67"/>
                  <a:pt x="177" y="67"/>
                  <a:pt x="177" y="67"/>
                </a:cubicBezTo>
                <a:lnTo>
                  <a:pt x="177" y="169"/>
                </a:lnTo>
                <a:close/>
                <a:moveTo>
                  <a:pt x="177" y="59"/>
                </a:moveTo>
                <a:cubicBezTo>
                  <a:pt x="9" y="59"/>
                  <a:pt x="9" y="59"/>
                  <a:pt x="9" y="59"/>
                </a:cubicBezTo>
                <a:cubicBezTo>
                  <a:pt x="9" y="34"/>
                  <a:pt x="9" y="34"/>
                  <a:pt x="9" y="34"/>
                </a:cubicBezTo>
                <a:cubicBezTo>
                  <a:pt x="9" y="29"/>
                  <a:pt x="12" y="25"/>
                  <a:pt x="17" y="25"/>
                </a:cubicBezTo>
                <a:cubicBezTo>
                  <a:pt x="34" y="25"/>
                  <a:pt x="34" y="25"/>
                  <a:pt x="34" y="25"/>
                </a:cubicBezTo>
                <a:cubicBezTo>
                  <a:pt x="34" y="38"/>
                  <a:pt x="34" y="38"/>
                  <a:pt x="34" y="38"/>
                </a:cubicBezTo>
                <a:cubicBezTo>
                  <a:pt x="34" y="40"/>
                  <a:pt x="36" y="42"/>
                  <a:pt x="38" y="42"/>
                </a:cubicBezTo>
                <a:cubicBezTo>
                  <a:pt x="40" y="42"/>
                  <a:pt x="42" y="40"/>
                  <a:pt x="42" y="38"/>
                </a:cubicBezTo>
                <a:cubicBezTo>
                  <a:pt x="42" y="25"/>
                  <a:pt x="42" y="25"/>
                  <a:pt x="42" y="25"/>
                </a:cubicBezTo>
                <a:cubicBezTo>
                  <a:pt x="144" y="25"/>
                  <a:pt x="144" y="25"/>
                  <a:pt x="144" y="25"/>
                </a:cubicBezTo>
                <a:cubicBezTo>
                  <a:pt x="144" y="38"/>
                  <a:pt x="144" y="38"/>
                  <a:pt x="144" y="38"/>
                </a:cubicBezTo>
                <a:cubicBezTo>
                  <a:pt x="144" y="40"/>
                  <a:pt x="145" y="42"/>
                  <a:pt x="148" y="42"/>
                </a:cubicBezTo>
                <a:cubicBezTo>
                  <a:pt x="150" y="42"/>
                  <a:pt x="152" y="40"/>
                  <a:pt x="152" y="38"/>
                </a:cubicBezTo>
                <a:cubicBezTo>
                  <a:pt x="152" y="25"/>
                  <a:pt x="152" y="25"/>
                  <a:pt x="152" y="25"/>
                </a:cubicBezTo>
                <a:cubicBezTo>
                  <a:pt x="169" y="25"/>
                  <a:pt x="169" y="25"/>
                  <a:pt x="169" y="25"/>
                </a:cubicBezTo>
                <a:cubicBezTo>
                  <a:pt x="174" y="25"/>
                  <a:pt x="177" y="29"/>
                  <a:pt x="177" y="34"/>
                </a:cubicBezTo>
                <a:lnTo>
                  <a:pt x="177" y="59"/>
                </a:lnTo>
                <a:close/>
                <a:moveTo>
                  <a:pt x="89" y="143"/>
                </a:moveTo>
                <a:cubicBezTo>
                  <a:pt x="72" y="143"/>
                  <a:pt x="72" y="143"/>
                  <a:pt x="72" y="143"/>
                </a:cubicBezTo>
                <a:cubicBezTo>
                  <a:pt x="72" y="160"/>
                  <a:pt x="72" y="160"/>
                  <a:pt x="72" y="160"/>
                </a:cubicBezTo>
                <a:cubicBezTo>
                  <a:pt x="89" y="160"/>
                  <a:pt x="89" y="160"/>
                  <a:pt x="89" y="160"/>
                </a:cubicBezTo>
                <a:lnTo>
                  <a:pt x="89" y="143"/>
                </a:lnTo>
                <a:close/>
                <a:moveTo>
                  <a:pt x="63" y="114"/>
                </a:moveTo>
                <a:cubicBezTo>
                  <a:pt x="47" y="114"/>
                  <a:pt x="47" y="114"/>
                  <a:pt x="47" y="114"/>
                </a:cubicBezTo>
                <a:cubicBezTo>
                  <a:pt x="47" y="131"/>
                  <a:pt x="47" y="131"/>
                  <a:pt x="47" y="131"/>
                </a:cubicBezTo>
                <a:cubicBezTo>
                  <a:pt x="63" y="131"/>
                  <a:pt x="63" y="131"/>
                  <a:pt x="63" y="131"/>
                </a:cubicBezTo>
                <a:lnTo>
                  <a:pt x="63" y="114"/>
                </a:lnTo>
                <a:close/>
                <a:moveTo>
                  <a:pt x="63" y="84"/>
                </a:moveTo>
                <a:cubicBezTo>
                  <a:pt x="47" y="84"/>
                  <a:pt x="47" y="84"/>
                  <a:pt x="47" y="84"/>
                </a:cubicBezTo>
                <a:cubicBezTo>
                  <a:pt x="47" y="101"/>
                  <a:pt x="47" y="101"/>
                  <a:pt x="47" y="101"/>
                </a:cubicBezTo>
                <a:cubicBezTo>
                  <a:pt x="63" y="101"/>
                  <a:pt x="63" y="101"/>
                  <a:pt x="63" y="101"/>
                </a:cubicBezTo>
                <a:lnTo>
                  <a:pt x="63" y="84"/>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solidFill>
                <a:prstClr val="black"/>
              </a:solidFill>
              <a:latin typeface="Avenir 35" panose="00000400000000000000" pitchFamily="2" charset="0"/>
            </a:endParaRPr>
          </a:p>
        </p:txBody>
      </p:sp>
      <p:sp>
        <p:nvSpPr>
          <p:cNvPr id="100"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INTEGRAR</a:t>
            </a:r>
            <a:endParaRPr lang="es-ES" sz="1400" b="1" dirty="0">
              <a:solidFill>
                <a:srgbClr val="323232"/>
              </a:solidFill>
              <a:latin typeface="Avenir 35" panose="00000400000000000000" pitchFamily="2" charset="0"/>
            </a:endParaRPr>
          </a:p>
        </p:txBody>
      </p:sp>
      <p:sp>
        <p:nvSpPr>
          <p:cNvPr id="103"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s-ES" dirty="0">
                <a:solidFill>
                  <a:srgbClr val="323232"/>
                </a:solidFill>
                <a:latin typeface="Avenir 35" panose="00000400000000000000" pitchFamily="2" charset="0"/>
              </a:rPr>
              <a:t>Nuestra Visión</a:t>
            </a:r>
          </a:p>
          <a:p>
            <a:endParaRPr lang="es-ES" dirty="0">
              <a:solidFill>
                <a:srgbClr val="323232"/>
              </a:solidFill>
              <a:latin typeface="Avenir 35" panose="00000400000000000000" pitchFamily="2" charset="0"/>
            </a:endParaRPr>
          </a:p>
        </p:txBody>
      </p:sp>
      <p:sp>
        <p:nvSpPr>
          <p:cNvPr id="108" name="107 Elipse"/>
          <p:cNvSpPr/>
          <p:nvPr/>
        </p:nvSpPr>
        <p:spPr>
          <a:xfrm>
            <a:off x="3538822" y="5468317"/>
            <a:ext cx="580437" cy="552025"/>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latin typeface="Avenir 35" panose="00000400000000000000" pitchFamily="2" charset="0"/>
            </a:endParaRPr>
          </a:p>
        </p:txBody>
      </p:sp>
      <p:pic>
        <p:nvPicPr>
          <p:cNvPr id="5142" name="Picture 22" descr="http://www.alplanfolkfestival.com/images/CarSharing/Car%20Sharing_Icon-black.png"/>
          <p:cNvPicPr>
            <a:picLocks noChangeAspect="1" noChangeArrowheads="1"/>
          </p:cNvPicPr>
          <p:nvPr/>
        </p:nvPicPr>
        <p:blipFill>
          <a:blip r:embed="rId19" cstate="print">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672130" y="5618307"/>
            <a:ext cx="313823" cy="313823"/>
          </a:xfrm>
          <a:prstGeom prst="rect">
            <a:avLst/>
          </a:prstGeom>
          <a:noFill/>
          <a:extLst>
            <a:ext uri="{909E8E84-426E-40DD-AFC4-6F175D3DCCD1}">
              <a14:hiddenFill xmlns:a14="http://schemas.microsoft.com/office/drawing/2010/main">
                <a:solidFill>
                  <a:srgbClr val="FFFFFF"/>
                </a:solidFill>
              </a14:hiddenFill>
            </a:ext>
          </a:extLst>
        </p:spPr>
      </p:pic>
      <p:sp>
        <p:nvSpPr>
          <p:cNvPr id="109" name="108 Elipse"/>
          <p:cNvSpPr/>
          <p:nvPr/>
        </p:nvSpPr>
        <p:spPr>
          <a:xfrm>
            <a:off x="5861533" y="5452776"/>
            <a:ext cx="580437" cy="552025"/>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latin typeface="Avenir 35" panose="00000400000000000000" pitchFamily="2" charset="0"/>
            </a:endParaRPr>
          </a:p>
        </p:txBody>
      </p:sp>
      <p:pic>
        <p:nvPicPr>
          <p:cNvPr id="178" name="Picture 18" descr="https://d30y9cdsu7xlg0.cloudfront.net/png/53241-200.png"/>
          <p:cNvPicPr>
            <a:picLocks noChangeAspect="1" noChangeArrowheads="1"/>
          </p:cNvPicPr>
          <p:nvPr/>
        </p:nvPicPr>
        <p:blipFill>
          <a:blip r:embed="rId21" cstate="print">
            <a:lum bright="70000" contrast="-70000"/>
            <a:extLst>
              <a:ext uri="{BEBA8EAE-BF5A-486C-A8C5-ECC9F3942E4B}">
                <a14:imgProps xmlns:a14="http://schemas.microsoft.com/office/drawing/2010/main">
                  <a14:imgLayer r:embed="rId22">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6134445" y="5562381"/>
            <a:ext cx="312220" cy="312220"/>
          </a:xfrm>
          <a:prstGeom prst="rect">
            <a:avLst/>
          </a:prstGeom>
          <a:noFill/>
          <a:extLst>
            <a:ext uri="{909E8E84-426E-40DD-AFC4-6F175D3DCCD1}">
              <a14:hiddenFill xmlns:a14="http://schemas.microsoft.com/office/drawing/2010/main">
                <a:solidFill>
                  <a:srgbClr val="FFFFFF"/>
                </a:solidFill>
              </a14:hiddenFill>
            </a:ext>
          </a:extLst>
        </p:spPr>
      </p:pic>
      <p:pic>
        <p:nvPicPr>
          <p:cNvPr id="179" name="Picture 2" descr="https://cdn0.iconfinder.com/data/icons/shipping-icons/100/15-256.png"/>
          <p:cNvPicPr>
            <a:picLocks noChangeAspect="1" noChangeArrowheads="1"/>
          </p:cNvPicPr>
          <p:nvPr/>
        </p:nvPicPr>
        <p:blipFill>
          <a:blip r:embed="rId23" cstate="print">
            <a:biLevel thresh="25000"/>
            <a:extLst>
              <a:ext uri="{28A0092B-C50C-407E-A947-70E740481C1C}">
                <a14:useLocalDpi xmlns:a14="http://schemas.microsoft.com/office/drawing/2010/main" val="0"/>
              </a:ext>
            </a:extLst>
          </a:blip>
          <a:srcRect/>
          <a:stretch>
            <a:fillRect/>
          </a:stretch>
        </p:blipFill>
        <p:spPr bwMode="auto">
          <a:xfrm>
            <a:off x="5866229" y="5580083"/>
            <a:ext cx="375025" cy="375025"/>
          </a:xfrm>
          <a:prstGeom prst="rect">
            <a:avLst/>
          </a:prstGeom>
          <a:noFill/>
          <a:extLst>
            <a:ext uri="{909E8E84-426E-40DD-AFC4-6F175D3DCCD1}">
              <a14:hiddenFill xmlns:a14="http://schemas.microsoft.com/office/drawing/2010/main">
                <a:solidFill>
                  <a:srgbClr val="FFFFFF"/>
                </a:solidFill>
              </a14:hiddenFill>
            </a:ext>
          </a:extLst>
        </p:spPr>
      </p:pic>
      <p:pic>
        <p:nvPicPr>
          <p:cNvPr id="180" name="Picture 18" descr="https://d30y9cdsu7xlg0.cloudfront.net/png/53241-200.png"/>
          <p:cNvPicPr>
            <a:picLocks noChangeAspect="1" noChangeArrowheads="1"/>
          </p:cNvPicPr>
          <p:nvPr/>
        </p:nvPicPr>
        <p:blipFill rotWithShape="1">
          <a:blip r:embed="rId24" cstate="print">
            <a:lum bright="70000" contrast="-70000"/>
            <a:extLst>
              <a:ext uri="{BEBA8EAE-BF5A-486C-A8C5-ECC9F3942E4B}">
                <a14:imgProps xmlns:a14="http://schemas.microsoft.com/office/drawing/2010/main">
                  <a14:imgLayer r:embed="rId25">
                    <a14:imgEffect>
                      <a14:artisticPhotocopy/>
                    </a14:imgEffect>
                  </a14:imgLayer>
                </a14:imgProps>
              </a:ext>
              <a:ext uri="{28A0092B-C50C-407E-A947-70E740481C1C}">
                <a14:useLocalDpi xmlns:a14="http://schemas.microsoft.com/office/drawing/2010/main" val="0"/>
              </a:ext>
            </a:extLst>
          </a:blip>
          <a:srcRect b="60311"/>
          <a:stretch/>
        </p:blipFill>
        <p:spPr bwMode="auto">
          <a:xfrm>
            <a:off x="5889177" y="5562385"/>
            <a:ext cx="304355" cy="120797"/>
          </a:xfrm>
          <a:prstGeom prst="rect">
            <a:avLst/>
          </a:prstGeom>
          <a:noFill/>
          <a:extLst>
            <a:ext uri="{909E8E84-426E-40DD-AFC4-6F175D3DCCD1}">
              <a14:hiddenFill xmlns:a14="http://schemas.microsoft.com/office/drawing/2010/main">
                <a:solidFill>
                  <a:srgbClr val="FFFFFF"/>
                </a:solidFill>
              </a14:hiddenFill>
            </a:ext>
          </a:extLst>
        </p:spPr>
      </p:pic>
      <p:sp>
        <p:nvSpPr>
          <p:cNvPr id="113" name="112 Elipse"/>
          <p:cNvSpPr/>
          <p:nvPr/>
        </p:nvSpPr>
        <p:spPr>
          <a:xfrm>
            <a:off x="8186007" y="5442478"/>
            <a:ext cx="580437" cy="552025"/>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latin typeface="Avenir 35" panose="00000400000000000000" pitchFamily="2" charset="0"/>
            </a:endParaRPr>
          </a:p>
        </p:txBody>
      </p:sp>
      <p:sp>
        <p:nvSpPr>
          <p:cNvPr id="167" name="Freeform 83"/>
          <p:cNvSpPr>
            <a:spLocks noEditPoints="1"/>
          </p:cNvSpPr>
          <p:nvPr/>
        </p:nvSpPr>
        <p:spPr bwMode="auto">
          <a:xfrm>
            <a:off x="8332226" y="5600326"/>
            <a:ext cx="288000" cy="288000"/>
          </a:xfrm>
          <a:custGeom>
            <a:avLst/>
            <a:gdLst>
              <a:gd name="T0" fmla="*/ 29 w 185"/>
              <a:gd name="T1" fmla="*/ 93 h 152"/>
              <a:gd name="T2" fmla="*/ 4 w 185"/>
              <a:gd name="T3" fmla="*/ 93 h 152"/>
              <a:gd name="T4" fmla="*/ 0 w 185"/>
              <a:gd name="T5" fmla="*/ 97 h 152"/>
              <a:gd name="T6" fmla="*/ 0 w 185"/>
              <a:gd name="T7" fmla="*/ 148 h 152"/>
              <a:gd name="T8" fmla="*/ 4 w 185"/>
              <a:gd name="T9" fmla="*/ 152 h 152"/>
              <a:gd name="T10" fmla="*/ 29 w 185"/>
              <a:gd name="T11" fmla="*/ 152 h 152"/>
              <a:gd name="T12" fmla="*/ 33 w 185"/>
              <a:gd name="T13" fmla="*/ 148 h 152"/>
              <a:gd name="T14" fmla="*/ 33 w 185"/>
              <a:gd name="T15" fmla="*/ 97 h 152"/>
              <a:gd name="T16" fmla="*/ 29 w 185"/>
              <a:gd name="T17" fmla="*/ 93 h 152"/>
              <a:gd name="T18" fmla="*/ 25 w 185"/>
              <a:gd name="T19" fmla="*/ 144 h 152"/>
              <a:gd name="T20" fmla="*/ 8 w 185"/>
              <a:gd name="T21" fmla="*/ 144 h 152"/>
              <a:gd name="T22" fmla="*/ 8 w 185"/>
              <a:gd name="T23" fmla="*/ 101 h 152"/>
              <a:gd name="T24" fmla="*/ 25 w 185"/>
              <a:gd name="T25" fmla="*/ 101 h 152"/>
              <a:gd name="T26" fmla="*/ 25 w 185"/>
              <a:gd name="T27" fmla="*/ 144 h 152"/>
              <a:gd name="T28" fmla="*/ 80 w 185"/>
              <a:gd name="T29" fmla="*/ 17 h 152"/>
              <a:gd name="T30" fmla="*/ 54 w 185"/>
              <a:gd name="T31" fmla="*/ 17 h 152"/>
              <a:gd name="T32" fmla="*/ 50 w 185"/>
              <a:gd name="T33" fmla="*/ 21 h 152"/>
              <a:gd name="T34" fmla="*/ 50 w 185"/>
              <a:gd name="T35" fmla="*/ 148 h 152"/>
              <a:gd name="T36" fmla="*/ 54 w 185"/>
              <a:gd name="T37" fmla="*/ 152 h 152"/>
              <a:gd name="T38" fmla="*/ 80 w 185"/>
              <a:gd name="T39" fmla="*/ 152 h 152"/>
              <a:gd name="T40" fmla="*/ 84 w 185"/>
              <a:gd name="T41" fmla="*/ 148 h 152"/>
              <a:gd name="T42" fmla="*/ 84 w 185"/>
              <a:gd name="T43" fmla="*/ 21 h 152"/>
              <a:gd name="T44" fmla="*/ 80 w 185"/>
              <a:gd name="T45" fmla="*/ 17 h 152"/>
              <a:gd name="T46" fmla="*/ 76 w 185"/>
              <a:gd name="T47" fmla="*/ 144 h 152"/>
              <a:gd name="T48" fmla="*/ 59 w 185"/>
              <a:gd name="T49" fmla="*/ 144 h 152"/>
              <a:gd name="T50" fmla="*/ 59 w 185"/>
              <a:gd name="T51" fmla="*/ 25 h 152"/>
              <a:gd name="T52" fmla="*/ 76 w 185"/>
              <a:gd name="T53" fmla="*/ 25 h 152"/>
              <a:gd name="T54" fmla="*/ 76 w 185"/>
              <a:gd name="T55" fmla="*/ 144 h 152"/>
              <a:gd name="T56" fmla="*/ 181 w 185"/>
              <a:gd name="T57" fmla="*/ 0 h 152"/>
              <a:gd name="T58" fmla="*/ 156 w 185"/>
              <a:gd name="T59" fmla="*/ 0 h 152"/>
              <a:gd name="T60" fmla="*/ 151 w 185"/>
              <a:gd name="T61" fmla="*/ 4 h 152"/>
              <a:gd name="T62" fmla="*/ 151 w 185"/>
              <a:gd name="T63" fmla="*/ 148 h 152"/>
              <a:gd name="T64" fmla="*/ 156 w 185"/>
              <a:gd name="T65" fmla="*/ 152 h 152"/>
              <a:gd name="T66" fmla="*/ 181 w 185"/>
              <a:gd name="T67" fmla="*/ 152 h 152"/>
              <a:gd name="T68" fmla="*/ 185 w 185"/>
              <a:gd name="T69" fmla="*/ 148 h 152"/>
              <a:gd name="T70" fmla="*/ 185 w 185"/>
              <a:gd name="T71" fmla="*/ 4 h 152"/>
              <a:gd name="T72" fmla="*/ 181 w 185"/>
              <a:gd name="T73" fmla="*/ 0 h 152"/>
              <a:gd name="T74" fmla="*/ 177 w 185"/>
              <a:gd name="T75" fmla="*/ 144 h 152"/>
              <a:gd name="T76" fmla="*/ 160 w 185"/>
              <a:gd name="T77" fmla="*/ 144 h 152"/>
              <a:gd name="T78" fmla="*/ 160 w 185"/>
              <a:gd name="T79" fmla="*/ 9 h 152"/>
              <a:gd name="T80" fmla="*/ 177 w 185"/>
              <a:gd name="T81" fmla="*/ 9 h 152"/>
              <a:gd name="T82" fmla="*/ 177 w 185"/>
              <a:gd name="T83" fmla="*/ 144 h 152"/>
              <a:gd name="T84" fmla="*/ 130 w 185"/>
              <a:gd name="T85" fmla="*/ 68 h 152"/>
              <a:gd name="T86" fmla="*/ 105 w 185"/>
              <a:gd name="T87" fmla="*/ 68 h 152"/>
              <a:gd name="T88" fmla="*/ 101 w 185"/>
              <a:gd name="T89" fmla="*/ 72 h 152"/>
              <a:gd name="T90" fmla="*/ 101 w 185"/>
              <a:gd name="T91" fmla="*/ 148 h 152"/>
              <a:gd name="T92" fmla="*/ 105 w 185"/>
              <a:gd name="T93" fmla="*/ 152 h 152"/>
              <a:gd name="T94" fmla="*/ 130 w 185"/>
              <a:gd name="T95" fmla="*/ 152 h 152"/>
              <a:gd name="T96" fmla="*/ 135 w 185"/>
              <a:gd name="T97" fmla="*/ 148 h 152"/>
              <a:gd name="T98" fmla="*/ 135 w 185"/>
              <a:gd name="T99" fmla="*/ 72 h 152"/>
              <a:gd name="T100" fmla="*/ 130 w 185"/>
              <a:gd name="T101" fmla="*/ 68 h 152"/>
              <a:gd name="T102" fmla="*/ 126 w 185"/>
              <a:gd name="T103" fmla="*/ 144 h 152"/>
              <a:gd name="T104" fmla="*/ 109 w 185"/>
              <a:gd name="T105" fmla="*/ 144 h 152"/>
              <a:gd name="T106" fmla="*/ 109 w 185"/>
              <a:gd name="T107" fmla="*/ 76 h 152"/>
              <a:gd name="T108" fmla="*/ 126 w 185"/>
              <a:gd name="T109" fmla="*/ 76 h 152"/>
              <a:gd name="T110" fmla="*/ 126 w 185"/>
              <a:gd name="T111" fmla="*/ 14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5" h="152">
                <a:moveTo>
                  <a:pt x="29" y="93"/>
                </a:moveTo>
                <a:cubicBezTo>
                  <a:pt x="4" y="93"/>
                  <a:pt x="4" y="93"/>
                  <a:pt x="4" y="93"/>
                </a:cubicBezTo>
                <a:cubicBezTo>
                  <a:pt x="1" y="93"/>
                  <a:pt x="0" y="95"/>
                  <a:pt x="0" y="97"/>
                </a:cubicBezTo>
                <a:cubicBezTo>
                  <a:pt x="0" y="148"/>
                  <a:pt x="0" y="148"/>
                  <a:pt x="0" y="148"/>
                </a:cubicBezTo>
                <a:cubicBezTo>
                  <a:pt x="0" y="150"/>
                  <a:pt x="1" y="152"/>
                  <a:pt x="4" y="152"/>
                </a:cubicBezTo>
                <a:cubicBezTo>
                  <a:pt x="29" y="152"/>
                  <a:pt x="29" y="152"/>
                  <a:pt x="29" y="152"/>
                </a:cubicBezTo>
                <a:cubicBezTo>
                  <a:pt x="31" y="152"/>
                  <a:pt x="33" y="150"/>
                  <a:pt x="33" y="148"/>
                </a:cubicBezTo>
                <a:cubicBezTo>
                  <a:pt x="33" y="97"/>
                  <a:pt x="33" y="97"/>
                  <a:pt x="33" y="97"/>
                </a:cubicBezTo>
                <a:cubicBezTo>
                  <a:pt x="33" y="95"/>
                  <a:pt x="31" y="93"/>
                  <a:pt x="29" y="93"/>
                </a:cubicBezTo>
                <a:close/>
                <a:moveTo>
                  <a:pt x="25" y="144"/>
                </a:moveTo>
                <a:cubicBezTo>
                  <a:pt x="8" y="144"/>
                  <a:pt x="8" y="144"/>
                  <a:pt x="8" y="144"/>
                </a:cubicBezTo>
                <a:cubicBezTo>
                  <a:pt x="8" y="101"/>
                  <a:pt x="8" y="101"/>
                  <a:pt x="8" y="101"/>
                </a:cubicBezTo>
                <a:cubicBezTo>
                  <a:pt x="25" y="101"/>
                  <a:pt x="25" y="101"/>
                  <a:pt x="25" y="101"/>
                </a:cubicBezTo>
                <a:lnTo>
                  <a:pt x="25" y="144"/>
                </a:lnTo>
                <a:close/>
                <a:moveTo>
                  <a:pt x="80" y="17"/>
                </a:moveTo>
                <a:cubicBezTo>
                  <a:pt x="54" y="17"/>
                  <a:pt x="54" y="17"/>
                  <a:pt x="54" y="17"/>
                </a:cubicBezTo>
                <a:cubicBezTo>
                  <a:pt x="52" y="17"/>
                  <a:pt x="50" y="19"/>
                  <a:pt x="50" y="21"/>
                </a:cubicBezTo>
                <a:cubicBezTo>
                  <a:pt x="50" y="148"/>
                  <a:pt x="50" y="148"/>
                  <a:pt x="50" y="148"/>
                </a:cubicBezTo>
                <a:cubicBezTo>
                  <a:pt x="50" y="150"/>
                  <a:pt x="52" y="152"/>
                  <a:pt x="54" y="152"/>
                </a:cubicBezTo>
                <a:cubicBezTo>
                  <a:pt x="80" y="152"/>
                  <a:pt x="80" y="152"/>
                  <a:pt x="80" y="152"/>
                </a:cubicBezTo>
                <a:cubicBezTo>
                  <a:pt x="82" y="152"/>
                  <a:pt x="84" y="150"/>
                  <a:pt x="84" y="148"/>
                </a:cubicBezTo>
                <a:cubicBezTo>
                  <a:pt x="84" y="21"/>
                  <a:pt x="84" y="21"/>
                  <a:pt x="84" y="21"/>
                </a:cubicBezTo>
                <a:cubicBezTo>
                  <a:pt x="84" y="19"/>
                  <a:pt x="82" y="17"/>
                  <a:pt x="80" y="17"/>
                </a:cubicBezTo>
                <a:close/>
                <a:moveTo>
                  <a:pt x="76" y="144"/>
                </a:moveTo>
                <a:cubicBezTo>
                  <a:pt x="59" y="144"/>
                  <a:pt x="59" y="144"/>
                  <a:pt x="59" y="144"/>
                </a:cubicBezTo>
                <a:cubicBezTo>
                  <a:pt x="59" y="25"/>
                  <a:pt x="59" y="25"/>
                  <a:pt x="59" y="25"/>
                </a:cubicBezTo>
                <a:cubicBezTo>
                  <a:pt x="76" y="25"/>
                  <a:pt x="76" y="25"/>
                  <a:pt x="76" y="25"/>
                </a:cubicBezTo>
                <a:lnTo>
                  <a:pt x="76" y="144"/>
                </a:lnTo>
                <a:close/>
                <a:moveTo>
                  <a:pt x="181" y="0"/>
                </a:moveTo>
                <a:cubicBezTo>
                  <a:pt x="156" y="0"/>
                  <a:pt x="156" y="0"/>
                  <a:pt x="156" y="0"/>
                </a:cubicBezTo>
                <a:cubicBezTo>
                  <a:pt x="153" y="0"/>
                  <a:pt x="151" y="2"/>
                  <a:pt x="151" y="4"/>
                </a:cubicBezTo>
                <a:cubicBezTo>
                  <a:pt x="151" y="148"/>
                  <a:pt x="151" y="148"/>
                  <a:pt x="151" y="148"/>
                </a:cubicBezTo>
                <a:cubicBezTo>
                  <a:pt x="151" y="150"/>
                  <a:pt x="153" y="152"/>
                  <a:pt x="156" y="152"/>
                </a:cubicBezTo>
                <a:cubicBezTo>
                  <a:pt x="181" y="152"/>
                  <a:pt x="181" y="152"/>
                  <a:pt x="181" y="152"/>
                </a:cubicBezTo>
                <a:cubicBezTo>
                  <a:pt x="183" y="152"/>
                  <a:pt x="185" y="150"/>
                  <a:pt x="185" y="148"/>
                </a:cubicBezTo>
                <a:cubicBezTo>
                  <a:pt x="185" y="4"/>
                  <a:pt x="185" y="4"/>
                  <a:pt x="185" y="4"/>
                </a:cubicBezTo>
                <a:cubicBezTo>
                  <a:pt x="185" y="2"/>
                  <a:pt x="183" y="0"/>
                  <a:pt x="181" y="0"/>
                </a:cubicBezTo>
                <a:close/>
                <a:moveTo>
                  <a:pt x="177" y="144"/>
                </a:moveTo>
                <a:cubicBezTo>
                  <a:pt x="160" y="144"/>
                  <a:pt x="160" y="144"/>
                  <a:pt x="160" y="144"/>
                </a:cubicBezTo>
                <a:cubicBezTo>
                  <a:pt x="160" y="9"/>
                  <a:pt x="160" y="9"/>
                  <a:pt x="160" y="9"/>
                </a:cubicBezTo>
                <a:cubicBezTo>
                  <a:pt x="177" y="9"/>
                  <a:pt x="177" y="9"/>
                  <a:pt x="177" y="9"/>
                </a:cubicBezTo>
                <a:lnTo>
                  <a:pt x="177" y="144"/>
                </a:lnTo>
                <a:close/>
                <a:moveTo>
                  <a:pt x="130" y="68"/>
                </a:moveTo>
                <a:cubicBezTo>
                  <a:pt x="105" y="68"/>
                  <a:pt x="105" y="68"/>
                  <a:pt x="105" y="68"/>
                </a:cubicBezTo>
                <a:cubicBezTo>
                  <a:pt x="103" y="68"/>
                  <a:pt x="101" y="70"/>
                  <a:pt x="101" y="72"/>
                </a:cubicBezTo>
                <a:cubicBezTo>
                  <a:pt x="101" y="148"/>
                  <a:pt x="101" y="148"/>
                  <a:pt x="101" y="148"/>
                </a:cubicBezTo>
                <a:cubicBezTo>
                  <a:pt x="101" y="150"/>
                  <a:pt x="103" y="152"/>
                  <a:pt x="105" y="152"/>
                </a:cubicBezTo>
                <a:cubicBezTo>
                  <a:pt x="130" y="152"/>
                  <a:pt x="130" y="152"/>
                  <a:pt x="130" y="152"/>
                </a:cubicBezTo>
                <a:cubicBezTo>
                  <a:pt x="133" y="152"/>
                  <a:pt x="135" y="150"/>
                  <a:pt x="135" y="148"/>
                </a:cubicBezTo>
                <a:cubicBezTo>
                  <a:pt x="135" y="72"/>
                  <a:pt x="135" y="72"/>
                  <a:pt x="135" y="72"/>
                </a:cubicBezTo>
                <a:cubicBezTo>
                  <a:pt x="135" y="70"/>
                  <a:pt x="133" y="68"/>
                  <a:pt x="130" y="68"/>
                </a:cubicBezTo>
                <a:close/>
                <a:moveTo>
                  <a:pt x="126" y="144"/>
                </a:moveTo>
                <a:cubicBezTo>
                  <a:pt x="109" y="144"/>
                  <a:pt x="109" y="144"/>
                  <a:pt x="109" y="144"/>
                </a:cubicBezTo>
                <a:cubicBezTo>
                  <a:pt x="109" y="76"/>
                  <a:pt x="109" y="76"/>
                  <a:pt x="109" y="76"/>
                </a:cubicBezTo>
                <a:cubicBezTo>
                  <a:pt x="126" y="76"/>
                  <a:pt x="126" y="76"/>
                  <a:pt x="126" y="76"/>
                </a:cubicBezTo>
                <a:lnTo>
                  <a:pt x="126" y="144"/>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solidFill>
                <a:prstClr val="black"/>
              </a:solidFill>
              <a:latin typeface="Avenir 35" panose="00000400000000000000" pitchFamily="2" charset="0"/>
            </a:endParaRPr>
          </a:p>
        </p:txBody>
      </p:sp>
      <p:sp>
        <p:nvSpPr>
          <p:cNvPr id="172" name="171 Rectángulo"/>
          <p:cNvSpPr/>
          <p:nvPr>
            <p:custDataLst>
              <p:tags r:id="rId1"/>
            </p:custDataLst>
          </p:nvPr>
        </p:nvSpPr>
        <p:spPr>
          <a:xfrm>
            <a:off x="8771425" y="3244039"/>
            <a:ext cx="790087" cy="335634"/>
          </a:xfrm>
          <a:prstGeom prst="rect">
            <a:avLst/>
          </a:prstGeom>
          <a:solidFill>
            <a:srgbClr val="3CB2C3"/>
          </a:solidFill>
          <a:ln w="25400" cap="flat" cmpd="sng" algn="ctr">
            <a:noFill/>
            <a:prstDash val="solid"/>
          </a:ln>
          <a:effectLst/>
        </p:spPr>
        <p:txBody>
          <a:bodyPr lIns="36000" tIns="36000" rIns="36000" bIns="36000" rtlCol="0" anchor="ctr"/>
          <a:lstStyle/>
          <a:p>
            <a:pPr algn="r" fontAlgn="base">
              <a:spcBef>
                <a:spcPct val="0"/>
              </a:spcBef>
              <a:spcAft>
                <a:spcPct val="0"/>
              </a:spcAft>
            </a:pPr>
            <a:r>
              <a:rPr lang="es-ES" sz="1200" kern="0" dirty="0">
                <a:solidFill>
                  <a:srgbClr val="FFFFFF"/>
                </a:solidFill>
                <a:latin typeface="Avenir 35" panose="00000400000000000000" pitchFamily="2" charset="0"/>
              </a:rPr>
              <a:t>Dealer</a:t>
            </a:r>
          </a:p>
        </p:txBody>
      </p:sp>
      <p:sp>
        <p:nvSpPr>
          <p:cNvPr id="14" name="13 CuadroTexto"/>
          <p:cNvSpPr txBox="1"/>
          <p:nvPr/>
        </p:nvSpPr>
        <p:spPr>
          <a:xfrm>
            <a:off x="2968068" y="2472097"/>
            <a:ext cx="517102" cy="205040"/>
          </a:xfrm>
          <a:prstGeom prst="rect">
            <a:avLst/>
          </a:prstGeom>
          <a:noFill/>
        </p:spPr>
        <p:txBody>
          <a:bodyPr wrap="none" rtlCol="0">
            <a:spAutoFit/>
          </a:bodyPr>
          <a:lstStyle/>
          <a:p>
            <a:r>
              <a:rPr lang="es-ES" sz="900" dirty="0">
                <a:solidFill>
                  <a:prstClr val="white"/>
                </a:solidFill>
              </a:rPr>
              <a:t>Turismos</a:t>
            </a:r>
          </a:p>
        </p:txBody>
      </p:sp>
      <p:sp>
        <p:nvSpPr>
          <p:cNvPr id="74" name="73 CuadroTexto"/>
          <p:cNvSpPr txBox="1"/>
          <p:nvPr/>
        </p:nvSpPr>
        <p:spPr>
          <a:xfrm>
            <a:off x="6500944" y="3022671"/>
            <a:ext cx="544161" cy="205040"/>
          </a:xfrm>
          <a:prstGeom prst="rect">
            <a:avLst/>
          </a:prstGeom>
          <a:noFill/>
        </p:spPr>
        <p:txBody>
          <a:bodyPr wrap="none" rtlCol="0">
            <a:spAutoFit/>
          </a:bodyPr>
          <a:lstStyle/>
          <a:p>
            <a:r>
              <a:rPr lang="es-ES" sz="900" dirty="0">
                <a:solidFill>
                  <a:prstClr val="white"/>
                </a:solidFill>
              </a:rPr>
              <a:t>Camiones</a:t>
            </a:r>
          </a:p>
        </p:txBody>
      </p:sp>
      <p:sp>
        <p:nvSpPr>
          <p:cNvPr id="84" name="83 CuadroTexto"/>
          <p:cNvSpPr txBox="1"/>
          <p:nvPr/>
        </p:nvSpPr>
        <p:spPr>
          <a:xfrm>
            <a:off x="7108705" y="3554537"/>
            <a:ext cx="434571" cy="205040"/>
          </a:xfrm>
          <a:prstGeom prst="rect">
            <a:avLst/>
          </a:prstGeom>
          <a:noFill/>
        </p:spPr>
        <p:txBody>
          <a:bodyPr wrap="none" rtlCol="0">
            <a:spAutoFit/>
          </a:bodyPr>
          <a:lstStyle/>
          <a:p>
            <a:r>
              <a:rPr lang="es-ES" sz="900" dirty="0">
                <a:solidFill>
                  <a:prstClr val="white"/>
                </a:solidFill>
              </a:rPr>
              <a:t>Cliente</a:t>
            </a:r>
          </a:p>
        </p:txBody>
      </p:sp>
      <p:pic>
        <p:nvPicPr>
          <p:cNvPr id="5122" name="Picture 2" descr="http://programacion.net/files/article/20160105010142_sql-server.png"/>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3554054" y="3645024"/>
            <a:ext cx="501664" cy="133538"/>
          </a:xfrm>
          <a:prstGeom prst="rect">
            <a:avLst/>
          </a:prstGeom>
          <a:noFill/>
          <a:extLst>
            <a:ext uri="{909E8E84-426E-40DD-AFC4-6F175D3DCCD1}">
              <a14:hiddenFill xmlns:a14="http://schemas.microsoft.com/office/drawing/2010/main">
                <a:solidFill>
                  <a:srgbClr val="FFFFFF"/>
                </a:solidFill>
              </a14:hiddenFill>
            </a:ext>
          </a:extLst>
        </p:spPr>
      </p:pic>
      <p:sp>
        <p:nvSpPr>
          <p:cNvPr id="95" name="94 Flecha derecha"/>
          <p:cNvSpPr/>
          <p:nvPr/>
        </p:nvSpPr>
        <p:spPr>
          <a:xfrm>
            <a:off x="3150396" y="3232428"/>
            <a:ext cx="240227" cy="219123"/>
          </a:xfrm>
          <a:prstGeom prst="rightArrow">
            <a:avLst>
              <a:gd name="adj1" fmla="val 67933"/>
              <a:gd name="adj2" fmla="val 50000"/>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sp>
        <p:nvSpPr>
          <p:cNvPr id="96" name="95 Flecha derecha"/>
          <p:cNvSpPr/>
          <p:nvPr/>
        </p:nvSpPr>
        <p:spPr>
          <a:xfrm>
            <a:off x="4186220" y="3218967"/>
            <a:ext cx="240227" cy="219123"/>
          </a:xfrm>
          <a:prstGeom prst="rightArrow">
            <a:avLst>
              <a:gd name="adj1" fmla="val 67933"/>
              <a:gd name="adj2" fmla="val 50000"/>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sp>
        <p:nvSpPr>
          <p:cNvPr id="98" name="97 Rectángulo"/>
          <p:cNvSpPr/>
          <p:nvPr>
            <p:custDataLst>
              <p:tags r:id="rId2"/>
            </p:custDataLst>
          </p:nvPr>
        </p:nvSpPr>
        <p:spPr>
          <a:xfrm>
            <a:off x="4462123" y="2978769"/>
            <a:ext cx="732882" cy="699510"/>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1200" kern="0" dirty="0">
                <a:solidFill>
                  <a:srgbClr val="FFFFFF"/>
                </a:solidFill>
                <a:latin typeface="Avenir 35" panose="00000400000000000000" pitchFamily="2" charset="0"/>
              </a:rPr>
              <a:t>Data Quality</a:t>
            </a:r>
          </a:p>
        </p:txBody>
      </p:sp>
      <p:sp>
        <p:nvSpPr>
          <p:cNvPr id="99" name="98 Flecha derecha"/>
          <p:cNvSpPr/>
          <p:nvPr/>
        </p:nvSpPr>
        <p:spPr>
          <a:xfrm>
            <a:off x="5255779" y="3240984"/>
            <a:ext cx="240227" cy="219123"/>
          </a:xfrm>
          <a:prstGeom prst="rightArrow">
            <a:avLst>
              <a:gd name="adj1" fmla="val 67933"/>
              <a:gd name="adj2" fmla="val 50000"/>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sp>
        <p:nvSpPr>
          <p:cNvPr id="102" name="101 Flecha derecha"/>
          <p:cNvSpPr/>
          <p:nvPr/>
        </p:nvSpPr>
        <p:spPr>
          <a:xfrm>
            <a:off x="7136878" y="3218967"/>
            <a:ext cx="240227" cy="219123"/>
          </a:xfrm>
          <a:prstGeom prst="rightArrow">
            <a:avLst>
              <a:gd name="adj1" fmla="val 67933"/>
              <a:gd name="adj2" fmla="val 50000"/>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pic>
        <p:nvPicPr>
          <p:cNvPr id="5126" name="Picture 6" descr="https://trust.salesforce.com/images/TrustLogoWhite.png"/>
          <p:cNvPicPr>
            <a:picLocks noChangeAspect="1" noChangeArrowheads="1"/>
          </p:cNvPicPr>
          <p:nvPr/>
        </p:nvPicPr>
        <p:blipFill rotWithShape="1">
          <a:blip r:embed="rId27" cstate="print">
            <a:extLst>
              <a:ext uri="{28A0092B-C50C-407E-A947-70E740481C1C}">
                <a14:useLocalDpi xmlns:a14="http://schemas.microsoft.com/office/drawing/2010/main" val="0"/>
              </a:ext>
            </a:extLst>
          </a:blip>
          <a:srcRect r="32059"/>
          <a:stretch/>
        </p:blipFill>
        <p:spPr bwMode="auto">
          <a:xfrm>
            <a:off x="7473359" y="3000909"/>
            <a:ext cx="947116" cy="655240"/>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 descr="http://programacion.net/files/article/20160105010142_sql-server.png"/>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6572951" y="3645024"/>
            <a:ext cx="501664" cy="133538"/>
          </a:xfrm>
          <a:prstGeom prst="rect">
            <a:avLst/>
          </a:prstGeom>
          <a:noFill/>
          <a:extLst>
            <a:ext uri="{909E8E84-426E-40DD-AFC4-6F175D3DCCD1}">
              <a14:hiddenFill xmlns:a14="http://schemas.microsoft.com/office/drawing/2010/main">
                <a:solidFill>
                  <a:srgbClr val="FFFFFF"/>
                </a:solidFill>
              </a14:hiddenFill>
            </a:ext>
          </a:extLst>
        </p:spPr>
      </p:pic>
      <p:sp>
        <p:nvSpPr>
          <p:cNvPr id="105" name="104 Flecha derecha"/>
          <p:cNvSpPr/>
          <p:nvPr/>
        </p:nvSpPr>
        <p:spPr>
          <a:xfrm>
            <a:off x="8406770" y="3196783"/>
            <a:ext cx="240227" cy="219123"/>
          </a:xfrm>
          <a:prstGeom prst="rightArrow">
            <a:avLst>
              <a:gd name="adj1" fmla="val 67933"/>
              <a:gd name="adj2" fmla="val 50000"/>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grpSp>
        <p:nvGrpSpPr>
          <p:cNvPr id="24" name="23 Grupo"/>
          <p:cNvGrpSpPr/>
          <p:nvPr/>
        </p:nvGrpSpPr>
        <p:grpSpPr>
          <a:xfrm>
            <a:off x="8771425" y="2860266"/>
            <a:ext cx="790087" cy="335634"/>
            <a:chOff x="8841432" y="2817355"/>
            <a:chExt cx="936104" cy="377854"/>
          </a:xfrm>
          <a:solidFill>
            <a:srgbClr val="3CB2C3"/>
          </a:solidFill>
        </p:grpSpPr>
        <p:sp>
          <p:nvSpPr>
            <p:cNvPr id="116" name="115 Rectángulo"/>
            <p:cNvSpPr/>
            <p:nvPr>
              <p:custDataLst>
                <p:tags r:id="rId6"/>
              </p:custDataLst>
            </p:nvPr>
          </p:nvSpPr>
          <p:spPr>
            <a:xfrm>
              <a:off x="8841432" y="2817355"/>
              <a:ext cx="936104" cy="377854"/>
            </a:xfrm>
            <a:prstGeom prst="rect">
              <a:avLst/>
            </a:prstGeom>
            <a:grpFill/>
            <a:ln w="25400" cap="flat" cmpd="sng" algn="ctr">
              <a:noFill/>
              <a:prstDash val="solid"/>
            </a:ln>
            <a:effectLst/>
          </p:spPr>
          <p:txBody>
            <a:bodyPr lIns="36000" tIns="36000" rIns="36000" bIns="36000" rtlCol="0" anchor="ctr"/>
            <a:lstStyle/>
            <a:p>
              <a:pPr algn="r" fontAlgn="base">
                <a:spcBef>
                  <a:spcPct val="0"/>
                </a:spcBef>
                <a:spcAft>
                  <a:spcPct val="0"/>
                </a:spcAft>
              </a:pPr>
              <a:r>
                <a:rPr lang="es-ES" sz="1200" kern="0" dirty="0">
                  <a:solidFill>
                    <a:srgbClr val="FFFFFF"/>
                  </a:solidFill>
                  <a:latin typeface="Avenir 35" panose="00000400000000000000" pitchFamily="2" charset="0"/>
                </a:rPr>
                <a:t>Cliente</a:t>
              </a:r>
            </a:p>
          </p:txBody>
        </p:sp>
        <p:pic>
          <p:nvPicPr>
            <p:cNvPr id="117" name="Picture 37" descr="https://fr.ecovadis.com/wp-content/themes/ecovadis/images/Icon-user.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975469" y="2942288"/>
              <a:ext cx="127989" cy="127989"/>
            </a:xfrm>
            <a:prstGeom prst="rect">
              <a:avLst/>
            </a:prstGeom>
            <a:grpFill/>
          </p:spPr>
        </p:pic>
      </p:grpSp>
      <p:pic>
        <p:nvPicPr>
          <p:cNvPr id="175" name="Picture 25" descr="http://www.iconsdb.com/icons/preview/white/car-xxl.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862606" y="3343480"/>
            <a:ext cx="151923" cy="159888"/>
          </a:xfrm>
          <a:prstGeom prst="rect">
            <a:avLst/>
          </a:prstGeom>
          <a:noFill/>
          <a:extLst>
            <a:ext uri="{909E8E84-426E-40DD-AFC4-6F175D3DCCD1}">
              <a14:hiddenFill xmlns:a14="http://schemas.microsoft.com/office/drawing/2010/main">
                <a:solidFill>
                  <a:srgbClr val="FFFFFF"/>
                </a:solidFill>
              </a14:hiddenFill>
            </a:ext>
          </a:extLst>
        </p:spPr>
      </p:pic>
      <p:sp>
        <p:nvSpPr>
          <p:cNvPr id="97" name="Freeform 148"/>
          <p:cNvSpPr>
            <a:spLocks noEditPoints="1"/>
          </p:cNvSpPr>
          <p:nvPr/>
        </p:nvSpPr>
        <p:spPr bwMode="auto">
          <a:xfrm>
            <a:off x="2358128" y="3081414"/>
            <a:ext cx="615242" cy="559024"/>
          </a:xfrm>
          <a:custGeom>
            <a:avLst/>
            <a:gdLst>
              <a:gd name="T0" fmla="*/ 135 w 186"/>
              <a:gd name="T1" fmla="*/ 51 h 169"/>
              <a:gd name="T2" fmla="*/ 85 w 186"/>
              <a:gd name="T3" fmla="*/ 51 h 169"/>
              <a:gd name="T4" fmla="*/ 51 w 186"/>
              <a:gd name="T5" fmla="*/ 34 h 169"/>
              <a:gd name="T6" fmla="*/ 17 w 186"/>
              <a:gd name="T7" fmla="*/ 34 h 169"/>
              <a:gd name="T8" fmla="*/ 0 w 186"/>
              <a:gd name="T9" fmla="*/ 51 h 169"/>
              <a:gd name="T10" fmla="*/ 0 w 186"/>
              <a:gd name="T11" fmla="*/ 152 h 169"/>
              <a:gd name="T12" fmla="*/ 17 w 186"/>
              <a:gd name="T13" fmla="*/ 169 h 169"/>
              <a:gd name="T14" fmla="*/ 135 w 186"/>
              <a:gd name="T15" fmla="*/ 169 h 169"/>
              <a:gd name="T16" fmla="*/ 152 w 186"/>
              <a:gd name="T17" fmla="*/ 152 h 169"/>
              <a:gd name="T18" fmla="*/ 152 w 186"/>
              <a:gd name="T19" fmla="*/ 67 h 169"/>
              <a:gd name="T20" fmla="*/ 135 w 186"/>
              <a:gd name="T21" fmla="*/ 51 h 169"/>
              <a:gd name="T22" fmla="*/ 144 w 186"/>
              <a:gd name="T23" fmla="*/ 152 h 169"/>
              <a:gd name="T24" fmla="*/ 135 w 186"/>
              <a:gd name="T25" fmla="*/ 160 h 169"/>
              <a:gd name="T26" fmla="*/ 17 w 186"/>
              <a:gd name="T27" fmla="*/ 160 h 169"/>
              <a:gd name="T28" fmla="*/ 9 w 186"/>
              <a:gd name="T29" fmla="*/ 152 h 169"/>
              <a:gd name="T30" fmla="*/ 9 w 186"/>
              <a:gd name="T31" fmla="*/ 84 h 169"/>
              <a:gd name="T32" fmla="*/ 144 w 186"/>
              <a:gd name="T33" fmla="*/ 84 h 169"/>
              <a:gd name="T34" fmla="*/ 144 w 186"/>
              <a:gd name="T35" fmla="*/ 152 h 169"/>
              <a:gd name="T36" fmla="*/ 144 w 186"/>
              <a:gd name="T37" fmla="*/ 76 h 169"/>
              <a:gd name="T38" fmla="*/ 9 w 186"/>
              <a:gd name="T39" fmla="*/ 76 h 169"/>
              <a:gd name="T40" fmla="*/ 9 w 186"/>
              <a:gd name="T41" fmla="*/ 51 h 169"/>
              <a:gd name="T42" fmla="*/ 17 w 186"/>
              <a:gd name="T43" fmla="*/ 42 h 169"/>
              <a:gd name="T44" fmla="*/ 51 w 186"/>
              <a:gd name="T45" fmla="*/ 42 h 169"/>
              <a:gd name="T46" fmla="*/ 85 w 186"/>
              <a:gd name="T47" fmla="*/ 59 h 169"/>
              <a:gd name="T48" fmla="*/ 135 w 186"/>
              <a:gd name="T49" fmla="*/ 59 h 169"/>
              <a:gd name="T50" fmla="*/ 144 w 186"/>
              <a:gd name="T51" fmla="*/ 67 h 169"/>
              <a:gd name="T52" fmla="*/ 144 w 186"/>
              <a:gd name="T53" fmla="*/ 76 h 169"/>
              <a:gd name="T54" fmla="*/ 169 w 186"/>
              <a:gd name="T55" fmla="*/ 17 h 169"/>
              <a:gd name="T56" fmla="*/ 119 w 186"/>
              <a:gd name="T57" fmla="*/ 17 h 169"/>
              <a:gd name="T58" fmla="*/ 85 w 186"/>
              <a:gd name="T59" fmla="*/ 0 h 169"/>
              <a:gd name="T60" fmla="*/ 51 w 186"/>
              <a:gd name="T61" fmla="*/ 0 h 169"/>
              <a:gd name="T62" fmla="*/ 34 w 186"/>
              <a:gd name="T63" fmla="*/ 17 h 169"/>
              <a:gd name="T64" fmla="*/ 34 w 186"/>
              <a:gd name="T65" fmla="*/ 21 h 169"/>
              <a:gd name="T66" fmla="*/ 38 w 186"/>
              <a:gd name="T67" fmla="*/ 25 h 169"/>
              <a:gd name="T68" fmla="*/ 43 w 186"/>
              <a:gd name="T69" fmla="*/ 21 h 169"/>
              <a:gd name="T70" fmla="*/ 43 w 186"/>
              <a:gd name="T71" fmla="*/ 17 h 169"/>
              <a:gd name="T72" fmla="*/ 51 w 186"/>
              <a:gd name="T73" fmla="*/ 8 h 169"/>
              <a:gd name="T74" fmla="*/ 85 w 186"/>
              <a:gd name="T75" fmla="*/ 8 h 169"/>
              <a:gd name="T76" fmla="*/ 119 w 186"/>
              <a:gd name="T77" fmla="*/ 25 h 169"/>
              <a:gd name="T78" fmla="*/ 169 w 186"/>
              <a:gd name="T79" fmla="*/ 25 h 169"/>
              <a:gd name="T80" fmla="*/ 178 w 186"/>
              <a:gd name="T81" fmla="*/ 34 h 169"/>
              <a:gd name="T82" fmla="*/ 178 w 186"/>
              <a:gd name="T83" fmla="*/ 118 h 169"/>
              <a:gd name="T84" fmla="*/ 169 w 186"/>
              <a:gd name="T85" fmla="*/ 126 h 169"/>
              <a:gd name="T86" fmla="*/ 165 w 186"/>
              <a:gd name="T87" fmla="*/ 126 h 169"/>
              <a:gd name="T88" fmla="*/ 161 w 186"/>
              <a:gd name="T89" fmla="*/ 131 h 169"/>
              <a:gd name="T90" fmla="*/ 165 w 186"/>
              <a:gd name="T91" fmla="*/ 135 h 169"/>
              <a:gd name="T92" fmla="*/ 169 w 186"/>
              <a:gd name="T93" fmla="*/ 135 h 169"/>
              <a:gd name="T94" fmla="*/ 186 w 186"/>
              <a:gd name="T95" fmla="*/ 118 h 169"/>
              <a:gd name="T96" fmla="*/ 186 w 186"/>
              <a:gd name="T97" fmla="*/ 34 h 169"/>
              <a:gd name="T98" fmla="*/ 169 w 186"/>
              <a:gd name="T99" fmla="*/ 17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6" h="169">
                <a:moveTo>
                  <a:pt x="135" y="51"/>
                </a:moveTo>
                <a:cubicBezTo>
                  <a:pt x="85" y="51"/>
                  <a:pt x="85" y="51"/>
                  <a:pt x="85" y="51"/>
                </a:cubicBezTo>
                <a:cubicBezTo>
                  <a:pt x="68" y="51"/>
                  <a:pt x="68" y="34"/>
                  <a:pt x="51" y="34"/>
                </a:cubicBezTo>
                <a:cubicBezTo>
                  <a:pt x="17" y="34"/>
                  <a:pt x="17" y="34"/>
                  <a:pt x="17" y="34"/>
                </a:cubicBezTo>
                <a:cubicBezTo>
                  <a:pt x="8" y="34"/>
                  <a:pt x="0" y="41"/>
                  <a:pt x="0" y="51"/>
                </a:cubicBezTo>
                <a:cubicBezTo>
                  <a:pt x="0" y="152"/>
                  <a:pt x="0" y="152"/>
                  <a:pt x="0" y="152"/>
                </a:cubicBezTo>
                <a:cubicBezTo>
                  <a:pt x="0" y="161"/>
                  <a:pt x="8" y="169"/>
                  <a:pt x="17" y="169"/>
                </a:cubicBezTo>
                <a:cubicBezTo>
                  <a:pt x="135" y="169"/>
                  <a:pt x="135" y="169"/>
                  <a:pt x="135" y="169"/>
                </a:cubicBezTo>
                <a:cubicBezTo>
                  <a:pt x="145" y="169"/>
                  <a:pt x="152" y="161"/>
                  <a:pt x="152" y="152"/>
                </a:cubicBezTo>
                <a:cubicBezTo>
                  <a:pt x="152" y="67"/>
                  <a:pt x="152" y="67"/>
                  <a:pt x="152" y="67"/>
                </a:cubicBezTo>
                <a:cubicBezTo>
                  <a:pt x="152" y="58"/>
                  <a:pt x="145" y="51"/>
                  <a:pt x="135" y="51"/>
                </a:cubicBezTo>
                <a:close/>
                <a:moveTo>
                  <a:pt x="144" y="152"/>
                </a:moveTo>
                <a:cubicBezTo>
                  <a:pt x="144" y="156"/>
                  <a:pt x="140" y="160"/>
                  <a:pt x="135" y="160"/>
                </a:cubicBezTo>
                <a:cubicBezTo>
                  <a:pt x="17" y="160"/>
                  <a:pt x="17" y="160"/>
                  <a:pt x="17" y="160"/>
                </a:cubicBezTo>
                <a:cubicBezTo>
                  <a:pt x="13" y="160"/>
                  <a:pt x="9" y="156"/>
                  <a:pt x="9" y="152"/>
                </a:cubicBezTo>
                <a:cubicBezTo>
                  <a:pt x="9" y="84"/>
                  <a:pt x="9" y="84"/>
                  <a:pt x="9" y="84"/>
                </a:cubicBezTo>
                <a:cubicBezTo>
                  <a:pt x="144" y="84"/>
                  <a:pt x="144" y="84"/>
                  <a:pt x="144" y="84"/>
                </a:cubicBezTo>
                <a:lnTo>
                  <a:pt x="144" y="152"/>
                </a:lnTo>
                <a:close/>
                <a:moveTo>
                  <a:pt x="144" y="76"/>
                </a:moveTo>
                <a:cubicBezTo>
                  <a:pt x="9" y="76"/>
                  <a:pt x="9" y="76"/>
                  <a:pt x="9" y="76"/>
                </a:cubicBezTo>
                <a:cubicBezTo>
                  <a:pt x="9" y="51"/>
                  <a:pt x="9" y="51"/>
                  <a:pt x="9" y="51"/>
                </a:cubicBezTo>
                <a:cubicBezTo>
                  <a:pt x="9" y="46"/>
                  <a:pt x="13" y="42"/>
                  <a:pt x="17" y="42"/>
                </a:cubicBezTo>
                <a:cubicBezTo>
                  <a:pt x="51" y="42"/>
                  <a:pt x="51" y="42"/>
                  <a:pt x="51" y="42"/>
                </a:cubicBezTo>
                <a:cubicBezTo>
                  <a:pt x="64" y="42"/>
                  <a:pt x="64" y="59"/>
                  <a:pt x="85" y="59"/>
                </a:cubicBezTo>
                <a:cubicBezTo>
                  <a:pt x="135" y="59"/>
                  <a:pt x="135" y="59"/>
                  <a:pt x="135" y="59"/>
                </a:cubicBezTo>
                <a:cubicBezTo>
                  <a:pt x="140" y="59"/>
                  <a:pt x="144" y="63"/>
                  <a:pt x="144" y="67"/>
                </a:cubicBezTo>
                <a:lnTo>
                  <a:pt x="144" y="76"/>
                </a:lnTo>
                <a:close/>
                <a:moveTo>
                  <a:pt x="169" y="17"/>
                </a:moveTo>
                <a:cubicBezTo>
                  <a:pt x="119" y="17"/>
                  <a:pt x="119" y="17"/>
                  <a:pt x="119" y="17"/>
                </a:cubicBezTo>
                <a:cubicBezTo>
                  <a:pt x="102" y="17"/>
                  <a:pt x="102" y="0"/>
                  <a:pt x="85" y="0"/>
                </a:cubicBezTo>
                <a:cubicBezTo>
                  <a:pt x="51" y="0"/>
                  <a:pt x="51" y="0"/>
                  <a:pt x="51" y="0"/>
                </a:cubicBezTo>
                <a:cubicBezTo>
                  <a:pt x="42" y="0"/>
                  <a:pt x="34" y="7"/>
                  <a:pt x="34" y="17"/>
                </a:cubicBezTo>
                <a:cubicBezTo>
                  <a:pt x="34" y="21"/>
                  <a:pt x="34" y="21"/>
                  <a:pt x="34" y="21"/>
                </a:cubicBezTo>
                <a:cubicBezTo>
                  <a:pt x="34" y="23"/>
                  <a:pt x="36" y="25"/>
                  <a:pt x="38" y="25"/>
                </a:cubicBezTo>
                <a:cubicBezTo>
                  <a:pt x="41" y="25"/>
                  <a:pt x="43" y="23"/>
                  <a:pt x="43" y="21"/>
                </a:cubicBezTo>
                <a:cubicBezTo>
                  <a:pt x="43" y="17"/>
                  <a:pt x="43" y="17"/>
                  <a:pt x="43" y="17"/>
                </a:cubicBezTo>
                <a:cubicBezTo>
                  <a:pt x="43" y="12"/>
                  <a:pt x="46" y="8"/>
                  <a:pt x="51" y="8"/>
                </a:cubicBezTo>
                <a:cubicBezTo>
                  <a:pt x="85" y="8"/>
                  <a:pt x="85" y="8"/>
                  <a:pt x="85" y="8"/>
                </a:cubicBezTo>
                <a:cubicBezTo>
                  <a:pt x="97" y="8"/>
                  <a:pt x="97" y="25"/>
                  <a:pt x="119" y="25"/>
                </a:cubicBezTo>
                <a:cubicBezTo>
                  <a:pt x="169" y="25"/>
                  <a:pt x="169" y="25"/>
                  <a:pt x="169" y="25"/>
                </a:cubicBezTo>
                <a:cubicBezTo>
                  <a:pt x="174" y="25"/>
                  <a:pt x="178" y="29"/>
                  <a:pt x="178" y="34"/>
                </a:cubicBezTo>
                <a:cubicBezTo>
                  <a:pt x="178" y="118"/>
                  <a:pt x="178" y="118"/>
                  <a:pt x="178" y="118"/>
                </a:cubicBezTo>
                <a:cubicBezTo>
                  <a:pt x="178" y="123"/>
                  <a:pt x="174" y="126"/>
                  <a:pt x="169" y="126"/>
                </a:cubicBezTo>
                <a:cubicBezTo>
                  <a:pt x="165" y="126"/>
                  <a:pt x="165" y="126"/>
                  <a:pt x="165" y="126"/>
                </a:cubicBezTo>
                <a:cubicBezTo>
                  <a:pt x="163" y="126"/>
                  <a:pt x="161" y="128"/>
                  <a:pt x="161" y="131"/>
                </a:cubicBezTo>
                <a:cubicBezTo>
                  <a:pt x="161" y="133"/>
                  <a:pt x="163" y="135"/>
                  <a:pt x="165" y="135"/>
                </a:cubicBezTo>
                <a:cubicBezTo>
                  <a:pt x="169" y="135"/>
                  <a:pt x="169" y="135"/>
                  <a:pt x="169" y="135"/>
                </a:cubicBezTo>
                <a:cubicBezTo>
                  <a:pt x="178" y="135"/>
                  <a:pt x="186" y="127"/>
                  <a:pt x="186" y="118"/>
                </a:cubicBezTo>
                <a:cubicBezTo>
                  <a:pt x="186" y="34"/>
                  <a:pt x="186" y="34"/>
                  <a:pt x="186" y="34"/>
                </a:cubicBezTo>
                <a:cubicBezTo>
                  <a:pt x="186" y="24"/>
                  <a:pt x="178" y="17"/>
                  <a:pt x="169" y="17"/>
                </a:cubicBezTo>
                <a:close/>
              </a:path>
            </a:pathLst>
          </a:custGeom>
          <a:solidFill>
            <a:srgbClr val="3CB2C3"/>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106" name="Freeform 142"/>
          <p:cNvSpPr>
            <a:spLocks noEditPoints="1"/>
          </p:cNvSpPr>
          <p:nvPr/>
        </p:nvSpPr>
        <p:spPr bwMode="auto">
          <a:xfrm>
            <a:off x="3672130" y="3842044"/>
            <a:ext cx="188061" cy="327023"/>
          </a:xfrm>
          <a:custGeom>
            <a:avLst/>
            <a:gdLst>
              <a:gd name="T0" fmla="*/ 162 w 317"/>
              <a:gd name="T1" fmla="*/ 455 h 575"/>
              <a:gd name="T2" fmla="*/ 155 w 317"/>
              <a:gd name="T3" fmla="*/ 448 h 575"/>
              <a:gd name="T4" fmla="*/ 155 w 317"/>
              <a:gd name="T5" fmla="*/ 398 h 575"/>
              <a:gd name="T6" fmla="*/ 220 w 317"/>
              <a:gd name="T7" fmla="*/ 301 h 575"/>
              <a:gd name="T8" fmla="*/ 303 w 317"/>
              <a:gd name="T9" fmla="*/ 159 h 575"/>
              <a:gd name="T10" fmla="*/ 158 w 317"/>
              <a:gd name="T11" fmla="*/ 14 h 575"/>
              <a:gd name="T12" fmla="*/ 14 w 317"/>
              <a:gd name="T13" fmla="*/ 159 h 575"/>
              <a:gd name="T14" fmla="*/ 7 w 317"/>
              <a:gd name="T15" fmla="*/ 166 h 575"/>
              <a:gd name="T16" fmla="*/ 0 w 317"/>
              <a:gd name="T17" fmla="*/ 159 h 575"/>
              <a:gd name="T18" fmla="*/ 158 w 317"/>
              <a:gd name="T19" fmla="*/ 0 h 575"/>
              <a:gd name="T20" fmla="*/ 317 w 317"/>
              <a:gd name="T21" fmla="*/ 159 h 575"/>
              <a:gd name="T22" fmla="*/ 229 w 317"/>
              <a:gd name="T23" fmla="*/ 311 h 575"/>
              <a:gd name="T24" fmla="*/ 169 w 317"/>
              <a:gd name="T25" fmla="*/ 398 h 575"/>
              <a:gd name="T26" fmla="*/ 169 w 317"/>
              <a:gd name="T27" fmla="*/ 448 h 575"/>
              <a:gd name="T28" fmla="*/ 162 w 317"/>
              <a:gd name="T29" fmla="*/ 455 h 575"/>
              <a:gd name="T30" fmla="*/ 195 w 317"/>
              <a:gd name="T31" fmla="*/ 542 h 575"/>
              <a:gd name="T32" fmla="*/ 162 w 317"/>
              <a:gd name="T33" fmla="*/ 510 h 575"/>
              <a:gd name="T34" fmla="*/ 129 w 317"/>
              <a:gd name="T35" fmla="*/ 542 h 575"/>
              <a:gd name="T36" fmla="*/ 162 w 317"/>
              <a:gd name="T37" fmla="*/ 575 h 575"/>
              <a:gd name="T38" fmla="*/ 195 w 317"/>
              <a:gd name="T39" fmla="*/ 542 h 575"/>
              <a:gd name="T40" fmla="*/ 181 w 317"/>
              <a:gd name="T41" fmla="*/ 542 h 575"/>
              <a:gd name="T42" fmla="*/ 162 w 317"/>
              <a:gd name="T43" fmla="*/ 561 h 575"/>
              <a:gd name="T44" fmla="*/ 143 w 317"/>
              <a:gd name="T45" fmla="*/ 542 h 575"/>
              <a:gd name="T46" fmla="*/ 162 w 317"/>
              <a:gd name="T47" fmla="*/ 524 h 575"/>
              <a:gd name="T48" fmla="*/ 181 w 317"/>
              <a:gd name="T49" fmla="*/ 542 h 5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17" h="575">
                <a:moveTo>
                  <a:pt x="162" y="455"/>
                </a:moveTo>
                <a:cubicBezTo>
                  <a:pt x="158" y="455"/>
                  <a:pt x="155" y="452"/>
                  <a:pt x="155" y="448"/>
                </a:cubicBezTo>
                <a:cubicBezTo>
                  <a:pt x="155" y="398"/>
                  <a:pt x="155" y="398"/>
                  <a:pt x="155" y="398"/>
                </a:cubicBezTo>
                <a:cubicBezTo>
                  <a:pt x="155" y="358"/>
                  <a:pt x="186" y="330"/>
                  <a:pt x="220" y="301"/>
                </a:cubicBezTo>
                <a:cubicBezTo>
                  <a:pt x="261" y="264"/>
                  <a:pt x="303" y="227"/>
                  <a:pt x="303" y="159"/>
                </a:cubicBezTo>
                <a:cubicBezTo>
                  <a:pt x="303" y="79"/>
                  <a:pt x="238" y="14"/>
                  <a:pt x="158" y="14"/>
                </a:cubicBezTo>
                <a:cubicBezTo>
                  <a:pt x="79" y="14"/>
                  <a:pt x="14" y="79"/>
                  <a:pt x="14" y="159"/>
                </a:cubicBezTo>
                <a:cubicBezTo>
                  <a:pt x="14" y="163"/>
                  <a:pt x="10" y="166"/>
                  <a:pt x="7" y="166"/>
                </a:cubicBezTo>
                <a:cubicBezTo>
                  <a:pt x="3" y="166"/>
                  <a:pt x="0" y="163"/>
                  <a:pt x="0" y="159"/>
                </a:cubicBezTo>
                <a:cubicBezTo>
                  <a:pt x="0" y="71"/>
                  <a:pt x="71" y="0"/>
                  <a:pt x="158" y="0"/>
                </a:cubicBezTo>
                <a:cubicBezTo>
                  <a:pt x="246" y="0"/>
                  <a:pt x="317" y="71"/>
                  <a:pt x="317" y="159"/>
                </a:cubicBezTo>
                <a:cubicBezTo>
                  <a:pt x="317" y="233"/>
                  <a:pt x="270" y="275"/>
                  <a:pt x="229" y="311"/>
                </a:cubicBezTo>
                <a:cubicBezTo>
                  <a:pt x="197" y="339"/>
                  <a:pt x="169" y="364"/>
                  <a:pt x="169" y="398"/>
                </a:cubicBezTo>
                <a:cubicBezTo>
                  <a:pt x="169" y="448"/>
                  <a:pt x="169" y="448"/>
                  <a:pt x="169" y="448"/>
                </a:cubicBezTo>
                <a:cubicBezTo>
                  <a:pt x="169" y="452"/>
                  <a:pt x="166" y="455"/>
                  <a:pt x="162" y="455"/>
                </a:cubicBezTo>
                <a:close/>
                <a:moveTo>
                  <a:pt x="195" y="542"/>
                </a:moveTo>
                <a:cubicBezTo>
                  <a:pt x="195" y="524"/>
                  <a:pt x="180" y="510"/>
                  <a:pt x="162" y="510"/>
                </a:cubicBezTo>
                <a:cubicBezTo>
                  <a:pt x="144" y="510"/>
                  <a:pt x="129" y="524"/>
                  <a:pt x="129" y="542"/>
                </a:cubicBezTo>
                <a:cubicBezTo>
                  <a:pt x="129" y="560"/>
                  <a:pt x="144" y="575"/>
                  <a:pt x="162" y="575"/>
                </a:cubicBezTo>
                <a:cubicBezTo>
                  <a:pt x="180" y="575"/>
                  <a:pt x="195" y="560"/>
                  <a:pt x="195" y="542"/>
                </a:cubicBezTo>
                <a:close/>
                <a:moveTo>
                  <a:pt x="181" y="542"/>
                </a:moveTo>
                <a:cubicBezTo>
                  <a:pt x="181" y="553"/>
                  <a:pt x="172" y="561"/>
                  <a:pt x="162" y="561"/>
                </a:cubicBezTo>
                <a:cubicBezTo>
                  <a:pt x="152" y="561"/>
                  <a:pt x="143" y="553"/>
                  <a:pt x="143" y="542"/>
                </a:cubicBezTo>
                <a:cubicBezTo>
                  <a:pt x="143" y="532"/>
                  <a:pt x="152" y="524"/>
                  <a:pt x="162" y="524"/>
                </a:cubicBezTo>
                <a:cubicBezTo>
                  <a:pt x="172" y="524"/>
                  <a:pt x="181" y="532"/>
                  <a:pt x="181" y="542"/>
                </a:cubicBezTo>
                <a:close/>
              </a:path>
            </a:pathLst>
          </a:custGeom>
          <a:solidFill>
            <a:schemeClr val="accent5">
              <a:lumMod val="75000"/>
            </a:schemeClr>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107" name="Freeform 142"/>
          <p:cNvSpPr>
            <a:spLocks noEditPoints="1"/>
          </p:cNvSpPr>
          <p:nvPr/>
        </p:nvSpPr>
        <p:spPr bwMode="auto">
          <a:xfrm>
            <a:off x="9157427" y="3618534"/>
            <a:ext cx="188061" cy="327023"/>
          </a:xfrm>
          <a:custGeom>
            <a:avLst/>
            <a:gdLst>
              <a:gd name="T0" fmla="*/ 162 w 317"/>
              <a:gd name="T1" fmla="*/ 455 h 575"/>
              <a:gd name="T2" fmla="*/ 155 w 317"/>
              <a:gd name="T3" fmla="*/ 448 h 575"/>
              <a:gd name="T4" fmla="*/ 155 w 317"/>
              <a:gd name="T5" fmla="*/ 398 h 575"/>
              <a:gd name="T6" fmla="*/ 220 w 317"/>
              <a:gd name="T7" fmla="*/ 301 h 575"/>
              <a:gd name="T8" fmla="*/ 303 w 317"/>
              <a:gd name="T9" fmla="*/ 159 h 575"/>
              <a:gd name="T10" fmla="*/ 158 w 317"/>
              <a:gd name="T11" fmla="*/ 14 h 575"/>
              <a:gd name="T12" fmla="*/ 14 w 317"/>
              <a:gd name="T13" fmla="*/ 159 h 575"/>
              <a:gd name="T14" fmla="*/ 7 w 317"/>
              <a:gd name="T15" fmla="*/ 166 h 575"/>
              <a:gd name="T16" fmla="*/ 0 w 317"/>
              <a:gd name="T17" fmla="*/ 159 h 575"/>
              <a:gd name="T18" fmla="*/ 158 w 317"/>
              <a:gd name="T19" fmla="*/ 0 h 575"/>
              <a:gd name="T20" fmla="*/ 317 w 317"/>
              <a:gd name="T21" fmla="*/ 159 h 575"/>
              <a:gd name="T22" fmla="*/ 229 w 317"/>
              <a:gd name="T23" fmla="*/ 311 h 575"/>
              <a:gd name="T24" fmla="*/ 169 w 317"/>
              <a:gd name="T25" fmla="*/ 398 h 575"/>
              <a:gd name="T26" fmla="*/ 169 w 317"/>
              <a:gd name="T27" fmla="*/ 448 h 575"/>
              <a:gd name="T28" fmla="*/ 162 w 317"/>
              <a:gd name="T29" fmla="*/ 455 h 575"/>
              <a:gd name="T30" fmla="*/ 195 w 317"/>
              <a:gd name="T31" fmla="*/ 542 h 575"/>
              <a:gd name="T32" fmla="*/ 162 w 317"/>
              <a:gd name="T33" fmla="*/ 510 h 575"/>
              <a:gd name="T34" fmla="*/ 129 w 317"/>
              <a:gd name="T35" fmla="*/ 542 h 575"/>
              <a:gd name="T36" fmla="*/ 162 w 317"/>
              <a:gd name="T37" fmla="*/ 575 h 575"/>
              <a:gd name="T38" fmla="*/ 195 w 317"/>
              <a:gd name="T39" fmla="*/ 542 h 575"/>
              <a:gd name="T40" fmla="*/ 181 w 317"/>
              <a:gd name="T41" fmla="*/ 542 h 575"/>
              <a:gd name="T42" fmla="*/ 162 w 317"/>
              <a:gd name="T43" fmla="*/ 561 h 575"/>
              <a:gd name="T44" fmla="*/ 143 w 317"/>
              <a:gd name="T45" fmla="*/ 542 h 575"/>
              <a:gd name="T46" fmla="*/ 162 w 317"/>
              <a:gd name="T47" fmla="*/ 524 h 575"/>
              <a:gd name="T48" fmla="*/ 181 w 317"/>
              <a:gd name="T49" fmla="*/ 542 h 5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17" h="575">
                <a:moveTo>
                  <a:pt x="162" y="455"/>
                </a:moveTo>
                <a:cubicBezTo>
                  <a:pt x="158" y="455"/>
                  <a:pt x="155" y="452"/>
                  <a:pt x="155" y="448"/>
                </a:cubicBezTo>
                <a:cubicBezTo>
                  <a:pt x="155" y="398"/>
                  <a:pt x="155" y="398"/>
                  <a:pt x="155" y="398"/>
                </a:cubicBezTo>
                <a:cubicBezTo>
                  <a:pt x="155" y="358"/>
                  <a:pt x="186" y="330"/>
                  <a:pt x="220" y="301"/>
                </a:cubicBezTo>
                <a:cubicBezTo>
                  <a:pt x="261" y="264"/>
                  <a:pt x="303" y="227"/>
                  <a:pt x="303" y="159"/>
                </a:cubicBezTo>
                <a:cubicBezTo>
                  <a:pt x="303" y="79"/>
                  <a:pt x="238" y="14"/>
                  <a:pt x="158" y="14"/>
                </a:cubicBezTo>
                <a:cubicBezTo>
                  <a:pt x="79" y="14"/>
                  <a:pt x="14" y="79"/>
                  <a:pt x="14" y="159"/>
                </a:cubicBezTo>
                <a:cubicBezTo>
                  <a:pt x="14" y="163"/>
                  <a:pt x="10" y="166"/>
                  <a:pt x="7" y="166"/>
                </a:cubicBezTo>
                <a:cubicBezTo>
                  <a:pt x="3" y="166"/>
                  <a:pt x="0" y="163"/>
                  <a:pt x="0" y="159"/>
                </a:cubicBezTo>
                <a:cubicBezTo>
                  <a:pt x="0" y="71"/>
                  <a:pt x="71" y="0"/>
                  <a:pt x="158" y="0"/>
                </a:cubicBezTo>
                <a:cubicBezTo>
                  <a:pt x="246" y="0"/>
                  <a:pt x="317" y="71"/>
                  <a:pt x="317" y="159"/>
                </a:cubicBezTo>
                <a:cubicBezTo>
                  <a:pt x="317" y="233"/>
                  <a:pt x="270" y="275"/>
                  <a:pt x="229" y="311"/>
                </a:cubicBezTo>
                <a:cubicBezTo>
                  <a:pt x="197" y="339"/>
                  <a:pt x="169" y="364"/>
                  <a:pt x="169" y="398"/>
                </a:cubicBezTo>
                <a:cubicBezTo>
                  <a:pt x="169" y="448"/>
                  <a:pt x="169" y="448"/>
                  <a:pt x="169" y="448"/>
                </a:cubicBezTo>
                <a:cubicBezTo>
                  <a:pt x="169" y="452"/>
                  <a:pt x="166" y="455"/>
                  <a:pt x="162" y="455"/>
                </a:cubicBezTo>
                <a:close/>
                <a:moveTo>
                  <a:pt x="195" y="542"/>
                </a:moveTo>
                <a:cubicBezTo>
                  <a:pt x="195" y="524"/>
                  <a:pt x="180" y="510"/>
                  <a:pt x="162" y="510"/>
                </a:cubicBezTo>
                <a:cubicBezTo>
                  <a:pt x="144" y="510"/>
                  <a:pt x="129" y="524"/>
                  <a:pt x="129" y="542"/>
                </a:cubicBezTo>
                <a:cubicBezTo>
                  <a:pt x="129" y="560"/>
                  <a:pt x="144" y="575"/>
                  <a:pt x="162" y="575"/>
                </a:cubicBezTo>
                <a:cubicBezTo>
                  <a:pt x="180" y="575"/>
                  <a:pt x="195" y="560"/>
                  <a:pt x="195" y="542"/>
                </a:cubicBezTo>
                <a:close/>
                <a:moveTo>
                  <a:pt x="181" y="542"/>
                </a:moveTo>
                <a:cubicBezTo>
                  <a:pt x="181" y="553"/>
                  <a:pt x="172" y="561"/>
                  <a:pt x="162" y="561"/>
                </a:cubicBezTo>
                <a:cubicBezTo>
                  <a:pt x="152" y="561"/>
                  <a:pt x="143" y="553"/>
                  <a:pt x="143" y="542"/>
                </a:cubicBezTo>
                <a:cubicBezTo>
                  <a:pt x="143" y="532"/>
                  <a:pt x="152" y="524"/>
                  <a:pt x="162" y="524"/>
                </a:cubicBezTo>
                <a:cubicBezTo>
                  <a:pt x="172" y="524"/>
                  <a:pt x="181" y="532"/>
                  <a:pt x="181" y="542"/>
                </a:cubicBezTo>
                <a:close/>
              </a:path>
            </a:pathLst>
          </a:custGeom>
          <a:solidFill>
            <a:schemeClr val="accent5">
              <a:lumMod val="75000"/>
            </a:schemeClr>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118" name="Freeform 40"/>
          <p:cNvSpPr>
            <a:spLocks noEditPoints="1"/>
          </p:cNvSpPr>
          <p:nvPr/>
        </p:nvSpPr>
        <p:spPr bwMode="auto">
          <a:xfrm>
            <a:off x="3540603" y="2971438"/>
            <a:ext cx="444139" cy="669813"/>
          </a:xfrm>
          <a:custGeom>
            <a:avLst/>
            <a:gdLst>
              <a:gd name="T0" fmla="*/ 283 w 283"/>
              <a:gd name="T1" fmla="*/ 46 h 369"/>
              <a:gd name="T2" fmla="*/ 0 w 283"/>
              <a:gd name="T3" fmla="*/ 46 h 369"/>
              <a:gd name="T4" fmla="*/ 10 w 283"/>
              <a:gd name="T5" fmla="*/ 133 h 369"/>
              <a:gd name="T6" fmla="*/ 0 w 283"/>
              <a:gd name="T7" fmla="*/ 219 h 369"/>
              <a:gd name="T8" fmla="*/ 0 w 283"/>
              <a:gd name="T9" fmla="*/ 253 h 369"/>
              <a:gd name="T10" fmla="*/ 142 w 283"/>
              <a:gd name="T11" fmla="*/ 369 h 369"/>
              <a:gd name="T12" fmla="*/ 283 w 283"/>
              <a:gd name="T13" fmla="*/ 253 h 369"/>
              <a:gd name="T14" fmla="*/ 283 w 283"/>
              <a:gd name="T15" fmla="*/ 219 h 369"/>
              <a:gd name="T16" fmla="*/ 274 w 283"/>
              <a:gd name="T17" fmla="*/ 133 h 369"/>
              <a:gd name="T18" fmla="*/ 274 w 283"/>
              <a:gd name="T19" fmla="*/ 323 h 369"/>
              <a:gd name="T20" fmla="*/ 10 w 283"/>
              <a:gd name="T21" fmla="*/ 323 h 369"/>
              <a:gd name="T22" fmla="*/ 142 w 283"/>
              <a:gd name="T23" fmla="*/ 299 h 369"/>
              <a:gd name="T24" fmla="*/ 274 w 283"/>
              <a:gd name="T25" fmla="*/ 323 h 369"/>
              <a:gd name="T26" fmla="*/ 10 w 283"/>
              <a:gd name="T27" fmla="*/ 253 h 369"/>
              <a:gd name="T28" fmla="*/ 142 w 283"/>
              <a:gd name="T29" fmla="*/ 265 h 369"/>
              <a:gd name="T30" fmla="*/ 274 w 283"/>
              <a:gd name="T31" fmla="*/ 253 h 369"/>
              <a:gd name="T32" fmla="*/ 274 w 283"/>
              <a:gd name="T33" fmla="*/ 219 h 369"/>
              <a:gd name="T34" fmla="*/ 263 w 283"/>
              <a:gd name="T35" fmla="*/ 233 h 369"/>
              <a:gd name="T36" fmla="*/ 20 w 283"/>
              <a:gd name="T37" fmla="*/ 233 h 369"/>
              <a:gd name="T38" fmla="*/ 10 w 283"/>
              <a:gd name="T39" fmla="*/ 219 h 369"/>
              <a:gd name="T40" fmla="*/ 142 w 283"/>
              <a:gd name="T41" fmla="*/ 195 h 369"/>
              <a:gd name="T42" fmla="*/ 274 w 283"/>
              <a:gd name="T43" fmla="*/ 219 h 369"/>
              <a:gd name="T44" fmla="*/ 10 w 283"/>
              <a:gd name="T45" fmla="*/ 150 h 369"/>
              <a:gd name="T46" fmla="*/ 142 w 283"/>
              <a:gd name="T47" fmla="*/ 161 h 369"/>
              <a:gd name="T48" fmla="*/ 274 w 283"/>
              <a:gd name="T49" fmla="*/ 150 h 369"/>
              <a:gd name="T50" fmla="*/ 274 w 283"/>
              <a:gd name="T51" fmla="*/ 115 h 369"/>
              <a:gd name="T52" fmla="*/ 263 w 283"/>
              <a:gd name="T53" fmla="*/ 129 h 369"/>
              <a:gd name="T54" fmla="*/ 21 w 283"/>
              <a:gd name="T55" fmla="*/ 129 h 369"/>
              <a:gd name="T56" fmla="*/ 10 w 283"/>
              <a:gd name="T57" fmla="*/ 115 h 369"/>
              <a:gd name="T58" fmla="*/ 142 w 283"/>
              <a:gd name="T59" fmla="*/ 92 h 369"/>
              <a:gd name="T60" fmla="*/ 274 w 283"/>
              <a:gd name="T61" fmla="*/ 115 h 369"/>
              <a:gd name="T62" fmla="*/ 10 w 283"/>
              <a:gd name="T63" fmla="*/ 46 h 369"/>
              <a:gd name="T64" fmla="*/ 274 w 283"/>
              <a:gd name="T65" fmla="*/ 46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3" h="369">
                <a:moveTo>
                  <a:pt x="283" y="115"/>
                </a:moveTo>
                <a:cubicBezTo>
                  <a:pt x="283" y="46"/>
                  <a:pt x="283" y="46"/>
                  <a:pt x="283" y="46"/>
                </a:cubicBezTo>
                <a:cubicBezTo>
                  <a:pt x="283" y="16"/>
                  <a:pt x="210" y="0"/>
                  <a:pt x="142" y="0"/>
                </a:cubicBezTo>
                <a:cubicBezTo>
                  <a:pt x="73" y="0"/>
                  <a:pt x="0" y="16"/>
                  <a:pt x="0" y="46"/>
                </a:cubicBezTo>
                <a:cubicBezTo>
                  <a:pt x="0" y="115"/>
                  <a:pt x="0" y="115"/>
                  <a:pt x="0" y="115"/>
                </a:cubicBezTo>
                <a:cubicBezTo>
                  <a:pt x="0" y="122"/>
                  <a:pt x="4" y="128"/>
                  <a:pt x="10" y="133"/>
                </a:cubicBezTo>
                <a:cubicBezTo>
                  <a:pt x="3" y="138"/>
                  <a:pt x="0" y="144"/>
                  <a:pt x="0" y="150"/>
                </a:cubicBezTo>
                <a:cubicBezTo>
                  <a:pt x="0" y="219"/>
                  <a:pt x="0" y="219"/>
                  <a:pt x="0" y="219"/>
                </a:cubicBezTo>
                <a:cubicBezTo>
                  <a:pt x="0" y="226"/>
                  <a:pt x="4" y="231"/>
                  <a:pt x="10" y="236"/>
                </a:cubicBezTo>
                <a:cubicBezTo>
                  <a:pt x="3" y="242"/>
                  <a:pt x="0" y="247"/>
                  <a:pt x="0" y="253"/>
                </a:cubicBezTo>
                <a:cubicBezTo>
                  <a:pt x="0" y="323"/>
                  <a:pt x="0" y="323"/>
                  <a:pt x="0" y="323"/>
                </a:cubicBezTo>
                <a:cubicBezTo>
                  <a:pt x="0" y="353"/>
                  <a:pt x="73" y="369"/>
                  <a:pt x="142" y="369"/>
                </a:cubicBezTo>
                <a:cubicBezTo>
                  <a:pt x="210" y="369"/>
                  <a:pt x="283" y="353"/>
                  <a:pt x="283" y="323"/>
                </a:cubicBezTo>
                <a:cubicBezTo>
                  <a:pt x="283" y="253"/>
                  <a:pt x="283" y="253"/>
                  <a:pt x="283" y="253"/>
                </a:cubicBezTo>
                <a:cubicBezTo>
                  <a:pt x="283" y="247"/>
                  <a:pt x="280" y="242"/>
                  <a:pt x="274" y="236"/>
                </a:cubicBezTo>
                <a:cubicBezTo>
                  <a:pt x="280" y="231"/>
                  <a:pt x="283" y="226"/>
                  <a:pt x="283" y="219"/>
                </a:cubicBezTo>
                <a:cubicBezTo>
                  <a:pt x="283" y="150"/>
                  <a:pt x="283" y="150"/>
                  <a:pt x="283" y="150"/>
                </a:cubicBezTo>
                <a:cubicBezTo>
                  <a:pt x="283" y="144"/>
                  <a:pt x="280" y="138"/>
                  <a:pt x="274" y="133"/>
                </a:cubicBezTo>
                <a:cubicBezTo>
                  <a:pt x="280" y="128"/>
                  <a:pt x="283" y="122"/>
                  <a:pt x="283" y="115"/>
                </a:cubicBezTo>
                <a:close/>
                <a:moveTo>
                  <a:pt x="274" y="323"/>
                </a:moveTo>
                <a:cubicBezTo>
                  <a:pt x="274" y="340"/>
                  <a:pt x="220" y="359"/>
                  <a:pt x="142" y="359"/>
                </a:cubicBezTo>
                <a:cubicBezTo>
                  <a:pt x="64" y="359"/>
                  <a:pt x="10" y="340"/>
                  <a:pt x="10" y="323"/>
                </a:cubicBezTo>
                <a:cubicBezTo>
                  <a:pt x="10" y="271"/>
                  <a:pt x="10" y="271"/>
                  <a:pt x="10" y="271"/>
                </a:cubicBezTo>
                <a:cubicBezTo>
                  <a:pt x="31" y="289"/>
                  <a:pt x="88" y="299"/>
                  <a:pt x="142" y="299"/>
                </a:cubicBezTo>
                <a:cubicBezTo>
                  <a:pt x="196" y="299"/>
                  <a:pt x="252" y="289"/>
                  <a:pt x="274" y="271"/>
                </a:cubicBezTo>
                <a:lnTo>
                  <a:pt x="274" y="323"/>
                </a:lnTo>
                <a:close/>
                <a:moveTo>
                  <a:pt x="142" y="290"/>
                </a:moveTo>
                <a:cubicBezTo>
                  <a:pt x="64" y="290"/>
                  <a:pt x="10" y="271"/>
                  <a:pt x="10" y="253"/>
                </a:cubicBezTo>
                <a:cubicBezTo>
                  <a:pt x="10" y="249"/>
                  <a:pt x="14" y="245"/>
                  <a:pt x="18" y="242"/>
                </a:cubicBezTo>
                <a:cubicBezTo>
                  <a:pt x="43" y="257"/>
                  <a:pt x="94" y="265"/>
                  <a:pt x="142" y="265"/>
                </a:cubicBezTo>
                <a:cubicBezTo>
                  <a:pt x="190" y="265"/>
                  <a:pt x="240" y="257"/>
                  <a:pt x="266" y="242"/>
                </a:cubicBezTo>
                <a:cubicBezTo>
                  <a:pt x="270" y="245"/>
                  <a:pt x="274" y="249"/>
                  <a:pt x="274" y="253"/>
                </a:cubicBezTo>
                <a:cubicBezTo>
                  <a:pt x="274" y="271"/>
                  <a:pt x="220" y="290"/>
                  <a:pt x="142" y="290"/>
                </a:cubicBezTo>
                <a:close/>
                <a:moveTo>
                  <a:pt x="274" y="219"/>
                </a:moveTo>
                <a:cubicBezTo>
                  <a:pt x="274" y="223"/>
                  <a:pt x="271" y="228"/>
                  <a:pt x="264" y="232"/>
                </a:cubicBezTo>
                <a:cubicBezTo>
                  <a:pt x="264" y="232"/>
                  <a:pt x="264" y="232"/>
                  <a:pt x="263" y="233"/>
                </a:cubicBezTo>
                <a:cubicBezTo>
                  <a:pt x="244" y="245"/>
                  <a:pt x="199" y="255"/>
                  <a:pt x="142" y="255"/>
                </a:cubicBezTo>
                <a:cubicBezTo>
                  <a:pt x="84" y="255"/>
                  <a:pt x="40" y="245"/>
                  <a:pt x="20" y="233"/>
                </a:cubicBezTo>
                <a:cubicBezTo>
                  <a:pt x="20" y="232"/>
                  <a:pt x="20" y="232"/>
                  <a:pt x="19" y="232"/>
                </a:cubicBezTo>
                <a:cubicBezTo>
                  <a:pt x="13" y="228"/>
                  <a:pt x="10" y="223"/>
                  <a:pt x="10" y="219"/>
                </a:cubicBezTo>
                <a:cubicBezTo>
                  <a:pt x="10" y="167"/>
                  <a:pt x="10" y="167"/>
                  <a:pt x="10" y="167"/>
                </a:cubicBezTo>
                <a:cubicBezTo>
                  <a:pt x="31" y="186"/>
                  <a:pt x="88" y="195"/>
                  <a:pt x="142" y="195"/>
                </a:cubicBezTo>
                <a:cubicBezTo>
                  <a:pt x="196" y="195"/>
                  <a:pt x="252" y="186"/>
                  <a:pt x="274" y="167"/>
                </a:cubicBezTo>
                <a:lnTo>
                  <a:pt x="274" y="219"/>
                </a:lnTo>
                <a:close/>
                <a:moveTo>
                  <a:pt x="142" y="186"/>
                </a:moveTo>
                <a:cubicBezTo>
                  <a:pt x="64" y="186"/>
                  <a:pt x="10" y="167"/>
                  <a:pt x="10" y="150"/>
                </a:cubicBezTo>
                <a:cubicBezTo>
                  <a:pt x="10" y="145"/>
                  <a:pt x="14" y="141"/>
                  <a:pt x="18" y="138"/>
                </a:cubicBezTo>
                <a:cubicBezTo>
                  <a:pt x="43" y="153"/>
                  <a:pt x="94" y="161"/>
                  <a:pt x="142" y="161"/>
                </a:cubicBezTo>
                <a:cubicBezTo>
                  <a:pt x="190" y="161"/>
                  <a:pt x="240" y="153"/>
                  <a:pt x="266" y="138"/>
                </a:cubicBezTo>
                <a:cubicBezTo>
                  <a:pt x="270" y="141"/>
                  <a:pt x="274" y="145"/>
                  <a:pt x="274" y="150"/>
                </a:cubicBezTo>
                <a:cubicBezTo>
                  <a:pt x="274" y="167"/>
                  <a:pt x="220" y="186"/>
                  <a:pt x="142" y="186"/>
                </a:cubicBezTo>
                <a:close/>
                <a:moveTo>
                  <a:pt x="274" y="115"/>
                </a:moveTo>
                <a:cubicBezTo>
                  <a:pt x="274" y="120"/>
                  <a:pt x="271" y="124"/>
                  <a:pt x="264" y="128"/>
                </a:cubicBezTo>
                <a:cubicBezTo>
                  <a:pt x="264" y="128"/>
                  <a:pt x="263" y="129"/>
                  <a:pt x="263" y="129"/>
                </a:cubicBezTo>
                <a:cubicBezTo>
                  <a:pt x="243" y="142"/>
                  <a:pt x="199" y="152"/>
                  <a:pt x="142" y="152"/>
                </a:cubicBezTo>
                <a:cubicBezTo>
                  <a:pt x="85" y="152"/>
                  <a:pt x="40" y="142"/>
                  <a:pt x="21" y="129"/>
                </a:cubicBezTo>
                <a:cubicBezTo>
                  <a:pt x="20" y="129"/>
                  <a:pt x="20" y="128"/>
                  <a:pt x="19" y="128"/>
                </a:cubicBezTo>
                <a:cubicBezTo>
                  <a:pt x="13" y="124"/>
                  <a:pt x="10" y="120"/>
                  <a:pt x="10" y="115"/>
                </a:cubicBezTo>
                <a:cubicBezTo>
                  <a:pt x="10" y="63"/>
                  <a:pt x="10" y="63"/>
                  <a:pt x="10" y="63"/>
                </a:cubicBezTo>
                <a:cubicBezTo>
                  <a:pt x="31" y="82"/>
                  <a:pt x="88" y="92"/>
                  <a:pt x="142" y="92"/>
                </a:cubicBezTo>
                <a:cubicBezTo>
                  <a:pt x="196" y="92"/>
                  <a:pt x="252" y="82"/>
                  <a:pt x="274" y="63"/>
                </a:cubicBezTo>
                <a:lnTo>
                  <a:pt x="274" y="115"/>
                </a:lnTo>
                <a:close/>
                <a:moveTo>
                  <a:pt x="142" y="82"/>
                </a:moveTo>
                <a:cubicBezTo>
                  <a:pt x="64" y="82"/>
                  <a:pt x="10" y="63"/>
                  <a:pt x="10" y="46"/>
                </a:cubicBezTo>
                <a:cubicBezTo>
                  <a:pt x="10" y="29"/>
                  <a:pt x="64" y="10"/>
                  <a:pt x="142" y="10"/>
                </a:cubicBezTo>
                <a:cubicBezTo>
                  <a:pt x="220" y="10"/>
                  <a:pt x="274" y="29"/>
                  <a:pt x="274" y="46"/>
                </a:cubicBezTo>
                <a:cubicBezTo>
                  <a:pt x="274" y="63"/>
                  <a:pt x="220" y="82"/>
                  <a:pt x="142" y="82"/>
                </a:cubicBezTo>
                <a:close/>
              </a:path>
            </a:pathLst>
          </a:custGeom>
          <a:solidFill>
            <a:srgbClr val="3CB2C3"/>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122" name="Freeform 40"/>
          <p:cNvSpPr>
            <a:spLocks noEditPoints="1"/>
          </p:cNvSpPr>
          <p:nvPr/>
        </p:nvSpPr>
        <p:spPr bwMode="auto">
          <a:xfrm>
            <a:off x="6609184" y="2977491"/>
            <a:ext cx="444139" cy="669813"/>
          </a:xfrm>
          <a:custGeom>
            <a:avLst/>
            <a:gdLst>
              <a:gd name="T0" fmla="*/ 283 w 283"/>
              <a:gd name="T1" fmla="*/ 46 h 369"/>
              <a:gd name="T2" fmla="*/ 0 w 283"/>
              <a:gd name="T3" fmla="*/ 46 h 369"/>
              <a:gd name="T4" fmla="*/ 10 w 283"/>
              <a:gd name="T5" fmla="*/ 133 h 369"/>
              <a:gd name="T6" fmla="*/ 0 w 283"/>
              <a:gd name="T7" fmla="*/ 219 h 369"/>
              <a:gd name="T8" fmla="*/ 0 w 283"/>
              <a:gd name="T9" fmla="*/ 253 h 369"/>
              <a:gd name="T10" fmla="*/ 142 w 283"/>
              <a:gd name="T11" fmla="*/ 369 h 369"/>
              <a:gd name="T12" fmla="*/ 283 w 283"/>
              <a:gd name="T13" fmla="*/ 253 h 369"/>
              <a:gd name="T14" fmla="*/ 283 w 283"/>
              <a:gd name="T15" fmla="*/ 219 h 369"/>
              <a:gd name="T16" fmla="*/ 274 w 283"/>
              <a:gd name="T17" fmla="*/ 133 h 369"/>
              <a:gd name="T18" fmla="*/ 274 w 283"/>
              <a:gd name="T19" fmla="*/ 323 h 369"/>
              <a:gd name="T20" fmla="*/ 10 w 283"/>
              <a:gd name="T21" fmla="*/ 323 h 369"/>
              <a:gd name="T22" fmla="*/ 142 w 283"/>
              <a:gd name="T23" fmla="*/ 299 h 369"/>
              <a:gd name="T24" fmla="*/ 274 w 283"/>
              <a:gd name="T25" fmla="*/ 323 h 369"/>
              <a:gd name="T26" fmla="*/ 10 w 283"/>
              <a:gd name="T27" fmla="*/ 253 h 369"/>
              <a:gd name="T28" fmla="*/ 142 w 283"/>
              <a:gd name="T29" fmla="*/ 265 h 369"/>
              <a:gd name="T30" fmla="*/ 274 w 283"/>
              <a:gd name="T31" fmla="*/ 253 h 369"/>
              <a:gd name="T32" fmla="*/ 274 w 283"/>
              <a:gd name="T33" fmla="*/ 219 h 369"/>
              <a:gd name="T34" fmla="*/ 263 w 283"/>
              <a:gd name="T35" fmla="*/ 233 h 369"/>
              <a:gd name="T36" fmla="*/ 20 w 283"/>
              <a:gd name="T37" fmla="*/ 233 h 369"/>
              <a:gd name="T38" fmla="*/ 10 w 283"/>
              <a:gd name="T39" fmla="*/ 219 h 369"/>
              <a:gd name="T40" fmla="*/ 142 w 283"/>
              <a:gd name="T41" fmla="*/ 195 h 369"/>
              <a:gd name="T42" fmla="*/ 274 w 283"/>
              <a:gd name="T43" fmla="*/ 219 h 369"/>
              <a:gd name="T44" fmla="*/ 10 w 283"/>
              <a:gd name="T45" fmla="*/ 150 h 369"/>
              <a:gd name="T46" fmla="*/ 142 w 283"/>
              <a:gd name="T47" fmla="*/ 161 h 369"/>
              <a:gd name="T48" fmla="*/ 274 w 283"/>
              <a:gd name="T49" fmla="*/ 150 h 369"/>
              <a:gd name="T50" fmla="*/ 274 w 283"/>
              <a:gd name="T51" fmla="*/ 115 h 369"/>
              <a:gd name="T52" fmla="*/ 263 w 283"/>
              <a:gd name="T53" fmla="*/ 129 h 369"/>
              <a:gd name="T54" fmla="*/ 21 w 283"/>
              <a:gd name="T55" fmla="*/ 129 h 369"/>
              <a:gd name="T56" fmla="*/ 10 w 283"/>
              <a:gd name="T57" fmla="*/ 115 h 369"/>
              <a:gd name="T58" fmla="*/ 142 w 283"/>
              <a:gd name="T59" fmla="*/ 92 h 369"/>
              <a:gd name="T60" fmla="*/ 274 w 283"/>
              <a:gd name="T61" fmla="*/ 115 h 369"/>
              <a:gd name="T62" fmla="*/ 10 w 283"/>
              <a:gd name="T63" fmla="*/ 46 h 369"/>
              <a:gd name="T64" fmla="*/ 274 w 283"/>
              <a:gd name="T65" fmla="*/ 46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3" h="369">
                <a:moveTo>
                  <a:pt x="283" y="115"/>
                </a:moveTo>
                <a:cubicBezTo>
                  <a:pt x="283" y="46"/>
                  <a:pt x="283" y="46"/>
                  <a:pt x="283" y="46"/>
                </a:cubicBezTo>
                <a:cubicBezTo>
                  <a:pt x="283" y="16"/>
                  <a:pt x="210" y="0"/>
                  <a:pt x="142" y="0"/>
                </a:cubicBezTo>
                <a:cubicBezTo>
                  <a:pt x="73" y="0"/>
                  <a:pt x="0" y="16"/>
                  <a:pt x="0" y="46"/>
                </a:cubicBezTo>
                <a:cubicBezTo>
                  <a:pt x="0" y="115"/>
                  <a:pt x="0" y="115"/>
                  <a:pt x="0" y="115"/>
                </a:cubicBezTo>
                <a:cubicBezTo>
                  <a:pt x="0" y="122"/>
                  <a:pt x="4" y="128"/>
                  <a:pt x="10" y="133"/>
                </a:cubicBezTo>
                <a:cubicBezTo>
                  <a:pt x="3" y="138"/>
                  <a:pt x="0" y="144"/>
                  <a:pt x="0" y="150"/>
                </a:cubicBezTo>
                <a:cubicBezTo>
                  <a:pt x="0" y="219"/>
                  <a:pt x="0" y="219"/>
                  <a:pt x="0" y="219"/>
                </a:cubicBezTo>
                <a:cubicBezTo>
                  <a:pt x="0" y="226"/>
                  <a:pt x="4" y="231"/>
                  <a:pt x="10" y="236"/>
                </a:cubicBezTo>
                <a:cubicBezTo>
                  <a:pt x="3" y="242"/>
                  <a:pt x="0" y="247"/>
                  <a:pt x="0" y="253"/>
                </a:cubicBezTo>
                <a:cubicBezTo>
                  <a:pt x="0" y="323"/>
                  <a:pt x="0" y="323"/>
                  <a:pt x="0" y="323"/>
                </a:cubicBezTo>
                <a:cubicBezTo>
                  <a:pt x="0" y="353"/>
                  <a:pt x="73" y="369"/>
                  <a:pt x="142" y="369"/>
                </a:cubicBezTo>
                <a:cubicBezTo>
                  <a:pt x="210" y="369"/>
                  <a:pt x="283" y="353"/>
                  <a:pt x="283" y="323"/>
                </a:cubicBezTo>
                <a:cubicBezTo>
                  <a:pt x="283" y="253"/>
                  <a:pt x="283" y="253"/>
                  <a:pt x="283" y="253"/>
                </a:cubicBezTo>
                <a:cubicBezTo>
                  <a:pt x="283" y="247"/>
                  <a:pt x="280" y="242"/>
                  <a:pt x="274" y="236"/>
                </a:cubicBezTo>
                <a:cubicBezTo>
                  <a:pt x="280" y="231"/>
                  <a:pt x="283" y="226"/>
                  <a:pt x="283" y="219"/>
                </a:cubicBezTo>
                <a:cubicBezTo>
                  <a:pt x="283" y="150"/>
                  <a:pt x="283" y="150"/>
                  <a:pt x="283" y="150"/>
                </a:cubicBezTo>
                <a:cubicBezTo>
                  <a:pt x="283" y="144"/>
                  <a:pt x="280" y="138"/>
                  <a:pt x="274" y="133"/>
                </a:cubicBezTo>
                <a:cubicBezTo>
                  <a:pt x="280" y="128"/>
                  <a:pt x="283" y="122"/>
                  <a:pt x="283" y="115"/>
                </a:cubicBezTo>
                <a:close/>
                <a:moveTo>
                  <a:pt x="274" y="323"/>
                </a:moveTo>
                <a:cubicBezTo>
                  <a:pt x="274" y="340"/>
                  <a:pt x="220" y="359"/>
                  <a:pt x="142" y="359"/>
                </a:cubicBezTo>
                <a:cubicBezTo>
                  <a:pt x="64" y="359"/>
                  <a:pt x="10" y="340"/>
                  <a:pt x="10" y="323"/>
                </a:cubicBezTo>
                <a:cubicBezTo>
                  <a:pt x="10" y="271"/>
                  <a:pt x="10" y="271"/>
                  <a:pt x="10" y="271"/>
                </a:cubicBezTo>
                <a:cubicBezTo>
                  <a:pt x="31" y="289"/>
                  <a:pt x="88" y="299"/>
                  <a:pt x="142" y="299"/>
                </a:cubicBezTo>
                <a:cubicBezTo>
                  <a:pt x="196" y="299"/>
                  <a:pt x="252" y="289"/>
                  <a:pt x="274" y="271"/>
                </a:cubicBezTo>
                <a:lnTo>
                  <a:pt x="274" y="323"/>
                </a:lnTo>
                <a:close/>
                <a:moveTo>
                  <a:pt x="142" y="290"/>
                </a:moveTo>
                <a:cubicBezTo>
                  <a:pt x="64" y="290"/>
                  <a:pt x="10" y="271"/>
                  <a:pt x="10" y="253"/>
                </a:cubicBezTo>
                <a:cubicBezTo>
                  <a:pt x="10" y="249"/>
                  <a:pt x="14" y="245"/>
                  <a:pt x="18" y="242"/>
                </a:cubicBezTo>
                <a:cubicBezTo>
                  <a:pt x="43" y="257"/>
                  <a:pt x="94" y="265"/>
                  <a:pt x="142" y="265"/>
                </a:cubicBezTo>
                <a:cubicBezTo>
                  <a:pt x="190" y="265"/>
                  <a:pt x="240" y="257"/>
                  <a:pt x="266" y="242"/>
                </a:cubicBezTo>
                <a:cubicBezTo>
                  <a:pt x="270" y="245"/>
                  <a:pt x="274" y="249"/>
                  <a:pt x="274" y="253"/>
                </a:cubicBezTo>
                <a:cubicBezTo>
                  <a:pt x="274" y="271"/>
                  <a:pt x="220" y="290"/>
                  <a:pt x="142" y="290"/>
                </a:cubicBezTo>
                <a:close/>
                <a:moveTo>
                  <a:pt x="274" y="219"/>
                </a:moveTo>
                <a:cubicBezTo>
                  <a:pt x="274" y="223"/>
                  <a:pt x="271" y="228"/>
                  <a:pt x="264" y="232"/>
                </a:cubicBezTo>
                <a:cubicBezTo>
                  <a:pt x="264" y="232"/>
                  <a:pt x="264" y="232"/>
                  <a:pt x="263" y="233"/>
                </a:cubicBezTo>
                <a:cubicBezTo>
                  <a:pt x="244" y="245"/>
                  <a:pt x="199" y="255"/>
                  <a:pt x="142" y="255"/>
                </a:cubicBezTo>
                <a:cubicBezTo>
                  <a:pt x="84" y="255"/>
                  <a:pt x="40" y="245"/>
                  <a:pt x="20" y="233"/>
                </a:cubicBezTo>
                <a:cubicBezTo>
                  <a:pt x="20" y="232"/>
                  <a:pt x="20" y="232"/>
                  <a:pt x="19" y="232"/>
                </a:cubicBezTo>
                <a:cubicBezTo>
                  <a:pt x="13" y="228"/>
                  <a:pt x="10" y="223"/>
                  <a:pt x="10" y="219"/>
                </a:cubicBezTo>
                <a:cubicBezTo>
                  <a:pt x="10" y="167"/>
                  <a:pt x="10" y="167"/>
                  <a:pt x="10" y="167"/>
                </a:cubicBezTo>
                <a:cubicBezTo>
                  <a:pt x="31" y="186"/>
                  <a:pt x="88" y="195"/>
                  <a:pt x="142" y="195"/>
                </a:cubicBezTo>
                <a:cubicBezTo>
                  <a:pt x="196" y="195"/>
                  <a:pt x="252" y="186"/>
                  <a:pt x="274" y="167"/>
                </a:cubicBezTo>
                <a:lnTo>
                  <a:pt x="274" y="219"/>
                </a:lnTo>
                <a:close/>
                <a:moveTo>
                  <a:pt x="142" y="186"/>
                </a:moveTo>
                <a:cubicBezTo>
                  <a:pt x="64" y="186"/>
                  <a:pt x="10" y="167"/>
                  <a:pt x="10" y="150"/>
                </a:cubicBezTo>
                <a:cubicBezTo>
                  <a:pt x="10" y="145"/>
                  <a:pt x="14" y="141"/>
                  <a:pt x="18" y="138"/>
                </a:cubicBezTo>
                <a:cubicBezTo>
                  <a:pt x="43" y="153"/>
                  <a:pt x="94" y="161"/>
                  <a:pt x="142" y="161"/>
                </a:cubicBezTo>
                <a:cubicBezTo>
                  <a:pt x="190" y="161"/>
                  <a:pt x="240" y="153"/>
                  <a:pt x="266" y="138"/>
                </a:cubicBezTo>
                <a:cubicBezTo>
                  <a:pt x="270" y="141"/>
                  <a:pt x="274" y="145"/>
                  <a:pt x="274" y="150"/>
                </a:cubicBezTo>
                <a:cubicBezTo>
                  <a:pt x="274" y="167"/>
                  <a:pt x="220" y="186"/>
                  <a:pt x="142" y="186"/>
                </a:cubicBezTo>
                <a:close/>
                <a:moveTo>
                  <a:pt x="274" y="115"/>
                </a:moveTo>
                <a:cubicBezTo>
                  <a:pt x="274" y="120"/>
                  <a:pt x="271" y="124"/>
                  <a:pt x="264" y="128"/>
                </a:cubicBezTo>
                <a:cubicBezTo>
                  <a:pt x="264" y="128"/>
                  <a:pt x="263" y="129"/>
                  <a:pt x="263" y="129"/>
                </a:cubicBezTo>
                <a:cubicBezTo>
                  <a:pt x="243" y="142"/>
                  <a:pt x="199" y="152"/>
                  <a:pt x="142" y="152"/>
                </a:cubicBezTo>
                <a:cubicBezTo>
                  <a:pt x="85" y="152"/>
                  <a:pt x="40" y="142"/>
                  <a:pt x="21" y="129"/>
                </a:cubicBezTo>
                <a:cubicBezTo>
                  <a:pt x="20" y="129"/>
                  <a:pt x="20" y="128"/>
                  <a:pt x="19" y="128"/>
                </a:cubicBezTo>
                <a:cubicBezTo>
                  <a:pt x="13" y="124"/>
                  <a:pt x="10" y="120"/>
                  <a:pt x="10" y="115"/>
                </a:cubicBezTo>
                <a:cubicBezTo>
                  <a:pt x="10" y="63"/>
                  <a:pt x="10" y="63"/>
                  <a:pt x="10" y="63"/>
                </a:cubicBezTo>
                <a:cubicBezTo>
                  <a:pt x="31" y="82"/>
                  <a:pt x="88" y="92"/>
                  <a:pt x="142" y="92"/>
                </a:cubicBezTo>
                <a:cubicBezTo>
                  <a:pt x="196" y="92"/>
                  <a:pt x="252" y="82"/>
                  <a:pt x="274" y="63"/>
                </a:cubicBezTo>
                <a:lnTo>
                  <a:pt x="274" y="115"/>
                </a:lnTo>
                <a:close/>
                <a:moveTo>
                  <a:pt x="142" y="82"/>
                </a:moveTo>
                <a:cubicBezTo>
                  <a:pt x="64" y="82"/>
                  <a:pt x="10" y="63"/>
                  <a:pt x="10" y="46"/>
                </a:cubicBezTo>
                <a:cubicBezTo>
                  <a:pt x="10" y="29"/>
                  <a:pt x="64" y="10"/>
                  <a:pt x="142" y="10"/>
                </a:cubicBezTo>
                <a:cubicBezTo>
                  <a:pt x="220" y="10"/>
                  <a:pt x="274" y="29"/>
                  <a:pt x="274" y="46"/>
                </a:cubicBezTo>
                <a:cubicBezTo>
                  <a:pt x="274" y="63"/>
                  <a:pt x="220" y="82"/>
                  <a:pt x="142" y="82"/>
                </a:cubicBezTo>
                <a:close/>
              </a:path>
            </a:pathLst>
          </a:custGeom>
          <a:solidFill>
            <a:srgbClr val="3CB2C3"/>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93" name="92 Rectángulo"/>
          <p:cNvSpPr/>
          <p:nvPr>
            <p:custDataLst>
              <p:tags r:id="rId3"/>
            </p:custDataLst>
          </p:nvPr>
        </p:nvSpPr>
        <p:spPr>
          <a:xfrm>
            <a:off x="5557673" y="2977491"/>
            <a:ext cx="732882" cy="216000"/>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700" kern="0" dirty="0">
                <a:solidFill>
                  <a:srgbClr val="FFFFFF"/>
                </a:solidFill>
                <a:latin typeface="Avenir 35" panose="00000400000000000000" pitchFamily="2" charset="0"/>
              </a:rPr>
              <a:t>Procesos</a:t>
            </a:r>
          </a:p>
        </p:txBody>
      </p:sp>
      <p:sp>
        <p:nvSpPr>
          <p:cNvPr id="101" name="100 Flecha derecha"/>
          <p:cNvSpPr/>
          <p:nvPr/>
        </p:nvSpPr>
        <p:spPr>
          <a:xfrm>
            <a:off x="6351329" y="3233454"/>
            <a:ext cx="240227" cy="219123"/>
          </a:xfrm>
          <a:prstGeom prst="rightArrow">
            <a:avLst>
              <a:gd name="adj1" fmla="val 67933"/>
              <a:gd name="adj2" fmla="val 50000"/>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sp>
        <p:nvSpPr>
          <p:cNvPr id="123" name="Content Placeholder 2"/>
          <p:cNvSpPr txBox="1">
            <a:spLocks/>
          </p:cNvSpPr>
          <p:nvPr/>
        </p:nvSpPr>
        <p:spPr bwMode="auto">
          <a:xfrm>
            <a:off x="6320046" y="2618418"/>
            <a:ext cx="1002193" cy="72548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defRPr/>
            </a:pPr>
            <a:r>
              <a:rPr lang="es-ES" sz="1000" dirty="0">
                <a:solidFill>
                  <a:prstClr val="white">
                    <a:lumMod val="50000"/>
                  </a:prstClr>
                </a:solidFill>
                <a:latin typeface="Avenir 35" panose="00000400000000000000" pitchFamily="2" charset="0"/>
              </a:rPr>
              <a:t>Golden Record</a:t>
            </a:r>
            <a:endParaRPr lang="en-AU" sz="1000" dirty="0">
              <a:solidFill>
                <a:prstClr val="white">
                  <a:lumMod val="50000"/>
                </a:prstClr>
              </a:solidFill>
              <a:latin typeface="Avenir 35" panose="00000400000000000000" pitchFamily="2" charset="0"/>
            </a:endParaRPr>
          </a:p>
        </p:txBody>
      </p:sp>
      <p:sp>
        <p:nvSpPr>
          <p:cNvPr id="124" name="Content Placeholder 2"/>
          <p:cNvSpPr txBox="1">
            <a:spLocks/>
          </p:cNvSpPr>
          <p:nvPr/>
        </p:nvSpPr>
        <p:spPr bwMode="auto">
          <a:xfrm>
            <a:off x="3303789" y="2708719"/>
            <a:ext cx="1002193" cy="72548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defRPr/>
            </a:pPr>
            <a:r>
              <a:rPr lang="es-ES" sz="1000" dirty="0">
                <a:solidFill>
                  <a:prstClr val="white">
                    <a:lumMod val="50000"/>
                  </a:prstClr>
                </a:solidFill>
                <a:latin typeface="Avenir 35" panose="00000400000000000000" pitchFamily="2" charset="0"/>
              </a:rPr>
              <a:t>SQL Server</a:t>
            </a:r>
          </a:p>
          <a:p>
            <a:pPr algn="ctr">
              <a:lnSpc>
                <a:spcPct val="100000"/>
              </a:lnSpc>
              <a:spcBef>
                <a:spcPts val="0"/>
              </a:spcBef>
              <a:defRPr/>
            </a:pPr>
            <a:endParaRPr lang="en-AU" sz="1000" dirty="0">
              <a:solidFill>
                <a:prstClr val="white">
                  <a:lumMod val="50000"/>
                </a:prstClr>
              </a:solidFill>
              <a:latin typeface="Avenir 35" panose="00000400000000000000" pitchFamily="2" charset="0"/>
            </a:endParaRPr>
          </a:p>
        </p:txBody>
      </p:sp>
      <p:sp>
        <p:nvSpPr>
          <p:cNvPr id="125" name="124 Rectángulo"/>
          <p:cNvSpPr/>
          <p:nvPr>
            <p:custDataLst>
              <p:tags r:id="rId4"/>
            </p:custDataLst>
          </p:nvPr>
        </p:nvSpPr>
        <p:spPr>
          <a:xfrm>
            <a:off x="5557673" y="3225254"/>
            <a:ext cx="732882" cy="216385"/>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700" kern="0" dirty="0">
                <a:solidFill>
                  <a:srgbClr val="FFFFFF"/>
                </a:solidFill>
                <a:latin typeface="Avenir 35" panose="00000400000000000000" pitchFamily="2" charset="0"/>
              </a:rPr>
              <a:t>Enriquecimiento</a:t>
            </a:r>
          </a:p>
        </p:txBody>
      </p:sp>
      <p:sp>
        <p:nvSpPr>
          <p:cNvPr id="126" name="125 Rectángulo"/>
          <p:cNvSpPr/>
          <p:nvPr>
            <p:custDataLst>
              <p:tags r:id="rId5"/>
            </p:custDataLst>
          </p:nvPr>
        </p:nvSpPr>
        <p:spPr>
          <a:xfrm>
            <a:off x="5557673" y="3473402"/>
            <a:ext cx="732882" cy="216000"/>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700" kern="0" dirty="0">
                <a:solidFill>
                  <a:srgbClr val="FFFFFF"/>
                </a:solidFill>
                <a:latin typeface="Avenir 35" panose="00000400000000000000" pitchFamily="2" charset="0"/>
              </a:rPr>
              <a:t>Scoring</a:t>
            </a:r>
          </a:p>
        </p:txBody>
      </p:sp>
      <p:sp>
        <p:nvSpPr>
          <p:cNvPr id="127" name="126 CuadroTexto"/>
          <p:cNvSpPr txBox="1"/>
          <p:nvPr/>
        </p:nvSpPr>
        <p:spPr>
          <a:xfrm>
            <a:off x="369284" y="1652664"/>
            <a:ext cx="3937049" cy="192160"/>
          </a:xfrm>
          <a:prstGeom prst="rect">
            <a:avLst/>
          </a:prstGeom>
          <a:solidFill>
            <a:schemeClr val="tx1">
              <a:lumMod val="65000"/>
              <a:lumOff val="35000"/>
            </a:schemeClr>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600" kern="0">
                <a:solidFill>
                  <a:srgbClr val="FFFFFF"/>
                </a:solidFill>
                <a:latin typeface="Century Gothic" panose="020B0502020202020204" pitchFamily="34" charset="0"/>
              </a:defRPr>
            </a:lvl1pPr>
          </a:lstStyle>
          <a:p>
            <a:r>
              <a:rPr lang="es-ES" sz="1200" dirty="0">
                <a:latin typeface="Avenir 35 Light" panose="00000400000000000000" pitchFamily="2" charset="0"/>
              </a:rPr>
              <a:t>Integrar</a:t>
            </a:r>
            <a:endParaRPr lang="es-ES" dirty="0">
              <a:latin typeface="Avenir 35 Light" panose="00000400000000000000" pitchFamily="2" charset="0"/>
            </a:endParaRPr>
          </a:p>
        </p:txBody>
      </p:sp>
      <p:sp>
        <p:nvSpPr>
          <p:cNvPr id="134" name="133 CuadroTexto"/>
          <p:cNvSpPr txBox="1"/>
          <p:nvPr/>
        </p:nvSpPr>
        <p:spPr>
          <a:xfrm>
            <a:off x="4324937" y="1652664"/>
            <a:ext cx="2716295" cy="192160"/>
          </a:xfrm>
          <a:prstGeom prst="rect">
            <a:avLst/>
          </a:prstGeom>
          <a:solidFill>
            <a:schemeClr val="tx1">
              <a:lumMod val="65000"/>
              <a:lumOff val="35000"/>
            </a:schemeClr>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600" kern="0">
                <a:solidFill>
                  <a:srgbClr val="FFFFFF"/>
                </a:solidFill>
                <a:latin typeface="Century Gothic" panose="020B0502020202020204" pitchFamily="34" charset="0"/>
              </a:defRPr>
            </a:lvl1pPr>
          </a:lstStyle>
          <a:p>
            <a:r>
              <a:rPr lang="es-ES" sz="1200" dirty="0">
                <a:latin typeface="Avenir 35 Light" panose="00000400000000000000" pitchFamily="2" charset="0"/>
              </a:rPr>
              <a:t>Depurar</a:t>
            </a:r>
            <a:endParaRPr lang="es-ES" dirty="0">
              <a:latin typeface="Avenir 35 Light" panose="00000400000000000000" pitchFamily="2" charset="0"/>
            </a:endParaRPr>
          </a:p>
        </p:txBody>
      </p:sp>
      <p:sp>
        <p:nvSpPr>
          <p:cNvPr id="135" name="134 CuadroTexto"/>
          <p:cNvSpPr txBox="1"/>
          <p:nvPr/>
        </p:nvSpPr>
        <p:spPr>
          <a:xfrm>
            <a:off x="7074615" y="1652664"/>
            <a:ext cx="2563137" cy="192160"/>
          </a:xfrm>
          <a:prstGeom prst="rect">
            <a:avLst/>
          </a:prstGeom>
          <a:solidFill>
            <a:schemeClr val="tx1">
              <a:lumMod val="65000"/>
              <a:lumOff val="35000"/>
            </a:schemeClr>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600" kern="0">
                <a:solidFill>
                  <a:srgbClr val="FFFFFF"/>
                </a:solidFill>
                <a:latin typeface="Century Gothic" panose="020B0502020202020204" pitchFamily="34" charset="0"/>
              </a:defRPr>
            </a:lvl1pPr>
          </a:lstStyle>
          <a:p>
            <a:r>
              <a:rPr lang="es-ES" sz="1200" dirty="0">
                <a:latin typeface="Avenir 35 Light" panose="00000400000000000000" pitchFamily="2" charset="0"/>
              </a:rPr>
              <a:t>Conocer  &amp; Explotar</a:t>
            </a:r>
            <a:endParaRPr lang="es-ES" dirty="0">
              <a:latin typeface="Avenir 35 Light" panose="00000400000000000000" pitchFamily="2" charset="0"/>
            </a:endParaRPr>
          </a:p>
        </p:txBody>
      </p:sp>
      <p:sp>
        <p:nvSpPr>
          <p:cNvPr id="110"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11</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27732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Nuestra Visión</a:t>
            </a:r>
          </a:p>
          <a:p>
            <a:endParaRPr lang="en-US" dirty="0">
              <a:solidFill>
                <a:srgbClr val="323232"/>
              </a:solidFill>
              <a:latin typeface="Avenir 35" panose="00000400000000000000" pitchFamily="2" charset="0"/>
            </a:endParaRPr>
          </a:p>
        </p:txBody>
      </p:sp>
      <p:sp>
        <p:nvSpPr>
          <p:cNvPr id="9" name="6 CuadroTexto"/>
          <p:cNvSpPr txBox="1"/>
          <p:nvPr/>
        </p:nvSpPr>
        <p:spPr>
          <a:xfrm>
            <a:off x="632529" y="414018"/>
            <a:ext cx="8660261" cy="400110"/>
          </a:xfrm>
          <a:prstGeom prst="rect">
            <a:avLst/>
          </a:prstGeom>
          <a:noFill/>
        </p:spPr>
        <p:txBody>
          <a:bodyPr wrap="square" rtlCol="0">
            <a:spAutoFit/>
          </a:bodyPr>
          <a:lstStyle>
            <a:defPPr>
              <a:defRPr lang="es-ES"/>
            </a:defPPr>
            <a:lvl1pPr algn="ctr">
              <a:defRPr sz="2000" b="1">
                <a:solidFill>
                  <a:srgbClr val="323232"/>
                </a:solidFill>
                <a:latin typeface="Avenir 35" panose="00000400000000000000" pitchFamily="2" charset="0"/>
              </a:defRPr>
            </a:lvl1pPr>
          </a:lstStyle>
          <a:p>
            <a:r>
              <a:rPr lang="es-ES" dirty="0"/>
              <a:t>INTEGRAR</a:t>
            </a:r>
          </a:p>
        </p:txBody>
      </p:sp>
      <p:sp>
        <p:nvSpPr>
          <p:cNvPr id="20" name="AutoShape 4"/>
          <p:cNvSpPr>
            <a:spLocks noChangeArrowheads="1"/>
          </p:cNvSpPr>
          <p:nvPr/>
        </p:nvSpPr>
        <p:spPr bwMode="auto">
          <a:xfrm>
            <a:off x="632529" y="746042"/>
            <a:ext cx="8660261" cy="432048"/>
          </a:xfrm>
          <a:prstGeom prst="roundRect">
            <a:avLst>
              <a:gd name="adj" fmla="val 12500"/>
            </a:avLst>
          </a:prstGeom>
        </p:spPr>
        <p:txBody>
          <a:bodyPr lIns="92583" tIns="46292" rIns="92583" bIns="46292" anchor="ctr">
            <a:noAutofit/>
          </a:bodyPr>
          <a:lstStyle/>
          <a:p>
            <a:pPr algn="ctr" defTabSz="925830" eaLnBrk="0" fontAlgn="base" hangingPunct="0">
              <a:lnSpc>
                <a:spcPct val="110000"/>
              </a:lnSpc>
              <a:spcBef>
                <a:spcPct val="30000"/>
              </a:spcBef>
              <a:spcAft>
                <a:spcPct val="0"/>
              </a:spcAft>
            </a:pPr>
            <a:r>
              <a:rPr lang="es-ES" sz="1000" dirty="0">
                <a:solidFill>
                  <a:srgbClr val="323232"/>
                </a:solidFill>
                <a:latin typeface="Avenir 35" panose="00000400000000000000" pitchFamily="2" charset="0"/>
              </a:rPr>
              <a:t>Como solución propuesta para la cubrir los requerimientos solicitados, se plantean implantar los siguientes módulos:</a:t>
            </a:r>
          </a:p>
        </p:txBody>
      </p:sp>
      <p:sp>
        <p:nvSpPr>
          <p:cNvPr id="3" name="AutoShape 4" descr="Resultado de imagen de car dealer network"/>
          <p:cNvSpPr>
            <a:spLocks noChangeAspect="1" noChangeArrowheads="1"/>
          </p:cNvSpPr>
          <p:nvPr/>
        </p:nvSpPr>
        <p:spPr bwMode="auto">
          <a:xfrm>
            <a:off x="155576" y="-13652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27" name="9 Rectángulo"/>
          <p:cNvSpPr/>
          <p:nvPr/>
        </p:nvSpPr>
        <p:spPr>
          <a:xfrm>
            <a:off x="5097017" y="4327558"/>
            <a:ext cx="4759906" cy="1909754"/>
          </a:xfrm>
          <a:prstGeom prst="rect">
            <a:avLst/>
          </a:prstGeom>
        </p:spPr>
        <p:txBody>
          <a:bodyPr wrap="square">
            <a:spAutoFit/>
          </a:bodyPr>
          <a:lstStyle/>
          <a:p>
            <a:pPr algn="just">
              <a:lnSpc>
                <a:spcPct val="110000"/>
              </a:lnSpc>
              <a:spcBef>
                <a:spcPts val="300"/>
              </a:spcBef>
            </a:pPr>
            <a:r>
              <a:rPr lang="es-ES" sz="1000" b="1" dirty="0">
                <a:solidFill>
                  <a:srgbClr val="3CB2C3"/>
                </a:solidFill>
                <a:latin typeface="Avenir 65" panose="02000600000000000000" pitchFamily="2" charset="0"/>
              </a:rPr>
              <a:t>Marketing Cloud:</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Potente capacidad de segmentación por toda la información </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Posibilidad de definir reglas de priorización y saturación, </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Planificación y programación de campañas de forma automática, </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Definición de customer journeys complejos para distintos clientes </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Permite comunicación con el cliente omnicanal en cada uno de los touchpoints</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Visualización de los resultados a través de informes fácilmente personalizables.</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Permite un seguimiento exhaustivo del ROI de las campañas.</a:t>
            </a:r>
          </a:p>
          <a:p>
            <a:pPr marL="285750" indent="-285750" algn="just">
              <a:lnSpc>
                <a:spcPct val="110000"/>
              </a:lnSpc>
              <a:spcBef>
                <a:spcPts val="300"/>
              </a:spcBef>
              <a:buFont typeface="Arial" pitchFamily="34" charset="0"/>
              <a:buChar char="•"/>
            </a:pPr>
            <a:endParaRPr lang="es-ES" sz="900" dirty="0">
              <a:solidFill>
                <a:srgbClr val="323232"/>
              </a:solidFill>
              <a:latin typeface="Avenir 35" panose="00000400000000000000" pitchFamily="2" charset="0"/>
            </a:endParaRPr>
          </a:p>
          <a:p>
            <a:pPr marL="285750" indent="-285750">
              <a:buFont typeface="Arial" pitchFamily="34" charset="0"/>
              <a:buChar char="•"/>
            </a:pPr>
            <a:endParaRPr lang="es-ES" sz="900" dirty="0">
              <a:solidFill>
                <a:srgbClr val="323232"/>
              </a:solidFill>
              <a:latin typeface="Avenir 35" panose="00000400000000000000" pitchFamily="2" charset="0"/>
            </a:endParaRPr>
          </a:p>
        </p:txBody>
      </p:sp>
      <p:sp>
        <p:nvSpPr>
          <p:cNvPr id="28" name="9 Rectángulo"/>
          <p:cNvSpPr/>
          <p:nvPr/>
        </p:nvSpPr>
        <p:spPr>
          <a:xfrm>
            <a:off x="5097017" y="3221936"/>
            <a:ext cx="4464496" cy="834074"/>
          </a:xfrm>
          <a:prstGeom prst="rect">
            <a:avLst/>
          </a:prstGeom>
        </p:spPr>
        <p:txBody>
          <a:bodyPr wrap="square">
            <a:spAutoFit/>
          </a:bodyPr>
          <a:lstStyle/>
          <a:p>
            <a:pPr algn="just">
              <a:lnSpc>
                <a:spcPct val="110000"/>
              </a:lnSpc>
              <a:spcBef>
                <a:spcPts val="300"/>
              </a:spcBef>
            </a:pPr>
            <a:r>
              <a:rPr lang="es-ES" sz="1000" b="1" dirty="0">
                <a:solidFill>
                  <a:srgbClr val="3CB2C3"/>
                </a:solidFill>
                <a:latin typeface="Avenir 65" panose="02000600000000000000" pitchFamily="2" charset="0"/>
              </a:rPr>
              <a:t>CRM Social:</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Análisis de tendencias y monitorización de las publicaciones en redes sociales</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Incorporación de leads/potenciales en base a comportamientos en las redes</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Análisis sintáctico para identificar sentimientos positivos o negativos.</a:t>
            </a:r>
          </a:p>
        </p:txBody>
      </p:sp>
      <p:sp>
        <p:nvSpPr>
          <p:cNvPr id="29" name="9 Rectángulo"/>
          <p:cNvSpPr/>
          <p:nvPr/>
        </p:nvSpPr>
        <p:spPr>
          <a:xfrm>
            <a:off x="5097016" y="1612859"/>
            <a:ext cx="4785558" cy="1543499"/>
          </a:xfrm>
          <a:prstGeom prst="rect">
            <a:avLst/>
          </a:prstGeom>
        </p:spPr>
        <p:txBody>
          <a:bodyPr wrap="square">
            <a:spAutoFit/>
          </a:bodyPr>
          <a:lstStyle/>
          <a:p>
            <a:pPr algn="just"/>
            <a:r>
              <a:rPr lang="es-ES" sz="1000" b="1" dirty="0">
                <a:solidFill>
                  <a:srgbClr val="3CB2C3"/>
                </a:solidFill>
                <a:latin typeface="Avenir 65" panose="02000600000000000000" pitchFamily="2" charset="0"/>
              </a:rPr>
              <a:t>Sales Cloud:</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Acceso a objetos básicos: Account, Contact, Lead y Oportunity.</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Visión 360 del cliente, incluyendo el ciclo de vida de oportunidades</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Gestión de leads mejorada, incluyendo al dealer en el ciclo comercial.</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Definición previa del proceso automático de conversión de leads a clientes.</a:t>
            </a:r>
          </a:p>
          <a:p>
            <a:pPr marL="285750" indent="-285750" algn="just">
              <a:lnSpc>
                <a:spcPct val="110000"/>
              </a:lnSpc>
              <a:spcBef>
                <a:spcPts val="300"/>
              </a:spcBef>
              <a:buFont typeface="Wingdings" panose="05000000000000000000" pitchFamily="2" charset="2"/>
              <a:buChar char="§"/>
            </a:pPr>
            <a:r>
              <a:rPr lang="es-ES" sz="900" dirty="0">
                <a:solidFill>
                  <a:srgbClr val="323232"/>
                </a:solidFill>
                <a:latin typeface="Avenir 35" panose="00000400000000000000" pitchFamily="2" charset="0"/>
              </a:rPr>
              <a:t>Posibilidad de almacenar toda la información necesaria para la gestión de vehículos (reparaciones y ciclo de vida)</a:t>
            </a:r>
          </a:p>
          <a:p>
            <a:pPr marL="285750" indent="-285750" algn="just">
              <a:lnSpc>
                <a:spcPct val="110000"/>
              </a:lnSpc>
              <a:spcBef>
                <a:spcPts val="300"/>
              </a:spcBef>
              <a:buFont typeface="Arial" pitchFamily="34" charset="0"/>
              <a:buChar char="•"/>
            </a:pPr>
            <a:endParaRPr lang="es-ES" sz="900" dirty="0">
              <a:solidFill>
                <a:srgbClr val="323232"/>
              </a:solidFill>
              <a:latin typeface="Avenir 35" panose="00000400000000000000" pitchFamily="2" charset="0"/>
            </a:endParaRPr>
          </a:p>
        </p:txBody>
      </p:sp>
      <p:cxnSp>
        <p:nvCxnSpPr>
          <p:cNvPr id="4" name="3 Conector recto"/>
          <p:cNvCxnSpPr/>
          <p:nvPr/>
        </p:nvCxnSpPr>
        <p:spPr>
          <a:xfrm>
            <a:off x="4953001" y="1988840"/>
            <a:ext cx="9657" cy="3427768"/>
          </a:xfrm>
          <a:prstGeom prst="line">
            <a:avLst/>
          </a:prstGeom>
        </p:spPr>
        <p:style>
          <a:lnRef idx="1">
            <a:schemeClr val="accent1"/>
          </a:lnRef>
          <a:fillRef idx="0">
            <a:schemeClr val="accent1"/>
          </a:fillRef>
          <a:effectRef idx="0">
            <a:schemeClr val="accent1"/>
          </a:effectRef>
          <a:fontRef idx="minor">
            <a:schemeClr val="tx1"/>
          </a:fontRef>
        </p:style>
      </p:cxnSp>
      <p:sp>
        <p:nvSpPr>
          <p:cNvPr id="17" name="Rectangle 81"/>
          <p:cNvSpPr/>
          <p:nvPr>
            <p:custDataLst>
              <p:tags r:id="rId1"/>
            </p:custDataLst>
          </p:nvPr>
        </p:nvSpPr>
        <p:spPr>
          <a:xfrm>
            <a:off x="5169025" y="1248583"/>
            <a:ext cx="4496773" cy="232537"/>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65" panose="02000600000000000000" pitchFamily="2" charset="0"/>
              </a:rPr>
              <a:t>FUNCIONALIDADES</a:t>
            </a:r>
          </a:p>
        </p:txBody>
      </p:sp>
      <p:sp>
        <p:nvSpPr>
          <p:cNvPr id="5" name="AutoShape 2" descr="data:image/png;base64,iVBORw0KGgoAAAANSUhEUgAAAOEAAADhCAMAAAAJbSJIAAAAh1BMVEX///8Xl8AAkr0AlL4Akb0Aj7z5/f7A4Osgn8Vjr87z+vx+v9fY7PP8//8Alr9Ap8rk8ve11uWPyN3o9flTrc243Ol2vNao0+RktdJ1u9XL5e+g0OJitNHm9Pir1uYanMRMqss7ocWWy9+KwNjb7fRrtNGFxdu93OnR5u/G5e+Zx9xkr86k0+ORcnytAAAVp0lEQVR4nN1d6YKqOhJukoA0gtiAG6iA7YJn+v2fb8hK2BdBmfl+zJ0+akiRSm2pqnx9TQ3XXPwE971nx0oG2z7und1jYRqTP39CWFd/d7AVBUIAIIRKHuk/4n9Wwmi789efnmt/nJLgGIcQlAgrI30BMIz3QeJ+etKdYfjOd5iuTytthSXVvy/J/JnWcv9uIepJXUYl0m/nWS+lG3j11ME86r6FgBfMlEg3sKvIS9kPIVVV9MjbLjm2XqQrqopQ1UZNl9LezY5Ia+GVdl4qQhDSvd9g41fP1/U3wa+ngzKd6S+9hfVmGpqwduICeekUoX0InobW+mPNeAaHaFVcfwhiZy5KJLkpoLCXQu++cPvIRc31799FEQWUmz/ZrDvDenqFaa3iw2M9iMNO/jJe5UaDwHu2c8GUsDYekmcEYHxJXpmSZQYpkTl+iDajTbc/FrZMX8qcTjLCqGagI4lICOzFCKMOQWKrUJoH2I63aczflfTuILI/sR+vR5Cbw9/I++Us83+6H81xh2+FsVSy54PVzZ9AeSWHUKJRub/VZt3E2UYByvI60WPWd116jv4z0WPKOO2RRN92Sr3sOqFE4/FNJsBuJZgHwknpw3CdTHvA1W7ip2GsPbGAUN2/46Wut6qgEXmnqR/3lxnJKHqXfJPeKkDBpI8yjuJtAv086aPyWGSiDRwnFKqJeA6E9/d6cIYj1BPQJ9P/QfaQ6P1GhumJ17uahlO1Q7aAzicMfu0iZAA6TDAB1waCS95tQXGYwgAA9uibxIR8cLT8nMdm3QWJcAw3RsKGi2sYftJdS4WqsFXRqBMJxAJGn46dnIRuBCPKG2cOHMqh3QWJ97HGFEJ0IindFwE3jMFhnAH3jECoPMYZ8GWIzQj2YwwnCPyYkijD1EckkfuCIJrTuZARsfeOXiaRryA6fl7GyNC4D/DqKnIhA47jTGxECBJfEjf3kV7UJBAkOsPH4IoeLMeb13iw+A4arvo3c17BFJZYxYEGXIK4kBl3YiOCk4gGKTJ3VK06ETw2STjAmdKYPwijeamJPDSbkgjs/rNkegLqc1L0ZRjMuumvMwK6CWE4VcR+LJgDfSl/xbyJTx3ddceDTVXp5fSLtX9HFP1VXBi7xX32E5PCaDQXc1JsQW/L8o9JGW9OKS310CLGcX9df3FiejScXWJSDdYh04pdg0gsuIyePR5iGe46hfEZ3cJCgdDr9vUd+3rXTai5C+fgxXqYIra/l38fSPxlWxF1kozrFVP13cY2nQiBLDEN4my28HZ+M5EWi9ysuhwvHul3YRdj1ghitSrdEiJ4eO/ZTcJm3cGI/mGi99L+1dMWgDJ1nEg1bgnNaa6Zwh3J7GUx3fZIuKGzPdv6YMNZ1dNHxgC1iT6ufznGKU+lUJT4eKlJz+wDrjJa9T6PW7Ty6CNupo9uymXF1N3NUYfy6uNU9uPmVSJ9phRb4hHMjm0NfWjLDln4eKC4uIzrZTEXlVGp3188Elmyl9bsK3jdlnodtS8gX8bchnaXsPaXoHLFu4NvsEbjzWfbtcWjuHZbQDZxyXMLmrcueO1g5EwVOWhyMqjH3GYa+KhpmiWIsPTVbv0hsl9hVSpsoF3/jQWdgdrMyYuuHCqWhpJ47rLyELyQxGKqdP71LMiWsDkgwJ3jPiTiEZ2OLwa9EODds0Ws84lYfBQ2Wj5XvcceFCQ61rLzyr/gla7p3OrUvkUFKWxUKFY0rOLH68HaL5ztUgu8zrF90l3Y7BV2X4o8er2X4SSu6QA1jh9dwubRe4rRoRh+EsEXseqzhK5O2Ciuw7cQmJJYsBpd10xOXYx05u5X6sQbXcLGXXh5zxKmCNlOsszH3dNTGx3C1EoPo8O5xUqn2wjeKoinI6+altDtryiGgrxp97GPV7mKMVJw6u0aFPaVzbFMh1NLe/E77wHyk4NeXcwIUeqK1FrOjBdLWtWK6bhNNp3xrl1IEDaZQBDpQc2uZMIwLioMaorBxiOcv7ftwi5A+l+l1rOoZQaKphtVFajJKLS8Ycp+MiC90gClLkZRYbgsgti0hNeZEYjN9H3FdtSY6ZaXuTvKpM2q4o1ypitgWCE4qMIoWA2MdxsjgHNjUgIIyxuLJiDk3UTGpGETgeu3StLuqIgp0XBGjk1p4kxz/MmfIZMSgG1RpjplNmV+U+Mp6m6uFCqgaKaYxK6RfSiXTj5uIpD5z7NEyZimYkViU6pBWgL5A13ft6AY+aBiXzoxpabcqvmoP/4kCW0oxD8TyqaCe1koNW52v2YqSjlyvoRlk3/TOZsy/dEcYnM/Ov9WwGNOoFKlj7h+p1yLmg/D3utY9Ec+MYY6GEL9fZNt2By+mD2F+flT8wR+M/4j27AttUSbO4X5HEq2ajT0S0NQrRG8uVOoQNmqZmYNVQ/UZGs7b2JadMbIeYRsI1LDjRorq7azuxnbNAyy1enSjUjPEmPy/+228+85uod5wG02W3asT6I1TOy0ZqA+Zk+hgiSbZUlFDY470hP+9jj6tc+z6tuVVX25b/u6OshnjzT7kEgf6hV1SGLrI2rsyO76VaQf/v07xD2JqYQsa0wqarAdsKWeRnuaVo9jJ/3LYhqpHWfCWs9RIpUgo8Kga4g3H92SevupR49zJ5wT959OFHIldhiFT6WjUS0mw+NgDRU0HfIWjbjzkzCFndaQ2Bnu+ex3H7txuN9suizPOZ03+S/8raNLQvdji+4Uplr4FCIwUjRdLg75pbN1WUyj05FkMDqFhHWGHitXYZVtRCZMza8nFTTttVGlPCjc8hGJvmOA/MnEvkQh6QyZaQNIf8Ry0NR/2P9mykL+hGoQCPjfEEkfFoaUISXK0LxhuGCKvPHMiaCYDQOV+/N6Nc+0lRPSf8/pn8/zEeUpBN7uuU7OB8ird3b+9ervbniC8b/fVM4Yv7//PIjbTW3M6yKI6MT+k2oQ5AWbv98Q50rhz9IPj2Sux3RI83yrWnpppZi6+GHqUG2zSot7EHrcHdMcqIQbwf8LmUKo8yeaJJUROtxFW3tQ8mYcAA5sBtZ5RSf2tSa+gKEr2enEKUyH5C6EX5H3IkXTDJI+lG4/OnW1mT5rWRQFMfa8aN56ahTR/A1K5QZmFFKvlHwLm8KAGI70V1soeTMR/eSL0L9YUQopNoAlnOPPfgCMr+JRZtmhk31Aygx3VsrcGM+vIJC8q4ttfzsmNhlS0yFxbt63gyefKlhGIeGZ5y36xrSckbJKZ3e6xdHtz9CwNnbwKOe74yjk3DL49pb4xaUvnVKo+X+bCESYtsXBuy03ESRlSovviHTFLIs+2bymanDP0rqb09bvpZGwkfdUcbdcQPaG7qm4ozWKvohsZBTi//jk37FNCIn/sgWp0YpC/CtIajdxIjwxKJfpeACHx1ydUmgcVYAgOS66I/ys9H+w8F3gP3BRpVtaRJlCYmWmP7DprmoicFfWVvixLk0VZfINC1OAVIO4WZRCYhSSZCiAxz+S1Oo/2mxRmPturNBzS5fuGxw82kNCIVEj5LUkKn+z+FWQvHxSA1TSSDKF9KjCZhQ2ZZ0mFXKZvHTjEgtlgcLfc4p/BhHTjML0NaxJGUaIG+Y4gGzXZBnyjoi4fhefu5IYEWM5vF/+AKaQ2lDE6RMqE1fFXFdkSP2rQpXKFFKXPf6iHzQcjVpVqXowokLx6rC2P1LJkaCQlK5qFgbeZj+A2RXa80B7d+CKhwdiwWlmg+DlTAiF1HEliyrcmjAbEk+gZGXJFFIPUWmnsNpWg3sm3Q3i+xMJbmlWmcIMuM6BJxesKQux4Yk5ySlMf3RFmEJmbeF3J/ZbIT27NDf5jCZHYUMm1KnGZITxZU3VQwCJZDWXURR9GwUKjc2C4Xkk/Mg7kqcSlxj+mJfIC+YU4m0nU4jXXRcU4iEffMhF6VhaPgJlLMworDdL690agCKHKKcQXYncwRLOlSk08XIIUMZE4W2HFyLVopilSB4PkRo8DkS4QKIQa7ij4NI1zgTOD5mbk7RbdjkKayuirnVLSEQxQHj19rjaiApcIFOIBYmWO5TjRFJJj8k4EQbE3umTyEtS1rMEGYUkbn3msyDWZYNJD6RQRUcKawx/6HlE6kMczNrjZLizWqKQiMENFbcQG6Lwl/bqxMd9KYXY+6VRIhWnIhK7Dstfy4YZhTRuTXPgIbX0zkzhVExNPrvvRmHdaUWqbzce5pMzmRpm1n36l5rjUvq8pwfVVMOfbSyAtYuuIpXwGiQs90OnjoXpyVbVEHPZAioShYQoy0kVk36IIDkw23hAxZcMxKV5ybX13Sg8VzMpURaWkZBMSB9Qq9JN/LXxJVNIq6csw8Ct2QNAxIC29kl9YsocccYjpLOFdTLx9404RyGrJ9fwIE9INTcbsmRr5RIPgxyFdbL0VsPzUr4VPtiB8hs6AxGnAVKD0yuAUg/ZDaSGFN+mWRs4Fys/TCHPo1RCce6nxelGzZbJLCkLWWLmZGmdPiwbfmKs49lNX6Th7ojKh3vfILj+LeN0TobrEkkOQudK/t09p39DZUu/dsVvn7CfeADcJ/iT9YVsVfDPMBYimxXeFuRh1wA7KPqFDrn+K6UWqLKb20njm/Xxk9QMjm3bXiH+5yr9S1+xgktV5b2+AVLSD/idJakcxV8jlWvYe7rKA4b8E/wzVUXyZ6v0YSEbE5BBworazpyLxCmM6QusprAlMlN0+2tYOh8AF39hQfNA+S92fVh1TD2/2Y45y7vGt5jyvImo+XEfgHJ5edy3IP+tK4aaLIdGB2qcLqE17mlP3sulR9tH9harfXyt8+FDT8CESPuRE8cLtid1TfZfdxpNrKSQeKcTAEZ0/Oe4LBLmTya4R00NXrXyYGaqhEu4tTRNM4JxRy2kVrKYwY5Vp1e3kpospRRicV9fLzsMhW5INA8KPLARqNTFvCdMmu11hNoJxdJMFvN+YgtYqWt84urNg84JpXwgqstXJstXA5VnTz3O0z6OVbFS6JcyScq65L81Rs0sk9crUW637wk1SONY1amX45zMvgHltnkaVfiRoAJUqovuJ4afRUVXOYMKGuy57hrURTLS2ezUqGif9MxyMfz/fWFaVWQQZPk0V3pGU+0h1vn4cwJUqkp9DlnSLK08rGkAWROnmRNAWEWgwQQo+YN6itVF6sZnZ98BIK4smaUFvUwJBvms7zzGTJSYAnV3sizk/NKkqehprTY/4bOAsK5U6y7nCJ9yWd9FzFnWoLiu2ROrd+UFF425+u5sFxGE9f3n8rn6LJZQsxHfWqLeHRCEl4Z0yke+kotlfdfETLV4fnwKgd1EH9eGIg+KWS51fWv8jxJTAgQgPiya02Fp6qXk9bfUrn3a/oakMSMkd7QrYXRvv727WLvG0vjq6w/vH7Rs0GLtPy73fYqt87Po1leTVXJlcQ23ovg5h/3HVnHYzQcx/W1mpjHtsapvJXj4kM4Y1k6cZgDljiraa7mdzzDqsIb5FbXcrB6/KbvtHH5AaQxs3kaDoPm2EXZef1TB7NOuayQCOzRRrYBfJVYYmzY3MgvC99I4kEB2NFrITXCzpLIGGA56I43d2h6XUd3bpEt/GvLrQK9sHDw+ql33LqjuTyN6DLV3YTcvXqgyKwMnzU9CH1RvQ7tJ1/UY4n2iurw4y7hunOUhxf2yWE8QjoMgHn4nQ1LTJ6pTr69KDK+8hLZdta9T+oIX2oHX9foS/dp639jhDuZT6GsbLwTyOVvK9+GxxXFoxrq2X1unnnuV2A5tFhnhX58eWxun5AHS2N1ePl7sCV3fc69b38QquANlKxSZktbV36TwR7gfs6lvIu99ua36rBHDduJY1zPmcW/ofSnKOHu/Sc0eQuIkt2ewRLyaml9r8CImQ5Zwkjtpl8xvqlHr/B6M/tuhf5wDTXJZ3Qk2vz1mDXS5QaGIvvKU12uMDBpiawhWLFg/7P5up9XPtYLhJDd8XOn8m1p8sEWM+g+ude60rwyNTbTDa1tCoRNbXYwK9FhFEE9zCRFrKd/cG5GVbgx6x133Iqo5EHsVLPunpfCeZSUPu5bzT+lCI7hPdN0gP2BpkSLsRBQOcj+T9s0IqruqjgB++UhbryS+1MPuddQuzRdYQLid6pokzeu6wZjaH3oFrbusD+UA1Zvu4mtmHGcl0vVgyeXNjTAb4Dp6uaaMVC8sR/Ad6mCyWXe5P+/E7uwKh1sdi6WuZvd4kWu89MNm0ov4WKFrY8N1AVbYPMACz2Cs/5bfUfy2q9hYBVTXACTbsx16ZTTDMPB1eu4brmBjjh/oeHcev+ljgLv/IfDyLNDlXjkCfoflrK8CzsBbqXe/w1L053lpK74P7Ii61w33Bsu/QAPPRt4KViva02HhcYnVJLGGUcHLFFc9DU0Rl5jOChkHV3ZyW05lb8P//b3c4tby5isvPg1xFfCQWfJQdtcraD8CngYDB0UNeBFwLyn8XhzZFNsbeVVjw6uOjzO9vZqv4PDoMheoYD9LEnmG9vAbvrLQxywZVezBl26AP8yXxCOf2otnWILVj/NSGhoXMuWarr7Y85GiOal+g0f10MsESuyuz8eAM3l3rtdXEEOQGE4V6uyLhzIqgVmdJXztut7REPCmJ+U7dIZCdLpBy8/LG000cXzhvtIShC+FvM6hkImwjgSBo3LUhg/76c24EYm8L4cCC0hEBwRw/5wJZ23FAsLRJbsrUkrAx9SGqYs52BMcsmoHwanw8gmBozkisxUcpplAsBJPmPAQqQ6+OJyEymRay9ezhzjvNeLcu0hhBPHQY7EOMI7icPCVJNf+OOvZgydKA+AIsgNQ5L3rXMMUOjCVAT1C98Nw8sTTgLp9B43rvQrf+1Z3QuAoYHWfJjUmw3qb5RDD1cAChd4PzXYjbhs4JY3rrZTBgvbvMxl/dIlG/T4V51yXEn0gfusZinFXsmwEGB6S8S05y79JqStQWb47xmB6Uu0MRN6wKrNaaH+2lNEBwbF3DcEI8HNzQKv7eHaOv5UvSIKqPaGOb8TClmugANKDMYhMnFBOyIHI/qTDtoly2UFgFQcvbUktucS5TnUp/0+biNM+paeXq2WDANrLxSDhaq0fhzifFweB95zBgUJyUwrTQuH33Xf7ODiGu7h7YSFbDCi3T+2/ItZOXChKTKlcRYfgabSTqRnP4GCvilfjQBA7c8rnsRZe6fYenM6GdO832PjVZo/rb4JfT8f3/hR/CpC3mAF75uHu7KorikgVpqoqeuRtlxxbL9IVVa2gjZJnB1ObuwPhBh6oyrxkS5pD3bfS1ZsreRTu+abX3DbVCiyibn/u7LizBCO5fOt9L23EpZXfjj+n861muEmwj0NYtc1KtKXfCuNjkHw6mj4Aa3+3jUJlRQtES4RBmkZsH3b+df6c2QDDfD52zv5oy62zY9vb34OfhTm9UPkv+JxFaNQASMgAAAAASUVORK5CYII="/>
          <p:cNvSpPr>
            <a:spLocks noChangeAspect="1" noChangeArrowheads="1"/>
          </p:cNvSpPr>
          <p:nvPr/>
        </p:nvSpPr>
        <p:spPr bwMode="auto">
          <a:xfrm>
            <a:off x="307976"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6" name="AutoShape 4" descr="data:image/png;base64,iVBORw0KGgoAAAANSUhEUgAAAOEAAADhCAMAAAAJbSJIAAAAh1BMVEX///8Xl8AAkr0AlL4Akb0Aj7z5/f7A4Osgn8Vjr87z+vx+v9fY7PP8//8Alr9Ap8rk8ve11uWPyN3o9flTrc243Ol2vNao0+RktdJ1u9XL5e+g0OJitNHm9Pir1uYanMRMqss7ocWWy9+KwNjb7fRrtNGFxdu93OnR5u/G5e+Zx9xkr86k0+ORcnytAAAVp0lEQVR4nN1d6YKqOhJukoA0gtiAG6iA7YJn+v2fb8hK2BdBmfl+zJ0+akiRSm2pqnx9TQ3XXPwE971nx0oG2z7und1jYRqTP39CWFd/d7AVBUIAIIRKHuk/4n9Wwmi789efnmt/nJLgGIcQlAgrI30BMIz3QeJ+etKdYfjOd5iuTytthSXVvy/J/JnWcv9uIepJXUYl0m/nWS+lG3j11ME86r6FgBfMlEg3sKvIS9kPIVVV9MjbLjm2XqQrqopQ1UZNl9LezY5Ia+GVdl4qQhDSvd9g41fP1/U3wa+ngzKd6S+9hfVmGpqwduICeekUoX0InobW+mPNeAaHaFVcfwhiZy5KJLkpoLCXQu++cPvIRc31799FEQWUmz/ZrDvDenqFaa3iw2M9iMNO/jJe5UaDwHu2c8GUsDYekmcEYHxJXpmSZQYpkTl+iDajTbc/FrZMX8qcTjLCqGagI4lICOzFCKMOQWKrUJoH2I63aczflfTuILI/sR+vR5Cbw9/I++Us83+6H81xh2+FsVSy54PVzZ9AeSWHUKJRub/VZt3E2UYByvI60WPWd116jv4z0WPKOO2RRN92Sr3sOqFE4/FNJsBuJZgHwknpw3CdTHvA1W7ip2GsPbGAUN2/46Wut6qgEXmnqR/3lxnJKHqXfJPeKkDBpI8yjuJtAv086aPyWGSiDRwnFKqJeA6E9/d6cIYj1BPQJ9P/QfaQ6P1GhumJ17uahlO1Q7aAzicMfu0iZAA6TDAB1waCS95tQXGYwgAA9uibxIR8cLT8nMdm3QWJcAw3RsKGi2sYftJdS4WqsFXRqBMJxAJGn46dnIRuBCPKG2cOHMqh3QWJ97HGFEJ0IindFwE3jMFhnAH3jECoPMYZ8GWIzQj2YwwnCPyYkijD1EckkfuCIJrTuZARsfeOXiaRryA6fl7GyNC4D/DqKnIhA47jTGxECBJfEjf3kV7UJBAkOsPH4IoeLMeb13iw+A4arvo3c17BFJZYxYEGXIK4kBl3YiOCk4gGKTJ3VK06ETw2STjAmdKYPwijeamJPDSbkgjs/rNkegLqc1L0ZRjMuumvMwK6CWE4VcR+LJgDfSl/xbyJTx3ddceDTVXp5fSLtX9HFP1VXBi7xX32E5PCaDQXc1JsQW/L8o9JGW9OKS310CLGcX9df3FiejScXWJSDdYh04pdg0gsuIyePR5iGe46hfEZ3cJCgdDr9vUd+3rXTai5C+fgxXqYIra/l38fSPxlWxF1kozrFVP13cY2nQiBLDEN4my28HZ+M5EWi9ysuhwvHul3YRdj1ghitSrdEiJ4eO/ZTcJm3cGI/mGi99L+1dMWgDJ1nEg1bgnNaa6Zwh3J7GUx3fZIuKGzPdv6YMNZ1dNHxgC1iT6ufznGKU+lUJT4eKlJz+wDrjJa9T6PW7Ty6CNupo9uymXF1N3NUYfy6uNU9uPmVSJ9phRb4hHMjm0NfWjLDln4eKC4uIzrZTEXlVGp3188Elmyl9bsK3jdlnodtS8gX8bchnaXsPaXoHLFu4NvsEbjzWfbtcWjuHZbQDZxyXMLmrcueO1g5EwVOWhyMqjH3GYa+KhpmiWIsPTVbv0hsl9hVSpsoF3/jQWdgdrMyYuuHCqWhpJ47rLyELyQxGKqdP71LMiWsDkgwJ3jPiTiEZ2OLwa9EODds0Ws84lYfBQ2Wj5XvcceFCQ61rLzyr/gla7p3OrUvkUFKWxUKFY0rOLH68HaL5ztUgu8zrF90l3Y7BV2X4o8er2X4SSu6QA1jh9dwubRe4rRoRh+EsEXseqzhK5O2Ciuw7cQmJJYsBpd10xOXYx05u5X6sQbXcLGXXh5zxKmCNlOsszH3dNTGx3C1EoPo8O5xUqn2wjeKoinI6+altDtryiGgrxp97GPV7mKMVJw6u0aFPaVzbFMh1NLe/E77wHyk4NeXcwIUeqK1FrOjBdLWtWK6bhNNp3xrl1IEDaZQBDpQc2uZMIwLioMaorBxiOcv7ftwi5A+l+l1rOoZQaKphtVFajJKLS8Ycp+MiC90gClLkZRYbgsgti0hNeZEYjN9H3FdtSY6ZaXuTvKpM2q4o1ypitgWCE4qMIoWA2MdxsjgHNjUgIIyxuLJiDk3UTGpGETgeu3StLuqIgp0XBGjk1p4kxz/MmfIZMSgG1RpjplNmV+U+Mp6m6uFCqgaKaYxK6RfSiXTj5uIpD5z7NEyZimYkViU6pBWgL5A13ft6AY+aBiXzoxpabcqvmoP/4kCW0oxD8TyqaCe1koNW52v2YqSjlyvoRlk3/TOZsy/dEcYnM/Ov9WwGNOoFKlj7h+p1yLmg/D3utY9Ec+MYY6GEL9fZNt2By+mD2F+flT8wR+M/4j27AttUSbO4X5HEq2ajT0S0NQrRG8uVOoQNmqZmYNVQ/UZGs7b2JadMbIeYRsI1LDjRorq7azuxnbNAyy1enSjUjPEmPy/+228+85uod5wG02W3asT6I1TOy0ZqA+Zk+hgiSbZUlFDY470hP+9jj6tc+z6tuVVX25b/u6OshnjzT7kEgf6hV1SGLrI2rsyO76VaQf/v07xD2JqYQsa0wqarAdsKWeRnuaVo9jJ/3LYhqpHWfCWs9RIpUgo8Kga4g3H92SevupR49zJ5wT959OFHIldhiFT6WjUS0mw+NgDRU0HfIWjbjzkzCFndaQ2Bnu+ex3H7txuN9suizPOZ03+S/8raNLQvdji+4Uplr4FCIwUjRdLg75pbN1WUyj05FkMDqFhHWGHitXYZVtRCZMza8nFTTttVGlPCjc8hGJvmOA/MnEvkQh6QyZaQNIf8Ry0NR/2P9mykL+hGoQCPjfEEkfFoaUISXK0LxhuGCKvPHMiaCYDQOV+/N6Nc+0lRPSf8/pn8/zEeUpBN7uuU7OB8ird3b+9ervbniC8b/fVM4Yv7//PIjbTW3M6yKI6MT+k2oQ5AWbv98Q50rhz9IPj2Sux3RI83yrWnpppZi6+GHqUG2zSot7EHrcHdMcqIQbwf8LmUKo8yeaJJUROtxFW3tQ8mYcAA5sBtZ5RSf2tSa+gKEr2enEKUyH5C6EX5H3IkXTDJI+lG4/OnW1mT5rWRQFMfa8aN56ahTR/A1K5QZmFFKvlHwLm8KAGI70V1soeTMR/eSL0L9YUQopNoAlnOPPfgCMr+JRZtmhk31Aygx3VsrcGM+vIJC8q4ttfzsmNhlS0yFxbt63gyefKlhGIeGZ5y36xrSckbJKZ3e6xdHtz9CwNnbwKOe74yjk3DL49pb4xaUvnVKo+X+bCESYtsXBuy03ESRlSovviHTFLIs+2bymanDP0rqb09bvpZGwkfdUcbdcQPaG7qm4ozWKvohsZBTi//jk37FNCIn/sgWp0YpC/CtIajdxIjwxKJfpeACHx1ydUmgcVYAgOS66I/ys9H+w8F3gP3BRpVtaRJlCYmWmP7DprmoicFfWVvixLk0VZfINC1OAVIO4WZRCYhSSZCiAxz+S1Oo/2mxRmPturNBzS5fuGxw82kNCIVEj5LUkKn+z+FWQvHxSA1TSSDKF9KjCZhQ2ZZ0mFXKZvHTjEgtlgcLfc4p/BhHTjML0NaxJGUaIG+Y4gGzXZBnyjoi4fhefu5IYEWM5vF/+AKaQ2lDE6RMqE1fFXFdkSP2rQpXKFFKXPf6iHzQcjVpVqXowokLx6rC2P1LJkaCQlK5qFgbeZj+A2RXa80B7d+CKhwdiwWlmg+DlTAiF1HEliyrcmjAbEk+gZGXJFFIPUWmnsNpWg3sm3Q3i+xMJbmlWmcIMuM6BJxesKQux4Yk5ySlMf3RFmEJmbeF3J/ZbIT27NDf5jCZHYUMm1KnGZITxZU3VQwCJZDWXURR9GwUKjc2C4Xkk/Mg7kqcSlxj+mJfIC+YU4m0nU4jXXRcU4iEffMhF6VhaPgJlLMworDdL690agCKHKKcQXYncwRLOlSk08XIIUMZE4W2HFyLVopilSB4PkRo8DkS4QKIQa7ij4NI1zgTOD5mbk7RbdjkKayuirnVLSEQxQHj19rjaiApcIFOIBYmWO5TjRFJJj8k4EQbE3umTyEtS1rMEGYUkbn3msyDWZYNJD6RQRUcKawx/6HlE6kMczNrjZLizWqKQiMENFbcQG6Lwl/bqxMd9KYXY+6VRIhWnIhK7Dstfy4YZhTRuTXPgIbX0zkzhVExNPrvvRmHdaUWqbzce5pMzmRpm1n36l5rjUvq8pwfVVMOfbSyAtYuuIpXwGiQs90OnjoXpyVbVEHPZAioShYQoy0kVk36IIDkw23hAxZcMxKV5ybX13Sg8VzMpURaWkZBMSB9Qq9JN/LXxJVNIq6csw8Ct2QNAxIC29kl9YsocccYjpLOFdTLx9404RyGrJ9fwIE9INTcbsmRr5RIPgxyFdbL0VsPzUr4VPtiB8hs6AxGnAVKD0yuAUg/ZDaSGFN+mWRs4Fys/TCHPo1RCce6nxelGzZbJLCkLWWLmZGmdPiwbfmKs49lNX6Th7ojKh3vfILj+LeN0TobrEkkOQudK/t09p39DZUu/dsVvn7CfeADcJ/iT9YVsVfDPMBYimxXeFuRh1wA7KPqFDrn+K6UWqLKb20njm/Xxk9QMjm3bXiH+5yr9S1+xgktV5b2+AVLSD/idJakcxV8jlWvYe7rKA4b8E/wzVUXyZ6v0YSEbE5BBworazpyLxCmM6QusprAlMlN0+2tYOh8AF39hQfNA+S92fVh1TD2/2Y45y7vGt5jyvImo+XEfgHJ5edy3IP+tK4aaLIdGB2qcLqE17mlP3sulR9tH9harfXyt8+FDT8CESPuRE8cLtid1TfZfdxpNrKSQeKcTAEZ0/Oe4LBLmTya4R00NXrXyYGaqhEu4tTRNM4JxRy2kVrKYwY5Vp1e3kpospRRicV9fLzsMhW5INA8KPLARqNTFvCdMmu11hNoJxdJMFvN+YgtYqWt84urNg84JpXwgqstXJstXA5VnTz3O0z6OVbFS6JcyScq65L81Rs0sk9crUW637wk1SONY1amX45zMvgHltnkaVfiRoAJUqovuJ4afRUVXOYMKGuy57hrURTLS2ezUqGif9MxyMfz/fWFaVWQQZPk0V3pGU+0h1vn4cwJUqkp9DlnSLK08rGkAWROnmRNAWEWgwQQo+YN6itVF6sZnZ98BIK4smaUFvUwJBvms7zzGTJSYAnV3sizk/NKkqehprTY/4bOAsK5U6y7nCJ9yWd9FzFnWoLiu2ROrd+UFF425+u5sFxGE9f3n8rn6LJZQsxHfWqLeHRCEl4Z0yke+kotlfdfETLV4fnwKgd1EH9eGIg+KWS51fWv8jxJTAgQgPiya02Fp6qXk9bfUrn3a/oakMSMkd7QrYXRvv727WLvG0vjq6w/vH7Rs0GLtPy73fYqt87Po1leTVXJlcQ23ovg5h/3HVnHYzQcx/W1mpjHtsapvJXj4kM4Y1k6cZgDljiraa7mdzzDqsIb5FbXcrB6/KbvtHH5AaQxs3kaDoPm2EXZef1TB7NOuayQCOzRRrYBfJVYYmzY3MgvC99I4kEB2NFrITXCzpLIGGA56I43d2h6XUd3bpEt/GvLrQK9sHDw+ql33LqjuTyN6DLV3YTcvXqgyKwMnzU9CH1RvQ7tJ1/UY4n2iurw4y7hunOUhxf2yWE8QjoMgHn4nQ1LTJ6pTr69KDK+8hLZdta9T+oIX2oHX9foS/dp639jhDuZT6GsbLwTyOVvK9+GxxXFoxrq2X1unnnuV2A5tFhnhX58eWxun5AHS2N1ePl7sCV3fc69b38QquANlKxSZktbV36TwR7gfs6lvIu99ua36rBHDduJY1zPmcW/ofSnKOHu/Sc0eQuIkt2ewRLyaml9r8CImQ5Zwkjtpl8xvqlHr/B6M/tuhf5wDTXJZ3Qk2vz1mDXS5QaGIvvKU12uMDBpiawhWLFg/7P5up9XPtYLhJDd8XOn8m1p8sEWM+g+ude60rwyNTbTDa1tCoRNbXYwK9FhFEE9zCRFrKd/cG5GVbgx6x133Iqo5EHsVLPunpfCeZSUPu5bzT+lCI7hPdN0gP2BpkSLsRBQOcj+T9s0IqruqjgB++UhbryS+1MPuddQuzRdYQLid6pokzeu6wZjaH3oFrbusD+UA1Zvu4mtmHGcl0vVgyeXNjTAb4Dp6uaaMVC8sR/Ad6mCyWXe5P+/E7uwKh1sdi6WuZvd4kWu89MNm0ov4WKFrY8N1AVbYPMACz2Cs/5bfUfy2q9hYBVTXACTbsx16ZTTDMPB1eu4brmBjjh/oeHcev+ljgLv/IfDyLNDlXjkCfoflrK8CzsBbqXe/w1L053lpK74P7Ii61w33Bsu/QAPPRt4KViva02HhcYnVJLGGUcHLFFc9DU0Rl5jOChkHV3ZyW05lb8P//b3c4tby5isvPg1xFfCQWfJQdtcraD8CngYDB0UNeBFwLyn8XhzZFNsbeVVjw6uOjzO9vZqv4PDoMheoYD9LEnmG9vAbvrLQxywZVezBl26AP8yXxCOf2otnWILVj/NSGhoXMuWarr7Y85GiOal+g0f10MsESuyuz8eAM3l3rtdXEEOQGE4V6uyLhzIqgVmdJXztut7REPCmJ+U7dIZCdLpBy8/LG000cXzhvtIShC+FvM6hkImwjgSBo3LUhg/76c24EYm8L4cCC0hEBwRw/5wJZ23FAsLRJbsrUkrAx9SGqYs52BMcsmoHwanw8gmBozkisxUcpplAsBJPmPAQqQ6+OJyEymRay9ezhzjvNeLcu0hhBPHQY7EOMI7icPCVJNf+OOvZgydKA+AIsgNQ5L3rXMMUOjCVAT1C98Nw8sTTgLp9B43rvQrf+1Z3QuAoYHWfJjUmw3qb5RDD1cAChd4PzXYjbhs4JY3rrZTBgvbvMxl/dIlG/T4V51yXEn0gfusZinFXsmwEGB6S8S05y79JqStQWb47xmB6Uu0MRN6wKrNaaH+2lNEBwbF3DcEI8HNzQKv7eHaOv5UvSIKqPaGOb8TClmugANKDMYhMnFBOyIHI/qTDtoly2UFgFQcvbUktucS5TnUp/0+biNM+paeXq2WDANrLxSDhaq0fhzifFweB95zBgUJyUwrTQuH33Xf7ODiGu7h7YSFbDCi3T+2/ItZOXChKTKlcRYfgabSTqRnP4GCvilfjQBA7c8rnsRZe6fYenM6GdO832PjVZo/rb4JfT8f3/hR/CpC3mAF75uHu7KorikgVpqoqeuRtlxxbL9IVVa2gjZJnB1ObuwPhBh6oyrxkS5pD3bfS1ZsreRTu+abX3DbVCiyibn/u7LizBCO5fOt9L23EpZXfjj+n861muEmwj0NYtc1KtKXfCuNjkHw6mj4Aa3+3jUJlRQtES4RBmkZsH3b+df6c2QDDfD52zv5oy62zY9vb34OfhTm9UPkv+JxFaNQASMgAAAAASUVORK5CYII="/>
          <p:cNvSpPr>
            <a:spLocks noChangeAspect="1" noChangeArrowheads="1"/>
          </p:cNvSpPr>
          <p:nvPr/>
        </p:nvSpPr>
        <p:spPr bwMode="auto">
          <a:xfrm>
            <a:off x="460375"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22" name="Rectangle 81"/>
          <p:cNvSpPr/>
          <p:nvPr>
            <p:custDataLst>
              <p:tags r:id="rId2"/>
            </p:custDataLst>
          </p:nvPr>
        </p:nvSpPr>
        <p:spPr>
          <a:xfrm>
            <a:off x="175715" y="1243950"/>
            <a:ext cx="4496773" cy="232537"/>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65" panose="02000600000000000000" pitchFamily="2" charset="0"/>
              </a:rPr>
              <a:t>¿Por qué salesforce?</a:t>
            </a:r>
          </a:p>
        </p:txBody>
      </p:sp>
      <p:sp>
        <p:nvSpPr>
          <p:cNvPr id="14" name="13 Elipse"/>
          <p:cNvSpPr/>
          <p:nvPr/>
        </p:nvSpPr>
        <p:spPr>
          <a:xfrm>
            <a:off x="1072135" y="2718251"/>
            <a:ext cx="2715773" cy="2515767"/>
          </a:xfrm>
          <a:prstGeom prst="ellipse">
            <a:avLst/>
          </a:prstGeom>
          <a:solidFill>
            <a:schemeClr val="bg1"/>
          </a:solidFill>
          <a:ln w="57150">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pic>
        <p:nvPicPr>
          <p:cNvPr id="76" name="Picture 6" descr="https://trust.salesforce.com/images/TrustLogoWhite.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32059"/>
          <a:stretch/>
        </p:blipFill>
        <p:spPr bwMode="auto">
          <a:xfrm>
            <a:off x="1932732" y="3290964"/>
            <a:ext cx="1122154" cy="737663"/>
          </a:xfrm>
          <a:prstGeom prst="rect">
            <a:avLst/>
          </a:prstGeom>
          <a:noFill/>
          <a:extLst>
            <a:ext uri="{909E8E84-426E-40DD-AFC4-6F175D3DCCD1}">
              <a14:hiddenFill xmlns:a14="http://schemas.microsoft.com/office/drawing/2010/main">
                <a:solidFill>
                  <a:srgbClr val="FFFFFF"/>
                </a:solidFill>
              </a14:hiddenFill>
            </a:ext>
          </a:extLst>
        </p:spPr>
      </p:pic>
      <p:sp>
        <p:nvSpPr>
          <p:cNvPr id="77" name="Content Placeholder 2"/>
          <p:cNvSpPr txBox="1">
            <a:spLocks/>
          </p:cNvSpPr>
          <p:nvPr/>
        </p:nvSpPr>
        <p:spPr bwMode="auto">
          <a:xfrm>
            <a:off x="1588621" y="4071665"/>
            <a:ext cx="1564179" cy="72548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defRPr/>
            </a:pPr>
            <a:r>
              <a:rPr lang="es-ES" sz="1200" b="1" dirty="0">
                <a:solidFill>
                  <a:prstClr val="white">
                    <a:lumMod val="50000"/>
                  </a:prstClr>
                </a:solidFill>
                <a:latin typeface="Century Gothic" panose="020B0502020202020204" pitchFamily="34" charset="0"/>
              </a:rPr>
              <a:t>sales cloud</a:t>
            </a:r>
          </a:p>
          <a:p>
            <a:pPr algn="ctr">
              <a:lnSpc>
                <a:spcPct val="100000"/>
              </a:lnSpc>
              <a:spcBef>
                <a:spcPts val="0"/>
              </a:spcBef>
              <a:defRPr/>
            </a:pPr>
            <a:r>
              <a:rPr lang="es-ES" sz="1200" b="1" dirty="0">
                <a:solidFill>
                  <a:prstClr val="white">
                    <a:lumMod val="50000"/>
                  </a:prstClr>
                </a:solidFill>
                <a:latin typeface="Century Gothic" panose="020B0502020202020204" pitchFamily="34" charset="0"/>
              </a:rPr>
              <a:t>marketing cloud</a:t>
            </a:r>
          </a:p>
          <a:p>
            <a:pPr algn="ctr">
              <a:lnSpc>
                <a:spcPct val="100000"/>
              </a:lnSpc>
              <a:spcBef>
                <a:spcPts val="0"/>
              </a:spcBef>
              <a:defRPr/>
            </a:pPr>
            <a:r>
              <a:rPr lang="es-ES" sz="1200" b="1" dirty="0">
                <a:solidFill>
                  <a:prstClr val="white">
                    <a:lumMod val="50000"/>
                  </a:prstClr>
                </a:solidFill>
                <a:latin typeface="Century Gothic" panose="020B0502020202020204" pitchFamily="34" charset="0"/>
              </a:rPr>
              <a:t>radian6</a:t>
            </a:r>
            <a:endParaRPr lang="en-AU" sz="1200" b="1" dirty="0">
              <a:solidFill>
                <a:prstClr val="white">
                  <a:lumMod val="50000"/>
                </a:prstClr>
              </a:solidFill>
              <a:latin typeface="Century Gothic" panose="020B0502020202020204" pitchFamily="34" charset="0"/>
            </a:endParaRPr>
          </a:p>
        </p:txBody>
      </p:sp>
      <p:sp>
        <p:nvSpPr>
          <p:cNvPr id="60" name="Freeform 18"/>
          <p:cNvSpPr/>
          <p:nvPr/>
        </p:nvSpPr>
        <p:spPr bwMode="auto">
          <a:xfrm rot="3139055">
            <a:off x="430254" y="4383046"/>
            <a:ext cx="976679" cy="1074237"/>
          </a:xfrm>
          <a:custGeom>
            <a:avLst/>
            <a:gdLst>
              <a:gd name="connsiteX0" fmla="*/ 829340 w 1658680"/>
              <a:gd name="connsiteY0" fmla="*/ 1824273 h 1824273"/>
              <a:gd name="connsiteX1" fmla="*/ 0 w 1658680"/>
              <a:gd name="connsiteY1" fmla="*/ 994933 h 1824273"/>
              <a:gd name="connsiteX2" fmla="*/ 506524 w 1658680"/>
              <a:gd name="connsiteY2" fmla="*/ 230767 h 1824273"/>
              <a:gd name="connsiteX3" fmla="*/ 614520 w 1658680"/>
              <a:gd name="connsiteY3" fmla="*/ 197243 h 1824273"/>
              <a:gd name="connsiteX4" fmla="*/ 829339 w 1658680"/>
              <a:gd name="connsiteY4" fmla="*/ 0 h 1824273"/>
              <a:gd name="connsiteX5" fmla="*/ 1044157 w 1658680"/>
              <a:gd name="connsiteY5" fmla="*/ 197242 h 1824273"/>
              <a:gd name="connsiteX6" fmla="*/ 1152157 w 1658680"/>
              <a:gd name="connsiteY6" fmla="*/ 230767 h 1824273"/>
              <a:gd name="connsiteX7" fmla="*/ 1658680 w 1658680"/>
              <a:gd name="connsiteY7" fmla="*/ 994933 h 1824273"/>
              <a:gd name="connsiteX8" fmla="*/ 829340 w 1658680"/>
              <a:gd name="connsiteY8" fmla="*/ 1824273 h 18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8680" h="1824273">
                <a:moveTo>
                  <a:pt x="829340" y="1824273"/>
                </a:moveTo>
                <a:cubicBezTo>
                  <a:pt x="371308" y="1824273"/>
                  <a:pt x="0" y="1452965"/>
                  <a:pt x="0" y="994933"/>
                </a:cubicBezTo>
                <a:cubicBezTo>
                  <a:pt x="0" y="651409"/>
                  <a:pt x="208861" y="356667"/>
                  <a:pt x="506524" y="230767"/>
                </a:cubicBezTo>
                <a:lnTo>
                  <a:pt x="614520" y="197243"/>
                </a:lnTo>
                <a:lnTo>
                  <a:pt x="829339" y="0"/>
                </a:lnTo>
                <a:lnTo>
                  <a:pt x="1044157" y="197242"/>
                </a:lnTo>
                <a:lnTo>
                  <a:pt x="1152157" y="230767"/>
                </a:lnTo>
                <a:cubicBezTo>
                  <a:pt x="1449819" y="356667"/>
                  <a:pt x="1658680" y="651409"/>
                  <a:pt x="1658680" y="994933"/>
                </a:cubicBezTo>
                <a:cubicBezTo>
                  <a:pt x="1658680" y="1452965"/>
                  <a:pt x="1287372" y="1824273"/>
                  <a:pt x="829340" y="1824273"/>
                </a:cubicBezTo>
                <a:close/>
              </a:path>
            </a:pathLst>
          </a:cu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a:solidFill>
                <a:prstClr val="white"/>
              </a:solidFill>
            </a:endParaRPr>
          </a:p>
        </p:txBody>
      </p:sp>
      <p:sp>
        <p:nvSpPr>
          <p:cNvPr id="65" name="Freeform 18"/>
          <p:cNvSpPr/>
          <p:nvPr/>
        </p:nvSpPr>
        <p:spPr bwMode="auto">
          <a:xfrm rot="6813108">
            <a:off x="309489" y="2693501"/>
            <a:ext cx="976679" cy="1074237"/>
          </a:xfrm>
          <a:custGeom>
            <a:avLst/>
            <a:gdLst>
              <a:gd name="connsiteX0" fmla="*/ 829340 w 1658680"/>
              <a:gd name="connsiteY0" fmla="*/ 1824273 h 1824273"/>
              <a:gd name="connsiteX1" fmla="*/ 0 w 1658680"/>
              <a:gd name="connsiteY1" fmla="*/ 994933 h 1824273"/>
              <a:gd name="connsiteX2" fmla="*/ 506524 w 1658680"/>
              <a:gd name="connsiteY2" fmla="*/ 230767 h 1824273"/>
              <a:gd name="connsiteX3" fmla="*/ 614520 w 1658680"/>
              <a:gd name="connsiteY3" fmla="*/ 197243 h 1824273"/>
              <a:gd name="connsiteX4" fmla="*/ 829339 w 1658680"/>
              <a:gd name="connsiteY4" fmla="*/ 0 h 1824273"/>
              <a:gd name="connsiteX5" fmla="*/ 1044157 w 1658680"/>
              <a:gd name="connsiteY5" fmla="*/ 197242 h 1824273"/>
              <a:gd name="connsiteX6" fmla="*/ 1152157 w 1658680"/>
              <a:gd name="connsiteY6" fmla="*/ 230767 h 1824273"/>
              <a:gd name="connsiteX7" fmla="*/ 1658680 w 1658680"/>
              <a:gd name="connsiteY7" fmla="*/ 994933 h 1824273"/>
              <a:gd name="connsiteX8" fmla="*/ 829340 w 1658680"/>
              <a:gd name="connsiteY8" fmla="*/ 1824273 h 18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8680" h="1824273">
                <a:moveTo>
                  <a:pt x="829340" y="1824273"/>
                </a:moveTo>
                <a:cubicBezTo>
                  <a:pt x="371308" y="1824273"/>
                  <a:pt x="0" y="1452965"/>
                  <a:pt x="0" y="994933"/>
                </a:cubicBezTo>
                <a:cubicBezTo>
                  <a:pt x="0" y="651409"/>
                  <a:pt x="208861" y="356667"/>
                  <a:pt x="506524" y="230767"/>
                </a:cubicBezTo>
                <a:lnTo>
                  <a:pt x="614520" y="197243"/>
                </a:lnTo>
                <a:lnTo>
                  <a:pt x="829339" y="0"/>
                </a:lnTo>
                <a:lnTo>
                  <a:pt x="1044157" y="197242"/>
                </a:lnTo>
                <a:lnTo>
                  <a:pt x="1152157" y="230767"/>
                </a:lnTo>
                <a:cubicBezTo>
                  <a:pt x="1449819" y="356667"/>
                  <a:pt x="1658680" y="651409"/>
                  <a:pt x="1658680" y="994933"/>
                </a:cubicBezTo>
                <a:cubicBezTo>
                  <a:pt x="1658680" y="1452965"/>
                  <a:pt x="1287372" y="1824273"/>
                  <a:pt x="829340" y="1824273"/>
                </a:cubicBezTo>
                <a:close/>
              </a:path>
            </a:pathLst>
          </a:cu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a:solidFill>
                <a:prstClr val="white"/>
              </a:solidFill>
            </a:endParaRPr>
          </a:p>
        </p:txBody>
      </p:sp>
      <p:sp>
        <p:nvSpPr>
          <p:cNvPr id="70" name="Freeform 18"/>
          <p:cNvSpPr/>
          <p:nvPr/>
        </p:nvSpPr>
        <p:spPr bwMode="auto">
          <a:xfrm rot="9398419">
            <a:off x="1304969" y="1818873"/>
            <a:ext cx="976679" cy="1074237"/>
          </a:xfrm>
          <a:custGeom>
            <a:avLst/>
            <a:gdLst>
              <a:gd name="connsiteX0" fmla="*/ 829340 w 1658680"/>
              <a:gd name="connsiteY0" fmla="*/ 1824273 h 1824273"/>
              <a:gd name="connsiteX1" fmla="*/ 0 w 1658680"/>
              <a:gd name="connsiteY1" fmla="*/ 994933 h 1824273"/>
              <a:gd name="connsiteX2" fmla="*/ 506524 w 1658680"/>
              <a:gd name="connsiteY2" fmla="*/ 230767 h 1824273"/>
              <a:gd name="connsiteX3" fmla="*/ 614520 w 1658680"/>
              <a:gd name="connsiteY3" fmla="*/ 197243 h 1824273"/>
              <a:gd name="connsiteX4" fmla="*/ 829339 w 1658680"/>
              <a:gd name="connsiteY4" fmla="*/ 0 h 1824273"/>
              <a:gd name="connsiteX5" fmla="*/ 1044157 w 1658680"/>
              <a:gd name="connsiteY5" fmla="*/ 197242 h 1824273"/>
              <a:gd name="connsiteX6" fmla="*/ 1152157 w 1658680"/>
              <a:gd name="connsiteY6" fmla="*/ 230767 h 1824273"/>
              <a:gd name="connsiteX7" fmla="*/ 1658680 w 1658680"/>
              <a:gd name="connsiteY7" fmla="*/ 994933 h 1824273"/>
              <a:gd name="connsiteX8" fmla="*/ 829340 w 1658680"/>
              <a:gd name="connsiteY8" fmla="*/ 1824273 h 18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8680" h="1824273">
                <a:moveTo>
                  <a:pt x="829340" y="1824273"/>
                </a:moveTo>
                <a:cubicBezTo>
                  <a:pt x="371308" y="1824273"/>
                  <a:pt x="0" y="1452965"/>
                  <a:pt x="0" y="994933"/>
                </a:cubicBezTo>
                <a:cubicBezTo>
                  <a:pt x="0" y="651409"/>
                  <a:pt x="208861" y="356667"/>
                  <a:pt x="506524" y="230767"/>
                </a:cubicBezTo>
                <a:lnTo>
                  <a:pt x="614520" y="197243"/>
                </a:lnTo>
                <a:lnTo>
                  <a:pt x="829339" y="0"/>
                </a:lnTo>
                <a:lnTo>
                  <a:pt x="1044157" y="197242"/>
                </a:lnTo>
                <a:lnTo>
                  <a:pt x="1152157" y="230767"/>
                </a:lnTo>
                <a:cubicBezTo>
                  <a:pt x="1449819" y="356667"/>
                  <a:pt x="1658680" y="651409"/>
                  <a:pt x="1658680" y="994933"/>
                </a:cubicBezTo>
                <a:cubicBezTo>
                  <a:pt x="1658680" y="1452965"/>
                  <a:pt x="1287372" y="1824273"/>
                  <a:pt x="829340" y="1824273"/>
                </a:cubicBezTo>
                <a:close/>
              </a:path>
            </a:pathLst>
          </a:cu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a:solidFill>
                <a:prstClr val="white"/>
              </a:solidFill>
            </a:endParaRPr>
          </a:p>
        </p:txBody>
      </p:sp>
      <p:sp>
        <p:nvSpPr>
          <p:cNvPr id="42" name="Freeform 18"/>
          <p:cNvSpPr/>
          <p:nvPr/>
        </p:nvSpPr>
        <p:spPr bwMode="auto">
          <a:xfrm rot="15770961">
            <a:off x="3752026" y="3206135"/>
            <a:ext cx="976679" cy="1074237"/>
          </a:xfrm>
          <a:custGeom>
            <a:avLst/>
            <a:gdLst>
              <a:gd name="connsiteX0" fmla="*/ 829340 w 1658680"/>
              <a:gd name="connsiteY0" fmla="*/ 1824273 h 1824273"/>
              <a:gd name="connsiteX1" fmla="*/ 0 w 1658680"/>
              <a:gd name="connsiteY1" fmla="*/ 994933 h 1824273"/>
              <a:gd name="connsiteX2" fmla="*/ 506524 w 1658680"/>
              <a:gd name="connsiteY2" fmla="*/ 230767 h 1824273"/>
              <a:gd name="connsiteX3" fmla="*/ 614520 w 1658680"/>
              <a:gd name="connsiteY3" fmla="*/ 197243 h 1824273"/>
              <a:gd name="connsiteX4" fmla="*/ 829339 w 1658680"/>
              <a:gd name="connsiteY4" fmla="*/ 0 h 1824273"/>
              <a:gd name="connsiteX5" fmla="*/ 1044157 w 1658680"/>
              <a:gd name="connsiteY5" fmla="*/ 197242 h 1824273"/>
              <a:gd name="connsiteX6" fmla="*/ 1152157 w 1658680"/>
              <a:gd name="connsiteY6" fmla="*/ 230767 h 1824273"/>
              <a:gd name="connsiteX7" fmla="*/ 1658680 w 1658680"/>
              <a:gd name="connsiteY7" fmla="*/ 994933 h 1824273"/>
              <a:gd name="connsiteX8" fmla="*/ 829340 w 1658680"/>
              <a:gd name="connsiteY8" fmla="*/ 1824273 h 18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8680" h="1824273">
                <a:moveTo>
                  <a:pt x="829340" y="1824273"/>
                </a:moveTo>
                <a:cubicBezTo>
                  <a:pt x="371308" y="1824273"/>
                  <a:pt x="0" y="1452965"/>
                  <a:pt x="0" y="994933"/>
                </a:cubicBezTo>
                <a:cubicBezTo>
                  <a:pt x="0" y="651409"/>
                  <a:pt x="208861" y="356667"/>
                  <a:pt x="506524" y="230767"/>
                </a:cubicBezTo>
                <a:lnTo>
                  <a:pt x="614520" y="197243"/>
                </a:lnTo>
                <a:lnTo>
                  <a:pt x="829339" y="0"/>
                </a:lnTo>
                <a:lnTo>
                  <a:pt x="1044157" y="197242"/>
                </a:lnTo>
                <a:lnTo>
                  <a:pt x="1152157" y="230767"/>
                </a:lnTo>
                <a:cubicBezTo>
                  <a:pt x="1449819" y="356667"/>
                  <a:pt x="1658680" y="651409"/>
                  <a:pt x="1658680" y="994933"/>
                </a:cubicBezTo>
                <a:cubicBezTo>
                  <a:pt x="1658680" y="1452965"/>
                  <a:pt x="1287372" y="1824273"/>
                  <a:pt x="829340" y="1824273"/>
                </a:cubicBezTo>
                <a:close/>
              </a:path>
            </a:pathLst>
          </a:cu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a:solidFill>
                <a:prstClr val="white"/>
              </a:solidFill>
            </a:endParaRPr>
          </a:p>
        </p:txBody>
      </p:sp>
      <p:sp>
        <p:nvSpPr>
          <p:cNvPr id="47" name="Freeform 18"/>
          <p:cNvSpPr/>
          <p:nvPr/>
        </p:nvSpPr>
        <p:spPr bwMode="auto">
          <a:xfrm rot="18539809">
            <a:off x="3306087" y="4562611"/>
            <a:ext cx="976679" cy="1074237"/>
          </a:xfrm>
          <a:custGeom>
            <a:avLst/>
            <a:gdLst>
              <a:gd name="connsiteX0" fmla="*/ 829340 w 1658680"/>
              <a:gd name="connsiteY0" fmla="*/ 1824273 h 1824273"/>
              <a:gd name="connsiteX1" fmla="*/ 0 w 1658680"/>
              <a:gd name="connsiteY1" fmla="*/ 994933 h 1824273"/>
              <a:gd name="connsiteX2" fmla="*/ 506524 w 1658680"/>
              <a:gd name="connsiteY2" fmla="*/ 230767 h 1824273"/>
              <a:gd name="connsiteX3" fmla="*/ 614520 w 1658680"/>
              <a:gd name="connsiteY3" fmla="*/ 197243 h 1824273"/>
              <a:gd name="connsiteX4" fmla="*/ 829339 w 1658680"/>
              <a:gd name="connsiteY4" fmla="*/ 0 h 1824273"/>
              <a:gd name="connsiteX5" fmla="*/ 1044157 w 1658680"/>
              <a:gd name="connsiteY5" fmla="*/ 197242 h 1824273"/>
              <a:gd name="connsiteX6" fmla="*/ 1152157 w 1658680"/>
              <a:gd name="connsiteY6" fmla="*/ 230767 h 1824273"/>
              <a:gd name="connsiteX7" fmla="*/ 1658680 w 1658680"/>
              <a:gd name="connsiteY7" fmla="*/ 994933 h 1824273"/>
              <a:gd name="connsiteX8" fmla="*/ 829340 w 1658680"/>
              <a:gd name="connsiteY8" fmla="*/ 1824273 h 18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8680" h="1824273">
                <a:moveTo>
                  <a:pt x="829340" y="1824273"/>
                </a:moveTo>
                <a:cubicBezTo>
                  <a:pt x="371308" y="1824273"/>
                  <a:pt x="0" y="1452965"/>
                  <a:pt x="0" y="994933"/>
                </a:cubicBezTo>
                <a:cubicBezTo>
                  <a:pt x="0" y="651409"/>
                  <a:pt x="208861" y="356667"/>
                  <a:pt x="506524" y="230767"/>
                </a:cubicBezTo>
                <a:lnTo>
                  <a:pt x="614520" y="197243"/>
                </a:lnTo>
                <a:lnTo>
                  <a:pt x="829339" y="0"/>
                </a:lnTo>
                <a:lnTo>
                  <a:pt x="1044157" y="197242"/>
                </a:lnTo>
                <a:lnTo>
                  <a:pt x="1152157" y="230767"/>
                </a:lnTo>
                <a:cubicBezTo>
                  <a:pt x="1449819" y="356667"/>
                  <a:pt x="1658680" y="651409"/>
                  <a:pt x="1658680" y="994933"/>
                </a:cubicBezTo>
                <a:cubicBezTo>
                  <a:pt x="1658680" y="1452965"/>
                  <a:pt x="1287372" y="1824273"/>
                  <a:pt x="829340" y="1824273"/>
                </a:cubicBezTo>
                <a:close/>
              </a:path>
            </a:pathLst>
          </a:cu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a:solidFill>
                <a:prstClr val="white"/>
              </a:solidFill>
            </a:endParaRPr>
          </a:p>
        </p:txBody>
      </p:sp>
      <p:sp>
        <p:nvSpPr>
          <p:cNvPr id="52" name="Freeform 18"/>
          <p:cNvSpPr/>
          <p:nvPr/>
        </p:nvSpPr>
        <p:spPr bwMode="auto">
          <a:xfrm rot="269049">
            <a:off x="1785028" y="5121720"/>
            <a:ext cx="976679" cy="1074237"/>
          </a:xfrm>
          <a:custGeom>
            <a:avLst/>
            <a:gdLst>
              <a:gd name="connsiteX0" fmla="*/ 829340 w 1658680"/>
              <a:gd name="connsiteY0" fmla="*/ 1824273 h 1824273"/>
              <a:gd name="connsiteX1" fmla="*/ 0 w 1658680"/>
              <a:gd name="connsiteY1" fmla="*/ 994933 h 1824273"/>
              <a:gd name="connsiteX2" fmla="*/ 506524 w 1658680"/>
              <a:gd name="connsiteY2" fmla="*/ 230767 h 1824273"/>
              <a:gd name="connsiteX3" fmla="*/ 614520 w 1658680"/>
              <a:gd name="connsiteY3" fmla="*/ 197243 h 1824273"/>
              <a:gd name="connsiteX4" fmla="*/ 829339 w 1658680"/>
              <a:gd name="connsiteY4" fmla="*/ 0 h 1824273"/>
              <a:gd name="connsiteX5" fmla="*/ 1044157 w 1658680"/>
              <a:gd name="connsiteY5" fmla="*/ 197242 h 1824273"/>
              <a:gd name="connsiteX6" fmla="*/ 1152157 w 1658680"/>
              <a:gd name="connsiteY6" fmla="*/ 230767 h 1824273"/>
              <a:gd name="connsiteX7" fmla="*/ 1658680 w 1658680"/>
              <a:gd name="connsiteY7" fmla="*/ 994933 h 1824273"/>
              <a:gd name="connsiteX8" fmla="*/ 829340 w 1658680"/>
              <a:gd name="connsiteY8" fmla="*/ 1824273 h 18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8680" h="1824273">
                <a:moveTo>
                  <a:pt x="829340" y="1824273"/>
                </a:moveTo>
                <a:cubicBezTo>
                  <a:pt x="371308" y="1824273"/>
                  <a:pt x="0" y="1452965"/>
                  <a:pt x="0" y="994933"/>
                </a:cubicBezTo>
                <a:cubicBezTo>
                  <a:pt x="0" y="651409"/>
                  <a:pt x="208861" y="356667"/>
                  <a:pt x="506524" y="230767"/>
                </a:cubicBezTo>
                <a:lnTo>
                  <a:pt x="614520" y="197243"/>
                </a:lnTo>
                <a:lnTo>
                  <a:pt x="829339" y="0"/>
                </a:lnTo>
                <a:lnTo>
                  <a:pt x="1044157" y="197242"/>
                </a:lnTo>
                <a:lnTo>
                  <a:pt x="1152157" y="230767"/>
                </a:lnTo>
                <a:cubicBezTo>
                  <a:pt x="1449819" y="356667"/>
                  <a:pt x="1658680" y="651409"/>
                  <a:pt x="1658680" y="994933"/>
                </a:cubicBezTo>
                <a:cubicBezTo>
                  <a:pt x="1658680" y="1452965"/>
                  <a:pt x="1287372" y="1824273"/>
                  <a:pt x="829340" y="1824273"/>
                </a:cubicBezTo>
                <a:close/>
              </a:path>
            </a:pathLst>
          </a:cu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a:solidFill>
                <a:prstClr val="white"/>
              </a:solidFill>
            </a:endParaRPr>
          </a:p>
        </p:txBody>
      </p:sp>
      <p:sp>
        <p:nvSpPr>
          <p:cNvPr id="37" name="Freeform 18"/>
          <p:cNvSpPr/>
          <p:nvPr/>
        </p:nvSpPr>
        <p:spPr bwMode="auto">
          <a:xfrm rot="12859053">
            <a:off x="2867693" y="1944245"/>
            <a:ext cx="976679" cy="1074237"/>
          </a:xfrm>
          <a:custGeom>
            <a:avLst/>
            <a:gdLst>
              <a:gd name="connsiteX0" fmla="*/ 829340 w 1658680"/>
              <a:gd name="connsiteY0" fmla="*/ 1824273 h 1824273"/>
              <a:gd name="connsiteX1" fmla="*/ 0 w 1658680"/>
              <a:gd name="connsiteY1" fmla="*/ 994933 h 1824273"/>
              <a:gd name="connsiteX2" fmla="*/ 506524 w 1658680"/>
              <a:gd name="connsiteY2" fmla="*/ 230767 h 1824273"/>
              <a:gd name="connsiteX3" fmla="*/ 614520 w 1658680"/>
              <a:gd name="connsiteY3" fmla="*/ 197243 h 1824273"/>
              <a:gd name="connsiteX4" fmla="*/ 829339 w 1658680"/>
              <a:gd name="connsiteY4" fmla="*/ 0 h 1824273"/>
              <a:gd name="connsiteX5" fmla="*/ 1044157 w 1658680"/>
              <a:gd name="connsiteY5" fmla="*/ 197242 h 1824273"/>
              <a:gd name="connsiteX6" fmla="*/ 1152157 w 1658680"/>
              <a:gd name="connsiteY6" fmla="*/ 230767 h 1824273"/>
              <a:gd name="connsiteX7" fmla="*/ 1658680 w 1658680"/>
              <a:gd name="connsiteY7" fmla="*/ 994933 h 1824273"/>
              <a:gd name="connsiteX8" fmla="*/ 829340 w 1658680"/>
              <a:gd name="connsiteY8" fmla="*/ 1824273 h 18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8680" h="1824273">
                <a:moveTo>
                  <a:pt x="829340" y="1824273"/>
                </a:moveTo>
                <a:cubicBezTo>
                  <a:pt x="371308" y="1824273"/>
                  <a:pt x="0" y="1452965"/>
                  <a:pt x="0" y="994933"/>
                </a:cubicBezTo>
                <a:cubicBezTo>
                  <a:pt x="0" y="651409"/>
                  <a:pt x="208861" y="356667"/>
                  <a:pt x="506524" y="230767"/>
                </a:cubicBezTo>
                <a:lnTo>
                  <a:pt x="614520" y="197243"/>
                </a:lnTo>
                <a:lnTo>
                  <a:pt x="829339" y="0"/>
                </a:lnTo>
                <a:lnTo>
                  <a:pt x="1044157" y="197242"/>
                </a:lnTo>
                <a:lnTo>
                  <a:pt x="1152157" y="230767"/>
                </a:lnTo>
                <a:cubicBezTo>
                  <a:pt x="1449819" y="356667"/>
                  <a:pt x="1658680" y="651409"/>
                  <a:pt x="1658680" y="994933"/>
                </a:cubicBezTo>
                <a:cubicBezTo>
                  <a:pt x="1658680" y="1452965"/>
                  <a:pt x="1287372" y="1824273"/>
                  <a:pt x="829340" y="1824273"/>
                </a:cubicBezTo>
                <a:close/>
              </a:path>
            </a:pathLst>
          </a:cu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a:solidFill>
                <a:prstClr val="white"/>
              </a:solidFill>
            </a:endParaRPr>
          </a:p>
        </p:txBody>
      </p:sp>
      <p:sp>
        <p:nvSpPr>
          <p:cNvPr id="8" name="7 CuadroTexto"/>
          <p:cNvSpPr txBox="1"/>
          <p:nvPr/>
        </p:nvSpPr>
        <p:spPr>
          <a:xfrm>
            <a:off x="2924805" y="2128453"/>
            <a:ext cx="937796" cy="584775"/>
          </a:xfrm>
          <a:prstGeom prst="rect">
            <a:avLst/>
          </a:prstGeom>
          <a:noFill/>
        </p:spPr>
        <p:txBody>
          <a:bodyPr wrap="square" rtlCol="0">
            <a:spAutoFit/>
          </a:bodyPr>
          <a:lstStyle/>
          <a:p>
            <a:pPr algn="ctr"/>
            <a:r>
              <a:rPr lang="es-ES" sz="800" dirty="0">
                <a:solidFill>
                  <a:prstClr val="white"/>
                </a:solidFill>
                <a:latin typeface="Avenir 35" panose="00000400000000000000" pitchFamily="2" charset="0"/>
              </a:rPr>
              <a:t>Herramienta ya implantada para Easy Money en otros  mercados</a:t>
            </a:r>
          </a:p>
        </p:txBody>
      </p:sp>
      <p:sp>
        <p:nvSpPr>
          <p:cNvPr id="53" name="52 CuadroTexto"/>
          <p:cNvSpPr txBox="1"/>
          <p:nvPr/>
        </p:nvSpPr>
        <p:spPr>
          <a:xfrm>
            <a:off x="3834362" y="3612458"/>
            <a:ext cx="937796" cy="338554"/>
          </a:xfrm>
          <a:prstGeom prst="rect">
            <a:avLst/>
          </a:prstGeom>
          <a:noFill/>
        </p:spPr>
        <p:txBody>
          <a:bodyPr wrap="square" rtlCol="0">
            <a:spAutoFit/>
          </a:bodyPr>
          <a:lstStyle/>
          <a:p>
            <a:pPr algn="ctr"/>
            <a:r>
              <a:rPr lang="es-ES" sz="800" dirty="0">
                <a:solidFill>
                  <a:prstClr val="white"/>
                </a:solidFill>
                <a:latin typeface="Avenir 35" panose="00000400000000000000" pitchFamily="2" charset="0"/>
              </a:rPr>
              <a:t>Omnicanalidad de forma nativa</a:t>
            </a:r>
          </a:p>
        </p:txBody>
      </p:sp>
      <p:sp>
        <p:nvSpPr>
          <p:cNvPr id="54" name="53 CuadroTexto"/>
          <p:cNvSpPr txBox="1"/>
          <p:nvPr/>
        </p:nvSpPr>
        <p:spPr>
          <a:xfrm>
            <a:off x="3374795" y="4917619"/>
            <a:ext cx="937796" cy="461665"/>
          </a:xfrm>
          <a:prstGeom prst="rect">
            <a:avLst/>
          </a:prstGeom>
          <a:noFill/>
        </p:spPr>
        <p:txBody>
          <a:bodyPr wrap="square" rtlCol="0">
            <a:spAutoFit/>
          </a:bodyPr>
          <a:lstStyle/>
          <a:p>
            <a:pPr algn="ctr"/>
            <a:r>
              <a:rPr lang="es-ES" sz="800" dirty="0">
                <a:solidFill>
                  <a:prstClr val="white"/>
                </a:solidFill>
                <a:latin typeface="Avenir 35" panose="00000400000000000000" pitchFamily="2" charset="0"/>
              </a:rPr>
              <a:t>Plataforma de desarrollo propia</a:t>
            </a:r>
          </a:p>
        </p:txBody>
      </p:sp>
      <p:sp>
        <p:nvSpPr>
          <p:cNvPr id="55" name="54 CuadroTexto"/>
          <p:cNvSpPr txBox="1"/>
          <p:nvPr/>
        </p:nvSpPr>
        <p:spPr>
          <a:xfrm>
            <a:off x="1804469" y="5482008"/>
            <a:ext cx="937796" cy="461665"/>
          </a:xfrm>
          <a:prstGeom prst="rect">
            <a:avLst/>
          </a:prstGeom>
          <a:noFill/>
        </p:spPr>
        <p:txBody>
          <a:bodyPr wrap="square" rtlCol="0">
            <a:spAutoFit/>
          </a:bodyPr>
          <a:lstStyle/>
          <a:p>
            <a:pPr algn="ctr"/>
            <a:r>
              <a:rPr lang="es-ES" sz="800" dirty="0">
                <a:solidFill>
                  <a:prstClr val="white"/>
                </a:solidFill>
                <a:latin typeface="Avenir 35" panose="00000400000000000000" pitchFamily="2" charset="0"/>
              </a:rPr>
              <a:t>Líder en mercado como solución CRM</a:t>
            </a:r>
          </a:p>
        </p:txBody>
      </p:sp>
      <p:sp>
        <p:nvSpPr>
          <p:cNvPr id="71" name="70 CuadroTexto"/>
          <p:cNvSpPr txBox="1"/>
          <p:nvPr/>
        </p:nvSpPr>
        <p:spPr>
          <a:xfrm>
            <a:off x="403114" y="4718333"/>
            <a:ext cx="937796" cy="461665"/>
          </a:xfrm>
          <a:prstGeom prst="rect">
            <a:avLst/>
          </a:prstGeom>
          <a:noFill/>
        </p:spPr>
        <p:txBody>
          <a:bodyPr wrap="square" rtlCol="0">
            <a:spAutoFit/>
          </a:bodyPr>
          <a:lstStyle/>
          <a:p>
            <a:pPr algn="ctr"/>
            <a:r>
              <a:rPr lang="es-ES" sz="800" dirty="0">
                <a:solidFill>
                  <a:prstClr val="white"/>
                </a:solidFill>
                <a:latin typeface="Avenir 35" panose="00000400000000000000" pitchFamily="2" charset="0"/>
              </a:rPr>
              <a:t>Altamente flexible y escalable </a:t>
            </a:r>
          </a:p>
        </p:txBody>
      </p:sp>
      <p:sp>
        <p:nvSpPr>
          <p:cNvPr id="72" name="71 CuadroTexto"/>
          <p:cNvSpPr txBox="1"/>
          <p:nvPr/>
        </p:nvSpPr>
        <p:spPr>
          <a:xfrm>
            <a:off x="277760" y="2783568"/>
            <a:ext cx="937796" cy="830997"/>
          </a:xfrm>
          <a:prstGeom prst="rect">
            <a:avLst/>
          </a:prstGeom>
          <a:noFill/>
        </p:spPr>
        <p:txBody>
          <a:bodyPr wrap="square" rtlCol="0">
            <a:spAutoFit/>
          </a:bodyPr>
          <a:lstStyle/>
          <a:p>
            <a:pPr algn="ctr"/>
            <a:r>
              <a:rPr lang="es-ES" sz="800" dirty="0">
                <a:solidFill>
                  <a:prstClr val="white"/>
                </a:solidFill>
                <a:latin typeface="Avenir 35" panose="00000400000000000000" pitchFamily="2" charset="0"/>
              </a:rPr>
              <a:t>Basado en tecnología cloud, permite acceso desde cualquier dispositivo</a:t>
            </a:r>
          </a:p>
        </p:txBody>
      </p:sp>
      <p:sp>
        <p:nvSpPr>
          <p:cNvPr id="73" name="72 CuadroTexto"/>
          <p:cNvSpPr txBox="1"/>
          <p:nvPr/>
        </p:nvSpPr>
        <p:spPr>
          <a:xfrm>
            <a:off x="1277782" y="1981936"/>
            <a:ext cx="1008112" cy="707886"/>
          </a:xfrm>
          <a:prstGeom prst="rect">
            <a:avLst/>
          </a:prstGeom>
          <a:noFill/>
        </p:spPr>
        <p:txBody>
          <a:bodyPr wrap="square" rtlCol="0">
            <a:spAutoFit/>
          </a:bodyPr>
          <a:lstStyle/>
          <a:p>
            <a:pPr algn="ctr"/>
            <a:r>
              <a:rPr lang="es-ES" sz="800" dirty="0">
                <a:solidFill>
                  <a:prstClr val="white"/>
                </a:solidFill>
                <a:latin typeface="Avenir 35" panose="00000400000000000000" pitchFamily="2" charset="0"/>
              </a:rPr>
              <a:t>Módulo estándar integrados entre si que comparten objetos principales</a:t>
            </a:r>
          </a:p>
        </p:txBody>
      </p:sp>
      <p:sp>
        <p:nvSpPr>
          <p:cNvPr id="35"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12</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992896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46 Rectángulo"/>
          <p:cNvSpPr/>
          <p:nvPr/>
        </p:nvSpPr>
        <p:spPr>
          <a:xfrm>
            <a:off x="6948853" y="4478335"/>
            <a:ext cx="2725201" cy="2191025"/>
          </a:xfrm>
          <a:prstGeom prst="rect">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6" name="45 Rectángulo"/>
          <p:cNvSpPr/>
          <p:nvPr/>
        </p:nvSpPr>
        <p:spPr>
          <a:xfrm>
            <a:off x="6948853" y="1630611"/>
            <a:ext cx="2716944" cy="2695323"/>
          </a:xfrm>
          <a:prstGeom prst="rect">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5" name="44 Rectángulo"/>
          <p:cNvSpPr/>
          <p:nvPr/>
        </p:nvSpPr>
        <p:spPr>
          <a:xfrm>
            <a:off x="175716" y="5464427"/>
            <a:ext cx="6651662" cy="1204933"/>
          </a:xfrm>
          <a:prstGeom prst="rect">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 name="3 Rectángulo"/>
          <p:cNvSpPr/>
          <p:nvPr/>
        </p:nvSpPr>
        <p:spPr>
          <a:xfrm>
            <a:off x="175715" y="1630612"/>
            <a:ext cx="6649493" cy="3681415"/>
          </a:xfrm>
          <a:prstGeom prst="rect">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33" name="image7.png"/>
          <p:cNvPicPr/>
          <p:nvPr/>
        </p:nvPicPr>
        <p:blipFill>
          <a:blip r:embed="rId4" cstate="print">
            <a:extLst>
              <a:ext uri="{28A0092B-C50C-407E-A947-70E740481C1C}">
                <a14:useLocalDpi xmlns:a14="http://schemas.microsoft.com/office/drawing/2010/main" val="0"/>
              </a:ext>
            </a:extLst>
          </a:blip>
          <a:stretch>
            <a:fillRect/>
          </a:stretch>
        </p:blipFill>
        <p:spPr>
          <a:xfrm>
            <a:off x="8919765" y="190196"/>
            <a:ext cx="746032" cy="404465"/>
          </a:xfrm>
          <a:prstGeom prst="rect">
            <a:avLst/>
          </a:prstGeom>
          <a:ln w="12700">
            <a:miter lim="400000"/>
          </a:ln>
        </p:spPr>
      </p:pic>
      <p:pic>
        <p:nvPicPr>
          <p:cNvPr id="34" name="Picture 3" descr="C:\Users\jsalceda\Desktop\mercedes-benz [Convertido]-01.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1423" t="15948" r="11528" b="21034"/>
          <a:stretch/>
        </p:blipFill>
        <p:spPr bwMode="auto">
          <a:xfrm>
            <a:off x="264421" y="155151"/>
            <a:ext cx="807714" cy="474528"/>
          </a:xfrm>
          <a:prstGeom prst="rect">
            <a:avLst/>
          </a:prstGeom>
          <a:noFill/>
          <a:extLst>
            <a:ext uri="{909E8E84-426E-40DD-AFC4-6F175D3DCCD1}">
              <a14:hiddenFill xmlns:a14="http://schemas.microsoft.com/office/drawing/2010/main">
                <a:solidFill>
                  <a:srgbClr val="FFFFFF"/>
                </a:solidFill>
              </a14:hiddenFill>
            </a:ext>
          </a:extLst>
        </p:spPr>
      </p:pic>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Nuestra Visión</a:t>
            </a:r>
          </a:p>
          <a:p>
            <a:endParaRPr lang="en-US" dirty="0">
              <a:solidFill>
                <a:srgbClr val="323232"/>
              </a:solidFill>
              <a:latin typeface="Avenir 35" panose="00000400000000000000" pitchFamily="2" charset="0"/>
            </a:endParaRPr>
          </a:p>
        </p:txBody>
      </p:sp>
      <p:sp>
        <p:nvSpPr>
          <p:cNvPr id="9" name="6 CuadroTexto"/>
          <p:cNvSpPr txBox="1"/>
          <p:nvPr/>
        </p:nvSpPr>
        <p:spPr>
          <a:xfrm>
            <a:off x="632529" y="414018"/>
            <a:ext cx="8660261" cy="400110"/>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noAutofit/>
          </a:bodyPr>
          <a:lstStyle>
            <a:defPPr>
              <a:defRPr lang="es-ES"/>
            </a:defPPr>
            <a:lvl1pPr algn="ctr" defTabSz="825500">
              <a:spcBef>
                <a:spcPct val="0"/>
              </a:spcBef>
              <a:buNone/>
              <a:defRPr sz="2000" b="0" kern="0">
                <a:solidFill>
                  <a:srgbClr val="323232"/>
                </a:solidFill>
                <a:latin typeface="Avenir 65" panose="02000600000000000000" pitchFamily="2" charset="0"/>
                <a:ea typeface="+mj-ea"/>
                <a:cs typeface="+mj-cs"/>
              </a:defRPr>
            </a:lvl1pPr>
          </a:lstStyle>
          <a:p>
            <a:r>
              <a:rPr lang="es-ES" dirty="0"/>
              <a:t>INTEGRAR</a:t>
            </a:r>
          </a:p>
        </p:txBody>
      </p:sp>
      <p:sp>
        <p:nvSpPr>
          <p:cNvPr id="20" name="AutoShape 4"/>
          <p:cNvSpPr>
            <a:spLocks noChangeArrowheads="1"/>
          </p:cNvSpPr>
          <p:nvPr/>
        </p:nvSpPr>
        <p:spPr bwMode="auto">
          <a:xfrm>
            <a:off x="632529" y="720107"/>
            <a:ext cx="8660261" cy="432048"/>
          </a:xfrm>
          <a:prstGeom prst="roundRect">
            <a:avLst>
              <a:gd name="adj" fmla="val 12500"/>
            </a:avLst>
          </a:prstGeom>
        </p:spPr>
        <p:txBody>
          <a:bodyPr lIns="92583" tIns="46292" rIns="92583" bIns="46292" anchor="ctr">
            <a:noAutofit/>
          </a:bodyPr>
          <a:lstStyle/>
          <a:p>
            <a:pPr algn="ctr" defTabSz="925830" eaLnBrk="0" fontAlgn="base" hangingPunct="0">
              <a:lnSpc>
                <a:spcPct val="110000"/>
              </a:lnSpc>
              <a:spcBef>
                <a:spcPct val="30000"/>
              </a:spcBef>
              <a:spcAft>
                <a:spcPct val="0"/>
              </a:spcAft>
            </a:pPr>
            <a:r>
              <a:rPr lang="es-ES" sz="1000" dirty="0">
                <a:solidFill>
                  <a:srgbClr val="323232"/>
                </a:solidFill>
                <a:latin typeface="Avenir 35" panose="00000400000000000000" pitchFamily="2" charset="0"/>
              </a:rPr>
              <a:t>Como solución propuesta para la cubrir los requerimientos solicitados, se plantean implantar los siguientes módulos:</a:t>
            </a:r>
          </a:p>
        </p:txBody>
      </p:sp>
      <p:sp>
        <p:nvSpPr>
          <p:cNvPr id="3" name="AutoShape 4" descr="Resultado de imagen de car dealer network"/>
          <p:cNvSpPr>
            <a:spLocks noChangeAspect="1" noChangeArrowheads="1"/>
          </p:cNvSpPr>
          <p:nvPr/>
        </p:nvSpPr>
        <p:spPr bwMode="auto">
          <a:xfrm>
            <a:off x="155576" y="-13652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5" name="AutoShape 2" descr="data:image/png;base64,iVBORw0KGgoAAAANSUhEUgAAAOEAAADhCAMAAAAJbSJIAAAAh1BMVEX///8Xl8AAkr0AlL4Akb0Aj7z5/f7A4Osgn8Vjr87z+vx+v9fY7PP8//8Alr9Ap8rk8ve11uWPyN3o9flTrc243Ol2vNao0+RktdJ1u9XL5e+g0OJitNHm9Pir1uYanMRMqss7ocWWy9+KwNjb7fRrtNGFxdu93OnR5u/G5e+Zx9xkr86k0+ORcnytAAAVp0lEQVR4nN1d6YKqOhJukoA0gtiAG6iA7YJn+v2fb8hK2BdBmfl+zJ0+akiRSm2pqnx9TQ3XXPwE971nx0oG2z7und1jYRqTP39CWFd/d7AVBUIAIIRKHuk/4n9Wwmi789efnmt/nJLgGIcQlAgrI30BMIz3QeJ+etKdYfjOd5iuTytthSXVvy/J/JnWcv9uIepJXUYl0m/nWS+lG3j11ME86r6FgBfMlEg3sKvIS9kPIVVV9MjbLjm2XqQrqopQ1UZNl9LezY5Ia+GVdl4qQhDSvd9g41fP1/U3wa+ngzKd6S+9hfVmGpqwduICeekUoX0InobW+mPNeAaHaFVcfwhiZy5KJLkpoLCXQu++cPvIRc31799FEQWUmz/ZrDvDenqFaa3iw2M9iMNO/jJe5UaDwHu2c8GUsDYekmcEYHxJXpmSZQYpkTl+iDajTbc/FrZMX8qcTjLCqGagI4lICOzFCKMOQWKrUJoH2I63aczflfTuILI/sR+vR5Cbw9/I++Us83+6H81xh2+FsVSy54PVzZ9AeSWHUKJRub/VZt3E2UYByvI60WPWd116jv4z0WPKOO2RRN92Sr3sOqFE4/FNJsBuJZgHwknpw3CdTHvA1W7ip2GsPbGAUN2/46Wut6qgEXmnqR/3lxnJKHqXfJPeKkDBpI8yjuJtAv086aPyWGSiDRwnFKqJeA6E9/d6cIYj1BPQJ9P/QfaQ6P1GhumJ17uahlO1Q7aAzicMfu0iZAA6TDAB1waCS95tQXGYwgAA9uibxIR8cLT8nMdm3QWJcAw3RsKGi2sYftJdS4WqsFXRqBMJxAJGn46dnIRuBCPKG2cOHMqh3QWJ97HGFEJ0IindFwE3jMFhnAH3jECoPMYZ8GWIzQj2YwwnCPyYkijD1EckkfuCIJrTuZARsfeOXiaRryA6fl7GyNC4D/DqKnIhA47jTGxECBJfEjf3kV7UJBAkOsPH4IoeLMeb13iw+A4arvo3c17BFJZYxYEGXIK4kBl3YiOCk4gGKTJ3VK06ETw2STjAmdKYPwijeamJPDSbkgjs/rNkegLqc1L0ZRjMuumvMwK6CWE4VcR+LJgDfSl/xbyJTx3ddceDTVXp5fSLtX9HFP1VXBi7xX32E5PCaDQXc1JsQW/L8o9JGW9OKS310CLGcX9df3FiejScXWJSDdYh04pdg0gsuIyePR5iGe46hfEZ3cJCgdDr9vUd+3rXTai5C+fgxXqYIra/l38fSPxlWxF1kozrFVP13cY2nQiBLDEN4my28HZ+M5EWi9ysuhwvHul3YRdj1ghitSrdEiJ4eO/ZTcJm3cGI/mGi99L+1dMWgDJ1nEg1bgnNaa6Zwh3J7GUx3fZIuKGzPdv6YMNZ1dNHxgC1iT6ufznGKU+lUJT4eKlJz+wDrjJa9T6PW7Ty6CNupo9uymXF1N3NUYfy6uNU9uPmVSJ9phRb4hHMjm0NfWjLDln4eKC4uIzrZTEXlVGp3188Elmyl9bsK3jdlnodtS8gX8bchnaXsPaXoHLFu4NvsEbjzWfbtcWjuHZbQDZxyXMLmrcueO1g5EwVOWhyMqjH3GYa+KhpmiWIsPTVbv0hsl9hVSpsoF3/jQWdgdrMyYuuHCqWhpJ47rLyELyQxGKqdP71LMiWsDkgwJ3jPiTiEZ2OLwa9EODds0Ws84lYfBQ2Wj5XvcceFCQ61rLzyr/gla7p3OrUvkUFKWxUKFY0rOLH68HaL5ztUgu8zrF90l3Y7BV2X4o8er2X4SSu6QA1jh9dwubRe4rRoRh+EsEXseqzhK5O2Ciuw7cQmJJYsBpd10xOXYx05u5X6sQbXcLGXXh5zxKmCNlOsszH3dNTGx3C1EoPo8O5xUqn2wjeKoinI6+altDtryiGgrxp97GPV7mKMVJw6u0aFPaVzbFMh1NLe/E77wHyk4NeXcwIUeqK1FrOjBdLWtWK6bhNNp3xrl1IEDaZQBDpQc2uZMIwLioMaorBxiOcv7ftwi5A+l+l1rOoZQaKphtVFajJKLS8Ycp+MiC90gClLkZRYbgsgti0hNeZEYjN9H3FdtSY6ZaXuTvKpM2q4o1ypitgWCE4qMIoWA2MdxsjgHNjUgIIyxuLJiDk3UTGpGETgeu3StLuqIgp0XBGjk1p4kxz/MmfIZMSgG1RpjplNmV+U+Mp6m6uFCqgaKaYxK6RfSiXTj5uIpD5z7NEyZimYkViU6pBWgL5A13ft6AY+aBiXzoxpabcqvmoP/4kCW0oxD8TyqaCe1koNW52v2YqSjlyvoRlk3/TOZsy/dEcYnM/Ov9WwGNOoFKlj7h+p1yLmg/D3utY9Ec+MYY6GEL9fZNt2By+mD2F+flT8wR+M/4j27AttUSbO4X5HEq2ajT0S0NQrRG8uVOoQNmqZmYNVQ/UZGs7b2JadMbIeYRsI1LDjRorq7azuxnbNAyy1enSjUjPEmPy/+228+85uod5wG02W3asT6I1TOy0ZqA+Zk+hgiSbZUlFDY470hP+9jj6tc+z6tuVVX25b/u6OshnjzT7kEgf6hV1SGLrI2rsyO76VaQf/v07xD2JqYQsa0wqarAdsKWeRnuaVo9jJ/3LYhqpHWfCWs9RIpUgo8Kga4g3H92SevupR49zJ5wT959OFHIldhiFT6WjUS0mw+NgDRU0HfIWjbjzkzCFndaQ2Bnu+ex3H7txuN9suizPOZ03+S/8raNLQvdji+4Uplr4FCIwUjRdLg75pbN1WUyj05FkMDqFhHWGHitXYZVtRCZMza8nFTTttVGlPCjc8hGJvmOA/MnEvkQh6QyZaQNIf8Ry0NR/2P9mykL+hGoQCPjfEEkfFoaUISXK0LxhuGCKvPHMiaCYDQOV+/N6Nc+0lRPSf8/pn8/zEeUpBN7uuU7OB8ird3b+9ervbniC8b/fVM4Yv7//PIjbTW3M6yKI6MT+k2oQ5AWbv98Q50rhz9IPj2Sux3RI83yrWnpppZi6+GHqUG2zSot7EHrcHdMcqIQbwf8LmUKo8yeaJJUROtxFW3tQ8mYcAA5sBtZ5RSf2tSa+gKEr2enEKUyH5C6EX5H3IkXTDJI+lG4/OnW1mT5rWRQFMfa8aN56ahTR/A1K5QZmFFKvlHwLm8KAGI70V1soeTMR/eSL0L9YUQopNoAlnOPPfgCMr+JRZtmhk31Aygx3VsrcGM+vIJC8q4ttfzsmNhlS0yFxbt63gyefKlhGIeGZ5y36xrSckbJKZ3e6xdHtz9CwNnbwKOe74yjk3DL49pb4xaUvnVKo+X+bCESYtsXBuy03ESRlSovviHTFLIs+2bymanDP0rqb09bvpZGwkfdUcbdcQPaG7qm4ozWKvohsZBTi//jk37FNCIn/sgWp0YpC/CtIajdxIjwxKJfpeACHx1ydUmgcVYAgOS66I/ys9H+w8F3gP3BRpVtaRJlCYmWmP7DprmoicFfWVvixLk0VZfINC1OAVIO4WZRCYhSSZCiAxz+S1Oo/2mxRmPturNBzS5fuGxw82kNCIVEj5LUkKn+z+FWQvHxSA1TSSDKF9KjCZhQ2ZZ0mFXKZvHTjEgtlgcLfc4p/BhHTjML0NaxJGUaIG+Y4gGzXZBnyjoi4fhefu5IYEWM5vF/+AKaQ2lDE6RMqE1fFXFdkSP2rQpXKFFKXPf6iHzQcjVpVqXowokLx6rC2P1LJkaCQlK5qFgbeZj+A2RXa80B7d+CKhwdiwWlmg+DlTAiF1HEliyrcmjAbEk+gZGXJFFIPUWmnsNpWg3sm3Q3i+xMJbmlWmcIMuM6BJxesKQux4Yk5ySlMf3RFmEJmbeF3J/ZbIT27NDf5jCZHYUMm1KnGZITxZU3VQwCJZDWXURR9GwUKjc2C4Xkk/Mg7kqcSlxj+mJfIC+YU4m0nU4jXXRcU4iEffMhF6VhaPgJlLMworDdL690agCKHKKcQXYncwRLOlSk08XIIUMZE4W2HFyLVopilSB4PkRo8DkS4QKIQa7ij4NI1zgTOD5mbk7RbdjkKayuirnVLSEQxQHj19rjaiApcIFOIBYmWO5TjRFJJj8k4EQbE3umTyEtS1rMEGYUkbn3msyDWZYNJD6RQRUcKawx/6HlE6kMczNrjZLizWqKQiMENFbcQG6Lwl/bqxMd9KYXY+6VRIhWnIhK7Dstfy4YZhTRuTXPgIbX0zkzhVExNPrvvRmHdaUWqbzce5pMzmRpm1n36l5rjUvq8pwfVVMOfbSyAtYuuIpXwGiQs90OnjoXpyVbVEHPZAioShYQoy0kVk36IIDkw23hAxZcMxKV5ybX13Sg8VzMpURaWkZBMSB9Qq9JN/LXxJVNIq6csw8Ct2QNAxIC29kl9YsocccYjpLOFdTLx9404RyGrJ9fwIE9INTcbsmRr5RIPgxyFdbL0VsPzUr4VPtiB8hs6AxGnAVKD0yuAUg/ZDaSGFN+mWRs4Fys/TCHPo1RCce6nxelGzZbJLCkLWWLmZGmdPiwbfmKs49lNX6Th7ojKh3vfILj+LeN0TobrEkkOQudK/t09p39DZUu/dsVvn7CfeADcJ/iT9YVsVfDPMBYimxXeFuRh1wA7KPqFDrn+K6UWqLKb20njm/Xxk9QMjm3bXiH+5yr9S1+xgktV5b2+AVLSD/idJakcxV8jlWvYe7rKA4b8E/wzVUXyZ6v0YSEbE5BBworazpyLxCmM6QusprAlMlN0+2tYOh8AF39hQfNA+S92fVh1TD2/2Y45y7vGt5jyvImo+XEfgHJ5edy3IP+tK4aaLIdGB2qcLqE17mlP3sulR9tH9harfXyt8+FDT8CESPuRE8cLtid1TfZfdxpNrKSQeKcTAEZ0/Oe4LBLmTya4R00NXrXyYGaqhEu4tTRNM4JxRy2kVrKYwY5Vp1e3kpospRRicV9fLzsMhW5INA8KPLARqNTFvCdMmu11hNoJxdJMFvN+YgtYqWt84urNg84JpXwgqstXJstXA5VnTz3O0z6OVbFS6JcyScq65L81Rs0sk9crUW637wk1SONY1amX45zMvgHltnkaVfiRoAJUqovuJ4afRUVXOYMKGuy57hrURTLS2ezUqGif9MxyMfz/fWFaVWQQZPk0V3pGU+0h1vn4cwJUqkp9DlnSLK08rGkAWROnmRNAWEWgwQQo+YN6itVF6sZnZ98BIK4smaUFvUwJBvms7zzGTJSYAnV3sizk/NKkqehprTY/4bOAsK5U6y7nCJ9yWd9FzFnWoLiu2ROrd+UFF425+u5sFxGE9f3n8rn6LJZQsxHfWqLeHRCEl4Z0yke+kotlfdfETLV4fnwKgd1EH9eGIg+KWS51fWv8jxJTAgQgPiya02Fp6qXk9bfUrn3a/oakMSMkd7QrYXRvv727WLvG0vjq6w/vH7Rs0GLtPy73fYqt87Po1leTVXJlcQ23ovg5h/3HVnHYzQcx/W1mpjHtsapvJXj4kM4Y1k6cZgDljiraa7mdzzDqsIb5FbXcrB6/KbvtHH5AaQxs3kaDoPm2EXZef1TB7NOuayQCOzRRrYBfJVYYmzY3MgvC99I4kEB2NFrITXCzpLIGGA56I43d2h6XUd3bpEt/GvLrQK9sHDw+ql33LqjuTyN6DLV3YTcvXqgyKwMnzU9CH1RvQ7tJ1/UY4n2iurw4y7hunOUhxf2yWE8QjoMgHn4nQ1LTJ6pTr69KDK+8hLZdta9T+oIX2oHX9foS/dp639jhDuZT6GsbLwTyOVvK9+GxxXFoxrq2X1unnnuV2A5tFhnhX58eWxun5AHS2N1ePl7sCV3fc69b38QquANlKxSZktbV36TwR7gfs6lvIu99ua36rBHDduJY1zPmcW/ofSnKOHu/Sc0eQuIkt2ewRLyaml9r8CImQ5Zwkjtpl8xvqlHr/B6M/tuhf5wDTXJZ3Qk2vz1mDXS5QaGIvvKU12uMDBpiawhWLFg/7P5up9XPtYLhJDd8XOn8m1p8sEWM+g+ude60rwyNTbTDa1tCoRNbXYwK9FhFEE9zCRFrKd/cG5GVbgx6x133Iqo5EHsVLPunpfCeZSUPu5bzT+lCI7hPdN0gP2BpkSLsRBQOcj+T9s0IqruqjgB++UhbryS+1MPuddQuzRdYQLid6pokzeu6wZjaH3oFrbusD+UA1Zvu4mtmHGcl0vVgyeXNjTAb4Dp6uaaMVC8sR/Ad6mCyWXe5P+/E7uwKh1sdi6WuZvd4kWu89MNm0ov4WKFrY8N1AVbYPMACz2Cs/5bfUfy2q9hYBVTXACTbsx16ZTTDMPB1eu4brmBjjh/oeHcev+ljgLv/IfDyLNDlXjkCfoflrK8CzsBbqXe/w1L053lpK74P7Ii61w33Bsu/QAPPRt4KViva02HhcYnVJLGGUcHLFFc9DU0Rl5jOChkHV3ZyW05lb8P//b3c4tby5isvPg1xFfCQWfJQdtcraD8CngYDB0UNeBFwLyn8XhzZFNsbeVVjw6uOjzO9vZqv4PDoMheoYD9LEnmG9vAbvrLQxywZVezBl26AP8yXxCOf2otnWILVj/NSGhoXMuWarr7Y85GiOal+g0f10MsESuyuz8eAM3l3rtdXEEOQGE4V6uyLhzIqgVmdJXztut7REPCmJ+U7dIZCdLpBy8/LG000cXzhvtIShC+FvM6hkImwjgSBo3LUhg/76c24EYm8L4cCC0hEBwRw/5wJZ23FAsLRJbsrUkrAx9SGqYs52BMcsmoHwanw8gmBozkisxUcpplAsBJPmPAQqQ6+OJyEymRay9ezhzjvNeLcu0hhBPHQY7EOMI7icPCVJNf+OOvZgydKA+AIsgNQ5L3rXMMUOjCVAT1C98Nw8sTTgLp9B43rvQrf+1Z3QuAoYHWfJjUmw3qb5RDD1cAChd4PzXYjbhs4JY3rrZTBgvbvMxl/dIlG/T4V51yXEn0gfusZinFXsmwEGB6S8S05y79JqStQWb47xmB6Uu0MRN6wKrNaaH+2lNEBwbF3DcEI8HNzQKv7eHaOv5UvSIKqPaGOb8TClmugANKDMYhMnFBOyIHI/qTDtoly2UFgFQcvbUktucS5TnUp/0+biNM+paeXq2WDANrLxSDhaq0fhzifFweB95zBgUJyUwrTQuH33Xf7ODiGu7h7YSFbDCi3T+2/ItZOXChKTKlcRYfgabSTqRnP4GCvilfjQBA7c8rnsRZe6fYenM6GdO832PjVZo/rb4JfT8f3/hR/CpC3mAF75uHu7KorikgVpqoqeuRtlxxbL9IVVa2gjZJnB1ObuwPhBh6oyrxkS5pD3bfS1ZsreRTu+abX3DbVCiyibn/u7LizBCO5fOt9L23EpZXfjj+n861muEmwj0NYtc1KtKXfCuNjkHw6mj4Aa3+3jUJlRQtES4RBmkZsH3b+df6c2QDDfD52zv5oy62zY9vb34OfhTm9UPkv+JxFaNQASMgAAAAASUVORK5CYII="/>
          <p:cNvSpPr>
            <a:spLocks noChangeAspect="1" noChangeArrowheads="1"/>
          </p:cNvSpPr>
          <p:nvPr/>
        </p:nvSpPr>
        <p:spPr bwMode="auto">
          <a:xfrm>
            <a:off x="307976"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6" name="AutoShape 4" descr="data:image/png;base64,iVBORw0KGgoAAAANSUhEUgAAAOEAAADhCAMAAAAJbSJIAAAAh1BMVEX///8Xl8AAkr0AlL4Akb0Aj7z5/f7A4Osgn8Vjr87z+vx+v9fY7PP8//8Alr9Ap8rk8ve11uWPyN3o9flTrc243Ol2vNao0+RktdJ1u9XL5e+g0OJitNHm9Pir1uYanMRMqss7ocWWy9+KwNjb7fRrtNGFxdu93OnR5u/G5e+Zx9xkr86k0+ORcnytAAAVp0lEQVR4nN1d6YKqOhJukoA0gtiAG6iA7YJn+v2fb8hK2BdBmfl+zJ0+akiRSm2pqnx9TQ3XXPwE971nx0oG2z7und1jYRqTP39CWFd/d7AVBUIAIIRKHuk/4n9Wwmi789efnmt/nJLgGIcQlAgrI30BMIz3QeJ+etKdYfjOd5iuTytthSXVvy/J/JnWcv9uIepJXUYl0m/nWS+lG3j11ME86r6FgBfMlEg3sKvIS9kPIVVV9MjbLjm2XqQrqopQ1UZNl9LezY5Ia+GVdl4qQhDSvd9g41fP1/U3wa+ngzKd6S+9hfVmGpqwduICeekUoX0InobW+mPNeAaHaFVcfwhiZy5KJLkpoLCXQu++cPvIRc31799FEQWUmz/ZrDvDenqFaa3iw2M9iMNO/jJe5UaDwHu2c8GUsDYekmcEYHxJXpmSZQYpkTl+iDajTbc/FrZMX8qcTjLCqGagI4lICOzFCKMOQWKrUJoH2I63aczflfTuILI/sR+vR5Cbw9/I++Us83+6H81xh2+FsVSy54PVzZ9AeSWHUKJRub/VZt3E2UYByvI60WPWd116jv4z0WPKOO2RRN92Sr3sOqFE4/FNJsBuJZgHwknpw3CdTHvA1W7ip2GsPbGAUN2/46Wut6qgEXmnqR/3lxnJKHqXfJPeKkDBpI8yjuJtAv086aPyWGSiDRwnFKqJeA6E9/d6cIYj1BPQJ9P/QfaQ6P1GhumJ17uahlO1Q7aAzicMfu0iZAA6TDAB1waCS95tQXGYwgAA9uibxIR8cLT8nMdm3QWJcAw3RsKGi2sYftJdS4WqsFXRqBMJxAJGn46dnIRuBCPKG2cOHMqh3QWJ97HGFEJ0IindFwE3jMFhnAH3jECoPMYZ8GWIzQj2YwwnCPyYkijD1EckkfuCIJrTuZARsfeOXiaRryA6fl7GyNC4D/DqKnIhA47jTGxECBJfEjf3kV7UJBAkOsPH4IoeLMeb13iw+A4arvo3c17BFJZYxYEGXIK4kBl3YiOCk4gGKTJ3VK06ETw2STjAmdKYPwijeamJPDSbkgjs/rNkegLqc1L0ZRjMuumvMwK6CWE4VcR+LJgDfSl/xbyJTx3ddceDTVXp5fSLtX9HFP1VXBi7xX32E5PCaDQXc1JsQW/L8o9JGW9OKS310CLGcX9df3FiejScXWJSDdYh04pdg0gsuIyePR5iGe46hfEZ3cJCgdDr9vUd+3rXTai5C+fgxXqYIra/l38fSPxlWxF1kozrFVP13cY2nQiBLDEN4my28HZ+M5EWi9ysuhwvHul3YRdj1ghitSrdEiJ4eO/ZTcJm3cGI/mGi99L+1dMWgDJ1nEg1bgnNaa6Zwh3J7GUx3fZIuKGzPdv6YMNZ1dNHxgC1iT6ufznGKU+lUJT4eKlJz+wDrjJa9T6PW7Ty6CNupo9uymXF1N3NUYfy6uNU9uPmVSJ9phRb4hHMjm0NfWjLDln4eKC4uIzrZTEXlVGp3188Elmyl9bsK3jdlnodtS8gX8bchnaXsPaXoHLFu4NvsEbjzWfbtcWjuHZbQDZxyXMLmrcueO1g5EwVOWhyMqjH3GYa+KhpmiWIsPTVbv0hsl9hVSpsoF3/jQWdgdrMyYuuHCqWhpJ47rLyELyQxGKqdP71LMiWsDkgwJ3jPiTiEZ2OLwa9EODds0Ws84lYfBQ2Wj5XvcceFCQ61rLzyr/gla7p3OrUvkUFKWxUKFY0rOLH68HaL5ztUgu8zrF90l3Y7BV2X4o8er2X4SSu6QA1jh9dwubRe4rRoRh+EsEXseqzhK5O2Ciuw7cQmJJYsBpd10xOXYx05u5X6sQbXcLGXXh5zxKmCNlOsszH3dNTGx3C1EoPo8O5xUqn2wjeKoinI6+altDtryiGgrxp97GPV7mKMVJw6u0aFPaVzbFMh1NLe/E77wHyk4NeXcwIUeqK1FrOjBdLWtWK6bhNNp3xrl1IEDaZQBDpQc2uZMIwLioMaorBxiOcv7ftwi5A+l+l1rOoZQaKphtVFajJKLS8Ycp+MiC90gClLkZRYbgsgti0hNeZEYjN9H3FdtSY6ZaXuTvKpM2q4o1ypitgWCE4qMIoWA2MdxsjgHNjUgIIyxuLJiDk3UTGpGETgeu3StLuqIgp0XBGjk1p4kxz/MmfIZMSgG1RpjplNmV+U+Mp6m6uFCqgaKaYxK6RfSiXTj5uIpD5z7NEyZimYkViU6pBWgL5A13ft6AY+aBiXzoxpabcqvmoP/4kCW0oxD8TyqaCe1koNW52v2YqSjlyvoRlk3/TOZsy/dEcYnM/Ov9WwGNOoFKlj7h+p1yLmg/D3utY9Ec+MYY6GEL9fZNt2By+mD2F+flT8wR+M/4j27AttUSbO4X5HEq2ajT0S0NQrRG8uVOoQNmqZmYNVQ/UZGs7b2JadMbIeYRsI1LDjRorq7azuxnbNAyy1enSjUjPEmPy/+228+85uod5wG02W3asT6I1TOy0ZqA+Zk+hgiSbZUlFDY470hP+9jj6tc+z6tuVVX25b/u6OshnjzT7kEgf6hV1SGLrI2rsyO76VaQf/v07xD2JqYQsa0wqarAdsKWeRnuaVo9jJ/3LYhqpHWfCWs9RIpUgo8Kga4g3H92SevupR49zJ5wT959OFHIldhiFT6WjUS0mw+NgDRU0HfIWjbjzkzCFndaQ2Bnu+ex3H7txuN9suizPOZ03+S/8raNLQvdji+4Uplr4FCIwUjRdLg75pbN1WUyj05FkMDqFhHWGHitXYZVtRCZMza8nFTTttVGlPCjc8hGJvmOA/MnEvkQh6QyZaQNIf8Ry0NR/2P9mykL+hGoQCPjfEEkfFoaUISXK0LxhuGCKvPHMiaCYDQOV+/N6Nc+0lRPSf8/pn8/zEeUpBN7uuU7OB8ird3b+9ervbniC8b/fVM4Yv7//PIjbTW3M6yKI6MT+k2oQ5AWbv98Q50rhz9IPj2Sux3RI83yrWnpppZi6+GHqUG2zSot7EHrcHdMcqIQbwf8LmUKo8yeaJJUROtxFW3tQ8mYcAA5sBtZ5RSf2tSa+gKEr2enEKUyH5C6EX5H3IkXTDJI+lG4/OnW1mT5rWRQFMfa8aN56ahTR/A1K5QZmFFKvlHwLm8KAGI70V1soeTMR/eSL0L9YUQopNoAlnOPPfgCMr+JRZtmhk31Aygx3VsrcGM+vIJC8q4ttfzsmNhlS0yFxbt63gyefKlhGIeGZ5y36xrSckbJKZ3e6xdHtz9CwNnbwKOe74yjk3DL49pb4xaUvnVKo+X+bCESYtsXBuy03ESRlSovviHTFLIs+2bymanDP0rqb09bvpZGwkfdUcbdcQPaG7qm4ozWKvohsZBTi//jk37FNCIn/sgWp0YpC/CtIajdxIjwxKJfpeACHx1ydUmgcVYAgOS66I/ys9H+w8F3gP3BRpVtaRJlCYmWmP7DprmoicFfWVvixLk0VZfINC1OAVIO4WZRCYhSSZCiAxz+S1Oo/2mxRmPturNBzS5fuGxw82kNCIVEj5LUkKn+z+FWQvHxSA1TSSDKF9KjCZhQ2ZZ0mFXKZvHTjEgtlgcLfc4p/BhHTjML0NaxJGUaIG+Y4gGzXZBnyjoi4fhefu5IYEWM5vF/+AKaQ2lDE6RMqE1fFXFdkSP2rQpXKFFKXPf6iHzQcjVpVqXowokLx6rC2P1LJkaCQlK5qFgbeZj+A2RXa80B7d+CKhwdiwWlmg+DlTAiF1HEliyrcmjAbEk+gZGXJFFIPUWmnsNpWg3sm3Q3i+xMJbmlWmcIMuM6BJxesKQux4Yk5ySlMf3RFmEJmbeF3J/ZbIT27NDf5jCZHYUMm1KnGZITxZU3VQwCJZDWXURR9GwUKjc2C4Xkk/Mg7kqcSlxj+mJfIC+YU4m0nU4jXXRcU4iEffMhF6VhaPgJlLMworDdL690agCKHKKcQXYncwRLOlSk08XIIUMZE4W2HFyLVopilSB4PkRo8DkS4QKIQa7ij4NI1zgTOD5mbk7RbdjkKayuirnVLSEQxQHj19rjaiApcIFOIBYmWO5TjRFJJj8k4EQbE3umTyEtS1rMEGYUkbn3msyDWZYNJD6RQRUcKawx/6HlE6kMczNrjZLizWqKQiMENFbcQG6Lwl/bqxMd9KYXY+6VRIhWnIhK7Dstfy4YZhTRuTXPgIbX0zkzhVExNPrvvRmHdaUWqbzce5pMzmRpm1n36l5rjUvq8pwfVVMOfbSyAtYuuIpXwGiQs90OnjoXpyVbVEHPZAioShYQoy0kVk36IIDkw23hAxZcMxKV5ybX13Sg8VzMpURaWkZBMSB9Qq9JN/LXxJVNIq6csw8Ct2QNAxIC29kl9YsocccYjpLOFdTLx9404RyGrJ9fwIE9INTcbsmRr5RIPgxyFdbL0VsPzUr4VPtiB8hs6AxGnAVKD0yuAUg/ZDaSGFN+mWRs4Fys/TCHPo1RCce6nxelGzZbJLCkLWWLmZGmdPiwbfmKs49lNX6Th7ojKh3vfILj+LeN0TobrEkkOQudK/t09p39DZUu/dsVvn7CfeADcJ/iT9YVsVfDPMBYimxXeFuRh1wA7KPqFDrn+K6UWqLKb20njm/Xxk9QMjm3bXiH+5yr9S1+xgktV5b2+AVLSD/idJakcxV8jlWvYe7rKA4b8E/wzVUXyZ6v0YSEbE5BBworazpyLxCmM6QusprAlMlN0+2tYOh8AF39hQfNA+S92fVh1TD2/2Y45y7vGt5jyvImo+XEfgHJ5edy3IP+tK4aaLIdGB2qcLqE17mlP3sulR9tH9harfXyt8+FDT8CESPuRE8cLtid1TfZfdxpNrKSQeKcTAEZ0/Oe4LBLmTya4R00NXrXyYGaqhEu4tTRNM4JxRy2kVrKYwY5Vp1e3kpospRRicV9fLzsMhW5INA8KPLARqNTFvCdMmu11hNoJxdJMFvN+YgtYqWt84urNg84JpXwgqstXJstXA5VnTz3O0z6OVbFS6JcyScq65L81Rs0sk9crUW637wk1SONY1amX45zMvgHltnkaVfiRoAJUqovuJ4afRUVXOYMKGuy57hrURTLS2ezUqGif9MxyMfz/fWFaVWQQZPk0V3pGU+0h1vn4cwJUqkp9DlnSLK08rGkAWROnmRNAWEWgwQQo+YN6itVF6sZnZ98BIK4smaUFvUwJBvms7zzGTJSYAnV3sizk/NKkqehprTY/4bOAsK5U6y7nCJ9yWd9FzFnWoLiu2ROrd+UFF425+u5sFxGE9f3n8rn6LJZQsxHfWqLeHRCEl4Z0yke+kotlfdfETLV4fnwKgd1EH9eGIg+KWS51fWv8jxJTAgQgPiya02Fp6qXk9bfUrn3a/oakMSMkd7QrYXRvv727WLvG0vjq6w/vH7Rs0GLtPy73fYqt87Po1leTVXJlcQ23ovg5h/3HVnHYzQcx/W1mpjHtsapvJXj4kM4Y1k6cZgDljiraa7mdzzDqsIb5FbXcrB6/KbvtHH5AaQxs3kaDoPm2EXZef1TB7NOuayQCOzRRrYBfJVYYmzY3MgvC99I4kEB2NFrITXCzpLIGGA56I43d2h6XUd3bpEt/GvLrQK9sHDw+ql33LqjuTyN6DLV3YTcvXqgyKwMnzU9CH1RvQ7tJ1/UY4n2iurw4y7hunOUhxf2yWE8QjoMgHn4nQ1LTJ6pTr69KDK+8hLZdta9T+oIX2oHX9foS/dp639jhDuZT6GsbLwTyOVvK9+GxxXFoxrq2X1unnnuV2A5tFhnhX58eWxun5AHS2N1ePl7sCV3fc69b38QquANlKxSZktbV36TwR7gfs6lvIu99ua36rBHDduJY1zPmcW/ofSnKOHu/Sc0eQuIkt2ewRLyaml9r8CImQ5Zwkjtpl8xvqlHr/B6M/tuhf5wDTXJZ3Qk2vz1mDXS5QaGIvvKU12uMDBpiawhWLFg/7P5up9XPtYLhJDd8XOn8m1p8sEWM+g+ude60rwyNTbTDa1tCoRNbXYwK9FhFEE9zCRFrKd/cG5GVbgx6x133Iqo5EHsVLPunpfCeZSUPu5bzT+lCI7hPdN0gP2BpkSLsRBQOcj+T9s0IqruqjgB++UhbryS+1MPuddQuzRdYQLid6pokzeu6wZjaH3oFrbusD+UA1Zvu4mtmHGcl0vVgyeXNjTAb4Dp6uaaMVC8sR/Ad6mCyWXe5P+/E7uwKh1sdi6WuZvd4kWu89MNm0ov4WKFrY8N1AVbYPMACz2Cs/5bfUfy2q9hYBVTXACTbsx16ZTTDMPB1eu4brmBjjh/oeHcev+ljgLv/IfDyLNDlXjkCfoflrK8CzsBbqXe/w1L053lpK74P7Ii61w33Bsu/QAPPRt4KViva02HhcYnVJLGGUcHLFFc9DU0Rl5jOChkHV3ZyW05lb8P//b3c4tby5isvPg1xFfCQWfJQdtcraD8CngYDB0UNeBFwLyn8XhzZFNsbeVVjw6uOjzO9vZqv4PDoMheoYD9LEnmG9vAbvrLQxywZVezBl26AP8yXxCOf2otnWILVj/NSGhoXMuWarr7Y85GiOal+g0f10MsESuyuz8eAM3l3rtdXEEOQGE4V6uyLhzIqgVmdJXztut7REPCmJ+U7dIZCdLpBy8/LG000cXzhvtIShC+FvM6hkImwjgSBo3LUhg/76c24EYm8L4cCC0hEBwRw/5wJZ23FAsLRJbsrUkrAx9SGqYs52BMcsmoHwanw8gmBozkisxUcpplAsBJPmPAQqQ6+OJyEymRay9ezhzjvNeLcu0hhBPHQY7EOMI7icPCVJNf+OOvZgydKA+AIsgNQ5L3rXMMUOjCVAT1C98Nw8sTTgLp9B43rvQrf+1Z3QuAoYHWfJjUmw3qb5RDD1cAChd4PzXYjbhs4JY3rrZTBgvbvMxl/dIlG/T4V51yXEn0gfusZinFXsmwEGB6S8S05y79JqStQWb47xmB6Uu0MRN6wKrNaaH+2lNEBwbF3DcEI8HNzQKv7eHaOv5UvSIKqPaGOb8TClmugANKDMYhMnFBOyIHI/qTDtoly2UFgFQcvbUktucS5TnUp/0+biNM+paeXq2WDANrLxSDhaq0fhzifFweB95zBgUJyUwrTQuH33Xf7ODiGu7h7YSFbDCi3T+2/ItZOXChKTKlcRYfgabSTqRnP4GCvilfjQBA7c8rnsRZe6fYenM6GdO832PjVZo/rb4JfT8f3/hR/CpC3mAF75uHu7KorikgVpqoqeuRtlxxbL9IVVa2gjZJnB1ObuwPhBh6oyrxkS5pD3bfS1ZsreRTu+abX3DbVCiyibn/u7LizBCO5fOt9L23EpZXfjj+n861muEmwj0NYtc1KtKXfCuNjkHw6mj4Aa3+3jUJlRQtES4RBmkZsH3b+df6c2QDDfD52zv5oy62zY9vb34OfhTm9UPkv+JxFaNQASMgAAAAASUVORK5CYII="/>
          <p:cNvSpPr>
            <a:spLocks noChangeAspect="1" noChangeArrowheads="1"/>
          </p:cNvSpPr>
          <p:nvPr/>
        </p:nvSpPr>
        <p:spPr bwMode="auto">
          <a:xfrm>
            <a:off x="460375"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22" name="Rectangle 81"/>
          <p:cNvSpPr/>
          <p:nvPr>
            <p:custDataLst>
              <p:tags r:id="rId1"/>
            </p:custDataLst>
          </p:nvPr>
        </p:nvSpPr>
        <p:spPr>
          <a:xfrm>
            <a:off x="175715" y="1244095"/>
            <a:ext cx="9490082" cy="230868"/>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65" panose="02000600000000000000" pitchFamily="2" charset="0"/>
              </a:rPr>
              <a:t>ALCANCE FUNCIONAL</a:t>
            </a:r>
          </a:p>
        </p:txBody>
      </p:sp>
      <p:pic>
        <p:nvPicPr>
          <p:cNvPr id="81" name="Picture 2" descr="http://makepositive.com/newsite/wp-content/themes/makepositive/images/sales-cloud.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5977" y="1762090"/>
            <a:ext cx="2614696" cy="680319"/>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8" descr="http://www.apmetrix.com/wp-content/uploads/2015/06/SalesForce-Radian-6-Web-Logo-150.jpg"/>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000" b="100000" l="9962" r="89847">
                        <a14:foregroundMark x1="64176" y1="78000" x2="64176" y2="78000"/>
                        <a14:foregroundMark x1="64368" y1="61333" x2="64368" y2="61333"/>
                        <a14:foregroundMark x1="61877" y1="72667" x2="61877" y2="72667"/>
                        <a14:foregroundMark x1="55556" y1="75333" x2="55556" y2="75333"/>
                        <a14:foregroundMark x1="69157" y1="70000" x2="69157" y2="70000"/>
                        <a14:foregroundMark x1="74138" y1="70667" x2="74138" y2="70667"/>
                        <a14:foregroundMark x1="81609" y1="68000" x2="81609" y2="68000"/>
                      </a14:backgroundRemoval>
                    </a14:imgEffect>
                  </a14:imgLayer>
                </a14:imgProps>
              </a:ext>
              <a:ext uri="{28A0092B-C50C-407E-A947-70E740481C1C}">
                <a14:useLocalDpi xmlns:a14="http://schemas.microsoft.com/office/drawing/2010/main" val="0"/>
              </a:ext>
            </a:extLst>
          </a:blip>
          <a:srcRect/>
          <a:stretch>
            <a:fillRect/>
          </a:stretch>
        </p:blipFill>
        <p:spPr bwMode="auto">
          <a:xfrm>
            <a:off x="7815531" y="4610948"/>
            <a:ext cx="1908212" cy="500603"/>
          </a:xfrm>
          <a:prstGeom prst="rect">
            <a:avLst/>
          </a:prstGeom>
          <a:noFill/>
          <a:extLst>
            <a:ext uri="{909E8E84-426E-40DD-AFC4-6F175D3DCCD1}">
              <a14:hiddenFill xmlns:a14="http://schemas.microsoft.com/office/drawing/2010/main">
                <a:solidFill>
                  <a:srgbClr val="FFFFFF"/>
                </a:solidFill>
              </a14:hiddenFill>
            </a:ext>
          </a:extLst>
        </p:spPr>
      </p:pic>
      <p:sp>
        <p:nvSpPr>
          <p:cNvPr id="85" name="84 CuadroTexto"/>
          <p:cNvSpPr txBox="1"/>
          <p:nvPr/>
        </p:nvSpPr>
        <p:spPr>
          <a:xfrm>
            <a:off x="530957" y="2495299"/>
            <a:ext cx="1495922" cy="261610"/>
          </a:xfrm>
          <a:prstGeom prst="rect">
            <a:avLst/>
          </a:prstGeom>
          <a:noFill/>
        </p:spPr>
        <p:txBody>
          <a:bodyPr wrap="none" rtlCol="0">
            <a:spAutoFit/>
          </a:bodyPr>
          <a:lstStyle/>
          <a:p>
            <a:r>
              <a:rPr lang="es-ES" sz="1100" dirty="0">
                <a:latin typeface="Avenir 65" panose="02000600000000000000" pitchFamily="2" charset="0"/>
              </a:rPr>
              <a:t>Gestión de Clientes</a:t>
            </a:r>
          </a:p>
        </p:txBody>
      </p:sp>
      <p:sp>
        <p:nvSpPr>
          <p:cNvPr id="86" name="85 CuadroTexto"/>
          <p:cNvSpPr txBox="1"/>
          <p:nvPr/>
        </p:nvSpPr>
        <p:spPr>
          <a:xfrm>
            <a:off x="530957" y="3240348"/>
            <a:ext cx="2161169" cy="261610"/>
          </a:xfrm>
          <a:prstGeom prst="rect">
            <a:avLst/>
          </a:prstGeom>
          <a:noFill/>
        </p:spPr>
        <p:txBody>
          <a:bodyPr wrap="none" rtlCol="0">
            <a:spAutoFit/>
          </a:bodyPr>
          <a:lstStyle/>
          <a:p>
            <a:r>
              <a:rPr lang="es-ES" sz="1100" dirty="0">
                <a:latin typeface="Avenir 65" panose="02000600000000000000" pitchFamily="2" charset="0"/>
              </a:rPr>
              <a:t>Gestión de Potenciales/Leads</a:t>
            </a:r>
          </a:p>
        </p:txBody>
      </p:sp>
      <p:sp>
        <p:nvSpPr>
          <p:cNvPr id="87" name="86 CuadroTexto"/>
          <p:cNvSpPr txBox="1"/>
          <p:nvPr/>
        </p:nvSpPr>
        <p:spPr>
          <a:xfrm>
            <a:off x="530957" y="3985396"/>
            <a:ext cx="1529586" cy="261610"/>
          </a:xfrm>
          <a:prstGeom prst="rect">
            <a:avLst/>
          </a:prstGeom>
          <a:noFill/>
        </p:spPr>
        <p:txBody>
          <a:bodyPr wrap="none" rtlCol="0">
            <a:spAutoFit/>
          </a:bodyPr>
          <a:lstStyle/>
          <a:p>
            <a:r>
              <a:rPr lang="es-ES" sz="1100" dirty="0">
                <a:latin typeface="Avenir 65" panose="02000600000000000000" pitchFamily="2" charset="0"/>
              </a:rPr>
              <a:t>Gestión de Vehículos</a:t>
            </a:r>
          </a:p>
        </p:txBody>
      </p:sp>
      <p:sp>
        <p:nvSpPr>
          <p:cNvPr id="88" name="87 CuadroTexto"/>
          <p:cNvSpPr txBox="1"/>
          <p:nvPr/>
        </p:nvSpPr>
        <p:spPr>
          <a:xfrm>
            <a:off x="7187153" y="2442409"/>
            <a:ext cx="1582484" cy="261610"/>
          </a:xfrm>
          <a:prstGeom prst="rect">
            <a:avLst/>
          </a:prstGeom>
          <a:noFill/>
        </p:spPr>
        <p:txBody>
          <a:bodyPr wrap="none" rtlCol="0">
            <a:spAutoFit/>
          </a:bodyPr>
          <a:lstStyle/>
          <a:p>
            <a:r>
              <a:rPr lang="es-ES" sz="1100" dirty="0">
                <a:latin typeface="Avenir 65" panose="02000600000000000000" pitchFamily="2" charset="0"/>
              </a:rPr>
              <a:t>Gestión de Campañas</a:t>
            </a:r>
          </a:p>
        </p:txBody>
      </p:sp>
      <p:sp>
        <p:nvSpPr>
          <p:cNvPr id="89" name="88 CuadroTexto"/>
          <p:cNvSpPr txBox="1"/>
          <p:nvPr/>
        </p:nvSpPr>
        <p:spPr>
          <a:xfrm>
            <a:off x="7236885" y="5210630"/>
            <a:ext cx="931665" cy="261610"/>
          </a:xfrm>
          <a:prstGeom prst="rect">
            <a:avLst/>
          </a:prstGeom>
          <a:noFill/>
        </p:spPr>
        <p:txBody>
          <a:bodyPr wrap="none" rtlCol="0">
            <a:spAutoFit/>
          </a:bodyPr>
          <a:lstStyle/>
          <a:p>
            <a:r>
              <a:rPr lang="es-ES" sz="1100" dirty="0">
                <a:latin typeface="Avenir 65" panose="02000600000000000000" pitchFamily="2" charset="0"/>
              </a:rPr>
              <a:t>CRM Social</a:t>
            </a:r>
          </a:p>
        </p:txBody>
      </p:sp>
      <p:sp>
        <p:nvSpPr>
          <p:cNvPr id="90" name="89 CuadroTexto"/>
          <p:cNvSpPr txBox="1"/>
          <p:nvPr/>
        </p:nvSpPr>
        <p:spPr>
          <a:xfrm>
            <a:off x="530957" y="4730445"/>
            <a:ext cx="1888659" cy="261610"/>
          </a:xfrm>
          <a:prstGeom prst="rect">
            <a:avLst/>
          </a:prstGeom>
          <a:noFill/>
        </p:spPr>
        <p:txBody>
          <a:bodyPr wrap="none" rtlCol="0">
            <a:spAutoFit/>
          </a:bodyPr>
          <a:lstStyle/>
          <a:p>
            <a:r>
              <a:rPr lang="es-ES" sz="1100" dirty="0">
                <a:latin typeface="Avenir 65" panose="02000600000000000000" pitchFamily="2" charset="0"/>
              </a:rPr>
              <a:t>Encuestas de Satisfacción</a:t>
            </a:r>
          </a:p>
        </p:txBody>
      </p:sp>
      <p:pic>
        <p:nvPicPr>
          <p:cNvPr id="91" name="Picture 10" descr="http://programacion.net/files/article/20160105010142_sql-server.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45621" y="6175569"/>
            <a:ext cx="990138" cy="228634"/>
          </a:xfrm>
          <a:prstGeom prst="rect">
            <a:avLst/>
          </a:prstGeom>
          <a:noFill/>
          <a:extLst>
            <a:ext uri="{909E8E84-426E-40DD-AFC4-6F175D3DCCD1}">
              <a14:hiddenFill xmlns:a14="http://schemas.microsoft.com/office/drawing/2010/main">
                <a:solidFill>
                  <a:srgbClr val="FFFFFF"/>
                </a:solidFill>
              </a14:hiddenFill>
            </a:ext>
          </a:extLst>
        </p:spPr>
      </p:pic>
      <p:sp>
        <p:nvSpPr>
          <p:cNvPr id="92" name="91 CuadroTexto"/>
          <p:cNvSpPr txBox="1"/>
          <p:nvPr/>
        </p:nvSpPr>
        <p:spPr>
          <a:xfrm>
            <a:off x="1476245" y="5565673"/>
            <a:ext cx="1883849" cy="261610"/>
          </a:xfrm>
          <a:prstGeom prst="rect">
            <a:avLst/>
          </a:prstGeom>
          <a:noFill/>
        </p:spPr>
        <p:txBody>
          <a:bodyPr wrap="none" rtlCol="0">
            <a:spAutoFit/>
          </a:bodyPr>
          <a:lstStyle/>
          <a:p>
            <a:r>
              <a:rPr lang="es-ES" sz="1100" dirty="0">
                <a:latin typeface="Avenir 65" panose="02000600000000000000" pitchFamily="2" charset="0"/>
              </a:rPr>
              <a:t>Origen de Datos Maestros</a:t>
            </a:r>
          </a:p>
        </p:txBody>
      </p:sp>
      <p:sp>
        <p:nvSpPr>
          <p:cNvPr id="93" name="92 CuadroTexto"/>
          <p:cNvSpPr txBox="1"/>
          <p:nvPr/>
        </p:nvSpPr>
        <p:spPr>
          <a:xfrm>
            <a:off x="1476245" y="5916024"/>
            <a:ext cx="1928733" cy="261610"/>
          </a:xfrm>
          <a:prstGeom prst="rect">
            <a:avLst/>
          </a:prstGeom>
          <a:noFill/>
        </p:spPr>
        <p:txBody>
          <a:bodyPr wrap="none" rtlCol="0">
            <a:spAutoFit/>
          </a:bodyPr>
          <a:lstStyle/>
          <a:p>
            <a:r>
              <a:rPr lang="es-ES" sz="1100" dirty="0">
                <a:latin typeface="Avenir 65" panose="02000600000000000000" pitchFamily="2" charset="0"/>
              </a:rPr>
              <a:t>Gestión de Reclamaciones</a:t>
            </a:r>
          </a:p>
        </p:txBody>
      </p:sp>
      <p:sp>
        <p:nvSpPr>
          <p:cNvPr id="94" name="93 CuadroTexto"/>
          <p:cNvSpPr txBox="1"/>
          <p:nvPr/>
        </p:nvSpPr>
        <p:spPr>
          <a:xfrm>
            <a:off x="1476245" y="6275705"/>
            <a:ext cx="864339" cy="261610"/>
          </a:xfrm>
          <a:prstGeom prst="rect">
            <a:avLst/>
          </a:prstGeom>
          <a:noFill/>
        </p:spPr>
        <p:txBody>
          <a:bodyPr wrap="none" rtlCol="0">
            <a:spAutoFit/>
          </a:bodyPr>
          <a:lstStyle/>
          <a:p>
            <a:r>
              <a:rPr lang="es-ES" sz="1100" dirty="0">
                <a:latin typeface="Avenir 65" panose="02000600000000000000" pitchFamily="2" charset="0"/>
              </a:rPr>
              <a:t>Workflows</a:t>
            </a:r>
          </a:p>
        </p:txBody>
      </p:sp>
      <p:sp>
        <p:nvSpPr>
          <p:cNvPr id="95" name="94 CuadroTexto"/>
          <p:cNvSpPr txBox="1"/>
          <p:nvPr/>
        </p:nvSpPr>
        <p:spPr>
          <a:xfrm>
            <a:off x="2943745" y="2463484"/>
            <a:ext cx="1556836" cy="463623"/>
          </a:xfrm>
          <a:prstGeom prst="rect">
            <a:avLst/>
          </a:prstGeom>
          <a:noFill/>
        </p:spPr>
        <p:txBody>
          <a:bodyPr wrap="none" rtlCol="0">
            <a:spAutoFit/>
          </a:bodyPr>
          <a:lstStyle/>
          <a:p>
            <a:pPr marL="171450" indent="-171450">
              <a:buFont typeface="Arial" panose="020B0604020202020204" pitchFamily="34" charset="0"/>
              <a:buChar char="•"/>
            </a:pPr>
            <a:r>
              <a:rPr lang="es-ES" sz="900" dirty="0">
                <a:latin typeface="Avenir 35" panose="00000400000000000000" pitchFamily="2" charset="0"/>
              </a:rPr>
              <a:t>Información del Cliente</a:t>
            </a:r>
          </a:p>
          <a:p>
            <a:pPr marL="171450" indent="-171450">
              <a:buFont typeface="Arial" panose="020B0604020202020204" pitchFamily="34" charset="0"/>
              <a:buChar char="•"/>
            </a:pPr>
            <a:r>
              <a:rPr lang="es-ES" sz="900" dirty="0">
                <a:latin typeface="Avenir 35" panose="00000400000000000000" pitchFamily="2" charset="0"/>
              </a:rPr>
              <a:t>Gestión de Robinsones</a:t>
            </a:r>
          </a:p>
          <a:p>
            <a:pPr marL="171450" indent="-171450">
              <a:buFont typeface="Arial" panose="020B0604020202020204" pitchFamily="34" charset="0"/>
              <a:buChar char="•"/>
            </a:pPr>
            <a:r>
              <a:rPr lang="es-ES" sz="900" dirty="0">
                <a:latin typeface="Avenir 35" panose="00000400000000000000" pitchFamily="2" charset="0"/>
              </a:rPr>
              <a:t>Histórico Actividades</a:t>
            </a:r>
          </a:p>
        </p:txBody>
      </p:sp>
      <p:sp>
        <p:nvSpPr>
          <p:cNvPr id="96" name="95 CuadroTexto"/>
          <p:cNvSpPr txBox="1"/>
          <p:nvPr/>
        </p:nvSpPr>
        <p:spPr>
          <a:xfrm>
            <a:off x="4832950" y="2463484"/>
            <a:ext cx="1620957" cy="507831"/>
          </a:xfrm>
          <a:prstGeom prst="rect">
            <a:avLst/>
          </a:prstGeom>
          <a:noFill/>
        </p:spPr>
        <p:txBody>
          <a:bodyPr wrap="none" rtlCol="0">
            <a:spAutoFit/>
          </a:bodyPr>
          <a:lstStyle/>
          <a:p>
            <a:pPr marL="171450" indent="-171450">
              <a:buFont typeface="Arial" panose="020B0604020202020204" pitchFamily="34" charset="0"/>
              <a:buChar char="•"/>
            </a:pPr>
            <a:r>
              <a:rPr lang="es-ES" sz="900" dirty="0">
                <a:latin typeface="Avenir 35" panose="00000400000000000000" pitchFamily="2" charset="0"/>
              </a:rPr>
              <a:t>Seguimiento de Clientes</a:t>
            </a:r>
          </a:p>
          <a:p>
            <a:pPr marL="171450" indent="-171450">
              <a:buFont typeface="Arial" panose="020B0604020202020204" pitchFamily="34" charset="0"/>
              <a:buChar char="•"/>
            </a:pPr>
            <a:r>
              <a:rPr lang="es-ES" sz="900" dirty="0">
                <a:latin typeface="Avenir 35" panose="00000400000000000000" pitchFamily="2" charset="0"/>
              </a:rPr>
              <a:t>LOPD</a:t>
            </a:r>
          </a:p>
          <a:p>
            <a:pPr marL="171450" indent="-171450">
              <a:buFont typeface="Arial" panose="020B0604020202020204" pitchFamily="34" charset="0"/>
              <a:buChar char="•"/>
            </a:pPr>
            <a:endParaRPr lang="es-ES" sz="900" dirty="0">
              <a:latin typeface="Avenir 35" panose="00000400000000000000" pitchFamily="2" charset="0"/>
            </a:endParaRPr>
          </a:p>
        </p:txBody>
      </p:sp>
      <p:sp>
        <p:nvSpPr>
          <p:cNvPr id="97" name="96 CuadroTexto"/>
          <p:cNvSpPr txBox="1"/>
          <p:nvPr/>
        </p:nvSpPr>
        <p:spPr>
          <a:xfrm>
            <a:off x="2943745" y="3139176"/>
            <a:ext cx="1806905" cy="507831"/>
          </a:xfrm>
          <a:prstGeom prst="rect">
            <a:avLst/>
          </a:prstGeom>
          <a:noFill/>
        </p:spPr>
        <p:txBody>
          <a:bodyPr wrap="none" rtlCol="0">
            <a:spAutoFit/>
          </a:bodyPr>
          <a:lstStyle/>
          <a:p>
            <a:pPr marL="171450" indent="-171450">
              <a:buFont typeface="Arial" panose="020B0604020202020204" pitchFamily="34" charset="0"/>
              <a:buChar char="•"/>
            </a:pPr>
            <a:r>
              <a:rPr lang="es-ES" sz="900" dirty="0">
                <a:latin typeface="Avenir 35" panose="00000400000000000000" pitchFamily="2" charset="0"/>
              </a:rPr>
              <a:t>Información de Potenciales</a:t>
            </a:r>
          </a:p>
          <a:p>
            <a:pPr marL="171450" indent="-171450">
              <a:buFont typeface="Arial" panose="020B0604020202020204" pitchFamily="34" charset="0"/>
              <a:buChar char="•"/>
            </a:pPr>
            <a:r>
              <a:rPr lang="es-ES" sz="900" dirty="0">
                <a:latin typeface="Avenir 35" panose="00000400000000000000" pitchFamily="2" charset="0"/>
              </a:rPr>
              <a:t>Cualificación (Potenciales)</a:t>
            </a:r>
          </a:p>
          <a:p>
            <a:pPr marL="171450" indent="-171450">
              <a:buFont typeface="Arial" panose="020B0604020202020204" pitchFamily="34" charset="0"/>
              <a:buChar char="•"/>
            </a:pPr>
            <a:r>
              <a:rPr lang="es-ES" sz="900" dirty="0">
                <a:latin typeface="Avenir 35" panose="00000400000000000000" pitchFamily="2" charset="0"/>
              </a:rPr>
              <a:t>Conversión Leads a Clientes</a:t>
            </a:r>
          </a:p>
        </p:txBody>
      </p:sp>
      <p:sp>
        <p:nvSpPr>
          <p:cNvPr id="98" name="97 CuadroTexto"/>
          <p:cNvSpPr txBox="1"/>
          <p:nvPr/>
        </p:nvSpPr>
        <p:spPr>
          <a:xfrm>
            <a:off x="4832950" y="3139176"/>
            <a:ext cx="1552028" cy="463623"/>
          </a:xfrm>
          <a:prstGeom prst="rect">
            <a:avLst/>
          </a:prstGeom>
          <a:noFill/>
        </p:spPr>
        <p:txBody>
          <a:bodyPr wrap="none" rtlCol="0">
            <a:spAutoFit/>
          </a:bodyPr>
          <a:lstStyle/>
          <a:p>
            <a:pPr marL="171450" indent="-171450">
              <a:buFont typeface="Arial" panose="020B0604020202020204" pitchFamily="34" charset="0"/>
              <a:buChar char="•"/>
            </a:pPr>
            <a:r>
              <a:rPr lang="es-ES" sz="900" dirty="0">
                <a:latin typeface="Avenir 35" panose="00000400000000000000" pitchFamily="2" charset="0"/>
              </a:rPr>
              <a:t>Asignación a Dealer</a:t>
            </a:r>
          </a:p>
          <a:p>
            <a:pPr marL="171450" indent="-171450">
              <a:buFont typeface="Arial" panose="020B0604020202020204" pitchFamily="34" charset="0"/>
              <a:buChar char="•"/>
            </a:pPr>
            <a:r>
              <a:rPr lang="es-ES" sz="900" dirty="0">
                <a:latin typeface="Avenir 35" panose="00000400000000000000" pitchFamily="2" charset="0"/>
              </a:rPr>
              <a:t>Gestión de Robinsones</a:t>
            </a:r>
          </a:p>
          <a:p>
            <a:pPr marL="171450" indent="-171450">
              <a:buFont typeface="Arial" panose="020B0604020202020204" pitchFamily="34" charset="0"/>
              <a:buChar char="•"/>
            </a:pPr>
            <a:endParaRPr lang="es-ES" sz="900" dirty="0">
              <a:latin typeface="Avenir 35" panose="00000400000000000000" pitchFamily="2" charset="0"/>
            </a:endParaRPr>
          </a:p>
        </p:txBody>
      </p:sp>
      <p:sp>
        <p:nvSpPr>
          <p:cNvPr id="99" name="98 CuadroTexto"/>
          <p:cNvSpPr txBox="1"/>
          <p:nvPr/>
        </p:nvSpPr>
        <p:spPr>
          <a:xfrm>
            <a:off x="2976676" y="3943248"/>
            <a:ext cx="1603324" cy="337181"/>
          </a:xfrm>
          <a:prstGeom prst="rect">
            <a:avLst/>
          </a:prstGeom>
          <a:noFill/>
        </p:spPr>
        <p:txBody>
          <a:bodyPr wrap="none" rtlCol="0">
            <a:spAutoFit/>
          </a:bodyPr>
          <a:lstStyle/>
          <a:p>
            <a:pPr marL="171450" indent="-171450">
              <a:buFont typeface="Arial" panose="020B0604020202020204" pitchFamily="34" charset="0"/>
              <a:buChar char="•"/>
            </a:pPr>
            <a:r>
              <a:rPr lang="es-ES" sz="900" dirty="0">
                <a:latin typeface="Avenir 35" panose="00000400000000000000" pitchFamily="2" charset="0"/>
              </a:rPr>
              <a:t>Información de Vehículo</a:t>
            </a:r>
          </a:p>
          <a:p>
            <a:pPr marL="171450" indent="-171450">
              <a:buFont typeface="Arial" panose="020B0604020202020204" pitchFamily="34" charset="0"/>
              <a:buChar char="•"/>
            </a:pPr>
            <a:r>
              <a:rPr lang="es-ES" sz="900" dirty="0">
                <a:latin typeface="Avenir 35" panose="00000400000000000000" pitchFamily="2" charset="0"/>
              </a:rPr>
              <a:t>Gestión de Flotas</a:t>
            </a:r>
          </a:p>
        </p:txBody>
      </p:sp>
      <p:sp>
        <p:nvSpPr>
          <p:cNvPr id="100" name="99 CuadroTexto"/>
          <p:cNvSpPr txBox="1"/>
          <p:nvPr/>
        </p:nvSpPr>
        <p:spPr>
          <a:xfrm>
            <a:off x="4832950" y="3931497"/>
            <a:ext cx="1646605" cy="463623"/>
          </a:xfrm>
          <a:prstGeom prst="rect">
            <a:avLst/>
          </a:prstGeom>
          <a:noFill/>
        </p:spPr>
        <p:txBody>
          <a:bodyPr wrap="none" rtlCol="0">
            <a:spAutoFit/>
          </a:bodyPr>
          <a:lstStyle/>
          <a:p>
            <a:pPr marL="171450" indent="-171450">
              <a:buFont typeface="Arial" panose="020B0604020202020204" pitchFamily="34" charset="0"/>
              <a:buChar char="•"/>
            </a:pPr>
            <a:r>
              <a:rPr lang="es-ES" sz="900" dirty="0">
                <a:latin typeface="Avenir 35" panose="00000400000000000000" pitchFamily="2" charset="0"/>
              </a:rPr>
              <a:t>Gestión de Empresas</a:t>
            </a:r>
          </a:p>
          <a:p>
            <a:pPr marL="171450" indent="-171450">
              <a:buFont typeface="Arial" panose="020B0604020202020204" pitchFamily="34" charset="0"/>
              <a:buChar char="•"/>
            </a:pPr>
            <a:r>
              <a:rPr lang="es-ES" sz="900" dirty="0">
                <a:latin typeface="Avenir 35" panose="00000400000000000000" pitchFamily="2" charset="0"/>
              </a:rPr>
              <a:t>Gestión de Reparaciones</a:t>
            </a:r>
          </a:p>
          <a:p>
            <a:pPr marL="171450" indent="-171450">
              <a:buFont typeface="Arial" panose="020B0604020202020204" pitchFamily="34" charset="0"/>
              <a:buChar char="•"/>
            </a:pPr>
            <a:endParaRPr lang="es-ES" sz="900" dirty="0">
              <a:latin typeface="Avenir 35" panose="00000400000000000000" pitchFamily="2" charset="0"/>
            </a:endParaRPr>
          </a:p>
        </p:txBody>
      </p:sp>
      <p:sp>
        <p:nvSpPr>
          <p:cNvPr id="101" name="100 CuadroTexto"/>
          <p:cNvSpPr txBox="1"/>
          <p:nvPr/>
        </p:nvSpPr>
        <p:spPr>
          <a:xfrm>
            <a:off x="7164877" y="2741156"/>
            <a:ext cx="2155855" cy="1477328"/>
          </a:xfrm>
          <a:prstGeom prst="rect">
            <a:avLst/>
          </a:prstGeom>
          <a:noFill/>
        </p:spPr>
        <p:txBody>
          <a:bodyPr wrap="square" rtlCol="0">
            <a:spAutoFit/>
          </a:bodyPr>
          <a:lstStyle/>
          <a:p>
            <a:pPr marL="171450" indent="-171450">
              <a:buFont typeface="Arial" panose="020B0604020202020204" pitchFamily="34" charset="0"/>
              <a:buChar char="•"/>
            </a:pPr>
            <a:r>
              <a:rPr lang="es-ES" sz="900" dirty="0">
                <a:latin typeface="Avenir 35" panose="00000400000000000000" pitchFamily="2" charset="0"/>
              </a:rPr>
              <a:t>Gestión de Listas de Marketing</a:t>
            </a:r>
          </a:p>
          <a:p>
            <a:pPr marL="171450" indent="-171450">
              <a:buFont typeface="Arial" panose="020B0604020202020204" pitchFamily="34" charset="0"/>
              <a:buChar char="•"/>
            </a:pPr>
            <a:r>
              <a:rPr lang="es-ES" sz="900" dirty="0">
                <a:latin typeface="Avenir 35" panose="00000400000000000000" pitchFamily="2" charset="0"/>
              </a:rPr>
              <a:t>Segmentación</a:t>
            </a:r>
          </a:p>
          <a:p>
            <a:pPr marL="171450" indent="-171450">
              <a:buFont typeface="Arial" panose="020B0604020202020204" pitchFamily="34" charset="0"/>
              <a:buChar char="•"/>
            </a:pPr>
            <a:r>
              <a:rPr lang="es-ES" sz="900" dirty="0">
                <a:latin typeface="Avenir 35" panose="00000400000000000000" pitchFamily="2" charset="0"/>
              </a:rPr>
              <a:t>Gestión de Campañas rápidas</a:t>
            </a:r>
          </a:p>
          <a:p>
            <a:pPr marL="171450" indent="-171450">
              <a:buFont typeface="Arial" panose="020B0604020202020204" pitchFamily="34" charset="0"/>
              <a:buChar char="•"/>
            </a:pPr>
            <a:r>
              <a:rPr lang="es-ES" sz="900" dirty="0">
                <a:latin typeface="Avenir 35" panose="00000400000000000000" pitchFamily="2" charset="0"/>
              </a:rPr>
              <a:t>Preparación y seguimiento de campañas</a:t>
            </a:r>
          </a:p>
          <a:p>
            <a:pPr marL="628650" lvl="1" indent="-171450">
              <a:buFont typeface="Arial" panose="020B0604020202020204" pitchFamily="34" charset="0"/>
              <a:buChar char="•"/>
            </a:pPr>
            <a:r>
              <a:rPr lang="es-ES" sz="900" dirty="0">
                <a:latin typeface="Avenir 35" panose="00000400000000000000" pitchFamily="2" charset="0"/>
              </a:rPr>
              <a:t>Respuestas</a:t>
            </a:r>
          </a:p>
          <a:p>
            <a:pPr marL="628650" lvl="1" indent="-171450">
              <a:buFont typeface="Arial" panose="020B0604020202020204" pitchFamily="34" charset="0"/>
              <a:buChar char="•"/>
            </a:pPr>
            <a:r>
              <a:rPr lang="es-ES" sz="900" dirty="0">
                <a:latin typeface="Avenir 35" panose="00000400000000000000" pitchFamily="2" charset="0"/>
              </a:rPr>
              <a:t>Evolución</a:t>
            </a:r>
          </a:p>
          <a:p>
            <a:pPr marL="628650" lvl="1" indent="-171450">
              <a:buFont typeface="Arial" panose="020B0604020202020204" pitchFamily="34" charset="0"/>
              <a:buChar char="•"/>
            </a:pPr>
            <a:r>
              <a:rPr lang="es-ES" sz="900" dirty="0">
                <a:latin typeface="Avenir 35" panose="00000400000000000000" pitchFamily="2" charset="0"/>
              </a:rPr>
              <a:t>Conversión respuestas en leads</a:t>
            </a:r>
          </a:p>
          <a:p>
            <a:pPr marL="171450" indent="-171450">
              <a:buFont typeface="Arial" panose="020B0604020202020204" pitchFamily="34" charset="0"/>
              <a:buChar char="•"/>
            </a:pPr>
            <a:r>
              <a:rPr lang="es-ES" sz="900" dirty="0">
                <a:latin typeface="Avenir 35" panose="00000400000000000000" pitchFamily="2" charset="0"/>
              </a:rPr>
              <a:t>Análisis de Éxito de Campañas</a:t>
            </a:r>
          </a:p>
        </p:txBody>
      </p:sp>
      <p:sp>
        <p:nvSpPr>
          <p:cNvPr id="102" name="101 CuadroTexto"/>
          <p:cNvSpPr txBox="1"/>
          <p:nvPr/>
        </p:nvSpPr>
        <p:spPr>
          <a:xfrm>
            <a:off x="7236884" y="5463515"/>
            <a:ext cx="2083847" cy="1061829"/>
          </a:xfrm>
          <a:prstGeom prst="rect">
            <a:avLst/>
          </a:prstGeom>
          <a:noFill/>
        </p:spPr>
        <p:txBody>
          <a:bodyPr wrap="square" rtlCol="0">
            <a:spAutoFit/>
          </a:bodyPr>
          <a:lstStyle/>
          <a:p>
            <a:pPr marL="171450" indent="-171450">
              <a:buFont typeface="Arial" panose="020B0604020202020204" pitchFamily="34" charset="0"/>
              <a:buChar char="•"/>
            </a:pPr>
            <a:r>
              <a:rPr lang="es-ES" sz="900" dirty="0">
                <a:latin typeface="Avenir 35" panose="00000400000000000000" pitchFamily="2" charset="0"/>
              </a:rPr>
              <a:t>Monitorización</a:t>
            </a:r>
          </a:p>
          <a:p>
            <a:pPr marL="171450" indent="-171450">
              <a:buFont typeface="Arial" panose="020B0604020202020204" pitchFamily="34" charset="0"/>
              <a:buChar char="•"/>
            </a:pPr>
            <a:r>
              <a:rPr lang="es-ES" sz="900" dirty="0">
                <a:latin typeface="Avenir 35" panose="00000400000000000000" pitchFamily="2" charset="0"/>
              </a:rPr>
              <a:t>Escucha activa en Redes Sociales</a:t>
            </a:r>
          </a:p>
          <a:p>
            <a:pPr marL="171450" indent="-171450">
              <a:buFont typeface="Arial" panose="020B0604020202020204" pitchFamily="34" charset="0"/>
              <a:buChar char="•"/>
            </a:pPr>
            <a:r>
              <a:rPr lang="es-ES" sz="900" dirty="0">
                <a:latin typeface="Avenir 35" panose="00000400000000000000" pitchFamily="2" charset="0"/>
              </a:rPr>
              <a:t>Engagement</a:t>
            </a:r>
          </a:p>
          <a:p>
            <a:pPr marL="171450" indent="-171450">
              <a:buFont typeface="Arial" panose="020B0604020202020204" pitchFamily="34" charset="0"/>
              <a:buChar char="•"/>
            </a:pPr>
            <a:r>
              <a:rPr lang="es-ES" sz="900" dirty="0">
                <a:latin typeface="Avenir 35" panose="00000400000000000000" pitchFamily="2" charset="0"/>
              </a:rPr>
              <a:t>Geolocalización</a:t>
            </a:r>
          </a:p>
          <a:p>
            <a:pPr marL="171450" indent="-171450">
              <a:buFont typeface="Arial" panose="020B0604020202020204" pitchFamily="34" charset="0"/>
              <a:buChar char="•"/>
            </a:pPr>
            <a:r>
              <a:rPr lang="es-ES" sz="900" dirty="0">
                <a:latin typeface="Avenir 35" panose="00000400000000000000" pitchFamily="2" charset="0"/>
              </a:rPr>
              <a:t>Análisis de Sentimientos</a:t>
            </a:r>
          </a:p>
          <a:p>
            <a:pPr marL="171450" indent="-171450">
              <a:buFont typeface="Arial" panose="020B0604020202020204" pitchFamily="34" charset="0"/>
              <a:buChar char="•"/>
            </a:pPr>
            <a:r>
              <a:rPr lang="es-ES" sz="900" dirty="0">
                <a:latin typeface="Avenir 35" panose="00000400000000000000" pitchFamily="2" charset="0"/>
              </a:rPr>
              <a:t>Análisis Competitivo</a:t>
            </a:r>
          </a:p>
          <a:p>
            <a:pPr marL="171450" indent="-171450">
              <a:buFont typeface="Arial" panose="020B0604020202020204" pitchFamily="34" charset="0"/>
              <a:buChar char="•"/>
            </a:pPr>
            <a:r>
              <a:rPr lang="es-ES" sz="900" dirty="0">
                <a:latin typeface="Avenir 35" panose="00000400000000000000" pitchFamily="2" charset="0"/>
              </a:rPr>
              <a:t>Gestión Crisis en Redes Sociales</a:t>
            </a:r>
          </a:p>
        </p:txBody>
      </p:sp>
      <p:sp>
        <p:nvSpPr>
          <p:cNvPr id="103" name="102 CuadroTexto"/>
          <p:cNvSpPr txBox="1"/>
          <p:nvPr/>
        </p:nvSpPr>
        <p:spPr>
          <a:xfrm>
            <a:off x="2943745" y="4720371"/>
            <a:ext cx="1899879" cy="463623"/>
          </a:xfrm>
          <a:prstGeom prst="rect">
            <a:avLst/>
          </a:prstGeom>
          <a:noFill/>
        </p:spPr>
        <p:txBody>
          <a:bodyPr wrap="none" rtlCol="0">
            <a:spAutoFit/>
          </a:bodyPr>
          <a:lstStyle/>
          <a:p>
            <a:pPr marL="171450" indent="-171450">
              <a:buFont typeface="Arial" panose="020B0604020202020204" pitchFamily="34" charset="0"/>
              <a:buChar char="•"/>
            </a:pPr>
            <a:r>
              <a:rPr lang="es-ES" sz="900" dirty="0">
                <a:latin typeface="Avenir 35" panose="00000400000000000000" pitchFamily="2" charset="0"/>
              </a:rPr>
              <a:t>Acciones Fidelización</a:t>
            </a:r>
          </a:p>
          <a:p>
            <a:pPr marL="628650" lvl="1" indent="-171450">
              <a:buFont typeface="Arial" panose="020B0604020202020204" pitchFamily="34" charset="0"/>
              <a:buChar char="•"/>
            </a:pPr>
            <a:r>
              <a:rPr lang="es-ES" sz="900" dirty="0">
                <a:latin typeface="Avenir 35" panose="00000400000000000000" pitchFamily="2" charset="0"/>
              </a:rPr>
              <a:t>Históricos Clientes</a:t>
            </a:r>
          </a:p>
          <a:p>
            <a:pPr marL="628650" lvl="1" indent="-171450">
              <a:buFont typeface="Arial" panose="020B0604020202020204" pitchFamily="34" charset="0"/>
              <a:buChar char="•"/>
            </a:pPr>
            <a:r>
              <a:rPr lang="es-ES" sz="900" dirty="0">
                <a:latin typeface="Avenir 35" panose="00000400000000000000" pitchFamily="2" charset="0"/>
              </a:rPr>
              <a:t>Históricos Campañas</a:t>
            </a:r>
          </a:p>
        </p:txBody>
      </p:sp>
      <p:sp>
        <p:nvSpPr>
          <p:cNvPr id="104" name="103 CuadroTexto"/>
          <p:cNvSpPr txBox="1"/>
          <p:nvPr/>
        </p:nvSpPr>
        <p:spPr>
          <a:xfrm>
            <a:off x="4832950" y="4728855"/>
            <a:ext cx="1470274" cy="210738"/>
          </a:xfrm>
          <a:prstGeom prst="rect">
            <a:avLst/>
          </a:prstGeom>
          <a:noFill/>
        </p:spPr>
        <p:txBody>
          <a:bodyPr wrap="none" rtlCol="0">
            <a:spAutoFit/>
          </a:bodyPr>
          <a:lstStyle/>
          <a:p>
            <a:pPr marL="171450" indent="-171450">
              <a:buFont typeface="Arial" panose="020B0604020202020204" pitchFamily="34" charset="0"/>
              <a:buChar char="•"/>
            </a:pPr>
            <a:r>
              <a:rPr lang="es-ES" sz="900" dirty="0">
                <a:latin typeface="Avenir 35" panose="00000400000000000000" pitchFamily="2" charset="0"/>
              </a:rPr>
              <a:t>Gestión de Encuestas</a:t>
            </a:r>
          </a:p>
        </p:txBody>
      </p:sp>
      <p:sp>
        <p:nvSpPr>
          <p:cNvPr id="105" name="104 CuadroTexto"/>
          <p:cNvSpPr txBox="1"/>
          <p:nvPr/>
        </p:nvSpPr>
        <p:spPr>
          <a:xfrm>
            <a:off x="3403325" y="5579828"/>
            <a:ext cx="3215413" cy="210738"/>
          </a:xfrm>
          <a:prstGeom prst="rect">
            <a:avLst/>
          </a:prstGeom>
          <a:noFill/>
        </p:spPr>
        <p:txBody>
          <a:bodyPr wrap="square" rtlCol="0">
            <a:spAutoFit/>
          </a:bodyPr>
          <a:lstStyle/>
          <a:p>
            <a:r>
              <a:rPr lang="es-ES" sz="900" dirty="0">
                <a:latin typeface="Avenir 35" panose="00000400000000000000" pitchFamily="2" charset="0"/>
              </a:rPr>
              <a:t>Gestión de datos a través de Filesystem y servidores SQL</a:t>
            </a:r>
          </a:p>
        </p:txBody>
      </p:sp>
      <p:sp>
        <p:nvSpPr>
          <p:cNvPr id="106" name="105 CuadroTexto"/>
          <p:cNvSpPr txBox="1"/>
          <p:nvPr/>
        </p:nvSpPr>
        <p:spPr>
          <a:xfrm>
            <a:off x="3403325" y="5942612"/>
            <a:ext cx="3215413" cy="210738"/>
          </a:xfrm>
          <a:prstGeom prst="rect">
            <a:avLst/>
          </a:prstGeom>
          <a:noFill/>
        </p:spPr>
        <p:txBody>
          <a:bodyPr wrap="square" rtlCol="0">
            <a:spAutoFit/>
          </a:bodyPr>
          <a:lstStyle/>
          <a:p>
            <a:r>
              <a:rPr lang="es-ES" sz="900" dirty="0">
                <a:latin typeface="Avenir 35" panose="00000400000000000000" pitchFamily="2" charset="0"/>
              </a:rPr>
              <a:t>Utilización de ficheros especificados en mapa de sistemas</a:t>
            </a:r>
          </a:p>
        </p:txBody>
      </p:sp>
      <p:sp>
        <p:nvSpPr>
          <p:cNvPr id="107" name="106 CuadroTexto"/>
          <p:cNvSpPr txBox="1"/>
          <p:nvPr/>
        </p:nvSpPr>
        <p:spPr>
          <a:xfrm>
            <a:off x="3403325" y="6286733"/>
            <a:ext cx="3545528" cy="230832"/>
          </a:xfrm>
          <a:prstGeom prst="rect">
            <a:avLst/>
          </a:prstGeom>
          <a:noFill/>
        </p:spPr>
        <p:txBody>
          <a:bodyPr wrap="square" rtlCol="0">
            <a:spAutoFit/>
          </a:bodyPr>
          <a:lstStyle/>
          <a:p>
            <a:r>
              <a:rPr lang="es-ES" sz="900" dirty="0">
                <a:latin typeface="Avenir 35" panose="00000400000000000000" pitchFamily="2" charset="0"/>
              </a:rPr>
              <a:t>Workflows de actuación para Grupo VI, BANCO, Call Centers  y dealers</a:t>
            </a:r>
          </a:p>
        </p:txBody>
      </p:sp>
      <p:pic>
        <p:nvPicPr>
          <p:cNvPr id="46082" name="Picture 2" descr="https://partners.salesforce.com/s/2015sf_MarketingCloud_logo_RGB.png?v=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545288" y="1867615"/>
            <a:ext cx="1454057" cy="360000"/>
          </a:xfrm>
          <a:prstGeom prst="rect">
            <a:avLst/>
          </a:prstGeom>
          <a:noFill/>
          <a:extLst>
            <a:ext uri="{909E8E84-426E-40DD-AFC4-6F175D3DCCD1}">
              <a14:hiddenFill xmlns:a14="http://schemas.microsoft.com/office/drawing/2010/main">
                <a:solidFill>
                  <a:srgbClr val="FFFFFF"/>
                </a:solidFill>
              </a14:hiddenFill>
            </a:ext>
          </a:extLst>
        </p:spPr>
      </p:pic>
      <p:sp>
        <p:nvSpPr>
          <p:cNvPr id="42"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13</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4185943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16 Rectángulo"/>
          <p:cNvSpPr/>
          <p:nvPr/>
        </p:nvSpPr>
        <p:spPr>
          <a:xfrm>
            <a:off x="604033" y="844092"/>
            <a:ext cx="8660260" cy="420051"/>
          </a:xfrm>
          <a:prstGeom prst="rect">
            <a:avLst/>
          </a:prstGeom>
        </p:spPr>
        <p:txBody>
          <a:bodyPr lIns="92583" tIns="46292" rIns="92583" bIns="46292" anchor="ctr">
            <a:normAutofit/>
          </a:bodyPr>
          <a:lstStyle/>
          <a:p>
            <a:pPr algn="ctr" defTabSz="925830" eaLnBrk="0" fontAlgn="base" hangingPunct="0">
              <a:lnSpc>
                <a:spcPct val="110000"/>
              </a:lnSpc>
              <a:spcBef>
                <a:spcPct val="30000"/>
              </a:spcBef>
              <a:spcAft>
                <a:spcPct val="0"/>
              </a:spcAft>
            </a:pPr>
            <a:r>
              <a:rPr lang="es-ES" sz="1000" dirty="0">
                <a:solidFill>
                  <a:srgbClr val="323232"/>
                </a:solidFill>
                <a:latin typeface="Avenir 35" panose="00000400000000000000" pitchFamily="2" charset="0"/>
              </a:rPr>
              <a:t>Limpiar, de-duplicar y enriquecer son las claves para obtener datos de calidad, siempre con una visión global y con el cliente en el centro</a:t>
            </a: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DEPURAR</a:t>
            </a:r>
            <a:endParaRPr lang="es-ES" sz="1400" b="1" dirty="0">
              <a:solidFill>
                <a:srgbClr val="323232"/>
              </a:solidFill>
              <a:latin typeface="Avenir 35" panose="00000400000000000000" pitchFamily="2" charset="0"/>
            </a:endParaRPr>
          </a:p>
        </p:txBody>
      </p:sp>
      <p:sp>
        <p:nvSpPr>
          <p:cNvPr id="10"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s-ES" dirty="0">
                <a:solidFill>
                  <a:srgbClr val="323232"/>
                </a:solidFill>
                <a:latin typeface="Avenir 35" panose="00000400000000000000" pitchFamily="2" charset="0"/>
              </a:rPr>
              <a:t>Nuestra Visión</a:t>
            </a:r>
          </a:p>
          <a:p>
            <a:endParaRPr lang="es-ES" dirty="0">
              <a:solidFill>
                <a:srgbClr val="323232"/>
              </a:solidFill>
              <a:latin typeface="Avenir 35" panose="00000400000000000000" pitchFamily="2" charset="0"/>
            </a:endParaRPr>
          </a:p>
        </p:txBody>
      </p:sp>
      <p:sp>
        <p:nvSpPr>
          <p:cNvPr id="47" name="Oval 22"/>
          <p:cNvSpPr/>
          <p:nvPr/>
        </p:nvSpPr>
        <p:spPr>
          <a:xfrm>
            <a:off x="7142152" y="1484784"/>
            <a:ext cx="648000" cy="648000"/>
          </a:xfrm>
          <a:prstGeom prst="ellipse">
            <a:avLst/>
          </a:prstGeom>
          <a:solidFill>
            <a:srgbClr val="3CB2C3"/>
          </a:solidFill>
          <a:ln w="25400" cap="flat" cmpd="sng" algn="ctr">
            <a:noFill/>
            <a:prstDash val="solid"/>
          </a:ln>
          <a:effectLst/>
        </p:spPr>
        <p:txBody>
          <a:bodyPr lIns="0" rIns="0" rtlCol="0" anchor="ctr"/>
          <a:lstStyle/>
          <a:p>
            <a:pPr algn="ctr"/>
            <a:endParaRPr lang="es-ES" sz="2000" b="1" kern="0" dirty="0">
              <a:solidFill>
                <a:prstClr val="white"/>
              </a:solidFill>
              <a:effectLst>
                <a:outerShdw blurRad="38100" dist="38100" dir="2700000" algn="tl">
                  <a:srgbClr val="000000">
                    <a:alpha val="43137"/>
                  </a:srgbClr>
                </a:outerShdw>
              </a:effectLst>
              <a:latin typeface="Calibri"/>
            </a:endParaRPr>
          </a:p>
        </p:txBody>
      </p:sp>
      <p:sp>
        <p:nvSpPr>
          <p:cNvPr id="48" name="TextBox 25"/>
          <p:cNvSpPr txBox="1"/>
          <p:nvPr/>
        </p:nvSpPr>
        <p:spPr>
          <a:xfrm>
            <a:off x="6302036" y="2623015"/>
            <a:ext cx="2328232" cy="3693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Asegurar la calidad de datos gracias a herramientas específicas </a:t>
            </a:r>
            <a:endParaRPr lang="es-ES" sz="900" b="1" dirty="0">
              <a:solidFill>
                <a:schemeClr val="bg1">
                  <a:lumMod val="50000"/>
                </a:schemeClr>
              </a:solidFill>
              <a:latin typeface="Avenir 35" panose="00000400000000000000" pitchFamily="2" charset="0"/>
            </a:endParaRPr>
          </a:p>
        </p:txBody>
      </p:sp>
      <p:sp>
        <p:nvSpPr>
          <p:cNvPr id="49" name="Oval 22"/>
          <p:cNvSpPr/>
          <p:nvPr/>
        </p:nvSpPr>
        <p:spPr>
          <a:xfrm>
            <a:off x="7142152" y="3158144"/>
            <a:ext cx="648000" cy="648000"/>
          </a:xfrm>
          <a:prstGeom prst="ellipse">
            <a:avLst/>
          </a:prstGeom>
          <a:solidFill>
            <a:srgbClr val="3CB2C3"/>
          </a:solidFill>
          <a:ln w="25400" cap="flat" cmpd="sng" algn="ctr">
            <a:noFill/>
            <a:prstDash val="solid"/>
          </a:ln>
          <a:effectLst/>
        </p:spPr>
        <p:txBody>
          <a:bodyPr lIns="0" rIns="0" rtlCol="0" anchor="ctr"/>
          <a:lstStyle/>
          <a:p>
            <a:pPr algn="ctr"/>
            <a:endParaRPr lang="es-ES" sz="2000" b="1" kern="0" dirty="0">
              <a:solidFill>
                <a:schemeClr val="bg1"/>
              </a:solidFill>
              <a:effectLst>
                <a:outerShdw blurRad="38100" dist="38100" dir="2700000" algn="tl">
                  <a:srgbClr val="000000">
                    <a:alpha val="43137"/>
                  </a:srgbClr>
                </a:outerShdw>
              </a:effectLst>
              <a:latin typeface="Calibri"/>
            </a:endParaRPr>
          </a:p>
        </p:txBody>
      </p:sp>
      <p:sp>
        <p:nvSpPr>
          <p:cNvPr id="50" name="TextBox 25"/>
          <p:cNvSpPr txBox="1"/>
          <p:nvPr/>
        </p:nvSpPr>
        <p:spPr>
          <a:xfrm>
            <a:off x="6302036" y="4102966"/>
            <a:ext cx="2328232" cy="369332"/>
          </a:xfrm>
          <a:prstGeom prst="rect">
            <a:avLst/>
          </a:prstGeom>
          <a:noFill/>
        </p:spPr>
        <p:txBody>
          <a:bodyPr wrap="square" rtlCol="0">
            <a:spAutoFit/>
          </a:bodyPr>
          <a:lstStyle/>
          <a:p>
            <a:pPr defTabSz="914400">
              <a:defRPr/>
            </a:pPr>
            <a:r>
              <a:rPr lang="es-ES" sz="900" dirty="0">
                <a:solidFill>
                  <a:schemeClr val="bg1">
                    <a:lumMod val="50000"/>
                  </a:schemeClr>
                </a:solidFill>
                <a:latin typeface="Avenir 35" panose="00000400000000000000" pitchFamily="2" charset="0"/>
              </a:rPr>
              <a:t>Proporcionar valor añadido a los datos para su utilización en futuras campañas</a:t>
            </a:r>
            <a:endParaRPr lang="es-ES" sz="900" b="1" dirty="0">
              <a:solidFill>
                <a:schemeClr val="bg1">
                  <a:lumMod val="50000"/>
                </a:schemeClr>
              </a:solidFill>
              <a:latin typeface="Avenir 35" panose="00000400000000000000" pitchFamily="2" charset="0"/>
            </a:endParaRPr>
          </a:p>
        </p:txBody>
      </p:sp>
      <p:sp>
        <p:nvSpPr>
          <p:cNvPr id="51" name="TextBox 26"/>
          <p:cNvSpPr txBox="1"/>
          <p:nvPr/>
        </p:nvSpPr>
        <p:spPr>
          <a:xfrm>
            <a:off x="6350028" y="3861048"/>
            <a:ext cx="2232248"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ENRIQUECER DATOS</a:t>
            </a:r>
          </a:p>
        </p:txBody>
      </p:sp>
      <p:sp>
        <p:nvSpPr>
          <p:cNvPr id="52" name="TextBox 26"/>
          <p:cNvSpPr txBox="1"/>
          <p:nvPr/>
        </p:nvSpPr>
        <p:spPr>
          <a:xfrm>
            <a:off x="6422036" y="2293422"/>
            <a:ext cx="2088232" cy="415498"/>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HERRAMIENTAS DE ESTADO DE BB.DD.</a:t>
            </a:r>
          </a:p>
        </p:txBody>
      </p:sp>
      <p:sp>
        <p:nvSpPr>
          <p:cNvPr id="53" name="Oval 22"/>
          <p:cNvSpPr/>
          <p:nvPr/>
        </p:nvSpPr>
        <p:spPr>
          <a:xfrm>
            <a:off x="7142152" y="4742391"/>
            <a:ext cx="648000" cy="648000"/>
          </a:xfrm>
          <a:prstGeom prst="ellipse">
            <a:avLst/>
          </a:prstGeom>
          <a:solidFill>
            <a:srgbClr val="3CB2C3"/>
          </a:solidFill>
          <a:ln w="25400" cap="flat" cmpd="sng" algn="ctr">
            <a:noFill/>
            <a:prstDash val="solid"/>
          </a:ln>
          <a:effectLst/>
        </p:spPr>
        <p:txBody>
          <a:bodyPr lIns="0" rIns="0" rtlCol="0" anchor="ctr"/>
          <a:lstStyle/>
          <a:p>
            <a:pPr algn="ctr"/>
            <a:endParaRPr lang="es-ES" sz="2000" b="1" kern="0" dirty="0">
              <a:solidFill>
                <a:schemeClr val="bg1"/>
              </a:solidFill>
              <a:effectLst>
                <a:outerShdw blurRad="38100" dist="38100" dir="2700000" algn="tl">
                  <a:srgbClr val="000000">
                    <a:alpha val="43137"/>
                  </a:srgbClr>
                </a:outerShdw>
              </a:effectLst>
              <a:latin typeface="Calibri"/>
            </a:endParaRPr>
          </a:p>
        </p:txBody>
      </p:sp>
      <p:sp>
        <p:nvSpPr>
          <p:cNvPr id="54" name="TextBox 25"/>
          <p:cNvSpPr txBox="1"/>
          <p:nvPr/>
        </p:nvSpPr>
        <p:spPr>
          <a:xfrm>
            <a:off x="6422038" y="5866843"/>
            <a:ext cx="2088231" cy="507831"/>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Poner a disposición de todo el negocio datos de calidad que provienen de una única fuente</a:t>
            </a:r>
          </a:p>
        </p:txBody>
      </p:sp>
      <p:sp>
        <p:nvSpPr>
          <p:cNvPr id="55" name="TextBox 26"/>
          <p:cNvSpPr txBox="1"/>
          <p:nvPr/>
        </p:nvSpPr>
        <p:spPr>
          <a:xfrm>
            <a:off x="6647884" y="5466822"/>
            <a:ext cx="1636541" cy="415498"/>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COMPARTIR DATOS DEPURADOS</a:t>
            </a:r>
          </a:p>
        </p:txBody>
      </p:sp>
      <p:grpSp>
        <p:nvGrpSpPr>
          <p:cNvPr id="56" name="55 Grupo"/>
          <p:cNvGrpSpPr/>
          <p:nvPr/>
        </p:nvGrpSpPr>
        <p:grpSpPr>
          <a:xfrm>
            <a:off x="1131184" y="2132856"/>
            <a:ext cx="4109851" cy="3115949"/>
            <a:chOff x="1131182" y="2132856"/>
            <a:chExt cx="4109851" cy="3115949"/>
          </a:xfrm>
        </p:grpSpPr>
        <p:sp>
          <p:nvSpPr>
            <p:cNvPr id="57" name="Freeform 6"/>
            <p:cNvSpPr>
              <a:spLocks/>
            </p:cNvSpPr>
            <p:nvPr/>
          </p:nvSpPr>
          <p:spPr bwMode="auto">
            <a:xfrm>
              <a:off x="1495514" y="2132856"/>
              <a:ext cx="1968103" cy="1541860"/>
            </a:xfrm>
            <a:custGeom>
              <a:avLst/>
              <a:gdLst>
                <a:gd name="T0" fmla="*/ 3 w 227"/>
                <a:gd name="T1" fmla="*/ 68 h 178"/>
                <a:gd name="T2" fmla="*/ 112 w 227"/>
                <a:gd name="T3" fmla="*/ 178 h 178"/>
                <a:gd name="T4" fmla="*/ 227 w 227"/>
                <a:gd name="T5" fmla="*/ 63 h 178"/>
                <a:gd name="T6" fmla="*/ 3 w 227"/>
                <a:gd name="T7" fmla="*/ 58 h 178"/>
                <a:gd name="T8" fmla="*/ 3 w 227"/>
                <a:gd name="T9" fmla="*/ 68 h 178"/>
              </a:gdLst>
              <a:ahLst/>
              <a:cxnLst>
                <a:cxn ang="0">
                  <a:pos x="T0" y="T1"/>
                </a:cxn>
                <a:cxn ang="0">
                  <a:pos x="T2" y="T3"/>
                </a:cxn>
                <a:cxn ang="0">
                  <a:pos x="T4" y="T5"/>
                </a:cxn>
                <a:cxn ang="0">
                  <a:pos x="T6" y="T7"/>
                </a:cxn>
                <a:cxn ang="0">
                  <a:pos x="T8" y="T9"/>
                </a:cxn>
              </a:cxnLst>
              <a:rect l="0" t="0" r="r" b="b"/>
              <a:pathLst>
                <a:path w="227" h="178">
                  <a:moveTo>
                    <a:pt x="3" y="68"/>
                  </a:moveTo>
                  <a:cubicBezTo>
                    <a:pt x="112" y="178"/>
                    <a:pt x="112" y="178"/>
                    <a:pt x="112" y="178"/>
                  </a:cubicBezTo>
                  <a:cubicBezTo>
                    <a:pt x="227" y="63"/>
                    <a:pt x="227" y="63"/>
                    <a:pt x="227" y="63"/>
                  </a:cubicBezTo>
                  <a:cubicBezTo>
                    <a:pt x="166" y="1"/>
                    <a:pt x="67" y="0"/>
                    <a:pt x="3" y="58"/>
                  </a:cubicBezTo>
                  <a:cubicBezTo>
                    <a:pt x="0" y="60"/>
                    <a:pt x="0" y="65"/>
                    <a:pt x="3" y="68"/>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58" name="Freeform 8"/>
            <p:cNvSpPr>
              <a:spLocks/>
            </p:cNvSpPr>
            <p:nvPr/>
          </p:nvSpPr>
          <p:spPr bwMode="auto">
            <a:xfrm>
              <a:off x="2761148" y="2600771"/>
              <a:ext cx="1369219" cy="1801416"/>
            </a:xfrm>
            <a:custGeom>
              <a:avLst/>
              <a:gdLst>
                <a:gd name="T0" fmla="*/ 87 w 158"/>
                <a:gd name="T1" fmla="*/ 3 h 208"/>
                <a:gd name="T2" fmla="*/ 0 w 158"/>
                <a:gd name="T3" fmla="*/ 90 h 208"/>
                <a:gd name="T4" fmla="*/ 114 w 158"/>
                <a:gd name="T5" fmla="*/ 205 h 208"/>
                <a:gd name="T6" fmla="*/ 126 w 158"/>
                <a:gd name="T7" fmla="*/ 203 h 208"/>
                <a:gd name="T8" fmla="*/ 98 w 158"/>
                <a:gd name="T9" fmla="*/ 3 h 208"/>
                <a:gd name="T10" fmla="*/ 87 w 158"/>
                <a:gd name="T11" fmla="*/ 3 h 208"/>
              </a:gdLst>
              <a:ahLst/>
              <a:cxnLst>
                <a:cxn ang="0">
                  <a:pos x="T0" y="T1"/>
                </a:cxn>
                <a:cxn ang="0">
                  <a:pos x="T2" y="T3"/>
                </a:cxn>
                <a:cxn ang="0">
                  <a:pos x="T4" y="T5"/>
                </a:cxn>
                <a:cxn ang="0">
                  <a:pos x="T6" y="T7"/>
                </a:cxn>
                <a:cxn ang="0">
                  <a:pos x="T8" y="T9"/>
                </a:cxn>
                <a:cxn ang="0">
                  <a:pos x="T10" y="T11"/>
                </a:cxn>
              </a:cxnLst>
              <a:rect l="0" t="0" r="r" b="b"/>
              <a:pathLst>
                <a:path w="158" h="208">
                  <a:moveTo>
                    <a:pt x="87" y="3"/>
                  </a:moveTo>
                  <a:cubicBezTo>
                    <a:pt x="0" y="90"/>
                    <a:pt x="0" y="90"/>
                    <a:pt x="0" y="90"/>
                  </a:cubicBezTo>
                  <a:cubicBezTo>
                    <a:pt x="114" y="205"/>
                    <a:pt x="114" y="205"/>
                    <a:pt x="114" y="205"/>
                  </a:cubicBezTo>
                  <a:cubicBezTo>
                    <a:pt x="118" y="208"/>
                    <a:pt x="124" y="207"/>
                    <a:pt x="126" y="203"/>
                  </a:cubicBezTo>
                  <a:cubicBezTo>
                    <a:pt x="158" y="138"/>
                    <a:pt x="148" y="59"/>
                    <a:pt x="98" y="3"/>
                  </a:cubicBezTo>
                  <a:cubicBezTo>
                    <a:pt x="95" y="0"/>
                    <a:pt x="90" y="0"/>
                    <a:pt x="87" y="3"/>
                  </a:cubicBezTo>
                  <a:close/>
                </a:path>
              </a:pathLst>
            </a:custGeom>
            <a:solidFill>
              <a:srgbClr val="3CB2C3"/>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59" name="Freeform 9"/>
            <p:cNvSpPr>
              <a:spLocks/>
            </p:cNvSpPr>
            <p:nvPr/>
          </p:nvSpPr>
          <p:spPr bwMode="auto">
            <a:xfrm>
              <a:off x="2180122" y="3379440"/>
              <a:ext cx="1473994" cy="1472804"/>
            </a:xfrm>
            <a:custGeom>
              <a:avLst/>
              <a:gdLst>
                <a:gd name="T0" fmla="*/ 0 w 170"/>
                <a:gd name="T1" fmla="*/ 67 h 170"/>
                <a:gd name="T2" fmla="*/ 103 w 170"/>
                <a:gd name="T3" fmla="*/ 170 h 170"/>
                <a:gd name="T4" fmla="*/ 142 w 170"/>
                <a:gd name="T5" fmla="*/ 142 h 170"/>
                <a:gd name="T6" fmla="*/ 170 w 170"/>
                <a:gd name="T7" fmla="*/ 103 h 170"/>
                <a:gd name="T8" fmla="*/ 67 w 170"/>
                <a:gd name="T9" fmla="*/ 0 h 170"/>
                <a:gd name="T10" fmla="*/ 0 w 170"/>
                <a:gd name="T11" fmla="*/ 67 h 170"/>
              </a:gdLst>
              <a:ahLst/>
              <a:cxnLst>
                <a:cxn ang="0">
                  <a:pos x="T0" y="T1"/>
                </a:cxn>
                <a:cxn ang="0">
                  <a:pos x="T2" y="T3"/>
                </a:cxn>
                <a:cxn ang="0">
                  <a:pos x="T4" y="T5"/>
                </a:cxn>
                <a:cxn ang="0">
                  <a:pos x="T6" y="T7"/>
                </a:cxn>
                <a:cxn ang="0">
                  <a:pos x="T8" y="T9"/>
                </a:cxn>
                <a:cxn ang="0">
                  <a:pos x="T10" y="T11"/>
                </a:cxn>
              </a:cxnLst>
              <a:rect l="0" t="0" r="r" b="b"/>
              <a:pathLst>
                <a:path w="170" h="170">
                  <a:moveTo>
                    <a:pt x="0" y="67"/>
                  </a:moveTo>
                  <a:cubicBezTo>
                    <a:pt x="103" y="170"/>
                    <a:pt x="103" y="170"/>
                    <a:pt x="103" y="170"/>
                  </a:cubicBezTo>
                  <a:cubicBezTo>
                    <a:pt x="117" y="163"/>
                    <a:pt x="130" y="153"/>
                    <a:pt x="142" y="142"/>
                  </a:cubicBezTo>
                  <a:cubicBezTo>
                    <a:pt x="153" y="130"/>
                    <a:pt x="163" y="117"/>
                    <a:pt x="170" y="103"/>
                  </a:cubicBezTo>
                  <a:cubicBezTo>
                    <a:pt x="67" y="0"/>
                    <a:pt x="67" y="0"/>
                    <a:pt x="67" y="0"/>
                  </a:cubicBezTo>
                  <a:lnTo>
                    <a:pt x="0" y="67"/>
                  </a:ln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60" name="Freeform 7"/>
            <p:cNvSpPr>
              <a:spLocks/>
            </p:cNvSpPr>
            <p:nvPr/>
          </p:nvSpPr>
          <p:spPr bwMode="auto">
            <a:xfrm>
              <a:off x="1453760" y="3949833"/>
              <a:ext cx="1716881" cy="1298972"/>
            </a:xfrm>
            <a:custGeom>
              <a:avLst/>
              <a:gdLst>
                <a:gd name="T0" fmla="*/ 3 w 198"/>
                <a:gd name="T1" fmla="*/ 93 h 150"/>
                <a:gd name="T2" fmla="*/ 192 w 198"/>
                <a:gd name="T3" fmla="*/ 121 h 150"/>
                <a:gd name="T4" fmla="*/ 194 w 198"/>
                <a:gd name="T5" fmla="*/ 109 h 150"/>
                <a:gd name="T6" fmla="*/ 85 w 198"/>
                <a:gd name="T7" fmla="*/ 0 h 150"/>
                <a:gd name="T8" fmla="*/ 3 w 198"/>
                <a:gd name="T9" fmla="*/ 82 h 150"/>
                <a:gd name="T10" fmla="*/ 3 w 198"/>
                <a:gd name="T11" fmla="*/ 93 h 150"/>
              </a:gdLst>
              <a:ahLst/>
              <a:cxnLst>
                <a:cxn ang="0">
                  <a:pos x="T0" y="T1"/>
                </a:cxn>
                <a:cxn ang="0">
                  <a:pos x="T2" y="T3"/>
                </a:cxn>
                <a:cxn ang="0">
                  <a:pos x="T4" y="T5"/>
                </a:cxn>
                <a:cxn ang="0">
                  <a:pos x="T6" y="T7"/>
                </a:cxn>
                <a:cxn ang="0">
                  <a:pos x="T8" y="T9"/>
                </a:cxn>
                <a:cxn ang="0">
                  <a:pos x="T10" y="T11"/>
                </a:cxn>
              </a:cxnLst>
              <a:rect l="0" t="0" r="r" b="b"/>
              <a:pathLst>
                <a:path w="198" h="150">
                  <a:moveTo>
                    <a:pt x="3" y="93"/>
                  </a:moveTo>
                  <a:cubicBezTo>
                    <a:pt x="56" y="141"/>
                    <a:pt x="131" y="150"/>
                    <a:pt x="192" y="121"/>
                  </a:cubicBezTo>
                  <a:cubicBezTo>
                    <a:pt x="196" y="119"/>
                    <a:pt x="198" y="113"/>
                    <a:pt x="194" y="109"/>
                  </a:cubicBezTo>
                  <a:cubicBezTo>
                    <a:pt x="85" y="0"/>
                    <a:pt x="85" y="0"/>
                    <a:pt x="85" y="0"/>
                  </a:cubicBezTo>
                  <a:cubicBezTo>
                    <a:pt x="3" y="82"/>
                    <a:pt x="3" y="82"/>
                    <a:pt x="3" y="82"/>
                  </a:cubicBezTo>
                  <a:cubicBezTo>
                    <a:pt x="0" y="85"/>
                    <a:pt x="0" y="90"/>
                    <a:pt x="3" y="93"/>
                  </a:cubicBez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61" name="Freeform 5"/>
            <p:cNvSpPr>
              <a:spLocks/>
            </p:cNvSpPr>
            <p:nvPr/>
          </p:nvSpPr>
          <p:spPr bwMode="auto">
            <a:xfrm>
              <a:off x="1131182" y="2807940"/>
              <a:ext cx="1334690" cy="1724026"/>
            </a:xfrm>
            <a:custGeom>
              <a:avLst/>
              <a:gdLst>
                <a:gd name="T0" fmla="*/ 55 w 154"/>
                <a:gd name="T1" fmla="*/ 199 h 199"/>
                <a:gd name="T2" fmla="*/ 154 w 154"/>
                <a:gd name="T3" fmla="*/ 100 h 199"/>
                <a:gd name="T4" fmla="*/ 55 w 154"/>
                <a:gd name="T5" fmla="*/ 0 h 199"/>
                <a:gd name="T6" fmla="*/ 55 w 154"/>
                <a:gd name="T7" fmla="*/ 199 h 199"/>
              </a:gdLst>
              <a:ahLst/>
              <a:cxnLst>
                <a:cxn ang="0">
                  <a:pos x="T0" y="T1"/>
                </a:cxn>
                <a:cxn ang="0">
                  <a:pos x="T2" y="T3"/>
                </a:cxn>
                <a:cxn ang="0">
                  <a:pos x="T4" y="T5"/>
                </a:cxn>
                <a:cxn ang="0">
                  <a:pos x="T6" y="T7"/>
                </a:cxn>
              </a:cxnLst>
              <a:rect l="0" t="0" r="r" b="b"/>
              <a:pathLst>
                <a:path w="154" h="199">
                  <a:moveTo>
                    <a:pt x="55" y="199"/>
                  </a:moveTo>
                  <a:cubicBezTo>
                    <a:pt x="154" y="100"/>
                    <a:pt x="154" y="100"/>
                    <a:pt x="154" y="100"/>
                  </a:cubicBezTo>
                  <a:cubicBezTo>
                    <a:pt x="55" y="0"/>
                    <a:pt x="55" y="0"/>
                    <a:pt x="55" y="0"/>
                  </a:cubicBezTo>
                  <a:cubicBezTo>
                    <a:pt x="0" y="55"/>
                    <a:pt x="0" y="144"/>
                    <a:pt x="55" y="199"/>
                  </a:cubicBez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62" name="Freeform 11"/>
            <p:cNvSpPr/>
            <p:nvPr/>
          </p:nvSpPr>
          <p:spPr>
            <a:xfrm>
              <a:off x="3486558" y="2604968"/>
              <a:ext cx="1754475" cy="423761"/>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noFill/>
            <a:ln w="6350" cap="flat" cmpd="sng" algn="ctr">
              <a:solidFill>
                <a:srgbClr val="0097B7">
                  <a:alpha val="50000"/>
                </a:srgbClr>
              </a:solidFill>
              <a:prstDash val="solid"/>
              <a:miter lim="800000"/>
              <a:headEnd type="none"/>
              <a:tailEnd type="oval" w="lg" len="lg"/>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445469"/>
                </a:solidFill>
                <a:effectLst/>
                <a:uLnTx/>
                <a:uFillTx/>
                <a:latin typeface="Roboto Regular" charset="0"/>
              </a:endParaRPr>
            </a:p>
          </p:txBody>
        </p:sp>
        <p:sp>
          <p:nvSpPr>
            <p:cNvPr id="63" name="TextBox 12"/>
            <p:cNvSpPr txBox="1"/>
            <p:nvPr/>
          </p:nvSpPr>
          <p:spPr>
            <a:xfrm>
              <a:off x="4016262" y="2354928"/>
              <a:ext cx="962150" cy="485774"/>
            </a:xfrm>
            <a:prstGeom prst="rect">
              <a:avLst/>
            </a:prstGeom>
            <a:noFill/>
          </p:spPr>
          <p:txBody>
            <a:bodyPr wrap="square" lIns="91440" rIns="91440" rtlCol="0">
              <a:spAutoFit/>
            </a:bodyPr>
            <a:lstStyle/>
            <a:p>
              <a:pPr algn="ctr">
                <a:lnSpc>
                  <a:spcPct val="90000"/>
                </a:lnSpc>
                <a:spcBef>
                  <a:spcPts val="800"/>
                </a:spcBef>
              </a:pPr>
              <a:r>
                <a:rPr lang="en-US" sz="1200" b="1" dirty="0">
                  <a:solidFill>
                    <a:schemeClr val="bg1"/>
                  </a:solidFill>
                  <a:latin typeface="Avenir 65" panose="02000600000000000000" pitchFamily="2" charset="0"/>
                </a:rPr>
                <a:t>DEPURAR</a:t>
              </a:r>
            </a:p>
            <a:p>
              <a:pPr algn="ctr">
                <a:lnSpc>
                  <a:spcPct val="90000"/>
                </a:lnSpc>
                <a:spcBef>
                  <a:spcPts val="800"/>
                </a:spcBef>
              </a:pPr>
              <a:r>
                <a:rPr lang="en-US" sz="900" b="1" dirty="0">
                  <a:solidFill>
                    <a:schemeClr val="bg1"/>
                  </a:solidFill>
                  <a:latin typeface="Avenir 35" panose="00000400000000000000" pitchFamily="2" charset="0"/>
                </a:rPr>
                <a:t> </a:t>
              </a:r>
            </a:p>
          </p:txBody>
        </p:sp>
        <p:sp>
          <p:nvSpPr>
            <p:cNvPr id="64" name="63 Rectángulo"/>
            <p:cNvSpPr/>
            <p:nvPr/>
          </p:nvSpPr>
          <p:spPr>
            <a:xfrm>
              <a:off x="2303971" y="2675143"/>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01</a:t>
              </a:r>
            </a:p>
          </p:txBody>
        </p:sp>
        <p:sp>
          <p:nvSpPr>
            <p:cNvPr id="65" name="64 Rectángulo"/>
            <p:cNvSpPr/>
            <p:nvPr/>
          </p:nvSpPr>
          <p:spPr>
            <a:xfrm>
              <a:off x="3370229" y="3300621"/>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02</a:t>
              </a:r>
            </a:p>
          </p:txBody>
        </p:sp>
        <p:sp>
          <p:nvSpPr>
            <p:cNvPr id="66" name="65 Rectángulo"/>
            <p:cNvSpPr/>
            <p:nvPr/>
          </p:nvSpPr>
          <p:spPr>
            <a:xfrm>
              <a:off x="2821743" y="4115842"/>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03</a:t>
              </a:r>
            </a:p>
          </p:txBody>
        </p:sp>
        <p:sp>
          <p:nvSpPr>
            <p:cNvPr id="67" name="66 Rectángulo"/>
            <p:cNvSpPr/>
            <p:nvPr/>
          </p:nvSpPr>
          <p:spPr>
            <a:xfrm>
              <a:off x="2041339" y="4506647"/>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04</a:t>
              </a:r>
            </a:p>
          </p:txBody>
        </p:sp>
        <p:sp>
          <p:nvSpPr>
            <p:cNvPr id="68" name="67 Rectángulo"/>
            <p:cNvSpPr/>
            <p:nvPr/>
          </p:nvSpPr>
          <p:spPr>
            <a:xfrm>
              <a:off x="1347394" y="3509177"/>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05</a:t>
              </a:r>
            </a:p>
          </p:txBody>
        </p:sp>
        <p:sp>
          <p:nvSpPr>
            <p:cNvPr id="69" name="68 Elipse"/>
            <p:cNvSpPr/>
            <p:nvPr/>
          </p:nvSpPr>
          <p:spPr>
            <a:xfrm>
              <a:off x="2041339" y="3209382"/>
              <a:ext cx="952172" cy="9521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0" name="Rectangle 45"/>
            <p:cNvSpPr/>
            <p:nvPr/>
          </p:nvSpPr>
          <p:spPr>
            <a:xfrm>
              <a:off x="2123326" y="3388972"/>
              <a:ext cx="776276" cy="583227"/>
            </a:xfrm>
            <a:prstGeom prst="rect">
              <a:avLst/>
            </a:prstGeom>
            <a:no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chemeClr val="tx1">
                      <a:lumMod val="50000"/>
                      <a:lumOff val="50000"/>
                    </a:schemeClr>
                  </a:solidFill>
                  <a:effectLst/>
                  <a:uLnTx/>
                  <a:uFillTx/>
                  <a:latin typeface="Avenir 35" panose="00000400000000000000" pitchFamily="2" charset="0"/>
                </a:rPr>
                <a:t>Your</a:t>
              </a:r>
            </a:p>
            <a:p>
              <a:pPr marL="0" marR="0" lvl="0" indent="0" algn="ctr" defTabSz="914400" eaLnBrk="1" fontAlgn="auto" latinLnBrk="0" hangingPunct="1">
                <a:lnSpc>
                  <a:spcPct val="100000"/>
                </a:lnSpc>
                <a:spcBef>
                  <a:spcPts val="0"/>
                </a:spcBef>
                <a:spcAft>
                  <a:spcPts val="0"/>
                </a:spcAft>
                <a:buClrTx/>
                <a:buSzTx/>
                <a:buFontTx/>
                <a:buNone/>
                <a:tabLst/>
                <a:defRPr/>
              </a:pPr>
              <a:r>
                <a:rPr lang="en-US" sz="1600" kern="0" dirty="0">
                  <a:solidFill>
                    <a:schemeClr val="tx1">
                      <a:lumMod val="50000"/>
                      <a:lumOff val="50000"/>
                    </a:schemeClr>
                  </a:solidFill>
                  <a:latin typeface="Avenir 35" panose="00000400000000000000" pitchFamily="2" charset="0"/>
                </a:rPr>
                <a:t>Goals</a:t>
              </a:r>
              <a:endParaRPr kumimoji="0" lang="en-US" sz="1600" i="0" u="none" strike="noStrike" kern="0" cap="none" spc="0" normalizeH="0" baseline="0" dirty="0">
                <a:ln>
                  <a:noFill/>
                </a:ln>
                <a:solidFill>
                  <a:schemeClr val="tx1">
                    <a:lumMod val="50000"/>
                    <a:lumOff val="50000"/>
                  </a:schemeClr>
                </a:solidFill>
                <a:effectLst/>
                <a:uLnTx/>
                <a:uFillTx/>
                <a:latin typeface="Avenir 35" panose="00000400000000000000" pitchFamily="2" charset="0"/>
              </a:endParaRPr>
            </a:p>
          </p:txBody>
        </p:sp>
      </p:grpSp>
      <p:sp>
        <p:nvSpPr>
          <p:cNvPr id="71" name="Freeform 152"/>
          <p:cNvSpPr>
            <a:spLocks noEditPoints="1"/>
          </p:cNvSpPr>
          <p:nvPr/>
        </p:nvSpPr>
        <p:spPr bwMode="auto">
          <a:xfrm>
            <a:off x="7299815" y="1645774"/>
            <a:ext cx="332674" cy="326020"/>
          </a:xfrm>
          <a:custGeom>
            <a:avLst/>
            <a:gdLst>
              <a:gd name="T0" fmla="*/ 396 w 520"/>
              <a:gd name="T1" fmla="*/ 294 h 510"/>
              <a:gd name="T2" fmla="*/ 385 w 520"/>
              <a:gd name="T3" fmla="*/ 283 h 510"/>
              <a:gd name="T4" fmla="*/ 370 w 520"/>
              <a:gd name="T5" fmla="*/ 297 h 510"/>
              <a:gd name="T6" fmla="*/ 342 w 520"/>
              <a:gd name="T7" fmla="*/ 326 h 510"/>
              <a:gd name="T8" fmla="*/ 414 w 520"/>
              <a:gd name="T9" fmla="*/ 161 h 510"/>
              <a:gd name="T10" fmla="*/ 491 w 520"/>
              <a:gd name="T11" fmla="*/ 140 h 510"/>
              <a:gd name="T12" fmla="*/ 506 w 520"/>
              <a:gd name="T13" fmla="*/ 52 h 510"/>
              <a:gd name="T14" fmla="*/ 465 w 520"/>
              <a:gd name="T15" fmla="*/ 88 h 510"/>
              <a:gd name="T16" fmla="*/ 428 w 520"/>
              <a:gd name="T17" fmla="*/ 50 h 510"/>
              <a:gd name="T18" fmla="*/ 463 w 520"/>
              <a:gd name="T19" fmla="*/ 9 h 510"/>
              <a:gd name="T20" fmla="*/ 433 w 520"/>
              <a:gd name="T21" fmla="*/ 0 h 510"/>
              <a:gd name="T22" fmla="*/ 354 w 520"/>
              <a:gd name="T23" fmla="*/ 101 h 510"/>
              <a:gd name="T24" fmla="*/ 123 w 520"/>
              <a:gd name="T25" fmla="*/ 107 h 510"/>
              <a:gd name="T26" fmla="*/ 133 w 520"/>
              <a:gd name="T27" fmla="*/ 85 h 510"/>
              <a:gd name="T28" fmla="*/ 45 w 520"/>
              <a:gd name="T29" fmla="*/ 8 h 510"/>
              <a:gd name="T30" fmla="*/ 11 w 520"/>
              <a:gd name="T31" fmla="*/ 45 h 510"/>
              <a:gd name="T32" fmla="*/ 90 w 520"/>
              <a:gd name="T33" fmla="*/ 128 h 510"/>
              <a:gd name="T34" fmla="*/ 102 w 520"/>
              <a:gd name="T35" fmla="*/ 128 h 510"/>
              <a:gd name="T36" fmla="*/ 224 w 520"/>
              <a:gd name="T37" fmla="*/ 230 h 510"/>
              <a:gd name="T38" fmla="*/ 87 w 520"/>
              <a:gd name="T39" fmla="*/ 346 h 510"/>
              <a:gd name="T40" fmla="*/ 9 w 520"/>
              <a:gd name="T41" fmla="*/ 452 h 510"/>
              <a:gd name="T42" fmla="*/ 22 w 520"/>
              <a:gd name="T43" fmla="*/ 455 h 510"/>
              <a:gd name="T44" fmla="*/ 85 w 520"/>
              <a:gd name="T45" fmla="*/ 430 h 510"/>
              <a:gd name="T46" fmla="*/ 60 w 520"/>
              <a:gd name="T47" fmla="*/ 493 h 510"/>
              <a:gd name="T48" fmla="*/ 63 w 520"/>
              <a:gd name="T49" fmla="*/ 506 h 510"/>
              <a:gd name="T50" fmla="*/ 145 w 520"/>
              <a:gd name="T51" fmla="*/ 486 h 510"/>
              <a:gd name="T52" fmla="*/ 285 w 520"/>
              <a:gd name="T53" fmla="*/ 291 h 510"/>
              <a:gd name="T54" fmla="*/ 288 w 520"/>
              <a:gd name="T55" fmla="*/ 380 h 510"/>
              <a:gd name="T56" fmla="*/ 293 w 520"/>
              <a:gd name="T57" fmla="*/ 394 h 510"/>
              <a:gd name="T58" fmla="*/ 308 w 520"/>
              <a:gd name="T59" fmla="*/ 382 h 510"/>
              <a:gd name="T60" fmla="*/ 452 w 520"/>
              <a:gd name="T61" fmla="*/ 502 h 510"/>
              <a:gd name="T62" fmla="*/ 508 w 520"/>
              <a:gd name="T63" fmla="*/ 447 h 510"/>
              <a:gd name="T64" fmla="*/ 387 w 520"/>
              <a:gd name="T65" fmla="*/ 303 h 510"/>
              <a:gd name="T66" fmla="*/ 30 w 520"/>
              <a:gd name="T67" fmla="*/ 45 h 510"/>
              <a:gd name="T68" fmla="*/ 116 w 520"/>
              <a:gd name="T69" fmla="*/ 91 h 510"/>
              <a:gd name="T70" fmla="*/ 150 w 520"/>
              <a:gd name="T71" fmla="*/ 409 h 510"/>
              <a:gd name="T72" fmla="*/ 87 w 520"/>
              <a:gd name="T73" fmla="*/ 494 h 510"/>
              <a:gd name="T74" fmla="*/ 107 w 520"/>
              <a:gd name="T75" fmla="*/ 468 h 510"/>
              <a:gd name="T76" fmla="*/ 99 w 520"/>
              <a:gd name="T77" fmla="*/ 421 h 510"/>
              <a:gd name="T78" fmla="*/ 54 w 520"/>
              <a:gd name="T79" fmla="*/ 406 h 510"/>
              <a:gd name="T80" fmla="*/ 21 w 520"/>
              <a:gd name="T81" fmla="*/ 433 h 510"/>
              <a:gd name="T82" fmla="*/ 87 w 520"/>
              <a:gd name="T83" fmla="*/ 362 h 510"/>
              <a:gd name="T84" fmla="*/ 114 w 520"/>
              <a:gd name="T85" fmla="*/ 363 h 510"/>
              <a:gd name="T86" fmla="*/ 370 w 520"/>
              <a:gd name="T87" fmla="*/ 101 h 510"/>
              <a:gd name="T88" fmla="*/ 433 w 520"/>
              <a:gd name="T89" fmla="*/ 16 h 510"/>
              <a:gd name="T90" fmla="*/ 413 w 520"/>
              <a:gd name="T91" fmla="*/ 42 h 510"/>
              <a:gd name="T92" fmla="*/ 421 w 520"/>
              <a:gd name="T93" fmla="*/ 88 h 510"/>
              <a:gd name="T94" fmla="*/ 466 w 520"/>
              <a:gd name="T95" fmla="*/ 104 h 510"/>
              <a:gd name="T96" fmla="*/ 499 w 520"/>
              <a:gd name="T97" fmla="*/ 76 h 510"/>
              <a:gd name="T98" fmla="*/ 433 w 520"/>
              <a:gd name="T99" fmla="*/ 147 h 510"/>
              <a:gd name="T100" fmla="*/ 406 w 520"/>
              <a:gd name="T101" fmla="*/ 147 h 510"/>
              <a:gd name="T102" fmla="*/ 150 w 520"/>
              <a:gd name="T103" fmla="*/ 409 h 510"/>
              <a:gd name="T104" fmla="*/ 424 w 520"/>
              <a:gd name="T105" fmla="*/ 475 h 510"/>
              <a:gd name="T106" fmla="*/ 376 w 520"/>
              <a:gd name="T107" fmla="*/ 314 h 510"/>
              <a:gd name="T108" fmla="*/ 492 w 520"/>
              <a:gd name="T109" fmla="*/ 447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0" h="510">
                <a:moveTo>
                  <a:pt x="387" y="303"/>
                </a:moveTo>
                <a:cubicBezTo>
                  <a:pt x="396" y="294"/>
                  <a:pt x="396" y="294"/>
                  <a:pt x="396" y="294"/>
                </a:cubicBezTo>
                <a:cubicBezTo>
                  <a:pt x="399" y="291"/>
                  <a:pt x="399" y="286"/>
                  <a:pt x="396" y="283"/>
                </a:cubicBezTo>
                <a:cubicBezTo>
                  <a:pt x="393" y="279"/>
                  <a:pt x="388" y="279"/>
                  <a:pt x="385" y="283"/>
                </a:cubicBezTo>
                <a:cubicBezTo>
                  <a:pt x="370" y="297"/>
                  <a:pt x="370" y="297"/>
                  <a:pt x="370" y="297"/>
                </a:cubicBezTo>
                <a:cubicBezTo>
                  <a:pt x="370" y="297"/>
                  <a:pt x="370" y="297"/>
                  <a:pt x="370" y="297"/>
                </a:cubicBezTo>
                <a:cubicBezTo>
                  <a:pt x="370" y="297"/>
                  <a:pt x="370" y="297"/>
                  <a:pt x="370" y="297"/>
                </a:cubicBezTo>
                <a:cubicBezTo>
                  <a:pt x="342" y="326"/>
                  <a:pt x="342" y="326"/>
                  <a:pt x="342" y="326"/>
                </a:cubicBezTo>
                <a:cubicBezTo>
                  <a:pt x="296" y="280"/>
                  <a:pt x="296" y="280"/>
                  <a:pt x="296" y="280"/>
                </a:cubicBezTo>
                <a:cubicBezTo>
                  <a:pt x="414" y="161"/>
                  <a:pt x="414" y="161"/>
                  <a:pt x="414" y="161"/>
                </a:cubicBezTo>
                <a:cubicBezTo>
                  <a:pt x="421" y="163"/>
                  <a:pt x="427" y="163"/>
                  <a:pt x="433" y="163"/>
                </a:cubicBezTo>
                <a:cubicBezTo>
                  <a:pt x="455" y="163"/>
                  <a:pt x="476" y="155"/>
                  <a:pt x="491" y="140"/>
                </a:cubicBezTo>
                <a:cubicBezTo>
                  <a:pt x="513" y="118"/>
                  <a:pt x="520" y="87"/>
                  <a:pt x="512" y="58"/>
                </a:cubicBezTo>
                <a:cubicBezTo>
                  <a:pt x="511" y="55"/>
                  <a:pt x="509" y="53"/>
                  <a:pt x="506" y="52"/>
                </a:cubicBezTo>
                <a:cubicBezTo>
                  <a:pt x="503" y="52"/>
                  <a:pt x="500" y="53"/>
                  <a:pt x="498" y="55"/>
                </a:cubicBezTo>
                <a:cubicBezTo>
                  <a:pt x="465" y="88"/>
                  <a:pt x="465" y="88"/>
                  <a:pt x="465" y="88"/>
                </a:cubicBezTo>
                <a:cubicBezTo>
                  <a:pt x="435" y="80"/>
                  <a:pt x="435" y="80"/>
                  <a:pt x="435" y="80"/>
                </a:cubicBezTo>
                <a:cubicBezTo>
                  <a:pt x="428" y="50"/>
                  <a:pt x="428" y="50"/>
                  <a:pt x="428" y="50"/>
                </a:cubicBezTo>
                <a:cubicBezTo>
                  <a:pt x="461" y="17"/>
                  <a:pt x="461" y="17"/>
                  <a:pt x="461" y="17"/>
                </a:cubicBezTo>
                <a:cubicBezTo>
                  <a:pt x="463" y="15"/>
                  <a:pt x="463" y="12"/>
                  <a:pt x="463" y="9"/>
                </a:cubicBezTo>
                <a:cubicBezTo>
                  <a:pt x="462" y="6"/>
                  <a:pt x="460" y="4"/>
                  <a:pt x="457" y="3"/>
                </a:cubicBezTo>
                <a:cubicBezTo>
                  <a:pt x="449" y="1"/>
                  <a:pt x="441" y="0"/>
                  <a:pt x="433" y="0"/>
                </a:cubicBezTo>
                <a:cubicBezTo>
                  <a:pt x="411" y="0"/>
                  <a:pt x="391" y="8"/>
                  <a:pt x="376" y="24"/>
                </a:cubicBezTo>
                <a:cubicBezTo>
                  <a:pt x="355" y="44"/>
                  <a:pt x="347" y="73"/>
                  <a:pt x="354" y="101"/>
                </a:cubicBezTo>
                <a:cubicBezTo>
                  <a:pt x="236" y="219"/>
                  <a:pt x="236" y="219"/>
                  <a:pt x="236" y="219"/>
                </a:cubicBezTo>
                <a:cubicBezTo>
                  <a:pt x="123" y="107"/>
                  <a:pt x="123" y="107"/>
                  <a:pt x="123" y="107"/>
                </a:cubicBezTo>
                <a:cubicBezTo>
                  <a:pt x="133" y="97"/>
                  <a:pt x="133" y="97"/>
                  <a:pt x="133" y="97"/>
                </a:cubicBezTo>
                <a:cubicBezTo>
                  <a:pt x="137" y="93"/>
                  <a:pt x="137" y="88"/>
                  <a:pt x="133" y="85"/>
                </a:cubicBezTo>
                <a:cubicBezTo>
                  <a:pt x="56" y="8"/>
                  <a:pt x="56" y="8"/>
                  <a:pt x="56" y="8"/>
                </a:cubicBezTo>
                <a:cubicBezTo>
                  <a:pt x="53" y="5"/>
                  <a:pt x="48" y="5"/>
                  <a:pt x="45" y="8"/>
                </a:cubicBezTo>
                <a:cubicBezTo>
                  <a:pt x="13" y="40"/>
                  <a:pt x="13" y="40"/>
                  <a:pt x="13" y="40"/>
                </a:cubicBezTo>
                <a:cubicBezTo>
                  <a:pt x="12" y="41"/>
                  <a:pt x="11" y="43"/>
                  <a:pt x="11" y="45"/>
                </a:cubicBezTo>
                <a:cubicBezTo>
                  <a:pt x="11" y="47"/>
                  <a:pt x="12" y="50"/>
                  <a:pt x="13" y="51"/>
                </a:cubicBezTo>
                <a:cubicBezTo>
                  <a:pt x="90" y="128"/>
                  <a:pt x="90" y="128"/>
                  <a:pt x="90" y="128"/>
                </a:cubicBezTo>
                <a:cubicBezTo>
                  <a:pt x="92" y="130"/>
                  <a:pt x="94" y="131"/>
                  <a:pt x="96" y="131"/>
                </a:cubicBezTo>
                <a:cubicBezTo>
                  <a:pt x="98" y="131"/>
                  <a:pt x="100" y="130"/>
                  <a:pt x="102" y="128"/>
                </a:cubicBezTo>
                <a:cubicBezTo>
                  <a:pt x="112" y="118"/>
                  <a:pt x="112" y="118"/>
                  <a:pt x="112" y="118"/>
                </a:cubicBezTo>
                <a:cubicBezTo>
                  <a:pt x="224" y="230"/>
                  <a:pt x="224" y="230"/>
                  <a:pt x="224" y="230"/>
                </a:cubicBezTo>
                <a:cubicBezTo>
                  <a:pt x="106" y="349"/>
                  <a:pt x="106" y="349"/>
                  <a:pt x="106" y="349"/>
                </a:cubicBezTo>
                <a:cubicBezTo>
                  <a:pt x="100" y="347"/>
                  <a:pt x="93" y="346"/>
                  <a:pt x="87" y="346"/>
                </a:cubicBezTo>
                <a:cubicBezTo>
                  <a:pt x="65" y="346"/>
                  <a:pt x="44" y="355"/>
                  <a:pt x="29" y="370"/>
                </a:cubicBezTo>
                <a:cubicBezTo>
                  <a:pt x="8" y="392"/>
                  <a:pt x="0" y="423"/>
                  <a:pt x="9" y="452"/>
                </a:cubicBezTo>
                <a:cubicBezTo>
                  <a:pt x="9" y="455"/>
                  <a:pt x="12" y="457"/>
                  <a:pt x="14" y="457"/>
                </a:cubicBezTo>
                <a:cubicBezTo>
                  <a:pt x="17" y="458"/>
                  <a:pt x="20" y="457"/>
                  <a:pt x="22" y="455"/>
                </a:cubicBezTo>
                <a:cubicBezTo>
                  <a:pt x="55" y="422"/>
                  <a:pt x="55" y="422"/>
                  <a:pt x="55" y="422"/>
                </a:cubicBezTo>
                <a:cubicBezTo>
                  <a:pt x="85" y="430"/>
                  <a:pt x="85" y="430"/>
                  <a:pt x="85" y="430"/>
                </a:cubicBezTo>
                <a:cubicBezTo>
                  <a:pt x="93" y="460"/>
                  <a:pt x="93" y="460"/>
                  <a:pt x="93" y="460"/>
                </a:cubicBezTo>
                <a:cubicBezTo>
                  <a:pt x="60" y="493"/>
                  <a:pt x="60" y="493"/>
                  <a:pt x="60" y="493"/>
                </a:cubicBezTo>
                <a:cubicBezTo>
                  <a:pt x="58" y="495"/>
                  <a:pt x="57" y="498"/>
                  <a:pt x="58" y="501"/>
                </a:cubicBezTo>
                <a:cubicBezTo>
                  <a:pt x="58" y="503"/>
                  <a:pt x="60" y="506"/>
                  <a:pt x="63" y="506"/>
                </a:cubicBezTo>
                <a:cubicBezTo>
                  <a:pt x="71" y="509"/>
                  <a:pt x="79" y="510"/>
                  <a:pt x="87" y="510"/>
                </a:cubicBezTo>
                <a:cubicBezTo>
                  <a:pt x="109" y="510"/>
                  <a:pt x="129" y="502"/>
                  <a:pt x="145" y="486"/>
                </a:cubicBezTo>
                <a:cubicBezTo>
                  <a:pt x="165" y="466"/>
                  <a:pt x="173" y="437"/>
                  <a:pt x="166" y="409"/>
                </a:cubicBezTo>
                <a:cubicBezTo>
                  <a:pt x="285" y="291"/>
                  <a:pt x="285" y="291"/>
                  <a:pt x="285" y="291"/>
                </a:cubicBezTo>
                <a:cubicBezTo>
                  <a:pt x="331" y="337"/>
                  <a:pt x="331" y="337"/>
                  <a:pt x="331" y="337"/>
                </a:cubicBezTo>
                <a:cubicBezTo>
                  <a:pt x="288" y="380"/>
                  <a:pt x="288" y="380"/>
                  <a:pt x="288" y="380"/>
                </a:cubicBezTo>
                <a:cubicBezTo>
                  <a:pt x="285" y="383"/>
                  <a:pt x="285" y="388"/>
                  <a:pt x="288" y="391"/>
                </a:cubicBezTo>
                <a:cubicBezTo>
                  <a:pt x="289" y="393"/>
                  <a:pt x="291" y="394"/>
                  <a:pt x="293" y="394"/>
                </a:cubicBezTo>
                <a:cubicBezTo>
                  <a:pt x="295" y="394"/>
                  <a:pt x="298" y="393"/>
                  <a:pt x="299" y="391"/>
                </a:cubicBezTo>
                <a:cubicBezTo>
                  <a:pt x="308" y="382"/>
                  <a:pt x="308" y="382"/>
                  <a:pt x="308" y="382"/>
                </a:cubicBezTo>
                <a:cubicBezTo>
                  <a:pt x="412" y="486"/>
                  <a:pt x="412" y="486"/>
                  <a:pt x="412" y="486"/>
                </a:cubicBezTo>
                <a:cubicBezTo>
                  <a:pt x="423" y="497"/>
                  <a:pt x="437" y="502"/>
                  <a:pt x="452" y="502"/>
                </a:cubicBezTo>
                <a:cubicBezTo>
                  <a:pt x="466" y="502"/>
                  <a:pt x="480" y="497"/>
                  <a:pt x="491" y="486"/>
                </a:cubicBezTo>
                <a:cubicBezTo>
                  <a:pt x="502" y="475"/>
                  <a:pt x="508" y="461"/>
                  <a:pt x="508" y="447"/>
                </a:cubicBezTo>
                <a:cubicBezTo>
                  <a:pt x="508" y="432"/>
                  <a:pt x="502" y="418"/>
                  <a:pt x="491" y="407"/>
                </a:cubicBezTo>
                <a:lnTo>
                  <a:pt x="387" y="303"/>
                </a:lnTo>
                <a:close/>
                <a:moveTo>
                  <a:pt x="96" y="111"/>
                </a:moveTo>
                <a:cubicBezTo>
                  <a:pt x="30" y="45"/>
                  <a:pt x="30" y="45"/>
                  <a:pt x="30" y="45"/>
                </a:cubicBezTo>
                <a:cubicBezTo>
                  <a:pt x="51" y="25"/>
                  <a:pt x="51" y="25"/>
                  <a:pt x="51" y="25"/>
                </a:cubicBezTo>
                <a:cubicBezTo>
                  <a:pt x="116" y="91"/>
                  <a:pt x="116" y="91"/>
                  <a:pt x="116" y="91"/>
                </a:cubicBezTo>
                <a:lnTo>
                  <a:pt x="96" y="111"/>
                </a:lnTo>
                <a:close/>
                <a:moveTo>
                  <a:pt x="150" y="409"/>
                </a:moveTo>
                <a:cubicBezTo>
                  <a:pt x="157" y="432"/>
                  <a:pt x="151" y="458"/>
                  <a:pt x="133" y="475"/>
                </a:cubicBezTo>
                <a:cubicBezTo>
                  <a:pt x="121" y="487"/>
                  <a:pt x="104" y="494"/>
                  <a:pt x="87" y="494"/>
                </a:cubicBezTo>
                <a:cubicBezTo>
                  <a:pt x="85" y="494"/>
                  <a:pt x="83" y="494"/>
                  <a:pt x="82" y="494"/>
                </a:cubicBezTo>
                <a:cubicBezTo>
                  <a:pt x="107" y="468"/>
                  <a:pt x="107" y="468"/>
                  <a:pt x="107" y="468"/>
                </a:cubicBezTo>
                <a:cubicBezTo>
                  <a:pt x="109" y="466"/>
                  <a:pt x="110" y="463"/>
                  <a:pt x="109" y="461"/>
                </a:cubicBezTo>
                <a:cubicBezTo>
                  <a:pt x="99" y="421"/>
                  <a:pt x="99" y="421"/>
                  <a:pt x="99" y="421"/>
                </a:cubicBezTo>
                <a:cubicBezTo>
                  <a:pt x="99" y="419"/>
                  <a:pt x="96" y="416"/>
                  <a:pt x="94" y="416"/>
                </a:cubicBezTo>
                <a:cubicBezTo>
                  <a:pt x="54" y="406"/>
                  <a:pt x="54" y="406"/>
                  <a:pt x="54" y="406"/>
                </a:cubicBezTo>
                <a:cubicBezTo>
                  <a:pt x="52" y="405"/>
                  <a:pt x="49" y="406"/>
                  <a:pt x="47" y="408"/>
                </a:cubicBezTo>
                <a:cubicBezTo>
                  <a:pt x="21" y="433"/>
                  <a:pt x="21" y="433"/>
                  <a:pt x="21" y="433"/>
                </a:cubicBezTo>
                <a:cubicBezTo>
                  <a:pt x="20" y="414"/>
                  <a:pt x="27" y="395"/>
                  <a:pt x="40" y="382"/>
                </a:cubicBezTo>
                <a:cubicBezTo>
                  <a:pt x="53" y="369"/>
                  <a:pt x="69" y="362"/>
                  <a:pt x="87" y="362"/>
                </a:cubicBezTo>
                <a:cubicBezTo>
                  <a:pt x="93" y="362"/>
                  <a:pt x="100" y="363"/>
                  <a:pt x="106" y="365"/>
                </a:cubicBezTo>
                <a:cubicBezTo>
                  <a:pt x="109" y="366"/>
                  <a:pt x="112" y="365"/>
                  <a:pt x="114" y="363"/>
                </a:cubicBezTo>
                <a:cubicBezTo>
                  <a:pt x="368" y="109"/>
                  <a:pt x="368" y="109"/>
                  <a:pt x="368" y="109"/>
                </a:cubicBezTo>
                <a:cubicBezTo>
                  <a:pt x="371" y="107"/>
                  <a:pt x="371" y="104"/>
                  <a:pt x="370" y="101"/>
                </a:cubicBezTo>
                <a:cubicBezTo>
                  <a:pt x="363" y="78"/>
                  <a:pt x="370" y="52"/>
                  <a:pt x="387" y="35"/>
                </a:cubicBezTo>
                <a:cubicBezTo>
                  <a:pt x="399" y="23"/>
                  <a:pt x="416" y="16"/>
                  <a:pt x="433" y="16"/>
                </a:cubicBezTo>
                <a:cubicBezTo>
                  <a:pt x="435" y="16"/>
                  <a:pt x="437" y="16"/>
                  <a:pt x="439" y="16"/>
                </a:cubicBezTo>
                <a:cubicBezTo>
                  <a:pt x="413" y="42"/>
                  <a:pt x="413" y="42"/>
                  <a:pt x="413" y="42"/>
                </a:cubicBezTo>
                <a:cubicBezTo>
                  <a:pt x="411" y="44"/>
                  <a:pt x="410" y="47"/>
                  <a:pt x="411" y="49"/>
                </a:cubicBezTo>
                <a:cubicBezTo>
                  <a:pt x="421" y="88"/>
                  <a:pt x="421" y="88"/>
                  <a:pt x="421" y="88"/>
                </a:cubicBezTo>
                <a:cubicBezTo>
                  <a:pt x="421" y="91"/>
                  <a:pt x="424" y="94"/>
                  <a:pt x="427" y="94"/>
                </a:cubicBezTo>
                <a:cubicBezTo>
                  <a:pt x="466" y="104"/>
                  <a:pt x="466" y="104"/>
                  <a:pt x="466" y="104"/>
                </a:cubicBezTo>
                <a:cubicBezTo>
                  <a:pt x="469" y="105"/>
                  <a:pt x="471" y="104"/>
                  <a:pt x="473" y="102"/>
                </a:cubicBezTo>
                <a:cubicBezTo>
                  <a:pt x="499" y="76"/>
                  <a:pt x="499" y="76"/>
                  <a:pt x="499" y="76"/>
                </a:cubicBezTo>
                <a:cubicBezTo>
                  <a:pt x="500" y="95"/>
                  <a:pt x="494" y="114"/>
                  <a:pt x="480" y="128"/>
                </a:cubicBezTo>
                <a:cubicBezTo>
                  <a:pt x="467" y="141"/>
                  <a:pt x="451" y="147"/>
                  <a:pt x="433" y="147"/>
                </a:cubicBezTo>
                <a:cubicBezTo>
                  <a:pt x="427" y="147"/>
                  <a:pt x="420" y="147"/>
                  <a:pt x="414" y="145"/>
                </a:cubicBezTo>
                <a:cubicBezTo>
                  <a:pt x="411" y="144"/>
                  <a:pt x="408" y="145"/>
                  <a:pt x="406" y="147"/>
                </a:cubicBezTo>
                <a:cubicBezTo>
                  <a:pt x="152" y="401"/>
                  <a:pt x="152" y="401"/>
                  <a:pt x="152" y="401"/>
                </a:cubicBezTo>
                <a:cubicBezTo>
                  <a:pt x="150" y="403"/>
                  <a:pt x="149" y="406"/>
                  <a:pt x="150" y="409"/>
                </a:cubicBezTo>
                <a:close/>
                <a:moveTo>
                  <a:pt x="480" y="475"/>
                </a:moveTo>
                <a:cubicBezTo>
                  <a:pt x="464" y="490"/>
                  <a:pt x="439" y="490"/>
                  <a:pt x="424" y="475"/>
                </a:cubicBezTo>
                <a:cubicBezTo>
                  <a:pt x="320" y="371"/>
                  <a:pt x="320" y="371"/>
                  <a:pt x="320" y="371"/>
                </a:cubicBezTo>
                <a:cubicBezTo>
                  <a:pt x="376" y="314"/>
                  <a:pt x="376" y="314"/>
                  <a:pt x="376" y="314"/>
                </a:cubicBezTo>
                <a:cubicBezTo>
                  <a:pt x="480" y="418"/>
                  <a:pt x="480" y="418"/>
                  <a:pt x="480" y="418"/>
                </a:cubicBezTo>
                <a:cubicBezTo>
                  <a:pt x="487" y="426"/>
                  <a:pt x="492" y="436"/>
                  <a:pt x="492" y="447"/>
                </a:cubicBezTo>
                <a:cubicBezTo>
                  <a:pt x="492" y="457"/>
                  <a:pt x="487" y="467"/>
                  <a:pt x="480" y="475"/>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s-ES" sz="1800" dirty="0">
              <a:solidFill>
                <a:schemeClr val="bg1"/>
              </a:solidFill>
            </a:endParaRPr>
          </a:p>
        </p:txBody>
      </p:sp>
      <p:sp>
        <p:nvSpPr>
          <p:cNvPr id="72" name="Freeform 504"/>
          <p:cNvSpPr>
            <a:spLocks noEditPoints="1"/>
          </p:cNvSpPr>
          <p:nvPr/>
        </p:nvSpPr>
        <p:spPr bwMode="auto">
          <a:xfrm>
            <a:off x="7293872" y="3309639"/>
            <a:ext cx="344563" cy="342530"/>
          </a:xfrm>
          <a:custGeom>
            <a:avLst/>
            <a:gdLst>
              <a:gd name="T0" fmla="*/ 85 w 186"/>
              <a:gd name="T1" fmla="*/ 93 h 185"/>
              <a:gd name="T2" fmla="*/ 101 w 186"/>
              <a:gd name="T3" fmla="*/ 93 h 185"/>
              <a:gd name="T4" fmla="*/ 186 w 186"/>
              <a:gd name="T5" fmla="*/ 93 h 185"/>
              <a:gd name="T6" fmla="*/ 159 w 186"/>
              <a:gd name="T7" fmla="*/ 27 h 185"/>
              <a:gd name="T8" fmla="*/ 93 w 186"/>
              <a:gd name="T9" fmla="*/ 0 h 185"/>
              <a:gd name="T10" fmla="*/ 27 w 186"/>
              <a:gd name="T11" fmla="*/ 27 h 185"/>
              <a:gd name="T12" fmla="*/ 0 w 186"/>
              <a:gd name="T13" fmla="*/ 93 h 185"/>
              <a:gd name="T14" fmla="*/ 27 w 186"/>
              <a:gd name="T15" fmla="*/ 158 h 185"/>
              <a:gd name="T16" fmla="*/ 93 w 186"/>
              <a:gd name="T17" fmla="*/ 185 h 185"/>
              <a:gd name="T18" fmla="*/ 159 w 186"/>
              <a:gd name="T19" fmla="*/ 158 h 185"/>
              <a:gd name="T20" fmla="*/ 186 w 186"/>
              <a:gd name="T21" fmla="*/ 93 h 185"/>
              <a:gd name="T22" fmla="*/ 36 w 186"/>
              <a:gd name="T23" fmla="*/ 74 h 185"/>
              <a:gd name="T24" fmla="*/ 36 w 186"/>
              <a:gd name="T25" fmla="*/ 111 h 185"/>
              <a:gd name="T26" fmla="*/ 60 w 186"/>
              <a:gd name="T27" fmla="*/ 79 h 185"/>
              <a:gd name="T28" fmla="*/ 44 w 186"/>
              <a:gd name="T29" fmla="*/ 72 h 185"/>
              <a:gd name="T30" fmla="*/ 60 w 186"/>
              <a:gd name="T31" fmla="*/ 79 h 185"/>
              <a:gd name="T32" fmla="*/ 44 w 186"/>
              <a:gd name="T33" fmla="*/ 113 h 185"/>
              <a:gd name="T34" fmla="*/ 60 w 186"/>
              <a:gd name="T35" fmla="*/ 107 h 185"/>
              <a:gd name="T36" fmla="*/ 33 w 186"/>
              <a:gd name="T37" fmla="*/ 152 h 185"/>
              <a:gd name="T38" fmla="*/ 61 w 186"/>
              <a:gd name="T39" fmla="*/ 124 h 185"/>
              <a:gd name="T40" fmla="*/ 33 w 186"/>
              <a:gd name="T41" fmla="*/ 152 h 185"/>
              <a:gd name="T42" fmla="*/ 39 w 186"/>
              <a:gd name="T43" fmla="*/ 65 h 185"/>
              <a:gd name="T44" fmla="*/ 66 w 186"/>
              <a:gd name="T45" fmla="*/ 39 h 185"/>
              <a:gd name="T46" fmla="*/ 116 w 186"/>
              <a:gd name="T47" fmla="*/ 60 h 185"/>
              <a:gd name="T48" fmla="*/ 100 w 186"/>
              <a:gd name="T49" fmla="*/ 53 h 185"/>
              <a:gd name="T50" fmla="*/ 116 w 186"/>
              <a:gd name="T51" fmla="*/ 60 h 185"/>
              <a:gd name="T52" fmla="*/ 112 w 186"/>
              <a:gd name="T53" fmla="*/ 35 h 185"/>
              <a:gd name="T54" fmla="*/ 74 w 186"/>
              <a:gd name="T55" fmla="*/ 35 h 185"/>
              <a:gd name="T56" fmla="*/ 73 w 186"/>
              <a:gd name="T57" fmla="*/ 43 h 185"/>
              <a:gd name="T58" fmla="*/ 79 w 186"/>
              <a:gd name="T59" fmla="*/ 59 h 185"/>
              <a:gd name="T60" fmla="*/ 73 w 186"/>
              <a:gd name="T61" fmla="*/ 43 h 185"/>
              <a:gd name="T62" fmla="*/ 79 w 186"/>
              <a:gd name="T63" fmla="*/ 126 h 185"/>
              <a:gd name="T64" fmla="*/ 73 w 186"/>
              <a:gd name="T65" fmla="*/ 142 h 185"/>
              <a:gd name="T66" fmla="*/ 93 w 186"/>
              <a:gd name="T67" fmla="*/ 177 h 185"/>
              <a:gd name="T68" fmla="*/ 93 w 186"/>
              <a:gd name="T69" fmla="*/ 137 h 185"/>
              <a:gd name="T70" fmla="*/ 93 w 186"/>
              <a:gd name="T71" fmla="*/ 177 h 185"/>
              <a:gd name="T72" fmla="*/ 100 w 186"/>
              <a:gd name="T73" fmla="*/ 132 h 185"/>
              <a:gd name="T74" fmla="*/ 116 w 186"/>
              <a:gd name="T75" fmla="*/ 125 h 185"/>
              <a:gd name="T76" fmla="*/ 118 w 186"/>
              <a:gd name="T77" fmla="*/ 103 h 185"/>
              <a:gd name="T78" fmla="*/ 103 w 186"/>
              <a:gd name="T79" fmla="*/ 118 h 185"/>
              <a:gd name="T80" fmla="*/ 83 w 186"/>
              <a:gd name="T81" fmla="*/ 118 h 185"/>
              <a:gd name="T82" fmla="*/ 68 w 186"/>
              <a:gd name="T83" fmla="*/ 103 h 185"/>
              <a:gd name="T84" fmla="*/ 68 w 186"/>
              <a:gd name="T85" fmla="*/ 82 h 185"/>
              <a:gd name="T86" fmla="*/ 83 w 186"/>
              <a:gd name="T87" fmla="*/ 68 h 185"/>
              <a:gd name="T88" fmla="*/ 103 w 186"/>
              <a:gd name="T89" fmla="*/ 68 h 185"/>
              <a:gd name="T90" fmla="*/ 118 w 186"/>
              <a:gd name="T91" fmla="*/ 82 h 185"/>
              <a:gd name="T92" fmla="*/ 118 w 186"/>
              <a:gd name="T93" fmla="*/ 103 h 185"/>
              <a:gd name="T94" fmla="*/ 147 w 186"/>
              <a:gd name="T95" fmla="*/ 65 h 185"/>
              <a:gd name="T96" fmla="*/ 120 w 186"/>
              <a:gd name="T97" fmla="*/ 39 h 185"/>
              <a:gd name="T98" fmla="*/ 133 w 186"/>
              <a:gd name="T99" fmla="*/ 86 h 185"/>
              <a:gd name="T100" fmla="*/ 126 w 186"/>
              <a:gd name="T101" fmla="*/ 69 h 185"/>
              <a:gd name="T102" fmla="*/ 133 w 186"/>
              <a:gd name="T103" fmla="*/ 86 h 185"/>
              <a:gd name="T104" fmla="*/ 142 w 186"/>
              <a:gd name="T105" fmla="*/ 113 h 185"/>
              <a:gd name="T106" fmla="*/ 126 w 186"/>
              <a:gd name="T107" fmla="*/ 107 h 185"/>
              <a:gd name="T108" fmla="*/ 153 w 186"/>
              <a:gd name="T109" fmla="*/ 152 h 185"/>
              <a:gd name="T110" fmla="*/ 125 w 186"/>
              <a:gd name="T111" fmla="*/ 124 h 185"/>
              <a:gd name="T112" fmla="*/ 153 w 186"/>
              <a:gd name="T113" fmla="*/ 152 h 185"/>
              <a:gd name="T114" fmla="*/ 138 w 186"/>
              <a:gd name="T115" fmla="*/ 93 h 185"/>
              <a:gd name="T116" fmla="*/ 177 w 186"/>
              <a:gd name="T117" fmla="*/ 9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86" h="185">
                <a:moveTo>
                  <a:pt x="93" y="84"/>
                </a:moveTo>
                <a:cubicBezTo>
                  <a:pt x="88" y="84"/>
                  <a:pt x="85" y="88"/>
                  <a:pt x="85" y="93"/>
                </a:cubicBezTo>
                <a:cubicBezTo>
                  <a:pt x="85" y="97"/>
                  <a:pt x="88" y="101"/>
                  <a:pt x="93" y="101"/>
                </a:cubicBezTo>
                <a:cubicBezTo>
                  <a:pt x="98" y="101"/>
                  <a:pt x="101" y="97"/>
                  <a:pt x="101" y="93"/>
                </a:cubicBezTo>
                <a:cubicBezTo>
                  <a:pt x="101" y="88"/>
                  <a:pt x="98" y="84"/>
                  <a:pt x="93" y="84"/>
                </a:cubicBezTo>
                <a:close/>
                <a:moveTo>
                  <a:pt x="186" y="93"/>
                </a:moveTo>
                <a:cubicBezTo>
                  <a:pt x="186" y="83"/>
                  <a:pt x="174" y="74"/>
                  <a:pt x="154" y="67"/>
                </a:cubicBezTo>
                <a:cubicBezTo>
                  <a:pt x="163" y="49"/>
                  <a:pt x="166" y="34"/>
                  <a:pt x="159" y="27"/>
                </a:cubicBezTo>
                <a:cubicBezTo>
                  <a:pt x="151" y="20"/>
                  <a:pt x="136" y="22"/>
                  <a:pt x="118" y="32"/>
                </a:cubicBezTo>
                <a:cubicBezTo>
                  <a:pt x="112" y="12"/>
                  <a:pt x="103" y="0"/>
                  <a:pt x="93" y="0"/>
                </a:cubicBezTo>
                <a:cubicBezTo>
                  <a:pt x="83" y="0"/>
                  <a:pt x="74" y="12"/>
                  <a:pt x="68" y="32"/>
                </a:cubicBezTo>
                <a:cubicBezTo>
                  <a:pt x="50" y="22"/>
                  <a:pt x="35" y="20"/>
                  <a:pt x="27" y="27"/>
                </a:cubicBezTo>
                <a:cubicBezTo>
                  <a:pt x="20" y="34"/>
                  <a:pt x="23" y="49"/>
                  <a:pt x="32" y="67"/>
                </a:cubicBezTo>
                <a:cubicBezTo>
                  <a:pt x="12" y="74"/>
                  <a:pt x="0" y="83"/>
                  <a:pt x="0" y="93"/>
                </a:cubicBezTo>
                <a:cubicBezTo>
                  <a:pt x="0" y="103"/>
                  <a:pt x="12" y="112"/>
                  <a:pt x="32" y="118"/>
                </a:cubicBezTo>
                <a:cubicBezTo>
                  <a:pt x="23" y="136"/>
                  <a:pt x="20" y="151"/>
                  <a:pt x="27" y="158"/>
                </a:cubicBezTo>
                <a:cubicBezTo>
                  <a:pt x="35" y="165"/>
                  <a:pt x="50" y="163"/>
                  <a:pt x="68" y="154"/>
                </a:cubicBezTo>
                <a:cubicBezTo>
                  <a:pt x="74" y="173"/>
                  <a:pt x="83" y="185"/>
                  <a:pt x="93" y="185"/>
                </a:cubicBezTo>
                <a:cubicBezTo>
                  <a:pt x="103" y="185"/>
                  <a:pt x="112" y="173"/>
                  <a:pt x="118" y="154"/>
                </a:cubicBezTo>
                <a:cubicBezTo>
                  <a:pt x="136" y="163"/>
                  <a:pt x="151" y="165"/>
                  <a:pt x="159" y="158"/>
                </a:cubicBezTo>
                <a:cubicBezTo>
                  <a:pt x="166" y="151"/>
                  <a:pt x="163" y="136"/>
                  <a:pt x="154" y="118"/>
                </a:cubicBezTo>
                <a:cubicBezTo>
                  <a:pt x="174" y="112"/>
                  <a:pt x="186" y="103"/>
                  <a:pt x="186" y="93"/>
                </a:cubicBezTo>
                <a:close/>
                <a:moveTo>
                  <a:pt x="9" y="93"/>
                </a:moveTo>
                <a:cubicBezTo>
                  <a:pt x="9" y="85"/>
                  <a:pt x="19" y="79"/>
                  <a:pt x="36" y="74"/>
                </a:cubicBezTo>
                <a:cubicBezTo>
                  <a:pt x="39" y="80"/>
                  <a:pt x="43" y="86"/>
                  <a:pt x="48" y="93"/>
                </a:cubicBezTo>
                <a:cubicBezTo>
                  <a:pt x="43" y="99"/>
                  <a:pt x="39" y="105"/>
                  <a:pt x="36" y="111"/>
                </a:cubicBezTo>
                <a:cubicBezTo>
                  <a:pt x="19" y="107"/>
                  <a:pt x="9" y="100"/>
                  <a:pt x="9" y="93"/>
                </a:cubicBezTo>
                <a:close/>
                <a:moveTo>
                  <a:pt x="60" y="79"/>
                </a:moveTo>
                <a:cubicBezTo>
                  <a:pt x="58" y="81"/>
                  <a:pt x="55" y="84"/>
                  <a:pt x="53" y="86"/>
                </a:cubicBezTo>
                <a:cubicBezTo>
                  <a:pt x="50" y="81"/>
                  <a:pt x="46" y="77"/>
                  <a:pt x="44" y="72"/>
                </a:cubicBezTo>
                <a:cubicBezTo>
                  <a:pt x="49" y="71"/>
                  <a:pt x="54" y="70"/>
                  <a:pt x="60" y="69"/>
                </a:cubicBezTo>
                <a:cubicBezTo>
                  <a:pt x="60" y="72"/>
                  <a:pt x="60" y="76"/>
                  <a:pt x="60" y="79"/>
                </a:cubicBezTo>
                <a:close/>
                <a:moveTo>
                  <a:pt x="60" y="116"/>
                </a:moveTo>
                <a:cubicBezTo>
                  <a:pt x="54" y="115"/>
                  <a:pt x="49" y="114"/>
                  <a:pt x="44" y="113"/>
                </a:cubicBezTo>
                <a:cubicBezTo>
                  <a:pt x="46" y="109"/>
                  <a:pt x="50" y="104"/>
                  <a:pt x="53" y="99"/>
                </a:cubicBezTo>
                <a:cubicBezTo>
                  <a:pt x="55" y="102"/>
                  <a:pt x="58" y="104"/>
                  <a:pt x="60" y="107"/>
                </a:cubicBezTo>
                <a:cubicBezTo>
                  <a:pt x="60" y="110"/>
                  <a:pt x="60" y="113"/>
                  <a:pt x="60" y="116"/>
                </a:cubicBezTo>
                <a:close/>
                <a:moveTo>
                  <a:pt x="33" y="152"/>
                </a:moveTo>
                <a:cubicBezTo>
                  <a:pt x="28" y="147"/>
                  <a:pt x="31" y="135"/>
                  <a:pt x="39" y="120"/>
                </a:cubicBezTo>
                <a:cubicBezTo>
                  <a:pt x="46" y="122"/>
                  <a:pt x="53" y="123"/>
                  <a:pt x="61" y="124"/>
                </a:cubicBezTo>
                <a:cubicBezTo>
                  <a:pt x="62" y="132"/>
                  <a:pt x="64" y="140"/>
                  <a:pt x="66" y="146"/>
                </a:cubicBezTo>
                <a:cubicBezTo>
                  <a:pt x="51" y="155"/>
                  <a:pt x="39" y="158"/>
                  <a:pt x="33" y="152"/>
                </a:cubicBezTo>
                <a:close/>
                <a:moveTo>
                  <a:pt x="61" y="61"/>
                </a:moveTo>
                <a:cubicBezTo>
                  <a:pt x="53" y="62"/>
                  <a:pt x="46" y="63"/>
                  <a:pt x="39" y="65"/>
                </a:cubicBezTo>
                <a:cubicBezTo>
                  <a:pt x="31" y="50"/>
                  <a:pt x="28" y="38"/>
                  <a:pt x="33" y="33"/>
                </a:cubicBezTo>
                <a:cubicBezTo>
                  <a:pt x="39" y="28"/>
                  <a:pt x="51" y="31"/>
                  <a:pt x="66" y="39"/>
                </a:cubicBezTo>
                <a:cubicBezTo>
                  <a:pt x="64" y="46"/>
                  <a:pt x="62" y="53"/>
                  <a:pt x="61" y="61"/>
                </a:cubicBezTo>
                <a:close/>
                <a:moveTo>
                  <a:pt x="116" y="60"/>
                </a:moveTo>
                <a:cubicBezTo>
                  <a:pt x="113" y="60"/>
                  <a:pt x="110" y="60"/>
                  <a:pt x="107" y="59"/>
                </a:cubicBezTo>
                <a:cubicBezTo>
                  <a:pt x="104" y="57"/>
                  <a:pt x="102" y="55"/>
                  <a:pt x="100" y="53"/>
                </a:cubicBezTo>
                <a:cubicBezTo>
                  <a:pt x="104" y="49"/>
                  <a:pt x="109" y="46"/>
                  <a:pt x="114" y="43"/>
                </a:cubicBezTo>
                <a:cubicBezTo>
                  <a:pt x="115" y="48"/>
                  <a:pt x="116" y="54"/>
                  <a:pt x="116" y="60"/>
                </a:cubicBezTo>
                <a:close/>
                <a:moveTo>
                  <a:pt x="93" y="8"/>
                </a:moveTo>
                <a:cubicBezTo>
                  <a:pt x="100" y="8"/>
                  <a:pt x="107" y="19"/>
                  <a:pt x="112" y="35"/>
                </a:cubicBezTo>
                <a:cubicBezTo>
                  <a:pt x="106" y="39"/>
                  <a:pt x="99" y="43"/>
                  <a:pt x="93" y="48"/>
                </a:cubicBezTo>
                <a:cubicBezTo>
                  <a:pt x="87" y="43"/>
                  <a:pt x="80" y="39"/>
                  <a:pt x="74" y="35"/>
                </a:cubicBezTo>
                <a:cubicBezTo>
                  <a:pt x="79" y="19"/>
                  <a:pt x="86" y="8"/>
                  <a:pt x="93" y="8"/>
                </a:cubicBezTo>
                <a:close/>
                <a:moveTo>
                  <a:pt x="73" y="43"/>
                </a:moveTo>
                <a:cubicBezTo>
                  <a:pt x="77" y="46"/>
                  <a:pt x="82" y="49"/>
                  <a:pt x="86" y="53"/>
                </a:cubicBezTo>
                <a:cubicBezTo>
                  <a:pt x="84" y="55"/>
                  <a:pt x="82" y="57"/>
                  <a:pt x="79" y="59"/>
                </a:cubicBezTo>
                <a:cubicBezTo>
                  <a:pt x="76" y="60"/>
                  <a:pt x="73" y="60"/>
                  <a:pt x="70" y="60"/>
                </a:cubicBezTo>
                <a:cubicBezTo>
                  <a:pt x="70" y="54"/>
                  <a:pt x="71" y="48"/>
                  <a:pt x="73" y="43"/>
                </a:cubicBezTo>
                <a:close/>
                <a:moveTo>
                  <a:pt x="70" y="125"/>
                </a:moveTo>
                <a:cubicBezTo>
                  <a:pt x="73" y="126"/>
                  <a:pt x="76" y="126"/>
                  <a:pt x="79" y="126"/>
                </a:cubicBezTo>
                <a:cubicBezTo>
                  <a:pt x="82" y="128"/>
                  <a:pt x="84" y="130"/>
                  <a:pt x="86" y="132"/>
                </a:cubicBezTo>
                <a:cubicBezTo>
                  <a:pt x="82" y="136"/>
                  <a:pt x="77" y="139"/>
                  <a:pt x="73" y="142"/>
                </a:cubicBezTo>
                <a:cubicBezTo>
                  <a:pt x="71" y="137"/>
                  <a:pt x="70" y="131"/>
                  <a:pt x="70" y="125"/>
                </a:cubicBezTo>
                <a:close/>
                <a:moveTo>
                  <a:pt x="93" y="177"/>
                </a:moveTo>
                <a:cubicBezTo>
                  <a:pt x="86" y="177"/>
                  <a:pt x="79" y="167"/>
                  <a:pt x="74" y="150"/>
                </a:cubicBezTo>
                <a:cubicBezTo>
                  <a:pt x="80" y="147"/>
                  <a:pt x="87" y="142"/>
                  <a:pt x="93" y="137"/>
                </a:cubicBezTo>
                <a:cubicBezTo>
                  <a:pt x="99" y="142"/>
                  <a:pt x="106" y="147"/>
                  <a:pt x="112" y="150"/>
                </a:cubicBezTo>
                <a:cubicBezTo>
                  <a:pt x="107" y="167"/>
                  <a:pt x="100" y="177"/>
                  <a:pt x="93" y="177"/>
                </a:cubicBezTo>
                <a:close/>
                <a:moveTo>
                  <a:pt x="114" y="142"/>
                </a:moveTo>
                <a:cubicBezTo>
                  <a:pt x="109" y="139"/>
                  <a:pt x="104" y="136"/>
                  <a:pt x="100" y="132"/>
                </a:cubicBezTo>
                <a:cubicBezTo>
                  <a:pt x="102" y="130"/>
                  <a:pt x="104" y="128"/>
                  <a:pt x="107" y="126"/>
                </a:cubicBezTo>
                <a:cubicBezTo>
                  <a:pt x="110" y="126"/>
                  <a:pt x="113" y="126"/>
                  <a:pt x="116" y="125"/>
                </a:cubicBezTo>
                <a:cubicBezTo>
                  <a:pt x="116" y="131"/>
                  <a:pt x="115" y="137"/>
                  <a:pt x="114" y="142"/>
                </a:cubicBezTo>
                <a:close/>
                <a:moveTo>
                  <a:pt x="118" y="103"/>
                </a:moveTo>
                <a:cubicBezTo>
                  <a:pt x="116" y="106"/>
                  <a:pt x="113" y="108"/>
                  <a:pt x="111" y="111"/>
                </a:cubicBezTo>
                <a:cubicBezTo>
                  <a:pt x="108" y="113"/>
                  <a:pt x="106" y="115"/>
                  <a:pt x="103" y="118"/>
                </a:cubicBezTo>
                <a:cubicBezTo>
                  <a:pt x="100" y="118"/>
                  <a:pt x="97" y="118"/>
                  <a:pt x="93" y="118"/>
                </a:cubicBezTo>
                <a:cubicBezTo>
                  <a:pt x="89" y="118"/>
                  <a:pt x="86" y="118"/>
                  <a:pt x="83" y="118"/>
                </a:cubicBezTo>
                <a:cubicBezTo>
                  <a:pt x="80" y="115"/>
                  <a:pt x="78" y="113"/>
                  <a:pt x="75" y="111"/>
                </a:cubicBezTo>
                <a:cubicBezTo>
                  <a:pt x="73" y="108"/>
                  <a:pt x="70" y="106"/>
                  <a:pt x="68" y="103"/>
                </a:cubicBezTo>
                <a:cubicBezTo>
                  <a:pt x="68" y="100"/>
                  <a:pt x="68" y="96"/>
                  <a:pt x="68" y="93"/>
                </a:cubicBezTo>
                <a:cubicBezTo>
                  <a:pt x="68" y="89"/>
                  <a:pt x="68" y="86"/>
                  <a:pt x="68" y="82"/>
                </a:cubicBezTo>
                <a:cubicBezTo>
                  <a:pt x="70" y="80"/>
                  <a:pt x="73" y="77"/>
                  <a:pt x="75" y="75"/>
                </a:cubicBezTo>
                <a:cubicBezTo>
                  <a:pt x="78" y="72"/>
                  <a:pt x="80" y="70"/>
                  <a:pt x="83" y="68"/>
                </a:cubicBezTo>
                <a:cubicBezTo>
                  <a:pt x="86" y="67"/>
                  <a:pt x="89" y="67"/>
                  <a:pt x="93" y="67"/>
                </a:cubicBezTo>
                <a:cubicBezTo>
                  <a:pt x="97" y="67"/>
                  <a:pt x="100" y="67"/>
                  <a:pt x="103" y="68"/>
                </a:cubicBezTo>
                <a:cubicBezTo>
                  <a:pt x="106" y="70"/>
                  <a:pt x="108" y="72"/>
                  <a:pt x="111" y="75"/>
                </a:cubicBezTo>
                <a:cubicBezTo>
                  <a:pt x="113" y="77"/>
                  <a:pt x="116" y="80"/>
                  <a:pt x="118" y="82"/>
                </a:cubicBezTo>
                <a:cubicBezTo>
                  <a:pt x="118" y="86"/>
                  <a:pt x="118" y="89"/>
                  <a:pt x="118" y="93"/>
                </a:cubicBezTo>
                <a:cubicBezTo>
                  <a:pt x="118" y="96"/>
                  <a:pt x="118" y="100"/>
                  <a:pt x="118" y="103"/>
                </a:cubicBezTo>
                <a:close/>
                <a:moveTo>
                  <a:pt x="153" y="33"/>
                </a:moveTo>
                <a:cubicBezTo>
                  <a:pt x="158" y="38"/>
                  <a:pt x="155" y="50"/>
                  <a:pt x="147" y="65"/>
                </a:cubicBezTo>
                <a:cubicBezTo>
                  <a:pt x="140" y="63"/>
                  <a:pt x="133" y="62"/>
                  <a:pt x="125" y="61"/>
                </a:cubicBezTo>
                <a:cubicBezTo>
                  <a:pt x="124" y="53"/>
                  <a:pt x="122" y="46"/>
                  <a:pt x="120" y="39"/>
                </a:cubicBezTo>
                <a:cubicBezTo>
                  <a:pt x="135" y="31"/>
                  <a:pt x="147" y="28"/>
                  <a:pt x="153" y="33"/>
                </a:cubicBezTo>
                <a:close/>
                <a:moveTo>
                  <a:pt x="133" y="86"/>
                </a:moveTo>
                <a:cubicBezTo>
                  <a:pt x="131" y="84"/>
                  <a:pt x="128" y="81"/>
                  <a:pt x="126" y="79"/>
                </a:cubicBezTo>
                <a:cubicBezTo>
                  <a:pt x="126" y="76"/>
                  <a:pt x="126" y="72"/>
                  <a:pt x="126" y="69"/>
                </a:cubicBezTo>
                <a:cubicBezTo>
                  <a:pt x="132" y="70"/>
                  <a:pt x="137" y="71"/>
                  <a:pt x="142" y="72"/>
                </a:cubicBezTo>
                <a:cubicBezTo>
                  <a:pt x="140" y="77"/>
                  <a:pt x="136" y="81"/>
                  <a:pt x="133" y="86"/>
                </a:cubicBezTo>
                <a:close/>
                <a:moveTo>
                  <a:pt x="133" y="99"/>
                </a:moveTo>
                <a:cubicBezTo>
                  <a:pt x="136" y="104"/>
                  <a:pt x="140" y="109"/>
                  <a:pt x="142" y="113"/>
                </a:cubicBezTo>
                <a:cubicBezTo>
                  <a:pt x="137" y="114"/>
                  <a:pt x="132" y="115"/>
                  <a:pt x="126" y="116"/>
                </a:cubicBezTo>
                <a:cubicBezTo>
                  <a:pt x="126" y="113"/>
                  <a:pt x="126" y="110"/>
                  <a:pt x="126" y="107"/>
                </a:cubicBezTo>
                <a:cubicBezTo>
                  <a:pt x="129" y="104"/>
                  <a:pt x="131" y="102"/>
                  <a:pt x="133" y="99"/>
                </a:cubicBezTo>
                <a:close/>
                <a:moveTo>
                  <a:pt x="153" y="152"/>
                </a:moveTo>
                <a:cubicBezTo>
                  <a:pt x="147" y="158"/>
                  <a:pt x="135" y="155"/>
                  <a:pt x="120" y="146"/>
                </a:cubicBezTo>
                <a:cubicBezTo>
                  <a:pt x="122" y="140"/>
                  <a:pt x="124" y="132"/>
                  <a:pt x="125" y="124"/>
                </a:cubicBezTo>
                <a:cubicBezTo>
                  <a:pt x="133" y="123"/>
                  <a:pt x="140" y="122"/>
                  <a:pt x="147" y="120"/>
                </a:cubicBezTo>
                <a:cubicBezTo>
                  <a:pt x="155" y="135"/>
                  <a:pt x="158" y="147"/>
                  <a:pt x="153" y="152"/>
                </a:cubicBezTo>
                <a:close/>
                <a:moveTo>
                  <a:pt x="150" y="111"/>
                </a:moveTo>
                <a:cubicBezTo>
                  <a:pt x="147" y="105"/>
                  <a:pt x="143" y="99"/>
                  <a:pt x="138" y="93"/>
                </a:cubicBezTo>
                <a:cubicBezTo>
                  <a:pt x="143" y="86"/>
                  <a:pt x="147" y="80"/>
                  <a:pt x="150" y="74"/>
                </a:cubicBezTo>
                <a:cubicBezTo>
                  <a:pt x="167" y="79"/>
                  <a:pt x="177" y="85"/>
                  <a:pt x="177" y="93"/>
                </a:cubicBezTo>
                <a:cubicBezTo>
                  <a:pt x="177" y="100"/>
                  <a:pt x="167" y="107"/>
                  <a:pt x="150" y="111"/>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s-ES" sz="1350" dirty="0">
              <a:solidFill>
                <a:schemeClr val="bg1"/>
              </a:solidFill>
            </a:endParaRPr>
          </a:p>
        </p:txBody>
      </p:sp>
      <p:sp>
        <p:nvSpPr>
          <p:cNvPr id="73" name="Freeform 401"/>
          <p:cNvSpPr>
            <a:spLocks noEditPoints="1"/>
          </p:cNvSpPr>
          <p:nvPr/>
        </p:nvSpPr>
        <p:spPr bwMode="auto">
          <a:xfrm>
            <a:off x="7324420" y="4963242"/>
            <a:ext cx="283464" cy="206309"/>
          </a:xfrm>
          <a:custGeom>
            <a:avLst/>
            <a:gdLst>
              <a:gd name="T0" fmla="*/ 171 w 186"/>
              <a:gd name="T1" fmla="*/ 25 h 135"/>
              <a:gd name="T2" fmla="*/ 162 w 186"/>
              <a:gd name="T3" fmla="*/ 35 h 135"/>
              <a:gd name="T4" fmla="*/ 160 w 186"/>
              <a:gd name="T5" fmla="*/ 38 h 135"/>
              <a:gd name="T6" fmla="*/ 165 w 186"/>
              <a:gd name="T7" fmla="*/ 42 h 135"/>
              <a:gd name="T8" fmla="*/ 168 w 186"/>
              <a:gd name="T9" fmla="*/ 41 h 135"/>
              <a:gd name="T10" fmla="*/ 185 w 186"/>
              <a:gd name="T11" fmla="*/ 24 h 135"/>
              <a:gd name="T12" fmla="*/ 186 w 186"/>
              <a:gd name="T13" fmla="*/ 21 h 135"/>
              <a:gd name="T14" fmla="*/ 185 w 186"/>
              <a:gd name="T15" fmla="*/ 18 h 135"/>
              <a:gd name="T16" fmla="*/ 168 w 186"/>
              <a:gd name="T17" fmla="*/ 1 h 135"/>
              <a:gd name="T18" fmla="*/ 165 w 186"/>
              <a:gd name="T19" fmla="*/ 0 h 135"/>
              <a:gd name="T20" fmla="*/ 160 w 186"/>
              <a:gd name="T21" fmla="*/ 4 h 135"/>
              <a:gd name="T22" fmla="*/ 162 w 186"/>
              <a:gd name="T23" fmla="*/ 7 h 135"/>
              <a:gd name="T24" fmla="*/ 171 w 186"/>
              <a:gd name="T25" fmla="*/ 17 h 135"/>
              <a:gd name="T26" fmla="*/ 131 w 186"/>
              <a:gd name="T27" fmla="*/ 17 h 135"/>
              <a:gd name="T28" fmla="*/ 128 w 186"/>
              <a:gd name="T29" fmla="*/ 18 h 135"/>
              <a:gd name="T30" fmla="*/ 128 w 186"/>
              <a:gd name="T31" fmla="*/ 18 h 135"/>
              <a:gd name="T32" fmla="*/ 53 w 186"/>
              <a:gd name="T33" fmla="*/ 109 h 135"/>
              <a:gd name="T34" fmla="*/ 4 w 186"/>
              <a:gd name="T35" fmla="*/ 109 h 135"/>
              <a:gd name="T36" fmla="*/ 0 w 186"/>
              <a:gd name="T37" fmla="*/ 114 h 135"/>
              <a:gd name="T38" fmla="*/ 4 w 186"/>
              <a:gd name="T39" fmla="*/ 118 h 135"/>
              <a:gd name="T40" fmla="*/ 55 w 186"/>
              <a:gd name="T41" fmla="*/ 118 h 135"/>
              <a:gd name="T42" fmla="*/ 58 w 186"/>
              <a:gd name="T43" fmla="*/ 116 h 135"/>
              <a:gd name="T44" fmla="*/ 58 w 186"/>
              <a:gd name="T45" fmla="*/ 116 h 135"/>
              <a:gd name="T46" fmla="*/ 133 w 186"/>
              <a:gd name="T47" fmla="*/ 25 h 135"/>
              <a:gd name="T48" fmla="*/ 171 w 186"/>
              <a:gd name="T49" fmla="*/ 25 h 135"/>
              <a:gd name="T50" fmla="*/ 4 w 186"/>
              <a:gd name="T51" fmla="*/ 25 h 135"/>
              <a:gd name="T52" fmla="*/ 53 w 186"/>
              <a:gd name="T53" fmla="*/ 25 h 135"/>
              <a:gd name="T54" fmla="*/ 79 w 186"/>
              <a:gd name="T55" fmla="*/ 57 h 135"/>
              <a:gd name="T56" fmla="*/ 85 w 186"/>
              <a:gd name="T57" fmla="*/ 51 h 135"/>
              <a:gd name="T58" fmla="*/ 58 w 186"/>
              <a:gd name="T59" fmla="*/ 18 h 135"/>
              <a:gd name="T60" fmla="*/ 58 w 186"/>
              <a:gd name="T61" fmla="*/ 18 h 135"/>
              <a:gd name="T62" fmla="*/ 55 w 186"/>
              <a:gd name="T63" fmla="*/ 17 h 135"/>
              <a:gd name="T64" fmla="*/ 4 w 186"/>
              <a:gd name="T65" fmla="*/ 17 h 135"/>
              <a:gd name="T66" fmla="*/ 0 w 186"/>
              <a:gd name="T67" fmla="*/ 21 h 135"/>
              <a:gd name="T68" fmla="*/ 4 w 186"/>
              <a:gd name="T69" fmla="*/ 25 h 135"/>
              <a:gd name="T70" fmla="*/ 168 w 186"/>
              <a:gd name="T71" fmla="*/ 94 h 135"/>
              <a:gd name="T72" fmla="*/ 165 w 186"/>
              <a:gd name="T73" fmla="*/ 92 h 135"/>
              <a:gd name="T74" fmla="*/ 160 w 186"/>
              <a:gd name="T75" fmla="*/ 97 h 135"/>
              <a:gd name="T76" fmla="*/ 162 w 186"/>
              <a:gd name="T77" fmla="*/ 100 h 135"/>
              <a:gd name="T78" fmla="*/ 171 w 186"/>
              <a:gd name="T79" fmla="*/ 109 h 135"/>
              <a:gd name="T80" fmla="*/ 133 w 186"/>
              <a:gd name="T81" fmla="*/ 109 h 135"/>
              <a:gd name="T82" fmla="*/ 107 w 186"/>
              <a:gd name="T83" fmla="*/ 77 h 135"/>
              <a:gd name="T84" fmla="*/ 101 w 186"/>
              <a:gd name="T85" fmla="*/ 84 h 135"/>
              <a:gd name="T86" fmla="*/ 128 w 186"/>
              <a:gd name="T87" fmla="*/ 116 h 135"/>
              <a:gd name="T88" fmla="*/ 128 w 186"/>
              <a:gd name="T89" fmla="*/ 116 h 135"/>
              <a:gd name="T90" fmla="*/ 131 w 186"/>
              <a:gd name="T91" fmla="*/ 118 h 135"/>
              <a:gd name="T92" fmla="*/ 171 w 186"/>
              <a:gd name="T93" fmla="*/ 118 h 135"/>
              <a:gd name="T94" fmla="*/ 162 w 186"/>
              <a:gd name="T95" fmla="*/ 127 h 135"/>
              <a:gd name="T96" fmla="*/ 160 w 186"/>
              <a:gd name="T97" fmla="*/ 130 h 135"/>
              <a:gd name="T98" fmla="*/ 165 w 186"/>
              <a:gd name="T99" fmla="*/ 135 h 135"/>
              <a:gd name="T100" fmla="*/ 168 w 186"/>
              <a:gd name="T101" fmla="*/ 133 h 135"/>
              <a:gd name="T102" fmla="*/ 185 w 186"/>
              <a:gd name="T103" fmla="*/ 117 h 135"/>
              <a:gd name="T104" fmla="*/ 186 w 186"/>
              <a:gd name="T105" fmla="*/ 114 h 135"/>
              <a:gd name="T106" fmla="*/ 185 w 186"/>
              <a:gd name="T107" fmla="*/ 111 h 135"/>
              <a:gd name="T108" fmla="*/ 168 w 186"/>
              <a:gd name="T109" fmla="*/ 9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6" h="135">
                <a:moveTo>
                  <a:pt x="171" y="25"/>
                </a:moveTo>
                <a:cubicBezTo>
                  <a:pt x="162" y="35"/>
                  <a:pt x="162" y="35"/>
                  <a:pt x="162" y="35"/>
                </a:cubicBezTo>
                <a:cubicBezTo>
                  <a:pt x="161" y="35"/>
                  <a:pt x="160" y="36"/>
                  <a:pt x="160" y="38"/>
                </a:cubicBezTo>
                <a:cubicBezTo>
                  <a:pt x="160" y="40"/>
                  <a:pt x="162" y="42"/>
                  <a:pt x="165" y="42"/>
                </a:cubicBezTo>
                <a:cubicBezTo>
                  <a:pt x="166" y="42"/>
                  <a:pt x="167" y="41"/>
                  <a:pt x="168" y="41"/>
                </a:cubicBezTo>
                <a:cubicBezTo>
                  <a:pt x="185" y="24"/>
                  <a:pt x="185" y="24"/>
                  <a:pt x="185" y="24"/>
                </a:cubicBezTo>
                <a:cubicBezTo>
                  <a:pt x="185" y="23"/>
                  <a:pt x="186" y="22"/>
                  <a:pt x="186" y="21"/>
                </a:cubicBezTo>
                <a:cubicBezTo>
                  <a:pt x="186" y="20"/>
                  <a:pt x="185" y="19"/>
                  <a:pt x="185" y="18"/>
                </a:cubicBezTo>
                <a:cubicBezTo>
                  <a:pt x="168" y="1"/>
                  <a:pt x="168" y="1"/>
                  <a:pt x="168" y="1"/>
                </a:cubicBezTo>
                <a:cubicBezTo>
                  <a:pt x="167" y="0"/>
                  <a:pt x="166" y="0"/>
                  <a:pt x="165" y="0"/>
                </a:cubicBezTo>
                <a:cubicBezTo>
                  <a:pt x="162" y="0"/>
                  <a:pt x="160" y="2"/>
                  <a:pt x="160" y="4"/>
                </a:cubicBezTo>
                <a:cubicBezTo>
                  <a:pt x="160" y="5"/>
                  <a:pt x="161" y="6"/>
                  <a:pt x="162" y="7"/>
                </a:cubicBezTo>
                <a:cubicBezTo>
                  <a:pt x="171" y="17"/>
                  <a:pt x="171" y="17"/>
                  <a:pt x="171" y="17"/>
                </a:cubicBezTo>
                <a:cubicBezTo>
                  <a:pt x="131" y="17"/>
                  <a:pt x="131" y="17"/>
                  <a:pt x="131" y="17"/>
                </a:cubicBezTo>
                <a:cubicBezTo>
                  <a:pt x="130" y="17"/>
                  <a:pt x="128" y="17"/>
                  <a:pt x="128" y="18"/>
                </a:cubicBezTo>
                <a:cubicBezTo>
                  <a:pt x="128" y="18"/>
                  <a:pt x="128" y="18"/>
                  <a:pt x="128" y="18"/>
                </a:cubicBezTo>
                <a:cubicBezTo>
                  <a:pt x="53" y="109"/>
                  <a:pt x="53" y="109"/>
                  <a:pt x="53" y="109"/>
                </a:cubicBezTo>
                <a:cubicBezTo>
                  <a:pt x="4" y="109"/>
                  <a:pt x="4" y="109"/>
                  <a:pt x="4" y="109"/>
                </a:cubicBezTo>
                <a:cubicBezTo>
                  <a:pt x="2" y="109"/>
                  <a:pt x="0" y="111"/>
                  <a:pt x="0" y="114"/>
                </a:cubicBezTo>
                <a:cubicBezTo>
                  <a:pt x="0" y="116"/>
                  <a:pt x="2" y="118"/>
                  <a:pt x="4" y="118"/>
                </a:cubicBezTo>
                <a:cubicBezTo>
                  <a:pt x="55" y="118"/>
                  <a:pt x="55" y="118"/>
                  <a:pt x="55" y="118"/>
                </a:cubicBezTo>
                <a:cubicBezTo>
                  <a:pt x="56" y="118"/>
                  <a:pt x="57" y="117"/>
                  <a:pt x="58" y="116"/>
                </a:cubicBezTo>
                <a:cubicBezTo>
                  <a:pt x="58" y="116"/>
                  <a:pt x="58" y="116"/>
                  <a:pt x="58" y="116"/>
                </a:cubicBezTo>
                <a:cubicBezTo>
                  <a:pt x="133" y="25"/>
                  <a:pt x="133" y="25"/>
                  <a:pt x="133" y="25"/>
                </a:cubicBezTo>
                <a:lnTo>
                  <a:pt x="171" y="25"/>
                </a:lnTo>
                <a:close/>
                <a:moveTo>
                  <a:pt x="4" y="25"/>
                </a:moveTo>
                <a:cubicBezTo>
                  <a:pt x="53" y="25"/>
                  <a:pt x="53" y="25"/>
                  <a:pt x="53" y="25"/>
                </a:cubicBezTo>
                <a:cubicBezTo>
                  <a:pt x="79" y="57"/>
                  <a:pt x="79" y="57"/>
                  <a:pt x="79" y="57"/>
                </a:cubicBezTo>
                <a:cubicBezTo>
                  <a:pt x="85" y="51"/>
                  <a:pt x="85" y="51"/>
                  <a:pt x="85" y="51"/>
                </a:cubicBezTo>
                <a:cubicBezTo>
                  <a:pt x="58" y="18"/>
                  <a:pt x="58" y="18"/>
                  <a:pt x="58" y="18"/>
                </a:cubicBezTo>
                <a:cubicBezTo>
                  <a:pt x="58" y="18"/>
                  <a:pt x="58" y="18"/>
                  <a:pt x="58" y="18"/>
                </a:cubicBezTo>
                <a:cubicBezTo>
                  <a:pt x="57" y="17"/>
                  <a:pt x="56" y="17"/>
                  <a:pt x="55" y="17"/>
                </a:cubicBezTo>
                <a:cubicBezTo>
                  <a:pt x="4" y="17"/>
                  <a:pt x="4" y="17"/>
                  <a:pt x="4" y="17"/>
                </a:cubicBezTo>
                <a:cubicBezTo>
                  <a:pt x="2" y="17"/>
                  <a:pt x="0" y="18"/>
                  <a:pt x="0" y="21"/>
                </a:cubicBezTo>
                <a:cubicBezTo>
                  <a:pt x="0" y="23"/>
                  <a:pt x="2" y="25"/>
                  <a:pt x="4" y="25"/>
                </a:cubicBezTo>
                <a:close/>
                <a:moveTo>
                  <a:pt x="168" y="94"/>
                </a:moveTo>
                <a:cubicBezTo>
                  <a:pt x="167" y="93"/>
                  <a:pt x="166" y="92"/>
                  <a:pt x="165" y="92"/>
                </a:cubicBezTo>
                <a:cubicBezTo>
                  <a:pt x="162" y="92"/>
                  <a:pt x="160" y="94"/>
                  <a:pt x="160" y="97"/>
                </a:cubicBezTo>
                <a:cubicBezTo>
                  <a:pt x="160" y="98"/>
                  <a:pt x="161" y="99"/>
                  <a:pt x="162" y="100"/>
                </a:cubicBezTo>
                <a:cubicBezTo>
                  <a:pt x="171" y="109"/>
                  <a:pt x="171" y="109"/>
                  <a:pt x="171" y="109"/>
                </a:cubicBezTo>
                <a:cubicBezTo>
                  <a:pt x="133" y="109"/>
                  <a:pt x="133" y="109"/>
                  <a:pt x="133" y="109"/>
                </a:cubicBezTo>
                <a:cubicBezTo>
                  <a:pt x="107" y="77"/>
                  <a:pt x="107" y="77"/>
                  <a:pt x="107" y="77"/>
                </a:cubicBezTo>
                <a:cubicBezTo>
                  <a:pt x="101" y="84"/>
                  <a:pt x="101" y="84"/>
                  <a:pt x="101" y="84"/>
                </a:cubicBezTo>
                <a:cubicBezTo>
                  <a:pt x="128" y="116"/>
                  <a:pt x="128" y="116"/>
                  <a:pt x="128" y="116"/>
                </a:cubicBezTo>
                <a:cubicBezTo>
                  <a:pt x="128" y="116"/>
                  <a:pt x="128" y="116"/>
                  <a:pt x="128" y="116"/>
                </a:cubicBezTo>
                <a:cubicBezTo>
                  <a:pt x="128" y="117"/>
                  <a:pt x="130" y="118"/>
                  <a:pt x="131" y="118"/>
                </a:cubicBezTo>
                <a:cubicBezTo>
                  <a:pt x="171" y="118"/>
                  <a:pt x="171" y="118"/>
                  <a:pt x="171" y="118"/>
                </a:cubicBezTo>
                <a:cubicBezTo>
                  <a:pt x="162" y="127"/>
                  <a:pt x="162" y="127"/>
                  <a:pt x="162" y="127"/>
                </a:cubicBezTo>
                <a:cubicBezTo>
                  <a:pt x="161" y="128"/>
                  <a:pt x="160" y="129"/>
                  <a:pt x="160" y="130"/>
                </a:cubicBezTo>
                <a:cubicBezTo>
                  <a:pt x="160" y="133"/>
                  <a:pt x="162" y="135"/>
                  <a:pt x="165" y="135"/>
                </a:cubicBezTo>
                <a:cubicBezTo>
                  <a:pt x="166" y="135"/>
                  <a:pt x="167" y="134"/>
                  <a:pt x="168" y="133"/>
                </a:cubicBezTo>
                <a:cubicBezTo>
                  <a:pt x="185" y="117"/>
                  <a:pt x="185" y="117"/>
                  <a:pt x="185" y="117"/>
                </a:cubicBezTo>
                <a:cubicBezTo>
                  <a:pt x="185" y="116"/>
                  <a:pt x="186" y="115"/>
                  <a:pt x="186" y="114"/>
                </a:cubicBezTo>
                <a:cubicBezTo>
                  <a:pt x="186" y="112"/>
                  <a:pt x="185" y="111"/>
                  <a:pt x="185" y="111"/>
                </a:cubicBezTo>
                <a:lnTo>
                  <a:pt x="168" y="94"/>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s-ES" sz="1350" dirty="0">
              <a:solidFill>
                <a:schemeClr val="bg1"/>
              </a:solidFill>
            </a:endParaRPr>
          </a:p>
        </p:txBody>
      </p:sp>
      <p:sp>
        <p:nvSpPr>
          <p:cNvPr id="35"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14</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3850221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6"/>
          <p:cNvSpPr txBox="1"/>
          <p:nvPr/>
        </p:nvSpPr>
        <p:spPr>
          <a:xfrm>
            <a:off x="812712" y="1993678"/>
            <a:ext cx="1548000" cy="307777"/>
          </a:xfrm>
          <a:prstGeom prst="rect">
            <a:avLst/>
          </a:prstGeom>
          <a:noFill/>
        </p:spPr>
        <p:txBody>
          <a:bodyPr wrap="square" rtlCol="0">
            <a:spAutoFit/>
          </a:bodyPr>
          <a:lstStyle/>
          <a:p>
            <a:pPr algn="ctr" defTabSz="1218987"/>
            <a:r>
              <a:rPr lang="en-US" sz="1400" dirty="0">
                <a:solidFill>
                  <a:prstClr val="white">
                    <a:lumMod val="50000"/>
                  </a:prstClr>
                </a:solidFill>
                <a:latin typeface="Avenir 35" panose="00000400000000000000" pitchFamily="2" charset="0"/>
                <a:cs typeface="Arial" panose="020B0604020202020204" pitchFamily="34" charset="0"/>
              </a:rPr>
              <a:t>Data Entry</a:t>
            </a:r>
            <a:endParaRPr lang="en-US" sz="1100" dirty="0">
              <a:solidFill>
                <a:prstClr val="black"/>
              </a:solidFill>
              <a:latin typeface="Avenir 35" panose="00000400000000000000" pitchFamily="2" charset="0"/>
              <a:cs typeface="Arial" panose="020B0604020202020204" pitchFamily="34" charset="0"/>
            </a:endParaRPr>
          </a:p>
        </p:txBody>
      </p:sp>
      <p:sp>
        <p:nvSpPr>
          <p:cNvPr id="12" name="TextBox 104"/>
          <p:cNvSpPr txBox="1"/>
          <p:nvPr/>
        </p:nvSpPr>
        <p:spPr>
          <a:xfrm>
            <a:off x="2736963" y="1885955"/>
            <a:ext cx="1548000" cy="523220"/>
          </a:xfrm>
          <a:prstGeom prst="rect">
            <a:avLst/>
          </a:prstGeom>
          <a:noFill/>
        </p:spPr>
        <p:txBody>
          <a:bodyPr wrap="square" rtlCol="0">
            <a:spAutoFit/>
          </a:bodyPr>
          <a:lstStyle/>
          <a:p>
            <a:pPr algn="ctr" defTabSz="1218987"/>
            <a:r>
              <a:rPr lang="es-ES" sz="1400" dirty="0">
                <a:solidFill>
                  <a:prstClr val="white">
                    <a:lumMod val="50000"/>
                  </a:prstClr>
                </a:solidFill>
                <a:latin typeface="Avenir 35" panose="00000400000000000000" pitchFamily="2" charset="0"/>
                <a:cs typeface="Arial" panose="020B0604020202020204" pitchFamily="34" charset="0"/>
              </a:rPr>
              <a:t>Incorporación Datos Externos</a:t>
            </a:r>
            <a:endParaRPr lang="es-ES" sz="1100" dirty="0">
              <a:solidFill>
                <a:prstClr val="black"/>
              </a:solidFill>
              <a:latin typeface="Avenir 35" panose="00000400000000000000" pitchFamily="2" charset="0"/>
              <a:cs typeface="Arial" panose="020B0604020202020204" pitchFamily="34" charset="0"/>
            </a:endParaRPr>
          </a:p>
        </p:txBody>
      </p:sp>
      <p:sp>
        <p:nvSpPr>
          <p:cNvPr id="13" name="TextBox 117"/>
          <p:cNvSpPr txBox="1"/>
          <p:nvPr/>
        </p:nvSpPr>
        <p:spPr>
          <a:xfrm>
            <a:off x="4788025" y="1831371"/>
            <a:ext cx="1548000" cy="738664"/>
          </a:xfrm>
          <a:prstGeom prst="rect">
            <a:avLst/>
          </a:prstGeom>
          <a:noFill/>
        </p:spPr>
        <p:txBody>
          <a:bodyPr wrap="square" rtlCol="0">
            <a:spAutoFit/>
          </a:bodyPr>
          <a:lstStyle/>
          <a:p>
            <a:pPr algn="ctr" defTabSz="1218987"/>
            <a:r>
              <a:rPr lang="es-ES" sz="1400" dirty="0">
                <a:solidFill>
                  <a:prstClr val="white">
                    <a:lumMod val="50000"/>
                  </a:prstClr>
                </a:solidFill>
                <a:latin typeface="Avenir 35" panose="00000400000000000000" pitchFamily="2" charset="0"/>
                <a:cs typeface="Arial" panose="020B0604020202020204" pitchFamily="34" charset="0"/>
              </a:rPr>
              <a:t>Errores de carga de los sistemas transaccionales</a:t>
            </a:r>
            <a:endParaRPr lang="en-US" sz="1100" dirty="0">
              <a:solidFill>
                <a:prstClr val="black"/>
              </a:solidFill>
              <a:latin typeface="Avenir 35" panose="00000400000000000000" pitchFamily="2" charset="0"/>
              <a:cs typeface="Arial" panose="020B0604020202020204" pitchFamily="34" charset="0"/>
            </a:endParaRPr>
          </a:p>
        </p:txBody>
      </p:sp>
      <p:sp>
        <p:nvSpPr>
          <p:cNvPr id="14" name="TextBox 130"/>
          <p:cNvSpPr txBox="1"/>
          <p:nvPr/>
        </p:nvSpPr>
        <p:spPr>
          <a:xfrm>
            <a:off x="6948264" y="1993678"/>
            <a:ext cx="1548000" cy="307777"/>
          </a:xfrm>
          <a:prstGeom prst="rect">
            <a:avLst/>
          </a:prstGeom>
          <a:noFill/>
        </p:spPr>
        <p:txBody>
          <a:bodyPr wrap="square" rtlCol="0">
            <a:spAutoFit/>
          </a:bodyPr>
          <a:lstStyle/>
          <a:p>
            <a:pPr algn="ctr" defTabSz="1218987"/>
            <a:r>
              <a:rPr lang="es-ES" sz="1400" dirty="0">
                <a:solidFill>
                  <a:prstClr val="white">
                    <a:lumMod val="50000"/>
                  </a:prstClr>
                </a:solidFill>
                <a:latin typeface="Avenir 35" panose="00000400000000000000" pitchFamily="2" charset="0"/>
                <a:cs typeface="Arial" panose="020B0604020202020204" pitchFamily="34" charset="0"/>
              </a:rPr>
              <a:t>Migraciones</a:t>
            </a:r>
            <a:endParaRPr lang="es-ES" sz="1100" dirty="0">
              <a:solidFill>
                <a:prstClr val="black"/>
              </a:solidFill>
              <a:latin typeface="Avenir 35" panose="00000400000000000000" pitchFamily="2" charset="0"/>
              <a:cs typeface="Arial" panose="020B0604020202020204" pitchFamily="34" charset="0"/>
            </a:endParaRPr>
          </a:p>
        </p:txBody>
      </p:sp>
      <p:sp>
        <p:nvSpPr>
          <p:cNvPr id="19" name="22 Rectángulo redondeado"/>
          <p:cNvSpPr/>
          <p:nvPr/>
        </p:nvSpPr>
        <p:spPr>
          <a:xfrm>
            <a:off x="870242" y="2577761"/>
            <a:ext cx="7885542" cy="287713"/>
          </a:xfrm>
          <a:prstGeom prst="rect">
            <a:avLst/>
          </a:prstGeom>
          <a:solidFill>
            <a:srgbClr val="3CB2C3"/>
          </a:solidFill>
          <a:ln w="6350" cap="flat">
            <a:noFill/>
            <a:prstDash val="solid"/>
            <a:bevel/>
          </a:ln>
          <a:effectLst/>
        </p:spPr>
        <p:txBody>
          <a:bodyPr rot="0" spcFirstLastPara="1" vertOverflow="overflow" horzOverflow="overflow" vert="horz" wrap="square" lIns="19594" tIns="19594" rIns="19594" bIns="19594" numCol="1" spcCol="38100" rtlCol="0" anchor="ctr">
            <a:noAutofit/>
          </a:bodyPr>
          <a:lstStyle/>
          <a:p>
            <a:pPr marL="0" lvl="1" algn="ctr" defTabSz="825500">
              <a:defRPr/>
            </a:pPr>
            <a:r>
              <a:rPr lang="es-ES" sz="1400" kern="0" dirty="0">
                <a:solidFill>
                  <a:prstClr val="white"/>
                </a:solidFill>
                <a:latin typeface="Avenir 35" panose="00000400000000000000" pitchFamily="2" charset="0"/>
                <a:cs typeface="Arial" panose="020B0604020202020204" pitchFamily="34" charset="0"/>
                <a:sym typeface="Calibri"/>
              </a:rPr>
              <a:t>Posibles Impactos para Easy Money-Benz España</a:t>
            </a:r>
          </a:p>
        </p:txBody>
      </p:sp>
      <p:sp>
        <p:nvSpPr>
          <p:cNvPr id="20" name="22 Rectángulo redondeado"/>
          <p:cNvSpPr/>
          <p:nvPr/>
        </p:nvSpPr>
        <p:spPr>
          <a:xfrm>
            <a:off x="737241" y="895906"/>
            <a:ext cx="7885542" cy="281939"/>
          </a:xfrm>
          <a:prstGeom prst="rect">
            <a:avLst/>
          </a:prstGeom>
          <a:solidFill>
            <a:srgbClr val="3CB2C3"/>
          </a:solidFill>
          <a:ln w="6350" cap="flat">
            <a:noFill/>
            <a:prstDash val="solid"/>
            <a:bevel/>
          </a:ln>
          <a:effectLst/>
        </p:spPr>
        <p:txBody>
          <a:bodyPr rot="0" spcFirstLastPara="1" vertOverflow="overflow" horzOverflow="overflow" vert="horz" wrap="square" lIns="19594" tIns="19594" rIns="19594" bIns="19594" numCol="1" spcCol="38100" rtlCol="0" anchor="ctr">
            <a:noAutofit/>
          </a:bodyPr>
          <a:lstStyle/>
          <a:p>
            <a:pPr marL="0" lvl="1" algn="ctr" defTabSz="825500">
              <a:defRPr/>
            </a:pPr>
            <a:r>
              <a:rPr lang="es-ES" sz="1400" kern="0" dirty="0">
                <a:solidFill>
                  <a:prstClr val="white"/>
                </a:solidFill>
                <a:latin typeface="Avenir 35" panose="00000400000000000000" pitchFamily="2" charset="0"/>
                <a:cs typeface="Arial" panose="020B0604020202020204" pitchFamily="34" charset="0"/>
                <a:sym typeface="Calibri"/>
              </a:rPr>
              <a:t>¿Cómo se producen los errores de calidad de datos?</a:t>
            </a:r>
          </a:p>
        </p:txBody>
      </p:sp>
      <p:sp>
        <p:nvSpPr>
          <p:cNvPr id="21" name="28 Rectángulo redondeado"/>
          <p:cNvSpPr/>
          <p:nvPr/>
        </p:nvSpPr>
        <p:spPr>
          <a:xfrm>
            <a:off x="827584" y="2839482"/>
            <a:ext cx="7756894" cy="1512168"/>
          </a:xfrm>
          <a:prstGeom prst="rect">
            <a:avLst/>
          </a:prstGeom>
          <a:noFill/>
          <a:ln w="6350" cap="flat" cmpd="sng" algn="ctr">
            <a:noFill/>
            <a:prstDash val="solid"/>
          </a:ln>
          <a:effectLst/>
        </p:spPr>
        <p:txBody>
          <a:bodyPr rot="0" spcFirstLastPara="1" vertOverflow="overflow" horzOverflow="overflow" vert="horz" wrap="square" lIns="19594" tIns="19594" rIns="19594" bIns="19594" numCol="1" spcCol="38100" rtlCol="0" anchor="t">
            <a:noAutofit/>
          </a:bodyPr>
          <a:lstStyle/>
          <a:p>
            <a:pPr marL="266700" lvl="3" indent="-193675" defTabSz="825500">
              <a:spcBef>
                <a:spcPts val="300"/>
              </a:spcBef>
              <a:buClr>
                <a:srgbClr val="000000"/>
              </a:buClr>
              <a:buFont typeface="Arial" panose="020B0604020202020204" pitchFamily="34" charset="0"/>
              <a:buChar char="•"/>
              <a:defRPr/>
            </a:pPr>
            <a:endParaRPr lang="es-ES" sz="1400" kern="0" dirty="0">
              <a:solidFill>
                <a:srgbClr val="000000">
                  <a:lumMod val="65000"/>
                  <a:lumOff val="35000"/>
                </a:srgbClr>
              </a:solidFill>
              <a:latin typeface="Arial" panose="020B0604020202020204" pitchFamily="34" charset="0"/>
              <a:cs typeface="Arial" panose="020B0604020202020204" pitchFamily="34" charset="0"/>
              <a:sym typeface="Calibri"/>
            </a:endParaRPr>
          </a:p>
        </p:txBody>
      </p:sp>
      <p:sp>
        <p:nvSpPr>
          <p:cNvPr id="22" name="22 Rectángulo redondeado"/>
          <p:cNvSpPr/>
          <p:nvPr/>
        </p:nvSpPr>
        <p:spPr>
          <a:xfrm>
            <a:off x="870242" y="4207636"/>
            <a:ext cx="7885542" cy="288032"/>
          </a:xfrm>
          <a:prstGeom prst="rect">
            <a:avLst/>
          </a:prstGeom>
          <a:solidFill>
            <a:srgbClr val="9AAE04"/>
          </a:solidFill>
          <a:ln w="6350" cap="flat">
            <a:noFill/>
            <a:prstDash val="solid"/>
            <a:bevel/>
          </a:ln>
          <a:effectLst/>
        </p:spPr>
        <p:txBody>
          <a:bodyPr rot="0" spcFirstLastPara="1" vertOverflow="overflow" horzOverflow="overflow" vert="horz" wrap="square" lIns="19594" tIns="19594" rIns="19594" bIns="19594" numCol="1" spcCol="38100" rtlCol="0" anchor="ctr">
            <a:noAutofit/>
          </a:bodyPr>
          <a:lstStyle/>
          <a:p>
            <a:pPr marL="0" lvl="1" algn="ctr" defTabSz="825500">
              <a:defRPr/>
            </a:pPr>
            <a:r>
              <a:rPr lang="es-ES" sz="1400" kern="0" dirty="0">
                <a:solidFill>
                  <a:prstClr val="white"/>
                </a:solidFill>
                <a:latin typeface="Avenir 35" panose="00000400000000000000" pitchFamily="2" charset="0"/>
                <a:cs typeface="Arial" panose="020B0604020202020204" pitchFamily="34" charset="0"/>
                <a:sym typeface="Calibri"/>
              </a:rPr>
              <a:t>Desde Data Quality aportamos como valor diferencial</a:t>
            </a:r>
          </a:p>
        </p:txBody>
      </p:sp>
      <p:sp>
        <p:nvSpPr>
          <p:cNvPr id="32" name="31 Rectángulo redondeado"/>
          <p:cNvSpPr/>
          <p:nvPr/>
        </p:nvSpPr>
        <p:spPr>
          <a:xfrm>
            <a:off x="1411644" y="4580617"/>
            <a:ext cx="3240000" cy="547995"/>
          </a:xfrm>
          <a:prstGeom prst="rect">
            <a:avLst/>
          </a:prstGeom>
          <a:solidFill>
            <a:schemeClr val="bg1"/>
          </a:solidFill>
          <a:ln w="6350" cap="flat" cmpd="sng" algn="ctr">
            <a:noFill/>
            <a:prstDash val="solid"/>
          </a:ln>
          <a:effectLst/>
        </p:spPr>
        <p:txBody>
          <a:bodyPr rot="0" spcFirstLastPara="1" vertOverflow="overflow" horzOverflow="overflow" vert="horz" wrap="square" lIns="19594" tIns="19594" rIns="19594" bIns="19594" numCol="1" spcCol="38100" rtlCol="0" anchor="ctr">
            <a:noAutofit/>
          </a:bodyPr>
          <a:lstStyle/>
          <a:p>
            <a:pPr marL="180975" lvl="3" defTabSz="825500">
              <a:buClr>
                <a:srgbClr val="000000"/>
              </a:buClr>
              <a:defRPr/>
            </a:pPr>
            <a:r>
              <a:rPr lang="es-ES" sz="1400" kern="0" dirty="0">
                <a:solidFill>
                  <a:srgbClr val="323232"/>
                </a:solidFill>
                <a:latin typeface="Avenir 65" panose="02000600000000000000" pitchFamily="2" charset="0"/>
                <a:cs typeface="Arial" panose="020B0604020202020204" pitchFamily="34" charset="0"/>
                <a:sym typeface="Calibri"/>
              </a:rPr>
              <a:t>Customer Vision (procesos de duplicación unificado y centralizado)</a:t>
            </a:r>
          </a:p>
        </p:txBody>
      </p:sp>
      <p:sp>
        <p:nvSpPr>
          <p:cNvPr id="39" name="31 Rectángulo redondeado"/>
          <p:cNvSpPr/>
          <p:nvPr/>
        </p:nvSpPr>
        <p:spPr>
          <a:xfrm>
            <a:off x="1411985" y="5348753"/>
            <a:ext cx="3240000" cy="547995"/>
          </a:xfrm>
          <a:prstGeom prst="rect">
            <a:avLst/>
          </a:prstGeom>
          <a:solidFill>
            <a:schemeClr val="bg1"/>
          </a:solidFill>
          <a:ln w="6350" cap="flat" cmpd="sng" algn="ctr">
            <a:noFill/>
            <a:prstDash val="solid"/>
          </a:ln>
          <a:effectLst/>
        </p:spPr>
        <p:txBody>
          <a:bodyPr rot="0" spcFirstLastPara="1" vertOverflow="overflow" horzOverflow="overflow" vert="horz" wrap="square" lIns="19594" tIns="19594" rIns="19594" bIns="19594" numCol="1" spcCol="38100" rtlCol="0" anchor="ctr">
            <a:noAutofit/>
          </a:bodyPr>
          <a:lstStyle/>
          <a:p>
            <a:pPr marL="180975" lvl="3" defTabSz="825500">
              <a:buClr>
                <a:srgbClr val="000000"/>
              </a:buClr>
              <a:defRPr/>
            </a:pPr>
            <a:r>
              <a:rPr lang="es-ES" sz="1400" kern="0" dirty="0">
                <a:solidFill>
                  <a:srgbClr val="323232"/>
                </a:solidFill>
                <a:latin typeface="Avenir 65" panose="02000600000000000000" pitchFamily="2" charset="0"/>
                <a:cs typeface="Arial" panose="020B0604020202020204" pitchFamily="34" charset="0"/>
                <a:sym typeface="Calibri"/>
              </a:rPr>
              <a:t>Normalización y Calidad (Información de cliente)</a:t>
            </a:r>
          </a:p>
        </p:txBody>
      </p:sp>
      <p:sp>
        <p:nvSpPr>
          <p:cNvPr id="40" name="31 Rectángulo redondeado"/>
          <p:cNvSpPr/>
          <p:nvPr/>
        </p:nvSpPr>
        <p:spPr>
          <a:xfrm>
            <a:off x="5372085" y="4556665"/>
            <a:ext cx="3240000" cy="547995"/>
          </a:xfrm>
          <a:prstGeom prst="rect">
            <a:avLst/>
          </a:prstGeom>
          <a:solidFill>
            <a:schemeClr val="bg1"/>
          </a:solidFill>
          <a:ln w="6350" cap="flat" cmpd="sng" algn="ctr">
            <a:noFill/>
            <a:prstDash val="solid"/>
          </a:ln>
          <a:effectLst/>
        </p:spPr>
        <p:txBody>
          <a:bodyPr rot="0" spcFirstLastPara="1" vertOverflow="overflow" horzOverflow="overflow" vert="horz" wrap="square" lIns="19594" tIns="19594" rIns="19594" bIns="19594" numCol="1" spcCol="38100" rtlCol="0" anchor="ctr">
            <a:noAutofit/>
          </a:bodyPr>
          <a:lstStyle/>
          <a:p>
            <a:pPr marL="180975" lvl="3" defTabSz="825500">
              <a:buClr>
                <a:srgbClr val="000000"/>
              </a:buClr>
              <a:defRPr/>
            </a:pPr>
            <a:r>
              <a:rPr lang="es-ES" sz="1400" kern="0" dirty="0">
                <a:solidFill>
                  <a:srgbClr val="323232"/>
                </a:solidFill>
                <a:latin typeface="Avenir 65" panose="02000600000000000000" pitchFamily="2" charset="0"/>
                <a:cs typeface="Arial" panose="020B0604020202020204" pitchFamily="34" charset="0"/>
                <a:sym typeface="Calibri"/>
              </a:rPr>
              <a:t>Reducción de esfuerzos y costes</a:t>
            </a:r>
          </a:p>
        </p:txBody>
      </p:sp>
      <p:sp>
        <p:nvSpPr>
          <p:cNvPr id="41" name="31 Rectángulo redondeado"/>
          <p:cNvSpPr/>
          <p:nvPr/>
        </p:nvSpPr>
        <p:spPr>
          <a:xfrm>
            <a:off x="5364448" y="5320684"/>
            <a:ext cx="3240000" cy="547995"/>
          </a:xfrm>
          <a:prstGeom prst="rect">
            <a:avLst/>
          </a:prstGeom>
          <a:solidFill>
            <a:schemeClr val="bg1"/>
          </a:solidFill>
          <a:ln w="6350" cap="flat" cmpd="sng" algn="ctr">
            <a:noFill/>
            <a:prstDash val="solid"/>
          </a:ln>
          <a:effectLst/>
        </p:spPr>
        <p:txBody>
          <a:bodyPr rot="0" spcFirstLastPara="1" vertOverflow="overflow" horzOverflow="overflow" vert="horz" wrap="square" lIns="19594" tIns="19594" rIns="19594" bIns="19594" numCol="1" spcCol="38100" rtlCol="0" anchor="ctr">
            <a:noAutofit/>
          </a:bodyPr>
          <a:lstStyle/>
          <a:p>
            <a:pPr marL="180975" lvl="3" defTabSz="825500">
              <a:buClr>
                <a:srgbClr val="000000"/>
              </a:buClr>
              <a:defRPr/>
            </a:pPr>
            <a:r>
              <a:rPr lang="es-ES" sz="1400" kern="0" dirty="0">
                <a:solidFill>
                  <a:srgbClr val="323232"/>
                </a:solidFill>
                <a:latin typeface="Avenir 65" panose="02000600000000000000" pitchFamily="2" charset="0"/>
                <a:cs typeface="Arial" panose="020B0604020202020204" pitchFamily="34" charset="0"/>
                <a:sym typeface="Calibri"/>
              </a:rPr>
              <a:t>Sostenibilidad de la calidad de datos</a:t>
            </a:r>
          </a:p>
        </p:txBody>
      </p:sp>
      <p:sp>
        <p:nvSpPr>
          <p:cNvPr id="48" name="31 Rectángulo redondeado"/>
          <p:cNvSpPr/>
          <p:nvPr/>
        </p:nvSpPr>
        <p:spPr>
          <a:xfrm>
            <a:off x="1414189" y="2891503"/>
            <a:ext cx="3240000" cy="547995"/>
          </a:xfrm>
          <a:prstGeom prst="rect">
            <a:avLst/>
          </a:prstGeom>
          <a:solidFill>
            <a:schemeClr val="bg1"/>
          </a:solidFill>
          <a:ln w="6350" cap="flat" cmpd="sng" algn="ctr">
            <a:noFill/>
            <a:prstDash val="solid"/>
          </a:ln>
          <a:effectLst/>
        </p:spPr>
        <p:txBody>
          <a:bodyPr rot="0" spcFirstLastPara="1" vertOverflow="overflow" horzOverflow="overflow" vert="horz" wrap="square" lIns="19594" tIns="19594" rIns="19594" bIns="19594" numCol="1" spcCol="38100" rtlCol="0" anchor="ctr">
            <a:noAutofit/>
          </a:bodyPr>
          <a:lstStyle/>
          <a:p>
            <a:pPr marL="180975" lvl="3" defTabSz="825500">
              <a:buClr>
                <a:srgbClr val="000000"/>
              </a:buClr>
              <a:defRPr/>
            </a:pPr>
            <a:r>
              <a:rPr lang="es-ES" sz="1400" kern="0" dirty="0">
                <a:solidFill>
                  <a:prstClr val="black">
                    <a:lumMod val="50000"/>
                    <a:lumOff val="50000"/>
                  </a:prstClr>
                </a:solidFill>
                <a:latin typeface="Avenir 35" panose="00000400000000000000" pitchFamily="2" charset="0"/>
                <a:cs typeface="Arial" panose="020B0604020202020204" pitchFamily="34" charset="0"/>
                <a:sym typeface="Calibri"/>
              </a:rPr>
              <a:t>Modelo Ineficiente (Campañas, rendimiento, implementación,…)</a:t>
            </a:r>
          </a:p>
        </p:txBody>
      </p:sp>
      <p:sp>
        <p:nvSpPr>
          <p:cNvPr id="49" name="31 Rectángulo redondeado"/>
          <p:cNvSpPr/>
          <p:nvPr/>
        </p:nvSpPr>
        <p:spPr>
          <a:xfrm>
            <a:off x="1414529" y="3659639"/>
            <a:ext cx="3240000" cy="547995"/>
          </a:xfrm>
          <a:prstGeom prst="rect">
            <a:avLst/>
          </a:prstGeom>
          <a:solidFill>
            <a:schemeClr val="bg1"/>
          </a:solidFill>
          <a:ln w="6350" cap="flat" cmpd="sng" algn="ctr">
            <a:noFill/>
            <a:prstDash val="solid"/>
          </a:ln>
          <a:effectLst/>
        </p:spPr>
        <p:txBody>
          <a:bodyPr rot="0" spcFirstLastPara="1" vertOverflow="overflow" horzOverflow="overflow" vert="horz" wrap="square" lIns="19594" tIns="19594" rIns="19594" bIns="19594" numCol="1" spcCol="38100" rtlCol="0" anchor="ctr">
            <a:noAutofit/>
          </a:bodyPr>
          <a:lstStyle/>
          <a:p>
            <a:pPr marL="180975" lvl="3" defTabSz="825500">
              <a:buClr>
                <a:srgbClr val="000000"/>
              </a:buClr>
            </a:pPr>
            <a:r>
              <a:rPr lang="es-ES" sz="1400" kern="0" dirty="0">
                <a:solidFill>
                  <a:prstClr val="black">
                    <a:lumMod val="50000"/>
                    <a:lumOff val="50000"/>
                  </a:prstClr>
                </a:solidFill>
                <a:latin typeface="Avenir 35" panose="00000400000000000000" pitchFamily="2" charset="0"/>
                <a:cs typeface="Arial" panose="020B0604020202020204" pitchFamily="34" charset="0"/>
                <a:sym typeface="Calibri"/>
              </a:rPr>
              <a:t>Visión desvirtuada del cliente</a:t>
            </a:r>
          </a:p>
        </p:txBody>
      </p:sp>
      <p:sp>
        <p:nvSpPr>
          <p:cNvPr id="50" name="31 Rectángulo redondeado"/>
          <p:cNvSpPr/>
          <p:nvPr/>
        </p:nvSpPr>
        <p:spPr>
          <a:xfrm>
            <a:off x="5374629" y="2867553"/>
            <a:ext cx="3240000" cy="547995"/>
          </a:xfrm>
          <a:prstGeom prst="rect">
            <a:avLst/>
          </a:prstGeom>
          <a:solidFill>
            <a:schemeClr val="bg1"/>
          </a:solidFill>
          <a:ln w="6350" cap="flat" cmpd="sng" algn="ctr">
            <a:noFill/>
            <a:prstDash val="solid"/>
          </a:ln>
          <a:effectLst/>
        </p:spPr>
        <p:txBody>
          <a:bodyPr rot="0" spcFirstLastPara="1" vertOverflow="overflow" horzOverflow="overflow" vert="horz" wrap="square" lIns="19594" tIns="19594" rIns="19594" bIns="19594" numCol="1" spcCol="38100" rtlCol="0" anchor="ctr">
            <a:noAutofit/>
          </a:bodyPr>
          <a:lstStyle/>
          <a:p>
            <a:pPr marL="180975" lvl="3" defTabSz="825500">
              <a:buClr>
                <a:srgbClr val="000000"/>
              </a:buClr>
            </a:pPr>
            <a:r>
              <a:rPr lang="es-ES" sz="1400" kern="0" dirty="0">
                <a:solidFill>
                  <a:prstClr val="black">
                    <a:lumMod val="50000"/>
                    <a:lumOff val="50000"/>
                  </a:prstClr>
                </a:solidFill>
                <a:latin typeface="Avenir 35" panose="00000400000000000000" pitchFamily="2" charset="0"/>
                <a:cs typeface="Arial" panose="020B0604020202020204" pitchFamily="34" charset="0"/>
                <a:sym typeface="Calibri"/>
              </a:rPr>
              <a:t>Baja calidad de datos que afectan al negocio</a:t>
            </a:r>
          </a:p>
        </p:txBody>
      </p:sp>
      <p:sp>
        <p:nvSpPr>
          <p:cNvPr id="51" name="31 Rectángulo redondeado"/>
          <p:cNvSpPr/>
          <p:nvPr/>
        </p:nvSpPr>
        <p:spPr>
          <a:xfrm>
            <a:off x="5366994" y="3631572"/>
            <a:ext cx="3240000" cy="547995"/>
          </a:xfrm>
          <a:prstGeom prst="rect">
            <a:avLst/>
          </a:prstGeom>
          <a:solidFill>
            <a:schemeClr val="bg1"/>
          </a:solidFill>
          <a:ln w="6350" cap="flat" cmpd="sng" algn="ctr">
            <a:noFill/>
            <a:prstDash val="solid"/>
          </a:ln>
          <a:effectLst/>
        </p:spPr>
        <p:txBody>
          <a:bodyPr rot="0" spcFirstLastPara="1" vertOverflow="overflow" horzOverflow="overflow" vert="horz" wrap="square" lIns="19594" tIns="19594" rIns="19594" bIns="19594" numCol="1" spcCol="38100" rtlCol="0" anchor="ctr">
            <a:noAutofit/>
          </a:bodyPr>
          <a:lstStyle/>
          <a:p>
            <a:pPr marL="180975" lvl="3" defTabSz="825500">
              <a:buClr>
                <a:srgbClr val="000000"/>
              </a:buClr>
            </a:pPr>
            <a:r>
              <a:rPr lang="es-ES" sz="1400" kern="0" dirty="0">
                <a:solidFill>
                  <a:prstClr val="black">
                    <a:lumMod val="50000"/>
                    <a:lumOff val="50000"/>
                  </a:prstClr>
                </a:solidFill>
                <a:latin typeface="Avenir 35" panose="00000400000000000000" pitchFamily="2" charset="0"/>
                <a:cs typeface="Arial" panose="020B0604020202020204" pitchFamily="34" charset="0"/>
                <a:sym typeface="Calibri"/>
              </a:rPr>
              <a:t>Deterioro de imagen</a:t>
            </a:r>
          </a:p>
        </p:txBody>
      </p:sp>
      <p:sp>
        <p:nvSpPr>
          <p:cNvPr id="57" name="Freeform 109"/>
          <p:cNvSpPr>
            <a:spLocks noEditPoints="1"/>
          </p:cNvSpPr>
          <p:nvPr/>
        </p:nvSpPr>
        <p:spPr bwMode="auto">
          <a:xfrm>
            <a:off x="1318449" y="1229397"/>
            <a:ext cx="536525" cy="535961"/>
          </a:xfrm>
          <a:custGeom>
            <a:avLst/>
            <a:gdLst>
              <a:gd name="T0" fmla="*/ 431 w 692"/>
              <a:gd name="T1" fmla="*/ 165 h 693"/>
              <a:gd name="T2" fmla="*/ 350 w 692"/>
              <a:gd name="T3" fmla="*/ 245 h 693"/>
              <a:gd name="T4" fmla="*/ 349 w 692"/>
              <a:gd name="T5" fmla="*/ 246 h 693"/>
              <a:gd name="T6" fmla="*/ 348 w 692"/>
              <a:gd name="T7" fmla="*/ 246 h 693"/>
              <a:gd name="T8" fmla="*/ 345 w 692"/>
              <a:gd name="T9" fmla="*/ 246 h 693"/>
              <a:gd name="T10" fmla="*/ 343 w 692"/>
              <a:gd name="T11" fmla="*/ 246 h 693"/>
              <a:gd name="T12" fmla="*/ 342 w 692"/>
              <a:gd name="T13" fmla="*/ 245 h 693"/>
              <a:gd name="T14" fmla="*/ 262 w 692"/>
              <a:gd name="T15" fmla="*/ 165 h 693"/>
              <a:gd name="T16" fmla="*/ 272 w 692"/>
              <a:gd name="T17" fmla="*/ 155 h 693"/>
              <a:gd name="T18" fmla="*/ 339 w 692"/>
              <a:gd name="T19" fmla="*/ 7 h 693"/>
              <a:gd name="T20" fmla="*/ 353 w 692"/>
              <a:gd name="T21" fmla="*/ 7 h 693"/>
              <a:gd name="T22" fmla="*/ 421 w 692"/>
              <a:gd name="T23" fmla="*/ 155 h 693"/>
              <a:gd name="T24" fmla="*/ 351 w 692"/>
              <a:gd name="T25" fmla="*/ 449 h 693"/>
              <a:gd name="T26" fmla="*/ 341 w 692"/>
              <a:gd name="T27" fmla="*/ 449 h 693"/>
              <a:gd name="T28" fmla="*/ 262 w 692"/>
              <a:gd name="T29" fmla="*/ 539 h 693"/>
              <a:gd name="T30" fmla="*/ 339 w 692"/>
              <a:gd name="T31" fmla="*/ 471 h 693"/>
              <a:gd name="T32" fmla="*/ 346 w 692"/>
              <a:gd name="T33" fmla="*/ 693 h 693"/>
              <a:gd name="T34" fmla="*/ 353 w 692"/>
              <a:gd name="T35" fmla="*/ 471 h 693"/>
              <a:gd name="T36" fmla="*/ 426 w 692"/>
              <a:gd name="T37" fmla="*/ 541 h 693"/>
              <a:gd name="T38" fmla="*/ 431 w 692"/>
              <a:gd name="T39" fmla="*/ 529 h 693"/>
              <a:gd name="T40" fmla="*/ 685 w 692"/>
              <a:gd name="T41" fmla="*/ 340 h 693"/>
              <a:gd name="T42" fmla="*/ 538 w 692"/>
              <a:gd name="T43" fmla="*/ 272 h 693"/>
              <a:gd name="T44" fmla="*/ 528 w 692"/>
              <a:gd name="T45" fmla="*/ 262 h 693"/>
              <a:gd name="T46" fmla="*/ 448 w 692"/>
              <a:gd name="T47" fmla="*/ 343 h 693"/>
              <a:gd name="T48" fmla="*/ 447 w 692"/>
              <a:gd name="T49" fmla="*/ 344 h 693"/>
              <a:gd name="T50" fmla="*/ 447 w 692"/>
              <a:gd name="T51" fmla="*/ 345 h 693"/>
              <a:gd name="T52" fmla="*/ 447 w 692"/>
              <a:gd name="T53" fmla="*/ 348 h 693"/>
              <a:gd name="T54" fmla="*/ 447 w 692"/>
              <a:gd name="T55" fmla="*/ 349 h 693"/>
              <a:gd name="T56" fmla="*/ 448 w 692"/>
              <a:gd name="T57" fmla="*/ 351 h 693"/>
              <a:gd name="T58" fmla="*/ 528 w 692"/>
              <a:gd name="T59" fmla="*/ 431 h 693"/>
              <a:gd name="T60" fmla="*/ 538 w 692"/>
              <a:gd name="T61" fmla="*/ 431 h 693"/>
              <a:gd name="T62" fmla="*/ 471 w 692"/>
              <a:gd name="T63" fmla="*/ 354 h 693"/>
              <a:gd name="T64" fmla="*/ 692 w 692"/>
              <a:gd name="T65" fmla="*/ 347 h 693"/>
              <a:gd name="T66" fmla="*/ 245 w 692"/>
              <a:gd name="T67" fmla="*/ 349 h 693"/>
              <a:gd name="T68" fmla="*/ 246 w 692"/>
              <a:gd name="T69" fmla="*/ 348 h 693"/>
              <a:gd name="T70" fmla="*/ 246 w 692"/>
              <a:gd name="T71" fmla="*/ 345 h 693"/>
              <a:gd name="T72" fmla="*/ 245 w 692"/>
              <a:gd name="T73" fmla="*/ 344 h 693"/>
              <a:gd name="T74" fmla="*/ 244 w 692"/>
              <a:gd name="T75" fmla="*/ 343 h 693"/>
              <a:gd name="T76" fmla="*/ 164 w 692"/>
              <a:gd name="T77" fmla="*/ 262 h 693"/>
              <a:gd name="T78" fmla="*/ 154 w 692"/>
              <a:gd name="T79" fmla="*/ 272 h 693"/>
              <a:gd name="T80" fmla="*/ 7 w 692"/>
              <a:gd name="T81" fmla="*/ 340 h 693"/>
              <a:gd name="T82" fmla="*/ 7 w 692"/>
              <a:gd name="T83" fmla="*/ 354 h 693"/>
              <a:gd name="T84" fmla="*/ 154 w 692"/>
              <a:gd name="T85" fmla="*/ 421 h 693"/>
              <a:gd name="T86" fmla="*/ 159 w 692"/>
              <a:gd name="T87" fmla="*/ 433 h 693"/>
              <a:gd name="T88" fmla="*/ 244 w 692"/>
              <a:gd name="T89" fmla="*/ 352 h 693"/>
              <a:gd name="T90" fmla="*/ 245 w 692"/>
              <a:gd name="T91" fmla="*/ 350 h 693"/>
              <a:gd name="T92" fmla="*/ 346 w 692"/>
              <a:gd name="T93" fmla="*/ 371 h 693"/>
              <a:gd name="T94" fmla="*/ 346 w 692"/>
              <a:gd name="T95" fmla="*/ 323 h 693"/>
              <a:gd name="T96" fmla="*/ 346 w 692"/>
              <a:gd name="T97" fmla="*/ 371 h 693"/>
              <a:gd name="T98" fmla="*/ 356 w 692"/>
              <a:gd name="T99" fmla="*/ 347 h 693"/>
              <a:gd name="T100" fmla="*/ 336 w 692"/>
              <a:gd name="T101" fmla="*/ 347 h 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92" h="693">
                <a:moveTo>
                  <a:pt x="431" y="155"/>
                </a:moveTo>
                <a:cubicBezTo>
                  <a:pt x="433" y="158"/>
                  <a:pt x="433" y="162"/>
                  <a:pt x="431" y="165"/>
                </a:cubicBezTo>
                <a:cubicBezTo>
                  <a:pt x="351" y="244"/>
                  <a:pt x="351" y="244"/>
                  <a:pt x="351" y="244"/>
                </a:cubicBezTo>
                <a:cubicBezTo>
                  <a:pt x="351" y="245"/>
                  <a:pt x="350" y="245"/>
                  <a:pt x="350" y="245"/>
                </a:cubicBezTo>
                <a:cubicBezTo>
                  <a:pt x="350" y="245"/>
                  <a:pt x="350" y="245"/>
                  <a:pt x="350" y="245"/>
                </a:cubicBezTo>
                <a:cubicBezTo>
                  <a:pt x="349" y="246"/>
                  <a:pt x="349" y="246"/>
                  <a:pt x="349" y="246"/>
                </a:cubicBezTo>
                <a:cubicBezTo>
                  <a:pt x="349" y="246"/>
                  <a:pt x="348" y="246"/>
                  <a:pt x="348" y="246"/>
                </a:cubicBezTo>
                <a:cubicBezTo>
                  <a:pt x="348" y="246"/>
                  <a:pt x="348" y="246"/>
                  <a:pt x="348" y="246"/>
                </a:cubicBezTo>
                <a:cubicBezTo>
                  <a:pt x="347" y="246"/>
                  <a:pt x="347" y="246"/>
                  <a:pt x="346" y="246"/>
                </a:cubicBezTo>
                <a:cubicBezTo>
                  <a:pt x="346" y="246"/>
                  <a:pt x="345" y="246"/>
                  <a:pt x="345" y="246"/>
                </a:cubicBezTo>
                <a:cubicBezTo>
                  <a:pt x="345" y="246"/>
                  <a:pt x="344" y="246"/>
                  <a:pt x="344" y="246"/>
                </a:cubicBezTo>
                <a:cubicBezTo>
                  <a:pt x="344" y="246"/>
                  <a:pt x="344" y="246"/>
                  <a:pt x="343" y="246"/>
                </a:cubicBezTo>
                <a:cubicBezTo>
                  <a:pt x="343" y="246"/>
                  <a:pt x="343" y="246"/>
                  <a:pt x="343" y="245"/>
                </a:cubicBezTo>
                <a:cubicBezTo>
                  <a:pt x="343" y="245"/>
                  <a:pt x="342" y="245"/>
                  <a:pt x="342" y="245"/>
                </a:cubicBezTo>
                <a:cubicBezTo>
                  <a:pt x="342" y="245"/>
                  <a:pt x="342" y="245"/>
                  <a:pt x="341" y="244"/>
                </a:cubicBezTo>
                <a:cubicBezTo>
                  <a:pt x="262" y="165"/>
                  <a:pt x="262" y="165"/>
                  <a:pt x="262" y="165"/>
                </a:cubicBezTo>
                <a:cubicBezTo>
                  <a:pt x="259" y="162"/>
                  <a:pt x="259" y="158"/>
                  <a:pt x="262" y="155"/>
                </a:cubicBezTo>
                <a:cubicBezTo>
                  <a:pt x="264" y="152"/>
                  <a:pt x="269" y="152"/>
                  <a:pt x="272" y="155"/>
                </a:cubicBezTo>
                <a:cubicBezTo>
                  <a:pt x="339" y="222"/>
                  <a:pt x="339" y="222"/>
                  <a:pt x="339" y="222"/>
                </a:cubicBezTo>
                <a:cubicBezTo>
                  <a:pt x="339" y="7"/>
                  <a:pt x="339" y="7"/>
                  <a:pt x="339" y="7"/>
                </a:cubicBezTo>
                <a:cubicBezTo>
                  <a:pt x="339" y="4"/>
                  <a:pt x="342" y="0"/>
                  <a:pt x="346" y="0"/>
                </a:cubicBezTo>
                <a:cubicBezTo>
                  <a:pt x="350" y="0"/>
                  <a:pt x="353" y="4"/>
                  <a:pt x="353" y="7"/>
                </a:cubicBezTo>
                <a:cubicBezTo>
                  <a:pt x="353" y="222"/>
                  <a:pt x="353" y="222"/>
                  <a:pt x="353" y="222"/>
                </a:cubicBezTo>
                <a:cubicBezTo>
                  <a:pt x="421" y="155"/>
                  <a:pt x="421" y="155"/>
                  <a:pt x="421" y="155"/>
                </a:cubicBezTo>
                <a:cubicBezTo>
                  <a:pt x="423" y="152"/>
                  <a:pt x="428" y="152"/>
                  <a:pt x="431" y="155"/>
                </a:cubicBezTo>
                <a:close/>
                <a:moveTo>
                  <a:pt x="351" y="449"/>
                </a:moveTo>
                <a:cubicBezTo>
                  <a:pt x="350" y="448"/>
                  <a:pt x="348" y="447"/>
                  <a:pt x="346" y="447"/>
                </a:cubicBezTo>
                <a:cubicBezTo>
                  <a:pt x="344" y="447"/>
                  <a:pt x="342" y="448"/>
                  <a:pt x="341" y="449"/>
                </a:cubicBezTo>
                <a:cubicBezTo>
                  <a:pt x="262" y="529"/>
                  <a:pt x="262" y="529"/>
                  <a:pt x="262" y="529"/>
                </a:cubicBezTo>
                <a:cubicBezTo>
                  <a:pt x="259" y="532"/>
                  <a:pt x="259" y="536"/>
                  <a:pt x="262" y="539"/>
                </a:cubicBezTo>
                <a:cubicBezTo>
                  <a:pt x="264" y="542"/>
                  <a:pt x="269" y="542"/>
                  <a:pt x="272" y="539"/>
                </a:cubicBezTo>
                <a:cubicBezTo>
                  <a:pt x="339" y="471"/>
                  <a:pt x="339" y="471"/>
                  <a:pt x="339" y="471"/>
                </a:cubicBezTo>
                <a:cubicBezTo>
                  <a:pt x="339" y="686"/>
                  <a:pt x="339" y="686"/>
                  <a:pt x="339" y="686"/>
                </a:cubicBezTo>
                <a:cubicBezTo>
                  <a:pt x="339" y="690"/>
                  <a:pt x="342" y="693"/>
                  <a:pt x="346" y="693"/>
                </a:cubicBezTo>
                <a:cubicBezTo>
                  <a:pt x="350" y="693"/>
                  <a:pt x="353" y="690"/>
                  <a:pt x="353" y="686"/>
                </a:cubicBezTo>
                <a:cubicBezTo>
                  <a:pt x="353" y="471"/>
                  <a:pt x="353" y="471"/>
                  <a:pt x="353" y="471"/>
                </a:cubicBezTo>
                <a:cubicBezTo>
                  <a:pt x="421" y="539"/>
                  <a:pt x="421" y="539"/>
                  <a:pt x="421" y="539"/>
                </a:cubicBezTo>
                <a:cubicBezTo>
                  <a:pt x="422" y="540"/>
                  <a:pt x="424" y="541"/>
                  <a:pt x="426" y="541"/>
                </a:cubicBezTo>
                <a:cubicBezTo>
                  <a:pt x="427" y="541"/>
                  <a:pt x="429" y="540"/>
                  <a:pt x="431" y="539"/>
                </a:cubicBezTo>
                <a:cubicBezTo>
                  <a:pt x="433" y="536"/>
                  <a:pt x="433" y="532"/>
                  <a:pt x="431" y="529"/>
                </a:cubicBezTo>
                <a:lnTo>
                  <a:pt x="351" y="449"/>
                </a:lnTo>
                <a:close/>
                <a:moveTo>
                  <a:pt x="685" y="340"/>
                </a:moveTo>
                <a:cubicBezTo>
                  <a:pt x="471" y="340"/>
                  <a:pt x="471" y="340"/>
                  <a:pt x="471" y="340"/>
                </a:cubicBezTo>
                <a:cubicBezTo>
                  <a:pt x="538" y="272"/>
                  <a:pt x="538" y="272"/>
                  <a:pt x="538" y="272"/>
                </a:cubicBezTo>
                <a:cubicBezTo>
                  <a:pt x="541" y="269"/>
                  <a:pt x="541" y="265"/>
                  <a:pt x="538" y="262"/>
                </a:cubicBezTo>
                <a:cubicBezTo>
                  <a:pt x="535" y="260"/>
                  <a:pt x="531" y="260"/>
                  <a:pt x="528" y="262"/>
                </a:cubicBezTo>
                <a:cubicBezTo>
                  <a:pt x="449" y="342"/>
                  <a:pt x="449" y="342"/>
                  <a:pt x="449" y="342"/>
                </a:cubicBezTo>
                <a:cubicBezTo>
                  <a:pt x="448" y="342"/>
                  <a:pt x="448" y="343"/>
                  <a:pt x="448" y="343"/>
                </a:cubicBezTo>
                <a:cubicBezTo>
                  <a:pt x="448" y="343"/>
                  <a:pt x="448" y="343"/>
                  <a:pt x="448" y="343"/>
                </a:cubicBezTo>
                <a:cubicBezTo>
                  <a:pt x="448" y="343"/>
                  <a:pt x="447" y="344"/>
                  <a:pt x="447" y="344"/>
                </a:cubicBezTo>
                <a:cubicBezTo>
                  <a:pt x="447" y="344"/>
                  <a:pt x="447" y="344"/>
                  <a:pt x="447" y="344"/>
                </a:cubicBezTo>
                <a:cubicBezTo>
                  <a:pt x="447" y="345"/>
                  <a:pt x="447" y="345"/>
                  <a:pt x="447" y="345"/>
                </a:cubicBezTo>
                <a:cubicBezTo>
                  <a:pt x="447" y="346"/>
                  <a:pt x="447" y="346"/>
                  <a:pt x="447" y="347"/>
                </a:cubicBezTo>
                <a:cubicBezTo>
                  <a:pt x="447" y="347"/>
                  <a:pt x="447" y="348"/>
                  <a:pt x="447" y="348"/>
                </a:cubicBezTo>
                <a:cubicBezTo>
                  <a:pt x="447" y="349"/>
                  <a:pt x="447" y="349"/>
                  <a:pt x="447" y="349"/>
                </a:cubicBezTo>
                <a:cubicBezTo>
                  <a:pt x="447" y="349"/>
                  <a:pt x="447" y="349"/>
                  <a:pt x="447" y="349"/>
                </a:cubicBezTo>
                <a:cubicBezTo>
                  <a:pt x="447" y="350"/>
                  <a:pt x="448" y="350"/>
                  <a:pt x="448" y="351"/>
                </a:cubicBezTo>
                <a:cubicBezTo>
                  <a:pt x="448" y="351"/>
                  <a:pt x="448" y="351"/>
                  <a:pt x="448" y="351"/>
                </a:cubicBezTo>
                <a:cubicBezTo>
                  <a:pt x="448" y="351"/>
                  <a:pt x="448" y="351"/>
                  <a:pt x="449" y="352"/>
                </a:cubicBezTo>
                <a:cubicBezTo>
                  <a:pt x="528" y="431"/>
                  <a:pt x="528" y="431"/>
                  <a:pt x="528" y="431"/>
                </a:cubicBezTo>
                <a:cubicBezTo>
                  <a:pt x="530" y="433"/>
                  <a:pt x="531" y="433"/>
                  <a:pt x="533" y="433"/>
                </a:cubicBezTo>
                <a:cubicBezTo>
                  <a:pt x="535" y="433"/>
                  <a:pt x="537" y="433"/>
                  <a:pt x="538" y="431"/>
                </a:cubicBezTo>
                <a:cubicBezTo>
                  <a:pt x="541" y="429"/>
                  <a:pt x="541" y="424"/>
                  <a:pt x="538" y="421"/>
                </a:cubicBezTo>
                <a:cubicBezTo>
                  <a:pt x="471" y="354"/>
                  <a:pt x="471" y="354"/>
                  <a:pt x="471" y="354"/>
                </a:cubicBezTo>
                <a:cubicBezTo>
                  <a:pt x="685" y="354"/>
                  <a:pt x="685" y="354"/>
                  <a:pt x="685" y="354"/>
                </a:cubicBezTo>
                <a:cubicBezTo>
                  <a:pt x="689" y="354"/>
                  <a:pt x="692" y="351"/>
                  <a:pt x="692" y="347"/>
                </a:cubicBezTo>
                <a:cubicBezTo>
                  <a:pt x="692" y="343"/>
                  <a:pt x="689" y="340"/>
                  <a:pt x="685" y="340"/>
                </a:cubicBezTo>
                <a:close/>
                <a:moveTo>
                  <a:pt x="245" y="349"/>
                </a:moveTo>
                <a:cubicBezTo>
                  <a:pt x="245" y="349"/>
                  <a:pt x="245" y="349"/>
                  <a:pt x="245" y="349"/>
                </a:cubicBezTo>
                <a:cubicBezTo>
                  <a:pt x="245" y="349"/>
                  <a:pt x="245" y="349"/>
                  <a:pt x="246" y="348"/>
                </a:cubicBezTo>
                <a:cubicBezTo>
                  <a:pt x="246" y="348"/>
                  <a:pt x="246" y="347"/>
                  <a:pt x="246" y="347"/>
                </a:cubicBezTo>
                <a:cubicBezTo>
                  <a:pt x="246" y="346"/>
                  <a:pt x="246" y="346"/>
                  <a:pt x="246" y="345"/>
                </a:cubicBezTo>
                <a:cubicBezTo>
                  <a:pt x="245" y="345"/>
                  <a:pt x="245" y="345"/>
                  <a:pt x="245" y="344"/>
                </a:cubicBezTo>
                <a:cubicBezTo>
                  <a:pt x="245" y="344"/>
                  <a:pt x="245" y="344"/>
                  <a:pt x="245" y="344"/>
                </a:cubicBezTo>
                <a:cubicBezTo>
                  <a:pt x="245" y="344"/>
                  <a:pt x="245" y="343"/>
                  <a:pt x="245" y="343"/>
                </a:cubicBezTo>
                <a:cubicBezTo>
                  <a:pt x="245" y="343"/>
                  <a:pt x="245" y="343"/>
                  <a:pt x="244" y="343"/>
                </a:cubicBezTo>
                <a:cubicBezTo>
                  <a:pt x="244" y="343"/>
                  <a:pt x="244" y="342"/>
                  <a:pt x="244" y="342"/>
                </a:cubicBezTo>
                <a:cubicBezTo>
                  <a:pt x="164" y="262"/>
                  <a:pt x="164" y="262"/>
                  <a:pt x="164" y="262"/>
                </a:cubicBezTo>
                <a:cubicBezTo>
                  <a:pt x="161" y="260"/>
                  <a:pt x="157" y="260"/>
                  <a:pt x="154" y="262"/>
                </a:cubicBezTo>
                <a:cubicBezTo>
                  <a:pt x="151" y="265"/>
                  <a:pt x="151" y="269"/>
                  <a:pt x="154" y="272"/>
                </a:cubicBezTo>
                <a:cubicBezTo>
                  <a:pt x="222" y="340"/>
                  <a:pt x="222" y="340"/>
                  <a:pt x="222" y="340"/>
                </a:cubicBezTo>
                <a:cubicBezTo>
                  <a:pt x="7" y="340"/>
                  <a:pt x="7" y="340"/>
                  <a:pt x="7" y="340"/>
                </a:cubicBezTo>
                <a:cubicBezTo>
                  <a:pt x="3" y="340"/>
                  <a:pt x="0" y="343"/>
                  <a:pt x="0" y="347"/>
                </a:cubicBezTo>
                <a:cubicBezTo>
                  <a:pt x="0" y="351"/>
                  <a:pt x="3" y="354"/>
                  <a:pt x="7" y="354"/>
                </a:cubicBezTo>
                <a:cubicBezTo>
                  <a:pt x="222" y="354"/>
                  <a:pt x="222" y="354"/>
                  <a:pt x="222" y="354"/>
                </a:cubicBezTo>
                <a:cubicBezTo>
                  <a:pt x="154" y="421"/>
                  <a:pt x="154" y="421"/>
                  <a:pt x="154" y="421"/>
                </a:cubicBezTo>
                <a:cubicBezTo>
                  <a:pt x="151" y="424"/>
                  <a:pt x="151" y="429"/>
                  <a:pt x="154" y="431"/>
                </a:cubicBezTo>
                <a:cubicBezTo>
                  <a:pt x="156" y="433"/>
                  <a:pt x="157" y="433"/>
                  <a:pt x="159" y="433"/>
                </a:cubicBezTo>
                <a:cubicBezTo>
                  <a:pt x="161" y="433"/>
                  <a:pt x="163" y="433"/>
                  <a:pt x="164" y="431"/>
                </a:cubicBezTo>
                <a:cubicBezTo>
                  <a:pt x="244" y="352"/>
                  <a:pt x="244" y="352"/>
                  <a:pt x="244" y="352"/>
                </a:cubicBezTo>
                <a:cubicBezTo>
                  <a:pt x="244" y="351"/>
                  <a:pt x="244" y="351"/>
                  <a:pt x="244" y="351"/>
                </a:cubicBezTo>
                <a:cubicBezTo>
                  <a:pt x="245" y="351"/>
                  <a:pt x="245" y="351"/>
                  <a:pt x="245" y="350"/>
                </a:cubicBezTo>
                <a:cubicBezTo>
                  <a:pt x="245" y="350"/>
                  <a:pt x="245" y="350"/>
                  <a:pt x="245" y="349"/>
                </a:cubicBezTo>
                <a:close/>
                <a:moveTo>
                  <a:pt x="346" y="371"/>
                </a:moveTo>
                <a:cubicBezTo>
                  <a:pt x="333" y="371"/>
                  <a:pt x="322" y="360"/>
                  <a:pt x="322" y="347"/>
                </a:cubicBezTo>
                <a:cubicBezTo>
                  <a:pt x="322" y="333"/>
                  <a:pt x="333" y="323"/>
                  <a:pt x="346" y="323"/>
                </a:cubicBezTo>
                <a:cubicBezTo>
                  <a:pt x="359" y="323"/>
                  <a:pt x="370" y="333"/>
                  <a:pt x="370" y="347"/>
                </a:cubicBezTo>
                <a:cubicBezTo>
                  <a:pt x="370" y="360"/>
                  <a:pt x="359" y="371"/>
                  <a:pt x="346" y="371"/>
                </a:cubicBezTo>
                <a:close/>
                <a:moveTo>
                  <a:pt x="346" y="357"/>
                </a:moveTo>
                <a:cubicBezTo>
                  <a:pt x="352" y="357"/>
                  <a:pt x="356" y="352"/>
                  <a:pt x="356" y="347"/>
                </a:cubicBezTo>
                <a:cubicBezTo>
                  <a:pt x="356" y="341"/>
                  <a:pt x="352" y="337"/>
                  <a:pt x="346" y="337"/>
                </a:cubicBezTo>
                <a:cubicBezTo>
                  <a:pt x="341" y="337"/>
                  <a:pt x="336" y="341"/>
                  <a:pt x="336" y="347"/>
                </a:cubicBezTo>
                <a:cubicBezTo>
                  <a:pt x="336" y="352"/>
                  <a:pt x="341" y="357"/>
                  <a:pt x="346" y="357"/>
                </a:cubicBezTo>
                <a:close/>
              </a:path>
            </a:pathLst>
          </a:custGeom>
          <a:solidFill>
            <a:srgbClr val="323232"/>
          </a:solidFill>
          <a:ln>
            <a:solidFill>
              <a:srgbClr val="323232"/>
            </a:solidFill>
          </a:ln>
        </p:spPr>
        <p:txBody>
          <a:bodyPr vert="horz" wrap="square" lIns="68580" tIns="34290" rIns="68580" bIns="34290" numCol="1" anchor="t" anchorCtr="0" compatLnSpc="1">
            <a:prstTxWarp prst="textNoShape">
              <a:avLst/>
            </a:prstTxWarp>
          </a:bodyPr>
          <a:lstStyle/>
          <a:p>
            <a:endParaRPr lang="en-US" dirty="0">
              <a:solidFill>
                <a:prstClr val="black"/>
              </a:solidFill>
            </a:endParaRPr>
          </a:p>
        </p:txBody>
      </p:sp>
      <p:sp>
        <p:nvSpPr>
          <p:cNvPr id="58" name="Freeform 38"/>
          <p:cNvSpPr>
            <a:spLocks noEditPoints="1"/>
          </p:cNvSpPr>
          <p:nvPr/>
        </p:nvSpPr>
        <p:spPr bwMode="auto">
          <a:xfrm>
            <a:off x="3276233" y="1342162"/>
            <a:ext cx="480101" cy="423195"/>
          </a:xfrm>
          <a:custGeom>
            <a:avLst/>
            <a:gdLst>
              <a:gd name="T0" fmla="*/ 354 w 416"/>
              <a:gd name="T1" fmla="*/ 108 h 367"/>
              <a:gd name="T2" fmla="*/ 248 w 416"/>
              <a:gd name="T3" fmla="*/ 0 h 367"/>
              <a:gd name="T4" fmla="*/ 161 w 416"/>
              <a:gd name="T5" fmla="*/ 49 h 367"/>
              <a:gd name="T6" fmla="*/ 138 w 416"/>
              <a:gd name="T7" fmla="*/ 45 h 367"/>
              <a:gd name="T8" fmla="*/ 71 w 416"/>
              <a:gd name="T9" fmla="*/ 106 h 367"/>
              <a:gd name="T10" fmla="*/ 0 w 416"/>
              <a:gd name="T11" fmla="*/ 186 h 367"/>
              <a:gd name="T12" fmla="*/ 77 w 416"/>
              <a:gd name="T13" fmla="*/ 266 h 367"/>
              <a:gd name="T14" fmla="*/ 209 w 416"/>
              <a:gd name="T15" fmla="*/ 266 h 367"/>
              <a:gd name="T16" fmla="*/ 209 w 416"/>
              <a:gd name="T17" fmla="*/ 362 h 367"/>
              <a:gd name="T18" fmla="*/ 213 w 416"/>
              <a:gd name="T19" fmla="*/ 367 h 367"/>
              <a:gd name="T20" fmla="*/ 218 w 416"/>
              <a:gd name="T21" fmla="*/ 362 h 367"/>
              <a:gd name="T22" fmla="*/ 218 w 416"/>
              <a:gd name="T23" fmla="*/ 266 h 367"/>
              <a:gd name="T24" fmla="*/ 344 w 416"/>
              <a:gd name="T25" fmla="*/ 266 h 367"/>
              <a:gd name="T26" fmla="*/ 344 w 416"/>
              <a:gd name="T27" fmla="*/ 266 h 367"/>
              <a:gd name="T28" fmla="*/ 416 w 416"/>
              <a:gd name="T29" fmla="*/ 186 h 367"/>
              <a:gd name="T30" fmla="*/ 354 w 416"/>
              <a:gd name="T31" fmla="*/ 108 h 367"/>
              <a:gd name="T32" fmla="*/ 344 w 416"/>
              <a:gd name="T33" fmla="*/ 257 h 367"/>
              <a:gd name="T34" fmla="*/ 218 w 416"/>
              <a:gd name="T35" fmla="*/ 257 h 367"/>
              <a:gd name="T36" fmla="*/ 218 w 416"/>
              <a:gd name="T37" fmla="*/ 177 h 367"/>
              <a:gd name="T38" fmla="*/ 267 w 416"/>
              <a:gd name="T39" fmla="*/ 226 h 367"/>
              <a:gd name="T40" fmla="*/ 270 w 416"/>
              <a:gd name="T41" fmla="*/ 227 h 367"/>
              <a:gd name="T42" fmla="*/ 273 w 416"/>
              <a:gd name="T43" fmla="*/ 226 h 367"/>
              <a:gd name="T44" fmla="*/ 273 w 416"/>
              <a:gd name="T45" fmla="*/ 219 h 367"/>
              <a:gd name="T46" fmla="*/ 217 w 416"/>
              <a:gd name="T47" fmla="*/ 162 h 367"/>
              <a:gd name="T48" fmla="*/ 217 w 416"/>
              <a:gd name="T49" fmla="*/ 162 h 367"/>
              <a:gd name="T50" fmla="*/ 213 w 416"/>
              <a:gd name="T51" fmla="*/ 161 h 367"/>
              <a:gd name="T52" fmla="*/ 210 w 416"/>
              <a:gd name="T53" fmla="*/ 162 h 367"/>
              <a:gd name="T54" fmla="*/ 153 w 416"/>
              <a:gd name="T55" fmla="*/ 219 h 367"/>
              <a:gd name="T56" fmla="*/ 153 w 416"/>
              <a:gd name="T57" fmla="*/ 226 h 367"/>
              <a:gd name="T58" fmla="*/ 160 w 416"/>
              <a:gd name="T59" fmla="*/ 226 h 367"/>
              <a:gd name="T60" fmla="*/ 209 w 416"/>
              <a:gd name="T61" fmla="*/ 177 h 367"/>
              <a:gd name="T62" fmla="*/ 209 w 416"/>
              <a:gd name="T63" fmla="*/ 257 h 367"/>
              <a:gd name="T64" fmla="*/ 77 w 416"/>
              <a:gd name="T65" fmla="*/ 257 h 367"/>
              <a:gd name="T66" fmla="*/ 10 w 416"/>
              <a:gd name="T67" fmla="*/ 186 h 367"/>
              <a:gd name="T68" fmla="*/ 76 w 416"/>
              <a:gd name="T69" fmla="*/ 115 h 367"/>
              <a:gd name="T70" fmla="*/ 80 w 416"/>
              <a:gd name="T71" fmla="*/ 110 h 367"/>
              <a:gd name="T72" fmla="*/ 138 w 416"/>
              <a:gd name="T73" fmla="*/ 55 h 367"/>
              <a:gd name="T74" fmla="*/ 161 w 416"/>
              <a:gd name="T75" fmla="*/ 59 h 367"/>
              <a:gd name="T76" fmla="*/ 167 w 416"/>
              <a:gd name="T77" fmla="*/ 57 h 367"/>
              <a:gd name="T78" fmla="*/ 248 w 416"/>
              <a:gd name="T79" fmla="*/ 9 h 367"/>
              <a:gd name="T80" fmla="*/ 345 w 416"/>
              <a:gd name="T81" fmla="*/ 112 h 367"/>
              <a:gd name="T82" fmla="*/ 349 w 416"/>
              <a:gd name="T83" fmla="*/ 117 h 367"/>
              <a:gd name="T84" fmla="*/ 407 w 416"/>
              <a:gd name="T85" fmla="*/ 186 h 367"/>
              <a:gd name="T86" fmla="*/ 344 w 416"/>
              <a:gd name="T87" fmla="*/ 257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16" h="367">
                <a:moveTo>
                  <a:pt x="354" y="108"/>
                </a:moveTo>
                <a:cubicBezTo>
                  <a:pt x="350" y="48"/>
                  <a:pt x="304" y="0"/>
                  <a:pt x="248" y="0"/>
                </a:cubicBezTo>
                <a:cubicBezTo>
                  <a:pt x="213" y="0"/>
                  <a:pt x="181" y="18"/>
                  <a:pt x="161" y="49"/>
                </a:cubicBezTo>
                <a:cubicBezTo>
                  <a:pt x="153" y="47"/>
                  <a:pt x="145" y="45"/>
                  <a:pt x="138" y="45"/>
                </a:cubicBezTo>
                <a:cubicBezTo>
                  <a:pt x="102" y="45"/>
                  <a:pt x="73" y="72"/>
                  <a:pt x="71" y="106"/>
                </a:cubicBezTo>
                <a:cubicBezTo>
                  <a:pt x="31" y="110"/>
                  <a:pt x="0" y="145"/>
                  <a:pt x="0" y="186"/>
                </a:cubicBezTo>
                <a:cubicBezTo>
                  <a:pt x="0" y="231"/>
                  <a:pt x="34" y="266"/>
                  <a:pt x="77" y="266"/>
                </a:cubicBezTo>
                <a:cubicBezTo>
                  <a:pt x="209" y="266"/>
                  <a:pt x="209" y="266"/>
                  <a:pt x="209" y="266"/>
                </a:cubicBezTo>
                <a:cubicBezTo>
                  <a:pt x="209" y="362"/>
                  <a:pt x="209" y="362"/>
                  <a:pt x="209" y="362"/>
                </a:cubicBezTo>
                <a:cubicBezTo>
                  <a:pt x="209" y="364"/>
                  <a:pt x="211" y="367"/>
                  <a:pt x="213" y="367"/>
                </a:cubicBezTo>
                <a:cubicBezTo>
                  <a:pt x="216" y="367"/>
                  <a:pt x="218" y="364"/>
                  <a:pt x="218" y="362"/>
                </a:cubicBezTo>
                <a:cubicBezTo>
                  <a:pt x="218" y="266"/>
                  <a:pt x="218" y="266"/>
                  <a:pt x="218" y="266"/>
                </a:cubicBezTo>
                <a:cubicBezTo>
                  <a:pt x="344" y="266"/>
                  <a:pt x="344" y="266"/>
                  <a:pt x="344" y="266"/>
                </a:cubicBezTo>
                <a:cubicBezTo>
                  <a:pt x="344" y="266"/>
                  <a:pt x="344" y="266"/>
                  <a:pt x="344" y="266"/>
                </a:cubicBezTo>
                <a:cubicBezTo>
                  <a:pt x="384" y="265"/>
                  <a:pt x="416" y="229"/>
                  <a:pt x="416" y="186"/>
                </a:cubicBezTo>
                <a:cubicBezTo>
                  <a:pt x="416" y="147"/>
                  <a:pt x="390" y="115"/>
                  <a:pt x="354" y="108"/>
                </a:cubicBezTo>
                <a:close/>
                <a:moveTo>
                  <a:pt x="344" y="257"/>
                </a:moveTo>
                <a:cubicBezTo>
                  <a:pt x="218" y="257"/>
                  <a:pt x="218" y="257"/>
                  <a:pt x="218" y="257"/>
                </a:cubicBezTo>
                <a:cubicBezTo>
                  <a:pt x="218" y="177"/>
                  <a:pt x="218" y="177"/>
                  <a:pt x="218" y="177"/>
                </a:cubicBezTo>
                <a:cubicBezTo>
                  <a:pt x="267" y="226"/>
                  <a:pt x="267" y="226"/>
                  <a:pt x="267" y="226"/>
                </a:cubicBezTo>
                <a:cubicBezTo>
                  <a:pt x="268" y="227"/>
                  <a:pt x="269" y="227"/>
                  <a:pt x="270" y="227"/>
                </a:cubicBezTo>
                <a:cubicBezTo>
                  <a:pt x="271" y="227"/>
                  <a:pt x="273" y="227"/>
                  <a:pt x="273" y="226"/>
                </a:cubicBezTo>
                <a:cubicBezTo>
                  <a:pt x="275" y="224"/>
                  <a:pt x="275" y="221"/>
                  <a:pt x="273" y="219"/>
                </a:cubicBezTo>
                <a:cubicBezTo>
                  <a:pt x="217" y="162"/>
                  <a:pt x="217" y="162"/>
                  <a:pt x="217" y="162"/>
                </a:cubicBezTo>
                <a:cubicBezTo>
                  <a:pt x="217" y="162"/>
                  <a:pt x="217" y="162"/>
                  <a:pt x="217" y="162"/>
                </a:cubicBezTo>
                <a:cubicBezTo>
                  <a:pt x="216" y="161"/>
                  <a:pt x="215" y="161"/>
                  <a:pt x="213" y="161"/>
                </a:cubicBezTo>
                <a:cubicBezTo>
                  <a:pt x="212" y="161"/>
                  <a:pt x="211" y="161"/>
                  <a:pt x="210" y="162"/>
                </a:cubicBezTo>
                <a:cubicBezTo>
                  <a:pt x="153" y="219"/>
                  <a:pt x="153" y="219"/>
                  <a:pt x="153" y="219"/>
                </a:cubicBezTo>
                <a:cubicBezTo>
                  <a:pt x="151" y="221"/>
                  <a:pt x="151" y="224"/>
                  <a:pt x="153" y="226"/>
                </a:cubicBezTo>
                <a:cubicBezTo>
                  <a:pt x="155" y="228"/>
                  <a:pt x="158" y="228"/>
                  <a:pt x="160" y="226"/>
                </a:cubicBezTo>
                <a:cubicBezTo>
                  <a:pt x="209" y="177"/>
                  <a:pt x="209" y="177"/>
                  <a:pt x="209" y="177"/>
                </a:cubicBezTo>
                <a:cubicBezTo>
                  <a:pt x="209" y="257"/>
                  <a:pt x="209" y="257"/>
                  <a:pt x="209" y="257"/>
                </a:cubicBezTo>
                <a:cubicBezTo>
                  <a:pt x="77" y="257"/>
                  <a:pt x="77" y="257"/>
                  <a:pt x="77" y="257"/>
                </a:cubicBezTo>
                <a:cubicBezTo>
                  <a:pt x="39" y="257"/>
                  <a:pt x="10" y="226"/>
                  <a:pt x="10" y="186"/>
                </a:cubicBezTo>
                <a:cubicBezTo>
                  <a:pt x="10" y="149"/>
                  <a:pt x="39" y="117"/>
                  <a:pt x="76" y="115"/>
                </a:cubicBezTo>
                <a:cubicBezTo>
                  <a:pt x="78" y="115"/>
                  <a:pt x="80" y="113"/>
                  <a:pt x="80" y="110"/>
                </a:cubicBezTo>
                <a:cubicBezTo>
                  <a:pt x="80" y="79"/>
                  <a:pt x="105" y="55"/>
                  <a:pt x="138" y="55"/>
                </a:cubicBezTo>
                <a:cubicBezTo>
                  <a:pt x="145" y="55"/>
                  <a:pt x="153" y="56"/>
                  <a:pt x="161" y="59"/>
                </a:cubicBezTo>
                <a:cubicBezTo>
                  <a:pt x="163" y="60"/>
                  <a:pt x="166" y="59"/>
                  <a:pt x="167" y="57"/>
                </a:cubicBezTo>
                <a:cubicBezTo>
                  <a:pt x="185" y="27"/>
                  <a:pt x="215" y="9"/>
                  <a:pt x="248" y="9"/>
                </a:cubicBezTo>
                <a:cubicBezTo>
                  <a:pt x="300" y="9"/>
                  <a:pt x="343" y="56"/>
                  <a:pt x="345" y="112"/>
                </a:cubicBezTo>
                <a:cubicBezTo>
                  <a:pt x="345" y="115"/>
                  <a:pt x="346" y="116"/>
                  <a:pt x="349" y="117"/>
                </a:cubicBezTo>
                <a:cubicBezTo>
                  <a:pt x="382" y="122"/>
                  <a:pt x="407" y="151"/>
                  <a:pt x="407" y="186"/>
                </a:cubicBezTo>
                <a:cubicBezTo>
                  <a:pt x="407" y="224"/>
                  <a:pt x="379" y="255"/>
                  <a:pt x="344" y="257"/>
                </a:cubicBezTo>
                <a:close/>
              </a:path>
            </a:pathLst>
          </a:custGeom>
          <a:solidFill>
            <a:srgbClr val="323232"/>
          </a:solidFill>
          <a:ln>
            <a:solidFill>
              <a:srgbClr val="323232"/>
            </a:solidFill>
          </a:ln>
        </p:spPr>
        <p:txBody>
          <a:bodyPr vert="horz" wrap="square" lIns="68580" tIns="34290" rIns="68580" bIns="34290" numCol="1" anchor="t" anchorCtr="0" compatLnSpc="1">
            <a:prstTxWarp prst="textNoShape">
              <a:avLst/>
            </a:prstTxWarp>
          </a:bodyPr>
          <a:lstStyle/>
          <a:p>
            <a:endParaRPr lang="en-US" dirty="0">
              <a:solidFill>
                <a:prstClr val="black"/>
              </a:solidFill>
            </a:endParaRPr>
          </a:p>
        </p:txBody>
      </p:sp>
      <p:sp>
        <p:nvSpPr>
          <p:cNvPr id="59" name="Freeform 153"/>
          <p:cNvSpPr>
            <a:spLocks noEditPoints="1"/>
          </p:cNvSpPr>
          <p:nvPr/>
        </p:nvSpPr>
        <p:spPr bwMode="auto">
          <a:xfrm>
            <a:off x="5318714" y="1297002"/>
            <a:ext cx="486620" cy="400746"/>
          </a:xfrm>
          <a:custGeom>
            <a:avLst/>
            <a:gdLst>
              <a:gd name="T0" fmla="*/ 0 w 629"/>
              <a:gd name="T1" fmla="*/ 517 h 517"/>
              <a:gd name="T2" fmla="*/ 315 w 629"/>
              <a:gd name="T3" fmla="*/ 0 h 517"/>
              <a:gd name="T4" fmla="*/ 629 w 629"/>
              <a:gd name="T5" fmla="*/ 517 h 517"/>
              <a:gd name="T6" fmla="*/ 0 w 629"/>
              <a:gd name="T7" fmla="*/ 517 h 517"/>
              <a:gd name="T8" fmla="*/ 315 w 629"/>
              <a:gd name="T9" fmla="*/ 408 h 517"/>
              <a:gd name="T10" fmla="*/ 290 w 629"/>
              <a:gd name="T11" fmla="*/ 433 h 517"/>
              <a:gd name="T12" fmla="*/ 315 w 629"/>
              <a:gd name="T13" fmla="*/ 457 h 517"/>
              <a:gd name="T14" fmla="*/ 339 w 629"/>
              <a:gd name="T15" fmla="*/ 433 h 517"/>
              <a:gd name="T16" fmla="*/ 315 w 629"/>
              <a:gd name="T17" fmla="*/ 408 h 517"/>
              <a:gd name="T18" fmla="*/ 290 w 629"/>
              <a:gd name="T19" fmla="*/ 367 h 517"/>
              <a:gd name="T20" fmla="*/ 315 w 629"/>
              <a:gd name="T21" fmla="*/ 391 h 517"/>
              <a:gd name="T22" fmla="*/ 339 w 629"/>
              <a:gd name="T23" fmla="*/ 367 h 517"/>
              <a:gd name="T24" fmla="*/ 339 w 629"/>
              <a:gd name="T25" fmla="*/ 200 h 517"/>
              <a:gd name="T26" fmla="*/ 315 w 629"/>
              <a:gd name="T27" fmla="*/ 176 h 517"/>
              <a:gd name="T28" fmla="*/ 290 w 629"/>
              <a:gd name="T29" fmla="*/ 200 h 517"/>
              <a:gd name="T30" fmla="*/ 290 w 629"/>
              <a:gd name="T31" fmla="*/ 367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9" h="517">
                <a:moveTo>
                  <a:pt x="0" y="517"/>
                </a:moveTo>
                <a:cubicBezTo>
                  <a:pt x="315" y="0"/>
                  <a:pt x="315" y="0"/>
                  <a:pt x="315" y="0"/>
                </a:cubicBezTo>
                <a:cubicBezTo>
                  <a:pt x="629" y="517"/>
                  <a:pt x="629" y="517"/>
                  <a:pt x="629" y="517"/>
                </a:cubicBezTo>
                <a:lnTo>
                  <a:pt x="0" y="517"/>
                </a:lnTo>
                <a:close/>
                <a:moveTo>
                  <a:pt x="315" y="408"/>
                </a:moveTo>
                <a:cubicBezTo>
                  <a:pt x="301" y="408"/>
                  <a:pt x="290" y="419"/>
                  <a:pt x="290" y="433"/>
                </a:cubicBezTo>
                <a:cubicBezTo>
                  <a:pt x="290" y="446"/>
                  <a:pt x="301" y="457"/>
                  <a:pt x="315" y="457"/>
                </a:cubicBezTo>
                <a:cubicBezTo>
                  <a:pt x="328" y="457"/>
                  <a:pt x="339" y="446"/>
                  <a:pt x="339" y="433"/>
                </a:cubicBezTo>
                <a:cubicBezTo>
                  <a:pt x="339" y="419"/>
                  <a:pt x="328" y="408"/>
                  <a:pt x="315" y="408"/>
                </a:cubicBezTo>
                <a:close/>
                <a:moveTo>
                  <a:pt x="290" y="367"/>
                </a:moveTo>
                <a:cubicBezTo>
                  <a:pt x="290" y="380"/>
                  <a:pt x="301" y="391"/>
                  <a:pt x="315" y="391"/>
                </a:cubicBezTo>
                <a:cubicBezTo>
                  <a:pt x="328" y="391"/>
                  <a:pt x="339" y="380"/>
                  <a:pt x="339" y="367"/>
                </a:cubicBezTo>
                <a:cubicBezTo>
                  <a:pt x="339" y="200"/>
                  <a:pt x="339" y="200"/>
                  <a:pt x="339" y="200"/>
                </a:cubicBezTo>
                <a:cubicBezTo>
                  <a:pt x="339" y="187"/>
                  <a:pt x="328" y="176"/>
                  <a:pt x="315" y="176"/>
                </a:cubicBezTo>
                <a:cubicBezTo>
                  <a:pt x="301" y="176"/>
                  <a:pt x="290" y="187"/>
                  <a:pt x="290" y="200"/>
                </a:cubicBezTo>
                <a:lnTo>
                  <a:pt x="290" y="367"/>
                </a:lnTo>
                <a:close/>
              </a:path>
            </a:pathLst>
          </a:custGeom>
          <a:noFill/>
          <a:ln w="19050" cap="rnd">
            <a:solidFill>
              <a:srgbClr val="323232"/>
            </a:solidFill>
            <a:prstDash val="solid"/>
            <a:round/>
            <a:headEnd/>
            <a:tailEnd/>
          </a:ln>
        </p:spPr>
        <p:txBody>
          <a:bodyPr vert="horz" wrap="square" lIns="68580" tIns="34290" rIns="68580" bIns="34290" numCol="1" anchor="t" anchorCtr="0" compatLnSpc="1">
            <a:prstTxWarp prst="textNoShape">
              <a:avLst/>
            </a:prstTxWarp>
          </a:bodyPr>
          <a:lstStyle/>
          <a:p>
            <a:endParaRPr lang="en-US" dirty="0">
              <a:solidFill>
                <a:prstClr val="black"/>
              </a:solidFill>
            </a:endParaRPr>
          </a:p>
        </p:txBody>
      </p:sp>
      <p:sp>
        <p:nvSpPr>
          <p:cNvPr id="60" name="Freeform 96"/>
          <p:cNvSpPr>
            <a:spLocks noEditPoints="1"/>
          </p:cNvSpPr>
          <p:nvPr/>
        </p:nvSpPr>
        <p:spPr bwMode="auto">
          <a:xfrm>
            <a:off x="7488653" y="1283004"/>
            <a:ext cx="467222" cy="499554"/>
          </a:xfrm>
          <a:custGeom>
            <a:avLst/>
            <a:gdLst>
              <a:gd name="T0" fmla="*/ 730 w 730"/>
              <a:gd name="T1" fmla="*/ 386 h 780"/>
              <a:gd name="T2" fmla="*/ 677 w 730"/>
              <a:gd name="T3" fmla="*/ 198 h 780"/>
              <a:gd name="T4" fmla="*/ 476 w 730"/>
              <a:gd name="T5" fmla="*/ 46 h 780"/>
              <a:gd name="T6" fmla="*/ 659 w 730"/>
              <a:gd name="T7" fmla="*/ 195 h 780"/>
              <a:gd name="T8" fmla="*/ 523 w 730"/>
              <a:gd name="T9" fmla="*/ 163 h 780"/>
              <a:gd name="T10" fmla="*/ 510 w 730"/>
              <a:gd name="T11" fmla="*/ 169 h 780"/>
              <a:gd name="T12" fmla="*/ 372 w 730"/>
              <a:gd name="T13" fmla="*/ 195 h 780"/>
              <a:gd name="T14" fmla="*/ 365 w 730"/>
              <a:gd name="T15" fmla="*/ 22 h 780"/>
              <a:gd name="T16" fmla="*/ 52 w 730"/>
              <a:gd name="T17" fmla="*/ 200 h 780"/>
              <a:gd name="T18" fmla="*/ 52 w 730"/>
              <a:gd name="T19" fmla="*/ 574 h 780"/>
              <a:gd name="T20" fmla="*/ 247 w 730"/>
              <a:gd name="T21" fmla="*/ 732 h 780"/>
              <a:gd name="T22" fmla="*/ 256 w 730"/>
              <a:gd name="T23" fmla="*/ 727 h 780"/>
              <a:gd name="T24" fmla="*/ 71 w 730"/>
              <a:gd name="T25" fmla="*/ 577 h 780"/>
              <a:gd name="T26" fmla="*/ 207 w 730"/>
              <a:gd name="T27" fmla="*/ 608 h 780"/>
              <a:gd name="T28" fmla="*/ 216 w 730"/>
              <a:gd name="T29" fmla="*/ 612 h 780"/>
              <a:gd name="T30" fmla="*/ 210 w 730"/>
              <a:gd name="T31" fmla="*/ 577 h 780"/>
              <a:gd name="T32" fmla="*/ 358 w 730"/>
              <a:gd name="T33" fmla="*/ 744 h 780"/>
              <a:gd name="T34" fmla="*/ 677 w 730"/>
              <a:gd name="T35" fmla="*/ 575 h 780"/>
              <a:gd name="T36" fmla="*/ 564 w 730"/>
              <a:gd name="T37" fmla="*/ 393 h 780"/>
              <a:gd name="T38" fmla="*/ 668 w 730"/>
              <a:gd name="T39" fmla="*/ 563 h 780"/>
              <a:gd name="T40" fmla="*/ 564 w 730"/>
              <a:gd name="T41" fmla="*/ 393 h 780"/>
              <a:gd name="T42" fmla="*/ 372 w 730"/>
              <a:gd name="T43" fmla="*/ 563 h 780"/>
              <a:gd name="T44" fmla="*/ 550 w 730"/>
              <a:gd name="T45" fmla="*/ 393 h 780"/>
              <a:gd name="T46" fmla="*/ 668 w 730"/>
              <a:gd name="T47" fmla="*/ 209 h 780"/>
              <a:gd name="T48" fmla="*/ 564 w 730"/>
              <a:gd name="T49" fmla="*/ 379 h 780"/>
              <a:gd name="T50" fmla="*/ 668 w 730"/>
              <a:gd name="T51" fmla="*/ 209 h 780"/>
              <a:gd name="T52" fmla="*/ 550 w 730"/>
              <a:gd name="T53" fmla="*/ 379 h 780"/>
              <a:gd name="T54" fmla="*/ 372 w 730"/>
              <a:gd name="T55" fmla="*/ 209 h 780"/>
              <a:gd name="T56" fmla="*/ 14 w 730"/>
              <a:gd name="T57" fmla="*/ 379 h 780"/>
              <a:gd name="T58" fmla="*/ 191 w 730"/>
              <a:gd name="T59" fmla="*/ 209 h 780"/>
              <a:gd name="T60" fmla="*/ 14 w 730"/>
              <a:gd name="T61" fmla="*/ 379 h 780"/>
              <a:gd name="T62" fmla="*/ 358 w 730"/>
              <a:gd name="T63" fmla="*/ 209 h 780"/>
              <a:gd name="T64" fmla="*/ 180 w 730"/>
              <a:gd name="T65" fmla="*/ 379 h 780"/>
              <a:gd name="T66" fmla="*/ 210 w 730"/>
              <a:gd name="T67" fmla="*/ 195 h 780"/>
              <a:gd name="T68" fmla="*/ 358 w 730"/>
              <a:gd name="T69" fmla="*/ 195 h 780"/>
              <a:gd name="T70" fmla="*/ 299 w 730"/>
              <a:gd name="T71" fmla="*/ 42 h 780"/>
              <a:gd name="T72" fmla="*/ 195 w 730"/>
              <a:gd name="T73" fmla="*/ 195 h 780"/>
              <a:gd name="T74" fmla="*/ 299 w 730"/>
              <a:gd name="T75" fmla="*/ 42 h 780"/>
              <a:gd name="T76" fmla="*/ 14 w 730"/>
              <a:gd name="T77" fmla="*/ 393 h 780"/>
              <a:gd name="T78" fmla="*/ 191 w 730"/>
              <a:gd name="T79" fmla="*/ 563 h 780"/>
              <a:gd name="T80" fmla="*/ 205 w 730"/>
              <a:gd name="T81" fmla="*/ 563 h 780"/>
              <a:gd name="T82" fmla="*/ 358 w 730"/>
              <a:gd name="T83" fmla="*/ 393 h 780"/>
              <a:gd name="T84" fmla="*/ 205 w 730"/>
              <a:gd name="T85" fmla="*/ 563 h 780"/>
              <a:gd name="T86" fmla="*/ 372 w 730"/>
              <a:gd name="T87" fmla="*/ 737 h 780"/>
              <a:gd name="T88" fmla="*/ 520 w 730"/>
              <a:gd name="T89" fmla="*/ 577 h 780"/>
              <a:gd name="T90" fmla="*/ 507 w 730"/>
              <a:gd name="T91" fmla="*/ 643 h 780"/>
              <a:gd name="T92" fmla="*/ 659 w 730"/>
              <a:gd name="T93" fmla="*/ 577 h 780"/>
              <a:gd name="T94" fmla="*/ 324 w 730"/>
              <a:gd name="T95" fmla="*/ 740 h 780"/>
              <a:gd name="T96" fmla="*/ 321 w 730"/>
              <a:gd name="T97" fmla="*/ 752 h 780"/>
              <a:gd name="T98" fmla="*/ 194 w 730"/>
              <a:gd name="T99" fmla="*/ 780 h 780"/>
              <a:gd name="T100" fmla="*/ 193 w 730"/>
              <a:gd name="T101" fmla="*/ 766 h 780"/>
              <a:gd name="T102" fmla="*/ 227 w 730"/>
              <a:gd name="T103" fmla="*/ 653 h 780"/>
              <a:gd name="T104" fmla="*/ 238 w 730"/>
              <a:gd name="T105" fmla="*/ 643 h 780"/>
              <a:gd name="T106" fmla="*/ 416 w 730"/>
              <a:gd name="T107" fmla="*/ 38 h 780"/>
              <a:gd name="T108" fmla="*/ 420 w 730"/>
              <a:gd name="T109" fmla="*/ 27 h 780"/>
              <a:gd name="T110" fmla="*/ 540 w 730"/>
              <a:gd name="T111" fmla="*/ 7 h 780"/>
              <a:gd name="T112" fmla="*/ 435 w 730"/>
              <a:gd name="T113" fmla="*/ 38 h 780"/>
              <a:gd name="T114" fmla="*/ 504 w 730"/>
              <a:gd name="T115" fmla="*/ 125 h 780"/>
              <a:gd name="T116" fmla="*/ 494 w 730"/>
              <a:gd name="T117" fmla="*/ 125 h 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30" h="780">
                <a:moveTo>
                  <a:pt x="678" y="573"/>
                </a:moveTo>
                <a:cubicBezTo>
                  <a:pt x="711" y="518"/>
                  <a:pt x="730" y="454"/>
                  <a:pt x="730" y="386"/>
                </a:cubicBezTo>
                <a:cubicBezTo>
                  <a:pt x="730" y="319"/>
                  <a:pt x="711" y="255"/>
                  <a:pt x="678" y="200"/>
                </a:cubicBezTo>
                <a:cubicBezTo>
                  <a:pt x="678" y="199"/>
                  <a:pt x="678" y="199"/>
                  <a:pt x="677" y="198"/>
                </a:cubicBezTo>
                <a:cubicBezTo>
                  <a:pt x="634" y="127"/>
                  <a:pt x="567" y="70"/>
                  <a:pt x="485" y="42"/>
                </a:cubicBezTo>
                <a:cubicBezTo>
                  <a:pt x="481" y="41"/>
                  <a:pt x="477" y="42"/>
                  <a:pt x="476" y="46"/>
                </a:cubicBezTo>
                <a:cubicBezTo>
                  <a:pt x="475" y="50"/>
                  <a:pt x="476" y="54"/>
                  <a:pt x="480" y="55"/>
                </a:cubicBezTo>
                <a:cubicBezTo>
                  <a:pt x="556" y="81"/>
                  <a:pt x="618" y="131"/>
                  <a:pt x="659" y="195"/>
                </a:cubicBezTo>
                <a:cubicBezTo>
                  <a:pt x="535" y="195"/>
                  <a:pt x="535" y="195"/>
                  <a:pt x="535" y="195"/>
                </a:cubicBezTo>
                <a:cubicBezTo>
                  <a:pt x="531" y="184"/>
                  <a:pt x="527" y="174"/>
                  <a:pt x="523" y="163"/>
                </a:cubicBezTo>
                <a:cubicBezTo>
                  <a:pt x="521" y="160"/>
                  <a:pt x="517" y="158"/>
                  <a:pt x="514" y="159"/>
                </a:cubicBezTo>
                <a:cubicBezTo>
                  <a:pt x="510" y="161"/>
                  <a:pt x="508" y="165"/>
                  <a:pt x="510" y="169"/>
                </a:cubicBezTo>
                <a:cubicBezTo>
                  <a:pt x="514" y="177"/>
                  <a:pt x="517" y="186"/>
                  <a:pt x="520" y="195"/>
                </a:cubicBezTo>
                <a:cubicBezTo>
                  <a:pt x="372" y="195"/>
                  <a:pt x="372" y="195"/>
                  <a:pt x="372" y="195"/>
                </a:cubicBezTo>
                <a:cubicBezTo>
                  <a:pt x="372" y="29"/>
                  <a:pt x="372" y="29"/>
                  <a:pt x="372" y="29"/>
                </a:cubicBezTo>
                <a:cubicBezTo>
                  <a:pt x="372" y="25"/>
                  <a:pt x="369" y="22"/>
                  <a:pt x="365" y="22"/>
                </a:cubicBezTo>
                <a:cubicBezTo>
                  <a:pt x="233" y="22"/>
                  <a:pt x="117" y="92"/>
                  <a:pt x="53" y="198"/>
                </a:cubicBezTo>
                <a:cubicBezTo>
                  <a:pt x="52" y="199"/>
                  <a:pt x="52" y="199"/>
                  <a:pt x="52" y="200"/>
                </a:cubicBezTo>
                <a:cubicBezTo>
                  <a:pt x="19" y="255"/>
                  <a:pt x="0" y="318"/>
                  <a:pt x="0" y="386"/>
                </a:cubicBezTo>
                <a:cubicBezTo>
                  <a:pt x="0" y="454"/>
                  <a:pt x="19" y="519"/>
                  <a:pt x="52" y="574"/>
                </a:cubicBezTo>
                <a:cubicBezTo>
                  <a:pt x="52" y="574"/>
                  <a:pt x="52" y="574"/>
                  <a:pt x="52" y="574"/>
                </a:cubicBezTo>
                <a:cubicBezTo>
                  <a:pt x="96" y="646"/>
                  <a:pt x="164" y="703"/>
                  <a:pt x="247" y="732"/>
                </a:cubicBezTo>
                <a:cubicBezTo>
                  <a:pt x="248" y="732"/>
                  <a:pt x="248" y="732"/>
                  <a:pt x="249" y="732"/>
                </a:cubicBezTo>
                <a:cubicBezTo>
                  <a:pt x="252" y="732"/>
                  <a:pt x="255" y="730"/>
                  <a:pt x="256" y="727"/>
                </a:cubicBezTo>
                <a:cubicBezTo>
                  <a:pt x="257" y="724"/>
                  <a:pt x="255" y="720"/>
                  <a:pt x="251" y="718"/>
                </a:cubicBezTo>
                <a:cubicBezTo>
                  <a:pt x="175" y="692"/>
                  <a:pt x="113" y="642"/>
                  <a:pt x="71" y="577"/>
                </a:cubicBezTo>
                <a:cubicBezTo>
                  <a:pt x="195" y="577"/>
                  <a:pt x="195" y="577"/>
                  <a:pt x="195" y="577"/>
                </a:cubicBezTo>
                <a:cubicBezTo>
                  <a:pt x="199" y="588"/>
                  <a:pt x="202" y="598"/>
                  <a:pt x="207" y="608"/>
                </a:cubicBezTo>
                <a:cubicBezTo>
                  <a:pt x="208" y="611"/>
                  <a:pt x="210" y="612"/>
                  <a:pt x="213" y="612"/>
                </a:cubicBezTo>
                <a:cubicBezTo>
                  <a:pt x="214" y="612"/>
                  <a:pt x="215" y="612"/>
                  <a:pt x="216" y="612"/>
                </a:cubicBezTo>
                <a:cubicBezTo>
                  <a:pt x="219" y="610"/>
                  <a:pt x="221" y="606"/>
                  <a:pt x="219" y="603"/>
                </a:cubicBezTo>
                <a:cubicBezTo>
                  <a:pt x="216" y="594"/>
                  <a:pt x="213" y="586"/>
                  <a:pt x="210" y="577"/>
                </a:cubicBezTo>
                <a:cubicBezTo>
                  <a:pt x="358" y="577"/>
                  <a:pt x="358" y="577"/>
                  <a:pt x="358" y="577"/>
                </a:cubicBezTo>
                <a:cubicBezTo>
                  <a:pt x="358" y="744"/>
                  <a:pt x="358" y="744"/>
                  <a:pt x="358" y="744"/>
                </a:cubicBezTo>
                <a:cubicBezTo>
                  <a:pt x="358" y="748"/>
                  <a:pt x="361" y="751"/>
                  <a:pt x="365" y="751"/>
                </a:cubicBezTo>
                <a:cubicBezTo>
                  <a:pt x="497" y="751"/>
                  <a:pt x="613" y="680"/>
                  <a:pt x="677" y="575"/>
                </a:cubicBezTo>
                <a:cubicBezTo>
                  <a:pt x="678" y="574"/>
                  <a:pt x="678" y="574"/>
                  <a:pt x="678" y="573"/>
                </a:cubicBezTo>
                <a:close/>
                <a:moveTo>
                  <a:pt x="564" y="393"/>
                </a:moveTo>
                <a:cubicBezTo>
                  <a:pt x="716" y="393"/>
                  <a:pt x="716" y="393"/>
                  <a:pt x="716" y="393"/>
                </a:cubicBezTo>
                <a:cubicBezTo>
                  <a:pt x="714" y="455"/>
                  <a:pt x="697" y="513"/>
                  <a:pt x="668" y="563"/>
                </a:cubicBezTo>
                <a:cubicBezTo>
                  <a:pt x="539" y="563"/>
                  <a:pt x="539" y="563"/>
                  <a:pt x="539" y="563"/>
                </a:cubicBezTo>
                <a:cubicBezTo>
                  <a:pt x="555" y="512"/>
                  <a:pt x="564" y="454"/>
                  <a:pt x="564" y="393"/>
                </a:cubicBezTo>
                <a:close/>
                <a:moveTo>
                  <a:pt x="525" y="563"/>
                </a:moveTo>
                <a:cubicBezTo>
                  <a:pt x="372" y="563"/>
                  <a:pt x="372" y="563"/>
                  <a:pt x="372" y="563"/>
                </a:cubicBezTo>
                <a:cubicBezTo>
                  <a:pt x="372" y="393"/>
                  <a:pt x="372" y="393"/>
                  <a:pt x="372" y="393"/>
                </a:cubicBezTo>
                <a:cubicBezTo>
                  <a:pt x="550" y="393"/>
                  <a:pt x="550" y="393"/>
                  <a:pt x="550" y="393"/>
                </a:cubicBezTo>
                <a:cubicBezTo>
                  <a:pt x="550" y="455"/>
                  <a:pt x="540" y="513"/>
                  <a:pt x="525" y="563"/>
                </a:cubicBezTo>
                <a:close/>
                <a:moveTo>
                  <a:pt x="668" y="209"/>
                </a:moveTo>
                <a:cubicBezTo>
                  <a:pt x="697" y="260"/>
                  <a:pt x="714" y="318"/>
                  <a:pt x="716" y="379"/>
                </a:cubicBezTo>
                <a:cubicBezTo>
                  <a:pt x="564" y="379"/>
                  <a:pt x="564" y="379"/>
                  <a:pt x="564" y="379"/>
                </a:cubicBezTo>
                <a:cubicBezTo>
                  <a:pt x="564" y="319"/>
                  <a:pt x="555" y="261"/>
                  <a:pt x="539" y="209"/>
                </a:cubicBezTo>
                <a:lnTo>
                  <a:pt x="668" y="209"/>
                </a:lnTo>
                <a:close/>
                <a:moveTo>
                  <a:pt x="525" y="209"/>
                </a:moveTo>
                <a:cubicBezTo>
                  <a:pt x="541" y="261"/>
                  <a:pt x="550" y="319"/>
                  <a:pt x="550" y="379"/>
                </a:cubicBezTo>
                <a:cubicBezTo>
                  <a:pt x="372" y="379"/>
                  <a:pt x="372" y="379"/>
                  <a:pt x="372" y="379"/>
                </a:cubicBezTo>
                <a:cubicBezTo>
                  <a:pt x="372" y="209"/>
                  <a:pt x="372" y="209"/>
                  <a:pt x="372" y="209"/>
                </a:cubicBezTo>
                <a:lnTo>
                  <a:pt x="525" y="209"/>
                </a:lnTo>
                <a:close/>
                <a:moveTo>
                  <a:pt x="14" y="379"/>
                </a:moveTo>
                <a:cubicBezTo>
                  <a:pt x="16" y="318"/>
                  <a:pt x="33" y="260"/>
                  <a:pt x="62" y="209"/>
                </a:cubicBezTo>
                <a:cubicBezTo>
                  <a:pt x="191" y="209"/>
                  <a:pt x="191" y="209"/>
                  <a:pt x="191" y="209"/>
                </a:cubicBezTo>
                <a:cubicBezTo>
                  <a:pt x="175" y="261"/>
                  <a:pt x="166" y="319"/>
                  <a:pt x="166" y="379"/>
                </a:cubicBezTo>
                <a:lnTo>
                  <a:pt x="14" y="379"/>
                </a:lnTo>
                <a:close/>
                <a:moveTo>
                  <a:pt x="205" y="209"/>
                </a:moveTo>
                <a:cubicBezTo>
                  <a:pt x="358" y="209"/>
                  <a:pt x="358" y="209"/>
                  <a:pt x="358" y="209"/>
                </a:cubicBezTo>
                <a:cubicBezTo>
                  <a:pt x="358" y="379"/>
                  <a:pt x="358" y="379"/>
                  <a:pt x="358" y="379"/>
                </a:cubicBezTo>
                <a:cubicBezTo>
                  <a:pt x="180" y="379"/>
                  <a:pt x="180" y="379"/>
                  <a:pt x="180" y="379"/>
                </a:cubicBezTo>
                <a:cubicBezTo>
                  <a:pt x="180" y="318"/>
                  <a:pt x="190" y="260"/>
                  <a:pt x="205" y="209"/>
                </a:cubicBezTo>
                <a:close/>
                <a:moveTo>
                  <a:pt x="210" y="195"/>
                </a:moveTo>
                <a:cubicBezTo>
                  <a:pt x="242" y="103"/>
                  <a:pt x="296" y="40"/>
                  <a:pt x="358" y="36"/>
                </a:cubicBezTo>
                <a:cubicBezTo>
                  <a:pt x="358" y="195"/>
                  <a:pt x="358" y="195"/>
                  <a:pt x="358" y="195"/>
                </a:cubicBezTo>
                <a:lnTo>
                  <a:pt x="210" y="195"/>
                </a:lnTo>
                <a:close/>
                <a:moveTo>
                  <a:pt x="299" y="42"/>
                </a:moveTo>
                <a:cubicBezTo>
                  <a:pt x="271" y="60"/>
                  <a:pt x="245" y="90"/>
                  <a:pt x="223" y="130"/>
                </a:cubicBezTo>
                <a:cubicBezTo>
                  <a:pt x="212" y="150"/>
                  <a:pt x="203" y="172"/>
                  <a:pt x="195" y="195"/>
                </a:cubicBezTo>
                <a:cubicBezTo>
                  <a:pt x="71" y="195"/>
                  <a:pt x="71" y="195"/>
                  <a:pt x="71" y="195"/>
                </a:cubicBezTo>
                <a:cubicBezTo>
                  <a:pt x="122" y="117"/>
                  <a:pt x="204" y="60"/>
                  <a:pt x="299" y="42"/>
                </a:cubicBezTo>
                <a:close/>
                <a:moveTo>
                  <a:pt x="62" y="563"/>
                </a:moveTo>
                <a:cubicBezTo>
                  <a:pt x="33" y="513"/>
                  <a:pt x="16" y="455"/>
                  <a:pt x="14" y="393"/>
                </a:cubicBezTo>
                <a:cubicBezTo>
                  <a:pt x="166" y="393"/>
                  <a:pt x="166" y="393"/>
                  <a:pt x="166" y="393"/>
                </a:cubicBezTo>
                <a:cubicBezTo>
                  <a:pt x="166" y="454"/>
                  <a:pt x="175" y="512"/>
                  <a:pt x="191" y="563"/>
                </a:cubicBezTo>
                <a:lnTo>
                  <a:pt x="62" y="563"/>
                </a:lnTo>
                <a:close/>
                <a:moveTo>
                  <a:pt x="205" y="563"/>
                </a:moveTo>
                <a:cubicBezTo>
                  <a:pt x="189" y="512"/>
                  <a:pt x="180" y="454"/>
                  <a:pt x="180" y="393"/>
                </a:cubicBezTo>
                <a:cubicBezTo>
                  <a:pt x="358" y="393"/>
                  <a:pt x="358" y="393"/>
                  <a:pt x="358" y="393"/>
                </a:cubicBezTo>
                <a:cubicBezTo>
                  <a:pt x="358" y="563"/>
                  <a:pt x="358" y="563"/>
                  <a:pt x="358" y="563"/>
                </a:cubicBezTo>
                <a:lnTo>
                  <a:pt x="205" y="563"/>
                </a:lnTo>
                <a:close/>
                <a:moveTo>
                  <a:pt x="520" y="577"/>
                </a:moveTo>
                <a:cubicBezTo>
                  <a:pt x="488" y="670"/>
                  <a:pt x="434" y="732"/>
                  <a:pt x="372" y="737"/>
                </a:cubicBezTo>
                <a:cubicBezTo>
                  <a:pt x="372" y="577"/>
                  <a:pt x="372" y="577"/>
                  <a:pt x="372" y="577"/>
                </a:cubicBezTo>
                <a:lnTo>
                  <a:pt x="520" y="577"/>
                </a:lnTo>
                <a:close/>
                <a:moveTo>
                  <a:pt x="431" y="731"/>
                </a:moveTo>
                <a:cubicBezTo>
                  <a:pt x="459" y="713"/>
                  <a:pt x="485" y="683"/>
                  <a:pt x="507" y="643"/>
                </a:cubicBezTo>
                <a:cubicBezTo>
                  <a:pt x="518" y="623"/>
                  <a:pt x="527" y="601"/>
                  <a:pt x="535" y="577"/>
                </a:cubicBezTo>
                <a:cubicBezTo>
                  <a:pt x="659" y="577"/>
                  <a:pt x="659" y="577"/>
                  <a:pt x="659" y="577"/>
                </a:cubicBezTo>
                <a:cubicBezTo>
                  <a:pt x="608" y="656"/>
                  <a:pt x="526" y="713"/>
                  <a:pt x="431" y="731"/>
                </a:cubicBezTo>
                <a:close/>
                <a:moveTo>
                  <a:pt x="324" y="740"/>
                </a:moveTo>
                <a:cubicBezTo>
                  <a:pt x="326" y="742"/>
                  <a:pt x="327" y="745"/>
                  <a:pt x="326" y="747"/>
                </a:cubicBezTo>
                <a:cubicBezTo>
                  <a:pt x="325" y="749"/>
                  <a:pt x="323" y="751"/>
                  <a:pt x="321" y="752"/>
                </a:cubicBezTo>
                <a:cubicBezTo>
                  <a:pt x="196" y="780"/>
                  <a:pt x="196" y="780"/>
                  <a:pt x="196" y="780"/>
                </a:cubicBezTo>
                <a:cubicBezTo>
                  <a:pt x="195" y="780"/>
                  <a:pt x="195" y="780"/>
                  <a:pt x="194" y="780"/>
                </a:cubicBezTo>
                <a:cubicBezTo>
                  <a:pt x="191" y="780"/>
                  <a:pt x="188" y="778"/>
                  <a:pt x="187" y="775"/>
                </a:cubicBezTo>
                <a:cubicBezTo>
                  <a:pt x="186" y="771"/>
                  <a:pt x="189" y="767"/>
                  <a:pt x="193" y="766"/>
                </a:cubicBezTo>
                <a:cubicBezTo>
                  <a:pt x="306" y="741"/>
                  <a:pt x="306" y="741"/>
                  <a:pt x="306" y="741"/>
                </a:cubicBezTo>
                <a:cubicBezTo>
                  <a:pt x="227" y="653"/>
                  <a:pt x="227" y="653"/>
                  <a:pt x="227" y="653"/>
                </a:cubicBezTo>
                <a:cubicBezTo>
                  <a:pt x="225" y="650"/>
                  <a:pt x="225" y="646"/>
                  <a:pt x="228" y="643"/>
                </a:cubicBezTo>
                <a:cubicBezTo>
                  <a:pt x="231" y="640"/>
                  <a:pt x="235" y="641"/>
                  <a:pt x="238" y="643"/>
                </a:cubicBezTo>
                <a:lnTo>
                  <a:pt x="324" y="740"/>
                </a:lnTo>
                <a:close/>
                <a:moveTo>
                  <a:pt x="416" y="38"/>
                </a:moveTo>
                <a:cubicBezTo>
                  <a:pt x="415" y="36"/>
                  <a:pt x="414" y="34"/>
                  <a:pt x="415" y="31"/>
                </a:cubicBezTo>
                <a:cubicBezTo>
                  <a:pt x="415" y="29"/>
                  <a:pt x="417" y="27"/>
                  <a:pt x="420" y="27"/>
                </a:cubicBezTo>
                <a:cubicBezTo>
                  <a:pt x="532" y="1"/>
                  <a:pt x="532" y="1"/>
                  <a:pt x="532" y="1"/>
                </a:cubicBezTo>
                <a:cubicBezTo>
                  <a:pt x="536" y="0"/>
                  <a:pt x="539" y="3"/>
                  <a:pt x="540" y="7"/>
                </a:cubicBezTo>
                <a:cubicBezTo>
                  <a:pt x="541" y="10"/>
                  <a:pt x="539" y="14"/>
                  <a:pt x="535" y="15"/>
                </a:cubicBezTo>
                <a:cubicBezTo>
                  <a:pt x="435" y="38"/>
                  <a:pt x="435" y="38"/>
                  <a:pt x="435" y="38"/>
                </a:cubicBezTo>
                <a:cubicBezTo>
                  <a:pt x="504" y="115"/>
                  <a:pt x="504" y="115"/>
                  <a:pt x="504" y="115"/>
                </a:cubicBezTo>
                <a:cubicBezTo>
                  <a:pt x="507" y="118"/>
                  <a:pt x="506" y="123"/>
                  <a:pt x="504" y="125"/>
                </a:cubicBezTo>
                <a:cubicBezTo>
                  <a:pt x="502" y="127"/>
                  <a:pt x="501" y="127"/>
                  <a:pt x="499" y="127"/>
                </a:cubicBezTo>
                <a:cubicBezTo>
                  <a:pt x="497" y="127"/>
                  <a:pt x="495" y="126"/>
                  <a:pt x="494" y="125"/>
                </a:cubicBezTo>
                <a:lnTo>
                  <a:pt x="416" y="38"/>
                </a:lnTo>
                <a:close/>
              </a:path>
            </a:pathLst>
          </a:custGeom>
          <a:solidFill>
            <a:srgbClr val="323232"/>
          </a:solidFill>
          <a:ln>
            <a:solidFill>
              <a:srgbClr val="323232"/>
            </a:solidFill>
          </a:ln>
        </p:spPr>
        <p:txBody>
          <a:bodyPr vert="horz" wrap="square" lIns="68580" tIns="34290" rIns="68580" bIns="34290" numCol="1" anchor="t" anchorCtr="0" compatLnSpc="1">
            <a:prstTxWarp prst="textNoShape">
              <a:avLst/>
            </a:prstTxWarp>
          </a:bodyPr>
          <a:lstStyle/>
          <a:p>
            <a:endParaRPr lang="en-US" dirty="0">
              <a:solidFill>
                <a:prstClr val="black"/>
              </a:solidFill>
            </a:endParaRPr>
          </a:p>
        </p:txBody>
      </p:sp>
      <p:sp>
        <p:nvSpPr>
          <p:cNvPr id="61" name="Freeform 209"/>
          <p:cNvSpPr>
            <a:spLocks noEditPoints="1"/>
          </p:cNvSpPr>
          <p:nvPr/>
        </p:nvSpPr>
        <p:spPr bwMode="auto">
          <a:xfrm>
            <a:off x="1001366" y="3022119"/>
            <a:ext cx="288066" cy="288066"/>
          </a:xfrm>
          <a:custGeom>
            <a:avLst/>
            <a:gdLst>
              <a:gd name="T0" fmla="*/ 47 w 186"/>
              <a:gd name="T1" fmla="*/ 34 h 186"/>
              <a:gd name="T2" fmla="*/ 47 w 186"/>
              <a:gd name="T3" fmla="*/ 43 h 186"/>
              <a:gd name="T4" fmla="*/ 110 w 186"/>
              <a:gd name="T5" fmla="*/ 38 h 186"/>
              <a:gd name="T6" fmla="*/ 178 w 186"/>
              <a:gd name="T7" fmla="*/ 59 h 186"/>
              <a:gd name="T8" fmla="*/ 169 w 186"/>
              <a:gd name="T9" fmla="*/ 34 h 186"/>
              <a:gd name="T10" fmla="*/ 135 w 186"/>
              <a:gd name="T11" fmla="*/ 0 h 186"/>
              <a:gd name="T12" fmla="*/ 17 w 186"/>
              <a:gd name="T13" fmla="*/ 9 h 186"/>
              <a:gd name="T14" fmla="*/ 9 w 186"/>
              <a:gd name="T15" fmla="*/ 59 h 186"/>
              <a:gd name="T16" fmla="*/ 0 w 186"/>
              <a:gd name="T17" fmla="*/ 102 h 186"/>
              <a:gd name="T18" fmla="*/ 17 w 186"/>
              <a:gd name="T19" fmla="*/ 110 h 186"/>
              <a:gd name="T20" fmla="*/ 22 w 186"/>
              <a:gd name="T21" fmla="*/ 186 h 186"/>
              <a:gd name="T22" fmla="*/ 26 w 186"/>
              <a:gd name="T23" fmla="*/ 110 h 186"/>
              <a:gd name="T24" fmla="*/ 34 w 186"/>
              <a:gd name="T25" fmla="*/ 156 h 186"/>
              <a:gd name="T26" fmla="*/ 43 w 186"/>
              <a:gd name="T27" fmla="*/ 156 h 186"/>
              <a:gd name="T28" fmla="*/ 51 w 186"/>
              <a:gd name="T29" fmla="*/ 110 h 186"/>
              <a:gd name="T30" fmla="*/ 55 w 186"/>
              <a:gd name="T31" fmla="*/ 135 h 186"/>
              <a:gd name="T32" fmla="*/ 59 w 186"/>
              <a:gd name="T33" fmla="*/ 110 h 186"/>
              <a:gd name="T34" fmla="*/ 68 w 186"/>
              <a:gd name="T35" fmla="*/ 173 h 186"/>
              <a:gd name="T36" fmla="*/ 76 w 186"/>
              <a:gd name="T37" fmla="*/ 173 h 186"/>
              <a:gd name="T38" fmla="*/ 89 w 186"/>
              <a:gd name="T39" fmla="*/ 110 h 186"/>
              <a:gd name="T40" fmla="*/ 93 w 186"/>
              <a:gd name="T41" fmla="*/ 169 h 186"/>
              <a:gd name="T42" fmla="*/ 97 w 186"/>
              <a:gd name="T43" fmla="*/ 110 h 186"/>
              <a:gd name="T44" fmla="*/ 110 w 186"/>
              <a:gd name="T45" fmla="*/ 140 h 186"/>
              <a:gd name="T46" fmla="*/ 119 w 186"/>
              <a:gd name="T47" fmla="*/ 140 h 186"/>
              <a:gd name="T48" fmla="*/ 127 w 186"/>
              <a:gd name="T49" fmla="*/ 110 h 186"/>
              <a:gd name="T50" fmla="*/ 131 w 186"/>
              <a:gd name="T51" fmla="*/ 152 h 186"/>
              <a:gd name="T52" fmla="*/ 135 w 186"/>
              <a:gd name="T53" fmla="*/ 110 h 186"/>
              <a:gd name="T54" fmla="*/ 144 w 186"/>
              <a:gd name="T55" fmla="*/ 173 h 186"/>
              <a:gd name="T56" fmla="*/ 152 w 186"/>
              <a:gd name="T57" fmla="*/ 173 h 186"/>
              <a:gd name="T58" fmla="*/ 161 w 186"/>
              <a:gd name="T59" fmla="*/ 110 h 186"/>
              <a:gd name="T60" fmla="*/ 165 w 186"/>
              <a:gd name="T61" fmla="*/ 169 h 186"/>
              <a:gd name="T62" fmla="*/ 169 w 186"/>
              <a:gd name="T63" fmla="*/ 110 h 186"/>
              <a:gd name="T64" fmla="*/ 186 w 186"/>
              <a:gd name="T65" fmla="*/ 102 h 186"/>
              <a:gd name="T66" fmla="*/ 178 w 186"/>
              <a:gd name="T67" fmla="*/ 59 h 186"/>
              <a:gd name="T68" fmla="*/ 156 w 186"/>
              <a:gd name="T69" fmla="*/ 34 h 186"/>
              <a:gd name="T70" fmla="*/ 135 w 186"/>
              <a:gd name="T71" fmla="*/ 13 h 186"/>
              <a:gd name="T72" fmla="*/ 127 w 186"/>
              <a:gd name="T73" fmla="*/ 9 h 186"/>
              <a:gd name="T74" fmla="*/ 131 w 186"/>
              <a:gd name="T75" fmla="*/ 43 h 186"/>
              <a:gd name="T76" fmla="*/ 161 w 186"/>
              <a:gd name="T77" fmla="*/ 59 h 186"/>
              <a:gd name="T78" fmla="*/ 26 w 186"/>
              <a:gd name="T79" fmla="*/ 9 h 186"/>
              <a:gd name="T80" fmla="*/ 9 w 186"/>
              <a:gd name="T81" fmla="*/ 102 h 186"/>
              <a:gd name="T82" fmla="*/ 178 w 186"/>
              <a:gd name="T83" fmla="*/ 68 h 186"/>
              <a:gd name="T84" fmla="*/ 38 w 186"/>
              <a:gd name="T85" fmla="*/ 89 h 186"/>
              <a:gd name="T86" fmla="*/ 38 w 186"/>
              <a:gd name="T87" fmla="*/ 81 h 186"/>
              <a:gd name="T88" fmla="*/ 38 w 186"/>
              <a:gd name="T89" fmla="*/ 89 h 186"/>
              <a:gd name="T90" fmla="*/ 26 w 186"/>
              <a:gd name="T91" fmla="*/ 85 h 186"/>
              <a:gd name="T92" fmla="*/ 17 w 186"/>
              <a:gd name="T93" fmla="*/ 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6" h="186">
                <a:moveTo>
                  <a:pt x="106" y="34"/>
                </a:moveTo>
                <a:cubicBezTo>
                  <a:pt x="47" y="34"/>
                  <a:pt x="47" y="34"/>
                  <a:pt x="47" y="34"/>
                </a:cubicBezTo>
                <a:cubicBezTo>
                  <a:pt x="44" y="34"/>
                  <a:pt x="43" y="36"/>
                  <a:pt x="43" y="38"/>
                </a:cubicBezTo>
                <a:cubicBezTo>
                  <a:pt x="43" y="41"/>
                  <a:pt x="44" y="43"/>
                  <a:pt x="47" y="43"/>
                </a:cubicBezTo>
                <a:cubicBezTo>
                  <a:pt x="106" y="43"/>
                  <a:pt x="106" y="43"/>
                  <a:pt x="106" y="43"/>
                </a:cubicBezTo>
                <a:cubicBezTo>
                  <a:pt x="108" y="43"/>
                  <a:pt x="110" y="41"/>
                  <a:pt x="110" y="38"/>
                </a:cubicBezTo>
                <a:cubicBezTo>
                  <a:pt x="110" y="36"/>
                  <a:pt x="108" y="34"/>
                  <a:pt x="106" y="34"/>
                </a:cubicBezTo>
                <a:close/>
                <a:moveTo>
                  <a:pt x="178" y="59"/>
                </a:moveTo>
                <a:cubicBezTo>
                  <a:pt x="169" y="59"/>
                  <a:pt x="169" y="59"/>
                  <a:pt x="169" y="59"/>
                </a:cubicBezTo>
                <a:cubicBezTo>
                  <a:pt x="169" y="34"/>
                  <a:pt x="169" y="34"/>
                  <a:pt x="169" y="34"/>
                </a:cubicBezTo>
                <a:cubicBezTo>
                  <a:pt x="161" y="26"/>
                  <a:pt x="161" y="26"/>
                  <a:pt x="161" y="26"/>
                </a:cubicBezTo>
                <a:cubicBezTo>
                  <a:pt x="135" y="0"/>
                  <a:pt x="135" y="0"/>
                  <a:pt x="135" y="0"/>
                </a:cubicBezTo>
                <a:cubicBezTo>
                  <a:pt x="26" y="0"/>
                  <a:pt x="26" y="0"/>
                  <a:pt x="26" y="0"/>
                </a:cubicBezTo>
                <a:cubicBezTo>
                  <a:pt x="21" y="0"/>
                  <a:pt x="17" y="4"/>
                  <a:pt x="17" y="9"/>
                </a:cubicBezTo>
                <a:cubicBezTo>
                  <a:pt x="17" y="59"/>
                  <a:pt x="17" y="59"/>
                  <a:pt x="17" y="59"/>
                </a:cubicBezTo>
                <a:cubicBezTo>
                  <a:pt x="9" y="59"/>
                  <a:pt x="9" y="59"/>
                  <a:pt x="9" y="59"/>
                </a:cubicBezTo>
                <a:cubicBezTo>
                  <a:pt x="4" y="59"/>
                  <a:pt x="0" y="63"/>
                  <a:pt x="0" y="68"/>
                </a:cubicBezTo>
                <a:cubicBezTo>
                  <a:pt x="0" y="102"/>
                  <a:pt x="0" y="102"/>
                  <a:pt x="0" y="102"/>
                </a:cubicBezTo>
                <a:cubicBezTo>
                  <a:pt x="0" y="106"/>
                  <a:pt x="4" y="110"/>
                  <a:pt x="9" y="110"/>
                </a:cubicBezTo>
                <a:cubicBezTo>
                  <a:pt x="17" y="110"/>
                  <a:pt x="17" y="110"/>
                  <a:pt x="17" y="110"/>
                </a:cubicBezTo>
                <a:cubicBezTo>
                  <a:pt x="17" y="182"/>
                  <a:pt x="17" y="182"/>
                  <a:pt x="17" y="182"/>
                </a:cubicBezTo>
                <a:cubicBezTo>
                  <a:pt x="17" y="184"/>
                  <a:pt x="19" y="186"/>
                  <a:pt x="22" y="186"/>
                </a:cubicBezTo>
                <a:cubicBezTo>
                  <a:pt x="24" y="186"/>
                  <a:pt x="26" y="184"/>
                  <a:pt x="26" y="182"/>
                </a:cubicBezTo>
                <a:cubicBezTo>
                  <a:pt x="26" y="110"/>
                  <a:pt x="26" y="110"/>
                  <a:pt x="26" y="110"/>
                </a:cubicBezTo>
                <a:cubicBezTo>
                  <a:pt x="34" y="110"/>
                  <a:pt x="34" y="110"/>
                  <a:pt x="34" y="110"/>
                </a:cubicBezTo>
                <a:cubicBezTo>
                  <a:pt x="34" y="156"/>
                  <a:pt x="34" y="156"/>
                  <a:pt x="34" y="156"/>
                </a:cubicBezTo>
                <a:cubicBezTo>
                  <a:pt x="34" y="159"/>
                  <a:pt x="36" y="161"/>
                  <a:pt x="38" y="161"/>
                </a:cubicBezTo>
                <a:cubicBezTo>
                  <a:pt x="41" y="161"/>
                  <a:pt x="43" y="159"/>
                  <a:pt x="43" y="156"/>
                </a:cubicBezTo>
                <a:cubicBezTo>
                  <a:pt x="43" y="110"/>
                  <a:pt x="43" y="110"/>
                  <a:pt x="43" y="110"/>
                </a:cubicBezTo>
                <a:cubicBezTo>
                  <a:pt x="51" y="110"/>
                  <a:pt x="51" y="110"/>
                  <a:pt x="51" y="110"/>
                </a:cubicBezTo>
                <a:cubicBezTo>
                  <a:pt x="51" y="131"/>
                  <a:pt x="51" y="131"/>
                  <a:pt x="51" y="131"/>
                </a:cubicBezTo>
                <a:cubicBezTo>
                  <a:pt x="51" y="134"/>
                  <a:pt x="53" y="135"/>
                  <a:pt x="55" y="135"/>
                </a:cubicBezTo>
                <a:cubicBezTo>
                  <a:pt x="58" y="135"/>
                  <a:pt x="59" y="134"/>
                  <a:pt x="59" y="131"/>
                </a:cubicBezTo>
                <a:cubicBezTo>
                  <a:pt x="59" y="110"/>
                  <a:pt x="59" y="110"/>
                  <a:pt x="59" y="110"/>
                </a:cubicBezTo>
                <a:cubicBezTo>
                  <a:pt x="68" y="110"/>
                  <a:pt x="68" y="110"/>
                  <a:pt x="68" y="110"/>
                </a:cubicBezTo>
                <a:cubicBezTo>
                  <a:pt x="68" y="173"/>
                  <a:pt x="68" y="173"/>
                  <a:pt x="68" y="173"/>
                </a:cubicBezTo>
                <a:cubicBezTo>
                  <a:pt x="68" y="176"/>
                  <a:pt x="70" y="178"/>
                  <a:pt x="72" y="178"/>
                </a:cubicBezTo>
                <a:cubicBezTo>
                  <a:pt x="74" y="178"/>
                  <a:pt x="76" y="176"/>
                  <a:pt x="76" y="173"/>
                </a:cubicBezTo>
                <a:cubicBezTo>
                  <a:pt x="76" y="110"/>
                  <a:pt x="76" y="110"/>
                  <a:pt x="76" y="110"/>
                </a:cubicBezTo>
                <a:cubicBezTo>
                  <a:pt x="89" y="110"/>
                  <a:pt x="89" y="110"/>
                  <a:pt x="89" y="110"/>
                </a:cubicBezTo>
                <a:cubicBezTo>
                  <a:pt x="89" y="165"/>
                  <a:pt x="89" y="165"/>
                  <a:pt x="89" y="165"/>
                </a:cubicBezTo>
                <a:cubicBezTo>
                  <a:pt x="89" y="167"/>
                  <a:pt x="91" y="169"/>
                  <a:pt x="93" y="169"/>
                </a:cubicBezTo>
                <a:cubicBezTo>
                  <a:pt x="96" y="169"/>
                  <a:pt x="97" y="167"/>
                  <a:pt x="97" y="165"/>
                </a:cubicBezTo>
                <a:cubicBezTo>
                  <a:pt x="97" y="110"/>
                  <a:pt x="97" y="110"/>
                  <a:pt x="97" y="110"/>
                </a:cubicBezTo>
                <a:cubicBezTo>
                  <a:pt x="110" y="110"/>
                  <a:pt x="110" y="110"/>
                  <a:pt x="110" y="110"/>
                </a:cubicBezTo>
                <a:cubicBezTo>
                  <a:pt x="110" y="140"/>
                  <a:pt x="110" y="140"/>
                  <a:pt x="110" y="140"/>
                </a:cubicBezTo>
                <a:cubicBezTo>
                  <a:pt x="110" y="142"/>
                  <a:pt x="112" y="144"/>
                  <a:pt x="114" y="144"/>
                </a:cubicBezTo>
                <a:cubicBezTo>
                  <a:pt x="117" y="144"/>
                  <a:pt x="119" y="142"/>
                  <a:pt x="119" y="140"/>
                </a:cubicBezTo>
                <a:cubicBezTo>
                  <a:pt x="119" y="110"/>
                  <a:pt x="119" y="110"/>
                  <a:pt x="119" y="110"/>
                </a:cubicBezTo>
                <a:cubicBezTo>
                  <a:pt x="127" y="110"/>
                  <a:pt x="127" y="110"/>
                  <a:pt x="127" y="110"/>
                </a:cubicBezTo>
                <a:cubicBezTo>
                  <a:pt x="127" y="148"/>
                  <a:pt x="127" y="148"/>
                  <a:pt x="127" y="148"/>
                </a:cubicBezTo>
                <a:cubicBezTo>
                  <a:pt x="127" y="150"/>
                  <a:pt x="129" y="152"/>
                  <a:pt x="131" y="152"/>
                </a:cubicBezTo>
                <a:cubicBezTo>
                  <a:pt x="134" y="152"/>
                  <a:pt x="135" y="150"/>
                  <a:pt x="135" y="148"/>
                </a:cubicBezTo>
                <a:cubicBezTo>
                  <a:pt x="135" y="110"/>
                  <a:pt x="135" y="110"/>
                  <a:pt x="135" y="110"/>
                </a:cubicBezTo>
                <a:cubicBezTo>
                  <a:pt x="144" y="110"/>
                  <a:pt x="144" y="110"/>
                  <a:pt x="144" y="110"/>
                </a:cubicBezTo>
                <a:cubicBezTo>
                  <a:pt x="144" y="173"/>
                  <a:pt x="144" y="173"/>
                  <a:pt x="144" y="173"/>
                </a:cubicBezTo>
                <a:cubicBezTo>
                  <a:pt x="144" y="176"/>
                  <a:pt x="146" y="178"/>
                  <a:pt x="148" y="178"/>
                </a:cubicBezTo>
                <a:cubicBezTo>
                  <a:pt x="150" y="178"/>
                  <a:pt x="152" y="176"/>
                  <a:pt x="152" y="173"/>
                </a:cubicBezTo>
                <a:cubicBezTo>
                  <a:pt x="152" y="110"/>
                  <a:pt x="152" y="110"/>
                  <a:pt x="152" y="110"/>
                </a:cubicBezTo>
                <a:cubicBezTo>
                  <a:pt x="161" y="110"/>
                  <a:pt x="161" y="110"/>
                  <a:pt x="161" y="110"/>
                </a:cubicBezTo>
                <a:cubicBezTo>
                  <a:pt x="161" y="165"/>
                  <a:pt x="161" y="165"/>
                  <a:pt x="161" y="165"/>
                </a:cubicBezTo>
                <a:cubicBezTo>
                  <a:pt x="161" y="167"/>
                  <a:pt x="163" y="169"/>
                  <a:pt x="165" y="169"/>
                </a:cubicBezTo>
                <a:cubicBezTo>
                  <a:pt x="167" y="169"/>
                  <a:pt x="169" y="167"/>
                  <a:pt x="169" y="165"/>
                </a:cubicBezTo>
                <a:cubicBezTo>
                  <a:pt x="169" y="110"/>
                  <a:pt x="169" y="110"/>
                  <a:pt x="169" y="110"/>
                </a:cubicBezTo>
                <a:cubicBezTo>
                  <a:pt x="178" y="110"/>
                  <a:pt x="178" y="110"/>
                  <a:pt x="178" y="110"/>
                </a:cubicBezTo>
                <a:cubicBezTo>
                  <a:pt x="182" y="110"/>
                  <a:pt x="186" y="106"/>
                  <a:pt x="186" y="102"/>
                </a:cubicBezTo>
                <a:cubicBezTo>
                  <a:pt x="186" y="68"/>
                  <a:pt x="186" y="68"/>
                  <a:pt x="186" y="68"/>
                </a:cubicBezTo>
                <a:cubicBezTo>
                  <a:pt x="186" y="63"/>
                  <a:pt x="182" y="59"/>
                  <a:pt x="178" y="59"/>
                </a:cubicBezTo>
                <a:close/>
                <a:moveTo>
                  <a:pt x="135" y="13"/>
                </a:moveTo>
                <a:cubicBezTo>
                  <a:pt x="156" y="34"/>
                  <a:pt x="156" y="34"/>
                  <a:pt x="156" y="34"/>
                </a:cubicBezTo>
                <a:cubicBezTo>
                  <a:pt x="135" y="34"/>
                  <a:pt x="135" y="34"/>
                  <a:pt x="135" y="34"/>
                </a:cubicBezTo>
                <a:lnTo>
                  <a:pt x="135" y="13"/>
                </a:lnTo>
                <a:close/>
                <a:moveTo>
                  <a:pt x="26" y="9"/>
                </a:moveTo>
                <a:cubicBezTo>
                  <a:pt x="127" y="9"/>
                  <a:pt x="127" y="9"/>
                  <a:pt x="127" y="9"/>
                </a:cubicBezTo>
                <a:cubicBezTo>
                  <a:pt x="127" y="38"/>
                  <a:pt x="127" y="38"/>
                  <a:pt x="127" y="38"/>
                </a:cubicBezTo>
                <a:cubicBezTo>
                  <a:pt x="127" y="41"/>
                  <a:pt x="129" y="43"/>
                  <a:pt x="131" y="43"/>
                </a:cubicBezTo>
                <a:cubicBezTo>
                  <a:pt x="161" y="43"/>
                  <a:pt x="161" y="43"/>
                  <a:pt x="161" y="43"/>
                </a:cubicBezTo>
                <a:cubicBezTo>
                  <a:pt x="161" y="59"/>
                  <a:pt x="161" y="59"/>
                  <a:pt x="161" y="59"/>
                </a:cubicBezTo>
                <a:cubicBezTo>
                  <a:pt x="26" y="59"/>
                  <a:pt x="26" y="59"/>
                  <a:pt x="26" y="59"/>
                </a:cubicBezTo>
                <a:lnTo>
                  <a:pt x="26" y="9"/>
                </a:lnTo>
                <a:close/>
                <a:moveTo>
                  <a:pt x="178" y="102"/>
                </a:moveTo>
                <a:cubicBezTo>
                  <a:pt x="9" y="102"/>
                  <a:pt x="9" y="102"/>
                  <a:pt x="9" y="102"/>
                </a:cubicBezTo>
                <a:cubicBezTo>
                  <a:pt x="9" y="68"/>
                  <a:pt x="9" y="68"/>
                  <a:pt x="9" y="68"/>
                </a:cubicBezTo>
                <a:cubicBezTo>
                  <a:pt x="178" y="68"/>
                  <a:pt x="178" y="68"/>
                  <a:pt x="178" y="68"/>
                </a:cubicBezTo>
                <a:lnTo>
                  <a:pt x="178" y="102"/>
                </a:lnTo>
                <a:close/>
                <a:moveTo>
                  <a:pt x="38" y="89"/>
                </a:moveTo>
                <a:cubicBezTo>
                  <a:pt x="41" y="89"/>
                  <a:pt x="43" y="87"/>
                  <a:pt x="43" y="85"/>
                </a:cubicBezTo>
                <a:cubicBezTo>
                  <a:pt x="43" y="82"/>
                  <a:pt x="41" y="81"/>
                  <a:pt x="38" y="81"/>
                </a:cubicBezTo>
                <a:cubicBezTo>
                  <a:pt x="36" y="81"/>
                  <a:pt x="34" y="82"/>
                  <a:pt x="34" y="85"/>
                </a:cubicBezTo>
                <a:cubicBezTo>
                  <a:pt x="34" y="87"/>
                  <a:pt x="36" y="89"/>
                  <a:pt x="38" y="89"/>
                </a:cubicBezTo>
                <a:close/>
                <a:moveTo>
                  <a:pt x="22" y="89"/>
                </a:moveTo>
                <a:cubicBezTo>
                  <a:pt x="24" y="89"/>
                  <a:pt x="26" y="87"/>
                  <a:pt x="26" y="85"/>
                </a:cubicBezTo>
                <a:cubicBezTo>
                  <a:pt x="26" y="82"/>
                  <a:pt x="24" y="81"/>
                  <a:pt x="22" y="81"/>
                </a:cubicBezTo>
                <a:cubicBezTo>
                  <a:pt x="19" y="81"/>
                  <a:pt x="17" y="82"/>
                  <a:pt x="17" y="85"/>
                </a:cubicBezTo>
                <a:cubicBezTo>
                  <a:pt x="17" y="87"/>
                  <a:pt x="19" y="89"/>
                  <a:pt x="22" y="89"/>
                </a:cubicBez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endParaRPr lang="en-US" sz="1350" dirty="0">
              <a:solidFill>
                <a:prstClr val="black"/>
              </a:solidFill>
            </a:endParaRPr>
          </a:p>
        </p:txBody>
      </p:sp>
      <p:sp>
        <p:nvSpPr>
          <p:cNvPr id="62" name="Freeform 152"/>
          <p:cNvSpPr>
            <a:spLocks noEditPoints="1"/>
          </p:cNvSpPr>
          <p:nvPr/>
        </p:nvSpPr>
        <p:spPr bwMode="auto">
          <a:xfrm>
            <a:off x="1004763" y="3792563"/>
            <a:ext cx="284668" cy="282149"/>
          </a:xfrm>
          <a:custGeom>
            <a:avLst/>
            <a:gdLst>
              <a:gd name="T0" fmla="*/ 93 w 186"/>
              <a:gd name="T1" fmla="*/ 0 h 185"/>
              <a:gd name="T2" fmla="*/ 0 w 186"/>
              <a:gd name="T3" fmla="*/ 93 h 185"/>
              <a:gd name="T4" fmla="*/ 93 w 186"/>
              <a:gd name="T5" fmla="*/ 185 h 185"/>
              <a:gd name="T6" fmla="*/ 186 w 186"/>
              <a:gd name="T7" fmla="*/ 93 h 185"/>
              <a:gd name="T8" fmla="*/ 93 w 186"/>
              <a:gd name="T9" fmla="*/ 0 h 185"/>
              <a:gd name="T10" fmla="*/ 93 w 186"/>
              <a:gd name="T11" fmla="*/ 177 h 185"/>
              <a:gd name="T12" fmla="*/ 41 w 186"/>
              <a:gd name="T13" fmla="*/ 159 h 185"/>
              <a:gd name="T14" fmla="*/ 68 w 186"/>
              <a:gd name="T15" fmla="*/ 140 h 185"/>
              <a:gd name="T16" fmla="*/ 78 w 186"/>
              <a:gd name="T17" fmla="*/ 131 h 185"/>
              <a:gd name="T18" fmla="*/ 75 w 186"/>
              <a:gd name="T19" fmla="*/ 122 h 185"/>
              <a:gd name="T20" fmla="*/ 71 w 186"/>
              <a:gd name="T21" fmla="*/ 121 h 185"/>
              <a:gd name="T22" fmla="*/ 53 w 186"/>
              <a:gd name="T23" fmla="*/ 118 h 185"/>
              <a:gd name="T24" fmla="*/ 59 w 186"/>
              <a:gd name="T25" fmla="*/ 76 h 185"/>
              <a:gd name="T26" fmla="*/ 95 w 186"/>
              <a:gd name="T27" fmla="*/ 34 h 185"/>
              <a:gd name="T28" fmla="*/ 126 w 186"/>
              <a:gd name="T29" fmla="*/ 78 h 185"/>
              <a:gd name="T30" fmla="*/ 133 w 186"/>
              <a:gd name="T31" fmla="*/ 117 h 185"/>
              <a:gd name="T32" fmla="*/ 113 w 186"/>
              <a:gd name="T33" fmla="*/ 120 h 185"/>
              <a:gd name="T34" fmla="*/ 109 w 186"/>
              <a:gd name="T35" fmla="*/ 123 h 185"/>
              <a:gd name="T36" fmla="*/ 118 w 186"/>
              <a:gd name="T37" fmla="*/ 139 h 185"/>
              <a:gd name="T38" fmla="*/ 145 w 186"/>
              <a:gd name="T39" fmla="*/ 159 h 185"/>
              <a:gd name="T40" fmla="*/ 93 w 186"/>
              <a:gd name="T41" fmla="*/ 177 h 185"/>
              <a:gd name="T42" fmla="*/ 151 w 186"/>
              <a:gd name="T43" fmla="*/ 153 h 185"/>
              <a:gd name="T44" fmla="*/ 121 w 186"/>
              <a:gd name="T45" fmla="*/ 132 h 185"/>
              <a:gd name="T46" fmla="*/ 117 w 186"/>
              <a:gd name="T47" fmla="*/ 129 h 185"/>
              <a:gd name="T48" fmla="*/ 143 w 186"/>
              <a:gd name="T49" fmla="*/ 122 h 185"/>
              <a:gd name="T50" fmla="*/ 145 w 186"/>
              <a:gd name="T51" fmla="*/ 118 h 185"/>
              <a:gd name="T52" fmla="*/ 142 w 186"/>
              <a:gd name="T53" fmla="*/ 114 h 185"/>
              <a:gd name="T54" fmla="*/ 135 w 186"/>
              <a:gd name="T55" fmla="*/ 78 h 185"/>
              <a:gd name="T56" fmla="*/ 95 w 186"/>
              <a:gd name="T57" fmla="*/ 25 h 185"/>
              <a:gd name="T58" fmla="*/ 50 w 186"/>
              <a:gd name="T59" fmla="*/ 76 h 185"/>
              <a:gd name="T60" fmla="*/ 44 w 186"/>
              <a:gd name="T61" fmla="*/ 115 h 185"/>
              <a:gd name="T62" fmla="*/ 41 w 186"/>
              <a:gd name="T63" fmla="*/ 118 h 185"/>
              <a:gd name="T64" fmla="*/ 43 w 186"/>
              <a:gd name="T65" fmla="*/ 122 h 185"/>
              <a:gd name="T66" fmla="*/ 70 w 186"/>
              <a:gd name="T67" fmla="*/ 130 h 185"/>
              <a:gd name="T68" fmla="*/ 65 w 186"/>
              <a:gd name="T69" fmla="*/ 132 h 185"/>
              <a:gd name="T70" fmla="*/ 34 w 186"/>
              <a:gd name="T71" fmla="*/ 153 h 185"/>
              <a:gd name="T72" fmla="*/ 9 w 186"/>
              <a:gd name="T73" fmla="*/ 93 h 185"/>
              <a:gd name="T74" fmla="*/ 93 w 186"/>
              <a:gd name="T75" fmla="*/ 8 h 185"/>
              <a:gd name="T76" fmla="*/ 177 w 186"/>
              <a:gd name="T77" fmla="*/ 93 h 185"/>
              <a:gd name="T78" fmla="*/ 151 w 186"/>
              <a:gd name="T79" fmla="*/ 15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6" h="185">
                <a:moveTo>
                  <a:pt x="93" y="0"/>
                </a:moveTo>
                <a:cubicBezTo>
                  <a:pt x="42" y="0"/>
                  <a:pt x="0" y="41"/>
                  <a:pt x="0" y="93"/>
                </a:cubicBezTo>
                <a:cubicBezTo>
                  <a:pt x="0" y="144"/>
                  <a:pt x="42" y="185"/>
                  <a:pt x="93" y="185"/>
                </a:cubicBezTo>
                <a:cubicBezTo>
                  <a:pt x="144" y="185"/>
                  <a:pt x="186" y="144"/>
                  <a:pt x="186" y="93"/>
                </a:cubicBezTo>
                <a:cubicBezTo>
                  <a:pt x="186" y="41"/>
                  <a:pt x="144" y="0"/>
                  <a:pt x="93" y="0"/>
                </a:cubicBezTo>
                <a:close/>
                <a:moveTo>
                  <a:pt x="93" y="177"/>
                </a:moveTo>
                <a:cubicBezTo>
                  <a:pt x="73" y="177"/>
                  <a:pt x="55" y="170"/>
                  <a:pt x="41" y="159"/>
                </a:cubicBezTo>
                <a:cubicBezTo>
                  <a:pt x="46" y="151"/>
                  <a:pt x="58" y="143"/>
                  <a:pt x="68" y="140"/>
                </a:cubicBezTo>
                <a:cubicBezTo>
                  <a:pt x="74" y="138"/>
                  <a:pt x="77" y="135"/>
                  <a:pt x="78" y="131"/>
                </a:cubicBezTo>
                <a:cubicBezTo>
                  <a:pt x="79" y="126"/>
                  <a:pt x="76" y="122"/>
                  <a:pt x="75" y="122"/>
                </a:cubicBezTo>
                <a:cubicBezTo>
                  <a:pt x="74" y="121"/>
                  <a:pt x="72" y="120"/>
                  <a:pt x="71" y="121"/>
                </a:cubicBezTo>
                <a:cubicBezTo>
                  <a:pt x="71" y="121"/>
                  <a:pt x="64" y="123"/>
                  <a:pt x="53" y="118"/>
                </a:cubicBezTo>
                <a:cubicBezTo>
                  <a:pt x="56" y="112"/>
                  <a:pt x="59" y="100"/>
                  <a:pt x="59" y="76"/>
                </a:cubicBezTo>
                <a:cubicBezTo>
                  <a:pt x="59" y="37"/>
                  <a:pt x="76" y="34"/>
                  <a:pt x="95" y="34"/>
                </a:cubicBezTo>
                <a:cubicBezTo>
                  <a:pt x="109" y="34"/>
                  <a:pt x="126" y="38"/>
                  <a:pt x="126" y="78"/>
                </a:cubicBezTo>
                <a:cubicBezTo>
                  <a:pt x="126" y="100"/>
                  <a:pt x="130" y="111"/>
                  <a:pt x="133" y="117"/>
                </a:cubicBezTo>
                <a:cubicBezTo>
                  <a:pt x="129" y="119"/>
                  <a:pt x="121" y="121"/>
                  <a:pt x="113" y="120"/>
                </a:cubicBezTo>
                <a:cubicBezTo>
                  <a:pt x="111" y="120"/>
                  <a:pt x="109" y="121"/>
                  <a:pt x="109" y="123"/>
                </a:cubicBezTo>
                <a:cubicBezTo>
                  <a:pt x="107" y="126"/>
                  <a:pt x="107" y="134"/>
                  <a:pt x="118" y="139"/>
                </a:cubicBezTo>
                <a:cubicBezTo>
                  <a:pt x="126" y="143"/>
                  <a:pt x="137" y="149"/>
                  <a:pt x="145" y="159"/>
                </a:cubicBezTo>
                <a:cubicBezTo>
                  <a:pt x="131" y="170"/>
                  <a:pt x="113" y="177"/>
                  <a:pt x="93" y="177"/>
                </a:cubicBezTo>
                <a:close/>
                <a:moveTo>
                  <a:pt x="151" y="153"/>
                </a:moveTo>
                <a:cubicBezTo>
                  <a:pt x="142" y="142"/>
                  <a:pt x="131" y="136"/>
                  <a:pt x="121" y="132"/>
                </a:cubicBezTo>
                <a:cubicBezTo>
                  <a:pt x="119" y="131"/>
                  <a:pt x="118" y="130"/>
                  <a:pt x="117" y="129"/>
                </a:cubicBezTo>
                <a:cubicBezTo>
                  <a:pt x="131" y="128"/>
                  <a:pt x="142" y="122"/>
                  <a:pt x="143" y="122"/>
                </a:cubicBezTo>
                <a:cubicBezTo>
                  <a:pt x="144" y="121"/>
                  <a:pt x="145" y="119"/>
                  <a:pt x="145" y="118"/>
                </a:cubicBezTo>
                <a:cubicBezTo>
                  <a:pt x="145" y="116"/>
                  <a:pt x="144" y="115"/>
                  <a:pt x="142" y="114"/>
                </a:cubicBezTo>
                <a:cubicBezTo>
                  <a:pt x="142" y="114"/>
                  <a:pt x="135" y="108"/>
                  <a:pt x="135" y="78"/>
                </a:cubicBezTo>
                <a:cubicBezTo>
                  <a:pt x="135" y="43"/>
                  <a:pt x="121" y="25"/>
                  <a:pt x="95" y="25"/>
                </a:cubicBezTo>
                <a:cubicBezTo>
                  <a:pt x="73" y="25"/>
                  <a:pt x="50" y="31"/>
                  <a:pt x="50" y="76"/>
                </a:cubicBezTo>
                <a:cubicBezTo>
                  <a:pt x="50" y="108"/>
                  <a:pt x="45" y="114"/>
                  <a:pt x="44" y="115"/>
                </a:cubicBezTo>
                <a:cubicBezTo>
                  <a:pt x="43" y="115"/>
                  <a:pt x="42" y="116"/>
                  <a:pt x="41" y="118"/>
                </a:cubicBezTo>
                <a:cubicBezTo>
                  <a:pt x="41" y="120"/>
                  <a:pt x="42" y="121"/>
                  <a:pt x="43" y="122"/>
                </a:cubicBezTo>
                <a:cubicBezTo>
                  <a:pt x="55" y="129"/>
                  <a:pt x="64" y="130"/>
                  <a:pt x="70" y="130"/>
                </a:cubicBezTo>
                <a:cubicBezTo>
                  <a:pt x="69" y="130"/>
                  <a:pt x="68" y="131"/>
                  <a:pt x="65" y="132"/>
                </a:cubicBezTo>
                <a:cubicBezTo>
                  <a:pt x="54" y="135"/>
                  <a:pt x="41" y="144"/>
                  <a:pt x="34" y="153"/>
                </a:cubicBezTo>
                <a:cubicBezTo>
                  <a:pt x="18" y="138"/>
                  <a:pt x="9" y="116"/>
                  <a:pt x="9" y="93"/>
                </a:cubicBezTo>
                <a:cubicBezTo>
                  <a:pt x="9" y="46"/>
                  <a:pt x="46" y="8"/>
                  <a:pt x="93" y="8"/>
                </a:cubicBezTo>
                <a:cubicBezTo>
                  <a:pt x="140" y="8"/>
                  <a:pt x="177" y="46"/>
                  <a:pt x="177" y="93"/>
                </a:cubicBezTo>
                <a:cubicBezTo>
                  <a:pt x="177" y="117"/>
                  <a:pt x="167" y="138"/>
                  <a:pt x="151" y="153"/>
                </a:cubicBez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endParaRPr lang="en-US" sz="1350" dirty="0">
              <a:solidFill>
                <a:prstClr val="black"/>
              </a:solidFill>
            </a:endParaRPr>
          </a:p>
        </p:txBody>
      </p:sp>
      <p:sp>
        <p:nvSpPr>
          <p:cNvPr id="63" name="Freeform 104"/>
          <p:cNvSpPr>
            <a:spLocks noEditPoints="1"/>
          </p:cNvSpPr>
          <p:nvPr/>
        </p:nvSpPr>
        <p:spPr bwMode="auto">
          <a:xfrm>
            <a:off x="5048534" y="2979161"/>
            <a:ext cx="283829" cy="283829"/>
          </a:xfrm>
          <a:custGeom>
            <a:avLst/>
            <a:gdLst>
              <a:gd name="T0" fmla="*/ 67 w 186"/>
              <a:gd name="T1" fmla="*/ 101 h 186"/>
              <a:gd name="T2" fmla="*/ 63 w 186"/>
              <a:gd name="T3" fmla="*/ 105 h 186"/>
              <a:gd name="T4" fmla="*/ 64 w 186"/>
              <a:gd name="T5" fmla="*/ 108 h 186"/>
              <a:gd name="T6" fmla="*/ 90 w 186"/>
              <a:gd name="T7" fmla="*/ 134 h 186"/>
              <a:gd name="T8" fmla="*/ 93 w 186"/>
              <a:gd name="T9" fmla="*/ 135 h 186"/>
              <a:gd name="T10" fmla="*/ 96 w 186"/>
              <a:gd name="T11" fmla="*/ 134 h 186"/>
              <a:gd name="T12" fmla="*/ 121 w 186"/>
              <a:gd name="T13" fmla="*/ 108 h 186"/>
              <a:gd name="T14" fmla="*/ 122 w 186"/>
              <a:gd name="T15" fmla="*/ 105 h 186"/>
              <a:gd name="T16" fmla="*/ 118 w 186"/>
              <a:gd name="T17" fmla="*/ 101 h 186"/>
              <a:gd name="T18" fmla="*/ 115 w 186"/>
              <a:gd name="T19" fmla="*/ 102 h 186"/>
              <a:gd name="T20" fmla="*/ 97 w 186"/>
              <a:gd name="T21" fmla="*/ 121 h 186"/>
              <a:gd name="T22" fmla="*/ 97 w 186"/>
              <a:gd name="T23" fmla="*/ 4 h 186"/>
              <a:gd name="T24" fmla="*/ 97 w 186"/>
              <a:gd name="T25" fmla="*/ 4 h 186"/>
              <a:gd name="T26" fmla="*/ 93 w 186"/>
              <a:gd name="T27" fmla="*/ 0 h 186"/>
              <a:gd name="T28" fmla="*/ 89 w 186"/>
              <a:gd name="T29" fmla="*/ 4 h 186"/>
              <a:gd name="T30" fmla="*/ 89 w 186"/>
              <a:gd name="T31" fmla="*/ 121 h 186"/>
              <a:gd name="T32" fmla="*/ 70 w 186"/>
              <a:gd name="T33" fmla="*/ 102 h 186"/>
              <a:gd name="T34" fmla="*/ 67 w 186"/>
              <a:gd name="T35" fmla="*/ 101 h 186"/>
              <a:gd name="T36" fmla="*/ 177 w 186"/>
              <a:gd name="T37" fmla="*/ 42 h 186"/>
              <a:gd name="T38" fmla="*/ 110 w 186"/>
              <a:gd name="T39" fmla="*/ 42 h 186"/>
              <a:gd name="T40" fmla="*/ 105 w 186"/>
              <a:gd name="T41" fmla="*/ 46 h 186"/>
              <a:gd name="T42" fmla="*/ 110 w 186"/>
              <a:gd name="T43" fmla="*/ 51 h 186"/>
              <a:gd name="T44" fmla="*/ 177 w 186"/>
              <a:gd name="T45" fmla="*/ 51 h 186"/>
              <a:gd name="T46" fmla="*/ 177 w 186"/>
              <a:gd name="T47" fmla="*/ 67 h 186"/>
              <a:gd name="T48" fmla="*/ 110 w 186"/>
              <a:gd name="T49" fmla="*/ 67 h 186"/>
              <a:gd name="T50" fmla="*/ 105 w 186"/>
              <a:gd name="T51" fmla="*/ 72 h 186"/>
              <a:gd name="T52" fmla="*/ 110 w 186"/>
              <a:gd name="T53" fmla="*/ 76 h 186"/>
              <a:gd name="T54" fmla="*/ 160 w 186"/>
              <a:gd name="T55" fmla="*/ 76 h 186"/>
              <a:gd name="T56" fmla="*/ 160 w 186"/>
              <a:gd name="T57" fmla="*/ 177 h 186"/>
              <a:gd name="T58" fmla="*/ 25 w 186"/>
              <a:gd name="T59" fmla="*/ 177 h 186"/>
              <a:gd name="T60" fmla="*/ 25 w 186"/>
              <a:gd name="T61" fmla="*/ 76 h 186"/>
              <a:gd name="T62" fmla="*/ 76 w 186"/>
              <a:gd name="T63" fmla="*/ 76 h 186"/>
              <a:gd name="T64" fmla="*/ 80 w 186"/>
              <a:gd name="T65" fmla="*/ 72 h 186"/>
              <a:gd name="T66" fmla="*/ 76 w 186"/>
              <a:gd name="T67" fmla="*/ 67 h 186"/>
              <a:gd name="T68" fmla="*/ 8 w 186"/>
              <a:gd name="T69" fmla="*/ 67 h 186"/>
              <a:gd name="T70" fmla="*/ 8 w 186"/>
              <a:gd name="T71" fmla="*/ 51 h 186"/>
              <a:gd name="T72" fmla="*/ 76 w 186"/>
              <a:gd name="T73" fmla="*/ 51 h 186"/>
              <a:gd name="T74" fmla="*/ 80 w 186"/>
              <a:gd name="T75" fmla="*/ 46 h 186"/>
              <a:gd name="T76" fmla="*/ 76 w 186"/>
              <a:gd name="T77" fmla="*/ 42 h 186"/>
              <a:gd name="T78" fmla="*/ 8 w 186"/>
              <a:gd name="T79" fmla="*/ 42 h 186"/>
              <a:gd name="T80" fmla="*/ 0 w 186"/>
              <a:gd name="T81" fmla="*/ 51 h 186"/>
              <a:gd name="T82" fmla="*/ 0 w 186"/>
              <a:gd name="T83" fmla="*/ 67 h 186"/>
              <a:gd name="T84" fmla="*/ 8 w 186"/>
              <a:gd name="T85" fmla="*/ 76 h 186"/>
              <a:gd name="T86" fmla="*/ 17 w 186"/>
              <a:gd name="T87" fmla="*/ 76 h 186"/>
              <a:gd name="T88" fmla="*/ 17 w 186"/>
              <a:gd name="T89" fmla="*/ 177 h 186"/>
              <a:gd name="T90" fmla="*/ 25 w 186"/>
              <a:gd name="T91" fmla="*/ 186 h 186"/>
              <a:gd name="T92" fmla="*/ 160 w 186"/>
              <a:gd name="T93" fmla="*/ 186 h 186"/>
              <a:gd name="T94" fmla="*/ 169 w 186"/>
              <a:gd name="T95" fmla="*/ 177 h 186"/>
              <a:gd name="T96" fmla="*/ 169 w 186"/>
              <a:gd name="T97" fmla="*/ 76 h 186"/>
              <a:gd name="T98" fmla="*/ 177 w 186"/>
              <a:gd name="T99" fmla="*/ 76 h 186"/>
              <a:gd name="T100" fmla="*/ 186 w 186"/>
              <a:gd name="T101" fmla="*/ 67 h 186"/>
              <a:gd name="T102" fmla="*/ 186 w 186"/>
              <a:gd name="T103" fmla="*/ 51 h 186"/>
              <a:gd name="T104" fmla="*/ 177 w 186"/>
              <a:gd name="T105" fmla="*/ 42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6" h="186">
                <a:moveTo>
                  <a:pt x="67" y="101"/>
                </a:moveTo>
                <a:cubicBezTo>
                  <a:pt x="65" y="101"/>
                  <a:pt x="63" y="103"/>
                  <a:pt x="63" y="105"/>
                </a:cubicBezTo>
                <a:cubicBezTo>
                  <a:pt x="63" y="107"/>
                  <a:pt x="64" y="108"/>
                  <a:pt x="64" y="108"/>
                </a:cubicBezTo>
                <a:cubicBezTo>
                  <a:pt x="90" y="134"/>
                  <a:pt x="90" y="134"/>
                  <a:pt x="90" y="134"/>
                </a:cubicBezTo>
                <a:cubicBezTo>
                  <a:pt x="91" y="135"/>
                  <a:pt x="92" y="135"/>
                  <a:pt x="93" y="135"/>
                </a:cubicBezTo>
                <a:cubicBezTo>
                  <a:pt x="94" y="135"/>
                  <a:pt x="95" y="135"/>
                  <a:pt x="96" y="134"/>
                </a:cubicBezTo>
                <a:cubicBezTo>
                  <a:pt x="121" y="108"/>
                  <a:pt x="121" y="108"/>
                  <a:pt x="121" y="108"/>
                </a:cubicBezTo>
                <a:cubicBezTo>
                  <a:pt x="122" y="108"/>
                  <a:pt x="122" y="107"/>
                  <a:pt x="122" y="105"/>
                </a:cubicBezTo>
                <a:cubicBezTo>
                  <a:pt x="122" y="103"/>
                  <a:pt x="120" y="101"/>
                  <a:pt x="118" y="101"/>
                </a:cubicBezTo>
                <a:cubicBezTo>
                  <a:pt x="117" y="101"/>
                  <a:pt x="116" y="102"/>
                  <a:pt x="115" y="102"/>
                </a:cubicBezTo>
                <a:cubicBezTo>
                  <a:pt x="97" y="121"/>
                  <a:pt x="97" y="121"/>
                  <a:pt x="97" y="121"/>
                </a:cubicBezTo>
                <a:cubicBezTo>
                  <a:pt x="97" y="4"/>
                  <a:pt x="97" y="4"/>
                  <a:pt x="97" y="4"/>
                </a:cubicBezTo>
                <a:cubicBezTo>
                  <a:pt x="97" y="4"/>
                  <a:pt x="97" y="4"/>
                  <a:pt x="97" y="4"/>
                </a:cubicBezTo>
                <a:cubicBezTo>
                  <a:pt x="97" y="2"/>
                  <a:pt x="95" y="0"/>
                  <a:pt x="93" y="0"/>
                </a:cubicBezTo>
                <a:cubicBezTo>
                  <a:pt x="90" y="0"/>
                  <a:pt x="89" y="2"/>
                  <a:pt x="89" y="4"/>
                </a:cubicBezTo>
                <a:cubicBezTo>
                  <a:pt x="89" y="121"/>
                  <a:pt x="89" y="121"/>
                  <a:pt x="89" y="121"/>
                </a:cubicBezTo>
                <a:cubicBezTo>
                  <a:pt x="70" y="102"/>
                  <a:pt x="70" y="102"/>
                  <a:pt x="70" y="102"/>
                </a:cubicBezTo>
                <a:cubicBezTo>
                  <a:pt x="70" y="102"/>
                  <a:pt x="69" y="101"/>
                  <a:pt x="67" y="101"/>
                </a:cubicBezTo>
                <a:close/>
                <a:moveTo>
                  <a:pt x="177" y="42"/>
                </a:moveTo>
                <a:cubicBezTo>
                  <a:pt x="110" y="42"/>
                  <a:pt x="110" y="42"/>
                  <a:pt x="110" y="42"/>
                </a:cubicBezTo>
                <a:cubicBezTo>
                  <a:pt x="107" y="42"/>
                  <a:pt x="105" y="44"/>
                  <a:pt x="105" y="46"/>
                </a:cubicBezTo>
                <a:cubicBezTo>
                  <a:pt x="105" y="49"/>
                  <a:pt x="107" y="51"/>
                  <a:pt x="110" y="51"/>
                </a:cubicBezTo>
                <a:cubicBezTo>
                  <a:pt x="177" y="51"/>
                  <a:pt x="177" y="51"/>
                  <a:pt x="177" y="51"/>
                </a:cubicBezTo>
                <a:cubicBezTo>
                  <a:pt x="177" y="67"/>
                  <a:pt x="177" y="67"/>
                  <a:pt x="177" y="67"/>
                </a:cubicBezTo>
                <a:cubicBezTo>
                  <a:pt x="110" y="67"/>
                  <a:pt x="110" y="67"/>
                  <a:pt x="110" y="67"/>
                </a:cubicBezTo>
                <a:cubicBezTo>
                  <a:pt x="107" y="67"/>
                  <a:pt x="105" y="69"/>
                  <a:pt x="105" y="72"/>
                </a:cubicBezTo>
                <a:cubicBezTo>
                  <a:pt x="105" y="74"/>
                  <a:pt x="107" y="76"/>
                  <a:pt x="110" y="76"/>
                </a:cubicBezTo>
                <a:cubicBezTo>
                  <a:pt x="160" y="76"/>
                  <a:pt x="160" y="76"/>
                  <a:pt x="160" y="76"/>
                </a:cubicBezTo>
                <a:cubicBezTo>
                  <a:pt x="160" y="177"/>
                  <a:pt x="160" y="177"/>
                  <a:pt x="160" y="177"/>
                </a:cubicBezTo>
                <a:cubicBezTo>
                  <a:pt x="25" y="177"/>
                  <a:pt x="25" y="177"/>
                  <a:pt x="25" y="177"/>
                </a:cubicBezTo>
                <a:cubicBezTo>
                  <a:pt x="25" y="76"/>
                  <a:pt x="25" y="76"/>
                  <a:pt x="25" y="76"/>
                </a:cubicBezTo>
                <a:cubicBezTo>
                  <a:pt x="76" y="76"/>
                  <a:pt x="76" y="76"/>
                  <a:pt x="76" y="76"/>
                </a:cubicBezTo>
                <a:cubicBezTo>
                  <a:pt x="78" y="76"/>
                  <a:pt x="80" y="74"/>
                  <a:pt x="80" y="72"/>
                </a:cubicBezTo>
                <a:cubicBezTo>
                  <a:pt x="80" y="69"/>
                  <a:pt x="78" y="67"/>
                  <a:pt x="76" y="67"/>
                </a:cubicBezTo>
                <a:cubicBezTo>
                  <a:pt x="8" y="67"/>
                  <a:pt x="8" y="67"/>
                  <a:pt x="8" y="67"/>
                </a:cubicBezTo>
                <a:cubicBezTo>
                  <a:pt x="8" y="51"/>
                  <a:pt x="8" y="51"/>
                  <a:pt x="8" y="51"/>
                </a:cubicBezTo>
                <a:cubicBezTo>
                  <a:pt x="76" y="51"/>
                  <a:pt x="76" y="51"/>
                  <a:pt x="76" y="51"/>
                </a:cubicBezTo>
                <a:cubicBezTo>
                  <a:pt x="78" y="51"/>
                  <a:pt x="80" y="49"/>
                  <a:pt x="80" y="46"/>
                </a:cubicBezTo>
                <a:cubicBezTo>
                  <a:pt x="80" y="44"/>
                  <a:pt x="78" y="42"/>
                  <a:pt x="76" y="42"/>
                </a:cubicBezTo>
                <a:cubicBezTo>
                  <a:pt x="8" y="42"/>
                  <a:pt x="8" y="42"/>
                  <a:pt x="8" y="42"/>
                </a:cubicBezTo>
                <a:cubicBezTo>
                  <a:pt x="4" y="42"/>
                  <a:pt x="0" y="46"/>
                  <a:pt x="0" y="51"/>
                </a:cubicBezTo>
                <a:cubicBezTo>
                  <a:pt x="0" y="67"/>
                  <a:pt x="0" y="67"/>
                  <a:pt x="0" y="67"/>
                </a:cubicBezTo>
                <a:cubicBezTo>
                  <a:pt x="0" y="72"/>
                  <a:pt x="4" y="76"/>
                  <a:pt x="8" y="76"/>
                </a:cubicBezTo>
                <a:cubicBezTo>
                  <a:pt x="17" y="76"/>
                  <a:pt x="17" y="76"/>
                  <a:pt x="17" y="76"/>
                </a:cubicBezTo>
                <a:cubicBezTo>
                  <a:pt x="17" y="177"/>
                  <a:pt x="17" y="177"/>
                  <a:pt x="17" y="177"/>
                </a:cubicBezTo>
                <a:cubicBezTo>
                  <a:pt x="17" y="182"/>
                  <a:pt x="21" y="186"/>
                  <a:pt x="25" y="186"/>
                </a:cubicBezTo>
                <a:cubicBezTo>
                  <a:pt x="160" y="186"/>
                  <a:pt x="160" y="186"/>
                  <a:pt x="160" y="186"/>
                </a:cubicBezTo>
                <a:cubicBezTo>
                  <a:pt x="165" y="186"/>
                  <a:pt x="169" y="182"/>
                  <a:pt x="169" y="177"/>
                </a:cubicBezTo>
                <a:cubicBezTo>
                  <a:pt x="169" y="76"/>
                  <a:pt x="169" y="76"/>
                  <a:pt x="169" y="76"/>
                </a:cubicBezTo>
                <a:cubicBezTo>
                  <a:pt x="177" y="76"/>
                  <a:pt x="177" y="76"/>
                  <a:pt x="177" y="76"/>
                </a:cubicBezTo>
                <a:cubicBezTo>
                  <a:pt x="182" y="76"/>
                  <a:pt x="186" y="72"/>
                  <a:pt x="186" y="67"/>
                </a:cubicBezTo>
                <a:cubicBezTo>
                  <a:pt x="186" y="51"/>
                  <a:pt x="186" y="51"/>
                  <a:pt x="186" y="51"/>
                </a:cubicBezTo>
                <a:cubicBezTo>
                  <a:pt x="186" y="46"/>
                  <a:pt x="182" y="42"/>
                  <a:pt x="177" y="42"/>
                </a:cubicBez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endParaRPr lang="en-US" sz="1350" dirty="0">
              <a:solidFill>
                <a:prstClr val="black"/>
              </a:solidFill>
            </a:endParaRPr>
          </a:p>
        </p:txBody>
      </p:sp>
      <p:sp>
        <p:nvSpPr>
          <p:cNvPr id="64" name="Freeform 156"/>
          <p:cNvSpPr>
            <a:spLocks noEditPoints="1"/>
          </p:cNvSpPr>
          <p:nvPr/>
        </p:nvSpPr>
        <p:spPr bwMode="auto">
          <a:xfrm>
            <a:off x="5048953" y="3764494"/>
            <a:ext cx="282989" cy="282149"/>
          </a:xfrm>
          <a:custGeom>
            <a:avLst/>
            <a:gdLst>
              <a:gd name="T0" fmla="*/ 107 w 185"/>
              <a:gd name="T1" fmla="*/ 76 h 185"/>
              <a:gd name="T2" fmla="*/ 92 w 185"/>
              <a:gd name="T3" fmla="*/ 38 h 185"/>
              <a:gd name="T4" fmla="*/ 78 w 185"/>
              <a:gd name="T5" fmla="*/ 76 h 185"/>
              <a:gd name="T6" fmla="*/ 40 w 185"/>
              <a:gd name="T7" fmla="*/ 76 h 185"/>
              <a:gd name="T8" fmla="*/ 71 w 185"/>
              <a:gd name="T9" fmla="*/ 100 h 185"/>
              <a:gd name="T10" fmla="*/ 56 w 185"/>
              <a:gd name="T11" fmla="*/ 143 h 185"/>
              <a:gd name="T12" fmla="*/ 92 w 185"/>
              <a:gd name="T13" fmla="*/ 117 h 185"/>
              <a:gd name="T14" fmla="*/ 128 w 185"/>
              <a:gd name="T15" fmla="*/ 143 h 185"/>
              <a:gd name="T16" fmla="*/ 114 w 185"/>
              <a:gd name="T17" fmla="*/ 100 h 185"/>
              <a:gd name="T18" fmla="*/ 145 w 185"/>
              <a:gd name="T19" fmla="*/ 76 h 185"/>
              <a:gd name="T20" fmla="*/ 107 w 185"/>
              <a:gd name="T21" fmla="*/ 76 h 185"/>
              <a:gd name="T22" fmla="*/ 106 w 185"/>
              <a:gd name="T23" fmla="*/ 103 h 185"/>
              <a:gd name="T24" fmla="*/ 112 w 185"/>
              <a:gd name="T25" fmla="*/ 121 h 185"/>
              <a:gd name="T26" fmla="*/ 97 w 185"/>
              <a:gd name="T27" fmla="*/ 110 h 185"/>
              <a:gd name="T28" fmla="*/ 92 w 185"/>
              <a:gd name="T29" fmla="*/ 106 h 185"/>
              <a:gd name="T30" fmla="*/ 87 w 185"/>
              <a:gd name="T31" fmla="*/ 110 h 185"/>
              <a:gd name="T32" fmla="*/ 73 w 185"/>
              <a:gd name="T33" fmla="*/ 121 h 185"/>
              <a:gd name="T34" fmla="*/ 79 w 185"/>
              <a:gd name="T35" fmla="*/ 103 h 185"/>
              <a:gd name="T36" fmla="*/ 81 w 185"/>
              <a:gd name="T37" fmla="*/ 97 h 185"/>
              <a:gd name="T38" fmla="*/ 76 w 185"/>
              <a:gd name="T39" fmla="*/ 93 h 185"/>
              <a:gd name="T40" fmla="*/ 64 w 185"/>
              <a:gd name="T41" fmla="*/ 84 h 185"/>
              <a:gd name="T42" fmla="*/ 84 w 185"/>
              <a:gd name="T43" fmla="*/ 84 h 185"/>
              <a:gd name="T44" fmla="*/ 86 w 185"/>
              <a:gd name="T45" fmla="*/ 79 h 185"/>
              <a:gd name="T46" fmla="*/ 92 w 185"/>
              <a:gd name="T47" fmla="*/ 61 h 185"/>
              <a:gd name="T48" fmla="*/ 99 w 185"/>
              <a:gd name="T49" fmla="*/ 79 h 185"/>
              <a:gd name="T50" fmla="*/ 101 w 185"/>
              <a:gd name="T51" fmla="*/ 84 h 185"/>
              <a:gd name="T52" fmla="*/ 120 w 185"/>
              <a:gd name="T53" fmla="*/ 84 h 185"/>
              <a:gd name="T54" fmla="*/ 109 w 185"/>
              <a:gd name="T55" fmla="*/ 93 h 185"/>
              <a:gd name="T56" fmla="*/ 104 w 185"/>
              <a:gd name="T57" fmla="*/ 97 h 185"/>
              <a:gd name="T58" fmla="*/ 106 w 185"/>
              <a:gd name="T59" fmla="*/ 103 h 185"/>
              <a:gd name="T60" fmla="*/ 168 w 185"/>
              <a:gd name="T61" fmla="*/ 3 h 185"/>
              <a:gd name="T62" fmla="*/ 166 w 185"/>
              <a:gd name="T63" fmla="*/ 0 h 185"/>
              <a:gd name="T64" fmla="*/ 162 w 185"/>
              <a:gd name="T65" fmla="*/ 0 h 185"/>
              <a:gd name="T66" fmla="*/ 92 w 185"/>
              <a:gd name="T67" fmla="*/ 17 h 185"/>
              <a:gd name="T68" fmla="*/ 23 w 185"/>
              <a:gd name="T69" fmla="*/ 0 h 185"/>
              <a:gd name="T70" fmla="*/ 19 w 185"/>
              <a:gd name="T71" fmla="*/ 0 h 185"/>
              <a:gd name="T72" fmla="*/ 17 w 185"/>
              <a:gd name="T73" fmla="*/ 3 h 185"/>
              <a:gd name="T74" fmla="*/ 0 w 185"/>
              <a:gd name="T75" fmla="*/ 105 h 185"/>
              <a:gd name="T76" fmla="*/ 92 w 185"/>
              <a:gd name="T77" fmla="*/ 185 h 185"/>
              <a:gd name="T78" fmla="*/ 92 w 185"/>
              <a:gd name="T79" fmla="*/ 185 h 185"/>
              <a:gd name="T80" fmla="*/ 93 w 185"/>
              <a:gd name="T81" fmla="*/ 185 h 185"/>
              <a:gd name="T82" fmla="*/ 185 w 185"/>
              <a:gd name="T83" fmla="*/ 105 h 185"/>
              <a:gd name="T84" fmla="*/ 168 w 185"/>
              <a:gd name="T85" fmla="*/ 3 h 185"/>
              <a:gd name="T86" fmla="*/ 92 w 185"/>
              <a:gd name="T87" fmla="*/ 177 h 185"/>
              <a:gd name="T88" fmla="*/ 8 w 185"/>
              <a:gd name="T89" fmla="*/ 105 h 185"/>
              <a:gd name="T90" fmla="*/ 24 w 185"/>
              <a:gd name="T91" fmla="*/ 10 h 185"/>
              <a:gd name="T92" fmla="*/ 92 w 185"/>
              <a:gd name="T93" fmla="*/ 25 h 185"/>
              <a:gd name="T94" fmla="*/ 161 w 185"/>
              <a:gd name="T95" fmla="*/ 10 h 185"/>
              <a:gd name="T96" fmla="*/ 177 w 185"/>
              <a:gd name="T97" fmla="*/ 105 h 185"/>
              <a:gd name="T98" fmla="*/ 92 w 185"/>
              <a:gd name="T99" fmla="*/ 177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5" h="185">
                <a:moveTo>
                  <a:pt x="107" y="76"/>
                </a:moveTo>
                <a:cubicBezTo>
                  <a:pt x="92" y="38"/>
                  <a:pt x="92" y="38"/>
                  <a:pt x="92" y="38"/>
                </a:cubicBezTo>
                <a:cubicBezTo>
                  <a:pt x="78" y="76"/>
                  <a:pt x="78" y="76"/>
                  <a:pt x="78" y="76"/>
                </a:cubicBezTo>
                <a:cubicBezTo>
                  <a:pt x="40" y="76"/>
                  <a:pt x="40" y="76"/>
                  <a:pt x="40" y="76"/>
                </a:cubicBezTo>
                <a:cubicBezTo>
                  <a:pt x="71" y="100"/>
                  <a:pt x="71" y="100"/>
                  <a:pt x="71" y="100"/>
                </a:cubicBezTo>
                <a:cubicBezTo>
                  <a:pt x="56" y="143"/>
                  <a:pt x="56" y="143"/>
                  <a:pt x="56" y="143"/>
                </a:cubicBezTo>
                <a:cubicBezTo>
                  <a:pt x="92" y="117"/>
                  <a:pt x="92" y="117"/>
                  <a:pt x="92" y="117"/>
                </a:cubicBezTo>
                <a:cubicBezTo>
                  <a:pt x="128" y="143"/>
                  <a:pt x="128" y="143"/>
                  <a:pt x="128" y="143"/>
                </a:cubicBezTo>
                <a:cubicBezTo>
                  <a:pt x="114" y="100"/>
                  <a:pt x="114" y="100"/>
                  <a:pt x="114" y="100"/>
                </a:cubicBezTo>
                <a:cubicBezTo>
                  <a:pt x="145" y="76"/>
                  <a:pt x="145" y="76"/>
                  <a:pt x="145" y="76"/>
                </a:cubicBezTo>
                <a:lnTo>
                  <a:pt x="107" y="76"/>
                </a:lnTo>
                <a:close/>
                <a:moveTo>
                  <a:pt x="106" y="103"/>
                </a:moveTo>
                <a:cubicBezTo>
                  <a:pt x="112" y="121"/>
                  <a:pt x="112" y="121"/>
                  <a:pt x="112" y="121"/>
                </a:cubicBezTo>
                <a:cubicBezTo>
                  <a:pt x="97" y="110"/>
                  <a:pt x="97" y="110"/>
                  <a:pt x="97" y="110"/>
                </a:cubicBezTo>
                <a:cubicBezTo>
                  <a:pt x="92" y="106"/>
                  <a:pt x="92" y="106"/>
                  <a:pt x="92" y="106"/>
                </a:cubicBezTo>
                <a:cubicBezTo>
                  <a:pt x="87" y="110"/>
                  <a:pt x="87" y="110"/>
                  <a:pt x="87" y="110"/>
                </a:cubicBezTo>
                <a:cubicBezTo>
                  <a:pt x="73" y="121"/>
                  <a:pt x="73" y="121"/>
                  <a:pt x="73" y="121"/>
                </a:cubicBezTo>
                <a:cubicBezTo>
                  <a:pt x="79" y="103"/>
                  <a:pt x="79" y="103"/>
                  <a:pt x="79" y="103"/>
                </a:cubicBezTo>
                <a:cubicBezTo>
                  <a:pt x="81" y="97"/>
                  <a:pt x="81" y="97"/>
                  <a:pt x="81" y="97"/>
                </a:cubicBezTo>
                <a:cubicBezTo>
                  <a:pt x="76" y="93"/>
                  <a:pt x="76" y="93"/>
                  <a:pt x="76" y="93"/>
                </a:cubicBezTo>
                <a:cubicBezTo>
                  <a:pt x="64" y="84"/>
                  <a:pt x="64" y="84"/>
                  <a:pt x="64" y="84"/>
                </a:cubicBezTo>
                <a:cubicBezTo>
                  <a:pt x="84" y="84"/>
                  <a:pt x="84" y="84"/>
                  <a:pt x="84" y="84"/>
                </a:cubicBezTo>
                <a:cubicBezTo>
                  <a:pt x="86" y="79"/>
                  <a:pt x="86" y="79"/>
                  <a:pt x="86" y="79"/>
                </a:cubicBezTo>
                <a:cubicBezTo>
                  <a:pt x="92" y="61"/>
                  <a:pt x="92" y="61"/>
                  <a:pt x="92" y="61"/>
                </a:cubicBezTo>
                <a:cubicBezTo>
                  <a:pt x="99" y="79"/>
                  <a:pt x="99" y="79"/>
                  <a:pt x="99" y="79"/>
                </a:cubicBezTo>
                <a:cubicBezTo>
                  <a:pt x="101" y="84"/>
                  <a:pt x="101" y="84"/>
                  <a:pt x="101" y="84"/>
                </a:cubicBezTo>
                <a:cubicBezTo>
                  <a:pt x="120" y="84"/>
                  <a:pt x="120" y="84"/>
                  <a:pt x="120" y="84"/>
                </a:cubicBezTo>
                <a:cubicBezTo>
                  <a:pt x="109" y="93"/>
                  <a:pt x="109" y="93"/>
                  <a:pt x="109" y="93"/>
                </a:cubicBezTo>
                <a:cubicBezTo>
                  <a:pt x="104" y="97"/>
                  <a:pt x="104" y="97"/>
                  <a:pt x="104" y="97"/>
                </a:cubicBezTo>
                <a:lnTo>
                  <a:pt x="106" y="103"/>
                </a:lnTo>
                <a:close/>
                <a:moveTo>
                  <a:pt x="168" y="3"/>
                </a:moveTo>
                <a:cubicBezTo>
                  <a:pt x="168" y="2"/>
                  <a:pt x="167" y="1"/>
                  <a:pt x="166" y="0"/>
                </a:cubicBezTo>
                <a:cubicBezTo>
                  <a:pt x="165" y="0"/>
                  <a:pt x="163" y="0"/>
                  <a:pt x="162" y="0"/>
                </a:cubicBezTo>
                <a:cubicBezTo>
                  <a:pt x="162" y="0"/>
                  <a:pt x="129" y="17"/>
                  <a:pt x="92" y="17"/>
                </a:cubicBezTo>
                <a:cubicBezTo>
                  <a:pt x="56" y="17"/>
                  <a:pt x="23" y="0"/>
                  <a:pt x="23" y="0"/>
                </a:cubicBezTo>
                <a:cubicBezTo>
                  <a:pt x="22" y="0"/>
                  <a:pt x="20" y="0"/>
                  <a:pt x="19" y="0"/>
                </a:cubicBezTo>
                <a:cubicBezTo>
                  <a:pt x="18" y="1"/>
                  <a:pt x="17" y="2"/>
                  <a:pt x="17" y="3"/>
                </a:cubicBezTo>
                <a:cubicBezTo>
                  <a:pt x="17" y="3"/>
                  <a:pt x="0" y="55"/>
                  <a:pt x="0" y="105"/>
                </a:cubicBezTo>
                <a:cubicBezTo>
                  <a:pt x="0" y="159"/>
                  <a:pt x="88" y="185"/>
                  <a:pt x="92" y="185"/>
                </a:cubicBezTo>
                <a:cubicBezTo>
                  <a:pt x="92" y="185"/>
                  <a:pt x="92" y="185"/>
                  <a:pt x="92" y="185"/>
                </a:cubicBezTo>
                <a:cubicBezTo>
                  <a:pt x="93" y="185"/>
                  <a:pt x="93" y="185"/>
                  <a:pt x="93" y="185"/>
                </a:cubicBezTo>
                <a:cubicBezTo>
                  <a:pt x="97" y="185"/>
                  <a:pt x="185" y="159"/>
                  <a:pt x="185" y="105"/>
                </a:cubicBezTo>
                <a:cubicBezTo>
                  <a:pt x="185" y="55"/>
                  <a:pt x="168" y="3"/>
                  <a:pt x="168" y="3"/>
                </a:cubicBezTo>
                <a:close/>
                <a:moveTo>
                  <a:pt x="92" y="177"/>
                </a:moveTo>
                <a:cubicBezTo>
                  <a:pt x="84" y="175"/>
                  <a:pt x="8" y="149"/>
                  <a:pt x="8" y="105"/>
                </a:cubicBezTo>
                <a:cubicBezTo>
                  <a:pt x="8" y="64"/>
                  <a:pt x="20" y="25"/>
                  <a:pt x="24" y="10"/>
                </a:cubicBezTo>
                <a:cubicBezTo>
                  <a:pt x="34" y="15"/>
                  <a:pt x="62" y="25"/>
                  <a:pt x="92" y="25"/>
                </a:cubicBezTo>
                <a:cubicBezTo>
                  <a:pt x="123" y="25"/>
                  <a:pt x="151" y="15"/>
                  <a:pt x="161" y="10"/>
                </a:cubicBezTo>
                <a:cubicBezTo>
                  <a:pt x="165" y="25"/>
                  <a:pt x="177" y="64"/>
                  <a:pt x="177" y="105"/>
                </a:cubicBezTo>
                <a:cubicBezTo>
                  <a:pt x="177" y="149"/>
                  <a:pt x="101" y="175"/>
                  <a:pt x="92" y="177"/>
                </a:cubicBez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endParaRPr lang="en-US" sz="1350" dirty="0">
              <a:solidFill>
                <a:prstClr val="black"/>
              </a:solidFill>
            </a:endParaRPr>
          </a:p>
        </p:txBody>
      </p:sp>
      <p:sp>
        <p:nvSpPr>
          <p:cNvPr id="65" name="Freeform 109"/>
          <p:cNvSpPr>
            <a:spLocks noEditPoints="1"/>
          </p:cNvSpPr>
          <p:nvPr/>
        </p:nvSpPr>
        <p:spPr bwMode="auto">
          <a:xfrm>
            <a:off x="1006443" y="4712699"/>
            <a:ext cx="282989" cy="283829"/>
          </a:xfrm>
          <a:custGeom>
            <a:avLst/>
            <a:gdLst>
              <a:gd name="T0" fmla="*/ 118 w 185"/>
              <a:gd name="T1" fmla="*/ 76 h 186"/>
              <a:gd name="T2" fmla="*/ 84 w 185"/>
              <a:gd name="T3" fmla="*/ 76 h 186"/>
              <a:gd name="T4" fmla="*/ 84 w 185"/>
              <a:gd name="T5" fmla="*/ 42 h 186"/>
              <a:gd name="T6" fmla="*/ 80 w 185"/>
              <a:gd name="T7" fmla="*/ 38 h 186"/>
              <a:gd name="T8" fmla="*/ 76 w 185"/>
              <a:gd name="T9" fmla="*/ 42 h 186"/>
              <a:gd name="T10" fmla="*/ 76 w 185"/>
              <a:gd name="T11" fmla="*/ 76 h 186"/>
              <a:gd name="T12" fmla="*/ 42 w 185"/>
              <a:gd name="T13" fmla="*/ 76 h 186"/>
              <a:gd name="T14" fmla="*/ 38 w 185"/>
              <a:gd name="T15" fmla="*/ 80 h 186"/>
              <a:gd name="T16" fmla="*/ 42 w 185"/>
              <a:gd name="T17" fmla="*/ 84 h 186"/>
              <a:gd name="T18" fmla="*/ 76 w 185"/>
              <a:gd name="T19" fmla="*/ 84 h 186"/>
              <a:gd name="T20" fmla="*/ 76 w 185"/>
              <a:gd name="T21" fmla="*/ 118 h 186"/>
              <a:gd name="T22" fmla="*/ 80 w 185"/>
              <a:gd name="T23" fmla="*/ 122 h 186"/>
              <a:gd name="T24" fmla="*/ 84 w 185"/>
              <a:gd name="T25" fmla="*/ 118 h 186"/>
              <a:gd name="T26" fmla="*/ 84 w 185"/>
              <a:gd name="T27" fmla="*/ 84 h 186"/>
              <a:gd name="T28" fmla="*/ 118 w 185"/>
              <a:gd name="T29" fmla="*/ 84 h 186"/>
              <a:gd name="T30" fmla="*/ 122 w 185"/>
              <a:gd name="T31" fmla="*/ 80 h 186"/>
              <a:gd name="T32" fmla="*/ 118 w 185"/>
              <a:gd name="T33" fmla="*/ 76 h 186"/>
              <a:gd name="T34" fmla="*/ 184 w 185"/>
              <a:gd name="T35" fmla="*/ 178 h 186"/>
              <a:gd name="T36" fmla="*/ 139 w 185"/>
              <a:gd name="T37" fmla="*/ 134 h 186"/>
              <a:gd name="T38" fmla="*/ 160 w 185"/>
              <a:gd name="T39" fmla="*/ 80 h 186"/>
              <a:gd name="T40" fmla="*/ 80 w 185"/>
              <a:gd name="T41" fmla="*/ 0 h 186"/>
              <a:gd name="T42" fmla="*/ 0 w 185"/>
              <a:gd name="T43" fmla="*/ 80 h 186"/>
              <a:gd name="T44" fmla="*/ 80 w 185"/>
              <a:gd name="T45" fmla="*/ 160 h 186"/>
              <a:gd name="T46" fmla="*/ 133 w 185"/>
              <a:gd name="T47" fmla="*/ 140 h 186"/>
              <a:gd name="T48" fmla="*/ 178 w 185"/>
              <a:gd name="T49" fmla="*/ 184 h 186"/>
              <a:gd name="T50" fmla="*/ 181 w 185"/>
              <a:gd name="T51" fmla="*/ 186 h 186"/>
              <a:gd name="T52" fmla="*/ 185 w 185"/>
              <a:gd name="T53" fmla="*/ 181 h 186"/>
              <a:gd name="T54" fmla="*/ 184 w 185"/>
              <a:gd name="T55" fmla="*/ 178 h 186"/>
              <a:gd name="T56" fmla="*/ 80 w 185"/>
              <a:gd name="T57" fmla="*/ 152 h 186"/>
              <a:gd name="T58" fmla="*/ 8 w 185"/>
              <a:gd name="T59" fmla="*/ 80 h 186"/>
              <a:gd name="T60" fmla="*/ 80 w 185"/>
              <a:gd name="T61" fmla="*/ 8 h 186"/>
              <a:gd name="T62" fmla="*/ 152 w 185"/>
              <a:gd name="T63" fmla="*/ 80 h 186"/>
              <a:gd name="T64" fmla="*/ 80 w 185"/>
              <a:gd name="T65" fmla="*/ 152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5" h="186">
                <a:moveTo>
                  <a:pt x="118" y="76"/>
                </a:moveTo>
                <a:cubicBezTo>
                  <a:pt x="84" y="76"/>
                  <a:pt x="84" y="76"/>
                  <a:pt x="84" y="76"/>
                </a:cubicBezTo>
                <a:cubicBezTo>
                  <a:pt x="84" y="42"/>
                  <a:pt x="84" y="42"/>
                  <a:pt x="84" y="42"/>
                </a:cubicBezTo>
                <a:cubicBezTo>
                  <a:pt x="84" y="40"/>
                  <a:pt x="82" y="38"/>
                  <a:pt x="80" y="38"/>
                </a:cubicBezTo>
                <a:cubicBezTo>
                  <a:pt x="78" y="38"/>
                  <a:pt x="76" y="40"/>
                  <a:pt x="76" y="42"/>
                </a:cubicBezTo>
                <a:cubicBezTo>
                  <a:pt x="76" y="76"/>
                  <a:pt x="76" y="76"/>
                  <a:pt x="76" y="76"/>
                </a:cubicBezTo>
                <a:cubicBezTo>
                  <a:pt x="42" y="76"/>
                  <a:pt x="42" y="76"/>
                  <a:pt x="42" y="76"/>
                </a:cubicBezTo>
                <a:cubicBezTo>
                  <a:pt x="40" y="76"/>
                  <a:pt x="38" y="78"/>
                  <a:pt x="38" y="80"/>
                </a:cubicBezTo>
                <a:cubicBezTo>
                  <a:pt x="38" y="82"/>
                  <a:pt x="40" y="84"/>
                  <a:pt x="42" y="84"/>
                </a:cubicBezTo>
                <a:cubicBezTo>
                  <a:pt x="76" y="84"/>
                  <a:pt x="76" y="84"/>
                  <a:pt x="76" y="84"/>
                </a:cubicBezTo>
                <a:cubicBezTo>
                  <a:pt x="76" y="118"/>
                  <a:pt x="76" y="118"/>
                  <a:pt x="76" y="118"/>
                </a:cubicBezTo>
                <a:cubicBezTo>
                  <a:pt x="76" y="120"/>
                  <a:pt x="78" y="122"/>
                  <a:pt x="80" y="122"/>
                </a:cubicBezTo>
                <a:cubicBezTo>
                  <a:pt x="82" y="122"/>
                  <a:pt x="84" y="120"/>
                  <a:pt x="84" y="118"/>
                </a:cubicBezTo>
                <a:cubicBezTo>
                  <a:pt x="84" y="84"/>
                  <a:pt x="84" y="84"/>
                  <a:pt x="84" y="84"/>
                </a:cubicBezTo>
                <a:cubicBezTo>
                  <a:pt x="118" y="84"/>
                  <a:pt x="118" y="84"/>
                  <a:pt x="118" y="84"/>
                </a:cubicBezTo>
                <a:cubicBezTo>
                  <a:pt x="120" y="84"/>
                  <a:pt x="122" y="82"/>
                  <a:pt x="122" y="80"/>
                </a:cubicBezTo>
                <a:cubicBezTo>
                  <a:pt x="122" y="78"/>
                  <a:pt x="120" y="76"/>
                  <a:pt x="118" y="76"/>
                </a:cubicBezTo>
                <a:close/>
                <a:moveTo>
                  <a:pt x="184" y="178"/>
                </a:moveTo>
                <a:cubicBezTo>
                  <a:pt x="139" y="134"/>
                  <a:pt x="139" y="134"/>
                  <a:pt x="139" y="134"/>
                </a:cubicBezTo>
                <a:cubicBezTo>
                  <a:pt x="152" y="119"/>
                  <a:pt x="160" y="101"/>
                  <a:pt x="160" y="80"/>
                </a:cubicBezTo>
                <a:cubicBezTo>
                  <a:pt x="160" y="36"/>
                  <a:pt x="124" y="0"/>
                  <a:pt x="80" y="0"/>
                </a:cubicBezTo>
                <a:cubicBezTo>
                  <a:pt x="36" y="0"/>
                  <a:pt x="0" y="36"/>
                  <a:pt x="0" y="80"/>
                </a:cubicBezTo>
                <a:cubicBezTo>
                  <a:pt x="0" y="124"/>
                  <a:pt x="36" y="160"/>
                  <a:pt x="80" y="160"/>
                </a:cubicBezTo>
                <a:cubicBezTo>
                  <a:pt x="101" y="160"/>
                  <a:pt x="119" y="152"/>
                  <a:pt x="133" y="140"/>
                </a:cubicBezTo>
                <a:cubicBezTo>
                  <a:pt x="178" y="184"/>
                  <a:pt x="178" y="184"/>
                  <a:pt x="178" y="184"/>
                </a:cubicBezTo>
                <a:cubicBezTo>
                  <a:pt x="179" y="185"/>
                  <a:pt x="180" y="186"/>
                  <a:pt x="181" y="186"/>
                </a:cubicBezTo>
                <a:cubicBezTo>
                  <a:pt x="184" y="186"/>
                  <a:pt x="185" y="184"/>
                  <a:pt x="185" y="181"/>
                </a:cubicBezTo>
                <a:cubicBezTo>
                  <a:pt x="185" y="180"/>
                  <a:pt x="185" y="179"/>
                  <a:pt x="184" y="178"/>
                </a:cubicBezTo>
                <a:close/>
                <a:moveTo>
                  <a:pt x="80" y="152"/>
                </a:moveTo>
                <a:cubicBezTo>
                  <a:pt x="40" y="152"/>
                  <a:pt x="8" y="120"/>
                  <a:pt x="8" y="80"/>
                </a:cubicBezTo>
                <a:cubicBezTo>
                  <a:pt x="8" y="41"/>
                  <a:pt x="40" y="8"/>
                  <a:pt x="80" y="8"/>
                </a:cubicBezTo>
                <a:cubicBezTo>
                  <a:pt x="120" y="8"/>
                  <a:pt x="152" y="41"/>
                  <a:pt x="152" y="80"/>
                </a:cubicBezTo>
                <a:cubicBezTo>
                  <a:pt x="152" y="120"/>
                  <a:pt x="120" y="152"/>
                  <a:pt x="80" y="152"/>
                </a:cubicBez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endParaRPr lang="en-US" sz="1350" dirty="0">
              <a:solidFill>
                <a:prstClr val="black"/>
              </a:solidFill>
            </a:endParaRPr>
          </a:p>
        </p:txBody>
      </p:sp>
      <p:sp>
        <p:nvSpPr>
          <p:cNvPr id="67" name="Freeform 354"/>
          <p:cNvSpPr>
            <a:spLocks noEditPoints="1"/>
          </p:cNvSpPr>
          <p:nvPr/>
        </p:nvSpPr>
        <p:spPr bwMode="auto">
          <a:xfrm>
            <a:off x="1006441" y="5452529"/>
            <a:ext cx="282627" cy="284303"/>
          </a:xfrm>
          <a:custGeom>
            <a:avLst/>
            <a:gdLst>
              <a:gd name="T0" fmla="*/ 0 w 185"/>
              <a:gd name="T1" fmla="*/ 110 h 186"/>
              <a:gd name="T2" fmla="*/ 151 w 185"/>
              <a:gd name="T3" fmla="*/ 110 h 186"/>
              <a:gd name="T4" fmla="*/ 52 w 185"/>
              <a:gd name="T5" fmla="*/ 47 h 186"/>
              <a:gd name="T6" fmla="*/ 33 w 185"/>
              <a:gd name="T7" fmla="*/ 58 h 186"/>
              <a:gd name="T8" fmla="*/ 27 w 185"/>
              <a:gd name="T9" fmla="*/ 63 h 186"/>
              <a:gd name="T10" fmla="*/ 33 w 185"/>
              <a:gd name="T11" fmla="*/ 106 h 186"/>
              <a:gd name="T12" fmla="*/ 27 w 185"/>
              <a:gd name="T13" fmla="*/ 63 h 186"/>
              <a:gd name="T14" fmla="*/ 33 w 185"/>
              <a:gd name="T15" fmla="*/ 114 h 186"/>
              <a:gd name="T16" fmla="*/ 27 w 185"/>
              <a:gd name="T17" fmla="*/ 156 h 186"/>
              <a:gd name="T18" fmla="*/ 33 w 185"/>
              <a:gd name="T19" fmla="*/ 162 h 186"/>
              <a:gd name="T20" fmla="*/ 52 w 185"/>
              <a:gd name="T21" fmla="*/ 173 h 186"/>
              <a:gd name="T22" fmla="*/ 71 w 185"/>
              <a:gd name="T23" fmla="*/ 177 h 186"/>
              <a:gd name="T24" fmla="*/ 71 w 185"/>
              <a:gd name="T25" fmla="*/ 148 h 186"/>
              <a:gd name="T26" fmla="*/ 71 w 185"/>
              <a:gd name="T27" fmla="*/ 140 h 186"/>
              <a:gd name="T28" fmla="*/ 42 w 185"/>
              <a:gd name="T29" fmla="*/ 114 h 186"/>
              <a:gd name="T30" fmla="*/ 71 w 185"/>
              <a:gd name="T31" fmla="*/ 140 h 186"/>
              <a:gd name="T32" fmla="*/ 42 w 185"/>
              <a:gd name="T33" fmla="*/ 106 h 186"/>
              <a:gd name="T34" fmla="*/ 71 w 185"/>
              <a:gd name="T35" fmla="*/ 80 h 186"/>
              <a:gd name="T36" fmla="*/ 71 w 185"/>
              <a:gd name="T37" fmla="*/ 72 h 186"/>
              <a:gd name="T38" fmla="*/ 71 w 185"/>
              <a:gd name="T39" fmla="*/ 43 h 186"/>
              <a:gd name="T40" fmla="*/ 118 w 185"/>
              <a:gd name="T41" fmla="*/ 58 h 186"/>
              <a:gd name="T42" fmla="*/ 99 w 185"/>
              <a:gd name="T43" fmla="*/ 47 h 186"/>
              <a:gd name="T44" fmla="*/ 80 w 185"/>
              <a:gd name="T45" fmla="*/ 43 h 186"/>
              <a:gd name="T46" fmla="*/ 80 w 185"/>
              <a:gd name="T47" fmla="*/ 72 h 186"/>
              <a:gd name="T48" fmla="*/ 80 w 185"/>
              <a:gd name="T49" fmla="*/ 80 h 186"/>
              <a:gd name="T50" fmla="*/ 109 w 185"/>
              <a:gd name="T51" fmla="*/ 106 h 186"/>
              <a:gd name="T52" fmla="*/ 80 w 185"/>
              <a:gd name="T53" fmla="*/ 80 h 186"/>
              <a:gd name="T54" fmla="*/ 109 w 185"/>
              <a:gd name="T55" fmla="*/ 114 h 186"/>
              <a:gd name="T56" fmla="*/ 80 w 185"/>
              <a:gd name="T57" fmla="*/ 140 h 186"/>
              <a:gd name="T58" fmla="*/ 80 w 185"/>
              <a:gd name="T59" fmla="*/ 177 h 186"/>
              <a:gd name="T60" fmla="*/ 102 w 185"/>
              <a:gd name="T61" fmla="*/ 152 h 186"/>
              <a:gd name="T62" fmla="*/ 99 w 185"/>
              <a:gd name="T63" fmla="*/ 173 h 186"/>
              <a:gd name="T64" fmla="*/ 118 w 185"/>
              <a:gd name="T65" fmla="*/ 162 h 186"/>
              <a:gd name="T66" fmla="*/ 124 w 185"/>
              <a:gd name="T67" fmla="*/ 156 h 186"/>
              <a:gd name="T68" fmla="*/ 118 w 185"/>
              <a:gd name="T69" fmla="*/ 114 h 186"/>
              <a:gd name="T70" fmla="*/ 124 w 185"/>
              <a:gd name="T71" fmla="*/ 156 h 186"/>
              <a:gd name="T72" fmla="*/ 112 w 185"/>
              <a:gd name="T73" fmla="*/ 72 h 186"/>
              <a:gd name="T74" fmla="*/ 143 w 185"/>
              <a:gd name="T75" fmla="*/ 106 h 186"/>
              <a:gd name="T76" fmla="*/ 109 w 185"/>
              <a:gd name="T77" fmla="*/ 0 h 186"/>
              <a:gd name="T78" fmla="*/ 69 w 185"/>
              <a:gd name="T79" fmla="*/ 26 h 186"/>
              <a:gd name="T80" fmla="*/ 86 w 185"/>
              <a:gd name="T81" fmla="*/ 13 h 186"/>
              <a:gd name="T82" fmla="*/ 87 w 185"/>
              <a:gd name="T83" fmla="*/ 26 h 186"/>
              <a:gd name="T84" fmla="*/ 105 w 185"/>
              <a:gd name="T85" fmla="*/ 31 h 186"/>
              <a:gd name="T86" fmla="*/ 114 w 185"/>
              <a:gd name="T87" fmla="*/ 9 h 186"/>
              <a:gd name="T88" fmla="*/ 119 w 185"/>
              <a:gd name="T89" fmla="*/ 37 h 186"/>
              <a:gd name="T90" fmla="*/ 138 w 185"/>
              <a:gd name="T91" fmla="*/ 41 h 186"/>
              <a:gd name="T92" fmla="*/ 154 w 185"/>
              <a:gd name="T93" fmla="*/ 80 h 186"/>
              <a:gd name="T94" fmla="*/ 159 w 185"/>
              <a:gd name="T95" fmla="*/ 121 h 186"/>
              <a:gd name="T96" fmla="*/ 185 w 185"/>
              <a:gd name="T97" fmla="*/ 76 h 186"/>
              <a:gd name="T98" fmla="*/ 133 w 185"/>
              <a:gd name="T99" fmla="*/ 13 h 186"/>
              <a:gd name="T100" fmla="*/ 143 w 185"/>
              <a:gd name="T101" fmla="*/ 30 h 186"/>
              <a:gd name="T102" fmla="*/ 151 w 185"/>
              <a:gd name="T103" fmla="*/ 72 h 186"/>
              <a:gd name="T104" fmla="*/ 158 w 185"/>
              <a:gd name="T105" fmla="*/ 30 h 186"/>
              <a:gd name="T106" fmla="*/ 151 w 185"/>
              <a:gd name="T107" fmla="*/ 72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5" h="186">
                <a:moveTo>
                  <a:pt x="76" y="34"/>
                </a:moveTo>
                <a:cubicBezTo>
                  <a:pt x="34" y="34"/>
                  <a:pt x="0" y="68"/>
                  <a:pt x="0" y="110"/>
                </a:cubicBezTo>
                <a:cubicBezTo>
                  <a:pt x="0" y="152"/>
                  <a:pt x="34" y="186"/>
                  <a:pt x="76" y="186"/>
                </a:cubicBezTo>
                <a:cubicBezTo>
                  <a:pt x="117" y="186"/>
                  <a:pt x="151" y="152"/>
                  <a:pt x="151" y="110"/>
                </a:cubicBezTo>
                <a:cubicBezTo>
                  <a:pt x="151" y="68"/>
                  <a:pt x="117" y="34"/>
                  <a:pt x="76" y="34"/>
                </a:cubicBezTo>
                <a:close/>
                <a:moveTo>
                  <a:pt x="52" y="47"/>
                </a:moveTo>
                <a:cubicBezTo>
                  <a:pt x="48" y="51"/>
                  <a:pt x="45" y="57"/>
                  <a:pt x="42" y="64"/>
                </a:cubicBezTo>
                <a:cubicBezTo>
                  <a:pt x="39" y="62"/>
                  <a:pt x="36" y="60"/>
                  <a:pt x="33" y="58"/>
                </a:cubicBezTo>
                <a:cubicBezTo>
                  <a:pt x="39" y="53"/>
                  <a:pt x="45" y="49"/>
                  <a:pt x="52" y="47"/>
                </a:cubicBezTo>
                <a:close/>
                <a:moveTo>
                  <a:pt x="27" y="63"/>
                </a:moveTo>
                <a:cubicBezTo>
                  <a:pt x="30" y="67"/>
                  <a:pt x="34" y="69"/>
                  <a:pt x="39" y="72"/>
                </a:cubicBezTo>
                <a:cubicBezTo>
                  <a:pt x="36" y="82"/>
                  <a:pt x="34" y="93"/>
                  <a:pt x="33" y="106"/>
                </a:cubicBezTo>
                <a:cubicBezTo>
                  <a:pt x="8" y="106"/>
                  <a:pt x="8" y="106"/>
                  <a:pt x="8" y="106"/>
                </a:cubicBezTo>
                <a:cubicBezTo>
                  <a:pt x="9" y="89"/>
                  <a:pt x="16" y="74"/>
                  <a:pt x="27" y="63"/>
                </a:cubicBezTo>
                <a:close/>
                <a:moveTo>
                  <a:pt x="8" y="114"/>
                </a:moveTo>
                <a:cubicBezTo>
                  <a:pt x="33" y="114"/>
                  <a:pt x="33" y="114"/>
                  <a:pt x="33" y="114"/>
                </a:cubicBezTo>
                <a:cubicBezTo>
                  <a:pt x="34" y="126"/>
                  <a:pt x="36" y="138"/>
                  <a:pt x="39" y="148"/>
                </a:cubicBezTo>
                <a:cubicBezTo>
                  <a:pt x="34" y="150"/>
                  <a:pt x="30" y="153"/>
                  <a:pt x="27" y="156"/>
                </a:cubicBezTo>
                <a:cubicBezTo>
                  <a:pt x="16" y="145"/>
                  <a:pt x="9" y="130"/>
                  <a:pt x="8" y="114"/>
                </a:cubicBezTo>
                <a:close/>
                <a:moveTo>
                  <a:pt x="33" y="162"/>
                </a:moveTo>
                <a:cubicBezTo>
                  <a:pt x="36" y="160"/>
                  <a:pt x="39" y="158"/>
                  <a:pt x="42" y="156"/>
                </a:cubicBezTo>
                <a:cubicBezTo>
                  <a:pt x="45" y="162"/>
                  <a:pt x="48" y="168"/>
                  <a:pt x="52" y="173"/>
                </a:cubicBezTo>
                <a:cubicBezTo>
                  <a:pt x="45" y="170"/>
                  <a:pt x="39" y="167"/>
                  <a:pt x="33" y="162"/>
                </a:cubicBezTo>
                <a:close/>
                <a:moveTo>
                  <a:pt x="71" y="177"/>
                </a:moveTo>
                <a:cubicBezTo>
                  <a:pt x="62" y="174"/>
                  <a:pt x="55" y="165"/>
                  <a:pt x="49" y="152"/>
                </a:cubicBezTo>
                <a:cubicBezTo>
                  <a:pt x="56" y="150"/>
                  <a:pt x="63" y="148"/>
                  <a:pt x="71" y="148"/>
                </a:cubicBezTo>
                <a:lnTo>
                  <a:pt x="71" y="177"/>
                </a:lnTo>
                <a:close/>
                <a:moveTo>
                  <a:pt x="71" y="140"/>
                </a:moveTo>
                <a:cubicBezTo>
                  <a:pt x="62" y="140"/>
                  <a:pt x="54" y="142"/>
                  <a:pt x="47" y="144"/>
                </a:cubicBezTo>
                <a:cubicBezTo>
                  <a:pt x="44" y="136"/>
                  <a:pt x="42" y="125"/>
                  <a:pt x="42" y="114"/>
                </a:cubicBezTo>
                <a:cubicBezTo>
                  <a:pt x="71" y="114"/>
                  <a:pt x="71" y="114"/>
                  <a:pt x="71" y="114"/>
                </a:cubicBezTo>
                <a:lnTo>
                  <a:pt x="71" y="140"/>
                </a:lnTo>
                <a:close/>
                <a:moveTo>
                  <a:pt x="71" y="106"/>
                </a:moveTo>
                <a:cubicBezTo>
                  <a:pt x="42" y="106"/>
                  <a:pt x="42" y="106"/>
                  <a:pt x="42" y="106"/>
                </a:cubicBezTo>
                <a:cubicBezTo>
                  <a:pt x="42" y="94"/>
                  <a:pt x="44" y="84"/>
                  <a:pt x="47" y="75"/>
                </a:cubicBezTo>
                <a:cubicBezTo>
                  <a:pt x="54" y="78"/>
                  <a:pt x="62" y="80"/>
                  <a:pt x="71" y="80"/>
                </a:cubicBezTo>
                <a:lnTo>
                  <a:pt x="71" y="106"/>
                </a:lnTo>
                <a:close/>
                <a:moveTo>
                  <a:pt x="71" y="72"/>
                </a:moveTo>
                <a:cubicBezTo>
                  <a:pt x="63" y="71"/>
                  <a:pt x="56" y="70"/>
                  <a:pt x="49" y="67"/>
                </a:cubicBezTo>
                <a:cubicBezTo>
                  <a:pt x="55" y="54"/>
                  <a:pt x="62" y="45"/>
                  <a:pt x="71" y="43"/>
                </a:cubicBezTo>
                <a:lnTo>
                  <a:pt x="71" y="72"/>
                </a:lnTo>
                <a:close/>
                <a:moveTo>
                  <a:pt x="118" y="58"/>
                </a:moveTo>
                <a:cubicBezTo>
                  <a:pt x="115" y="60"/>
                  <a:pt x="112" y="62"/>
                  <a:pt x="109" y="64"/>
                </a:cubicBezTo>
                <a:cubicBezTo>
                  <a:pt x="106" y="57"/>
                  <a:pt x="103" y="51"/>
                  <a:pt x="99" y="47"/>
                </a:cubicBezTo>
                <a:cubicBezTo>
                  <a:pt x="106" y="49"/>
                  <a:pt x="112" y="53"/>
                  <a:pt x="118" y="58"/>
                </a:cubicBezTo>
                <a:close/>
                <a:moveTo>
                  <a:pt x="80" y="43"/>
                </a:moveTo>
                <a:cubicBezTo>
                  <a:pt x="89" y="45"/>
                  <a:pt x="96" y="54"/>
                  <a:pt x="102" y="67"/>
                </a:cubicBezTo>
                <a:cubicBezTo>
                  <a:pt x="95" y="70"/>
                  <a:pt x="88" y="71"/>
                  <a:pt x="80" y="72"/>
                </a:cubicBezTo>
                <a:lnTo>
                  <a:pt x="80" y="43"/>
                </a:lnTo>
                <a:close/>
                <a:moveTo>
                  <a:pt x="80" y="80"/>
                </a:moveTo>
                <a:cubicBezTo>
                  <a:pt x="89" y="80"/>
                  <a:pt x="97" y="78"/>
                  <a:pt x="104" y="75"/>
                </a:cubicBezTo>
                <a:cubicBezTo>
                  <a:pt x="107" y="84"/>
                  <a:pt x="109" y="94"/>
                  <a:pt x="109" y="106"/>
                </a:cubicBezTo>
                <a:cubicBezTo>
                  <a:pt x="80" y="106"/>
                  <a:pt x="80" y="106"/>
                  <a:pt x="80" y="106"/>
                </a:cubicBezTo>
                <a:lnTo>
                  <a:pt x="80" y="80"/>
                </a:lnTo>
                <a:close/>
                <a:moveTo>
                  <a:pt x="80" y="114"/>
                </a:moveTo>
                <a:cubicBezTo>
                  <a:pt x="109" y="114"/>
                  <a:pt x="109" y="114"/>
                  <a:pt x="109" y="114"/>
                </a:cubicBezTo>
                <a:cubicBezTo>
                  <a:pt x="109" y="125"/>
                  <a:pt x="107" y="136"/>
                  <a:pt x="104" y="144"/>
                </a:cubicBezTo>
                <a:cubicBezTo>
                  <a:pt x="97" y="142"/>
                  <a:pt x="89" y="140"/>
                  <a:pt x="80" y="140"/>
                </a:cubicBezTo>
                <a:lnTo>
                  <a:pt x="80" y="114"/>
                </a:lnTo>
                <a:close/>
                <a:moveTo>
                  <a:pt x="80" y="177"/>
                </a:moveTo>
                <a:cubicBezTo>
                  <a:pt x="80" y="148"/>
                  <a:pt x="80" y="148"/>
                  <a:pt x="80" y="148"/>
                </a:cubicBezTo>
                <a:cubicBezTo>
                  <a:pt x="88" y="148"/>
                  <a:pt x="95" y="150"/>
                  <a:pt x="102" y="152"/>
                </a:cubicBezTo>
                <a:cubicBezTo>
                  <a:pt x="96" y="165"/>
                  <a:pt x="89" y="174"/>
                  <a:pt x="80" y="177"/>
                </a:cubicBezTo>
                <a:close/>
                <a:moveTo>
                  <a:pt x="99" y="173"/>
                </a:moveTo>
                <a:cubicBezTo>
                  <a:pt x="103" y="168"/>
                  <a:pt x="106" y="162"/>
                  <a:pt x="109" y="156"/>
                </a:cubicBezTo>
                <a:cubicBezTo>
                  <a:pt x="112" y="158"/>
                  <a:pt x="115" y="160"/>
                  <a:pt x="118" y="162"/>
                </a:cubicBezTo>
                <a:cubicBezTo>
                  <a:pt x="112" y="167"/>
                  <a:pt x="106" y="170"/>
                  <a:pt x="99" y="173"/>
                </a:cubicBezTo>
                <a:close/>
                <a:moveTo>
                  <a:pt x="124" y="156"/>
                </a:moveTo>
                <a:cubicBezTo>
                  <a:pt x="121" y="153"/>
                  <a:pt x="117" y="150"/>
                  <a:pt x="112" y="148"/>
                </a:cubicBezTo>
                <a:cubicBezTo>
                  <a:pt x="115" y="138"/>
                  <a:pt x="117" y="126"/>
                  <a:pt x="118" y="114"/>
                </a:cubicBezTo>
                <a:cubicBezTo>
                  <a:pt x="143" y="114"/>
                  <a:pt x="143" y="114"/>
                  <a:pt x="143" y="114"/>
                </a:cubicBezTo>
                <a:cubicBezTo>
                  <a:pt x="142" y="130"/>
                  <a:pt x="135" y="145"/>
                  <a:pt x="124" y="156"/>
                </a:cubicBezTo>
                <a:close/>
                <a:moveTo>
                  <a:pt x="118" y="106"/>
                </a:moveTo>
                <a:cubicBezTo>
                  <a:pt x="117" y="93"/>
                  <a:pt x="115" y="82"/>
                  <a:pt x="112" y="72"/>
                </a:cubicBezTo>
                <a:cubicBezTo>
                  <a:pt x="117" y="69"/>
                  <a:pt x="121" y="67"/>
                  <a:pt x="124" y="63"/>
                </a:cubicBezTo>
                <a:cubicBezTo>
                  <a:pt x="135" y="74"/>
                  <a:pt x="142" y="89"/>
                  <a:pt x="143" y="106"/>
                </a:cubicBezTo>
                <a:lnTo>
                  <a:pt x="118" y="106"/>
                </a:lnTo>
                <a:close/>
                <a:moveTo>
                  <a:pt x="109" y="0"/>
                </a:moveTo>
                <a:cubicBezTo>
                  <a:pt x="85" y="0"/>
                  <a:pt x="63" y="12"/>
                  <a:pt x="49" y="30"/>
                </a:cubicBezTo>
                <a:cubicBezTo>
                  <a:pt x="56" y="28"/>
                  <a:pt x="62" y="26"/>
                  <a:pt x="69" y="26"/>
                </a:cubicBezTo>
                <a:cubicBezTo>
                  <a:pt x="68" y="25"/>
                  <a:pt x="67" y="25"/>
                  <a:pt x="67" y="24"/>
                </a:cubicBezTo>
                <a:cubicBezTo>
                  <a:pt x="72" y="19"/>
                  <a:pt x="79" y="15"/>
                  <a:pt x="86" y="13"/>
                </a:cubicBezTo>
                <a:cubicBezTo>
                  <a:pt x="83" y="16"/>
                  <a:pt x="80" y="21"/>
                  <a:pt x="78" y="26"/>
                </a:cubicBezTo>
                <a:cubicBezTo>
                  <a:pt x="81" y="26"/>
                  <a:pt x="84" y="26"/>
                  <a:pt x="87" y="26"/>
                </a:cubicBezTo>
                <a:cubicBezTo>
                  <a:pt x="92" y="17"/>
                  <a:pt x="98" y="11"/>
                  <a:pt x="105" y="9"/>
                </a:cubicBezTo>
                <a:cubicBezTo>
                  <a:pt x="105" y="31"/>
                  <a:pt x="105" y="31"/>
                  <a:pt x="105" y="31"/>
                </a:cubicBezTo>
                <a:cubicBezTo>
                  <a:pt x="108" y="32"/>
                  <a:pt x="111" y="33"/>
                  <a:pt x="114" y="35"/>
                </a:cubicBezTo>
                <a:cubicBezTo>
                  <a:pt x="114" y="9"/>
                  <a:pt x="114" y="9"/>
                  <a:pt x="114" y="9"/>
                </a:cubicBezTo>
                <a:cubicBezTo>
                  <a:pt x="122" y="11"/>
                  <a:pt x="130" y="20"/>
                  <a:pt x="135" y="34"/>
                </a:cubicBezTo>
                <a:cubicBezTo>
                  <a:pt x="130" y="35"/>
                  <a:pt x="125" y="37"/>
                  <a:pt x="119" y="37"/>
                </a:cubicBezTo>
                <a:cubicBezTo>
                  <a:pt x="122" y="39"/>
                  <a:pt x="125" y="42"/>
                  <a:pt x="129" y="44"/>
                </a:cubicBezTo>
                <a:cubicBezTo>
                  <a:pt x="132" y="43"/>
                  <a:pt x="135" y="43"/>
                  <a:pt x="138" y="41"/>
                </a:cubicBezTo>
                <a:cubicBezTo>
                  <a:pt x="140" y="46"/>
                  <a:pt x="141" y="52"/>
                  <a:pt x="142" y="57"/>
                </a:cubicBezTo>
                <a:cubicBezTo>
                  <a:pt x="147" y="64"/>
                  <a:pt x="151" y="72"/>
                  <a:pt x="154" y="80"/>
                </a:cubicBezTo>
                <a:cubicBezTo>
                  <a:pt x="177" y="80"/>
                  <a:pt x="177" y="80"/>
                  <a:pt x="177" y="80"/>
                </a:cubicBezTo>
                <a:cubicBezTo>
                  <a:pt x="176" y="96"/>
                  <a:pt x="169" y="110"/>
                  <a:pt x="159" y="121"/>
                </a:cubicBezTo>
                <a:cubicBezTo>
                  <a:pt x="158" y="126"/>
                  <a:pt x="157" y="131"/>
                  <a:pt x="156" y="136"/>
                </a:cubicBezTo>
                <a:cubicBezTo>
                  <a:pt x="174" y="122"/>
                  <a:pt x="185" y="101"/>
                  <a:pt x="185" y="76"/>
                </a:cubicBezTo>
                <a:cubicBezTo>
                  <a:pt x="185" y="34"/>
                  <a:pt x="151" y="0"/>
                  <a:pt x="109" y="0"/>
                </a:cubicBezTo>
                <a:close/>
                <a:moveTo>
                  <a:pt x="133" y="13"/>
                </a:moveTo>
                <a:cubicBezTo>
                  <a:pt x="140" y="15"/>
                  <a:pt x="146" y="19"/>
                  <a:pt x="152" y="24"/>
                </a:cubicBezTo>
                <a:cubicBezTo>
                  <a:pt x="149" y="26"/>
                  <a:pt x="146" y="28"/>
                  <a:pt x="143" y="30"/>
                </a:cubicBezTo>
                <a:cubicBezTo>
                  <a:pt x="140" y="23"/>
                  <a:pt x="137" y="18"/>
                  <a:pt x="133" y="13"/>
                </a:cubicBezTo>
                <a:close/>
                <a:moveTo>
                  <a:pt x="151" y="72"/>
                </a:moveTo>
                <a:cubicBezTo>
                  <a:pt x="151" y="60"/>
                  <a:pt x="149" y="48"/>
                  <a:pt x="146" y="38"/>
                </a:cubicBezTo>
                <a:cubicBezTo>
                  <a:pt x="150" y="36"/>
                  <a:pt x="154" y="33"/>
                  <a:pt x="158" y="30"/>
                </a:cubicBezTo>
                <a:cubicBezTo>
                  <a:pt x="169" y="41"/>
                  <a:pt x="176" y="55"/>
                  <a:pt x="177" y="72"/>
                </a:cubicBezTo>
                <a:lnTo>
                  <a:pt x="151" y="72"/>
                </a:ln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endParaRPr lang="en-US" sz="1350" dirty="0">
              <a:solidFill>
                <a:prstClr val="black"/>
              </a:solidFill>
            </a:endParaRPr>
          </a:p>
        </p:txBody>
      </p:sp>
      <p:sp>
        <p:nvSpPr>
          <p:cNvPr id="68" name="Freeform 248"/>
          <p:cNvSpPr>
            <a:spLocks noEditPoints="1"/>
          </p:cNvSpPr>
          <p:nvPr/>
        </p:nvSpPr>
        <p:spPr bwMode="auto">
          <a:xfrm>
            <a:off x="5030464" y="4686816"/>
            <a:ext cx="288542" cy="287688"/>
          </a:xfrm>
          <a:custGeom>
            <a:avLst/>
            <a:gdLst>
              <a:gd name="T0" fmla="*/ 80 w 186"/>
              <a:gd name="T1" fmla="*/ 90 h 185"/>
              <a:gd name="T2" fmla="*/ 90 w 186"/>
              <a:gd name="T3" fmla="*/ 95 h 185"/>
              <a:gd name="T4" fmla="*/ 93 w 186"/>
              <a:gd name="T5" fmla="*/ 88 h 185"/>
              <a:gd name="T6" fmla="*/ 80 w 186"/>
              <a:gd name="T7" fmla="*/ 84 h 185"/>
              <a:gd name="T8" fmla="*/ 67 w 186"/>
              <a:gd name="T9" fmla="*/ 89 h 185"/>
              <a:gd name="T10" fmla="*/ 60 w 186"/>
              <a:gd name="T11" fmla="*/ 102 h 185"/>
              <a:gd name="T12" fmla="*/ 57 w 186"/>
              <a:gd name="T13" fmla="*/ 102 h 185"/>
              <a:gd name="T14" fmla="*/ 55 w 186"/>
              <a:gd name="T15" fmla="*/ 106 h 185"/>
              <a:gd name="T16" fmla="*/ 60 w 186"/>
              <a:gd name="T17" fmla="*/ 106 h 185"/>
              <a:gd name="T18" fmla="*/ 60 w 186"/>
              <a:gd name="T19" fmla="*/ 108 h 185"/>
              <a:gd name="T20" fmla="*/ 60 w 186"/>
              <a:gd name="T21" fmla="*/ 109 h 185"/>
              <a:gd name="T22" fmla="*/ 60 w 186"/>
              <a:gd name="T23" fmla="*/ 110 h 185"/>
              <a:gd name="T24" fmla="*/ 60 w 186"/>
              <a:gd name="T25" fmla="*/ 111 h 185"/>
              <a:gd name="T26" fmla="*/ 57 w 186"/>
              <a:gd name="T27" fmla="*/ 111 h 185"/>
              <a:gd name="T28" fmla="*/ 55 w 186"/>
              <a:gd name="T29" fmla="*/ 116 h 185"/>
              <a:gd name="T30" fmla="*/ 60 w 186"/>
              <a:gd name="T31" fmla="*/ 116 h 185"/>
              <a:gd name="T32" fmla="*/ 66 w 186"/>
              <a:gd name="T33" fmla="*/ 129 h 185"/>
              <a:gd name="T34" fmla="*/ 80 w 186"/>
              <a:gd name="T35" fmla="*/ 135 h 185"/>
              <a:gd name="T36" fmla="*/ 91 w 186"/>
              <a:gd name="T37" fmla="*/ 132 h 185"/>
              <a:gd name="T38" fmla="*/ 91 w 186"/>
              <a:gd name="T39" fmla="*/ 124 h 185"/>
              <a:gd name="T40" fmla="*/ 86 w 186"/>
              <a:gd name="T41" fmla="*/ 127 h 185"/>
              <a:gd name="T42" fmla="*/ 80 w 186"/>
              <a:gd name="T43" fmla="*/ 128 h 185"/>
              <a:gd name="T44" fmla="*/ 72 w 186"/>
              <a:gd name="T45" fmla="*/ 124 h 185"/>
              <a:gd name="T46" fmla="*/ 68 w 186"/>
              <a:gd name="T47" fmla="*/ 116 h 185"/>
              <a:gd name="T48" fmla="*/ 82 w 186"/>
              <a:gd name="T49" fmla="*/ 116 h 185"/>
              <a:gd name="T50" fmla="*/ 84 w 186"/>
              <a:gd name="T51" fmla="*/ 111 h 185"/>
              <a:gd name="T52" fmla="*/ 68 w 186"/>
              <a:gd name="T53" fmla="*/ 111 h 185"/>
              <a:gd name="T54" fmla="*/ 68 w 186"/>
              <a:gd name="T55" fmla="*/ 109 h 185"/>
              <a:gd name="T56" fmla="*/ 68 w 186"/>
              <a:gd name="T57" fmla="*/ 107 h 185"/>
              <a:gd name="T58" fmla="*/ 68 w 186"/>
              <a:gd name="T59" fmla="*/ 106 h 185"/>
              <a:gd name="T60" fmla="*/ 85 w 186"/>
              <a:gd name="T61" fmla="*/ 106 h 185"/>
              <a:gd name="T62" fmla="*/ 87 w 186"/>
              <a:gd name="T63" fmla="*/ 102 h 185"/>
              <a:gd name="T64" fmla="*/ 69 w 186"/>
              <a:gd name="T65" fmla="*/ 102 h 185"/>
              <a:gd name="T66" fmla="*/ 72 w 186"/>
              <a:gd name="T67" fmla="*/ 94 h 185"/>
              <a:gd name="T68" fmla="*/ 80 w 186"/>
              <a:gd name="T69" fmla="*/ 90 h 185"/>
              <a:gd name="T70" fmla="*/ 76 w 186"/>
              <a:gd name="T71" fmla="*/ 33 h 185"/>
              <a:gd name="T72" fmla="*/ 0 w 186"/>
              <a:gd name="T73" fmla="*/ 109 h 185"/>
              <a:gd name="T74" fmla="*/ 76 w 186"/>
              <a:gd name="T75" fmla="*/ 185 h 185"/>
              <a:gd name="T76" fmla="*/ 152 w 186"/>
              <a:gd name="T77" fmla="*/ 109 h 185"/>
              <a:gd name="T78" fmla="*/ 76 w 186"/>
              <a:gd name="T79" fmla="*/ 33 h 185"/>
              <a:gd name="T80" fmla="*/ 76 w 186"/>
              <a:gd name="T81" fmla="*/ 177 h 185"/>
              <a:gd name="T82" fmla="*/ 9 w 186"/>
              <a:gd name="T83" fmla="*/ 109 h 185"/>
              <a:gd name="T84" fmla="*/ 76 w 186"/>
              <a:gd name="T85" fmla="*/ 42 h 185"/>
              <a:gd name="T86" fmla="*/ 143 w 186"/>
              <a:gd name="T87" fmla="*/ 109 h 185"/>
              <a:gd name="T88" fmla="*/ 76 w 186"/>
              <a:gd name="T89" fmla="*/ 177 h 185"/>
              <a:gd name="T90" fmla="*/ 110 w 186"/>
              <a:gd name="T91" fmla="*/ 0 h 185"/>
              <a:gd name="T92" fmla="*/ 50 w 186"/>
              <a:gd name="T93" fmla="*/ 29 h 185"/>
              <a:gd name="T94" fmla="*/ 64 w 186"/>
              <a:gd name="T95" fmla="*/ 26 h 185"/>
              <a:gd name="T96" fmla="*/ 110 w 186"/>
              <a:gd name="T97" fmla="*/ 8 h 185"/>
              <a:gd name="T98" fmla="*/ 177 w 186"/>
              <a:gd name="T99" fmla="*/ 76 h 185"/>
              <a:gd name="T100" fmla="*/ 159 w 186"/>
              <a:gd name="T101" fmla="*/ 121 h 185"/>
              <a:gd name="T102" fmla="*/ 156 w 186"/>
              <a:gd name="T103" fmla="*/ 136 h 185"/>
              <a:gd name="T104" fmla="*/ 186 w 186"/>
              <a:gd name="T105" fmla="*/ 76 h 185"/>
              <a:gd name="T106" fmla="*/ 110 w 186"/>
              <a:gd name="T107"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6" h="185">
                <a:moveTo>
                  <a:pt x="80" y="90"/>
                </a:moveTo>
                <a:cubicBezTo>
                  <a:pt x="83" y="90"/>
                  <a:pt x="87" y="92"/>
                  <a:pt x="90" y="95"/>
                </a:cubicBezTo>
                <a:cubicBezTo>
                  <a:pt x="93" y="88"/>
                  <a:pt x="93" y="88"/>
                  <a:pt x="93" y="88"/>
                </a:cubicBezTo>
                <a:cubicBezTo>
                  <a:pt x="89" y="85"/>
                  <a:pt x="84" y="84"/>
                  <a:pt x="80" y="84"/>
                </a:cubicBezTo>
                <a:cubicBezTo>
                  <a:pt x="75" y="84"/>
                  <a:pt x="70" y="86"/>
                  <a:pt x="67" y="89"/>
                </a:cubicBezTo>
                <a:cubicBezTo>
                  <a:pt x="64" y="92"/>
                  <a:pt x="62" y="97"/>
                  <a:pt x="60" y="102"/>
                </a:cubicBezTo>
                <a:cubicBezTo>
                  <a:pt x="57" y="102"/>
                  <a:pt x="57" y="102"/>
                  <a:pt x="57" y="102"/>
                </a:cubicBezTo>
                <a:cubicBezTo>
                  <a:pt x="55" y="106"/>
                  <a:pt x="55" y="106"/>
                  <a:pt x="55" y="106"/>
                </a:cubicBezTo>
                <a:cubicBezTo>
                  <a:pt x="60" y="106"/>
                  <a:pt x="60" y="106"/>
                  <a:pt x="60" y="106"/>
                </a:cubicBezTo>
                <a:cubicBezTo>
                  <a:pt x="60" y="107"/>
                  <a:pt x="60" y="107"/>
                  <a:pt x="60" y="108"/>
                </a:cubicBezTo>
                <a:cubicBezTo>
                  <a:pt x="60" y="108"/>
                  <a:pt x="60" y="109"/>
                  <a:pt x="60" y="109"/>
                </a:cubicBezTo>
                <a:cubicBezTo>
                  <a:pt x="60" y="109"/>
                  <a:pt x="60" y="110"/>
                  <a:pt x="60" y="110"/>
                </a:cubicBezTo>
                <a:cubicBezTo>
                  <a:pt x="60" y="111"/>
                  <a:pt x="60" y="111"/>
                  <a:pt x="60" y="111"/>
                </a:cubicBezTo>
                <a:cubicBezTo>
                  <a:pt x="57" y="111"/>
                  <a:pt x="57" y="111"/>
                  <a:pt x="57" y="111"/>
                </a:cubicBezTo>
                <a:cubicBezTo>
                  <a:pt x="55" y="116"/>
                  <a:pt x="55" y="116"/>
                  <a:pt x="55" y="116"/>
                </a:cubicBezTo>
                <a:cubicBezTo>
                  <a:pt x="60" y="116"/>
                  <a:pt x="60" y="116"/>
                  <a:pt x="60" y="116"/>
                </a:cubicBezTo>
                <a:cubicBezTo>
                  <a:pt x="61" y="121"/>
                  <a:pt x="63" y="126"/>
                  <a:pt x="66" y="129"/>
                </a:cubicBezTo>
                <a:cubicBezTo>
                  <a:pt x="69" y="133"/>
                  <a:pt x="74" y="135"/>
                  <a:pt x="80" y="135"/>
                </a:cubicBezTo>
                <a:cubicBezTo>
                  <a:pt x="84" y="135"/>
                  <a:pt x="88" y="134"/>
                  <a:pt x="91" y="132"/>
                </a:cubicBezTo>
                <a:cubicBezTo>
                  <a:pt x="91" y="124"/>
                  <a:pt x="91" y="124"/>
                  <a:pt x="91" y="124"/>
                </a:cubicBezTo>
                <a:cubicBezTo>
                  <a:pt x="89" y="125"/>
                  <a:pt x="88" y="127"/>
                  <a:pt x="86" y="127"/>
                </a:cubicBezTo>
                <a:cubicBezTo>
                  <a:pt x="85" y="128"/>
                  <a:pt x="83" y="128"/>
                  <a:pt x="80" y="128"/>
                </a:cubicBezTo>
                <a:cubicBezTo>
                  <a:pt x="77" y="128"/>
                  <a:pt x="74" y="127"/>
                  <a:pt x="72" y="124"/>
                </a:cubicBezTo>
                <a:cubicBezTo>
                  <a:pt x="70" y="122"/>
                  <a:pt x="69" y="119"/>
                  <a:pt x="68" y="116"/>
                </a:cubicBezTo>
                <a:cubicBezTo>
                  <a:pt x="82" y="116"/>
                  <a:pt x="82" y="116"/>
                  <a:pt x="82" y="116"/>
                </a:cubicBezTo>
                <a:cubicBezTo>
                  <a:pt x="84" y="111"/>
                  <a:pt x="84" y="111"/>
                  <a:pt x="84" y="111"/>
                </a:cubicBezTo>
                <a:cubicBezTo>
                  <a:pt x="68" y="111"/>
                  <a:pt x="68" y="111"/>
                  <a:pt x="68" y="111"/>
                </a:cubicBezTo>
                <a:cubicBezTo>
                  <a:pt x="68" y="111"/>
                  <a:pt x="68" y="110"/>
                  <a:pt x="68" y="109"/>
                </a:cubicBezTo>
                <a:cubicBezTo>
                  <a:pt x="68" y="107"/>
                  <a:pt x="68" y="107"/>
                  <a:pt x="68" y="107"/>
                </a:cubicBezTo>
                <a:cubicBezTo>
                  <a:pt x="68" y="107"/>
                  <a:pt x="68" y="107"/>
                  <a:pt x="68" y="106"/>
                </a:cubicBezTo>
                <a:cubicBezTo>
                  <a:pt x="85" y="106"/>
                  <a:pt x="85" y="106"/>
                  <a:pt x="85" y="106"/>
                </a:cubicBezTo>
                <a:cubicBezTo>
                  <a:pt x="87" y="102"/>
                  <a:pt x="87" y="102"/>
                  <a:pt x="87" y="102"/>
                </a:cubicBezTo>
                <a:cubicBezTo>
                  <a:pt x="69" y="102"/>
                  <a:pt x="69" y="102"/>
                  <a:pt x="69" y="102"/>
                </a:cubicBezTo>
                <a:cubicBezTo>
                  <a:pt x="69" y="99"/>
                  <a:pt x="70" y="96"/>
                  <a:pt x="72" y="94"/>
                </a:cubicBezTo>
                <a:cubicBezTo>
                  <a:pt x="74" y="91"/>
                  <a:pt x="77" y="90"/>
                  <a:pt x="80" y="90"/>
                </a:cubicBezTo>
                <a:close/>
                <a:moveTo>
                  <a:pt x="76" y="33"/>
                </a:moveTo>
                <a:cubicBezTo>
                  <a:pt x="34" y="33"/>
                  <a:pt x="0" y="67"/>
                  <a:pt x="0" y="109"/>
                </a:cubicBezTo>
                <a:cubicBezTo>
                  <a:pt x="0" y="151"/>
                  <a:pt x="34" y="185"/>
                  <a:pt x="76" y="185"/>
                </a:cubicBezTo>
                <a:cubicBezTo>
                  <a:pt x="118" y="185"/>
                  <a:pt x="152" y="151"/>
                  <a:pt x="152" y="109"/>
                </a:cubicBezTo>
                <a:cubicBezTo>
                  <a:pt x="152" y="67"/>
                  <a:pt x="118" y="33"/>
                  <a:pt x="76" y="33"/>
                </a:cubicBezTo>
                <a:close/>
                <a:moveTo>
                  <a:pt x="76" y="177"/>
                </a:moveTo>
                <a:cubicBezTo>
                  <a:pt x="39" y="177"/>
                  <a:pt x="9" y="147"/>
                  <a:pt x="9" y="109"/>
                </a:cubicBezTo>
                <a:cubicBezTo>
                  <a:pt x="9" y="72"/>
                  <a:pt x="39" y="42"/>
                  <a:pt x="76" y="42"/>
                </a:cubicBezTo>
                <a:cubicBezTo>
                  <a:pt x="113" y="42"/>
                  <a:pt x="143" y="72"/>
                  <a:pt x="143" y="109"/>
                </a:cubicBezTo>
                <a:cubicBezTo>
                  <a:pt x="143" y="147"/>
                  <a:pt x="113" y="177"/>
                  <a:pt x="76" y="177"/>
                </a:cubicBezTo>
                <a:close/>
                <a:moveTo>
                  <a:pt x="110" y="0"/>
                </a:moveTo>
                <a:cubicBezTo>
                  <a:pt x="85" y="0"/>
                  <a:pt x="64" y="11"/>
                  <a:pt x="50" y="29"/>
                </a:cubicBezTo>
                <a:cubicBezTo>
                  <a:pt x="54" y="28"/>
                  <a:pt x="59" y="27"/>
                  <a:pt x="64" y="26"/>
                </a:cubicBezTo>
                <a:cubicBezTo>
                  <a:pt x="76" y="15"/>
                  <a:pt x="92" y="8"/>
                  <a:pt x="110" y="8"/>
                </a:cubicBezTo>
                <a:cubicBezTo>
                  <a:pt x="147" y="8"/>
                  <a:pt x="177" y="38"/>
                  <a:pt x="177" y="76"/>
                </a:cubicBezTo>
                <a:cubicBezTo>
                  <a:pt x="177" y="93"/>
                  <a:pt x="170" y="109"/>
                  <a:pt x="159" y="121"/>
                </a:cubicBezTo>
                <a:cubicBezTo>
                  <a:pt x="159" y="126"/>
                  <a:pt x="158" y="131"/>
                  <a:pt x="156" y="136"/>
                </a:cubicBezTo>
                <a:cubicBezTo>
                  <a:pt x="174" y="122"/>
                  <a:pt x="186" y="100"/>
                  <a:pt x="186" y="76"/>
                </a:cubicBezTo>
                <a:cubicBezTo>
                  <a:pt x="186" y="34"/>
                  <a:pt x="152" y="0"/>
                  <a:pt x="110" y="0"/>
                </a:cubicBez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endParaRPr lang="en-US" sz="1350" dirty="0">
              <a:solidFill>
                <a:prstClr val="black"/>
              </a:solidFill>
            </a:endParaRPr>
          </a:p>
        </p:txBody>
      </p:sp>
      <p:sp>
        <p:nvSpPr>
          <p:cNvPr id="69" name="Freeform 309"/>
          <p:cNvSpPr>
            <a:spLocks noEditPoints="1"/>
          </p:cNvSpPr>
          <p:nvPr/>
        </p:nvSpPr>
        <p:spPr bwMode="auto">
          <a:xfrm>
            <a:off x="5048952" y="5452527"/>
            <a:ext cx="284304" cy="282626"/>
          </a:xfrm>
          <a:custGeom>
            <a:avLst/>
            <a:gdLst>
              <a:gd name="T0" fmla="*/ 0 w 186"/>
              <a:gd name="T1" fmla="*/ 92 h 185"/>
              <a:gd name="T2" fmla="*/ 186 w 186"/>
              <a:gd name="T3" fmla="*/ 92 h 185"/>
              <a:gd name="T4" fmla="*/ 140 w 186"/>
              <a:gd name="T5" fmla="*/ 22 h 185"/>
              <a:gd name="T6" fmla="*/ 137 w 186"/>
              <a:gd name="T7" fmla="*/ 50 h 185"/>
              <a:gd name="T8" fmla="*/ 131 w 186"/>
              <a:gd name="T9" fmla="*/ 72 h 185"/>
              <a:gd name="T10" fmla="*/ 90 w 186"/>
              <a:gd name="T11" fmla="*/ 27 h 185"/>
              <a:gd name="T12" fmla="*/ 140 w 186"/>
              <a:gd name="T13" fmla="*/ 22 h 185"/>
              <a:gd name="T14" fmla="*/ 146 w 186"/>
              <a:gd name="T15" fmla="*/ 124 h 185"/>
              <a:gd name="T16" fmla="*/ 106 w 186"/>
              <a:gd name="T17" fmla="*/ 126 h 185"/>
              <a:gd name="T18" fmla="*/ 122 w 186"/>
              <a:gd name="T19" fmla="*/ 105 h 185"/>
              <a:gd name="T20" fmla="*/ 107 w 186"/>
              <a:gd name="T21" fmla="*/ 9 h 185"/>
              <a:gd name="T22" fmla="*/ 89 w 186"/>
              <a:gd name="T23" fmla="*/ 8 h 185"/>
              <a:gd name="T24" fmla="*/ 116 w 186"/>
              <a:gd name="T25" fmla="*/ 99 h 185"/>
              <a:gd name="T26" fmla="*/ 93 w 186"/>
              <a:gd name="T27" fmla="*/ 113 h 185"/>
              <a:gd name="T28" fmla="*/ 34 w 186"/>
              <a:gd name="T29" fmla="*/ 102 h 185"/>
              <a:gd name="T30" fmla="*/ 55 w 186"/>
              <a:gd name="T31" fmla="*/ 63 h 185"/>
              <a:gd name="T32" fmla="*/ 67 w 186"/>
              <a:gd name="T33" fmla="*/ 45 h 185"/>
              <a:gd name="T34" fmla="*/ 116 w 186"/>
              <a:gd name="T35" fmla="*/ 99 h 185"/>
              <a:gd name="T36" fmla="*/ 9 w 186"/>
              <a:gd name="T37" fmla="*/ 94 h 185"/>
              <a:gd name="T38" fmla="*/ 22 w 186"/>
              <a:gd name="T39" fmla="*/ 135 h 185"/>
              <a:gd name="T40" fmla="*/ 27 w 186"/>
              <a:gd name="T41" fmla="*/ 97 h 185"/>
              <a:gd name="T42" fmla="*/ 81 w 186"/>
              <a:gd name="T43" fmla="*/ 9 h 185"/>
              <a:gd name="T44" fmla="*/ 61 w 186"/>
              <a:gd name="T45" fmla="*/ 39 h 185"/>
              <a:gd name="T46" fmla="*/ 43 w 186"/>
              <a:gd name="T47" fmla="*/ 50 h 185"/>
              <a:gd name="T48" fmla="*/ 27 w 186"/>
              <a:gd name="T49" fmla="*/ 97 h 185"/>
              <a:gd name="T50" fmla="*/ 30 w 186"/>
              <a:gd name="T51" fmla="*/ 135 h 185"/>
              <a:gd name="T52" fmla="*/ 81 w 186"/>
              <a:gd name="T53" fmla="*/ 130 h 185"/>
              <a:gd name="T54" fmla="*/ 32 w 186"/>
              <a:gd name="T55" fmla="*/ 150 h 185"/>
              <a:gd name="T56" fmla="*/ 93 w 186"/>
              <a:gd name="T57" fmla="*/ 177 h 185"/>
              <a:gd name="T58" fmla="*/ 87 w 186"/>
              <a:gd name="T59" fmla="*/ 137 h 185"/>
              <a:gd name="T60" fmla="*/ 103 w 186"/>
              <a:gd name="T61" fmla="*/ 134 h 185"/>
              <a:gd name="T62" fmla="*/ 158 w 186"/>
              <a:gd name="T63" fmla="*/ 130 h 185"/>
              <a:gd name="T64" fmla="*/ 93 w 186"/>
              <a:gd name="T65" fmla="*/ 177 h 185"/>
              <a:gd name="T66" fmla="*/ 127 w 186"/>
              <a:gd name="T67" fmla="*/ 98 h 185"/>
              <a:gd name="T68" fmla="*/ 140 w 186"/>
              <a:gd name="T69" fmla="*/ 75 h 185"/>
              <a:gd name="T70" fmla="*/ 145 w 186"/>
              <a:gd name="T71" fmla="*/ 52 h 185"/>
              <a:gd name="T72" fmla="*/ 178 w 186"/>
              <a:gd name="T73" fmla="*/ 92 h 185"/>
              <a:gd name="T74" fmla="*/ 159 w 186"/>
              <a:gd name="T75" fmla="*/ 12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6" h="185">
                <a:moveTo>
                  <a:pt x="93" y="0"/>
                </a:moveTo>
                <a:cubicBezTo>
                  <a:pt x="42" y="0"/>
                  <a:pt x="0" y="41"/>
                  <a:pt x="0" y="92"/>
                </a:cubicBezTo>
                <a:cubicBezTo>
                  <a:pt x="0" y="144"/>
                  <a:pt x="42" y="185"/>
                  <a:pt x="93" y="185"/>
                </a:cubicBezTo>
                <a:cubicBezTo>
                  <a:pt x="144" y="185"/>
                  <a:pt x="186" y="144"/>
                  <a:pt x="186" y="92"/>
                </a:cubicBezTo>
                <a:cubicBezTo>
                  <a:pt x="186" y="41"/>
                  <a:pt x="144" y="0"/>
                  <a:pt x="93" y="0"/>
                </a:cubicBezTo>
                <a:close/>
                <a:moveTo>
                  <a:pt x="140" y="22"/>
                </a:moveTo>
                <a:cubicBezTo>
                  <a:pt x="140" y="23"/>
                  <a:pt x="140" y="24"/>
                  <a:pt x="140" y="25"/>
                </a:cubicBezTo>
                <a:cubicBezTo>
                  <a:pt x="140" y="34"/>
                  <a:pt x="139" y="42"/>
                  <a:pt x="137" y="50"/>
                </a:cubicBezTo>
                <a:cubicBezTo>
                  <a:pt x="131" y="52"/>
                  <a:pt x="127" y="57"/>
                  <a:pt x="127" y="63"/>
                </a:cubicBezTo>
                <a:cubicBezTo>
                  <a:pt x="127" y="66"/>
                  <a:pt x="128" y="69"/>
                  <a:pt x="131" y="72"/>
                </a:cubicBezTo>
                <a:cubicBezTo>
                  <a:pt x="128" y="79"/>
                  <a:pt x="125" y="85"/>
                  <a:pt x="121" y="92"/>
                </a:cubicBezTo>
                <a:cubicBezTo>
                  <a:pt x="105" y="74"/>
                  <a:pt x="94" y="51"/>
                  <a:pt x="90" y="27"/>
                </a:cubicBezTo>
                <a:cubicBezTo>
                  <a:pt x="100" y="21"/>
                  <a:pt x="111" y="16"/>
                  <a:pt x="122" y="13"/>
                </a:cubicBezTo>
                <a:cubicBezTo>
                  <a:pt x="128" y="15"/>
                  <a:pt x="134" y="18"/>
                  <a:pt x="140" y="22"/>
                </a:cubicBezTo>
                <a:close/>
                <a:moveTo>
                  <a:pt x="122" y="105"/>
                </a:moveTo>
                <a:cubicBezTo>
                  <a:pt x="129" y="112"/>
                  <a:pt x="137" y="118"/>
                  <a:pt x="146" y="124"/>
                </a:cubicBezTo>
                <a:cubicBezTo>
                  <a:pt x="137" y="125"/>
                  <a:pt x="128" y="126"/>
                  <a:pt x="119" y="126"/>
                </a:cubicBezTo>
                <a:cubicBezTo>
                  <a:pt x="114" y="126"/>
                  <a:pt x="110" y="126"/>
                  <a:pt x="106" y="126"/>
                </a:cubicBezTo>
                <a:cubicBezTo>
                  <a:pt x="106" y="125"/>
                  <a:pt x="106" y="124"/>
                  <a:pt x="105" y="123"/>
                </a:cubicBezTo>
                <a:cubicBezTo>
                  <a:pt x="111" y="118"/>
                  <a:pt x="117" y="112"/>
                  <a:pt x="122" y="105"/>
                </a:cubicBezTo>
                <a:close/>
                <a:moveTo>
                  <a:pt x="93" y="8"/>
                </a:moveTo>
                <a:cubicBezTo>
                  <a:pt x="98" y="8"/>
                  <a:pt x="103" y="8"/>
                  <a:pt x="107" y="9"/>
                </a:cubicBezTo>
                <a:cubicBezTo>
                  <a:pt x="101" y="12"/>
                  <a:pt x="95" y="14"/>
                  <a:pt x="89" y="17"/>
                </a:cubicBezTo>
                <a:cubicBezTo>
                  <a:pt x="89" y="14"/>
                  <a:pt x="89" y="11"/>
                  <a:pt x="89" y="8"/>
                </a:cubicBezTo>
                <a:cubicBezTo>
                  <a:pt x="90" y="8"/>
                  <a:pt x="92" y="8"/>
                  <a:pt x="93" y="8"/>
                </a:cubicBezTo>
                <a:close/>
                <a:moveTo>
                  <a:pt x="116" y="99"/>
                </a:moveTo>
                <a:cubicBezTo>
                  <a:pt x="111" y="105"/>
                  <a:pt x="106" y="111"/>
                  <a:pt x="101" y="116"/>
                </a:cubicBezTo>
                <a:cubicBezTo>
                  <a:pt x="99" y="114"/>
                  <a:pt x="96" y="113"/>
                  <a:pt x="93" y="113"/>
                </a:cubicBezTo>
                <a:cubicBezTo>
                  <a:pt x="88" y="113"/>
                  <a:pt x="83" y="117"/>
                  <a:pt x="81" y="122"/>
                </a:cubicBezTo>
                <a:cubicBezTo>
                  <a:pt x="64" y="118"/>
                  <a:pt x="49" y="111"/>
                  <a:pt x="34" y="102"/>
                </a:cubicBezTo>
                <a:cubicBezTo>
                  <a:pt x="38" y="88"/>
                  <a:pt x="44" y="74"/>
                  <a:pt x="52" y="63"/>
                </a:cubicBezTo>
                <a:cubicBezTo>
                  <a:pt x="53" y="63"/>
                  <a:pt x="54" y="63"/>
                  <a:pt x="55" y="63"/>
                </a:cubicBezTo>
                <a:cubicBezTo>
                  <a:pt x="62" y="63"/>
                  <a:pt x="68" y="57"/>
                  <a:pt x="68" y="50"/>
                </a:cubicBezTo>
                <a:cubicBezTo>
                  <a:pt x="68" y="48"/>
                  <a:pt x="68" y="47"/>
                  <a:pt x="67" y="45"/>
                </a:cubicBezTo>
                <a:cubicBezTo>
                  <a:pt x="72" y="40"/>
                  <a:pt x="77" y="36"/>
                  <a:pt x="83" y="32"/>
                </a:cubicBezTo>
                <a:cubicBezTo>
                  <a:pt x="87" y="57"/>
                  <a:pt x="99" y="80"/>
                  <a:pt x="116" y="99"/>
                </a:cubicBezTo>
                <a:close/>
                <a:moveTo>
                  <a:pt x="22" y="137"/>
                </a:moveTo>
                <a:cubicBezTo>
                  <a:pt x="14" y="124"/>
                  <a:pt x="9" y="110"/>
                  <a:pt x="9" y="94"/>
                </a:cubicBezTo>
                <a:cubicBezTo>
                  <a:pt x="14" y="98"/>
                  <a:pt x="19" y="102"/>
                  <a:pt x="25" y="106"/>
                </a:cubicBezTo>
                <a:cubicBezTo>
                  <a:pt x="23" y="115"/>
                  <a:pt x="22" y="125"/>
                  <a:pt x="22" y="135"/>
                </a:cubicBezTo>
                <a:cubicBezTo>
                  <a:pt x="22" y="135"/>
                  <a:pt x="22" y="136"/>
                  <a:pt x="22" y="137"/>
                </a:cubicBezTo>
                <a:close/>
                <a:moveTo>
                  <a:pt x="27" y="97"/>
                </a:moveTo>
                <a:cubicBezTo>
                  <a:pt x="21" y="93"/>
                  <a:pt x="15" y="88"/>
                  <a:pt x="9" y="83"/>
                </a:cubicBezTo>
                <a:cubicBezTo>
                  <a:pt x="14" y="45"/>
                  <a:pt x="43" y="15"/>
                  <a:pt x="81" y="9"/>
                </a:cubicBezTo>
                <a:cubicBezTo>
                  <a:pt x="81" y="14"/>
                  <a:pt x="81" y="18"/>
                  <a:pt x="81" y="22"/>
                </a:cubicBezTo>
                <a:cubicBezTo>
                  <a:pt x="74" y="27"/>
                  <a:pt x="67" y="33"/>
                  <a:pt x="61" y="39"/>
                </a:cubicBezTo>
                <a:cubicBezTo>
                  <a:pt x="59" y="38"/>
                  <a:pt x="57" y="38"/>
                  <a:pt x="55" y="38"/>
                </a:cubicBezTo>
                <a:cubicBezTo>
                  <a:pt x="48" y="38"/>
                  <a:pt x="43" y="43"/>
                  <a:pt x="43" y="50"/>
                </a:cubicBezTo>
                <a:cubicBezTo>
                  <a:pt x="43" y="53"/>
                  <a:pt x="44" y="56"/>
                  <a:pt x="45" y="58"/>
                </a:cubicBezTo>
                <a:cubicBezTo>
                  <a:pt x="37" y="70"/>
                  <a:pt x="31" y="83"/>
                  <a:pt x="27" y="97"/>
                </a:cubicBezTo>
                <a:close/>
                <a:moveTo>
                  <a:pt x="31" y="149"/>
                </a:moveTo>
                <a:cubicBezTo>
                  <a:pt x="30" y="144"/>
                  <a:pt x="30" y="139"/>
                  <a:pt x="30" y="135"/>
                </a:cubicBezTo>
                <a:cubicBezTo>
                  <a:pt x="30" y="126"/>
                  <a:pt x="31" y="119"/>
                  <a:pt x="32" y="111"/>
                </a:cubicBezTo>
                <a:cubicBezTo>
                  <a:pt x="47" y="120"/>
                  <a:pt x="64" y="126"/>
                  <a:pt x="81" y="130"/>
                </a:cubicBezTo>
                <a:cubicBezTo>
                  <a:pt x="81" y="131"/>
                  <a:pt x="81" y="131"/>
                  <a:pt x="82" y="131"/>
                </a:cubicBezTo>
                <a:cubicBezTo>
                  <a:pt x="67" y="141"/>
                  <a:pt x="50" y="147"/>
                  <a:pt x="32" y="150"/>
                </a:cubicBezTo>
                <a:cubicBezTo>
                  <a:pt x="31" y="150"/>
                  <a:pt x="31" y="149"/>
                  <a:pt x="31" y="149"/>
                </a:cubicBezTo>
                <a:close/>
                <a:moveTo>
                  <a:pt x="93" y="177"/>
                </a:moveTo>
                <a:cubicBezTo>
                  <a:pt x="73" y="177"/>
                  <a:pt x="54" y="169"/>
                  <a:pt x="39" y="157"/>
                </a:cubicBezTo>
                <a:cubicBezTo>
                  <a:pt x="57" y="154"/>
                  <a:pt x="73" y="147"/>
                  <a:pt x="87" y="137"/>
                </a:cubicBezTo>
                <a:cubicBezTo>
                  <a:pt x="89" y="138"/>
                  <a:pt x="91" y="139"/>
                  <a:pt x="93" y="139"/>
                </a:cubicBezTo>
                <a:cubicBezTo>
                  <a:pt x="97" y="139"/>
                  <a:pt x="101" y="137"/>
                  <a:pt x="103" y="134"/>
                </a:cubicBezTo>
                <a:cubicBezTo>
                  <a:pt x="108" y="134"/>
                  <a:pt x="113" y="135"/>
                  <a:pt x="119" y="135"/>
                </a:cubicBezTo>
                <a:cubicBezTo>
                  <a:pt x="132" y="135"/>
                  <a:pt x="145" y="133"/>
                  <a:pt x="158" y="130"/>
                </a:cubicBezTo>
                <a:cubicBezTo>
                  <a:pt x="161" y="131"/>
                  <a:pt x="164" y="133"/>
                  <a:pt x="167" y="134"/>
                </a:cubicBezTo>
                <a:cubicBezTo>
                  <a:pt x="152" y="159"/>
                  <a:pt x="125" y="177"/>
                  <a:pt x="93" y="177"/>
                </a:cubicBezTo>
                <a:close/>
                <a:moveTo>
                  <a:pt x="159" y="121"/>
                </a:moveTo>
                <a:cubicBezTo>
                  <a:pt x="147" y="115"/>
                  <a:pt x="136" y="107"/>
                  <a:pt x="127" y="98"/>
                </a:cubicBezTo>
                <a:cubicBezTo>
                  <a:pt x="131" y="91"/>
                  <a:pt x="135" y="83"/>
                  <a:pt x="138" y="75"/>
                </a:cubicBezTo>
                <a:cubicBezTo>
                  <a:pt x="139" y="75"/>
                  <a:pt x="139" y="75"/>
                  <a:pt x="140" y="75"/>
                </a:cubicBezTo>
                <a:cubicBezTo>
                  <a:pt x="147" y="75"/>
                  <a:pt x="152" y="70"/>
                  <a:pt x="152" y="63"/>
                </a:cubicBezTo>
                <a:cubicBezTo>
                  <a:pt x="152" y="58"/>
                  <a:pt x="149" y="54"/>
                  <a:pt x="145" y="52"/>
                </a:cubicBezTo>
                <a:cubicBezTo>
                  <a:pt x="147" y="44"/>
                  <a:pt x="148" y="36"/>
                  <a:pt x="148" y="28"/>
                </a:cubicBezTo>
                <a:cubicBezTo>
                  <a:pt x="166" y="44"/>
                  <a:pt x="178" y="67"/>
                  <a:pt x="178" y="92"/>
                </a:cubicBezTo>
                <a:cubicBezTo>
                  <a:pt x="178" y="101"/>
                  <a:pt x="176" y="109"/>
                  <a:pt x="174" y="116"/>
                </a:cubicBezTo>
                <a:cubicBezTo>
                  <a:pt x="169" y="118"/>
                  <a:pt x="164" y="120"/>
                  <a:pt x="159" y="121"/>
                </a:cubicBez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endParaRPr lang="en-US" sz="1350" dirty="0">
              <a:solidFill>
                <a:prstClr val="black"/>
              </a:solidFill>
            </a:endParaRPr>
          </a:p>
        </p:txBody>
      </p:sp>
      <p:sp>
        <p:nvSpPr>
          <p:cNvPr id="37"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DEPURAR</a:t>
            </a:r>
            <a:endParaRPr lang="es-ES" sz="1400" b="1" dirty="0">
              <a:solidFill>
                <a:srgbClr val="323232"/>
              </a:solidFill>
              <a:latin typeface="Avenir 35" panose="00000400000000000000" pitchFamily="2" charset="0"/>
            </a:endParaRPr>
          </a:p>
        </p:txBody>
      </p:sp>
      <p:sp>
        <p:nvSpPr>
          <p:cNvPr id="42"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Nuestra Visión</a:t>
            </a:r>
          </a:p>
        </p:txBody>
      </p:sp>
      <p:sp>
        <p:nvSpPr>
          <p:cNvPr id="43" name="42 Rectángulo"/>
          <p:cNvSpPr/>
          <p:nvPr>
            <p:custDataLst>
              <p:tags r:id="rId1"/>
            </p:custDataLst>
          </p:nvPr>
        </p:nvSpPr>
        <p:spPr>
          <a:xfrm>
            <a:off x="1215609" y="6295213"/>
            <a:ext cx="1793175" cy="288000"/>
          </a:xfrm>
          <a:prstGeom prst="rect">
            <a:avLst/>
          </a:prstGeom>
          <a:solidFill>
            <a:schemeClr val="accent5"/>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1400" kern="0" dirty="0">
                <a:solidFill>
                  <a:srgbClr val="FFFFFF"/>
                </a:solidFill>
                <a:latin typeface="Avenir 35" panose="00000400000000000000" pitchFamily="2" charset="0"/>
              </a:rPr>
              <a:t>WEBSERVICE</a:t>
            </a:r>
          </a:p>
        </p:txBody>
      </p:sp>
      <p:sp>
        <p:nvSpPr>
          <p:cNvPr id="44" name="43 Rectángulo"/>
          <p:cNvSpPr/>
          <p:nvPr>
            <p:custDataLst>
              <p:tags r:id="rId2"/>
            </p:custDataLst>
          </p:nvPr>
        </p:nvSpPr>
        <p:spPr>
          <a:xfrm>
            <a:off x="6465168" y="6295213"/>
            <a:ext cx="1793175" cy="288000"/>
          </a:xfrm>
          <a:prstGeom prst="rect">
            <a:avLst/>
          </a:prstGeom>
          <a:solidFill>
            <a:schemeClr val="accent5"/>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1400" kern="0" dirty="0">
                <a:solidFill>
                  <a:srgbClr val="FFFFFF"/>
                </a:solidFill>
                <a:latin typeface="Avenir 35" panose="00000400000000000000" pitchFamily="2" charset="0"/>
              </a:rPr>
              <a:t>SQL SERVER</a:t>
            </a:r>
          </a:p>
        </p:txBody>
      </p:sp>
      <p:sp>
        <p:nvSpPr>
          <p:cNvPr id="45" name="44 Rectángulo"/>
          <p:cNvSpPr/>
          <p:nvPr>
            <p:custDataLst>
              <p:tags r:id="rId3"/>
            </p:custDataLst>
          </p:nvPr>
        </p:nvSpPr>
        <p:spPr>
          <a:xfrm>
            <a:off x="3840389" y="6295213"/>
            <a:ext cx="1793175" cy="288000"/>
          </a:xfrm>
          <a:prstGeom prst="rect">
            <a:avLst/>
          </a:prstGeom>
          <a:solidFill>
            <a:schemeClr val="accent5"/>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1400" kern="0" dirty="0">
                <a:solidFill>
                  <a:srgbClr val="FFFFFF"/>
                </a:solidFill>
                <a:latin typeface="Avenir 35" panose="00000400000000000000" pitchFamily="2" charset="0"/>
              </a:rPr>
              <a:t>Experiencia Grupo VI</a:t>
            </a:r>
          </a:p>
        </p:txBody>
      </p:sp>
      <p:sp>
        <p:nvSpPr>
          <p:cNvPr id="46" name="Rectangle 3"/>
          <p:cNvSpPr>
            <a:spLocks noChangeArrowheads="1"/>
          </p:cNvSpPr>
          <p:nvPr/>
        </p:nvSpPr>
        <p:spPr bwMode="auto">
          <a:xfrm>
            <a:off x="870243" y="5897298"/>
            <a:ext cx="7885542" cy="307734"/>
          </a:xfrm>
          <a:prstGeom prst="rect">
            <a:avLst/>
          </a:prstGeom>
          <a:solidFill>
            <a:schemeClr val="bg1">
              <a:lumMod val="50000"/>
            </a:schemeClr>
          </a:solidFill>
          <a:ln w="9525">
            <a:noFill/>
            <a:miter lim="800000"/>
            <a:headEnd/>
            <a:tailEnd/>
          </a:ln>
        </p:spPr>
        <p:txBody>
          <a:bodyPr wrap="square" lIns="91401" tIns="45699" rIns="91401" bIns="45699" anchor="ctr">
            <a:spAutoFit/>
          </a:bodyPr>
          <a:lstStyle/>
          <a:p>
            <a:pPr algn="ctr">
              <a:defRPr/>
            </a:pPr>
            <a:r>
              <a:rPr lang="en-US" sz="1400" dirty="0">
                <a:solidFill>
                  <a:srgbClr val="FFFFFF"/>
                </a:solidFill>
                <a:latin typeface="Avenir 35" panose="00000400000000000000" pitchFamily="2" charset="0"/>
                <a:cs typeface="Avenir 35 Light"/>
              </a:rPr>
              <a:t>Grupo VI DQ Service</a:t>
            </a:r>
            <a:endParaRPr lang="es-ES" sz="1400" dirty="0">
              <a:solidFill>
                <a:srgbClr val="FFFFFF"/>
              </a:solidFill>
              <a:latin typeface="Avenir 35" panose="00000400000000000000" pitchFamily="2" charset="0"/>
              <a:cs typeface="Avenir 35 Light"/>
            </a:endParaRPr>
          </a:p>
        </p:txBody>
      </p:sp>
      <p:sp>
        <p:nvSpPr>
          <p:cNvPr id="47"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15</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788811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Nuestra Visión</a:t>
            </a:r>
          </a:p>
          <a:p>
            <a:endParaRPr lang="en-US" dirty="0">
              <a:solidFill>
                <a:srgbClr val="323232"/>
              </a:solidFill>
              <a:latin typeface="Avenir 35" panose="00000400000000000000" pitchFamily="2" charset="0"/>
            </a:endParaRP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DEPURAR</a:t>
            </a:r>
            <a:endParaRPr lang="es-ES" sz="1400" b="1" dirty="0">
              <a:solidFill>
                <a:srgbClr val="323232"/>
              </a:solidFill>
              <a:latin typeface="Avenir 35" panose="00000400000000000000" pitchFamily="2" charset="0"/>
            </a:endParaRPr>
          </a:p>
        </p:txBody>
      </p:sp>
      <p:sp>
        <p:nvSpPr>
          <p:cNvPr id="3" name="AutoShape 4" descr="Resultado de imagen de car dealer network"/>
          <p:cNvSpPr>
            <a:spLocks noChangeAspect="1" noChangeArrowheads="1"/>
          </p:cNvSpPr>
          <p:nvPr/>
        </p:nvSpPr>
        <p:spPr bwMode="auto">
          <a:xfrm>
            <a:off x="155575" y="-13652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37" name="AutoShape 4"/>
          <p:cNvSpPr>
            <a:spLocks noChangeArrowheads="1"/>
          </p:cNvSpPr>
          <p:nvPr/>
        </p:nvSpPr>
        <p:spPr bwMode="auto">
          <a:xfrm>
            <a:off x="632527" y="832079"/>
            <a:ext cx="8660261" cy="464225"/>
          </a:xfrm>
          <a:prstGeom prst="roundRect">
            <a:avLst>
              <a:gd name="adj" fmla="val 12500"/>
            </a:avLst>
          </a:prstGeom>
          <a:noFill/>
        </p:spPr>
        <p:txBody>
          <a:bodyPr wrap="square" rtlCol="0">
            <a:spAutoFit/>
          </a:bodyPr>
          <a:lstStyle/>
          <a:p>
            <a:pPr algn="ctr" defTabSz="925830" eaLnBrk="0" fontAlgn="base" hangingPunct="0">
              <a:lnSpc>
                <a:spcPct val="110000"/>
              </a:lnSpc>
              <a:spcBef>
                <a:spcPct val="30000"/>
              </a:spcBef>
              <a:spcAft>
                <a:spcPct val="0"/>
              </a:spcAft>
            </a:pPr>
            <a:r>
              <a:rPr lang="es-ES" sz="1000" dirty="0">
                <a:solidFill>
                  <a:srgbClr val="323232"/>
                </a:solidFill>
                <a:latin typeface="Avenir 35" panose="00000400000000000000" pitchFamily="2" charset="0"/>
              </a:rPr>
              <a:t>Para optimizar la explotación del servicio, deberemos apoyarnos en unos procesos Data Quality que nos garanticen la mayor calidad en nuestros datos de clientes. Estos procesos se deben monitorizar para una mejora del rendimiento de campañas y mejorar los Core Process con clientes</a:t>
            </a:r>
          </a:p>
        </p:txBody>
      </p:sp>
      <p:sp>
        <p:nvSpPr>
          <p:cNvPr id="26" name="Rectangle 81"/>
          <p:cNvSpPr/>
          <p:nvPr>
            <p:custDataLst>
              <p:tags r:id="rId1"/>
            </p:custDataLst>
          </p:nvPr>
        </p:nvSpPr>
        <p:spPr>
          <a:xfrm>
            <a:off x="369284" y="1575738"/>
            <a:ext cx="9268468" cy="232537"/>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65" panose="02000600000000000000" pitchFamily="2" charset="0"/>
              </a:rPr>
              <a:t>Proceso de monitorización DATA QUALITY</a:t>
            </a:r>
          </a:p>
        </p:txBody>
      </p:sp>
      <p:grpSp>
        <p:nvGrpSpPr>
          <p:cNvPr id="27" name="26 Grupo"/>
          <p:cNvGrpSpPr>
            <a:grpSpLocks noChangeAspect="1"/>
          </p:cNvGrpSpPr>
          <p:nvPr/>
        </p:nvGrpSpPr>
        <p:grpSpPr>
          <a:xfrm>
            <a:off x="7705082" y="1369889"/>
            <a:ext cx="386280" cy="360000"/>
            <a:chOff x="460846" y="4293096"/>
            <a:chExt cx="638482" cy="627109"/>
          </a:xfrm>
        </p:grpSpPr>
        <p:sp>
          <p:nvSpPr>
            <p:cNvPr id="28" name="27 Elipse"/>
            <p:cNvSpPr/>
            <p:nvPr/>
          </p:nvSpPr>
          <p:spPr>
            <a:xfrm>
              <a:off x="460846" y="4293096"/>
              <a:ext cx="638482" cy="607226"/>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30" name="Picture 2" descr="https://cdn0.iconfinder.com/data/icons/shipping-icons/100/15-256.png"/>
            <p:cNvPicPr>
              <a:picLocks noChangeAspect="1" noChangeArrowheads="1"/>
            </p:cNvPicPr>
            <p:nvPr/>
          </p:nvPicPr>
          <p:blipFill>
            <a:blip r:embed="rId7" cstate="print">
              <a:biLevel thresh="25000"/>
              <a:extLst>
                <a:ext uri="{28A0092B-C50C-407E-A947-70E740481C1C}">
                  <a14:useLocalDpi xmlns:a14="http://schemas.microsoft.com/office/drawing/2010/main" val="0"/>
                </a:ext>
              </a:extLst>
            </a:blip>
            <a:srcRect/>
            <a:stretch>
              <a:fillRect/>
            </a:stretch>
          </p:blipFill>
          <p:spPr bwMode="auto">
            <a:xfrm>
              <a:off x="487202" y="4326160"/>
              <a:ext cx="594046" cy="5940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 name="30 Grupo"/>
          <p:cNvGrpSpPr>
            <a:grpSpLocks noChangeAspect="1"/>
          </p:cNvGrpSpPr>
          <p:nvPr/>
        </p:nvGrpSpPr>
        <p:grpSpPr>
          <a:xfrm>
            <a:off x="8214277" y="1369885"/>
            <a:ext cx="398927" cy="360000"/>
            <a:chOff x="442620" y="4900973"/>
            <a:chExt cx="638481" cy="607227"/>
          </a:xfrm>
        </p:grpSpPr>
        <p:sp>
          <p:nvSpPr>
            <p:cNvPr id="32" name="31 Elipse"/>
            <p:cNvSpPr/>
            <p:nvPr/>
          </p:nvSpPr>
          <p:spPr>
            <a:xfrm>
              <a:off x="442620" y="4900973"/>
              <a:ext cx="638481"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49" name="Picture 27" descr="http://flaticons.net/icons/Transportation/Van.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46086" y="4979379"/>
              <a:ext cx="460901" cy="4609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1" name="50 Grupo"/>
          <p:cNvGrpSpPr>
            <a:grpSpLocks noChangeAspect="1"/>
          </p:cNvGrpSpPr>
          <p:nvPr/>
        </p:nvGrpSpPr>
        <p:grpSpPr>
          <a:xfrm>
            <a:off x="7187326" y="1369885"/>
            <a:ext cx="398926" cy="360000"/>
            <a:chOff x="442620" y="5518761"/>
            <a:chExt cx="638481" cy="607227"/>
          </a:xfrm>
        </p:grpSpPr>
        <p:sp>
          <p:nvSpPr>
            <p:cNvPr id="52" name="51 Elipse"/>
            <p:cNvSpPr/>
            <p:nvPr/>
          </p:nvSpPr>
          <p:spPr>
            <a:xfrm>
              <a:off x="442620" y="5518761"/>
              <a:ext cx="638481"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53" name="Picture 25" descr="http://www.iconsdb.com/icons/preview/white/car-xxl.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46086" y="5602320"/>
              <a:ext cx="418968" cy="4189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4" name="53 Grupo"/>
          <p:cNvGrpSpPr>
            <a:grpSpLocks noChangeAspect="1"/>
          </p:cNvGrpSpPr>
          <p:nvPr/>
        </p:nvGrpSpPr>
        <p:grpSpPr>
          <a:xfrm>
            <a:off x="8682376" y="1369885"/>
            <a:ext cx="531218" cy="360000"/>
            <a:chOff x="382713" y="5754222"/>
            <a:chExt cx="850214" cy="607227"/>
          </a:xfrm>
        </p:grpSpPr>
        <p:sp>
          <p:nvSpPr>
            <p:cNvPr id="55" name="54 Elipse"/>
            <p:cNvSpPr/>
            <p:nvPr/>
          </p:nvSpPr>
          <p:spPr>
            <a:xfrm>
              <a:off x="490759" y="5754222"/>
              <a:ext cx="638482"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00" dirty="0">
                <a:solidFill>
                  <a:prstClr val="white"/>
                </a:solidFill>
              </a:endParaRPr>
            </a:p>
          </p:txBody>
        </p:sp>
        <p:sp>
          <p:nvSpPr>
            <p:cNvPr id="56" name="55 CuadroTexto"/>
            <p:cNvSpPr txBox="1"/>
            <p:nvPr/>
          </p:nvSpPr>
          <p:spPr>
            <a:xfrm>
              <a:off x="382713" y="5892865"/>
              <a:ext cx="850214" cy="361418"/>
            </a:xfrm>
            <a:prstGeom prst="rect">
              <a:avLst/>
            </a:prstGeom>
            <a:noFill/>
          </p:spPr>
          <p:txBody>
            <a:bodyPr wrap="square" lIns="90281" tIns="45139" rIns="90281" bIns="45139" rtlCol="0">
              <a:spAutoFit/>
            </a:bodyPr>
            <a:lstStyle/>
            <a:p>
              <a:pPr algn="ctr" defTabSz="902813"/>
              <a:r>
                <a:rPr lang="en-GB" sz="800" spc="-49" dirty="0">
                  <a:solidFill>
                    <a:schemeClr val="bg1"/>
                  </a:solidFill>
                  <a:latin typeface="Avenir 65" panose="02000600000000000000" pitchFamily="2" charset="0"/>
                  <a:cs typeface="Arial" pitchFamily="34" charset="0"/>
                </a:rPr>
                <a:t>MBFN</a:t>
              </a:r>
            </a:p>
          </p:txBody>
        </p:sp>
      </p:grpSp>
      <p:sp>
        <p:nvSpPr>
          <p:cNvPr id="57" name="56 CuadroTexto"/>
          <p:cNvSpPr txBox="1"/>
          <p:nvPr/>
        </p:nvSpPr>
        <p:spPr>
          <a:xfrm>
            <a:off x="381172" y="1832139"/>
            <a:ext cx="1124195" cy="192160"/>
          </a:xfrm>
          <a:prstGeom prst="rect">
            <a:avLst/>
          </a:prstGeom>
          <a:solidFill>
            <a:schemeClr val="tx1">
              <a:lumMod val="65000"/>
              <a:lumOff val="35000"/>
            </a:schemeClr>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600" kern="0">
                <a:solidFill>
                  <a:srgbClr val="FFFFFF"/>
                </a:solidFill>
                <a:latin typeface="Century Gothic" panose="020B0502020202020204" pitchFamily="34" charset="0"/>
              </a:defRPr>
            </a:lvl1pPr>
          </a:lstStyle>
          <a:p>
            <a:r>
              <a:rPr lang="es-ES" sz="1200" dirty="0">
                <a:latin typeface="Avenir 35 Light" panose="00000400000000000000" pitchFamily="2" charset="0"/>
              </a:rPr>
              <a:t>BANCO</a:t>
            </a:r>
            <a:endParaRPr lang="es-ES" dirty="0">
              <a:latin typeface="Avenir 35 Light" panose="00000400000000000000" pitchFamily="2" charset="0"/>
            </a:endParaRPr>
          </a:p>
        </p:txBody>
      </p:sp>
      <p:sp>
        <p:nvSpPr>
          <p:cNvPr id="60" name="59 CuadroTexto"/>
          <p:cNvSpPr txBox="1"/>
          <p:nvPr/>
        </p:nvSpPr>
        <p:spPr>
          <a:xfrm>
            <a:off x="1568624" y="1832139"/>
            <a:ext cx="1863074" cy="192160"/>
          </a:xfrm>
          <a:prstGeom prst="rect">
            <a:avLst/>
          </a:prstGeom>
          <a:solidFill>
            <a:schemeClr val="tx1">
              <a:lumMod val="65000"/>
              <a:lumOff val="35000"/>
            </a:schemeClr>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600" kern="0">
                <a:solidFill>
                  <a:srgbClr val="FFFFFF"/>
                </a:solidFill>
                <a:latin typeface="Century Gothic" panose="020B0502020202020204" pitchFamily="34" charset="0"/>
              </a:defRPr>
            </a:lvl1pPr>
          </a:lstStyle>
          <a:p>
            <a:r>
              <a:rPr lang="es-ES" sz="1200" dirty="0">
                <a:latin typeface="Avenir 35 Light" panose="00000400000000000000" pitchFamily="2" charset="0"/>
              </a:rPr>
              <a:t>Landing Zone</a:t>
            </a:r>
            <a:endParaRPr lang="es-ES" dirty="0">
              <a:latin typeface="Avenir 35 Light" panose="00000400000000000000" pitchFamily="2" charset="0"/>
            </a:endParaRPr>
          </a:p>
        </p:txBody>
      </p:sp>
      <p:sp>
        <p:nvSpPr>
          <p:cNvPr id="61" name="60 CuadroTexto"/>
          <p:cNvSpPr txBox="1"/>
          <p:nvPr/>
        </p:nvSpPr>
        <p:spPr>
          <a:xfrm>
            <a:off x="3470111" y="1832139"/>
            <a:ext cx="1338873" cy="192160"/>
          </a:xfrm>
          <a:prstGeom prst="rect">
            <a:avLst/>
          </a:prstGeom>
          <a:solidFill>
            <a:schemeClr val="tx1">
              <a:lumMod val="65000"/>
              <a:lumOff val="35000"/>
            </a:schemeClr>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600" kern="0">
                <a:solidFill>
                  <a:srgbClr val="FFFFFF"/>
                </a:solidFill>
                <a:latin typeface="Century Gothic" panose="020B0502020202020204" pitchFamily="34" charset="0"/>
              </a:defRPr>
            </a:lvl1pPr>
          </a:lstStyle>
          <a:p>
            <a:r>
              <a:rPr lang="es-ES" sz="1200" dirty="0">
                <a:latin typeface="Avenir 35 Light" panose="00000400000000000000" pitchFamily="2" charset="0"/>
              </a:rPr>
              <a:t>SQL Database</a:t>
            </a:r>
            <a:endParaRPr lang="es-ES" dirty="0">
              <a:latin typeface="Avenir 35 Light" panose="00000400000000000000" pitchFamily="2" charset="0"/>
            </a:endParaRPr>
          </a:p>
        </p:txBody>
      </p:sp>
      <p:sp>
        <p:nvSpPr>
          <p:cNvPr id="62" name="61 CuadroTexto"/>
          <p:cNvSpPr txBox="1"/>
          <p:nvPr/>
        </p:nvSpPr>
        <p:spPr>
          <a:xfrm>
            <a:off x="4880992" y="1832139"/>
            <a:ext cx="1651532" cy="192160"/>
          </a:xfrm>
          <a:prstGeom prst="rect">
            <a:avLst/>
          </a:prstGeom>
          <a:solidFill>
            <a:schemeClr val="tx1">
              <a:lumMod val="65000"/>
              <a:lumOff val="35000"/>
            </a:schemeClr>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600" kern="0">
                <a:solidFill>
                  <a:srgbClr val="FFFFFF"/>
                </a:solidFill>
                <a:latin typeface="Century Gothic" panose="020B0502020202020204" pitchFamily="34" charset="0"/>
              </a:defRPr>
            </a:lvl1pPr>
          </a:lstStyle>
          <a:p>
            <a:r>
              <a:rPr lang="es-ES" sz="1200" dirty="0">
                <a:latin typeface="Avenir 35 Light" panose="00000400000000000000" pitchFamily="2" charset="0"/>
              </a:rPr>
              <a:t>Data Quality</a:t>
            </a:r>
            <a:endParaRPr lang="es-ES" dirty="0">
              <a:latin typeface="Avenir 35 Light" panose="00000400000000000000" pitchFamily="2" charset="0"/>
            </a:endParaRPr>
          </a:p>
        </p:txBody>
      </p:sp>
      <p:sp>
        <p:nvSpPr>
          <p:cNvPr id="63" name="62 CuadroTexto"/>
          <p:cNvSpPr txBox="1"/>
          <p:nvPr/>
        </p:nvSpPr>
        <p:spPr>
          <a:xfrm>
            <a:off x="6570936" y="1832139"/>
            <a:ext cx="1842803" cy="192160"/>
          </a:xfrm>
          <a:prstGeom prst="rect">
            <a:avLst/>
          </a:prstGeom>
          <a:solidFill>
            <a:schemeClr val="tx1">
              <a:lumMod val="65000"/>
              <a:lumOff val="35000"/>
            </a:schemeClr>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600" kern="0">
                <a:solidFill>
                  <a:srgbClr val="FFFFFF"/>
                </a:solidFill>
                <a:latin typeface="Century Gothic" panose="020B0502020202020204" pitchFamily="34" charset="0"/>
              </a:defRPr>
            </a:lvl1pPr>
          </a:lstStyle>
          <a:p>
            <a:r>
              <a:rPr lang="es-ES" sz="1200" dirty="0">
                <a:latin typeface="Avenir 35 Light" panose="00000400000000000000" pitchFamily="2" charset="0"/>
              </a:rPr>
              <a:t>Golden Record</a:t>
            </a:r>
            <a:endParaRPr lang="es-ES" dirty="0">
              <a:latin typeface="Avenir 35 Light" panose="00000400000000000000" pitchFamily="2" charset="0"/>
            </a:endParaRPr>
          </a:p>
        </p:txBody>
      </p:sp>
      <p:sp>
        <p:nvSpPr>
          <p:cNvPr id="65" name="64 CuadroTexto"/>
          <p:cNvSpPr txBox="1"/>
          <p:nvPr/>
        </p:nvSpPr>
        <p:spPr>
          <a:xfrm>
            <a:off x="8481392" y="1832139"/>
            <a:ext cx="1151960" cy="192160"/>
          </a:xfrm>
          <a:prstGeom prst="rect">
            <a:avLst/>
          </a:prstGeom>
          <a:solidFill>
            <a:schemeClr val="tx1">
              <a:lumMod val="65000"/>
              <a:lumOff val="35000"/>
            </a:schemeClr>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600" kern="0">
                <a:solidFill>
                  <a:srgbClr val="FFFFFF"/>
                </a:solidFill>
                <a:latin typeface="Century Gothic" panose="020B0502020202020204" pitchFamily="34" charset="0"/>
              </a:defRPr>
            </a:lvl1pPr>
          </a:lstStyle>
          <a:p>
            <a:r>
              <a:rPr lang="es-ES" sz="1200" dirty="0">
                <a:latin typeface="Avenir 35 Light" panose="00000400000000000000" pitchFamily="2" charset="0"/>
              </a:rPr>
              <a:t>BANCO</a:t>
            </a:r>
            <a:endParaRPr lang="es-ES" dirty="0">
              <a:latin typeface="Avenir 35 Light" panose="00000400000000000000" pitchFamily="2" charset="0"/>
            </a:endParaRPr>
          </a:p>
        </p:txBody>
      </p:sp>
      <p:sp>
        <p:nvSpPr>
          <p:cNvPr id="73" name="TextBox 25"/>
          <p:cNvSpPr txBox="1"/>
          <p:nvPr/>
        </p:nvSpPr>
        <p:spPr>
          <a:xfrm>
            <a:off x="-231576" y="3886724"/>
            <a:ext cx="2328232" cy="2308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Petición</a:t>
            </a:r>
            <a:endParaRPr lang="es-ES" sz="900" b="1" dirty="0">
              <a:solidFill>
                <a:schemeClr val="bg1">
                  <a:lumMod val="50000"/>
                </a:schemeClr>
              </a:solidFill>
              <a:latin typeface="Avenir 35" panose="00000400000000000000" pitchFamily="2" charset="0"/>
            </a:endParaRPr>
          </a:p>
        </p:txBody>
      </p:sp>
      <p:grpSp>
        <p:nvGrpSpPr>
          <p:cNvPr id="2" name="1 Grupo"/>
          <p:cNvGrpSpPr/>
          <p:nvPr/>
        </p:nvGrpSpPr>
        <p:grpSpPr>
          <a:xfrm>
            <a:off x="313798" y="2520951"/>
            <a:ext cx="1258942" cy="768805"/>
            <a:chOff x="237674" y="1993597"/>
            <a:chExt cx="1258942" cy="768805"/>
          </a:xfrm>
        </p:grpSpPr>
        <p:sp>
          <p:nvSpPr>
            <p:cNvPr id="67" name="66 Elipse"/>
            <p:cNvSpPr/>
            <p:nvPr/>
          </p:nvSpPr>
          <p:spPr>
            <a:xfrm>
              <a:off x="566456" y="2217952"/>
              <a:ext cx="540000" cy="544450"/>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sp>
          <p:nvSpPr>
            <p:cNvPr id="69" name="TextBox 25"/>
            <p:cNvSpPr txBox="1"/>
            <p:nvPr/>
          </p:nvSpPr>
          <p:spPr>
            <a:xfrm>
              <a:off x="237674" y="1993597"/>
              <a:ext cx="1258942" cy="2308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BANCO</a:t>
              </a:r>
              <a:endParaRPr lang="es-ES" sz="900" b="1" dirty="0">
                <a:solidFill>
                  <a:schemeClr val="bg1">
                    <a:lumMod val="50000"/>
                  </a:schemeClr>
                </a:solidFill>
                <a:latin typeface="Avenir 35" panose="00000400000000000000" pitchFamily="2" charset="0"/>
              </a:endParaRPr>
            </a:p>
          </p:txBody>
        </p:sp>
        <p:pic>
          <p:nvPicPr>
            <p:cNvPr id="78" name="Picture 41" descr="http://www.hydra-newmedia.com/wp-content/uploads/2013/02/11_mercedes_logo.png"/>
            <p:cNvPicPr>
              <a:picLocks noChangeAspect="1" noChangeArrowheads="1"/>
            </p:cNvPicPr>
            <p:nvPr/>
          </p:nvPicPr>
          <p:blipFill rotWithShape="1">
            <a:blip r:embed="rId10" cstate="print">
              <a:lum bright="70000" contrast="-70000"/>
              <a:extLst>
                <a:ext uri="{28A0092B-C50C-407E-A947-70E740481C1C}">
                  <a14:useLocalDpi xmlns:a14="http://schemas.microsoft.com/office/drawing/2010/main" val="0"/>
                </a:ext>
              </a:extLst>
            </a:blip>
            <a:srcRect l="35667" r="28666" b="28132"/>
            <a:stretch/>
          </p:blipFill>
          <p:spPr bwMode="auto">
            <a:xfrm>
              <a:off x="587859" y="2226929"/>
              <a:ext cx="648452" cy="44860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13 Grupo"/>
          <p:cNvGrpSpPr/>
          <p:nvPr/>
        </p:nvGrpSpPr>
        <p:grpSpPr>
          <a:xfrm>
            <a:off x="1352600" y="2528198"/>
            <a:ext cx="2328232" cy="754310"/>
            <a:chOff x="1352600" y="2334072"/>
            <a:chExt cx="2328232" cy="754310"/>
          </a:xfrm>
        </p:grpSpPr>
        <p:sp>
          <p:nvSpPr>
            <p:cNvPr id="75" name="74 Elipse"/>
            <p:cNvSpPr/>
            <p:nvPr/>
          </p:nvSpPr>
          <p:spPr>
            <a:xfrm>
              <a:off x="2219672" y="2543932"/>
              <a:ext cx="540000" cy="544450"/>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sp>
          <p:nvSpPr>
            <p:cNvPr id="77" name="TextBox 25"/>
            <p:cNvSpPr txBox="1"/>
            <p:nvPr/>
          </p:nvSpPr>
          <p:spPr>
            <a:xfrm>
              <a:off x="1352600" y="2334072"/>
              <a:ext cx="2328232" cy="2308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Analista</a:t>
              </a:r>
              <a:endParaRPr lang="es-ES" sz="900" b="1" dirty="0">
                <a:solidFill>
                  <a:schemeClr val="bg1">
                    <a:lumMod val="50000"/>
                  </a:schemeClr>
                </a:solidFill>
                <a:latin typeface="Avenir 35" panose="00000400000000000000" pitchFamily="2" charset="0"/>
              </a:endParaRPr>
            </a:p>
          </p:txBody>
        </p:sp>
        <p:sp>
          <p:nvSpPr>
            <p:cNvPr id="79" name="Freeform 154"/>
            <p:cNvSpPr>
              <a:spLocks noEditPoints="1"/>
            </p:cNvSpPr>
            <p:nvPr/>
          </p:nvSpPr>
          <p:spPr bwMode="auto">
            <a:xfrm>
              <a:off x="2360712" y="2694712"/>
              <a:ext cx="283829" cy="231765"/>
            </a:xfrm>
            <a:custGeom>
              <a:avLst/>
              <a:gdLst>
                <a:gd name="T0" fmla="*/ 111 w 186"/>
                <a:gd name="T1" fmla="*/ 95 h 152"/>
                <a:gd name="T2" fmla="*/ 122 w 186"/>
                <a:gd name="T3" fmla="*/ 55 h 152"/>
                <a:gd name="T4" fmla="*/ 110 w 186"/>
                <a:gd name="T5" fmla="*/ 3 h 152"/>
                <a:gd name="T6" fmla="*/ 80 w 186"/>
                <a:gd name="T7" fmla="*/ 4 h 152"/>
                <a:gd name="T8" fmla="*/ 64 w 186"/>
                <a:gd name="T9" fmla="*/ 54 h 152"/>
                <a:gd name="T10" fmla="*/ 74 w 186"/>
                <a:gd name="T11" fmla="*/ 95 h 152"/>
                <a:gd name="T12" fmla="*/ 29 w 186"/>
                <a:gd name="T13" fmla="*/ 147 h 152"/>
                <a:gd name="T14" fmla="*/ 152 w 186"/>
                <a:gd name="T15" fmla="*/ 152 h 152"/>
                <a:gd name="T16" fmla="*/ 126 w 186"/>
                <a:gd name="T17" fmla="*/ 115 h 152"/>
                <a:gd name="T18" fmla="*/ 61 w 186"/>
                <a:gd name="T19" fmla="*/ 123 h 152"/>
                <a:gd name="T20" fmla="*/ 83 w 186"/>
                <a:gd name="T21" fmla="*/ 95 h 152"/>
                <a:gd name="T22" fmla="*/ 72 w 186"/>
                <a:gd name="T23" fmla="*/ 68 h 152"/>
                <a:gd name="T24" fmla="*/ 72 w 186"/>
                <a:gd name="T25" fmla="*/ 51 h 152"/>
                <a:gd name="T26" fmla="*/ 84 w 186"/>
                <a:gd name="T27" fmla="*/ 12 h 152"/>
                <a:gd name="T28" fmla="*/ 98 w 186"/>
                <a:gd name="T29" fmla="*/ 8 h 152"/>
                <a:gd name="T30" fmla="*/ 114 w 186"/>
                <a:gd name="T31" fmla="*/ 23 h 152"/>
                <a:gd name="T32" fmla="*/ 113 w 186"/>
                <a:gd name="T33" fmla="*/ 57 h 152"/>
                <a:gd name="T34" fmla="*/ 112 w 186"/>
                <a:gd name="T35" fmla="*/ 69 h 152"/>
                <a:gd name="T36" fmla="*/ 124 w 186"/>
                <a:gd name="T37" fmla="*/ 123 h 152"/>
                <a:gd name="T38" fmla="*/ 147 w 186"/>
                <a:gd name="T39" fmla="*/ 143 h 152"/>
                <a:gd name="T40" fmla="*/ 20 w 186"/>
                <a:gd name="T41" fmla="*/ 113 h 152"/>
                <a:gd name="T42" fmla="*/ 29 w 186"/>
                <a:gd name="T43" fmla="*/ 69 h 152"/>
                <a:gd name="T44" fmla="*/ 29 w 186"/>
                <a:gd name="T45" fmla="*/ 68 h 152"/>
                <a:gd name="T46" fmla="*/ 29 w 186"/>
                <a:gd name="T47" fmla="*/ 55 h 152"/>
                <a:gd name="T48" fmla="*/ 35 w 186"/>
                <a:gd name="T49" fmla="*/ 28 h 152"/>
                <a:gd name="T50" fmla="*/ 46 w 186"/>
                <a:gd name="T51" fmla="*/ 25 h 152"/>
                <a:gd name="T52" fmla="*/ 53 w 186"/>
                <a:gd name="T53" fmla="*/ 22 h 152"/>
                <a:gd name="T54" fmla="*/ 46 w 186"/>
                <a:gd name="T55" fmla="*/ 17 h 152"/>
                <a:gd name="T56" fmla="*/ 18 w 186"/>
                <a:gd name="T57" fmla="*/ 36 h 152"/>
                <a:gd name="T58" fmla="*/ 22 w 186"/>
                <a:gd name="T59" fmla="*/ 74 h 152"/>
                <a:gd name="T60" fmla="*/ 18 w 186"/>
                <a:gd name="T61" fmla="*/ 105 h 152"/>
                <a:gd name="T62" fmla="*/ 4 w 186"/>
                <a:gd name="T63" fmla="*/ 135 h 152"/>
                <a:gd name="T64" fmla="*/ 27 w 186"/>
                <a:gd name="T65" fmla="*/ 126 h 152"/>
                <a:gd name="T66" fmla="*/ 20 w 186"/>
                <a:gd name="T67" fmla="*/ 113 h 152"/>
                <a:gd name="T68" fmla="*/ 158 w 186"/>
                <a:gd name="T69" fmla="*/ 91 h 152"/>
                <a:gd name="T70" fmla="*/ 164 w 186"/>
                <a:gd name="T71" fmla="*/ 59 h 152"/>
                <a:gd name="T72" fmla="*/ 153 w 186"/>
                <a:gd name="T73" fmla="*/ 20 h 152"/>
                <a:gd name="T74" fmla="*/ 131 w 186"/>
                <a:gd name="T75" fmla="*/ 18 h 152"/>
                <a:gd name="T76" fmla="*/ 134 w 186"/>
                <a:gd name="T77" fmla="*/ 26 h 152"/>
                <a:gd name="T78" fmla="*/ 149 w 186"/>
                <a:gd name="T79" fmla="*/ 27 h 152"/>
                <a:gd name="T80" fmla="*/ 159 w 186"/>
                <a:gd name="T81" fmla="*/ 39 h 152"/>
                <a:gd name="T82" fmla="*/ 156 w 186"/>
                <a:gd name="T83" fmla="*/ 61 h 152"/>
                <a:gd name="T84" fmla="*/ 157 w 186"/>
                <a:gd name="T85" fmla="*/ 69 h 152"/>
                <a:gd name="T86" fmla="*/ 150 w 186"/>
                <a:gd name="T87" fmla="*/ 91 h 152"/>
                <a:gd name="T88" fmla="*/ 177 w 186"/>
                <a:gd name="T89" fmla="*/ 126 h 152"/>
                <a:gd name="T90" fmla="*/ 163 w 186"/>
                <a:gd name="T91" fmla="*/ 135 h 152"/>
                <a:gd name="T92" fmla="*/ 186 w 186"/>
                <a:gd name="T93" fmla="*/ 13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6" h="152">
                  <a:moveTo>
                    <a:pt x="126" y="115"/>
                  </a:moveTo>
                  <a:cubicBezTo>
                    <a:pt x="126" y="115"/>
                    <a:pt x="111" y="111"/>
                    <a:pt x="111" y="95"/>
                  </a:cubicBezTo>
                  <a:cubicBezTo>
                    <a:pt x="111" y="81"/>
                    <a:pt x="117" y="76"/>
                    <a:pt x="120" y="73"/>
                  </a:cubicBezTo>
                  <a:cubicBezTo>
                    <a:pt x="120" y="73"/>
                    <a:pt x="125" y="69"/>
                    <a:pt x="122" y="55"/>
                  </a:cubicBezTo>
                  <a:cubicBezTo>
                    <a:pt x="127" y="47"/>
                    <a:pt x="129" y="35"/>
                    <a:pt x="122" y="19"/>
                  </a:cubicBezTo>
                  <a:cubicBezTo>
                    <a:pt x="118" y="10"/>
                    <a:pt x="115" y="5"/>
                    <a:pt x="110" y="3"/>
                  </a:cubicBezTo>
                  <a:cubicBezTo>
                    <a:pt x="106" y="0"/>
                    <a:pt x="102" y="0"/>
                    <a:pt x="98" y="0"/>
                  </a:cubicBezTo>
                  <a:cubicBezTo>
                    <a:pt x="90" y="0"/>
                    <a:pt x="83" y="2"/>
                    <a:pt x="80" y="4"/>
                  </a:cubicBezTo>
                  <a:cubicBezTo>
                    <a:pt x="72" y="8"/>
                    <a:pt x="66" y="12"/>
                    <a:pt x="61" y="25"/>
                  </a:cubicBezTo>
                  <a:cubicBezTo>
                    <a:pt x="56" y="36"/>
                    <a:pt x="62" y="48"/>
                    <a:pt x="64" y="54"/>
                  </a:cubicBezTo>
                  <a:cubicBezTo>
                    <a:pt x="61" y="68"/>
                    <a:pt x="66" y="73"/>
                    <a:pt x="66" y="73"/>
                  </a:cubicBezTo>
                  <a:cubicBezTo>
                    <a:pt x="68" y="76"/>
                    <a:pt x="74" y="81"/>
                    <a:pt x="74" y="95"/>
                  </a:cubicBezTo>
                  <a:cubicBezTo>
                    <a:pt x="74" y="111"/>
                    <a:pt x="59" y="115"/>
                    <a:pt x="59" y="115"/>
                  </a:cubicBezTo>
                  <a:cubicBezTo>
                    <a:pt x="50" y="118"/>
                    <a:pt x="29" y="125"/>
                    <a:pt x="29" y="147"/>
                  </a:cubicBezTo>
                  <a:cubicBezTo>
                    <a:pt x="29" y="147"/>
                    <a:pt x="29" y="152"/>
                    <a:pt x="34" y="152"/>
                  </a:cubicBezTo>
                  <a:cubicBezTo>
                    <a:pt x="152" y="152"/>
                    <a:pt x="152" y="152"/>
                    <a:pt x="152" y="152"/>
                  </a:cubicBezTo>
                  <a:cubicBezTo>
                    <a:pt x="156" y="152"/>
                    <a:pt x="156" y="147"/>
                    <a:pt x="156" y="147"/>
                  </a:cubicBezTo>
                  <a:cubicBezTo>
                    <a:pt x="156" y="125"/>
                    <a:pt x="136" y="118"/>
                    <a:pt x="126" y="115"/>
                  </a:cubicBezTo>
                  <a:close/>
                  <a:moveTo>
                    <a:pt x="38" y="143"/>
                  </a:moveTo>
                  <a:cubicBezTo>
                    <a:pt x="40" y="131"/>
                    <a:pt x="51" y="127"/>
                    <a:pt x="61" y="123"/>
                  </a:cubicBezTo>
                  <a:cubicBezTo>
                    <a:pt x="62" y="123"/>
                    <a:pt x="62" y="123"/>
                    <a:pt x="62" y="123"/>
                  </a:cubicBezTo>
                  <a:cubicBezTo>
                    <a:pt x="69" y="121"/>
                    <a:pt x="83" y="112"/>
                    <a:pt x="83" y="95"/>
                  </a:cubicBezTo>
                  <a:cubicBezTo>
                    <a:pt x="83" y="80"/>
                    <a:pt x="77" y="73"/>
                    <a:pt x="73" y="69"/>
                  </a:cubicBezTo>
                  <a:cubicBezTo>
                    <a:pt x="73" y="69"/>
                    <a:pt x="72" y="68"/>
                    <a:pt x="72" y="68"/>
                  </a:cubicBezTo>
                  <a:cubicBezTo>
                    <a:pt x="72" y="67"/>
                    <a:pt x="71" y="64"/>
                    <a:pt x="73" y="56"/>
                  </a:cubicBezTo>
                  <a:cubicBezTo>
                    <a:pt x="73" y="53"/>
                    <a:pt x="72" y="51"/>
                    <a:pt x="72" y="51"/>
                  </a:cubicBezTo>
                  <a:cubicBezTo>
                    <a:pt x="70" y="45"/>
                    <a:pt x="65" y="36"/>
                    <a:pt x="69" y="28"/>
                  </a:cubicBezTo>
                  <a:cubicBezTo>
                    <a:pt x="73" y="17"/>
                    <a:pt x="77" y="15"/>
                    <a:pt x="84" y="12"/>
                  </a:cubicBezTo>
                  <a:cubicBezTo>
                    <a:pt x="84" y="12"/>
                    <a:pt x="84" y="12"/>
                    <a:pt x="85" y="11"/>
                  </a:cubicBezTo>
                  <a:cubicBezTo>
                    <a:pt x="86" y="10"/>
                    <a:pt x="92" y="8"/>
                    <a:pt x="98" y="8"/>
                  </a:cubicBezTo>
                  <a:cubicBezTo>
                    <a:pt x="101" y="8"/>
                    <a:pt x="104" y="9"/>
                    <a:pt x="106" y="10"/>
                  </a:cubicBezTo>
                  <a:cubicBezTo>
                    <a:pt x="108" y="11"/>
                    <a:pt x="111" y="14"/>
                    <a:pt x="114" y="23"/>
                  </a:cubicBezTo>
                  <a:cubicBezTo>
                    <a:pt x="121" y="38"/>
                    <a:pt x="117" y="47"/>
                    <a:pt x="115" y="50"/>
                  </a:cubicBezTo>
                  <a:cubicBezTo>
                    <a:pt x="113" y="52"/>
                    <a:pt x="113" y="54"/>
                    <a:pt x="113" y="57"/>
                  </a:cubicBezTo>
                  <a:cubicBezTo>
                    <a:pt x="115" y="64"/>
                    <a:pt x="114" y="67"/>
                    <a:pt x="114" y="67"/>
                  </a:cubicBezTo>
                  <a:cubicBezTo>
                    <a:pt x="114" y="67"/>
                    <a:pt x="113" y="69"/>
                    <a:pt x="112" y="69"/>
                  </a:cubicBezTo>
                  <a:cubicBezTo>
                    <a:pt x="109" y="73"/>
                    <a:pt x="103" y="80"/>
                    <a:pt x="103" y="95"/>
                  </a:cubicBezTo>
                  <a:cubicBezTo>
                    <a:pt x="103" y="112"/>
                    <a:pt x="116" y="121"/>
                    <a:pt x="124" y="123"/>
                  </a:cubicBezTo>
                  <a:cubicBezTo>
                    <a:pt x="124" y="123"/>
                    <a:pt x="124" y="123"/>
                    <a:pt x="124" y="123"/>
                  </a:cubicBezTo>
                  <a:cubicBezTo>
                    <a:pt x="135" y="127"/>
                    <a:pt x="145" y="131"/>
                    <a:pt x="147" y="143"/>
                  </a:cubicBezTo>
                  <a:lnTo>
                    <a:pt x="38" y="143"/>
                  </a:lnTo>
                  <a:close/>
                  <a:moveTo>
                    <a:pt x="20" y="113"/>
                  </a:moveTo>
                  <a:cubicBezTo>
                    <a:pt x="26" y="112"/>
                    <a:pt x="36" y="105"/>
                    <a:pt x="36" y="91"/>
                  </a:cubicBezTo>
                  <a:cubicBezTo>
                    <a:pt x="36" y="78"/>
                    <a:pt x="32" y="72"/>
                    <a:pt x="29" y="69"/>
                  </a:cubicBezTo>
                  <a:cubicBezTo>
                    <a:pt x="29" y="69"/>
                    <a:pt x="29" y="69"/>
                    <a:pt x="29" y="69"/>
                  </a:cubicBezTo>
                  <a:cubicBezTo>
                    <a:pt x="29" y="69"/>
                    <a:pt x="29" y="69"/>
                    <a:pt x="29" y="68"/>
                  </a:cubicBezTo>
                  <a:cubicBezTo>
                    <a:pt x="29" y="68"/>
                    <a:pt x="28" y="66"/>
                    <a:pt x="29" y="61"/>
                  </a:cubicBezTo>
                  <a:cubicBezTo>
                    <a:pt x="30" y="59"/>
                    <a:pt x="29" y="57"/>
                    <a:pt x="29" y="55"/>
                  </a:cubicBezTo>
                  <a:cubicBezTo>
                    <a:pt x="27" y="52"/>
                    <a:pt x="24" y="45"/>
                    <a:pt x="26" y="39"/>
                  </a:cubicBezTo>
                  <a:cubicBezTo>
                    <a:pt x="30" y="30"/>
                    <a:pt x="31" y="30"/>
                    <a:pt x="35" y="28"/>
                  </a:cubicBezTo>
                  <a:cubicBezTo>
                    <a:pt x="36" y="28"/>
                    <a:pt x="36" y="27"/>
                    <a:pt x="37" y="27"/>
                  </a:cubicBezTo>
                  <a:cubicBezTo>
                    <a:pt x="38" y="27"/>
                    <a:pt x="42" y="25"/>
                    <a:pt x="46" y="25"/>
                  </a:cubicBezTo>
                  <a:cubicBezTo>
                    <a:pt x="48" y="25"/>
                    <a:pt x="50" y="25"/>
                    <a:pt x="52" y="26"/>
                  </a:cubicBezTo>
                  <a:cubicBezTo>
                    <a:pt x="52" y="25"/>
                    <a:pt x="52" y="23"/>
                    <a:pt x="53" y="22"/>
                  </a:cubicBezTo>
                  <a:cubicBezTo>
                    <a:pt x="53" y="20"/>
                    <a:pt x="54" y="19"/>
                    <a:pt x="55" y="18"/>
                  </a:cubicBezTo>
                  <a:cubicBezTo>
                    <a:pt x="52" y="17"/>
                    <a:pt x="49" y="17"/>
                    <a:pt x="46" y="17"/>
                  </a:cubicBezTo>
                  <a:cubicBezTo>
                    <a:pt x="40" y="17"/>
                    <a:pt x="34" y="19"/>
                    <a:pt x="32" y="20"/>
                  </a:cubicBezTo>
                  <a:cubicBezTo>
                    <a:pt x="25" y="23"/>
                    <a:pt x="22" y="26"/>
                    <a:pt x="18" y="36"/>
                  </a:cubicBezTo>
                  <a:cubicBezTo>
                    <a:pt x="15" y="45"/>
                    <a:pt x="19" y="54"/>
                    <a:pt x="21" y="59"/>
                  </a:cubicBezTo>
                  <a:cubicBezTo>
                    <a:pt x="18" y="70"/>
                    <a:pt x="22" y="74"/>
                    <a:pt x="22" y="74"/>
                  </a:cubicBezTo>
                  <a:cubicBezTo>
                    <a:pt x="24" y="76"/>
                    <a:pt x="27" y="80"/>
                    <a:pt x="27" y="91"/>
                  </a:cubicBezTo>
                  <a:cubicBezTo>
                    <a:pt x="27" y="103"/>
                    <a:pt x="18" y="105"/>
                    <a:pt x="18" y="105"/>
                  </a:cubicBezTo>
                  <a:cubicBezTo>
                    <a:pt x="10" y="108"/>
                    <a:pt x="0" y="114"/>
                    <a:pt x="0" y="130"/>
                  </a:cubicBezTo>
                  <a:cubicBezTo>
                    <a:pt x="0" y="130"/>
                    <a:pt x="0" y="135"/>
                    <a:pt x="4" y="135"/>
                  </a:cubicBezTo>
                  <a:cubicBezTo>
                    <a:pt x="23" y="135"/>
                    <a:pt x="23" y="135"/>
                    <a:pt x="23" y="135"/>
                  </a:cubicBezTo>
                  <a:cubicBezTo>
                    <a:pt x="24" y="132"/>
                    <a:pt x="25" y="129"/>
                    <a:pt x="27" y="126"/>
                  </a:cubicBezTo>
                  <a:cubicBezTo>
                    <a:pt x="9" y="126"/>
                    <a:pt x="9" y="126"/>
                    <a:pt x="9" y="126"/>
                  </a:cubicBezTo>
                  <a:cubicBezTo>
                    <a:pt x="10" y="118"/>
                    <a:pt x="15" y="115"/>
                    <a:pt x="20" y="113"/>
                  </a:cubicBezTo>
                  <a:close/>
                  <a:moveTo>
                    <a:pt x="168" y="105"/>
                  </a:moveTo>
                  <a:cubicBezTo>
                    <a:pt x="168" y="105"/>
                    <a:pt x="158" y="103"/>
                    <a:pt x="158" y="91"/>
                  </a:cubicBezTo>
                  <a:cubicBezTo>
                    <a:pt x="158" y="80"/>
                    <a:pt x="161" y="76"/>
                    <a:pt x="163" y="74"/>
                  </a:cubicBezTo>
                  <a:cubicBezTo>
                    <a:pt x="163" y="74"/>
                    <a:pt x="167" y="70"/>
                    <a:pt x="164" y="59"/>
                  </a:cubicBezTo>
                  <a:cubicBezTo>
                    <a:pt x="167" y="54"/>
                    <a:pt x="171" y="45"/>
                    <a:pt x="167" y="36"/>
                  </a:cubicBezTo>
                  <a:cubicBezTo>
                    <a:pt x="163" y="26"/>
                    <a:pt x="160" y="23"/>
                    <a:pt x="153" y="20"/>
                  </a:cubicBezTo>
                  <a:cubicBezTo>
                    <a:pt x="151" y="19"/>
                    <a:pt x="145" y="17"/>
                    <a:pt x="139" y="17"/>
                  </a:cubicBezTo>
                  <a:cubicBezTo>
                    <a:pt x="136" y="17"/>
                    <a:pt x="133" y="17"/>
                    <a:pt x="131" y="18"/>
                  </a:cubicBezTo>
                  <a:cubicBezTo>
                    <a:pt x="132" y="21"/>
                    <a:pt x="133" y="24"/>
                    <a:pt x="133" y="26"/>
                  </a:cubicBezTo>
                  <a:cubicBezTo>
                    <a:pt x="133" y="26"/>
                    <a:pt x="134" y="26"/>
                    <a:pt x="134" y="26"/>
                  </a:cubicBezTo>
                  <a:cubicBezTo>
                    <a:pt x="135" y="25"/>
                    <a:pt x="137" y="25"/>
                    <a:pt x="139" y="25"/>
                  </a:cubicBezTo>
                  <a:cubicBezTo>
                    <a:pt x="144" y="25"/>
                    <a:pt x="148" y="27"/>
                    <a:pt x="149" y="27"/>
                  </a:cubicBezTo>
                  <a:cubicBezTo>
                    <a:pt x="149" y="27"/>
                    <a:pt x="150" y="28"/>
                    <a:pt x="150" y="28"/>
                  </a:cubicBezTo>
                  <a:cubicBezTo>
                    <a:pt x="154" y="30"/>
                    <a:pt x="156" y="30"/>
                    <a:pt x="159" y="39"/>
                  </a:cubicBezTo>
                  <a:cubicBezTo>
                    <a:pt x="162" y="45"/>
                    <a:pt x="159" y="52"/>
                    <a:pt x="157" y="55"/>
                  </a:cubicBezTo>
                  <a:cubicBezTo>
                    <a:pt x="156" y="57"/>
                    <a:pt x="156" y="59"/>
                    <a:pt x="156" y="61"/>
                  </a:cubicBezTo>
                  <a:cubicBezTo>
                    <a:pt x="157" y="66"/>
                    <a:pt x="157" y="68"/>
                    <a:pt x="157" y="68"/>
                  </a:cubicBezTo>
                  <a:cubicBezTo>
                    <a:pt x="157" y="69"/>
                    <a:pt x="157" y="69"/>
                    <a:pt x="157" y="69"/>
                  </a:cubicBezTo>
                  <a:cubicBezTo>
                    <a:pt x="156" y="69"/>
                    <a:pt x="156" y="69"/>
                    <a:pt x="156" y="69"/>
                  </a:cubicBezTo>
                  <a:cubicBezTo>
                    <a:pt x="154" y="72"/>
                    <a:pt x="150" y="78"/>
                    <a:pt x="150" y="91"/>
                  </a:cubicBezTo>
                  <a:cubicBezTo>
                    <a:pt x="150" y="105"/>
                    <a:pt x="160" y="112"/>
                    <a:pt x="165" y="113"/>
                  </a:cubicBezTo>
                  <a:cubicBezTo>
                    <a:pt x="171" y="115"/>
                    <a:pt x="176" y="118"/>
                    <a:pt x="177" y="126"/>
                  </a:cubicBezTo>
                  <a:cubicBezTo>
                    <a:pt x="159" y="126"/>
                    <a:pt x="159" y="126"/>
                    <a:pt x="159" y="126"/>
                  </a:cubicBezTo>
                  <a:cubicBezTo>
                    <a:pt x="160" y="129"/>
                    <a:pt x="162" y="132"/>
                    <a:pt x="163" y="135"/>
                  </a:cubicBezTo>
                  <a:cubicBezTo>
                    <a:pt x="181" y="135"/>
                    <a:pt x="181" y="135"/>
                    <a:pt x="181" y="135"/>
                  </a:cubicBezTo>
                  <a:cubicBezTo>
                    <a:pt x="186" y="135"/>
                    <a:pt x="186" y="130"/>
                    <a:pt x="186" y="130"/>
                  </a:cubicBezTo>
                  <a:cubicBezTo>
                    <a:pt x="186" y="114"/>
                    <a:pt x="175" y="108"/>
                    <a:pt x="168" y="105"/>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p>
          </p:txBody>
        </p:sp>
      </p:grpSp>
      <p:sp>
        <p:nvSpPr>
          <p:cNvPr id="85" name="84 Rectángulo"/>
          <p:cNvSpPr/>
          <p:nvPr>
            <p:custDataLst>
              <p:tags r:id="rId2"/>
            </p:custDataLst>
          </p:nvPr>
        </p:nvSpPr>
        <p:spPr>
          <a:xfrm>
            <a:off x="3682916" y="4088472"/>
            <a:ext cx="854965" cy="507763"/>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1050" kern="0" dirty="0">
                <a:solidFill>
                  <a:srgbClr val="FFFFFF"/>
                </a:solidFill>
                <a:latin typeface="Avenir 35" panose="00000400000000000000" pitchFamily="2" charset="0"/>
              </a:rPr>
              <a:t>Data Adquisition</a:t>
            </a:r>
          </a:p>
        </p:txBody>
      </p:sp>
      <p:sp>
        <p:nvSpPr>
          <p:cNvPr id="89" name="88 Rectángulo"/>
          <p:cNvSpPr/>
          <p:nvPr>
            <p:custDataLst>
              <p:tags r:id="rId3"/>
            </p:custDataLst>
          </p:nvPr>
        </p:nvSpPr>
        <p:spPr>
          <a:xfrm>
            <a:off x="4973876" y="2826672"/>
            <a:ext cx="1558648" cy="349755"/>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1200" kern="0" dirty="0">
                <a:solidFill>
                  <a:srgbClr val="FFFFFF"/>
                </a:solidFill>
                <a:latin typeface="Avenir 35" panose="00000400000000000000" pitchFamily="2" charset="0"/>
              </a:rPr>
              <a:t>Data Management</a:t>
            </a:r>
          </a:p>
        </p:txBody>
      </p:sp>
      <p:sp>
        <p:nvSpPr>
          <p:cNvPr id="90" name="89 Elipse"/>
          <p:cNvSpPr/>
          <p:nvPr/>
        </p:nvSpPr>
        <p:spPr>
          <a:xfrm>
            <a:off x="7222337" y="2703985"/>
            <a:ext cx="540000" cy="544450"/>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sp>
        <p:nvSpPr>
          <p:cNvPr id="91" name="Freeform 154"/>
          <p:cNvSpPr>
            <a:spLocks noEditPoints="1"/>
          </p:cNvSpPr>
          <p:nvPr/>
        </p:nvSpPr>
        <p:spPr bwMode="auto">
          <a:xfrm>
            <a:off x="7343515" y="2852558"/>
            <a:ext cx="283829" cy="231765"/>
          </a:xfrm>
          <a:custGeom>
            <a:avLst/>
            <a:gdLst>
              <a:gd name="T0" fmla="*/ 111 w 186"/>
              <a:gd name="T1" fmla="*/ 95 h 152"/>
              <a:gd name="T2" fmla="*/ 122 w 186"/>
              <a:gd name="T3" fmla="*/ 55 h 152"/>
              <a:gd name="T4" fmla="*/ 110 w 186"/>
              <a:gd name="T5" fmla="*/ 3 h 152"/>
              <a:gd name="T6" fmla="*/ 80 w 186"/>
              <a:gd name="T7" fmla="*/ 4 h 152"/>
              <a:gd name="T8" fmla="*/ 64 w 186"/>
              <a:gd name="T9" fmla="*/ 54 h 152"/>
              <a:gd name="T10" fmla="*/ 74 w 186"/>
              <a:gd name="T11" fmla="*/ 95 h 152"/>
              <a:gd name="T12" fmla="*/ 29 w 186"/>
              <a:gd name="T13" fmla="*/ 147 h 152"/>
              <a:gd name="T14" fmla="*/ 152 w 186"/>
              <a:gd name="T15" fmla="*/ 152 h 152"/>
              <a:gd name="T16" fmla="*/ 126 w 186"/>
              <a:gd name="T17" fmla="*/ 115 h 152"/>
              <a:gd name="T18" fmla="*/ 61 w 186"/>
              <a:gd name="T19" fmla="*/ 123 h 152"/>
              <a:gd name="T20" fmla="*/ 83 w 186"/>
              <a:gd name="T21" fmla="*/ 95 h 152"/>
              <a:gd name="T22" fmla="*/ 72 w 186"/>
              <a:gd name="T23" fmla="*/ 68 h 152"/>
              <a:gd name="T24" fmla="*/ 72 w 186"/>
              <a:gd name="T25" fmla="*/ 51 h 152"/>
              <a:gd name="T26" fmla="*/ 84 w 186"/>
              <a:gd name="T27" fmla="*/ 12 h 152"/>
              <a:gd name="T28" fmla="*/ 98 w 186"/>
              <a:gd name="T29" fmla="*/ 8 h 152"/>
              <a:gd name="T30" fmla="*/ 114 w 186"/>
              <a:gd name="T31" fmla="*/ 23 h 152"/>
              <a:gd name="T32" fmla="*/ 113 w 186"/>
              <a:gd name="T33" fmla="*/ 57 h 152"/>
              <a:gd name="T34" fmla="*/ 112 w 186"/>
              <a:gd name="T35" fmla="*/ 69 h 152"/>
              <a:gd name="T36" fmla="*/ 124 w 186"/>
              <a:gd name="T37" fmla="*/ 123 h 152"/>
              <a:gd name="T38" fmla="*/ 147 w 186"/>
              <a:gd name="T39" fmla="*/ 143 h 152"/>
              <a:gd name="T40" fmla="*/ 20 w 186"/>
              <a:gd name="T41" fmla="*/ 113 h 152"/>
              <a:gd name="T42" fmla="*/ 29 w 186"/>
              <a:gd name="T43" fmla="*/ 69 h 152"/>
              <a:gd name="T44" fmla="*/ 29 w 186"/>
              <a:gd name="T45" fmla="*/ 68 h 152"/>
              <a:gd name="T46" fmla="*/ 29 w 186"/>
              <a:gd name="T47" fmla="*/ 55 h 152"/>
              <a:gd name="T48" fmla="*/ 35 w 186"/>
              <a:gd name="T49" fmla="*/ 28 h 152"/>
              <a:gd name="T50" fmla="*/ 46 w 186"/>
              <a:gd name="T51" fmla="*/ 25 h 152"/>
              <a:gd name="T52" fmla="*/ 53 w 186"/>
              <a:gd name="T53" fmla="*/ 22 h 152"/>
              <a:gd name="T54" fmla="*/ 46 w 186"/>
              <a:gd name="T55" fmla="*/ 17 h 152"/>
              <a:gd name="T56" fmla="*/ 18 w 186"/>
              <a:gd name="T57" fmla="*/ 36 h 152"/>
              <a:gd name="T58" fmla="*/ 22 w 186"/>
              <a:gd name="T59" fmla="*/ 74 h 152"/>
              <a:gd name="T60" fmla="*/ 18 w 186"/>
              <a:gd name="T61" fmla="*/ 105 h 152"/>
              <a:gd name="T62" fmla="*/ 4 w 186"/>
              <a:gd name="T63" fmla="*/ 135 h 152"/>
              <a:gd name="T64" fmla="*/ 27 w 186"/>
              <a:gd name="T65" fmla="*/ 126 h 152"/>
              <a:gd name="T66" fmla="*/ 20 w 186"/>
              <a:gd name="T67" fmla="*/ 113 h 152"/>
              <a:gd name="T68" fmla="*/ 158 w 186"/>
              <a:gd name="T69" fmla="*/ 91 h 152"/>
              <a:gd name="T70" fmla="*/ 164 w 186"/>
              <a:gd name="T71" fmla="*/ 59 h 152"/>
              <a:gd name="T72" fmla="*/ 153 w 186"/>
              <a:gd name="T73" fmla="*/ 20 h 152"/>
              <a:gd name="T74" fmla="*/ 131 w 186"/>
              <a:gd name="T75" fmla="*/ 18 h 152"/>
              <a:gd name="T76" fmla="*/ 134 w 186"/>
              <a:gd name="T77" fmla="*/ 26 h 152"/>
              <a:gd name="T78" fmla="*/ 149 w 186"/>
              <a:gd name="T79" fmla="*/ 27 h 152"/>
              <a:gd name="T80" fmla="*/ 159 w 186"/>
              <a:gd name="T81" fmla="*/ 39 h 152"/>
              <a:gd name="T82" fmla="*/ 156 w 186"/>
              <a:gd name="T83" fmla="*/ 61 h 152"/>
              <a:gd name="T84" fmla="*/ 157 w 186"/>
              <a:gd name="T85" fmla="*/ 69 h 152"/>
              <a:gd name="T86" fmla="*/ 150 w 186"/>
              <a:gd name="T87" fmla="*/ 91 h 152"/>
              <a:gd name="T88" fmla="*/ 177 w 186"/>
              <a:gd name="T89" fmla="*/ 126 h 152"/>
              <a:gd name="T90" fmla="*/ 163 w 186"/>
              <a:gd name="T91" fmla="*/ 135 h 152"/>
              <a:gd name="T92" fmla="*/ 186 w 186"/>
              <a:gd name="T93" fmla="*/ 13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6" h="152">
                <a:moveTo>
                  <a:pt x="126" y="115"/>
                </a:moveTo>
                <a:cubicBezTo>
                  <a:pt x="126" y="115"/>
                  <a:pt x="111" y="111"/>
                  <a:pt x="111" y="95"/>
                </a:cubicBezTo>
                <a:cubicBezTo>
                  <a:pt x="111" y="81"/>
                  <a:pt x="117" y="76"/>
                  <a:pt x="120" y="73"/>
                </a:cubicBezTo>
                <a:cubicBezTo>
                  <a:pt x="120" y="73"/>
                  <a:pt x="125" y="69"/>
                  <a:pt x="122" y="55"/>
                </a:cubicBezTo>
                <a:cubicBezTo>
                  <a:pt x="127" y="47"/>
                  <a:pt x="129" y="35"/>
                  <a:pt x="122" y="19"/>
                </a:cubicBezTo>
                <a:cubicBezTo>
                  <a:pt x="118" y="10"/>
                  <a:pt x="115" y="5"/>
                  <a:pt x="110" y="3"/>
                </a:cubicBezTo>
                <a:cubicBezTo>
                  <a:pt x="106" y="0"/>
                  <a:pt x="102" y="0"/>
                  <a:pt x="98" y="0"/>
                </a:cubicBezTo>
                <a:cubicBezTo>
                  <a:pt x="90" y="0"/>
                  <a:pt x="83" y="2"/>
                  <a:pt x="80" y="4"/>
                </a:cubicBezTo>
                <a:cubicBezTo>
                  <a:pt x="72" y="8"/>
                  <a:pt x="66" y="12"/>
                  <a:pt x="61" y="25"/>
                </a:cubicBezTo>
                <a:cubicBezTo>
                  <a:pt x="56" y="36"/>
                  <a:pt x="62" y="48"/>
                  <a:pt x="64" y="54"/>
                </a:cubicBezTo>
                <a:cubicBezTo>
                  <a:pt x="61" y="68"/>
                  <a:pt x="66" y="73"/>
                  <a:pt x="66" y="73"/>
                </a:cubicBezTo>
                <a:cubicBezTo>
                  <a:pt x="68" y="76"/>
                  <a:pt x="74" y="81"/>
                  <a:pt x="74" y="95"/>
                </a:cubicBezTo>
                <a:cubicBezTo>
                  <a:pt x="74" y="111"/>
                  <a:pt x="59" y="115"/>
                  <a:pt x="59" y="115"/>
                </a:cubicBezTo>
                <a:cubicBezTo>
                  <a:pt x="50" y="118"/>
                  <a:pt x="29" y="125"/>
                  <a:pt x="29" y="147"/>
                </a:cubicBezTo>
                <a:cubicBezTo>
                  <a:pt x="29" y="147"/>
                  <a:pt x="29" y="152"/>
                  <a:pt x="34" y="152"/>
                </a:cubicBezTo>
                <a:cubicBezTo>
                  <a:pt x="152" y="152"/>
                  <a:pt x="152" y="152"/>
                  <a:pt x="152" y="152"/>
                </a:cubicBezTo>
                <a:cubicBezTo>
                  <a:pt x="156" y="152"/>
                  <a:pt x="156" y="147"/>
                  <a:pt x="156" y="147"/>
                </a:cubicBezTo>
                <a:cubicBezTo>
                  <a:pt x="156" y="125"/>
                  <a:pt x="136" y="118"/>
                  <a:pt x="126" y="115"/>
                </a:cubicBezTo>
                <a:close/>
                <a:moveTo>
                  <a:pt x="38" y="143"/>
                </a:moveTo>
                <a:cubicBezTo>
                  <a:pt x="40" y="131"/>
                  <a:pt x="51" y="127"/>
                  <a:pt x="61" y="123"/>
                </a:cubicBezTo>
                <a:cubicBezTo>
                  <a:pt x="62" y="123"/>
                  <a:pt x="62" y="123"/>
                  <a:pt x="62" y="123"/>
                </a:cubicBezTo>
                <a:cubicBezTo>
                  <a:pt x="69" y="121"/>
                  <a:pt x="83" y="112"/>
                  <a:pt x="83" y="95"/>
                </a:cubicBezTo>
                <a:cubicBezTo>
                  <a:pt x="83" y="80"/>
                  <a:pt x="77" y="73"/>
                  <a:pt x="73" y="69"/>
                </a:cubicBezTo>
                <a:cubicBezTo>
                  <a:pt x="73" y="69"/>
                  <a:pt x="72" y="68"/>
                  <a:pt x="72" y="68"/>
                </a:cubicBezTo>
                <a:cubicBezTo>
                  <a:pt x="72" y="67"/>
                  <a:pt x="71" y="64"/>
                  <a:pt x="73" y="56"/>
                </a:cubicBezTo>
                <a:cubicBezTo>
                  <a:pt x="73" y="53"/>
                  <a:pt x="72" y="51"/>
                  <a:pt x="72" y="51"/>
                </a:cubicBezTo>
                <a:cubicBezTo>
                  <a:pt x="70" y="45"/>
                  <a:pt x="65" y="36"/>
                  <a:pt x="69" y="28"/>
                </a:cubicBezTo>
                <a:cubicBezTo>
                  <a:pt x="73" y="17"/>
                  <a:pt x="77" y="15"/>
                  <a:pt x="84" y="12"/>
                </a:cubicBezTo>
                <a:cubicBezTo>
                  <a:pt x="84" y="12"/>
                  <a:pt x="84" y="12"/>
                  <a:pt x="85" y="11"/>
                </a:cubicBezTo>
                <a:cubicBezTo>
                  <a:pt x="86" y="10"/>
                  <a:pt x="92" y="8"/>
                  <a:pt x="98" y="8"/>
                </a:cubicBezTo>
                <a:cubicBezTo>
                  <a:pt x="101" y="8"/>
                  <a:pt x="104" y="9"/>
                  <a:pt x="106" y="10"/>
                </a:cubicBezTo>
                <a:cubicBezTo>
                  <a:pt x="108" y="11"/>
                  <a:pt x="111" y="14"/>
                  <a:pt x="114" y="23"/>
                </a:cubicBezTo>
                <a:cubicBezTo>
                  <a:pt x="121" y="38"/>
                  <a:pt x="117" y="47"/>
                  <a:pt x="115" y="50"/>
                </a:cubicBezTo>
                <a:cubicBezTo>
                  <a:pt x="113" y="52"/>
                  <a:pt x="113" y="54"/>
                  <a:pt x="113" y="57"/>
                </a:cubicBezTo>
                <a:cubicBezTo>
                  <a:pt x="115" y="64"/>
                  <a:pt x="114" y="67"/>
                  <a:pt x="114" y="67"/>
                </a:cubicBezTo>
                <a:cubicBezTo>
                  <a:pt x="114" y="67"/>
                  <a:pt x="113" y="69"/>
                  <a:pt x="112" y="69"/>
                </a:cubicBezTo>
                <a:cubicBezTo>
                  <a:pt x="109" y="73"/>
                  <a:pt x="103" y="80"/>
                  <a:pt x="103" y="95"/>
                </a:cubicBezTo>
                <a:cubicBezTo>
                  <a:pt x="103" y="112"/>
                  <a:pt x="116" y="121"/>
                  <a:pt x="124" y="123"/>
                </a:cubicBezTo>
                <a:cubicBezTo>
                  <a:pt x="124" y="123"/>
                  <a:pt x="124" y="123"/>
                  <a:pt x="124" y="123"/>
                </a:cubicBezTo>
                <a:cubicBezTo>
                  <a:pt x="135" y="127"/>
                  <a:pt x="145" y="131"/>
                  <a:pt x="147" y="143"/>
                </a:cubicBezTo>
                <a:lnTo>
                  <a:pt x="38" y="143"/>
                </a:lnTo>
                <a:close/>
                <a:moveTo>
                  <a:pt x="20" y="113"/>
                </a:moveTo>
                <a:cubicBezTo>
                  <a:pt x="26" y="112"/>
                  <a:pt x="36" y="105"/>
                  <a:pt x="36" y="91"/>
                </a:cubicBezTo>
                <a:cubicBezTo>
                  <a:pt x="36" y="78"/>
                  <a:pt x="32" y="72"/>
                  <a:pt x="29" y="69"/>
                </a:cubicBezTo>
                <a:cubicBezTo>
                  <a:pt x="29" y="69"/>
                  <a:pt x="29" y="69"/>
                  <a:pt x="29" y="69"/>
                </a:cubicBezTo>
                <a:cubicBezTo>
                  <a:pt x="29" y="69"/>
                  <a:pt x="29" y="69"/>
                  <a:pt x="29" y="68"/>
                </a:cubicBezTo>
                <a:cubicBezTo>
                  <a:pt x="29" y="68"/>
                  <a:pt x="28" y="66"/>
                  <a:pt x="29" y="61"/>
                </a:cubicBezTo>
                <a:cubicBezTo>
                  <a:pt x="30" y="59"/>
                  <a:pt x="29" y="57"/>
                  <a:pt x="29" y="55"/>
                </a:cubicBezTo>
                <a:cubicBezTo>
                  <a:pt x="27" y="52"/>
                  <a:pt x="24" y="45"/>
                  <a:pt x="26" y="39"/>
                </a:cubicBezTo>
                <a:cubicBezTo>
                  <a:pt x="30" y="30"/>
                  <a:pt x="31" y="30"/>
                  <a:pt x="35" y="28"/>
                </a:cubicBezTo>
                <a:cubicBezTo>
                  <a:pt x="36" y="28"/>
                  <a:pt x="36" y="27"/>
                  <a:pt x="37" y="27"/>
                </a:cubicBezTo>
                <a:cubicBezTo>
                  <a:pt x="38" y="27"/>
                  <a:pt x="42" y="25"/>
                  <a:pt x="46" y="25"/>
                </a:cubicBezTo>
                <a:cubicBezTo>
                  <a:pt x="48" y="25"/>
                  <a:pt x="50" y="25"/>
                  <a:pt x="52" y="26"/>
                </a:cubicBezTo>
                <a:cubicBezTo>
                  <a:pt x="52" y="25"/>
                  <a:pt x="52" y="23"/>
                  <a:pt x="53" y="22"/>
                </a:cubicBezTo>
                <a:cubicBezTo>
                  <a:pt x="53" y="20"/>
                  <a:pt x="54" y="19"/>
                  <a:pt x="55" y="18"/>
                </a:cubicBezTo>
                <a:cubicBezTo>
                  <a:pt x="52" y="17"/>
                  <a:pt x="49" y="17"/>
                  <a:pt x="46" y="17"/>
                </a:cubicBezTo>
                <a:cubicBezTo>
                  <a:pt x="40" y="17"/>
                  <a:pt x="34" y="19"/>
                  <a:pt x="32" y="20"/>
                </a:cubicBezTo>
                <a:cubicBezTo>
                  <a:pt x="25" y="23"/>
                  <a:pt x="22" y="26"/>
                  <a:pt x="18" y="36"/>
                </a:cubicBezTo>
                <a:cubicBezTo>
                  <a:pt x="15" y="45"/>
                  <a:pt x="19" y="54"/>
                  <a:pt x="21" y="59"/>
                </a:cubicBezTo>
                <a:cubicBezTo>
                  <a:pt x="18" y="70"/>
                  <a:pt x="22" y="74"/>
                  <a:pt x="22" y="74"/>
                </a:cubicBezTo>
                <a:cubicBezTo>
                  <a:pt x="24" y="76"/>
                  <a:pt x="27" y="80"/>
                  <a:pt x="27" y="91"/>
                </a:cubicBezTo>
                <a:cubicBezTo>
                  <a:pt x="27" y="103"/>
                  <a:pt x="18" y="105"/>
                  <a:pt x="18" y="105"/>
                </a:cubicBezTo>
                <a:cubicBezTo>
                  <a:pt x="10" y="108"/>
                  <a:pt x="0" y="114"/>
                  <a:pt x="0" y="130"/>
                </a:cubicBezTo>
                <a:cubicBezTo>
                  <a:pt x="0" y="130"/>
                  <a:pt x="0" y="135"/>
                  <a:pt x="4" y="135"/>
                </a:cubicBezTo>
                <a:cubicBezTo>
                  <a:pt x="23" y="135"/>
                  <a:pt x="23" y="135"/>
                  <a:pt x="23" y="135"/>
                </a:cubicBezTo>
                <a:cubicBezTo>
                  <a:pt x="24" y="132"/>
                  <a:pt x="25" y="129"/>
                  <a:pt x="27" y="126"/>
                </a:cubicBezTo>
                <a:cubicBezTo>
                  <a:pt x="9" y="126"/>
                  <a:pt x="9" y="126"/>
                  <a:pt x="9" y="126"/>
                </a:cubicBezTo>
                <a:cubicBezTo>
                  <a:pt x="10" y="118"/>
                  <a:pt x="15" y="115"/>
                  <a:pt x="20" y="113"/>
                </a:cubicBezTo>
                <a:close/>
                <a:moveTo>
                  <a:pt x="168" y="105"/>
                </a:moveTo>
                <a:cubicBezTo>
                  <a:pt x="168" y="105"/>
                  <a:pt x="158" y="103"/>
                  <a:pt x="158" y="91"/>
                </a:cubicBezTo>
                <a:cubicBezTo>
                  <a:pt x="158" y="80"/>
                  <a:pt x="161" y="76"/>
                  <a:pt x="163" y="74"/>
                </a:cubicBezTo>
                <a:cubicBezTo>
                  <a:pt x="163" y="74"/>
                  <a:pt x="167" y="70"/>
                  <a:pt x="164" y="59"/>
                </a:cubicBezTo>
                <a:cubicBezTo>
                  <a:pt x="167" y="54"/>
                  <a:pt x="171" y="45"/>
                  <a:pt x="167" y="36"/>
                </a:cubicBezTo>
                <a:cubicBezTo>
                  <a:pt x="163" y="26"/>
                  <a:pt x="160" y="23"/>
                  <a:pt x="153" y="20"/>
                </a:cubicBezTo>
                <a:cubicBezTo>
                  <a:pt x="151" y="19"/>
                  <a:pt x="145" y="17"/>
                  <a:pt x="139" y="17"/>
                </a:cubicBezTo>
                <a:cubicBezTo>
                  <a:pt x="136" y="17"/>
                  <a:pt x="133" y="17"/>
                  <a:pt x="131" y="18"/>
                </a:cubicBezTo>
                <a:cubicBezTo>
                  <a:pt x="132" y="21"/>
                  <a:pt x="133" y="24"/>
                  <a:pt x="133" y="26"/>
                </a:cubicBezTo>
                <a:cubicBezTo>
                  <a:pt x="133" y="26"/>
                  <a:pt x="134" y="26"/>
                  <a:pt x="134" y="26"/>
                </a:cubicBezTo>
                <a:cubicBezTo>
                  <a:pt x="135" y="25"/>
                  <a:pt x="137" y="25"/>
                  <a:pt x="139" y="25"/>
                </a:cubicBezTo>
                <a:cubicBezTo>
                  <a:pt x="144" y="25"/>
                  <a:pt x="148" y="27"/>
                  <a:pt x="149" y="27"/>
                </a:cubicBezTo>
                <a:cubicBezTo>
                  <a:pt x="149" y="27"/>
                  <a:pt x="150" y="28"/>
                  <a:pt x="150" y="28"/>
                </a:cubicBezTo>
                <a:cubicBezTo>
                  <a:pt x="154" y="30"/>
                  <a:pt x="156" y="30"/>
                  <a:pt x="159" y="39"/>
                </a:cubicBezTo>
                <a:cubicBezTo>
                  <a:pt x="162" y="45"/>
                  <a:pt x="159" y="52"/>
                  <a:pt x="157" y="55"/>
                </a:cubicBezTo>
                <a:cubicBezTo>
                  <a:pt x="156" y="57"/>
                  <a:pt x="156" y="59"/>
                  <a:pt x="156" y="61"/>
                </a:cubicBezTo>
                <a:cubicBezTo>
                  <a:pt x="157" y="66"/>
                  <a:pt x="157" y="68"/>
                  <a:pt x="157" y="68"/>
                </a:cubicBezTo>
                <a:cubicBezTo>
                  <a:pt x="157" y="69"/>
                  <a:pt x="157" y="69"/>
                  <a:pt x="157" y="69"/>
                </a:cubicBezTo>
                <a:cubicBezTo>
                  <a:pt x="156" y="69"/>
                  <a:pt x="156" y="69"/>
                  <a:pt x="156" y="69"/>
                </a:cubicBezTo>
                <a:cubicBezTo>
                  <a:pt x="154" y="72"/>
                  <a:pt x="150" y="78"/>
                  <a:pt x="150" y="91"/>
                </a:cubicBezTo>
                <a:cubicBezTo>
                  <a:pt x="150" y="105"/>
                  <a:pt x="160" y="112"/>
                  <a:pt x="165" y="113"/>
                </a:cubicBezTo>
                <a:cubicBezTo>
                  <a:pt x="171" y="115"/>
                  <a:pt x="176" y="118"/>
                  <a:pt x="177" y="126"/>
                </a:cubicBezTo>
                <a:cubicBezTo>
                  <a:pt x="159" y="126"/>
                  <a:pt x="159" y="126"/>
                  <a:pt x="159" y="126"/>
                </a:cubicBezTo>
                <a:cubicBezTo>
                  <a:pt x="160" y="129"/>
                  <a:pt x="162" y="132"/>
                  <a:pt x="163" y="135"/>
                </a:cubicBezTo>
                <a:cubicBezTo>
                  <a:pt x="181" y="135"/>
                  <a:pt x="181" y="135"/>
                  <a:pt x="181" y="135"/>
                </a:cubicBezTo>
                <a:cubicBezTo>
                  <a:pt x="186" y="135"/>
                  <a:pt x="186" y="130"/>
                  <a:pt x="186" y="130"/>
                </a:cubicBezTo>
                <a:cubicBezTo>
                  <a:pt x="186" y="114"/>
                  <a:pt x="175" y="108"/>
                  <a:pt x="168" y="105"/>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97" name="Freeform 69"/>
          <p:cNvSpPr>
            <a:spLocks noEditPoints="1"/>
          </p:cNvSpPr>
          <p:nvPr/>
        </p:nvSpPr>
        <p:spPr bwMode="auto">
          <a:xfrm>
            <a:off x="7223619" y="3752491"/>
            <a:ext cx="351482" cy="449537"/>
          </a:xfrm>
          <a:custGeom>
            <a:avLst/>
            <a:gdLst>
              <a:gd name="T0" fmla="*/ 88 w 152"/>
              <a:gd name="T1" fmla="*/ 139 h 185"/>
              <a:gd name="T2" fmla="*/ 38 w 152"/>
              <a:gd name="T3" fmla="*/ 139 h 185"/>
              <a:gd name="T4" fmla="*/ 33 w 152"/>
              <a:gd name="T5" fmla="*/ 143 h 185"/>
              <a:gd name="T6" fmla="*/ 38 w 152"/>
              <a:gd name="T7" fmla="*/ 147 h 185"/>
              <a:gd name="T8" fmla="*/ 88 w 152"/>
              <a:gd name="T9" fmla="*/ 147 h 185"/>
              <a:gd name="T10" fmla="*/ 92 w 152"/>
              <a:gd name="T11" fmla="*/ 143 h 185"/>
              <a:gd name="T12" fmla="*/ 88 w 152"/>
              <a:gd name="T13" fmla="*/ 139 h 185"/>
              <a:gd name="T14" fmla="*/ 38 w 152"/>
              <a:gd name="T15" fmla="*/ 46 h 185"/>
              <a:gd name="T16" fmla="*/ 59 w 152"/>
              <a:gd name="T17" fmla="*/ 46 h 185"/>
              <a:gd name="T18" fmla="*/ 63 w 152"/>
              <a:gd name="T19" fmla="*/ 42 h 185"/>
              <a:gd name="T20" fmla="*/ 59 w 152"/>
              <a:gd name="T21" fmla="*/ 37 h 185"/>
              <a:gd name="T22" fmla="*/ 38 w 152"/>
              <a:gd name="T23" fmla="*/ 37 h 185"/>
              <a:gd name="T24" fmla="*/ 33 w 152"/>
              <a:gd name="T25" fmla="*/ 42 h 185"/>
              <a:gd name="T26" fmla="*/ 38 w 152"/>
              <a:gd name="T27" fmla="*/ 46 h 185"/>
              <a:gd name="T28" fmla="*/ 114 w 152"/>
              <a:gd name="T29" fmla="*/ 105 h 185"/>
              <a:gd name="T30" fmla="*/ 38 w 152"/>
              <a:gd name="T31" fmla="*/ 105 h 185"/>
              <a:gd name="T32" fmla="*/ 33 w 152"/>
              <a:gd name="T33" fmla="*/ 109 h 185"/>
              <a:gd name="T34" fmla="*/ 38 w 152"/>
              <a:gd name="T35" fmla="*/ 113 h 185"/>
              <a:gd name="T36" fmla="*/ 114 w 152"/>
              <a:gd name="T37" fmla="*/ 113 h 185"/>
              <a:gd name="T38" fmla="*/ 118 w 152"/>
              <a:gd name="T39" fmla="*/ 109 h 185"/>
              <a:gd name="T40" fmla="*/ 114 w 152"/>
              <a:gd name="T41" fmla="*/ 105 h 185"/>
              <a:gd name="T42" fmla="*/ 109 w 152"/>
              <a:gd name="T43" fmla="*/ 0 h 185"/>
              <a:gd name="T44" fmla="*/ 17 w 152"/>
              <a:gd name="T45" fmla="*/ 0 h 185"/>
              <a:gd name="T46" fmla="*/ 0 w 152"/>
              <a:gd name="T47" fmla="*/ 16 h 185"/>
              <a:gd name="T48" fmla="*/ 0 w 152"/>
              <a:gd name="T49" fmla="*/ 168 h 185"/>
              <a:gd name="T50" fmla="*/ 17 w 152"/>
              <a:gd name="T51" fmla="*/ 185 h 185"/>
              <a:gd name="T52" fmla="*/ 135 w 152"/>
              <a:gd name="T53" fmla="*/ 185 h 185"/>
              <a:gd name="T54" fmla="*/ 152 w 152"/>
              <a:gd name="T55" fmla="*/ 168 h 185"/>
              <a:gd name="T56" fmla="*/ 152 w 152"/>
              <a:gd name="T57" fmla="*/ 46 h 185"/>
              <a:gd name="T58" fmla="*/ 109 w 152"/>
              <a:gd name="T59" fmla="*/ 0 h 185"/>
              <a:gd name="T60" fmla="*/ 143 w 152"/>
              <a:gd name="T61" fmla="*/ 168 h 185"/>
              <a:gd name="T62" fmla="*/ 135 w 152"/>
              <a:gd name="T63" fmla="*/ 177 h 185"/>
              <a:gd name="T64" fmla="*/ 17 w 152"/>
              <a:gd name="T65" fmla="*/ 177 h 185"/>
              <a:gd name="T66" fmla="*/ 8 w 152"/>
              <a:gd name="T67" fmla="*/ 168 h 185"/>
              <a:gd name="T68" fmla="*/ 8 w 152"/>
              <a:gd name="T69" fmla="*/ 16 h 185"/>
              <a:gd name="T70" fmla="*/ 17 w 152"/>
              <a:gd name="T71" fmla="*/ 8 h 185"/>
              <a:gd name="T72" fmla="*/ 92 w 152"/>
              <a:gd name="T73" fmla="*/ 8 h 185"/>
              <a:gd name="T74" fmla="*/ 92 w 152"/>
              <a:gd name="T75" fmla="*/ 50 h 185"/>
              <a:gd name="T76" fmla="*/ 101 w 152"/>
              <a:gd name="T77" fmla="*/ 59 h 185"/>
              <a:gd name="T78" fmla="*/ 143 w 152"/>
              <a:gd name="T79" fmla="*/ 59 h 185"/>
              <a:gd name="T80" fmla="*/ 143 w 152"/>
              <a:gd name="T81" fmla="*/ 168 h 185"/>
              <a:gd name="T82" fmla="*/ 101 w 152"/>
              <a:gd name="T83" fmla="*/ 50 h 185"/>
              <a:gd name="T84" fmla="*/ 101 w 152"/>
              <a:gd name="T85" fmla="*/ 8 h 185"/>
              <a:gd name="T86" fmla="*/ 105 w 152"/>
              <a:gd name="T87" fmla="*/ 8 h 185"/>
              <a:gd name="T88" fmla="*/ 143 w 152"/>
              <a:gd name="T89" fmla="*/ 50 h 185"/>
              <a:gd name="T90" fmla="*/ 101 w 152"/>
              <a:gd name="T91" fmla="*/ 50 h 185"/>
              <a:gd name="T92" fmla="*/ 33 w 152"/>
              <a:gd name="T93" fmla="*/ 75 h 185"/>
              <a:gd name="T94" fmla="*/ 38 w 152"/>
              <a:gd name="T95" fmla="*/ 80 h 185"/>
              <a:gd name="T96" fmla="*/ 114 w 152"/>
              <a:gd name="T97" fmla="*/ 80 h 185"/>
              <a:gd name="T98" fmla="*/ 118 w 152"/>
              <a:gd name="T99" fmla="*/ 75 h 185"/>
              <a:gd name="T100" fmla="*/ 114 w 152"/>
              <a:gd name="T101" fmla="*/ 71 h 185"/>
              <a:gd name="T102" fmla="*/ 38 w 152"/>
              <a:gd name="T103" fmla="*/ 71 h 185"/>
              <a:gd name="T104" fmla="*/ 33 w 152"/>
              <a:gd name="T105" fmla="*/ 7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 h="185">
                <a:moveTo>
                  <a:pt x="88" y="139"/>
                </a:moveTo>
                <a:cubicBezTo>
                  <a:pt x="38" y="139"/>
                  <a:pt x="38" y="139"/>
                  <a:pt x="38" y="139"/>
                </a:cubicBezTo>
                <a:cubicBezTo>
                  <a:pt x="35" y="139"/>
                  <a:pt x="33" y="141"/>
                  <a:pt x="33" y="143"/>
                </a:cubicBezTo>
                <a:cubicBezTo>
                  <a:pt x="33" y="145"/>
                  <a:pt x="35" y="147"/>
                  <a:pt x="38" y="147"/>
                </a:cubicBezTo>
                <a:cubicBezTo>
                  <a:pt x="88" y="147"/>
                  <a:pt x="88" y="147"/>
                  <a:pt x="88" y="147"/>
                </a:cubicBezTo>
                <a:cubicBezTo>
                  <a:pt x="91" y="147"/>
                  <a:pt x="92" y="145"/>
                  <a:pt x="92" y="143"/>
                </a:cubicBezTo>
                <a:cubicBezTo>
                  <a:pt x="92" y="141"/>
                  <a:pt x="91" y="139"/>
                  <a:pt x="88" y="139"/>
                </a:cubicBezTo>
                <a:close/>
                <a:moveTo>
                  <a:pt x="38" y="46"/>
                </a:moveTo>
                <a:cubicBezTo>
                  <a:pt x="59" y="46"/>
                  <a:pt x="59" y="46"/>
                  <a:pt x="59" y="46"/>
                </a:cubicBezTo>
                <a:cubicBezTo>
                  <a:pt x="61" y="46"/>
                  <a:pt x="63" y="44"/>
                  <a:pt x="63" y="42"/>
                </a:cubicBezTo>
                <a:cubicBezTo>
                  <a:pt x="63" y="39"/>
                  <a:pt x="61" y="37"/>
                  <a:pt x="59" y="37"/>
                </a:cubicBezTo>
                <a:cubicBezTo>
                  <a:pt x="38" y="37"/>
                  <a:pt x="38" y="37"/>
                  <a:pt x="38" y="37"/>
                </a:cubicBezTo>
                <a:cubicBezTo>
                  <a:pt x="35" y="37"/>
                  <a:pt x="33" y="39"/>
                  <a:pt x="33" y="42"/>
                </a:cubicBezTo>
                <a:cubicBezTo>
                  <a:pt x="33" y="44"/>
                  <a:pt x="35" y="46"/>
                  <a:pt x="38" y="46"/>
                </a:cubicBezTo>
                <a:close/>
                <a:moveTo>
                  <a:pt x="114" y="105"/>
                </a:moveTo>
                <a:cubicBezTo>
                  <a:pt x="38" y="105"/>
                  <a:pt x="38" y="105"/>
                  <a:pt x="38" y="105"/>
                </a:cubicBezTo>
                <a:cubicBezTo>
                  <a:pt x="35" y="105"/>
                  <a:pt x="33" y="107"/>
                  <a:pt x="33" y="109"/>
                </a:cubicBezTo>
                <a:cubicBezTo>
                  <a:pt x="33" y="112"/>
                  <a:pt x="35" y="113"/>
                  <a:pt x="38" y="113"/>
                </a:cubicBezTo>
                <a:cubicBezTo>
                  <a:pt x="114" y="113"/>
                  <a:pt x="114" y="113"/>
                  <a:pt x="114" y="113"/>
                </a:cubicBezTo>
                <a:cubicBezTo>
                  <a:pt x="116" y="113"/>
                  <a:pt x="118" y="112"/>
                  <a:pt x="118" y="109"/>
                </a:cubicBezTo>
                <a:cubicBezTo>
                  <a:pt x="118" y="107"/>
                  <a:pt x="116" y="105"/>
                  <a:pt x="114" y="105"/>
                </a:cubicBezTo>
                <a:close/>
                <a:moveTo>
                  <a:pt x="109" y="0"/>
                </a:moveTo>
                <a:cubicBezTo>
                  <a:pt x="17" y="0"/>
                  <a:pt x="17" y="0"/>
                  <a:pt x="17" y="0"/>
                </a:cubicBezTo>
                <a:cubicBezTo>
                  <a:pt x="7" y="0"/>
                  <a:pt x="0" y="7"/>
                  <a:pt x="0" y="16"/>
                </a:cubicBezTo>
                <a:cubicBezTo>
                  <a:pt x="0" y="168"/>
                  <a:pt x="0" y="168"/>
                  <a:pt x="0" y="168"/>
                </a:cubicBezTo>
                <a:cubicBezTo>
                  <a:pt x="0" y="178"/>
                  <a:pt x="7" y="185"/>
                  <a:pt x="17" y="185"/>
                </a:cubicBezTo>
                <a:cubicBezTo>
                  <a:pt x="135" y="185"/>
                  <a:pt x="135" y="185"/>
                  <a:pt x="135" y="185"/>
                </a:cubicBezTo>
                <a:cubicBezTo>
                  <a:pt x="144" y="185"/>
                  <a:pt x="152" y="178"/>
                  <a:pt x="152" y="168"/>
                </a:cubicBezTo>
                <a:cubicBezTo>
                  <a:pt x="152" y="46"/>
                  <a:pt x="152" y="46"/>
                  <a:pt x="152" y="46"/>
                </a:cubicBezTo>
                <a:lnTo>
                  <a:pt x="109" y="0"/>
                </a:lnTo>
                <a:close/>
                <a:moveTo>
                  <a:pt x="143" y="168"/>
                </a:moveTo>
                <a:cubicBezTo>
                  <a:pt x="143" y="173"/>
                  <a:pt x="139" y="177"/>
                  <a:pt x="135" y="177"/>
                </a:cubicBezTo>
                <a:cubicBezTo>
                  <a:pt x="17" y="177"/>
                  <a:pt x="17" y="177"/>
                  <a:pt x="17" y="177"/>
                </a:cubicBezTo>
                <a:cubicBezTo>
                  <a:pt x="12" y="177"/>
                  <a:pt x="8" y="173"/>
                  <a:pt x="8" y="168"/>
                </a:cubicBezTo>
                <a:cubicBezTo>
                  <a:pt x="8" y="16"/>
                  <a:pt x="8" y="16"/>
                  <a:pt x="8" y="16"/>
                </a:cubicBezTo>
                <a:cubicBezTo>
                  <a:pt x="8" y="12"/>
                  <a:pt x="12" y="8"/>
                  <a:pt x="17" y="8"/>
                </a:cubicBezTo>
                <a:cubicBezTo>
                  <a:pt x="92" y="8"/>
                  <a:pt x="92" y="8"/>
                  <a:pt x="92" y="8"/>
                </a:cubicBezTo>
                <a:cubicBezTo>
                  <a:pt x="92" y="50"/>
                  <a:pt x="92" y="50"/>
                  <a:pt x="92" y="50"/>
                </a:cubicBezTo>
                <a:cubicBezTo>
                  <a:pt x="92" y="55"/>
                  <a:pt x="96" y="59"/>
                  <a:pt x="101" y="59"/>
                </a:cubicBezTo>
                <a:cubicBezTo>
                  <a:pt x="143" y="59"/>
                  <a:pt x="143" y="59"/>
                  <a:pt x="143" y="59"/>
                </a:cubicBezTo>
                <a:lnTo>
                  <a:pt x="143" y="168"/>
                </a:lnTo>
                <a:close/>
                <a:moveTo>
                  <a:pt x="101" y="50"/>
                </a:moveTo>
                <a:cubicBezTo>
                  <a:pt x="101" y="8"/>
                  <a:pt x="101" y="8"/>
                  <a:pt x="101" y="8"/>
                </a:cubicBezTo>
                <a:cubicBezTo>
                  <a:pt x="105" y="8"/>
                  <a:pt x="105" y="8"/>
                  <a:pt x="105" y="8"/>
                </a:cubicBezTo>
                <a:cubicBezTo>
                  <a:pt x="143" y="50"/>
                  <a:pt x="143" y="50"/>
                  <a:pt x="143" y="50"/>
                </a:cubicBezTo>
                <a:lnTo>
                  <a:pt x="101" y="50"/>
                </a:lnTo>
                <a:close/>
                <a:moveTo>
                  <a:pt x="33" y="75"/>
                </a:moveTo>
                <a:cubicBezTo>
                  <a:pt x="33" y="78"/>
                  <a:pt x="35" y="80"/>
                  <a:pt x="38" y="80"/>
                </a:cubicBezTo>
                <a:cubicBezTo>
                  <a:pt x="114" y="80"/>
                  <a:pt x="114" y="80"/>
                  <a:pt x="114" y="80"/>
                </a:cubicBezTo>
                <a:cubicBezTo>
                  <a:pt x="116" y="80"/>
                  <a:pt x="118" y="78"/>
                  <a:pt x="118" y="75"/>
                </a:cubicBezTo>
                <a:cubicBezTo>
                  <a:pt x="118" y="73"/>
                  <a:pt x="116" y="71"/>
                  <a:pt x="114" y="71"/>
                </a:cubicBezTo>
                <a:cubicBezTo>
                  <a:pt x="38" y="71"/>
                  <a:pt x="38" y="71"/>
                  <a:pt x="38" y="71"/>
                </a:cubicBezTo>
                <a:cubicBezTo>
                  <a:pt x="35" y="71"/>
                  <a:pt x="33" y="73"/>
                  <a:pt x="33" y="75"/>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100" name="Freeform 67"/>
          <p:cNvSpPr>
            <a:spLocks noEditPoints="1"/>
          </p:cNvSpPr>
          <p:nvPr/>
        </p:nvSpPr>
        <p:spPr bwMode="auto">
          <a:xfrm>
            <a:off x="8752957" y="4446512"/>
            <a:ext cx="348999" cy="435563"/>
          </a:xfrm>
          <a:custGeom>
            <a:avLst/>
            <a:gdLst>
              <a:gd name="T0" fmla="*/ 135 w 152"/>
              <a:gd name="T1" fmla="*/ 0 h 185"/>
              <a:gd name="T2" fmla="*/ 17 w 152"/>
              <a:gd name="T3" fmla="*/ 0 h 185"/>
              <a:gd name="T4" fmla="*/ 0 w 152"/>
              <a:gd name="T5" fmla="*/ 16 h 185"/>
              <a:gd name="T6" fmla="*/ 0 w 152"/>
              <a:gd name="T7" fmla="*/ 168 h 185"/>
              <a:gd name="T8" fmla="*/ 17 w 152"/>
              <a:gd name="T9" fmla="*/ 185 h 185"/>
              <a:gd name="T10" fmla="*/ 135 w 152"/>
              <a:gd name="T11" fmla="*/ 185 h 185"/>
              <a:gd name="T12" fmla="*/ 152 w 152"/>
              <a:gd name="T13" fmla="*/ 168 h 185"/>
              <a:gd name="T14" fmla="*/ 152 w 152"/>
              <a:gd name="T15" fmla="*/ 16 h 185"/>
              <a:gd name="T16" fmla="*/ 135 w 152"/>
              <a:gd name="T17" fmla="*/ 0 h 185"/>
              <a:gd name="T18" fmla="*/ 101 w 152"/>
              <a:gd name="T19" fmla="*/ 8 h 185"/>
              <a:gd name="T20" fmla="*/ 118 w 152"/>
              <a:gd name="T21" fmla="*/ 8 h 185"/>
              <a:gd name="T22" fmla="*/ 118 w 152"/>
              <a:gd name="T23" fmla="*/ 37 h 185"/>
              <a:gd name="T24" fmla="*/ 110 w 152"/>
              <a:gd name="T25" fmla="*/ 29 h 185"/>
              <a:gd name="T26" fmla="*/ 101 w 152"/>
              <a:gd name="T27" fmla="*/ 37 h 185"/>
              <a:gd name="T28" fmla="*/ 101 w 152"/>
              <a:gd name="T29" fmla="*/ 8 h 185"/>
              <a:gd name="T30" fmla="*/ 34 w 152"/>
              <a:gd name="T31" fmla="*/ 177 h 185"/>
              <a:gd name="T32" fmla="*/ 17 w 152"/>
              <a:gd name="T33" fmla="*/ 177 h 185"/>
              <a:gd name="T34" fmla="*/ 8 w 152"/>
              <a:gd name="T35" fmla="*/ 168 h 185"/>
              <a:gd name="T36" fmla="*/ 8 w 152"/>
              <a:gd name="T37" fmla="*/ 16 h 185"/>
              <a:gd name="T38" fmla="*/ 17 w 152"/>
              <a:gd name="T39" fmla="*/ 8 h 185"/>
              <a:gd name="T40" fmla="*/ 34 w 152"/>
              <a:gd name="T41" fmla="*/ 8 h 185"/>
              <a:gd name="T42" fmla="*/ 34 w 152"/>
              <a:gd name="T43" fmla="*/ 177 h 185"/>
              <a:gd name="T44" fmla="*/ 143 w 152"/>
              <a:gd name="T45" fmla="*/ 168 h 185"/>
              <a:gd name="T46" fmla="*/ 135 w 152"/>
              <a:gd name="T47" fmla="*/ 177 h 185"/>
              <a:gd name="T48" fmla="*/ 42 w 152"/>
              <a:gd name="T49" fmla="*/ 177 h 185"/>
              <a:gd name="T50" fmla="*/ 42 w 152"/>
              <a:gd name="T51" fmla="*/ 8 h 185"/>
              <a:gd name="T52" fmla="*/ 93 w 152"/>
              <a:gd name="T53" fmla="*/ 8 h 185"/>
              <a:gd name="T54" fmla="*/ 93 w 152"/>
              <a:gd name="T55" fmla="*/ 59 h 185"/>
              <a:gd name="T56" fmla="*/ 110 w 152"/>
              <a:gd name="T57" fmla="*/ 42 h 185"/>
              <a:gd name="T58" fmla="*/ 126 w 152"/>
              <a:gd name="T59" fmla="*/ 59 h 185"/>
              <a:gd name="T60" fmla="*/ 126 w 152"/>
              <a:gd name="T61" fmla="*/ 8 h 185"/>
              <a:gd name="T62" fmla="*/ 135 w 152"/>
              <a:gd name="T63" fmla="*/ 8 h 185"/>
              <a:gd name="T64" fmla="*/ 143 w 152"/>
              <a:gd name="T65" fmla="*/ 16 h 185"/>
              <a:gd name="T66" fmla="*/ 143 w 152"/>
              <a:gd name="T67" fmla="*/ 168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2" h="185">
                <a:moveTo>
                  <a:pt x="135" y="0"/>
                </a:moveTo>
                <a:cubicBezTo>
                  <a:pt x="17" y="0"/>
                  <a:pt x="17" y="0"/>
                  <a:pt x="17" y="0"/>
                </a:cubicBezTo>
                <a:cubicBezTo>
                  <a:pt x="7" y="0"/>
                  <a:pt x="0" y="7"/>
                  <a:pt x="0" y="16"/>
                </a:cubicBezTo>
                <a:cubicBezTo>
                  <a:pt x="0" y="168"/>
                  <a:pt x="0" y="168"/>
                  <a:pt x="0" y="168"/>
                </a:cubicBezTo>
                <a:cubicBezTo>
                  <a:pt x="0" y="178"/>
                  <a:pt x="7" y="185"/>
                  <a:pt x="17" y="185"/>
                </a:cubicBezTo>
                <a:cubicBezTo>
                  <a:pt x="135" y="185"/>
                  <a:pt x="135" y="185"/>
                  <a:pt x="135" y="185"/>
                </a:cubicBezTo>
                <a:cubicBezTo>
                  <a:pt x="144" y="185"/>
                  <a:pt x="152" y="178"/>
                  <a:pt x="152" y="168"/>
                </a:cubicBezTo>
                <a:cubicBezTo>
                  <a:pt x="152" y="16"/>
                  <a:pt x="152" y="16"/>
                  <a:pt x="152" y="16"/>
                </a:cubicBezTo>
                <a:cubicBezTo>
                  <a:pt x="152" y="7"/>
                  <a:pt x="144" y="0"/>
                  <a:pt x="135" y="0"/>
                </a:cubicBezTo>
                <a:close/>
                <a:moveTo>
                  <a:pt x="101" y="8"/>
                </a:moveTo>
                <a:cubicBezTo>
                  <a:pt x="118" y="8"/>
                  <a:pt x="118" y="8"/>
                  <a:pt x="118" y="8"/>
                </a:cubicBezTo>
                <a:cubicBezTo>
                  <a:pt x="118" y="37"/>
                  <a:pt x="118" y="37"/>
                  <a:pt x="118" y="37"/>
                </a:cubicBezTo>
                <a:cubicBezTo>
                  <a:pt x="110" y="29"/>
                  <a:pt x="110" y="29"/>
                  <a:pt x="110" y="29"/>
                </a:cubicBezTo>
                <a:cubicBezTo>
                  <a:pt x="101" y="37"/>
                  <a:pt x="101" y="37"/>
                  <a:pt x="101" y="37"/>
                </a:cubicBezTo>
                <a:lnTo>
                  <a:pt x="101" y="8"/>
                </a:lnTo>
                <a:close/>
                <a:moveTo>
                  <a:pt x="34" y="177"/>
                </a:moveTo>
                <a:cubicBezTo>
                  <a:pt x="17" y="177"/>
                  <a:pt x="17" y="177"/>
                  <a:pt x="17" y="177"/>
                </a:cubicBezTo>
                <a:cubicBezTo>
                  <a:pt x="12" y="177"/>
                  <a:pt x="8" y="173"/>
                  <a:pt x="8" y="168"/>
                </a:cubicBezTo>
                <a:cubicBezTo>
                  <a:pt x="8" y="16"/>
                  <a:pt x="8" y="16"/>
                  <a:pt x="8" y="16"/>
                </a:cubicBezTo>
                <a:cubicBezTo>
                  <a:pt x="8" y="12"/>
                  <a:pt x="12" y="8"/>
                  <a:pt x="17" y="8"/>
                </a:cubicBezTo>
                <a:cubicBezTo>
                  <a:pt x="34" y="8"/>
                  <a:pt x="34" y="8"/>
                  <a:pt x="34" y="8"/>
                </a:cubicBezTo>
                <a:lnTo>
                  <a:pt x="34" y="177"/>
                </a:lnTo>
                <a:close/>
                <a:moveTo>
                  <a:pt x="143" y="168"/>
                </a:moveTo>
                <a:cubicBezTo>
                  <a:pt x="143" y="173"/>
                  <a:pt x="140" y="177"/>
                  <a:pt x="135" y="177"/>
                </a:cubicBezTo>
                <a:cubicBezTo>
                  <a:pt x="42" y="177"/>
                  <a:pt x="42" y="177"/>
                  <a:pt x="42" y="177"/>
                </a:cubicBezTo>
                <a:cubicBezTo>
                  <a:pt x="42" y="8"/>
                  <a:pt x="42" y="8"/>
                  <a:pt x="42" y="8"/>
                </a:cubicBezTo>
                <a:cubicBezTo>
                  <a:pt x="93" y="8"/>
                  <a:pt x="93" y="8"/>
                  <a:pt x="93" y="8"/>
                </a:cubicBezTo>
                <a:cubicBezTo>
                  <a:pt x="93" y="59"/>
                  <a:pt x="93" y="59"/>
                  <a:pt x="93" y="59"/>
                </a:cubicBezTo>
                <a:cubicBezTo>
                  <a:pt x="110" y="42"/>
                  <a:pt x="110" y="42"/>
                  <a:pt x="110" y="42"/>
                </a:cubicBezTo>
                <a:cubicBezTo>
                  <a:pt x="126" y="59"/>
                  <a:pt x="126" y="59"/>
                  <a:pt x="126" y="59"/>
                </a:cubicBezTo>
                <a:cubicBezTo>
                  <a:pt x="126" y="8"/>
                  <a:pt x="126" y="8"/>
                  <a:pt x="126" y="8"/>
                </a:cubicBezTo>
                <a:cubicBezTo>
                  <a:pt x="135" y="8"/>
                  <a:pt x="135" y="8"/>
                  <a:pt x="135" y="8"/>
                </a:cubicBezTo>
                <a:cubicBezTo>
                  <a:pt x="140" y="8"/>
                  <a:pt x="143" y="12"/>
                  <a:pt x="143" y="16"/>
                </a:cubicBezTo>
                <a:lnTo>
                  <a:pt x="143" y="168"/>
                </a:ln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101" name="100 Elipse"/>
          <p:cNvSpPr/>
          <p:nvPr/>
        </p:nvSpPr>
        <p:spPr>
          <a:xfrm>
            <a:off x="8655428" y="2703985"/>
            <a:ext cx="540000" cy="544450"/>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sp>
        <p:nvSpPr>
          <p:cNvPr id="102" name="TextBox 25"/>
          <p:cNvSpPr txBox="1"/>
          <p:nvPr/>
        </p:nvSpPr>
        <p:spPr>
          <a:xfrm>
            <a:off x="7761312" y="2513547"/>
            <a:ext cx="2328232" cy="2308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Easy Money Business Units</a:t>
            </a:r>
            <a:endParaRPr lang="es-ES" sz="900" b="1" dirty="0">
              <a:solidFill>
                <a:schemeClr val="bg1">
                  <a:lumMod val="50000"/>
                </a:schemeClr>
              </a:solidFill>
              <a:latin typeface="Avenir 35" panose="00000400000000000000" pitchFamily="2" charset="0"/>
            </a:endParaRPr>
          </a:p>
        </p:txBody>
      </p:sp>
      <p:pic>
        <p:nvPicPr>
          <p:cNvPr id="103" name="Picture 41" descr="http://www.hydra-newmedia.com/wp-content/uploads/2013/02/11_mercedes_logo.png"/>
          <p:cNvPicPr>
            <a:picLocks noChangeAspect="1" noChangeArrowheads="1"/>
          </p:cNvPicPr>
          <p:nvPr/>
        </p:nvPicPr>
        <p:blipFill rotWithShape="1">
          <a:blip r:embed="rId10" cstate="print">
            <a:lum bright="70000" contrast="-70000"/>
            <a:extLst>
              <a:ext uri="{28A0092B-C50C-407E-A947-70E740481C1C}">
                <a14:useLocalDpi xmlns:a14="http://schemas.microsoft.com/office/drawing/2010/main" val="0"/>
              </a:ext>
            </a:extLst>
          </a:blip>
          <a:srcRect l="35667" r="28666" b="28132"/>
          <a:stretch/>
        </p:blipFill>
        <p:spPr bwMode="auto">
          <a:xfrm>
            <a:off x="8682376" y="2712687"/>
            <a:ext cx="648452" cy="448609"/>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10 Grupo"/>
          <p:cNvGrpSpPr/>
          <p:nvPr/>
        </p:nvGrpSpPr>
        <p:grpSpPr>
          <a:xfrm>
            <a:off x="920552" y="3864822"/>
            <a:ext cx="2808312" cy="1831885"/>
            <a:chOff x="848544" y="3541331"/>
            <a:chExt cx="2808312" cy="1831885"/>
          </a:xfrm>
        </p:grpSpPr>
        <p:grpSp>
          <p:nvGrpSpPr>
            <p:cNvPr id="6" name="5 Grupo"/>
            <p:cNvGrpSpPr/>
            <p:nvPr/>
          </p:nvGrpSpPr>
          <p:grpSpPr>
            <a:xfrm>
              <a:off x="1578053" y="3541331"/>
              <a:ext cx="869214" cy="712324"/>
              <a:chOff x="1707522" y="3541331"/>
              <a:chExt cx="869214" cy="712324"/>
            </a:xfrm>
          </p:grpSpPr>
          <p:sp>
            <p:nvSpPr>
              <p:cNvPr id="81" name="Freeform 69"/>
              <p:cNvSpPr>
                <a:spLocks noEditPoints="1"/>
              </p:cNvSpPr>
              <p:nvPr/>
            </p:nvSpPr>
            <p:spPr bwMode="auto">
              <a:xfrm>
                <a:off x="1966388" y="3804118"/>
                <a:ext cx="351482" cy="449537"/>
              </a:xfrm>
              <a:custGeom>
                <a:avLst/>
                <a:gdLst>
                  <a:gd name="T0" fmla="*/ 88 w 152"/>
                  <a:gd name="T1" fmla="*/ 139 h 185"/>
                  <a:gd name="T2" fmla="*/ 38 w 152"/>
                  <a:gd name="T3" fmla="*/ 139 h 185"/>
                  <a:gd name="T4" fmla="*/ 33 w 152"/>
                  <a:gd name="T5" fmla="*/ 143 h 185"/>
                  <a:gd name="T6" fmla="*/ 38 w 152"/>
                  <a:gd name="T7" fmla="*/ 147 h 185"/>
                  <a:gd name="T8" fmla="*/ 88 w 152"/>
                  <a:gd name="T9" fmla="*/ 147 h 185"/>
                  <a:gd name="T10" fmla="*/ 92 w 152"/>
                  <a:gd name="T11" fmla="*/ 143 h 185"/>
                  <a:gd name="T12" fmla="*/ 88 w 152"/>
                  <a:gd name="T13" fmla="*/ 139 h 185"/>
                  <a:gd name="T14" fmla="*/ 38 w 152"/>
                  <a:gd name="T15" fmla="*/ 46 h 185"/>
                  <a:gd name="T16" fmla="*/ 59 w 152"/>
                  <a:gd name="T17" fmla="*/ 46 h 185"/>
                  <a:gd name="T18" fmla="*/ 63 w 152"/>
                  <a:gd name="T19" fmla="*/ 42 h 185"/>
                  <a:gd name="T20" fmla="*/ 59 w 152"/>
                  <a:gd name="T21" fmla="*/ 37 h 185"/>
                  <a:gd name="T22" fmla="*/ 38 w 152"/>
                  <a:gd name="T23" fmla="*/ 37 h 185"/>
                  <a:gd name="T24" fmla="*/ 33 w 152"/>
                  <a:gd name="T25" fmla="*/ 42 h 185"/>
                  <a:gd name="T26" fmla="*/ 38 w 152"/>
                  <a:gd name="T27" fmla="*/ 46 h 185"/>
                  <a:gd name="T28" fmla="*/ 114 w 152"/>
                  <a:gd name="T29" fmla="*/ 105 h 185"/>
                  <a:gd name="T30" fmla="*/ 38 w 152"/>
                  <a:gd name="T31" fmla="*/ 105 h 185"/>
                  <a:gd name="T32" fmla="*/ 33 w 152"/>
                  <a:gd name="T33" fmla="*/ 109 h 185"/>
                  <a:gd name="T34" fmla="*/ 38 w 152"/>
                  <a:gd name="T35" fmla="*/ 113 h 185"/>
                  <a:gd name="T36" fmla="*/ 114 w 152"/>
                  <a:gd name="T37" fmla="*/ 113 h 185"/>
                  <a:gd name="T38" fmla="*/ 118 w 152"/>
                  <a:gd name="T39" fmla="*/ 109 h 185"/>
                  <a:gd name="T40" fmla="*/ 114 w 152"/>
                  <a:gd name="T41" fmla="*/ 105 h 185"/>
                  <a:gd name="T42" fmla="*/ 109 w 152"/>
                  <a:gd name="T43" fmla="*/ 0 h 185"/>
                  <a:gd name="T44" fmla="*/ 17 w 152"/>
                  <a:gd name="T45" fmla="*/ 0 h 185"/>
                  <a:gd name="T46" fmla="*/ 0 w 152"/>
                  <a:gd name="T47" fmla="*/ 16 h 185"/>
                  <a:gd name="T48" fmla="*/ 0 w 152"/>
                  <a:gd name="T49" fmla="*/ 168 h 185"/>
                  <a:gd name="T50" fmla="*/ 17 w 152"/>
                  <a:gd name="T51" fmla="*/ 185 h 185"/>
                  <a:gd name="T52" fmla="*/ 135 w 152"/>
                  <a:gd name="T53" fmla="*/ 185 h 185"/>
                  <a:gd name="T54" fmla="*/ 152 w 152"/>
                  <a:gd name="T55" fmla="*/ 168 h 185"/>
                  <a:gd name="T56" fmla="*/ 152 w 152"/>
                  <a:gd name="T57" fmla="*/ 46 h 185"/>
                  <a:gd name="T58" fmla="*/ 109 w 152"/>
                  <a:gd name="T59" fmla="*/ 0 h 185"/>
                  <a:gd name="T60" fmla="*/ 143 w 152"/>
                  <a:gd name="T61" fmla="*/ 168 h 185"/>
                  <a:gd name="T62" fmla="*/ 135 w 152"/>
                  <a:gd name="T63" fmla="*/ 177 h 185"/>
                  <a:gd name="T64" fmla="*/ 17 w 152"/>
                  <a:gd name="T65" fmla="*/ 177 h 185"/>
                  <a:gd name="T66" fmla="*/ 8 w 152"/>
                  <a:gd name="T67" fmla="*/ 168 h 185"/>
                  <a:gd name="T68" fmla="*/ 8 w 152"/>
                  <a:gd name="T69" fmla="*/ 16 h 185"/>
                  <a:gd name="T70" fmla="*/ 17 w 152"/>
                  <a:gd name="T71" fmla="*/ 8 h 185"/>
                  <a:gd name="T72" fmla="*/ 92 w 152"/>
                  <a:gd name="T73" fmla="*/ 8 h 185"/>
                  <a:gd name="T74" fmla="*/ 92 w 152"/>
                  <a:gd name="T75" fmla="*/ 50 h 185"/>
                  <a:gd name="T76" fmla="*/ 101 w 152"/>
                  <a:gd name="T77" fmla="*/ 59 h 185"/>
                  <a:gd name="T78" fmla="*/ 143 w 152"/>
                  <a:gd name="T79" fmla="*/ 59 h 185"/>
                  <a:gd name="T80" fmla="*/ 143 w 152"/>
                  <a:gd name="T81" fmla="*/ 168 h 185"/>
                  <a:gd name="T82" fmla="*/ 101 w 152"/>
                  <a:gd name="T83" fmla="*/ 50 h 185"/>
                  <a:gd name="T84" fmla="*/ 101 w 152"/>
                  <a:gd name="T85" fmla="*/ 8 h 185"/>
                  <a:gd name="T86" fmla="*/ 105 w 152"/>
                  <a:gd name="T87" fmla="*/ 8 h 185"/>
                  <a:gd name="T88" fmla="*/ 143 w 152"/>
                  <a:gd name="T89" fmla="*/ 50 h 185"/>
                  <a:gd name="T90" fmla="*/ 101 w 152"/>
                  <a:gd name="T91" fmla="*/ 50 h 185"/>
                  <a:gd name="T92" fmla="*/ 33 w 152"/>
                  <a:gd name="T93" fmla="*/ 75 h 185"/>
                  <a:gd name="T94" fmla="*/ 38 w 152"/>
                  <a:gd name="T95" fmla="*/ 80 h 185"/>
                  <a:gd name="T96" fmla="*/ 114 w 152"/>
                  <a:gd name="T97" fmla="*/ 80 h 185"/>
                  <a:gd name="T98" fmla="*/ 118 w 152"/>
                  <a:gd name="T99" fmla="*/ 75 h 185"/>
                  <a:gd name="T100" fmla="*/ 114 w 152"/>
                  <a:gd name="T101" fmla="*/ 71 h 185"/>
                  <a:gd name="T102" fmla="*/ 38 w 152"/>
                  <a:gd name="T103" fmla="*/ 71 h 185"/>
                  <a:gd name="T104" fmla="*/ 33 w 152"/>
                  <a:gd name="T105" fmla="*/ 7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 h="185">
                    <a:moveTo>
                      <a:pt x="88" y="139"/>
                    </a:moveTo>
                    <a:cubicBezTo>
                      <a:pt x="38" y="139"/>
                      <a:pt x="38" y="139"/>
                      <a:pt x="38" y="139"/>
                    </a:cubicBezTo>
                    <a:cubicBezTo>
                      <a:pt x="35" y="139"/>
                      <a:pt x="33" y="141"/>
                      <a:pt x="33" y="143"/>
                    </a:cubicBezTo>
                    <a:cubicBezTo>
                      <a:pt x="33" y="145"/>
                      <a:pt x="35" y="147"/>
                      <a:pt x="38" y="147"/>
                    </a:cubicBezTo>
                    <a:cubicBezTo>
                      <a:pt x="88" y="147"/>
                      <a:pt x="88" y="147"/>
                      <a:pt x="88" y="147"/>
                    </a:cubicBezTo>
                    <a:cubicBezTo>
                      <a:pt x="91" y="147"/>
                      <a:pt x="92" y="145"/>
                      <a:pt x="92" y="143"/>
                    </a:cubicBezTo>
                    <a:cubicBezTo>
                      <a:pt x="92" y="141"/>
                      <a:pt x="91" y="139"/>
                      <a:pt x="88" y="139"/>
                    </a:cubicBezTo>
                    <a:close/>
                    <a:moveTo>
                      <a:pt x="38" y="46"/>
                    </a:moveTo>
                    <a:cubicBezTo>
                      <a:pt x="59" y="46"/>
                      <a:pt x="59" y="46"/>
                      <a:pt x="59" y="46"/>
                    </a:cubicBezTo>
                    <a:cubicBezTo>
                      <a:pt x="61" y="46"/>
                      <a:pt x="63" y="44"/>
                      <a:pt x="63" y="42"/>
                    </a:cubicBezTo>
                    <a:cubicBezTo>
                      <a:pt x="63" y="39"/>
                      <a:pt x="61" y="37"/>
                      <a:pt x="59" y="37"/>
                    </a:cubicBezTo>
                    <a:cubicBezTo>
                      <a:pt x="38" y="37"/>
                      <a:pt x="38" y="37"/>
                      <a:pt x="38" y="37"/>
                    </a:cubicBezTo>
                    <a:cubicBezTo>
                      <a:pt x="35" y="37"/>
                      <a:pt x="33" y="39"/>
                      <a:pt x="33" y="42"/>
                    </a:cubicBezTo>
                    <a:cubicBezTo>
                      <a:pt x="33" y="44"/>
                      <a:pt x="35" y="46"/>
                      <a:pt x="38" y="46"/>
                    </a:cubicBezTo>
                    <a:close/>
                    <a:moveTo>
                      <a:pt x="114" y="105"/>
                    </a:moveTo>
                    <a:cubicBezTo>
                      <a:pt x="38" y="105"/>
                      <a:pt x="38" y="105"/>
                      <a:pt x="38" y="105"/>
                    </a:cubicBezTo>
                    <a:cubicBezTo>
                      <a:pt x="35" y="105"/>
                      <a:pt x="33" y="107"/>
                      <a:pt x="33" y="109"/>
                    </a:cubicBezTo>
                    <a:cubicBezTo>
                      <a:pt x="33" y="112"/>
                      <a:pt x="35" y="113"/>
                      <a:pt x="38" y="113"/>
                    </a:cubicBezTo>
                    <a:cubicBezTo>
                      <a:pt x="114" y="113"/>
                      <a:pt x="114" y="113"/>
                      <a:pt x="114" y="113"/>
                    </a:cubicBezTo>
                    <a:cubicBezTo>
                      <a:pt x="116" y="113"/>
                      <a:pt x="118" y="112"/>
                      <a:pt x="118" y="109"/>
                    </a:cubicBezTo>
                    <a:cubicBezTo>
                      <a:pt x="118" y="107"/>
                      <a:pt x="116" y="105"/>
                      <a:pt x="114" y="105"/>
                    </a:cubicBezTo>
                    <a:close/>
                    <a:moveTo>
                      <a:pt x="109" y="0"/>
                    </a:moveTo>
                    <a:cubicBezTo>
                      <a:pt x="17" y="0"/>
                      <a:pt x="17" y="0"/>
                      <a:pt x="17" y="0"/>
                    </a:cubicBezTo>
                    <a:cubicBezTo>
                      <a:pt x="7" y="0"/>
                      <a:pt x="0" y="7"/>
                      <a:pt x="0" y="16"/>
                    </a:cubicBezTo>
                    <a:cubicBezTo>
                      <a:pt x="0" y="168"/>
                      <a:pt x="0" y="168"/>
                      <a:pt x="0" y="168"/>
                    </a:cubicBezTo>
                    <a:cubicBezTo>
                      <a:pt x="0" y="178"/>
                      <a:pt x="7" y="185"/>
                      <a:pt x="17" y="185"/>
                    </a:cubicBezTo>
                    <a:cubicBezTo>
                      <a:pt x="135" y="185"/>
                      <a:pt x="135" y="185"/>
                      <a:pt x="135" y="185"/>
                    </a:cubicBezTo>
                    <a:cubicBezTo>
                      <a:pt x="144" y="185"/>
                      <a:pt x="152" y="178"/>
                      <a:pt x="152" y="168"/>
                    </a:cubicBezTo>
                    <a:cubicBezTo>
                      <a:pt x="152" y="46"/>
                      <a:pt x="152" y="46"/>
                      <a:pt x="152" y="46"/>
                    </a:cubicBezTo>
                    <a:lnTo>
                      <a:pt x="109" y="0"/>
                    </a:lnTo>
                    <a:close/>
                    <a:moveTo>
                      <a:pt x="143" y="168"/>
                    </a:moveTo>
                    <a:cubicBezTo>
                      <a:pt x="143" y="173"/>
                      <a:pt x="139" y="177"/>
                      <a:pt x="135" y="177"/>
                    </a:cubicBezTo>
                    <a:cubicBezTo>
                      <a:pt x="17" y="177"/>
                      <a:pt x="17" y="177"/>
                      <a:pt x="17" y="177"/>
                    </a:cubicBezTo>
                    <a:cubicBezTo>
                      <a:pt x="12" y="177"/>
                      <a:pt x="8" y="173"/>
                      <a:pt x="8" y="168"/>
                    </a:cubicBezTo>
                    <a:cubicBezTo>
                      <a:pt x="8" y="16"/>
                      <a:pt x="8" y="16"/>
                      <a:pt x="8" y="16"/>
                    </a:cubicBezTo>
                    <a:cubicBezTo>
                      <a:pt x="8" y="12"/>
                      <a:pt x="12" y="8"/>
                      <a:pt x="17" y="8"/>
                    </a:cubicBezTo>
                    <a:cubicBezTo>
                      <a:pt x="92" y="8"/>
                      <a:pt x="92" y="8"/>
                      <a:pt x="92" y="8"/>
                    </a:cubicBezTo>
                    <a:cubicBezTo>
                      <a:pt x="92" y="50"/>
                      <a:pt x="92" y="50"/>
                      <a:pt x="92" y="50"/>
                    </a:cubicBezTo>
                    <a:cubicBezTo>
                      <a:pt x="92" y="55"/>
                      <a:pt x="96" y="59"/>
                      <a:pt x="101" y="59"/>
                    </a:cubicBezTo>
                    <a:cubicBezTo>
                      <a:pt x="143" y="59"/>
                      <a:pt x="143" y="59"/>
                      <a:pt x="143" y="59"/>
                    </a:cubicBezTo>
                    <a:lnTo>
                      <a:pt x="143" y="168"/>
                    </a:lnTo>
                    <a:close/>
                    <a:moveTo>
                      <a:pt x="101" y="50"/>
                    </a:moveTo>
                    <a:cubicBezTo>
                      <a:pt x="101" y="8"/>
                      <a:pt x="101" y="8"/>
                      <a:pt x="101" y="8"/>
                    </a:cubicBezTo>
                    <a:cubicBezTo>
                      <a:pt x="105" y="8"/>
                      <a:pt x="105" y="8"/>
                      <a:pt x="105" y="8"/>
                    </a:cubicBezTo>
                    <a:cubicBezTo>
                      <a:pt x="143" y="50"/>
                      <a:pt x="143" y="50"/>
                      <a:pt x="143" y="50"/>
                    </a:cubicBezTo>
                    <a:lnTo>
                      <a:pt x="101" y="50"/>
                    </a:lnTo>
                    <a:close/>
                    <a:moveTo>
                      <a:pt x="33" y="75"/>
                    </a:moveTo>
                    <a:cubicBezTo>
                      <a:pt x="33" y="78"/>
                      <a:pt x="35" y="80"/>
                      <a:pt x="38" y="80"/>
                    </a:cubicBezTo>
                    <a:cubicBezTo>
                      <a:pt x="114" y="80"/>
                      <a:pt x="114" y="80"/>
                      <a:pt x="114" y="80"/>
                    </a:cubicBezTo>
                    <a:cubicBezTo>
                      <a:pt x="116" y="80"/>
                      <a:pt x="118" y="78"/>
                      <a:pt x="118" y="75"/>
                    </a:cubicBezTo>
                    <a:cubicBezTo>
                      <a:pt x="118" y="73"/>
                      <a:pt x="116" y="71"/>
                      <a:pt x="114" y="71"/>
                    </a:cubicBezTo>
                    <a:cubicBezTo>
                      <a:pt x="38" y="71"/>
                      <a:pt x="38" y="71"/>
                      <a:pt x="38" y="71"/>
                    </a:cubicBezTo>
                    <a:cubicBezTo>
                      <a:pt x="35" y="71"/>
                      <a:pt x="33" y="73"/>
                      <a:pt x="33" y="75"/>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104" name="TextBox 25"/>
              <p:cNvSpPr txBox="1"/>
              <p:nvPr/>
            </p:nvSpPr>
            <p:spPr>
              <a:xfrm>
                <a:off x="1707522" y="3541331"/>
                <a:ext cx="869214" cy="2308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Landed</a:t>
                </a:r>
                <a:endParaRPr lang="es-ES" sz="900" b="1" dirty="0">
                  <a:solidFill>
                    <a:schemeClr val="bg1">
                      <a:lumMod val="50000"/>
                    </a:schemeClr>
                  </a:solidFill>
                  <a:latin typeface="Avenir 35" panose="00000400000000000000" pitchFamily="2" charset="0"/>
                </a:endParaRPr>
              </a:p>
            </p:txBody>
          </p:sp>
        </p:grpSp>
        <p:grpSp>
          <p:nvGrpSpPr>
            <p:cNvPr id="7" name="6 Grupo"/>
            <p:cNvGrpSpPr/>
            <p:nvPr/>
          </p:nvGrpSpPr>
          <p:grpSpPr>
            <a:xfrm>
              <a:off x="2367466" y="3541331"/>
              <a:ext cx="977047" cy="712323"/>
              <a:chOff x="2360712" y="3541331"/>
              <a:chExt cx="977047" cy="712323"/>
            </a:xfrm>
          </p:grpSpPr>
          <p:sp>
            <p:nvSpPr>
              <p:cNvPr id="82" name="Freeform 69"/>
              <p:cNvSpPr>
                <a:spLocks noEditPoints="1"/>
              </p:cNvSpPr>
              <p:nvPr/>
            </p:nvSpPr>
            <p:spPr bwMode="auto">
              <a:xfrm>
                <a:off x="2673494" y="3804117"/>
                <a:ext cx="351482" cy="449537"/>
              </a:xfrm>
              <a:custGeom>
                <a:avLst/>
                <a:gdLst>
                  <a:gd name="T0" fmla="*/ 88 w 152"/>
                  <a:gd name="T1" fmla="*/ 139 h 185"/>
                  <a:gd name="T2" fmla="*/ 38 w 152"/>
                  <a:gd name="T3" fmla="*/ 139 h 185"/>
                  <a:gd name="T4" fmla="*/ 33 w 152"/>
                  <a:gd name="T5" fmla="*/ 143 h 185"/>
                  <a:gd name="T6" fmla="*/ 38 w 152"/>
                  <a:gd name="T7" fmla="*/ 147 h 185"/>
                  <a:gd name="T8" fmla="*/ 88 w 152"/>
                  <a:gd name="T9" fmla="*/ 147 h 185"/>
                  <a:gd name="T10" fmla="*/ 92 w 152"/>
                  <a:gd name="T11" fmla="*/ 143 h 185"/>
                  <a:gd name="T12" fmla="*/ 88 w 152"/>
                  <a:gd name="T13" fmla="*/ 139 h 185"/>
                  <a:gd name="T14" fmla="*/ 38 w 152"/>
                  <a:gd name="T15" fmla="*/ 46 h 185"/>
                  <a:gd name="T16" fmla="*/ 59 w 152"/>
                  <a:gd name="T17" fmla="*/ 46 h 185"/>
                  <a:gd name="T18" fmla="*/ 63 w 152"/>
                  <a:gd name="T19" fmla="*/ 42 h 185"/>
                  <a:gd name="T20" fmla="*/ 59 w 152"/>
                  <a:gd name="T21" fmla="*/ 37 h 185"/>
                  <a:gd name="T22" fmla="*/ 38 w 152"/>
                  <a:gd name="T23" fmla="*/ 37 h 185"/>
                  <a:gd name="T24" fmla="*/ 33 w 152"/>
                  <a:gd name="T25" fmla="*/ 42 h 185"/>
                  <a:gd name="T26" fmla="*/ 38 w 152"/>
                  <a:gd name="T27" fmla="*/ 46 h 185"/>
                  <a:gd name="T28" fmla="*/ 114 w 152"/>
                  <a:gd name="T29" fmla="*/ 105 h 185"/>
                  <a:gd name="T30" fmla="*/ 38 w 152"/>
                  <a:gd name="T31" fmla="*/ 105 h 185"/>
                  <a:gd name="T32" fmla="*/ 33 w 152"/>
                  <a:gd name="T33" fmla="*/ 109 h 185"/>
                  <a:gd name="T34" fmla="*/ 38 w 152"/>
                  <a:gd name="T35" fmla="*/ 113 h 185"/>
                  <a:gd name="T36" fmla="*/ 114 w 152"/>
                  <a:gd name="T37" fmla="*/ 113 h 185"/>
                  <a:gd name="T38" fmla="*/ 118 w 152"/>
                  <a:gd name="T39" fmla="*/ 109 h 185"/>
                  <a:gd name="T40" fmla="*/ 114 w 152"/>
                  <a:gd name="T41" fmla="*/ 105 h 185"/>
                  <a:gd name="T42" fmla="*/ 109 w 152"/>
                  <a:gd name="T43" fmla="*/ 0 h 185"/>
                  <a:gd name="T44" fmla="*/ 17 w 152"/>
                  <a:gd name="T45" fmla="*/ 0 h 185"/>
                  <a:gd name="T46" fmla="*/ 0 w 152"/>
                  <a:gd name="T47" fmla="*/ 16 h 185"/>
                  <a:gd name="T48" fmla="*/ 0 w 152"/>
                  <a:gd name="T49" fmla="*/ 168 h 185"/>
                  <a:gd name="T50" fmla="*/ 17 w 152"/>
                  <a:gd name="T51" fmla="*/ 185 h 185"/>
                  <a:gd name="T52" fmla="*/ 135 w 152"/>
                  <a:gd name="T53" fmla="*/ 185 h 185"/>
                  <a:gd name="T54" fmla="*/ 152 w 152"/>
                  <a:gd name="T55" fmla="*/ 168 h 185"/>
                  <a:gd name="T56" fmla="*/ 152 w 152"/>
                  <a:gd name="T57" fmla="*/ 46 h 185"/>
                  <a:gd name="T58" fmla="*/ 109 w 152"/>
                  <a:gd name="T59" fmla="*/ 0 h 185"/>
                  <a:gd name="T60" fmla="*/ 143 w 152"/>
                  <a:gd name="T61" fmla="*/ 168 h 185"/>
                  <a:gd name="T62" fmla="*/ 135 w 152"/>
                  <a:gd name="T63" fmla="*/ 177 h 185"/>
                  <a:gd name="T64" fmla="*/ 17 w 152"/>
                  <a:gd name="T65" fmla="*/ 177 h 185"/>
                  <a:gd name="T66" fmla="*/ 8 w 152"/>
                  <a:gd name="T67" fmla="*/ 168 h 185"/>
                  <a:gd name="T68" fmla="*/ 8 w 152"/>
                  <a:gd name="T69" fmla="*/ 16 h 185"/>
                  <a:gd name="T70" fmla="*/ 17 w 152"/>
                  <a:gd name="T71" fmla="*/ 8 h 185"/>
                  <a:gd name="T72" fmla="*/ 92 w 152"/>
                  <a:gd name="T73" fmla="*/ 8 h 185"/>
                  <a:gd name="T74" fmla="*/ 92 w 152"/>
                  <a:gd name="T75" fmla="*/ 50 h 185"/>
                  <a:gd name="T76" fmla="*/ 101 w 152"/>
                  <a:gd name="T77" fmla="*/ 59 h 185"/>
                  <a:gd name="T78" fmla="*/ 143 w 152"/>
                  <a:gd name="T79" fmla="*/ 59 h 185"/>
                  <a:gd name="T80" fmla="*/ 143 w 152"/>
                  <a:gd name="T81" fmla="*/ 168 h 185"/>
                  <a:gd name="T82" fmla="*/ 101 w 152"/>
                  <a:gd name="T83" fmla="*/ 50 h 185"/>
                  <a:gd name="T84" fmla="*/ 101 w 152"/>
                  <a:gd name="T85" fmla="*/ 8 h 185"/>
                  <a:gd name="T86" fmla="*/ 105 w 152"/>
                  <a:gd name="T87" fmla="*/ 8 h 185"/>
                  <a:gd name="T88" fmla="*/ 143 w 152"/>
                  <a:gd name="T89" fmla="*/ 50 h 185"/>
                  <a:gd name="T90" fmla="*/ 101 w 152"/>
                  <a:gd name="T91" fmla="*/ 50 h 185"/>
                  <a:gd name="T92" fmla="*/ 33 w 152"/>
                  <a:gd name="T93" fmla="*/ 75 h 185"/>
                  <a:gd name="T94" fmla="*/ 38 w 152"/>
                  <a:gd name="T95" fmla="*/ 80 h 185"/>
                  <a:gd name="T96" fmla="*/ 114 w 152"/>
                  <a:gd name="T97" fmla="*/ 80 h 185"/>
                  <a:gd name="T98" fmla="*/ 118 w 152"/>
                  <a:gd name="T99" fmla="*/ 75 h 185"/>
                  <a:gd name="T100" fmla="*/ 114 w 152"/>
                  <a:gd name="T101" fmla="*/ 71 h 185"/>
                  <a:gd name="T102" fmla="*/ 38 w 152"/>
                  <a:gd name="T103" fmla="*/ 71 h 185"/>
                  <a:gd name="T104" fmla="*/ 33 w 152"/>
                  <a:gd name="T105" fmla="*/ 7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 h="185">
                    <a:moveTo>
                      <a:pt x="88" y="139"/>
                    </a:moveTo>
                    <a:cubicBezTo>
                      <a:pt x="38" y="139"/>
                      <a:pt x="38" y="139"/>
                      <a:pt x="38" y="139"/>
                    </a:cubicBezTo>
                    <a:cubicBezTo>
                      <a:pt x="35" y="139"/>
                      <a:pt x="33" y="141"/>
                      <a:pt x="33" y="143"/>
                    </a:cubicBezTo>
                    <a:cubicBezTo>
                      <a:pt x="33" y="145"/>
                      <a:pt x="35" y="147"/>
                      <a:pt x="38" y="147"/>
                    </a:cubicBezTo>
                    <a:cubicBezTo>
                      <a:pt x="88" y="147"/>
                      <a:pt x="88" y="147"/>
                      <a:pt x="88" y="147"/>
                    </a:cubicBezTo>
                    <a:cubicBezTo>
                      <a:pt x="91" y="147"/>
                      <a:pt x="92" y="145"/>
                      <a:pt x="92" y="143"/>
                    </a:cubicBezTo>
                    <a:cubicBezTo>
                      <a:pt x="92" y="141"/>
                      <a:pt x="91" y="139"/>
                      <a:pt x="88" y="139"/>
                    </a:cubicBezTo>
                    <a:close/>
                    <a:moveTo>
                      <a:pt x="38" y="46"/>
                    </a:moveTo>
                    <a:cubicBezTo>
                      <a:pt x="59" y="46"/>
                      <a:pt x="59" y="46"/>
                      <a:pt x="59" y="46"/>
                    </a:cubicBezTo>
                    <a:cubicBezTo>
                      <a:pt x="61" y="46"/>
                      <a:pt x="63" y="44"/>
                      <a:pt x="63" y="42"/>
                    </a:cubicBezTo>
                    <a:cubicBezTo>
                      <a:pt x="63" y="39"/>
                      <a:pt x="61" y="37"/>
                      <a:pt x="59" y="37"/>
                    </a:cubicBezTo>
                    <a:cubicBezTo>
                      <a:pt x="38" y="37"/>
                      <a:pt x="38" y="37"/>
                      <a:pt x="38" y="37"/>
                    </a:cubicBezTo>
                    <a:cubicBezTo>
                      <a:pt x="35" y="37"/>
                      <a:pt x="33" y="39"/>
                      <a:pt x="33" y="42"/>
                    </a:cubicBezTo>
                    <a:cubicBezTo>
                      <a:pt x="33" y="44"/>
                      <a:pt x="35" y="46"/>
                      <a:pt x="38" y="46"/>
                    </a:cubicBezTo>
                    <a:close/>
                    <a:moveTo>
                      <a:pt x="114" y="105"/>
                    </a:moveTo>
                    <a:cubicBezTo>
                      <a:pt x="38" y="105"/>
                      <a:pt x="38" y="105"/>
                      <a:pt x="38" y="105"/>
                    </a:cubicBezTo>
                    <a:cubicBezTo>
                      <a:pt x="35" y="105"/>
                      <a:pt x="33" y="107"/>
                      <a:pt x="33" y="109"/>
                    </a:cubicBezTo>
                    <a:cubicBezTo>
                      <a:pt x="33" y="112"/>
                      <a:pt x="35" y="113"/>
                      <a:pt x="38" y="113"/>
                    </a:cubicBezTo>
                    <a:cubicBezTo>
                      <a:pt x="114" y="113"/>
                      <a:pt x="114" y="113"/>
                      <a:pt x="114" y="113"/>
                    </a:cubicBezTo>
                    <a:cubicBezTo>
                      <a:pt x="116" y="113"/>
                      <a:pt x="118" y="112"/>
                      <a:pt x="118" y="109"/>
                    </a:cubicBezTo>
                    <a:cubicBezTo>
                      <a:pt x="118" y="107"/>
                      <a:pt x="116" y="105"/>
                      <a:pt x="114" y="105"/>
                    </a:cubicBezTo>
                    <a:close/>
                    <a:moveTo>
                      <a:pt x="109" y="0"/>
                    </a:moveTo>
                    <a:cubicBezTo>
                      <a:pt x="17" y="0"/>
                      <a:pt x="17" y="0"/>
                      <a:pt x="17" y="0"/>
                    </a:cubicBezTo>
                    <a:cubicBezTo>
                      <a:pt x="7" y="0"/>
                      <a:pt x="0" y="7"/>
                      <a:pt x="0" y="16"/>
                    </a:cubicBezTo>
                    <a:cubicBezTo>
                      <a:pt x="0" y="168"/>
                      <a:pt x="0" y="168"/>
                      <a:pt x="0" y="168"/>
                    </a:cubicBezTo>
                    <a:cubicBezTo>
                      <a:pt x="0" y="178"/>
                      <a:pt x="7" y="185"/>
                      <a:pt x="17" y="185"/>
                    </a:cubicBezTo>
                    <a:cubicBezTo>
                      <a:pt x="135" y="185"/>
                      <a:pt x="135" y="185"/>
                      <a:pt x="135" y="185"/>
                    </a:cubicBezTo>
                    <a:cubicBezTo>
                      <a:pt x="144" y="185"/>
                      <a:pt x="152" y="178"/>
                      <a:pt x="152" y="168"/>
                    </a:cubicBezTo>
                    <a:cubicBezTo>
                      <a:pt x="152" y="46"/>
                      <a:pt x="152" y="46"/>
                      <a:pt x="152" y="46"/>
                    </a:cubicBezTo>
                    <a:lnTo>
                      <a:pt x="109" y="0"/>
                    </a:lnTo>
                    <a:close/>
                    <a:moveTo>
                      <a:pt x="143" y="168"/>
                    </a:moveTo>
                    <a:cubicBezTo>
                      <a:pt x="143" y="173"/>
                      <a:pt x="139" y="177"/>
                      <a:pt x="135" y="177"/>
                    </a:cubicBezTo>
                    <a:cubicBezTo>
                      <a:pt x="17" y="177"/>
                      <a:pt x="17" y="177"/>
                      <a:pt x="17" y="177"/>
                    </a:cubicBezTo>
                    <a:cubicBezTo>
                      <a:pt x="12" y="177"/>
                      <a:pt x="8" y="173"/>
                      <a:pt x="8" y="168"/>
                    </a:cubicBezTo>
                    <a:cubicBezTo>
                      <a:pt x="8" y="16"/>
                      <a:pt x="8" y="16"/>
                      <a:pt x="8" y="16"/>
                    </a:cubicBezTo>
                    <a:cubicBezTo>
                      <a:pt x="8" y="12"/>
                      <a:pt x="12" y="8"/>
                      <a:pt x="17" y="8"/>
                    </a:cubicBezTo>
                    <a:cubicBezTo>
                      <a:pt x="92" y="8"/>
                      <a:pt x="92" y="8"/>
                      <a:pt x="92" y="8"/>
                    </a:cubicBezTo>
                    <a:cubicBezTo>
                      <a:pt x="92" y="50"/>
                      <a:pt x="92" y="50"/>
                      <a:pt x="92" y="50"/>
                    </a:cubicBezTo>
                    <a:cubicBezTo>
                      <a:pt x="92" y="55"/>
                      <a:pt x="96" y="59"/>
                      <a:pt x="101" y="59"/>
                    </a:cubicBezTo>
                    <a:cubicBezTo>
                      <a:pt x="143" y="59"/>
                      <a:pt x="143" y="59"/>
                      <a:pt x="143" y="59"/>
                    </a:cubicBezTo>
                    <a:lnTo>
                      <a:pt x="143" y="168"/>
                    </a:lnTo>
                    <a:close/>
                    <a:moveTo>
                      <a:pt x="101" y="50"/>
                    </a:moveTo>
                    <a:cubicBezTo>
                      <a:pt x="101" y="8"/>
                      <a:pt x="101" y="8"/>
                      <a:pt x="101" y="8"/>
                    </a:cubicBezTo>
                    <a:cubicBezTo>
                      <a:pt x="105" y="8"/>
                      <a:pt x="105" y="8"/>
                      <a:pt x="105" y="8"/>
                    </a:cubicBezTo>
                    <a:cubicBezTo>
                      <a:pt x="143" y="50"/>
                      <a:pt x="143" y="50"/>
                      <a:pt x="143" y="50"/>
                    </a:cubicBezTo>
                    <a:lnTo>
                      <a:pt x="101" y="50"/>
                    </a:lnTo>
                    <a:close/>
                    <a:moveTo>
                      <a:pt x="33" y="75"/>
                    </a:moveTo>
                    <a:cubicBezTo>
                      <a:pt x="33" y="78"/>
                      <a:pt x="35" y="80"/>
                      <a:pt x="38" y="80"/>
                    </a:cubicBezTo>
                    <a:cubicBezTo>
                      <a:pt x="114" y="80"/>
                      <a:pt x="114" y="80"/>
                      <a:pt x="114" y="80"/>
                    </a:cubicBezTo>
                    <a:cubicBezTo>
                      <a:pt x="116" y="80"/>
                      <a:pt x="118" y="78"/>
                      <a:pt x="118" y="75"/>
                    </a:cubicBezTo>
                    <a:cubicBezTo>
                      <a:pt x="118" y="73"/>
                      <a:pt x="116" y="71"/>
                      <a:pt x="114" y="71"/>
                    </a:cubicBezTo>
                    <a:cubicBezTo>
                      <a:pt x="38" y="71"/>
                      <a:pt x="38" y="71"/>
                      <a:pt x="38" y="71"/>
                    </a:cubicBezTo>
                    <a:cubicBezTo>
                      <a:pt x="35" y="71"/>
                      <a:pt x="33" y="73"/>
                      <a:pt x="33" y="75"/>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105" name="TextBox 25"/>
              <p:cNvSpPr txBox="1"/>
              <p:nvPr/>
            </p:nvSpPr>
            <p:spPr>
              <a:xfrm>
                <a:off x="2360712" y="3541331"/>
                <a:ext cx="977047" cy="2308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En Curso</a:t>
                </a:r>
                <a:endParaRPr lang="es-ES" sz="900" b="1" dirty="0">
                  <a:solidFill>
                    <a:schemeClr val="bg1">
                      <a:lumMod val="50000"/>
                    </a:schemeClr>
                  </a:solidFill>
                  <a:latin typeface="Avenir 35" panose="00000400000000000000" pitchFamily="2" charset="0"/>
                </a:endParaRPr>
              </a:p>
            </p:txBody>
          </p:sp>
        </p:grpSp>
        <p:grpSp>
          <p:nvGrpSpPr>
            <p:cNvPr id="8" name="7 Grupo"/>
            <p:cNvGrpSpPr/>
            <p:nvPr/>
          </p:nvGrpSpPr>
          <p:grpSpPr>
            <a:xfrm>
              <a:off x="848544" y="4691084"/>
              <a:ext cx="2328232" cy="682132"/>
              <a:chOff x="992560" y="4691084"/>
              <a:chExt cx="2328232" cy="682132"/>
            </a:xfrm>
          </p:grpSpPr>
          <p:sp>
            <p:nvSpPr>
              <p:cNvPr id="83" name="Freeform 69"/>
              <p:cNvSpPr>
                <a:spLocks noEditPoints="1"/>
              </p:cNvSpPr>
              <p:nvPr/>
            </p:nvSpPr>
            <p:spPr bwMode="auto">
              <a:xfrm>
                <a:off x="1980935" y="4691084"/>
                <a:ext cx="351482" cy="449537"/>
              </a:xfrm>
              <a:custGeom>
                <a:avLst/>
                <a:gdLst>
                  <a:gd name="T0" fmla="*/ 88 w 152"/>
                  <a:gd name="T1" fmla="*/ 139 h 185"/>
                  <a:gd name="T2" fmla="*/ 38 w 152"/>
                  <a:gd name="T3" fmla="*/ 139 h 185"/>
                  <a:gd name="T4" fmla="*/ 33 w 152"/>
                  <a:gd name="T5" fmla="*/ 143 h 185"/>
                  <a:gd name="T6" fmla="*/ 38 w 152"/>
                  <a:gd name="T7" fmla="*/ 147 h 185"/>
                  <a:gd name="T8" fmla="*/ 88 w 152"/>
                  <a:gd name="T9" fmla="*/ 147 h 185"/>
                  <a:gd name="T10" fmla="*/ 92 w 152"/>
                  <a:gd name="T11" fmla="*/ 143 h 185"/>
                  <a:gd name="T12" fmla="*/ 88 w 152"/>
                  <a:gd name="T13" fmla="*/ 139 h 185"/>
                  <a:gd name="T14" fmla="*/ 38 w 152"/>
                  <a:gd name="T15" fmla="*/ 46 h 185"/>
                  <a:gd name="T16" fmla="*/ 59 w 152"/>
                  <a:gd name="T17" fmla="*/ 46 h 185"/>
                  <a:gd name="T18" fmla="*/ 63 w 152"/>
                  <a:gd name="T19" fmla="*/ 42 h 185"/>
                  <a:gd name="T20" fmla="*/ 59 w 152"/>
                  <a:gd name="T21" fmla="*/ 37 h 185"/>
                  <a:gd name="T22" fmla="*/ 38 w 152"/>
                  <a:gd name="T23" fmla="*/ 37 h 185"/>
                  <a:gd name="T24" fmla="*/ 33 w 152"/>
                  <a:gd name="T25" fmla="*/ 42 h 185"/>
                  <a:gd name="T26" fmla="*/ 38 w 152"/>
                  <a:gd name="T27" fmla="*/ 46 h 185"/>
                  <a:gd name="T28" fmla="*/ 114 w 152"/>
                  <a:gd name="T29" fmla="*/ 105 h 185"/>
                  <a:gd name="T30" fmla="*/ 38 w 152"/>
                  <a:gd name="T31" fmla="*/ 105 h 185"/>
                  <a:gd name="T32" fmla="*/ 33 w 152"/>
                  <a:gd name="T33" fmla="*/ 109 h 185"/>
                  <a:gd name="T34" fmla="*/ 38 w 152"/>
                  <a:gd name="T35" fmla="*/ 113 h 185"/>
                  <a:gd name="T36" fmla="*/ 114 w 152"/>
                  <a:gd name="T37" fmla="*/ 113 h 185"/>
                  <a:gd name="T38" fmla="*/ 118 w 152"/>
                  <a:gd name="T39" fmla="*/ 109 h 185"/>
                  <a:gd name="T40" fmla="*/ 114 w 152"/>
                  <a:gd name="T41" fmla="*/ 105 h 185"/>
                  <a:gd name="T42" fmla="*/ 109 w 152"/>
                  <a:gd name="T43" fmla="*/ 0 h 185"/>
                  <a:gd name="T44" fmla="*/ 17 w 152"/>
                  <a:gd name="T45" fmla="*/ 0 h 185"/>
                  <a:gd name="T46" fmla="*/ 0 w 152"/>
                  <a:gd name="T47" fmla="*/ 16 h 185"/>
                  <a:gd name="T48" fmla="*/ 0 w 152"/>
                  <a:gd name="T49" fmla="*/ 168 h 185"/>
                  <a:gd name="T50" fmla="*/ 17 w 152"/>
                  <a:gd name="T51" fmla="*/ 185 h 185"/>
                  <a:gd name="T52" fmla="*/ 135 w 152"/>
                  <a:gd name="T53" fmla="*/ 185 h 185"/>
                  <a:gd name="T54" fmla="*/ 152 w 152"/>
                  <a:gd name="T55" fmla="*/ 168 h 185"/>
                  <a:gd name="T56" fmla="*/ 152 w 152"/>
                  <a:gd name="T57" fmla="*/ 46 h 185"/>
                  <a:gd name="T58" fmla="*/ 109 w 152"/>
                  <a:gd name="T59" fmla="*/ 0 h 185"/>
                  <a:gd name="T60" fmla="*/ 143 w 152"/>
                  <a:gd name="T61" fmla="*/ 168 h 185"/>
                  <a:gd name="T62" fmla="*/ 135 w 152"/>
                  <a:gd name="T63" fmla="*/ 177 h 185"/>
                  <a:gd name="T64" fmla="*/ 17 w 152"/>
                  <a:gd name="T65" fmla="*/ 177 h 185"/>
                  <a:gd name="T66" fmla="*/ 8 w 152"/>
                  <a:gd name="T67" fmla="*/ 168 h 185"/>
                  <a:gd name="T68" fmla="*/ 8 w 152"/>
                  <a:gd name="T69" fmla="*/ 16 h 185"/>
                  <a:gd name="T70" fmla="*/ 17 w 152"/>
                  <a:gd name="T71" fmla="*/ 8 h 185"/>
                  <a:gd name="T72" fmla="*/ 92 w 152"/>
                  <a:gd name="T73" fmla="*/ 8 h 185"/>
                  <a:gd name="T74" fmla="*/ 92 w 152"/>
                  <a:gd name="T75" fmla="*/ 50 h 185"/>
                  <a:gd name="T76" fmla="*/ 101 w 152"/>
                  <a:gd name="T77" fmla="*/ 59 h 185"/>
                  <a:gd name="T78" fmla="*/ 143 w 152"/>
                  <a:gd name="T79" fmla="*/ 59 h 185"/>
                  <a:gd name="T80" fmla="*/ 143 w 152"/>
                  <a:gd name="T81" fmla="*/ 168 h 185"/>
                  <a:gd name="T82" fmla="*/ 101 w 152"/>
                  <a:gd name="T83" fmla="*/ 50 h 185"/>
                  <a:gd name="T84" fmla="*/ 101 w 152"/>
                  <a:gd name="T85" fmla="*/ 8 h 185"/>
                  <a:gd name="T86" fmla="*/ 105 w 152"/>
                  <a:gd name="T87" fmla="*/ 8 h 185"/>
                  <a:gd name="T88" fmla="*/ 143 w 152"/>
                  <a:gd name="T89" fmla="*/ 50 h 185"/>
                  <a:gd name="T90" fmla="*/ 101 w 152"/>
                  <a:gd name="T91" fmla="*/ 50 h 185"/>
                  <a:gd name="T92" fmla="*/ 33 w 152"/>
                  <a:gd name="T93" fmla="*/ 75 h 185"/>
                  <a:gd name="T94" fmla="*/ 38 w 152"/>
                  <a:gd name="T95" fmla="*/ 80 h 185"/>
                  <a:gd name="T96" fmla="*/ 114 w 152"/>
                  <a:gd name="T97" fmla="*/ 80 h 185"/>
                  <a:gd name="T98" fmla="*/ 118 w 152"/>
                  <a:gd name="T99" fmla="*/ 75 h 185"/>
                  <a:gd name="T100" fmla="*/ 114 w 152"/>
                  <a:gd name="T101" fmla="*/ 71 h 185"/>
                  <a:gd name="T102" fmla="*/ 38 w 152"/>
                  <a:gd name="T103" fmla="*/ 71 h 185"/>
                  <a:gd name="T104" fmla="*/ 33 w 152"/>
                  <a:gd name="T105" fmla="*/ 7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 h="185">
                    <a:moveTo>
                      <a:pt x="88" y="139"/>
                    </a:moveTo>
                    <a:cubicBezTo>
                      <a:pt x="38" y="139"/>
                      <a:pt x="38" y="139"/>
                      <a:pt x="38" y="139"/>
                    </a:cubicBezTo>
                    <a:cubicBezTo>
                      <a:pt x="35" y="139"/>
                      <a:pt x="33" y="141"/>
                      <a:pt x="33" y="143"/>
                    </a:cubicBezTo>
                    <a:cubicBezTo>
                      <a:pt x="33" y="145"/>
                      <a:pt x="35" y="147"/>
                      <a:pt x="38" y="147"/>
                    </a:cubicBezTo>
                    <a:cubicBezTo>
                      <a:pt x="88" y="147"/>
                      <a:pt x="88" y="147"/>
                      <a:pt x="88" y="147"/>
                    </a:cubicBezTo>
                    <a:cubicBezTo>
                      <a:pt x="91" y="147"/>
                      <a:pt x="92" y="145"/>
                      <a:pt x="92" y="143"/>
                    </a:cubicBezTo>
                    <a:cubicBezTo>
                      <a:pt x="92" y="141"/>
                      <a:pt x="91" y="139"/>
                      <a:pt x="88" y="139"/>
                    </a:cubicBezTo>
                    <a:close/>
                    <a:moveTo>
                      <a:pt x="38" y="46"/>
                    </a:moveTo>
                    <a:cubicBezTo>
                      <a:pt x="59" y="46"/>
                      <a:pt x="59" y="46"/>
                      <a:pt x="59" y="46"/>
                    </a:cubicBezTo>
                    <a:cubicBezTo>
                      <a:pt x="61" y="46"/>
                      <a:pt x="63" y="44"/>
                      <a:pt x="63" y="42"/>
                    </a:cubicBezTo>
                    <a:cubicBezTo>
                      <a:pt x="63" y="39"/>
                      <a:pt x="61" y="37"/>
                      <a:pt x="59" y="37"/>
                    </a:cubicBezTo>
                    <a:cubicBezTo>
                      <a:pt x="38" y="37"/>
                      <a:pt x="38" y="37"/>
                      <a:pt x="38" y="37"/>
                    </a:cubicBezTo>
                    <a:cubicBezTo>
                      <a:pt x="35" y="37"/>
                      <a:pt x="33" y="39"/>
                      <a:pt x="33" y="42"/>
                    </a:cubicBezTo>
                    <a:cubicBezTo>
                      <a:pt x="33" y="44"/>
                      <a:pt x="35" y="46"/>
                      <a:pt x="38" y="46"/>
                    </a:cubicBezTo>
                    <a:close/>
                    <a:moveTo>
                      <a:pt x="114" y="105"/>
                    </a:moveTo>
                    <a:cubicBezTo>
                      <a:pt x="38" y="105"/>
                      <a:pt x="38" y="105"/>
                      <a:pt x="38" y="105"/>
                    </a:cubicBezTo>
                    <a:cubicBezTo>
                      <a:pt x="35" y="105"/>
                      <a:pt x="33" y="107"/>
                      <a:pt x="33" y="109"/>
                    </a:cubicBezTo>
                    <a:cubicBezTo>
                      <a:pt x="33" y="112"/>
                      <a:pt x="35" y="113"/>
                      <a:pt x="38" y="113"/>
                    </a:cubicBezTo>
                    <a:cubicBezTo>
                      <a:pt x="114" y="113"/>
                      <a:pt x="114" y="113"/>
                      <a:pt x="114" y="113"/>
                    </a:cubicBezTo>
                    <a:cubicBezTo>
                      <a:pt x="116" y="113"/>
                      <a:pt x="118" y="112"/>
                      <a:pt x="118" y="109"/>
                    </a:cubicBezTo>
                    <a:cubicBezTo>
                      <a:pt x="118" y="107"/>
                      <a:pt x="116" y="105"/>
                      <a:pt x="114" y="105"/>
                    </a:cubicBezTo>
                    <a:close/>
                    <a:moveTo>
                      <a:pt x="109" y="0"/>
                    </a:moveTo>
                    <a:cubicBezTo>
                      <a:pt x="17" y="0"/>
                      <a:pt x="17" y="0"/>
                      <a:pt x="17" y="0"/>
                    </a:cubicBezTo>
                    <a:cubicBezTo>
                      <a:pt x="7" y="0"/>
                      <a:pt x="0" y="7"/>
                      <a:pt x="0" y="16"/>
                    </a:cubicBezTo>
                    <a:cubicBezTo>
                      <a:pt x="0" y="168"/>
                      <a:pt x="0" y="168"/>
                      <a:pt x="0" y="168"/>
                    </a:cubicBezTo>
                    <a:cubicBezTo>
                      <a:pt x="0" y="178"/>
                      <a:pt x="7" y="185"/>
                      <a:pt x="17" y="185"/>
                    </a:cubicBezTo>
                    <a:cubicBezTo>
                      <a:pt x="135" y="185"/>
                      <a:pt x="135" y="185"/>
                      <a:pt x="135" y="185"/>
                    </a:cubicBezTo>
                    <a:cubicBezTo>
                      <a:pt x="144" y="185"/>
                      <a:pt x="152" y="178"/>
                      <a:pt x="152" y="168"/>
                    </a:cubicBezTo>
                    <a:cubicBezTo>
                      <a:pt x="152" y="46"/>
                      <a:pt x="152" y="46"/>
                      <a:pt x="152" y="46"/>
                    </a:cubicBezTo>
                    <a:lnTo>
                      <a:pt x="109" y="0"/>
                    </a:lnTo>
                    <a:close/>
                    <a:moveTo>
                      <a:pt x="143" y="168"/>
                    </a:moveTo>
                    <a:cubicBezTo>
                      <a:pt x="143" y="173"/>
                      <a:pt x="139" y="177"/>
                      <a:pt x="135" y="177"/>
                    </a:cubicBezTo>
                    <a:cubicBezTo>
                      <a:pt x="17" y="177"/>
                      <a:pt x="17" y="177"/>
                      <a:pt x="17" y="177"/>
                    </a:cubicBezTo>
                    <a:cubicBezTo>
                      <a:pt x="12" y="177"/>
                      <a:pt x="8" y="173"/>
                      <a:pt x="8" y="168"/>
                    </a:cubicBezTo>
                    <a:cubicBezTo>
                      <a:pt x="8" y="16"/>
                      <a:pt x="8" y="16"/>
                      <a:pt x="8" y="16"/>
                    </a:cubicBezTo>
                    <a:cubicBezTo>
                      <a:pt x="8" y="12"/>
                      <a:pt x="12" y="8"/>
                      <a:pt x="17" y="8"/>
                    </a:cubicBezTo>
                    <a:cubicBezTo>
                      <a:pt x="92" y="8"/>
                      <a:pt x="92" y="8"/>
                      <a:pt x="92" y="8"/>
                    </a:cubicBezTo>
                    <a:cubicBezTo>
                      <a:pt x="92" y="50"/>
                      <a:pt x="92" y="50"/>
                      <a:pt x="92" y="50"/>
                    </a:cubicBezTo>
                    <a:cubicBezTo>
                      <a:pt x="92" y="55"/>
                      <a:pt x="96" y="59"/>
                      <a:pt x="101" y="59"/>
                    </a:cubicBezTo>
                    <a:cubicBezTo>
                      <a:pt x="143" y="59"/>
                      <a:pt x="143" y="59"/>
                      <a:pt x="143" y="59"/>
                    </a:cubicBezTo>
                    <a:lnTo>
                      <a:pt x="143" y="168"/>
                    </a:lnTo>
                    <a:close/>
                    <a:moveTo>
                      <a:pt x="101" y="50"/>
                    </a:moveTo>
                    <a:cubicBezTo>
                      <a:pt x="101" y="8"/>
                      <a:pt x="101" y="8"/>
                      <a:pt x="101" y="8"/>
                    </a:cubicBezTo>
                    <a:cubicBezTo>
                      <a:pt x="105" y="8"/>
                      <a:pt x="105" y="8"/>
                      <a:pt x="105" y="8"/>
                    </a:cubicBezTo>
                    <a:cubicBezTo>
                      <a:pt x="143" y="50"/>
                      <a:pt x="143" y="50"/>
                      <a:pt x="143" y="50"/>
                    </a:cubicBezTo>
                    <a:lnTo>
                      <a:pt x="101" y="50"/>
                    </a:lnTo>
                    <a:close/>
                    <a:moveTo>
                      <a:pt x="33" y="75"/>
                    </a:moveTo>
                    <a:cubicBezTo>
                      <a:pt x="33" y="78"/>
                      <a:pt x="35" y="80"/>
                      <a:pt x="38" y="80"/>
                    </a:cubicBezTo>
                    <a:cubicBezTo>
                      <a:pt x="114" y="80"/>
                      <a:pt x="114" y="80"/>
                      <a:pt x="114" y="80"/>
                    </a:cubicBezTo>
                    <a:cubicBezTo>
                      <a:pt x="116" y="80"/>
                      <a:pt x="118" y="78"/>
                      <a:pt x="118" y="75"/>
                    </a:cubicBezTo>
                    <a:cubicBezTo>
                      <a:pt x="118" y="73"/>
                      <a:pt x="116" y="71"/>
                      <a:pt x="114" y="71"/>
                    </a:cubicBezTo>
                    <a:cubicBezTo>
                      <a:pt x="38" y="71"/>
                      <a:pt x="38" y="71"/>
                      <a:pt x="38" y="71"/>
                    </a:cubicBezTo>
                    <a:cubicBezTo>
                      <a:pt x="35" y="71"/>
                      <a:pt x="33" y="73"/>
                      <a:pt x="33" y="75"/>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106" name="TextBox 25"/>
              <p:cNvSpPr txBox="1"/>
              <p:nvPr/>
            </p:nvSpPr>
            <p:spPr>
              <a:xfrm>
                <a:off x="992560" y="5142384"/>
                <a:ext cx="2328232" cy="2308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Archivo</a:t>
                </a:r>
                <a:endParaRPr lang="es-ES" sz="900" b="1" dirty="0">
                  <a:solidFill>
                    <a:schemeClr val="bg1">
                      <a:lumMod val="50000"/>
                    </a:schemeClr>
                  </a:solidFill>
                  <a:latin typeface="Avenir 35" panose="00000400000000000000" pitchFamily="2" charset="0"/>
                </a:endParaRPr>
              </a:p>
            </p:txBody>
          </p:sp>
        </p:grpSp>
        <p:grpSp>
          <p:nvGrpSpPr>
            <p:cNvPr id="10" name="9 Grupo"/>
            <p:cNvGrpSpPr/>
            <p:nvPr/>
          </p:nvGrpSpPr>
          <p:grpSpPr>
            <a:xfrm>
              <a:off x="2055123" y="4691084"/>
              <a:ext cx="1601733" cy="682132"/>
              <a:chOff x="2055123" y="4691084"/>
              <a:chExt cx="1601733" cy="682132"/>
            </a:xfrm>
          </p:grpSpPr>
          <p:sp>
            <p:nvSpPr>
              <p:cNvPr id="84" name="Freeform 69"/>
              <p:cNvSpPr>
                <a:spLocks noEditPoints="1"/>
              </p:cNvSpPr>
              <p:nvPr/>
            </p:nvSpPr>
            <p:spPr bwMode="auto">
              <a:xfrm>
                <a:off x="2680248" y="4691084"/>
                <a:ext cx="351482" cy="449537"/>
              </a:xfrm>
              <a:custGeom>
                <a:avLst/>
                <a:gdLst>
                  <a:gd name="T0" fmla="*/ 88 w 152"/>
                  <a:gd name="T1" fmla="*/ 139 h 185"/>
                  <a:gd name="T2" fmla="*/ 38 w 152"/>
                  <a:gd name="T3" fmla="*/ 139 h 185"/>
                  <a:gd name="T4" fmla="*/ 33 w 152"/>
                  <a:gd name="T5" fmla="*/ 143 h 185"/>
                  <a:gd name="T6" fmla="*/ 38 w 152"/>
                  <a:gd name="T7" fmla="*/ 147 h 185"/>
                  <a:gd name="T8" fmla="*/ 88 w 152"/>
                  <a:gd name="T9" fmla="*/ 147 h 185"/>
                  <a:gd name="T10" fmla="*/ 92 w 152"/>
                  <a:gd name="T11" fmla="*/ 143 h 185"/>
                  <a:gd name="T12" fmla="*/ 88 w 152"/>
                  <a:gd name="T13" fmla="*/ 139 h 185"/>
                  <a:gd name="T14" fmla="*/ 38 w 152"/>
                  <a:gd name="T15" fmla="*/ 46 h 185"/>
                  <a:gd name="T16" fmla="*/ 59 w 152"/>
                  <a:gd name="T17" fmla="*/ 46 h 185"/>
                  <a:gd name="T18" fmla="*/ 63 w 152"/>
                  <a:gd name="T19" fmla="*/ 42 h 185"/>
                  <a:gd name="T20" fmla="*/ 59 w 152"/>
                  <a:gd name="T21" fmla="*/ 37 h 185"/>
                  <a:gd name="T22" fmla="*/ 38 w 152"/>
                  <a:gd name="T23" fmla="*/ 37 h 185"/>
                  <a:gd name="T24" fmla="*/ 33 w 152"/>
                  <a:gd name="T25" fmla="*/ 42 h 185"/>
                  <a:gd name="T26" fmla="*/ 38 w 152"/>
                  <a:gd name="T27" fmla="*/ 46 h 185"/>
                  <a:gd name="T28" fmla="*/ 114 w 152"/>
                  <a:gd name="T29" fmla="*/ 105 h 185"/>
                  <a:gd name="T30" fmla="*/ 38 w 152"/>
                  <a:gd name="T31" fmla="*/ 105 h 185"/>
                  <a:gd name="T32" fmla="*/ 33 w 152"/>
                  <a:gd name="T33" fmla="*/ 109 h 185"/>
                  <a:gd name="T34" fmla="*/ 38 w 152"/>
                  <a:gd name="T35" fmla="*/ 113 h 185"/>
                  <a:gd name="T36" fmla="*/ 114 w 152"/>
                  <a:gd name="T37" fmla="*/ 113 h 185"/>
                  <a:gd name="T38" fmla="*/ 118 w 152"/>
                  <a:gd name="T39" fmla="*/ 109 h 185"/>
                  <a:gd name="T40" fmla="*/ 114 w 152"/>
                  <a:gd name="T41" fmla="*/ 105 h 185"/>
                  <a:gd name="T42" fmla="*/ 109 w 152"/>
                  <a:gd name="T43" fmla="*/ 0 h 185"/>
                  <a:gd name="T44" fmla="*/ 17 w 152"/>
                  <a:gd name="T45" fmla="*/ 0 h 185"/>
                  <a:gd name="T46" fmla="*/ 0 w 152"/>
                  <a:gd name="T47" fmla="*/ 16 h 185"/>
                  <a:gd name="T48" fmla="*/ 0 w 152"/>
                  <a:gd name="T49" fmla="*/ 168 h 185"/>
                  <a:gd name="T50" fmla="*/ 17 w 152"/>
                  <a:gd name="T51" fmla="*/ 185 h 185"/>
                  <a:gd name="T52" fmla="*/ 135 w 152"/>
                  <a:gd name="T53" fmla="*/ 185 h 185"/>
                  <a:gd name="T54" fmla="*/ 152 w 152"/>
                  <a:gd name="T55" fmla="*/ 168 h 185"/>
                  <a:gd name="T56" fmla="*/ 152 w 152"/>
                  <a:gd name="T57" fmla="*/ 46 h 185"/>
                  <a:gd name="T58" fmla="*/ 109 w 152"/>
                  <a:gd name="T59" fmla="*/ 0 h 185"/>
                  <a:gd name="T60" fmla="*/ 143 w 152"/>
                  <a:gd name="T61" fmla="*/ 168 h 185"/>
                  <a:gd name="T62" fmla="*/ 135 w 152"/>
                  <a:gd name="T63" fmla="*/ 177 h 185"/>
                  <a:gd name="T64" fmla="*/ 17 w 152"/>
                  <a:gd name="T65" fmla="*/ 177 h 185"/>
                  <a:gd name="T66" fmla="*/ 8 w 152"/>
                  <a:gd name="T67" fmla="*/ 168 h 185"/>
                  <a:gd name="T68" fmla="*/ 8 w 152"/>
                  <a:gd name="T69" fmla="*/ 16 h 185"/>
                  <a:gd name="T70" fmla="*/ 17 w 152"/>
                  <a:gd name="T71" fmla="*/ 8 h 185"/>
                  <a:gd name="T72" fmla="*/ 92 w 152"/>
                  <a:gd name="T73" fmla="*/ 8 h 185"/>
                  <a:gd name="T74" fmla="*/ 92 w 152"/>
                  <a:gd name="T75" fmla="*/ 50 h 185"/>
                  <a:gd name="T76" fmla="*/ 101 w 152"/>
                  <a:gd name="T77" fmla="*/ 59 h 185"/>
                  <a:gd name="T78" fmla="*/ 143 w 152"/>
                  <a:gd name="T79" fmla="*/ 59 h 185"/>
                  <a:gd name="T80" fmla="*/ 143 w 152"/>
                  <a:gd name="T81" fmla="*/ 168 h 185"/>
                  <a:gd name="T82" fmla="*/ 101 w 152"/>
                  <a:gd name="T83" fmla="*/ 50 h 185"/>
                  <a:gd name="T84" fmla="*/ 101 w 152"/>
                  <a:gd name="T85" fmla="*/ 8 h 185"/>
                  <a:gd name="T86" fmla="*/ 105 w 152"/>
                  <a:gd name="T87" fmla="*/ 8 h 185"/>
                  <a:gd name="T88" fmla="*/ 143 w 152"/>
                  <a:gd name="T89" fmla="*/ 50 h 185"/>
                  <a:gd name="T90" fmla="*/ 101 w 152"/>
                  <a:gd name="T91" fmla="*/ 50 h 185"/>
                  <a:gd name="T92" fmla="*/ 33 w 152"/>
                  <a:gd name="T93" fmla="*/ 75 h 185"/>
                  <a:gd name="T94" fmla="*/ 38 w 152"/>
                  <a:gd name="T95" fmla="*/ 80 h 185"/>
                  <a:gd name="T96" fmla="*/ 114 w 152"/>
                  <a:gd name="T97" fmla="*/ 80 h 185"/>
                  <a:gd name="T98" fmla="*/ 118 w 152"/>
                  <a:gd name="T99" fmla="*/ 75 h 185"/>
                  <a:gd name="T100" fmla="*/ 114 w 152"/>
                  <a:gd name="T101" fmla="*/ 71 h 185"/>
                  <a:gd name="T102" fmla="*/ 38 w 152"/>
                  <a:gd name="T103" fmla="*/ 71 h 185"/>
                  <a:gd name="T104" fmla="*/ 33 w 152"/>
                  <a:gd name="T105" fmla="*/ 7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 h="185">
                    <a:moveTo>
                      <a:pt x="88" y="139"/>
                    </a:moveTo>
                    <a:cubicBezTo>
                      <a:pt x="38" y="139"/>
                      <a:pt x="38" y="139"/>
                      <a:pt x="38" y="139"/>
                    </a:cubicBezTo>
                    <a:cubicBezTo>
                      <a:pt x="35" y="139"/>
                      <a:pt x="33" y="141"/>
                      <a:pt x="33" y="143"/>
                    </a:cubicBezTo>
                    <a:cubicBezTo>
                      <a:pt x="33" y="145"/>
                      <a:pt x="35" y="147"/>
                      <a:pt x="38" y="147"/>
                    </a:cubicBezTo>
                    <a:cubicBezTo>
                      <a:pt x="88" y="147"/>
                      <a:pt x="88" y="147"/>
                      <a:pt x="88" y="147"/>
                    </a:cubicBezTo>
                    <a:cubicBezTo>
                      <a:pt x="91" y="147"/>
                      <a:pt x="92" y="145"/>
                      <a:pt x="92" y="143"/>
                    </a:cubicBezTo>
                    <a:cubicBezTo>
                      <a:pt x="92" y="141"/>
                      <a:pt x="91" y="139"/>
                      <a:pt x="88" y="139"/>
                    </a:cubicBezTo>
                    <a:close/>
                    <a:moveTo>
                      <a:pt x="38" y="46"/>
                    </a:moveTo>
                    <a:cubicBezTo>
                      <a:pt x="59" y="46"/>
                      <a:pt x="59" y="46"/>
                      <a:pt x="59" y="46"/>
                    </a:cubicBezTo>
                    <a:cubicBezTo>
                      <a:pt x="61" y="46"/>
                      <a:pt x="63" y="44"/>
                      <a:pt x="63" y="42"/>
                    </a:cubicBezTo>
                    <a:cubicBezTo>
                      <a:pt x="63" y="39"/>
                      <a:pt x="61" y="37"/>
                      <a:pt x="59" y="37"/>
                    </a:cubicBezTo>
                    <a:cubicBezTo>
                      <a:pt x="38" y="37"/>
                      <a:pt x="38" y="37"/>
                      <a:pt x="38" y="37"/>
                    </a:cubicBezTo>
                    <a:cubicBezTo>
                      <a:pt x="35" y="37"/>
                      <a:pt x="33" y="39"/>
                      <a:pt x="33" y="42"/>
                    </a:cubicBezTo>
                    <a:cubicBezTo>
                      <a:pt x="33" y="44"/>
                      <a:pt x="35" y="46"/>
                      <a:pt x="38" y="46"/>
                    </a:cubicBezTo>
                    <a:close/>
                    <a:moveTo>
                      <a:pt x="114" y="105"/>
                    </a:moveTo>
                    <a:cubicBezTo>
                      <a:pt x="38" y="105"/>
                      <a:pt x="38" y="105"/>
                      <a:pt x="38" y="105"/>
                    </a:cubicBezTo>
                    <a:cubicBezTo>
                      <a:pt x="35" y="105"/>
                      <a:pt x="33" y="107"/>
                      <a:pt x="33" y="109"/>
                    </a:cubicBezTo>
                    <a:cubicBezTo>
                      <a:pt x="33" y="112"/>
                      <a:pt x="35" y="113"/>
                      <a:pt x="38" y="113"/>
                    </a:cubicBezTo>
                    <a:cubicBezTo>
                      <a:pt x="114" y="113"/>
                      <a:pt x="114" y="113"/>
                      <a:pt x="114" y="113"/>
                    </a:cubicBezTo>
                    <a:cubicBezTo>
                      <a:pt x="116" y="113"/>
                      <a:pt x="118" y="112"/>
                      <a:pt x="118" y="109"/>
                    </a:cubicBezTo>
                    <a:cubicBezTo>
                      <a:pt x="118" y="107"/>
                      <a:pt x="116" y="105"/>
                      <a:pt x="114" y="105"/>
                    </a:cubicBezTo>
                    <a:close/>
                    <a:moveTo>
                      <a:pt x="109" y="0"/>
                    </a:moveTo>
                    <a:cubicBezTo>
                      <a:pt x="17" y="0"/>
                      <a:pt x="17" y="0"/>
                      <a:pt x="17" y="0"/>
                    </a:cubicBezTo>
                    <a:cubicBezTo>
                      <a:pt x="7" y="0"/>
                      <a:pt x="0" y="7"/>
                      <a:pt x="0" y="16"/>
                    </a:cubicBezTo>
                    <a:cubicBezTo>
                      <a:pt x="0" y="168"/>
                      <a:pt x="0" y="168"/>
                      <a:pt x="0" y="168"/>
                    </a:cubicBezTo>
                    <a:cubicBezTo>
                      <a:pt x="0" y="178"/>
                      <a:pt x="7" y="185"/>
                      <a:pt x="17" y="185"/>
                    </a:cubicBezTo>
                    <a:cubicBezTo>
                      <a:pt x="135" y="185"/>
                      <a:pt x="135" y="185"/>
                      <a:pt x="135" y="185"/>
                    </a:cubicBezTo>
                    <a:cubicBezTo>
                      <a:pt x="144" y="185"/>
                      <a:pt x="152" y="178"/>
                      <a:pt x="152" y="168"/>
                    </a:cubicBezTo>
                    <a:cubicBezTo>
                      <a:pt x="152" y="46"/>
                      <a:pt x="152" y="46"/>
                      <a:pt x="152" y="46"/>
                    </a:cubicBezTo>
                    <a:lnTo>
                      <a:pt x="109" y="0"/>
                    </a:lnTo>
                    <a:close/>
                    <a:moveTo>
                      <a:pt x="143" y="168"/>
                    </a:moveTo>
                    <a:cubicBezTo>
                      <a:pt x="143" y="173"/>
                      <a:pt x="139" y="177"/>
                      <a:pt x="135" y="177"/>
                    </a:cubicBezTo>
                    <a:cubicBezTo>
                      <a:pt x="17" y="177"/>
                      <a:pt x="17" y="177"/>
                      <a:pt x="17" y="177"/>
                    </a:cubicBezTo>
                    <a:cubicBezTo>
                      <a:pt x="12" y="177"/>
                      <a:pt x="8" y="173"/>
                      <a:pt x="8" y="168"/>
                    </a:cubicBezTo>
                    <a:cubicBezTo>
                      <a:pt x="8" y="16"/>
                      <a:pt x="8" y="16"/>
                      <a:pt x="8" y="16"/>
                    </a:cubicBezTo>
                    <a:cubicBezTo>
                      <a:pt x="8" y="12"/>
                      <a:pt x="12" y="8"/>
                      <a:pt x="17" y="8"/>
                    </a:cubicBezTo>
                    <a:cubicBezTo>
                      <a:pt x="92" y="8"/>
                      <a:pt x="92" y="8"/>
                      <a:pt x="92" y="8"/>
                    </a:cubicBezTo>
                    <a:cubicBezTo>
                      <a:pt x="92" y="50"/>
                      <a:pt x="92" y="50"/>
                      <a:pt x="92" y="50"/>
                    </a:cubicBezTo>
                    <a:cubicBezTo>
                      <a:pt x="92" y="55"/>
                      <a:pt x="96" y="59"/>
                      <a:pt x="101" y="59"/>
                    </a:cubicBezTo>
                    <a:cubicBezTo>
                      <a:pt x="143" y="59"/>
                      <a:pt x="143" y="59"/>
                      <a:pt x="143" y="59"/>
                    </a:cubicBezTo>
                    <a:lnTo>
                      <a:pt x="143" y="168"/>
                    </a:lnTo>
                    <a:close/>
                    <a:moveTo>
                      <a:pt x="101" y="50"/>
                    </a:moveTo>
                    <a:cubicBezTo>
                      <a:pt x="101" y="8"/>
                      <a:pt x="101" y="8"/>
                      <a:pt x="101" y="8"/>
                    </a:cubicBezTo>
                    <a:cubicBezTo>
                      <a:pt x="105" y="8"/>
                      <a:pt x="105" y="8"/>
                      <a:pt x="105" y="8"/>
                    </a:cubicBezTo>
                    <a:cubicBezTo>
                      <a:pt x="143" y="50"/>
                      <a:pt x="143" y="50"/>
                      <a:pt x="143" y="50"/>
                    </a:cubicBezTo>
                    <a:lnTo>
                      <a:pt x="101" y="50"/>
                    </a:lnTo>
                    <a:close/>
                    <a:moveTo>
                      <a:pt x="33" y="75"/>
                    </a:moveTo>
                    <a:cubicBezTo>
                      <a:pt x="33" y="78"/>
                      <a:pt x="35" y="80"/>
                      <a:pt x="38" y="80"/>
                    </a:cubicBezTo>
                    <a:cubicBezTo>
                      <a:pt x="114" y="80"/>
                      <a:pt x="114" y="80"/>
                      <a:pt x="114" y="80"/>
                    </a:cubicBezTo>
                    <a:cubicBezTo>
                      <a:pt x="116" y="80"/>
                      <a:pt x="118" y="78"/>
                      <a:pt x="118" y="75"/>
                    </a:cubicBezTo>
                    <a:cubicBezTo>
                      <a:pt x="118" y="73"/>
                      <a:pt x="116" y="71"/>
                      <a:pt x="114" y="71"/>
                    </a:cubicBezTo>
                    <a:cubicBezTo>
                      <a:pt x="38" y="71"/>
                      <a:pt x="38" y="71"/>
                      <a:pt x="38" y="71"/>
                    </a:cubicBezTo>
                    <a:cubicBezTo>
                      <a:pt x="35" y="71"/>
                      <a:pt x="33" y="73"/>
                      <a:pt x="33" y="75"/>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107" name="TextBox 25"/>
              <p:cNvSpPr txBox="1"/>
              <p:nvPr/>
            </p:nvSpPr>
            <p:spPr>
              <a:xfrm>
                <a:off x="2055123" y="5142384"/>
                <a:ext cx="1601733" cy="2308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Fallido</a:t>
                </a:r>
                <a:endParaRPr lang="es-ES" sz="900" b="1" dirty="0">
                  <a:solidFill>
                    <a:schemeClr val="bg1">
                      <a:lumMod val="50000"/>
                    </a:schemeClr>
                  </a:solidFill>
                  <a:latin typeface="Avenir 35" panose="00000400000000000000" pitchFamily="2" charset="0"/>
                </a:endParaRPr>
              </a:p>
            </p:txBody>
          </p:sp>
        </p:grpSp>
      </p:grpSp>
      <p:grpSp>
        <p:nvGrpSpPr>
          <p:cNvPr id="4" name="3 Grupo"/>
          <p:cNvGrpSpPr/>
          <p:nvPr/>
        </p:nvGrpSpPr>
        <p:grpSpPr>
          <a:xfrm>
            <a:off x="662540" y="4078471"/>
            <a:ext cx="540000" cy="1618236"/>
            <a:chOff x="560362" y="3573016"/>
            <a:chExt cx="540000" cy="1618236"/>
          </a:xfrm>
        </p:grpSpPr>
        <p:sp>
          <p:nvSpPr>
            <p:cNvPr id="71" name="70 Elipse"/>
            <p:cNvSpPr/>
            <p:nvPr/>
          </p:nvSpPr>
          <p:spPr>
            <a:xfrm>
              <a:off x="560362" y="3573016"/>
              <a:ext cx="540000" cy="544450"/>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sp>
          <p:nvSpPr>
            <p:cNvPr id="80" name="Freeform 73"/>
            <p:cNvSpPr>
              <a:spLocks noEditPoints="1"/>
            </p:cNvSpPr>
            <p:nvPr/>
          </p:nvSpPr>
          <p:spPr bwMode="auto">
            <a:xfrm>
              <a:off x="688868" y="3702907"/>
              <a:ext cx="282989" cy="284668"/>
            </a:xfrm>
            <a:custGeom>
              <a:avLst/>
              <a:gdLst>
                <a:gd name="T0" fmla="*/ 38 w 185"/>
                <a:gd name="T1" fmla="*/ 51 h 186"/>
                <a:gd name="T2" fmla="*/ 88 w 185"/>
                <a:gd name="T3" fmla="*/ 51 h 186"/>
                <a:gd name="T4" fmla="*/ 92 w 185"/>
                <a:gd name="T5" fmla="*/ 46 h 186"/>
                <a:gd name="T6" fmla="*/ 88 w 185"/>
                <a:gd name="T7" fmla="*/ 42 h 186"/>
                <a:gd name="T8" fmla="*/ 38 w 185"/>
                <a:gd name="T9" fmla="*/ 42 h 186"/>
                <a:gd name="T10" fmla="*/ 33 w 185"/>
                <a:gd name="T11" fmla="*/ 46 h 186"/>
                <a:gd name="T12" fmla="*/ 38 w 185"/>
                <a:gd name="T13" fmla="*/ 51 h 186"/>
                <a:gd name="T14" fmla="*/ 38 w 185"/>
                <a:gd name="T15" fmla="*/ 76 h 186"/>
                <a:gd name="T16" fmla="*/ 147 w 185"/>
                <a:gd name="T17" fmla="*/ 76 h 186"/>
                <a:gd name="T18" fmla="*/ 151 w 185"/>
                <a:gd name="T19" fmla="*/ 72 h 186"/>
                <a:gd name="T20" fmla="*/ 147 w 185"/>
                <a:gd name="T21" fmla="*/ 67 h 186"/>
                <a:gd name="T22" fmla="*/ 38 w 185"/>
                <a:gd name="T23" fmla="*/ 67 h 186"/>
                <a:gd name="T24" fmla="*/ 33 w 185"/>
                <a:gd name="T25" fmla="*/ 72 h 186"/>
                <a:gd name="T26" fmla="*/ 38 w 185"/>
                <a:gd name="T27" fmla="*/ 76 h 186"/>
                <a:gd name="T28" fmla="*/ 177 w 185"/>
                <a:gd name="T29" fmla="*/ 0 h 186"/>
                <a:gd name="T30" fmla="*/ 8 w 185"/>
                <a:gd name="T31" fmla="*/ 0 h 186"/>
                <a:gd name="T32" fmla="*/ 0 w 185"/>
                <a:gd name="T33" fmla="*/ 8 h 186"/>
                <a:gd name="T34" fmla="*/ 0 w 185"/>
                <a:gd name="T35" fmla="*/ 143 h 186"/>
                <a:gd name="T36" fmla="*/ 33 w 185"/>
                <a:gd name="T37" fmla="*/ 177 h 186"/>
                <a:gd name="T38" fmla="*/ 42 w 185"/>
                <a:gd name="T39" fmla="*/ 186 h 186"/>
                <a:gd name="T40" fmla="*/ 177 w 185"/>
                <a:gd name="T41" fmla="*/ 186 h 186"/>
                <a:gd name="T42" fmla="*/ 185 w 185"/>
                <a:gd name="T43" fmla="*/ 177 h 186"/>
                <a:gd name="T44" fmla="*/ 185 w 185"/>
                <a:gd name="T45" fmla="*/ 8 h 186"/>
                <a:gd name="T46" fmla="*/ 177 w 185"/>
                <a:gd name="T47" fmla="*/ 0 h 186"/>
                <a:gd name="T48" fmla="*/ 42 w 185"/>
                <a:gd name="T49" fmla="*/ 173 h 186"/>
                <a:gd name="T50" fmla="*/ 12 w 185"/>
                <a:gd name="T51" fmla="*/ 143 h 186"/>
                <a:gd name="T52" fmla="*/ 42 w 185"/>
                <a:gd name="T53" fmla="*/ 143 h 186"/>
                <a:gd name="T54" fmla="*/ 42 w 185"/>
                <a:gd name="T55" fmla="*/ 173 h 186"/>
                <a:gd name="T56" fmla="*/ 177 w 185"/>
                <a:gd name="T57" fmla="*/ 177 h 186"/>
                <a:gd name="T58" fmla="*/ 50 w 185"/>
                <a:gd name="T59" fmla="*/ 177 h 186"/>
                <a:gd name="T60" fmla="*/ 50 w 185"/>
                <a:gd name="T61" fmla="*/ 139 h 186"/>
                <a:gd name="T62" fmla="*/ 46 w 185"/>
                <a:gd name="T63" fmla="*/ 135 h 186"/>
                <a:gd name="T64" fmla="*/ 8 w 185"/>
                <a:gd name="T65" fmla="*/ 135 h 186"/>
                <a:gd name="T66" fmla="*/ 8 w 185"/>
                <a:gd name="T67" fmla="*/ 8 h 186"/>
                <a:gd name="T68" fmla="*/ 177 w 185"/>
                <a:gd name="T69" fmla="*/ 8 h 186"/>
                <a:gd name="T70" fmla="*/ 177 w 185"/>
                <a:gd name="T71" fmla="*/ 177 h 186"/>
                <a:gd name="T72" fmla="*/ 38 w 185"/>
                <a:gd name="T73" fmla="*/ 101 h 186"/>
                <a:gd name="T74" fmla="*/ 122 w 185"/>
                <a:gd name="T75" fmla="*/ 101 h 186"/>
                <a:gd name="T76" fmla="*/ 126 w 185"/>
                <a:gd name="T77" fmla="*/ 97 h 186"/>
                <a:gd name="T78" fmla="*/ 122 w 185"/>
                <a:gd name="T79" fmla="*/ 93 h 186"/>
                <a:gd name="T80" fmla="*/ 38 w 185"/>
                <a:gd name="T81" fmla="*/ 93 h 186"/>
                <a:gd name="T82" fmla="*/ 33 w 185"/>
                <a:gd name="T83" fmla="*/ 97 h 186"/>
                <a:gd name="T84" fmla="*/ 38 w 185"/>
                <a:gd name="T85" fmla="*/ 10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5" h="186">
                  <a:moveTo>
                    <a:pt x="38" y="51"/>
                  </a:moveTo>
                  <a:cubicBezTo>
                    <a:pt x="88" y="51"/>
                    <a:pt x="88" y="51"/>
                    <a:pt x="88" y="51"/>
                  </a:cubicBezTo>
                  <a:cubicBezTo>
                    <a:pt x="90" y="51"/>
                    <a:pt x="92" y="49"/>
                    <a:pt x="92" y="46"/>
                  </a:cubicBezTo>
                  <a:cubicBezTo>
                    <a:pt x="92" y="44"/>
                    <a:pt x="90" y="42"/>
                    <a:pt x="88" y="42"/>
                  </a:cubicBezTo>
                  <a:cubicBezTo>
                    <a:pt x="38" y="42"/>
                    <a:pt x="38" y="42"/>
                    <a:pt x="38" y="42"/>
                  </a:cubicBezTo>
                  <a:cubicBezTo>
                    <a:pt x="35" y="42"/>
                    <a:pt x="33" y="44"/>
                    <a:pt x="33" y="46"/>
                  </a:cubicBezTo>
                  <a:cubicBezTo>
                    <a:pt x="33" y="49"/>
                    <a:pt x="35" y="51"/>
                    <a:pt x="38" y="51"/>
                  </a:cubicBezTo>
                  <a:close/>
                  <a:moveTo>
                    <a:pt x="38" y="76"/>
                  </a:moveTo>
                  <a:cubicBezTo>
                    <a:pt x="147" y="76"/>
                    <a:pt x="147" y="76"/>
                    <a:pt x="147" y="76"/>
                  </a:cubicBezTo>
                  <a:cubicBezTo>
                    <a:pt x="150" y="76"/>
                    <a:pt x="151" y="74"/>
                    <a:pt x="151" y="72"/>
                  </a:cubicBezTo>
                  <a:cubicBezTo>
                    <a:pt x="151" y="69"/>
                    <a:pt x="150" y="67"/>
                    <a:pt x="147" y="67"/>
                  </a:cubicBezTo>
                  <a:cubicBezTo>
                    <a:pt x="38" y="67"/>
                    <a:pt x="38" y="67"/>
                    <a:pt x="38" y="67"/>
                  </a:cubicBezTo>
                  <a:cubicBezTo>
                    <a:pt x="35" y="67"/>
                    <a:pt x="33" y="69"/>
                    <a:pt x="33" y="72"/>
                  </a:cubicBezTo>
                  <a:cubicBezTo>
                    <a:pt x="33" y="74"/>
                    <a:pt x="35" y="76"/>
                    <a:pt x="38" y="76"/>
                  </a:cubicBezTo>
                  <a:close/>
                  <a:moveTo>
                    <a:pt x="177" y="0"/>
                  </a:moveTo>
                  <a:cubicBezTo>
                    <a:pt x="8" y="0"/>
                    <a:pt x="8" y="0"/>
                    <a:pt x="8" y="0"/>
                  </a:cubicBezTo>
                  <a:cubicBezTo>
                    <a:pt x="3" y="0"/>
                    <a:pt x="0" y="4"/>
                    <a:pt x="0" y="8"/>
                  </a:cubicBezTo>
                  <a:cubicBezTo>
                    <a:pt x="0" y="143"/>
                    <a:pt x="0" y="143"/>
                    <a:pt x="0" y="143"/>
                  </a:cubicBezTo>
                  <a:cubicBezTo>
                    <a:pt x="33" y="177"/>
                    <a:pt x="33" y="177"/>
                    <a:pt x="33" y="177"/>
                  </a:cubicBezTo>
                  <a:cubicBezTo>
                    <a:pt x="42" y="186"/>
                    <a:pt x="42" y="186"/>
                    <a:pt x="42" y="186"/>
                  </a:cubicBezTo>
                  <a:cubicBezTo>
                    <a:pt x="177" y="186"/>
                    <a:pt x="177" y="186"/>
                    <a:pt x="177" y="186"/>
                  </a:cubicBezTo>
                  <a:cubicBezTo>
                    <a:pt x="181" y="186"/>
                    <a:pt x="185" y="182"/>
                    <a:pt x="185" y="177"/>
                  </a:cubicBezTo>
                  <a:cubicBezTo>
                    <a:pt x="185" y="8"/>
                    <a:pt x="185" y="8"/>
                    <a:pt x="185" y="8"/>
                  </a:cubicBezTo>
                  <a:cubicBezTo>
                    <a:pt x="185" y="4"/>
                    <a:pt x="181" y="0"/>
                    <a:pt x="177" y="0"/>
                  </a:cubicBezTo>
                  <a:close/>
                  <a:moveTo>
                    <a:pt x="42" y="173"/>
                  </a:moveTo>
                  <a:cubicBezTo>
                    <a:pt x="12" y="143"/>
                    <a:pt x="12" y="143"/>
                    <a:pt x="12" y="143"/>
                  </a:cubicBezTo>
                  <a:cubicBezTo>
                    <a:pt x="42" y="143"/>
                    <a:pt x="42" y="143"/>
                    <a:pt x="42" y="143"/>
                  </a:cubicBezTo>
                  <a:lnTo>
                    <a:pt x="42" y="173"/>
                  </a:lnTo>
                  <a:close/>
                  <a:moveTo>
                    <a:pt x="177" y="177"/>
                  </a:moveTo>
                  <a:cubicBezTo>
                    <a:pt x="50" y="177"/>
                    <a:pt x="50" y="177"/>
                    <a:pt x="50" y="177"/>
                  </a:cubicBezTo>
                  <a:cubicBezTo>
                    <a:pt x="50" y="139"/>
                    <a:pt x="50" y="139"/>
                    <a:pt x="50" y="139"/>
                  </a:cubicBezTo>
                  <a:cubicBezTo>
                    <a:pt x="50" y="137"/>
                    <a:pt x="48" y="135"/>
                    <a:pt x="46" y="135"/>
                  </a:cubicBezTo>
                  <a:cubicBezTo>
                    <a:pt x="8" y="135"/>
                    <a:pt x="8" y="135"/>
                    <a:pt x="8" y="135"/>
                  </a:cubicBezTo>
                  <a:cubicBezTo>
                    <a:pt x="8" y="8"/>
                    <a:pt x="8" y="8"/>
                    <a:pt x="8" y="8"/>
                  </a:cubicBezTo>
                  <a:cubicBezTo>
                    <a:pt x="177" y="8"/>
                    <a:pt x="177" y="8"/>
                    <a:pt x="177" y="8"/>
                  </a:cubicBezTo>
                  <a:lnTo>
                    <a:pt x="177" y="177"/>
                  </a:lnTo>
                  <a:close/>
                  <a:moveTo>
                    <a:pt x="38" y="101"/>
                  </a:moveTo>
                  <a:cubicBezTo>
                    <a:pt x="122" y="101"/>
                    <a:pt x="122" y="101"/>
                    <a:pt x="122" y="101"/>
                  </a:cubicBezTo>
                  <a:cubicBezTo>
                    <a:pt x="124" y="101"/>
                    <a:pt x="126" y="99"/>
                    <a:pt x="126" y="97"/>
                  </a:cubicBezTo>
                  <a:cubicBezTo>
                    <a:pt x="126" y="95"/>
                    <a:pt x="124" y="93"/>
                    <a:pt x="122" y="93"/>
                  </a:cubicBezTo>
                  <a:cubicBezTo>
                    <a:pt x="38" y="93"/>
                    <a:pt x="38" y="93"/>
                    <a:pt x="38" y="93"/>
                  </a:cubicBezTo>
                  <a:cubicBezTo>
                    <a:pt x="35" y="93"/>
                    <a:pt x="33" y="95"/>
                    <a:pt x="33" y="97"/>
                  </a:cubicBezTo>
                  <a:cubicBezTo>
                    <a:pt x="33" y="99"/>
                    <a:pt x="35" y="101"/>
                    <a:pt x="38" y="101"/>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108" name="107 Elipse"/>
            <p:cNvSpPr/>
            <p:nvPr/>
          </p:nvSpPr>
          <p:spPr>
            <a:xfrm>
              <a:off x="560362" y="4646802"/>
              <a:ext cx="540000" cy="544450"/>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46082" name="Picture 2" descr="https://cdn3.iconfinder.com/data/icons/brands-applications/512/File-512.png"/>
            <p:cNvPicPr>
              <a:picLocks noChangeAspect="1" noChangeArrowheads="1"/>
            </p:cNvPicPr>
            <p:nvPr/>
          </p:nvPicPr>
          <p:blipFill>
            <a:blip r:embed="rId11" cstate="print">
              <a:lum bright="70000" contrast="-70000"/>
              <a:extLst>
                <a:ext uri="{BEBA8EAE-BF5A-486C-A8C5-ECC9F3942E4B}">
                  <a14:imgProps xmlns:a14="http://schemas.microsoft.com/office/drawing/2010/main">
                    <a14:imgLayer r:embed="rId12">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650362" y="4730262"/>
              <a:ext cx="360000" cy="36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7124" name="47123 Grupo"/>
          <p:cNvGrpSpPr/>
          <p:nvPr/>
        </p:nvGrpSpPr>
        <p:grpSpPr>
          <a:xfrm>
            <a:off x="3671120" y="5771878"/>
            <a:ext cx="977047" cy="681458"/>
            <a:chOff x="3555606" y="5592403"/>
            <a:chExt cx="977047" cy="681458"/>
          </a:xfrm>
        </p:grpSpPr>
        <p:sp>
          <p:nvSpPr>
            <p:cNvPr id="92" name="Freeform 40"/>
            <p:cNvSpPr>
              <a:spLocks noEditPoints="1"/>
            </p:cNvSpPr>
            <p:nvPr/>
          </p:nvSpPr>
          <p:spPr bwMode="auto">
            <a:xfrm>
              <a:off x="3889812" y="5592403"/>
              <a:ext cx="308634" cy="453789"/>
            </a:xfrm>
            <a:custGeom>
              <a:avLst/>
              <a:gdLst>
                <a:gd name="T0" fmla="*/ 283 w 283"/>
                <a:gd name="T1" fmla="*/ 46 h 369"/>
                <a:gd name="T2" fmla="*/ 0 w 283"/>
                <a:gd name="T3" fmla="*/ 46 h 369"/>
                <a:gd name="T4" fmla="*/ 10 w 283"/>
                <a:gd name="T5" fmla="*/ 133 h 369"/>
                <a:gd name="T6" fmla="*/ 0 w 283"/>
                <a:gd name="T7" fmla="*/ 219 h 369"/>
                <a:gd name="T8" fmla="*/ 0 w 283"/>
                <a:gd name="T9" fmla="*/ 253 h 369"/>
                <a:gd name="T10" fmla="*/ 142 w 283"/>
                <a:gd name="T11" fmla="*/ 369 h 369"/>
                <a:gd name="T12" fmla="*/ 283 w 283"/>
                <a:gd name="T13" fmla="*/ 253 h 369"/>
                <a:gd name="T14" fmla="*/ 283 w 283"/>
                <a:gd name="T15" fmla="*/ 219 h 369"/>
                <a:gd name="T16" fmla="*/ 274 w 283"/>
                <a:gd name="T17" fmla="*/ 133 h 369"/>
                <a:gd name="T18" fmla="*/ 274 w 283"/>
                <a:gd name="T19" fmla="*/ 323 h 369"/>
                <a:gd name="T20" fmla="*/ 10 w 283"/>
                <a:gd name="T21" fmla="*/ 323 h 369"/>
                <a:gd name="T22" fmla="*/ 142 w 283"/>
                <a:gd name="T23" fmla="*/ 299 h 369"/>
                <a:gd name="T24" fmla="*/ 274 w 283"/>
                <a:gd name="T25" fmla="*/ 323 h 369"/>
                <a:gd name="T26" fmla="*/ 10 w 283"/>
                <a:gd name="T27" fmla="*/ 253 h 369"/>
                <a:gd name="T28" fmla="*/ 142 w 283"/>
                <a:gd name="T29" fmla="*/ 265 h 369"/>
                <a:gd name="T30" fmla="*/ 274 w 283"/>
                <a:gd name="T31" fmla="*/ 253 h 369"/>
                <a:gd name="T32" fmla="*/ 274 w 283"/>
                <a:gd name="T33" fmla="*/ 219 h 369"/>
                <a:gd name="T34" fmla="*/ 263 w 283"/>
                <a:gd name="T35" fmla="*/ 233 h 369"/>
                <a:gd name="T36" fmla="*/ 20 w 283"/>
                <a:gd name="T37" fmla="*/ 233 h 369"/>
                <a:gd name="T38" fmla="*/ 10 w 283"/>
                <a:gd name="T39" fmla="*/ 219 h 369"/>
                <a:gd name="T40" fmla="*/ 142 w 283"/>
                <a:gd name="T41" fmla="*/ 195 h 369"/>
                <a:gd name="T42" fmla="*/ 274 w 283"/>
                <a:gd name="T43" fmla="*/ 219 h 369"/>
                <a:gd name="T44" fmla="*/ 10 w 283"/>
                <a:gd name="T45" fmla="*/ 150 h 369"/>
                <a:gd name="T46" fmla="*/ 142 w 283"/>
                <a:gd name="T47" fmla="*/ 161 h 369"/>
                <a:gd name="T48" fmla="*/ 274 w 283"/>
                <a:gd name="T49" fmla="*/ 150 h 369"/>
                <a:gd name="T50" fmla="*/ 274 w 283"/>
                <a:gd name="T51" fmla="*/ 115 h 369"/>
                <a:gd name="T52" fmla="*/ 263 w 283"/>
                <a:gd name="T53" fmla="*/ 129 h 369"/>
                <a:gd name="T54" fmla="*/ 21 w 283"/>
                <a:gd name="T55" fmla="*/ 129 h 369"/>
                <a:gd name="T56" fmla="*/ 10 w 283"/>
                <a:gd name="T57" fmla="*/ 115 h 369"/>
                <a:gd name="T58" fmla="*/ 142 w 283"/>
                <a:gd name="T59" fmla="*/ 92 h 369"/>
                <a:gd name="T60" fmla="*/ 274 w 283"/>
                <a:gd name="T61" fmla="*/ 115 h 369"/>
                <a:gd name="T62" fmla="*/ 10 w 283"/>
                <a:gd name="T63" fmla="*/ 46 h 369"/>
                <a:gd name="T64" fmla="*/ 274 w 283"/>
                <a:gd name="T65" fmla="*/ 46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3" h="369">
                  <a:moveTo>
                    <a:pt x="283" y="115"/>
                  </a:moveTo>
                  <a:cubicBezTo>
                    <a:pt x="283" y="46"/>
                    <a:pt x="283" y="46"/>
                    <a:pt x="283" y="46"/>
                  </a:cubicBezTo>
                  <a:cubicBezTo>
                    <a:pt x="283" y="16"/>
                    <a:pt x="210" y="0"/>
                    <a:pt x="142" y="0"/>
                  </a:cubicBezTo>
                  <a:cubicBezTo>
                    <a:pt x="73" y="0"/>
                    <a:pt x="0" y="16"/>
                    <a:pt x="0" y="46"/>
                  </a:cubicBezTo>
                  <a:cubicBezTo>
                    <a:pt x="0" y="115"/>
                    <a:pt x="0" y="115"/>
                    <a:pt x="0" y="115"/>
                  </a:cubicBezTo>
                  <a:cubicBezTo>
                    <a:pt x="0" y="122"/>
                    <a:pt x="4" y="128"/>
                    <a:pt x="10" y="133"/>
                  </a:cubicBezTo>
                  <a:cubicBezTo>
                    <a:pt x="3" y="138"/>
                    <a:pt x="0" y="144"/>
                    <a:pt x="0" y="150"/>
                  </a:cubicBezTo>
                  <a:cubicBezTo>
                    <a:pt x="0" y="219"/>
                    <a:pt x="0" y="219"/>
                    <a:pt x="0" y="219"/>
                  </a:cubicBezTo>
                  <a:cubicBezTo>
                    <a:pt x="0" y="226"/>
                    <a:pt x="4" y="231"/>
                    <a:pt x="10" y="236"/>
                  </a:cubicBezTo>
                  <a:cubicBezTo>
                    <a:pt x="3" y="242"/>
                    <a:pt x="0" y="247"/>
                    <a:pt x="0" y="253"/>
                  </a:cubicBezTo>
                  <a:cubicBezTo>
                    <a:pt x="0" y="323"/>
                    <a:pt x="0" y="323"/>
                    <a:pt x="0" y="323"/>
                  </a:cubicBezTo>
                  <a:cubicBezTo>
                    <a:pt x="0" y="353"/>
                    <a:pt x="73" y="369"/>
                    <a:pt x="142" y="369"/>
                  </a:cubicBezTo>
                  <a:cubicBezTo>
                    <a:pt x="210" y="369"/>
                    <a:pt x="283" y="353"/>
                    <a:pt x="283" y="323"/>
                  </a:cubicBezTo>
                  <a:cubicBezTo>
                    <a:pt x="283" y="253"/>
                    <a:pt x="283" y="253"/>
                    <a:pt x="283" y="253"/>
                  </a:cubicBezTo>
                  <a:cubicBezTo>
                    <a:pt x="283" y="247"/>
                    <a:pt x="280" y="242"/>
                    <a:pt x="274" y="236"/>
                  </a:cubicBezTo>
                  <a:cubicBezTo>
                    <a:pt x="280" y="231"/>
                    <a:pt x="283" y="226"/>
                    <a:pt x="283" y="219"/>
                  </a:cubicBezTo>
                  <a:cubicBezTo>
                    <a:pt x="283" y="150"/>
                    <a:pt x="283" y="150"/>
                    <a:pt x="283" y="150"/>
                  </a:cubicBezTo>
                  <a:cubicBezTo>
                    <a:pt x="283" y="144"/>
                    <a:pt x="280" y="138"/>
                    <a:pt x="274" y="133"/>
                  </a:cubicBezTo>
                  <a:cubicBezTo>
                    <a:pt x="280" y="128"/>
                    <a:pt x="283" y="122"/>
                    <a:pt x="283" y="115"/>
                  </a:cubicBezTo>
                  <a:close/>
                  <a:moveTo>
                    <a:pt x="274" y="323"/>
                  </a:moveTo>
                  <a:cubicBezTo>
                    <a:pt x="274" y="340"/>
                    <a:pt x="220" y="359"/>
                    <a:pt x="142" y="359"/>
                  </a:cubicBezTo>
                  <a:cubicBezTo>
                    <a:pt x="64" y="359"/>
                    <a:pt x="10" y="340"/>
                    <a:pt x="10" y="323"/>
                  </a:cubicBezTo>
                  <a:cubicBezTo>
                    <a:pt x="10" y="271"/>
                    <a:pt x="10" y="271"/>
                    <a:pt x="10" y="271"/>
                  </a:cubicBezTo>
                  <a:cubicBezTo>
                    <a:pt x="31" y="289"/>
                    <a:pt x="88" y="299"/>
                    <a:pt x="142" y="299"/>
                  </a:cubicBezTo>
                  <a:cubicBezTo>
                    <a:pt x="196" y="299"/>
                    <a:pt x="252" y="289"/>
                    <a:pt x="274" y="271"/>
                  </a:cubicBezTo>
                  <a:lnTo>
                    <a:pt x="274" y="323"/>
                  </a:lnTo>
                  <a:close/>
                  <a:moveTo>
                    <a:pt x="142" y="290"/>
                  </a:moveTo>
                  <a:cubicBezTo>
                    <a:pt x="64" y="290"/>
                    <a:pt x="10" y="271"/>
                    <a:pt x="10" y="253"/>
                  </a:cubicBezTo>
                  <a:cubicBezTo>
                    <a:pt x="10" y="249"/>
                    <a:pt x="14" y="245"/>
                    <a:pt x="18" y="242"/>
                  </a:cubicBezTo>
                  <a:cubicBezTo>
                    <a:pt x="43" y="257"/>
                    <a:pt x="94" y="265"/>
                    <a:pt x="142" y="265"/>
                  </a:cubicBezTo>
                  <a:cubicBezTo>
                    <a:pt x="190" y="265"/>
                    <a:pt x="240" y="257"/>
                    <a:pt x="266" y="242"/>
                  </a:cubicBezTo>
                  <a:cubicBezTo>
                    <a:pt x="270" y="245"/>
                    <a:pt x="274" y="249"/>
                    <a:pt x="274" y="253"/>
                  </a:cubicBezTo>
                  <a:cubicBezTo>
                    <a:pt x="274" y="271"/>
                    <a:pt x="220" y="290"/>
                    <a:pt x="142" y="290"/>
                  </a:cubicBezTo>
                  <a:close/>
                  <a:moveTo>
                    <a:pt x="274" y="219"/>
                  </a:moveTo>
                  <a:cubicBezTo>
                    <a:pt x="274" y="223"/>
                    <a:pt x="271" y="228"/>
                    <a:pt x="264" y="232"/>
                  </a:cubicBezTo>
                  <a:cubicBezTo>
                    <a:pt x="264" y="232"/>
                    <a:pt x="264" y="232"/>
                    <a:pt x="263" y="233"/>
                  </a:cubicBezTo>
                  <a:cubicBezTo>
                    <a:pt x="244" y="245"/>
                    <a:pt x="199" y="255"/>
                    <a:pt x="142" y="255"/>
                  </a:cubicBezTo>
                  <a:cubicBezTo>
                    <a:pt x="84" y="255"/>
                    <a:pt x="40" y="245"/>
                    <a:pt x="20" y="233"/>
                  </a:cubicBezTo>
                  <a:cubicBezTo>
                    <a:pt x="20" y="232"/>
                    <a:pt x="20" y="232"/>
                    <a:pt x="19" y="232"/>
                  </a:cubicBezTo>
                  <a:cubicBezTo>
                    <a:pt x="13" y="228"/>
                    <a:pt x="10" y="223"/>
                    <a:pt x="10" y="219"/>
                  </a:cubicBezTo>
                  <a:cubicBezTo>
                    <a:pt x="10" y="167"/>
                    <a:pt x="10" y="167"/>
                    <a:pt x="10" y="167"/>
                  </a:cubicBezTo>
                  <a:cubicBezTo>
                    <a:pt x="31" y="186"/>
                    <a:pt x="88" y="195"/>
                    <a:pt x="142" y="195"/>
                  </a:cubicBezTo>
                  <a:cubicBezTo>
                    <a:pt x="196" y="195"/>
                    <a:pt x="252" y="186"/>
                    <a:pt x="274" y="167"/>
                  </a:cubicBezTo>
                  <a:lnTo>
                    <a:pt x="274" y="219"/>
                  </a:lnTo>
                  <a:close/>
                  <a:moveTo>
                    <a:pt x="142" y="186"/>
                  </a:moveTo>
                  <a:cubicBezTo>
                    <a:pt x="64" y="186"/>
                    <a:pt x="10" y="167"/>
                    <a:pt x="10" y="150"/>
                  </a:cubicBezTo>
                  <a:cubicBezTo>
                    <a:pt x="10" y="145"/>
                    <a:pt x="14" y="141"/>
                    <a:pt x="18" y="138"/>
                  </a:cubicBezTo>
                  <a:cubicBezTo>
                    <a:pt x="43" y="153"/>
                    <a:pt x="94" y="161"/>
                    <a:pt x="142" y="161"/>
                  </a:cubicBezTo>
                  <a:cubicBezTo>
                    <a:pt x="190" y="161"/>
                    <a:pt x="240" y="153"/>
                    <a:pt x="266" y="138"/>
                  </a:cubicBezTo>
                  <a:cubicBezTo>
                    <a:pt x="270" y="141"/>
                    <a:pt x="274" y="145"/>
                    <a:pt x="274" y="150"/>
                  </a:cubicBezTo>
                  <a:cubicBezTo>
                    <a:pt x="274" y="167"/>
                    <a:pt x="220" y="186"/>
                    <a:pt x="142" y="186"/>
                  </a:cubicBezTo>
                  <a:close/>
                  <a:moveTo>
                    <a:pt x="274" y="115"/>
                  </a:moveTo>
                  <a:cubicBezTo>
                    <a:pt x="274" y="120"/>
                    <a:pt x="271" y="124"/>
                    <a:pt x="264" y="128"/>
                  </a:cubicBezTo>
                  <a:cubicBezTo>
                    <a:pt x="264" y="128"/>
                    <a:pt x="263" y="129"/>
                    <a:pt x="263" y="129"/>
                  </a:cubicBezTo>
                  <a:cubicBezTo>
                    <a:pt x="243" y="142"/>
                    <a:pt x="199" y="152"/>
                    <a:pt x="142" y="152"/>
                  </a:cubicBezTo>
                  <a:cubicBezTo>
                    <a:pt x="85" y="152"/>
                    <a:pt x="40" y="142"/>
                    <a:pt x="21" y="129"/>
                  </a:cubicBezTo>
                  <a:cubicBezTo>
                    <a:pt x="20" y="129"/>
                    <a:pt x="20" y="128"/>
                    <a:pt x="19" y="128"/>
                  </a:cubicBezTo>
                  <a:cubicBezTo>
                    <a:pt x="13" y="124"/>
                    <a:pt x="10" y="120"/>
                    <a:pt x="10" y="115"/>
                  </a:cubicBezTo>
                  <a:cubicBezTo>
                    <a:pt x="10" y="63"/>
                    <a:pt x="10" y="63"/>
                    <a:pt x="10" y="63"/>
                  </a:cubicBezTo>
                  <a:cubicBezTo>
                    <a:pt x="31" y="82"/>
                    <a:pt x="88" y="92"/>
                    <a:pt x="142" y="92"/>
                  </a:cubicBezTo>
                  <a:cubicBezTo>
                    <a:pt x="196" y="92"/>
                    <a:pt x="252" y="82"/>
                    <a:pt x="274" y="63"/>
                  </a:cubicBezTo>
                  <a:lnTo>
                    <a:pt x="274" y="115"/>
                  </a:lnTo>
                  <a:close/>
                  <a:moveTo>
                    <a:pt x="142" y="82"/>
                  </a:moveTo>
                  <a:cubicBezTo>
                    <a:pt x="64" y="82"/>
                    <a:pt x="10" y="63"/>
                    <a:pt x="10" y="46"/>
                  </a:cubicBezTo>
                  <a:cubicBezTo>
                    <a:pt x="10" y="29"/>
                    <a:pt x="64" y="10"/>
                    <a:pt x="142" y="10"/>
                  </a:cubicBezTo>
                  <a:cubicBezTo>
                    <a:pt x="220" y="10"/>
                    <a:pt x="274" y="29"/>
                    <a:pt x="274" y="46"/>
                  </a:cubicBezTo>
                  <a:cubicBezTo>
                    <a:pt x="274" y="63"/>
                    <a:pt x="220" y="82"/>
                    <a:pt x="142" y="82"/>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110" name="TextBox 25"/>
            <p:cNvSpPr txBox="1"/>
            <p:nvPr/>
          </p:nvSpPr>
          <p:spPr>
            <a:xfrm>
              <a:off x="3555606" y="6043029"/>
              <a:ext cx="977047" cy="2308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Stagging</a:t>
              </a:r>
              <a:endParaRPr lang="es-ES" sz="900" b="1" dirty="0">
                <a:solidFill>
                  <a:schemeClr val="bg1">
                    <a:lumMod val="50000"/>
                  </a:schemeClr>
                </a:solidFill>
                <a:latin typeface="Avenir 35" panose="00000400000000000000" pitchFamily="2" charset="0"/>
              </a:endParaRPr>
            </a:p>
          </p:txBody>
        </p:sp>
      </p:grpSp>
      <p:grpSp>
        <p:nvGrpSpPr>
          <p:cNvPr id="140" name="139 Grupo"/>
          <p:cNvGrpSpPr/>
          <p:nvPr/>
        </p:nvGrpSpPr>
        <p:grpSpPr>
          <a:xfrm>
            <a:off x="5264676" y="5194291"/>
            <a:ext cx="977047" cy="804481"/>
            <a:chOff x="4808984" y="5720863"/>
            <a:chExt cx="977047" cy="804481"/>
          </a:xfrm>
        </p:grpSpPr>
        <p:sp>
          <p:nvSpPr>
            <p:cNvPr id="112" name="TextBox 25"/>
            <p:cNvSpPr txBox="1"/>
            <p:nvPr/>
          </p:nvSpPr>
          <p:spPr>
            <a:xfrm>
              <a:off x="4808984" y="6156012"/>
              <a:ext cx="977047" cy="3693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Meta-</a:t>
              </a:r>
            </a:p>
            <a:p>
              <a:pPr algn="ctr" defTabSz="914400">
                <a:defRPr/>
              </a:pPr>
              <a:r>
                <a:rPr lang="es-ES" sz="900" dirty="0">
                  <a:solidFill>
                    <a:schemeClr val="bg1">
                      <a:lumMod val="50000"/>
                    </a:schemeClr>
                  </a:solidFill>
                  <a:latin typeface="Avenir 35" panose="00000400000000000000" pitchFamily="2" charset="0"/>
                </a:rPr>
                <a:t>Datos</a:t>
              </a:r>
              <a:endParaRPr lang="es-ES" sz="900" b="1" dirty="0">
                <a:solidFill>
                  <a:schemeClr val="bg1">
                    <a:lumMod val="50000"/>
                  </a:schemeClr>
                </a:solidFill>
                <a:latin typeface="Avenir 35" panose="00000400000000000000" pitchFamily="2" charset="0"/>
              </a:endParaRPr>
            </a:p>
          </p:txBody>
        </p:sp>
        <p:sp>
          <p:nvSpPr>
            <p:cNvPr id="111" name="Freeform 40"/>
            <p:cNvSpPr>
              <a:spLocks noEditPoints="1"/>
            </p:cNvSpPr>
            <p:nvPr/>
          </p:nvSpPr>
          <p:spPr bwMode="auto">
            <a:xfrm>
              <a:off x="5143190" y="5720863"/>
              <a:ext cx="308634" cy="453789"/>
            </a:xfrm>
            <a:custGeom>
              <a:avLst/>
              <a:gdLst>
                <a:gd name="T0" fmla="*/ 283 w 283"/>
                <a:gd name="T1" fmla="*/ 46 h 369"/>
                <a:gd name="T2" fmla="*/ 0 w 283"/>
                <a:gd name="T3" fmla="*/ 46 h 369"/>
                <a:gd name="T4" fmla="*/ 10 w 283"/>
                <a:gd name="T5" fmla="*/ 133 h 369"/>
                <a:gd name="T6" fmla="*/ 0 w 283"/>
                <a:gd name="T7" fmla="*/ 219 h 369"/>
                <a:gd name="T8" fmla="*/ 0 w 283"/>
                <a:gd name="T9" fmla="*/ 253 h 369"/>
                <a:gd name="T10" fmla="*/ 142 w 283"/>
                <a:gd name="T11" fmla="*/ 369 h 369"/>
                <a:gd name="T12" fmla="*/ 283 w 283"/>
                <a:gd name="T13" fmla="*/ 253 h 369"/>
                <a:gd name="T14" fmla="*/ 283 w 283"/>
                <a:gd name="T15" fmla="*/ 219 h 369"/>
                <a:gd name="T16" fmla="*/ 274 w 283"/>
                <a:gd name="T17" fmla="*/ 133 h 369"/>
                <a:gd name="T18" fmla="*/ 274 w 283"/>
                <a:gd name="T19" fmla="*/ 323 h 369"/>
                <a:gd name="T20" fmla="*/ 10 w 283"/>
                <a:gd name="T21" fmla="*/ 323 h 369"/>
                <a:gd name="T22" fmla="*/ 142 w 283"/>
                <a:gd name="T23" fmla="*/ 299 h 369"/>
                <a:gd name="T24" fmla="*/ 274 w 283"/>
                <a:gd name="T25" fmla="*/ 323 h 369"/>
                <a:gd name="T26" fmla="*/ 10 w 283"/>
                <a:gd name="T27" fmla="*/ 253 h 369"/>
                <a:gd name="T28" fmla="*/ 142 w 283"/>
                <a:gd name="T29" fmla="*/ 265 h 369"/>
                <a:gd name="T30" fmla="*/ 274 w 283"/>
                <a:gd name="T31" fmla="*/ 253 h 369"/>
                <a:gd name="T32" fmla="*/ 274 w 283"/>
                <a:gd name="T33" fmla="*/ 219 h 369"/>
                <a:gd name="T34" fmla="*/ 263 w 283"/>
                <a:gd name="T35" fmla="*/ 233 h 369"/>
                <a:gd name="T36" fmla="*/ 20 w 283"/>
                <a:gd name="T37" fmla="*/ 233 h 369"/>
                <a:gd name="T38" fmla="*/ 10 w 283"/>
                <a:gd name="T39" fmla="*/ 219 h 369"/>
                <a:gd name="T40" fmla="*/ 142 w 283"/>
                <a:gd name="T41" fmla="*/ 195 h 369"/>
                <a:gd name="T42" fmla="*/ 274 w 283"/>
                <a:gd name="T43" fmla="*/ 219 h 369"/>
                <a:gd name="T44" fmla="*/ 10 w 283"/>
                <a:gd name="T45" fmla="*/ 150 h 369"/>
                <a:gd name="T46" fmla="*/ 142 w 283"/>
                <a:gd name="T47" fmla="*/ 161 h 369"/>
                <a:gd name="T48" fmla="*/ 274 w 283"/>
                <a:gd name="T49" fmla="*/ 150 h 369"/>
                <a:gd name="T50" fmla="*/ 274 w 283"/>
                <a:gd name="T51" fmla="*/ 115 h 369"/>
                <a:gd name="T52" fmla="*/ 263 w 283"/>
                <a:gd name="T53" fmla="*/ 129 h 369"/>
                <a:gd name="T54" fmla="*/ 21 w 283"/>
                <a:gd name="T55" fmla="*/ 129 h 369"/>
                <a:gd name="T56" fmla="*/ 10 w 283"/>
                <a:gd name="T57" fmla="*/ 115 h 369"/>
                <a:gd name="T58" fmla="*/ 142 w 283"/>
                <a:gd name="T59" fmla="*/ 92 h 369"/>
                <a:gd name="T60" fmla="*/ 274 w 283"/>
                <a:gd name="T61" fmla="*/ 115 h 369"/>
                <a:gd name="T62" fmla="*/ 10 w 283"/>
                <a:gd name="T63" fmla="*/ 46 h 369"/>
                <a:gd name="T64" fmla="*/ 274 w 283"/>
                <a:gd name="T65" fmla="*/ 46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3" h="369">
                  <a:moveTo>
                    <a:pt x="283" y="115"/>
                  </a:moveTo>
                  <a:cubicBezTo>
                    <a:pt x="283" y="46"/>
                    <a:pt x="283" y="46"/>
                    <a:pt x="283" y="46"/>
                  </a:cubicBezTo>
                  <a:cubicBezTo>
                    <a:pt x="283" y="16"/>
                    <a:pt x="210" y="0"/>
                    <a:pt x="142" y="0"/>
                  </a:cubicBezTo>
                  <a:cubicBezTo>
                    <a:pt x="73" y="0"/>
                    <a:pt x="0" y="16"/>
                    <a:pt x="0" y="46"/>
                  </a:cubicBezTo>
                  <a:cubicBezTo>
                    <a:pt x="0" y="115"/>
                    <a:pt x="0" y="115"/>
                    <a:pt x="0" y="115"/>
                  </a:cubicBezTo>
                  <a:cubicBezTo>
                    <a:pt x="0" y="122"/>
                    <a:pt x="4" y="128"/>
                    <a:pt x="10" y="133"/>
                  </a:cubicBezTo>
                  <a:cubicBezTo>
                    <a:pt x="3" y="138"/>
                    <a:pt x="0" y="144"/>
                    <a:pt x="0" y="150"/>
                  </a:cubicBezTo>
                  <a:cubicBezTo>
                    <a:pt x="0" y="219"/>
                    <a:pt x="0" y="219"/>
                    <a:pt x="0" y="219"/>
                  </a:cubicBezTo>
                  <a:cubicBezTo>
                    <a:pt x="0" y="226"/>
                    <a:pt x="4" y="231"/>
                    <a:pt x="10" y="236"/>
                  </a:cubicBezTo>
                  <a:cubicBezTo>
                    <a:pt x="3" y="242"/>
                    <a:pt x="0" y="247"/>
                    <a:pt x="0" y="253"/>
                  </a:cubicBezTo>
                  <a:cubicBezTo>
                    <a:pt x="0" y="323"/>
                    <a:pt x="0" y="323"/>
                    <a:pt x="0" y="323"/>
                  </a:cubicBezTo>
                  <a:cubicBezTo>
                    <a:pt x="0" y="353"/>
                    <a:pt x="73" y="369"/>
                    <a:pt x="142" y="369"/>
                  </a:cubicBezTo>
                  <a:cubicBezTo>
                    <a:pt x="210" y="369"/>
                    <a:pt x="283" y="353"/>
                    <a:pt x="283" y="323"/>
                  </a:cubicBezTo>
                  <a:cubicBezTo>
                    <a:pt x="283" y="253"/>
                    <a:pt x="283" y="253"/>
                    <a:pt x="283" y="253"/>
                  </a:cubicBezTo>
                  <a:cubicBezTo>
                    <a:pt x="283" y="247"/>
                    <a:pt x="280" y="242"/>
                    <a:pt x="274" y="236"/>
                  </a:cubicBezTo>
                  <a:cubicBezTo>
                    <a:pt x="280" y="231"/>
                    <a:pt x="283" y="226"/>
                    <a:pt x="283" y="219"/>
                  </a:cubicBezTo>
                  <a:cubicBezTo>
                    <a:pt x="283" y="150"/>
                    <a:pt x="283" y="150"/>
                    <a:pt x="283" y="150"/>
                  </a:cubicBezTo>
                  <a:cubicBezTo>
                    <a:pt x="283" y="144"/>
                    <a:pt x="280" y="138"/>
                    <a:pt x="274" y="133"/>
                  </a:cubicBezTo>
                  <a:cubicBezTo>
                    <a:pt x="280" y="128"/>
                    <a:pt x="283" y="122"/>
                    <a:pt x="283" y="115"/>
                  </a:cubicBezTo>
                  <a:close/>
                  <a:moveTo>
                    <a:pt x="274" y="323"/>
                  </a:moveTo>
                  <a:cubicBezTo>
                    <a:pt x="274" y="340"/>
                    <a:pt x="220" y="359"/>
                    <a:pt x="142" y="359"/>
                  </a:cubicBezTo>
                  <a:cubicBezTo>
                    <a:pt x="64" y="359"/>
                    <a:pt x="10" y="340"/>
                    <a:pt x="10" y="323"/>
                  </a:cubicBezTo>
                  <a:cubicBezTo>
                    <a:pt x="10" y="271"/>
                    <a:pt x="10" y="271"/>
                    <a:pt x="10" y="271"/>
                  </a:cubicBezTo>
                  <a:cubicBezTo>
                    <a:pt x="31" y="289"/>
                    <a:pt x="88" y="299"/>
                    <a:pt x="142" y="299"/>
                  </a:cubicBezTo>
                  <a:cubicBezTo>
                    <a:pt x="196" y="299"/>
                    <a:pt x="252" y="289"/>
                    <a:pt x="274" y="271"/>
                  </a:cubicBezTo>
                  <a:lnTo>
                    <a:pt x="274" y="323"/>
                  </a:lnTo>
                  <a:close/>
                  <a:moveTo>
                    <a:pt x="142" y="290"/>
                  </a:moveTo>
                  <a:cubicBezTo>
                    <a:pt x="64" y="290"/>
                    <a:pt x="10" y="271"/>
                    <a:pt x="10" y="253"/>
                  </a:cubicBezTo>
                  <a:cubicBezTo>
                    <a:pt x="10" y="249"/>
                    <a:pt x="14" y="245"/>
                    <a:pt x="18" y="242"/>
                  </a:cubicBezTo>
                  <a:cubicBezTo>
                    <a:pt x="43" y="257"/>
                    <a:pt x="94" y="265"/>
                    <a:pt x="142" y="265"/>
                  </a:cubicBezTo>
                  <a:cubicBezTo>
                    <a:pt x="190" y="265"/>
                    <a:pt x="240" y="257"/>
                    <a:pt x="266" y="242"/>
                  </a:cubicBezTo>
                  <a:cubicBezTo>
                    <a:pt x="270" y="245"/>
                    <a:pt x="274" y="249"/>
                    <a:pt x="274" y="253"/>
                  </a:cubicBezTo>
                  <a:cubicBezTo>
                    <a:pt x="274" y="271"/>
                    <a:pt x="220" y="290"/>
                    <a:pt x="142" y="290"/>
                  </a:cubicBezTo>
                  <a:close/>
                  <a:moveTo>
                    <a:pt x="274" y="219"/>
                  </a:moveTo>
                  <a:cubicBezTo>
                    <a:pt x="274" y="223"/>
                    <a:pt x="271" y="228"/>
                    <a:pt x="264" y="232"/>
                  </a:cubicBezTo>
                  <a:cubicBezTo>
                    <a:pt x="264" y="232"/>
                    <a:pt x="264" y="232"/>
                    <a:pt x="263" y="233"/>
                  </a:cubicBezTo>
                  <a:cubicBezTo>
                    <a:pt x="244" y="245"/>
                    <a:pt x="199" y="255"/>
                    <a:pt x="142" y="255"/>
                  </a:cubicBezTo>
                  <a:cubicBezTo>
                    <a:pt x="84" y="255"/>
                    <a:pt x="40" y="245"/>
                    <a:pt x="20" y="233"/>
                  </a:cubicBezTo>
                  <a:cubicBezTo>
                    <a:pt x="20" y="232"/>
                    <a:pt x="20" y="232"/>
                    <a:pt x="19" y="232"/>
                  </a:cubicBezTo>
                  <a:cubicBezTo>
                    <a:pt x="13" y="228"/>
                    <a:pt x="10" y="223"/>
                    <a:pt x="10" y="219"/>
                  </a:cubicBezTo>
                  <a:cubicBezTo>
                    <a:pt x="10" y="167"/>
                    <a:pt x="10" y="167"/>
                    <a:pt x="10" y="167"/>
                  </a:cubicBezTo>
                  <a:cubicBezTo>
                    <a:pt x="31" y="186"/>
                    <a:pt x="88" y="195"/>
                    <a:pt x="142" y="195"/>
                  </a:cubicBezTo>
                  <a:cubicBezTo>
                    <a:pt x="196" y="195"/>
                    <a:pt x="252" y="186"/>
                    <a:pt x="274" y="167"/>
                  </a:cubicBezTo>
                  <a:lnTo>
                    <a:pt x="274" y="219"/>
                  </a:lnTo>
                  <a:close/>
                  <a:moveTo>
                    <a:pt x="142" y="186"/>
                  </a:moveTo>
                  <a:cubicBezTo>
                    <a:pt x="64" y="186"/>
                    <a:pt x="10" y="167"/>
                    <a:pt x="10" y="150"/>
                  </a:cubicBezTo>
                  <a:cubicBezTo>
                    <a:pt x="10" y="145"/>
                    <a:pt x="14" y="141"/>
                    <a:pt x="18" y="138"/>
                  </a:cubicBezTo>
                  <a:cubicBezTo>
                    <a:pt x="43" y="153"/>
                    <a:pt x="94" y="161"/>
                    <a:pt x="142" y="161"/>
                  </a:cubicBezTo>
                  <a:cubicBezTo>
                    <a:pt x="190" y="161"/>
                    <a:pt x="240" y="153"/>
                    <a:pt x="266" y="138"/>
                  </a:cubicBezTo>
                  <a:cubicBezTo>
                    <a:pt x="270" y="141"/>
                    <a:pt x="274" y="145"/>
                    <a:pt x="274" y="150"/>
                  </a:cubicBezTo>
                  <a:cubicBezTo>
                    <a:pt x="274" y="167"/>
                    <a:pt x="220" y="186"/>
                    <a:pt x="142" y="186"/>
                  </a:cubicBezTo>
                  <a:close/>
                  <a:moveTo>
                    <a:pt x="274" y="115"/>
                  </a:moveTo>
                  <a:cubicBezTo>
                    <a:pt x="274" y="120"/>
                    <a:pt x="271" y="124"/>
                    <a:pt x="264" y="128"/>
                  </a:cubicBezTo>
                  <a:cubicBezTo>
                    <a:pt x="264" y="128"/>
                    <a:pt x="263" y="129"/>
                    <a:pt x="263" y="129"/>
                  </a:cubicBezTo>
                  <a:cubicBezTo>
                    <a:pt x="243" y="142"/>
                    <a:pt x="199" y="152"/>
                    <a:pt x="142" y="152"/>
                  </a:cubicBezTo>
                  <a:cubicBezTo>
                    <a:pt x="85" y="152"/>
                    <a:pt x="40" y="142"/>
                    <a:pt x="21" y="129"/>
                  </a:cubicBezTo>
                  <a:cubicBezTo>
                    <a:pt x="20" y="129"/>
                    <a:pt x="20" y="128"/>
                    <a:pt x="19" y="128"/>
                  </a:cubicBezTo>
                  <a:cubicBezTo>
                    <a:pt x="13" y="124"/>
                    <a:pt x="10" y="120"/>
                    <a:pt x="10" y="115"/>
                  </a:cubicBezTo>
                  <a:cubicBezTo>
                    <a:pt x="10" y="63"/>
                    <a:pt x="10" y="63"/>
                    <a:pt x="10" y="63"/>
                  </a:cubicBezTo>
                  <a:cubicBezTo>
                    <a:pt x="31" y="82"/>
                    <a:pt x="88" y="92"/>
                    <a:pt x="142" y="92"/>
                  </a:cubicBezTo>
                  <a:cubicBezTo>
                    <a:pt x="196" y="92"/>
                    <a:pt x="252" y="82"/>
                    <a:pt x="274" y="63"/>
                  </a:cubicBezTo>
                  <a:lnTo>
                    <a:pt x="274" y="115"/>
                  </a:lnTo>
                  <a:close/>
                  <a:moveTo>
                    <a:pt x="142" y="82"/>
                  </a:moveTo>
                  <a:cubicBezTo>
                    <a:pt x="64" y="82"/>
                    <a:pt x="10" y="63"/>
                    <a:pt x="10" y="46"/>
                  </a:cubicBezTo>
                  <a:cubicBezTo>
                    <a:pt x="10" y="29"/>
                    <a:pt x="64" y="10"/>
                    <a:pt x="142" y="10"/>
                  </a:cubicBezTo>
                  <a:cubicBezTo>
                    <a:pt x="220" y="10"/>
                    <a:pt x="274" y="29"/>
                    <a:pt x="274" y="46"/>
                  </a:cubicBezTo>
                  <a:cubicBezTo>
                    <a:pt x="274" y="63"/>
                    <a:pt x="220" y="82"/>
                    <a:pt x="142" y="82"/>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800" dirty="0"/>
            </a:p>
          </p:txBody>
        </p:sp>
      </p:grpSp>
      <p:sp>
        <p:nvSpPr>
          <p:cNvPr id="117" name="TextBox 25"/>
          <p:cNvSpPr txBox="1"/>
          <p:nvPr/>
        </p:nvSpPr>
        <p:spPr>
          <a:xfrm>
            <a:off x="4808984" y="2600363"/>
            <a:ext cx="1723540" cy="2308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Equipo de Analistas</a:t>
            </a:r>
            <a:endParaRPr lang="es-ES" sz="900" b="1" dirty="0">
              <a:solidFill>
                <a:schemeClr val="bg1">
                  <a:lumMod val="50000"/>
                </a:schemeClr>
              </a:solidFill>
              <a:latin typeface="Avenir 35" panose="00000400000000000000" pitchFamily="2" charset="0"/>
            </a:endParaRPr>
          </a:p>
        </p:txBody>
      </p:sp>
      <p:grpSp>
        <p:nvGrpSpPr>
          <p:cNvPr id="5" name="4 Grupo"/>
          <p:cNvGrpSpPr/>
          <p:nvPr/>
        </p:nvGrpSpPr>
        <p:grpSpPr>
          <a:xfrm>
            <a:off x="5103082" y="2168315"/>
            <a:ext cx="1218070" cy="433552"/>
            <a:chOff x="4902959" y="2187342"/>
            <a:chExt cx="1629565" cy="586388"/>
          </a:xfrm>
        </p:grpSpPr>
        <p:sp>
          <p:nvSpPr>
            <p:cNvPr id="86" name="85 Elipse"/>
            <p:cNvSpPr/>
            <p:nvPr/>
          </p:nvSpPr>
          <p:spPr>
            <a:xfrm>
              <a:off x="4902959" y="2196983"/>
              <a:ext cx="540000" cy="544450"/>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sp>
          <p:nvSpPr>
            <p:cNvPr id="87" name="86 Elipse"/>
            <p:cNvSpPr/>
            <p:nvPr/>
          </p:nvSpPr>
          <p:spPr>
            <a:xfrm>
              <a:off x="5442959" y="2212389"/>
              <a:ext cx="540000" cy="544450"/>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sp>
          <p:nvSpPr>
            <p:cNvPr id="88" name="87 Elipse"/>
            <p:cNvSpPr/>
            <p:nvPr/>
          </p:nvSpPr>
          <p:spPr>
            <a:xfrm>
              <a:off x="5992524" y="2196983"/>
              <a:ext cx="540000" cy="544450"/>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sp>
          <p:nvSpPr>
            <p:cNvPr id="118" name="Freeform 153"/>
            <p:cNvSpPr>
              <a:spLocks noEditPoints="1"/>
            </p:cNvSpPr>
            <p:nvPr/>
          </p:nvSpPr>
          <p:spPr bwMode="auto">
            <a:xfrm>
              <a:off x="6121029" y="2348880"/>
              <a:ext cx="282989" cy="258636"/>
            </a:xfrm>
            <a:custGeom>
              <a:avLst/>
              <a:gdLst>
                <a:gd name="T0" fmla="*/ 139 w 185"/>
                <a:gd name="T1" fmla="*/ 104 h 169"/>
                <a:gd name="T2" fmla="*/ 151 w 185"/>
                <a:gd name="T3" fmla="*/ 64 h 169"/>
                <a:gd name="T4" fmla="*/ 138 w 185"/>
                <a:gd name="T5" fmla="*/ 12 h 169"/>
                <a:gd name="T6" fmla="*/ 109 w 185"/>
                <a:gd name="T7" fmla="*/ 12 h 169"/>
                <a:gd name="T8" fmla="*/ 113 w 185"/>
                <a:gd name="T9" fmla="*/ 20 h 169"/>
                <a:gd name="T10" fmla="*/ 134 w 185"/>
                <a:gd name="T11" fmla="*/ 19 h 169"/>
                <a:gd name="T12" fmla="*/ 144 w 185"/>
                <a:gd name="T13" fmla="*/ 59 h 169"/>
                <a:gd name="T14" fmla="*/ 143 w 185"/>
                <a:gd name="T15" fmla="*/ 76 h 169"/>
                <a:gd name="T16" fmla="*/ 141 w 185"/>
                <a:gd name="T17" fmla="*/ 78 h 169"/>
                <a:gd name="T18" fmla="*/ 152 w 185"/>
                <a:gd name="T19" fmla="*/ 132 h 169"/>
                <a:gd name="T20" fmla="*/ 150 w 185"/>
                <a:gd name="T21" fmla="*/ 152 h 169"/>
                <a:gd name="T22" fmla="*/ 181 w 185"/>
                <a:gd name="T23" fmla="*/ 161 h 169"/>
                <a:gd name="T24" fmla="*/ 155 w 185"/>
                <a:gd name="T25" fmla="*/ 124 h 169"/>
                <a:gd name="T26" fmla="*/ 92 w 185"/>
                <a:gd name="T27" fmla="*/ 106 h 169"/>
                <a:gd name="T28" fmla="*/ 104 w 185"/>
                <a:gd name="T29" fmla="*/ 61 h 169"/>
                <a:gd name="T30" fmla="*/ 91 w 185"/>
                <a:gd name="T31" fmla="*/ 3 h 169"/>
                <a:gd name="T32" fmla="*/ 57 w 185"/>
                <a:gd name="T33" fmla="*/ 5 h 169"/>
                <a:gd name="T34" fmla="*/ 39 w 185"/>
                <a:gd name="T35" fmla="*/ 61 h 169"/>
                <a:gd name="T36" fmla="*/ 50 w 185"/>
                <a:gd name="T37" fmla="*/ 106 h 169"/>
                <a:gd name="T38" fmla="*/ 0 w 185"/>
                <a:gd name="T39" fmla="*/ 165 h 169"/>
                <a:gd name="T40" fmla="*/ 139 w 185"/>
                <a:gd name="T41" fmla="*/ 169 h 169"/>
                <a:gd name="T42" fmla="*/ 109 w 185"/>
                <a:gd name="T43" fmla="*/ 128 h 169"/>
                <a:gd name="T44" fmla="*/ 36 w 185"/>
                <a:gd name="T45" fmla="*/ 136 h 169"/>
                <a:gd name="T46" fmla="*/ 49 w 185"/>
                <a:gd name="T47" fmla="*/ 78 h 169"/>
                <a:gd name="T48" fmla="*/ 47 w 185"/>
                <a:gd name="T49" fmla="*/ 76 h 169"/>
                <a:gd name="T50" fmla="*/ 47 w 185"/>
                <a:gd name="T51" fmla="*/ 57 h 169"/>
                <a:gd name="T52" fmla="*/ 60 w 185"/>
                <a:gd name="T53" fmla="*/ 13 h 169"/>
                <a:gd name="T54" fmla="*/ 77 w 185"/>
                <a:gd name="T55" fmla="*/ 9 h 169"/>
                <a:gd name="T56" fmla="*/ 97 w 185"/>
                <a:gd name="T57" fmla="*/ 25 h 169"/>
                <a:gd name="T58" fmla="*/ 96 w 185"/>
                <a:gd name="T59" fmla="*/ 63 h 169"/>
                <a:gd name="T60" fmla="*/ 95 w 185"/>
                <a:gd name="T61" fmla="*/ 77 h 169"/>
                <a:gd name="T62" fmla="*/ 84 w 185"/>
                <a:gd name="T63" fmla="*/ 106 h 169"/>
                <a:gd name="T64" fmla="*/ 134 w 185"/>
                <a:gd name="T65" fmla="*/ 161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5" h="169">
                  <a:moveTo>
                    <a:pt x="155" y="124"/>
                  </a:moveTo>
                  <a:cubicBezTo>
                    <a:pt x="155" y="124"/>
                    <a:pt x="139" y="120"/>
                    <a:pt x="139" y="104"/>
                  </a:cubicBezTo>
                  <a:cubicBezTo>
                    <a:pt x="139" y="90"/>
                    <a:pt x="146" y="85"/>
                    <a:pt x="149" y="82"/>
                  </a:cubicBezTo>
                  <a:cubicBezTo>
                    <a:pt x="149" y="82"/>
                    <a:pt x="154" y="78"/>
                    <a:pt x="151" y="64"/>
                  </a:cubicBezTo>
                  <a:cubicBezTo>
                    <a:pt x="156" y="56"/>
                    <a:pt x="158" y="43"/>
                    <a:pt x="151" y="28"/>
                  </a:cubicBezTo>
                  <a:cubicBezTo>
                    <a:pt x="148" y="19"/>
                    <a:pt x="143" y="14"/>
                    <a:pt x="138" y="12"/>
                  </a:cubicBezTo>
                  <a:cubicBezTo>
                    <a:pt x="134" y="9"/>
                    <a:pt x="129" y="9"/>
                    <a:pt x="125" y="9"/>
                  </a:cubicBezTo>
                  <a:cubicBezTo>
                    <a:pt x="119" y="9"/>
                    <a:pt x="113" y="10"/>
                    <a:pt x="109" y="12"/>
                  </a:cubicBezTo>
                  <a:cubicBezTo>
                    <a:pt x="110" y="14"/>
                    <a:pt x="111" y="16"/>
                    <a:pt x="112" y="19"/>
                  </a:cubicBezTo>
                  <a:cubicBezTo>
                    <a:pt x="112" y="19"/>
                    <a:pt x="113" y="19"/>
                    <a:pt x="113" y="20"/>
                  </a:cubicBezTo>
                  <a:cubicBezTo>
                    <a:pt x="115" y="19"/>
                    <a:pt x="120" y="17"/>
                    <a:pt x="125" y="17"/>
                  </a:cubicBezTo>
                  <a:cubicBezTo>
                    <a:pt x="128" y="17"/>
                    <a:pt x="131" y="18"/>
                    <a:pt x="134" y="19"/>
                  </a:cubicBezTo>
                  <a:cubicBezTo>
                    <a:pt x="136" y="20"/>
                    <a:pt x="140" y="23"/>
                    <a:pt x="144" y="32"/>
                  </a:cubicBezTo>
                  <a:cubicBezTo>
                    <a:pt x="149" y="44"/>
                    <a:pt x="147" y="54"/>
                    <a:pt x="144" y="59"/>
                  </a:cubicBezTo>
                  <a:cubicBezTo>
                    <a:pt x="142" y="61"/>
                    <a:pt x="142" y="63"/>
                    <a:pt x="142" y="66"/>
                  </a:cubicBezTo>
                  <a:cubicBezTo>
                    <a:pt x="144" y="73"/>
                    <a:pt x="143" y="76"/>
                    <a:pt x="143" y="76"/>
                  </a:cubicBezTo>
                  <a:cubicBezTo>
                    <a:pt x="142" y="76"/>
                    <a:pt x="142" y="77"/>
                    <a:pt x="142" y="77"/>
                  </a:cubicBezTo>
                  <a:cubicBezTo>
                    <a:pt x="142" y="77"/>
                    <a:pt x="141" y="78"/>
                    <a:pt x="141" y="78"/>
                  </a:cubicBezTo>
                  <a:cubicBezTo>
                    <a:pt x="137" y="82"/>
                    <a:pt x="130" y="89"/>
                    <a:pt x="130" y="104"/>
                  </a:cubicBezTo>
                  <a:cubicBezTo>
                    <a:pt x="130" y="122"/>
                    <a:pt x="144" y="130"/>
                    <a:pt x="152" y="132"/>
                  </a:cubicBezTo>
                  <a:cubicBezTo>
                    <a:pt x="163" y="135"/>
                    <a:pt x="174" y="140"/>
                    <a:pt x="176" y="152"/>
                  </a:cubicBezTo>
                  <a:cubicBezTo>
                    <a:pt x="150" y="152"/>
                    <a:pt x="150" y="152"/>
                    <a:pt x="150" y="152"/>
                  </a:cubicBezTo>
                  <a:cubicBezTo>
                    <a:pt x="150" y="155"/>
                    <a:pt x="151" y="158"/>
                    <a:pt x="151" y="161"/>
                  </a:cubicBezTo>
                  <a:cubicBezTo>
                    <a:pt x="181" y="161"/>
                    <a:pt x="181" y="161"/>
                    <a:pt x="181" y="161"/>
                  </a:cubicBezTo>
                  <a:cubicBezTo>
                    <a:pt x="185" y="161"/>
                    <a:pt x="185" y="157"/>
                    <a:pt x="185" y="157"/>
                  </a:cubicBezTo>
                  <a:cubicBezTo>
                    <a:pt x="185" y="134"/>
                    <a:pt x="164" y="127"/>
                    <a:pt x="155" y="124"/>
                  </a:cubicBezTo>
                  <a:close/>
                  <a:moveTo>
                    <a:pt x="109" y="128"/>
                  </a:moveTo>
                  <a:cubicBezTo>
                    <a:pt x="109" y="128"/>
                    <a:pt x="92" y="124"/>
                    <a:pt x="92" y="106"/>
                  </a:cubicBezTo>
                  <a:cubicBezTo>
                    <a:pt x="92" y="91"/>
                    <a:pt x="99" y="85"/>
                    <a:pt x="102" y="82"/>
                  </a:cubicBezTo>
                  <a:cubicBezTo>
                    <a:pt x="102" y="82"/>
                    <a:pt x="108" y="77"/>
                    <a:pt x="104" y="61"/>
                  </a:cubicBezTo>
                  <a:cubicBezTo>
                    <a:pt x="110" y="53"/>
                    <a:pt x="111" y="38"/>
                    <a:pt x="105" y="22"/>
                  </a:cubicBezTo>
                  <a:cubicBezTo>
                    <a:pt x="100" y="12"/>
                    <a:pt x="96" y="7"/>
                    <a:pt x="91" y="3"/>
                  </a:cubicBezTo>
                  <a:cubicBezTo>
                    <a:pt x="87" y="1"/>
                    <a:pt x="82" y="0"/>
                    <a:pt x="77" y="0"/>
                  </a:cubicBezTo>
                  <a:cubicBezTo>
                    <a:pt x="69" y="0"/>
                    <a:pt x="60" y="3"/>
                    <a:pt x="57" y="5"/>
                  </a:cubicBezTo>
                  <a:cubicBezTo>
                    <a:pt x="47" y="10"/>
                    <a:pt x="41" y="13"/>
                    <a:pt x="35" y="28"/>
                  </a:cubicBezTo>
                  <a:cubicBezTo>
                    <a:pt x="30" y="40"/>
                    <a:pt x="36" y="54"/>
                    <a:pt x="39" y="61"/>
                  </a:cubicBezTo>
                  <a:cubicBezTo>
                    <a:pt x="35" y="76"/>
                    <a:pt x="41" y="82"/>
                    <a:pt x="41" y="82"/>
                  </a:cubicBezTo>
                  <a:cubicBezTo>
                    <a:pt x="43" y="85"/>
                    <a:pt x="50" y="91"/>
                    <a:pt x="50" y="106"/>
                  </a:cubicBezTo>
                  <a:cubicBezTo>
                    <a:pt x="50" y="124"/>
                    <a:pt x="33" y="128"/>
                    <a:pt x="33" y="128"/>
                  </a:cubicBezTo>
                  <a:cubicBezTo>
                    <a:pt x="22" y="132"/>
                    <a:pt x="0" y="140"/>
                    <a:pt x="0" y="165"/>
                  </a:cubicBezTo>
                  <a:cubicBezTo>
                    <a:pt x="0" y="165"/>
                    <a:pt x="0" y="169"/>
                    <a:pt x="4" y="169"/>
                  </a:cubicBezTo>
                  <a:cubicBezTo>
                    <a:pt x="139" y="169"/>
                    <a:pt x="139" y="169"/>
                    <a:pt x="139" y="169"/>
                  </a:cubicBezTo>
                  <a:cubicBezTo>
                    <a:pt x="143" y="169"/>
                    <a:pt x="143" y="165"/>
                    <a:pt x="143" y="165"/>
                  </a:cubicBezTo>
                  <a:cubicBezTo>
                    <a:pt x="143" y="140"/>
                    <a:pt x="120" y="132"/>
                    <a:pt x="109" y="128"/>
                  </a:cubicBezTo>
                  <a:close/>
                  <a:moveTo>
                    <a:pt x="8" y="161"/>
                  </a:moveTo>
                  <a:cubicBezTo>
                    <a:pt x="10" y="146"/>
                    <a:pt x="23" y="140"/>
                    <a:pt x="36" y="136"/>
                  </a:cubicBezTo>
                  <a:cubicBezTo>
                    <a:pt x="44" y="134"/>
                    <a:pt x="59" y="125"/>
                    <a:pt x="59" y="106"/>
                  </a:cubicBezTo>
                  <a:cubicBezTo>
                    <a:pt x="59" y="90"/>
                    <a:pt x="52" y="82"/>
                    <a:pt x="49" y="78"/>
                  </a:cubicBezTo>
                  <a:cubicBezTo>
                    <a:pt x="48" y="78"/>
                    <a:pt x="48" y="77"/>
                    <a:pt x="47" y="77"/>
                  </a:cubicBezTo>
                  <a:cubicBezTo>
                    <a:pt x="47" y="77"/>
                    <a:pt x="47" y="76"/>
                    <a:pt x="47" y="76"/>
                  </a:cubicBezTo>
                  <a:cubicBezTo>
                    <a:pt x="47" y="76"/>
                    <a:pt x="45" y="72"/>
                    <a:pt x="47" y="63"/>
                  </a:cubicBezTo>
                  <a:cubicBezTo>
                    <a:pt x="48" y="61"/>
                    <a:pt x="48" y="59"/>
                    <a:pt x="47" y="57"/>
                  </a:cubicBezTo>
                  <a:cubicBezTo>
                    <a:pt x="45" y="53"/>
                    <a:pt x="39" y="40"/>
                    <a:pt x="43" y="31"/>
                  </a:cubicBezTo>
                  <a:cubicBezTo>
                    <a:pt x="48" y="19"/>
                    <a:pt x="52" y="17"/>
                    <a:pt x="60" y="13"/>
                  </a:cubicBezTo>
                  <a:cubicBezTo>
                    <a:pt x="61" y="13"/>
                    <a:pt x="61" y="13"/>
                    <a:pt x="62" y="12"/>
                  </a:cubicBezTo>
                  <a:cubicBezTo>
                    <a:pt x="64" y="11"/>
                    <a:pt x="70" y="9"/>
                    <a:pt x="77" y="9"/>
                  </a:cubicBezTo>
                  <a:cubicBezTo>
                    <a:pt x="81" y="9"/>
                    <a:pt x="84" y="9"/>
                    <a:pt x="87" y="11"/>
                  </a:cubicBezTo>
                  <a:cubicBezTo>
                    <a:pt x="90" y="13"/>
                    <a:pt x="93" y="16"/>
                    <a:pt x="97" y="25"/>
                  </a:cubicBezTo>
                  <a:cubicBezTo>
                    <a:pt x="103" y="39"/>
                    <a:pt x="101" y="51"/>
                    <a:pt x="97" y="56"/>
                  </a:cubicBezTo>
                  <a:cubicBezTo>
                    <a:pt x="96" y="58"/>
                    <a:pt x="95" y="61"/>
                    <a:pt x="96" y="63"/>
                  </a:cubicBezTo>
                  <a:cubicBezTo>
                    <a:pt x="98" y="72"/>
                    <a:pt x="96" y="75"/>
                    <a:pt x="96" y="76"/>
                  </a:cubicBezTo>
                  <a:cubicBezTo>
                    <a:pt x="96" y="76"/>
                    <a:pt x="95" y="76"/>
                    <a:pt x="95" y="77"/>
                  </a:cubicBezTo>
                  <a:cubicBezTo>
                    <a:pt x="95" y="77"/>
                    <a:pt x="94" y="78"/>
                    <a:pt x="94" y="78"/>
                  </a:cubicBezTo>
                  <a:cubicBezTo>
                    <a:pt x="90" y="82"/>
                    <a:pt x="84" y="90"/>
                    <a:pt x="84" y="106"/>
                  </a:cubicBezTo>
                  <a:cubicBezTo>
                    <a:pt x="84" y="125"/>
                    <a:pt x="99" y="134"/>
                    <a:pt x="107" y="136"/>
                  </a:cubicBezTo>
                  <a:cubicBezTo>
                    <a:pt x="119" y="140"/>
                    <a:pt x="132" y="146"/>
                    <a:pt x="134" y="161"/>
                  </a:cubicBezTo>
                  <a:lnTo>
                    <a:pt x="8" y="161"/>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119" name="Freeform 153"/>
            <p:cNvSpPr>
              <a:spLocks noEditPoints="1"/>
            </p:cNvSpPr>
            <p:nvPr/>
          </p:nvSpPr>
          <p:spPr bwMode="auto">
            <a:xfrm>
              <a:off x="5031464" y="2348748"/>
              <a:ext cx="282989" cy="258636"/>
            </a:xfrm>
            <a:custGeom>
              <a:avLst/>
              <a:gdLst>
                <a:gd name="T0" fmla="*/ 139 w 185"/>
                <a:gd name="T1" fmla="*/ 104 h 169"/>
                <a:gd name="T2" fmla="*/ 151 w 185"/>
                <a:gd name="T3" fmla="*/ 64 h 169"/>
                <a:gd name="T4" fmla="*/ 138 w 185"/>
                <a:gd name="T5" fmla="*/ 12 h 169"/>
                <a:gd name="T6" fmla="*/ 109 w 185"/>
                <a:gd name="T7" fmla="*/ 12 h 169"/>
                <a:gd name="T8" fmla="*/ 113 w 185"/>
                <a:gd name="T9" fmla="*/ 20 h 169"/>
                <a:gd name="T10" fmla="*/ 134 w 185"/>
                <a:gd name="T11" fmla="*/ 19 h 169"/>
                <a:gd name="T12" fmla="*/ 144 w 185"/>
                <a:gd name="T13" fmla="*/ 59 h 169"/>
                <a:gd name="T14" fmla="*/ 143 w 185"/>
                <a:gd name="T15" fmla="*/ 76 h 169"/>
                <a:gd name="T16" fmla="*/ 141 w 185"/>
                <a:gd name="T17" fmla="*/ 78 h 169"/>
                <a:gd name="T18" fmla="*/ 152 w 185"/>
                <a:gd name="T19" fmla="*/ 132 h 169"/>
                <a:gd name="T20" fmla="*/ 150 w 185"/>
                <a:gd name="T21" fmla="*/ 152 h 169"/>
                <a:gd name="T22" fmla="*/ 181 w 185"/>
                <a:gd name="T23" fmla="*/ 161 h 169"/>
                <a:gd name="T24" fmla="*/ 155 w 185"/>
                <a:gd name="T25" fmla="*/ 124 h 169"/>
                <a:gd name="T26" fmla="*/ 92 w 185"/>
                <a:gd name="T27" fmla="*/ 106 h 169"/>
                <a:gd name="T28" fmla="*/ 104 w 185"/>
                <a:gd name="T29" fmla="*/ 61 h 169"/>
                <a:gd name="T30" fmla="*/ 91 w 185"/>
                <a:gd name="T31" fmla="*/ 3 h 169"/>
                <a:gd name="T32" fmla="*/ 57 w 185"/>
                <a:gd name="T33" fmla="*/ 5 h 169"/>
                <a:gd name="T34" fmla="*/ 39 w 185"/>
                <a:gd name="T35" fmla="*/ 61 h 169"/>
                <a:gd name="T36" fmla="*/ 50 w 185"/>
                <a:gd name="T37" fmla="*/ 106 h 169"/>
                <a:gd name="T38" fmla="*/ 0 w 185"/>
                <a:gd name="T39" fmla="*/ 165 h 169"/>
                <a:gd name="T40" fmla="*/ 139 w 185"/>
                <a:gd name="T41" fmla="*/ 169 h 169"/>
                <a:gd name="T42" fmla="*/ 109 w 185"/>
                <a:gd name="T43" fmla="*/ 128 h 169"/>
                <a:gd name="T44" fmla="*/ 36 w 185"/>
                <a:gd name="T45" fmla="*/ 136 h 169"/>
                <a:gd name="T46" fmla="*/ 49 w 185"/>
                <a:gd name="T47" fmla="*/ 78 h 169"/>
                <a:gd name="T48" fmla="*/ 47 w 185"/>
                <a:gd name="T49" fmla="*/ 76 h 169"/>
                <a:gd name="T50" fmla="*/ 47 w 185"/>
                <a:gd name="T51" fmla="*/ 57 h 169"/>
                <a:gd name="T52" fmla="*/ 60 w 185"/>
                <a:gd name="T53" fmla="*/ 13 h 169"/>
                <a:gd name="T54" fmla="*/ 77 w 185"/>
                <a:gd name="T55" fmla="*/ 9 h 169"/>
                <a:gd name="T56" fmla="*/ 97 w 185"/>
                <a:gd name="T57" fmla="*/ 25 h 169"/>
                <a:gd name="T58" fmla="*/ 96 w 185"/>
                <a:gd name="T59" fmla="*/ 63 h 169"/>
                <a:gd name="T60" fmla="*/ 95 w 185"/>
                <a:gd name="T61" fmla="*/ 77 h 169"/>
                <a:gd name="T62" fmla="*/ 84 w 185"/>
                <a:gd name="T63" fmla="*/ 106 h 169"/>
                <a:gd name="T64" fmla="*/ 134 w 185"/>
                <a:gd name="T65" fmla="*/ 161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5" h="169">
                  <a:moveTo>
                    <a:pt x="155" y="124"/>
                  </a:moveTo>
                  <a:cubicBezTo>
                    <a:pt x="155" y="124"/>
                    <a:pt x="139" y="120"/>
                    <a:pt x="139" y="104"/>
                  </a:cubicBezTo>
                  <a:cubicBezTo>
                    <a:pt x="139" y="90"/>
                    <a:pt x="146" y="85"/>
                    <a:pt x="149" y="82"/>
                  </a:cubicBezTo>
                  <a:cubicBezTo>
                    <a:pt x="149" y="82"/>
                    <a:pt x="154" y="78"/>
                    <a:pt x="151" y="64"/>
                  </a:cubicBezTo>
                  <a:cubicBezTo>
                    <a:pt x="156" y="56"/>
                    <a:pt x="158" y="43"/>
                    <a:pt x="151" y="28"/>
                  </a:cubicBezTo>
                  <a:cubicBezTo>
                    <a:pt x="148" y="19"/>
                    <a:pt x="143" y="14"/>
                    <a:pt x="138" y="12"/>
                  </a:cubicBezTo>
                  <a:cubicBezTo>
                    <a:pt x="134" y="9"/>
                    <a:pt x="129" y="9"/>
                    <a:pt x="125" y="9"/>
                  </a:cubicBezTo>
                  <a:cubicBezTo>
                    <a:pt x="119" y="9"/>
                    <a:pt x="113" y="10"/>
                    <a:pt x="109" y="12"/>
                  </a:cubicBezTo>
                  <a:cubicBezTo>
                    <a:pt x="110" y="14"/>
                    <a:pt x="111" y="16"/>
                    <a:pt x="112" y="19"/>
                  </a:cubicBezTo>
                  <a:cubicBezTo>
                    <a:pt x="112" y="19"/>
                    <a:pt x="113" y="19"/>
                    <a:pt x="113" y="20"/>
                  </a:cubicBezTo>
                  <a:cubicBezTo>
                    <a:pt x="115" y="19"/>
                    <a:pt x="120" y="17"/>
                    <a:pt x="125" y="17"/>
                  </a:cubicBezTo>
                  <a:cubicBezTo>
                    <a:pt x="128" y="17"/>
                    <a:pt x="131" y="18"/>
                    <a:pt x="134" y="19"/>
                  </a:cubicBezTo>
                  <a:cubicBezTo>
                    <a:pt x="136" y="20"/>
                    <a:pt x="140" y="23"/>
                    <a:pt x="144" y="32"/>
                  </a:cubicBezTo>
                  <a:cubicBezTo>
                    <a:pt x="149" y="44"/>
                    <a:pt x="147" y="54"/>
                    <a:pt x="144" y="59"/>
                  </a:cubicBezTo>
                  <a:cubicBezTo>
                    <a:pt x="142" y="61"/>
                    <a:pt x="142" y="63"/>
                    <a:pt x="142" y="66"/>
                  </a:cubicBezTo>
                  <a:cubicBezTo>
                    <a:pt x="144" y="73"/>
                    <a:pt x="143" y="76"/>
                    <a:pt x="143" y="76"/>
                  </a:cubicBezTo>
                  <a:cubicBezTo>
                    <a:pt x="142" y="76"/>
                    <a:pt x="142" y="77"/>
                    <a:pt x="142" y="77"/>
                  </a:cubicBezTo>
                  <a:cubicBezTo>
                    <a:pt x="142" y="77"/>
                    <a:pt x="141" y="78"/>
                    <a:pt x="141" y="78"/>
                  </a:cubicBezTo>
                  <a:cubicBezTo>
                    <a:pt x="137" y="82"/>
                    <a:pt x="130" y="89"/>
                    <a:pt x="130" y="104"/>
                  </a:cubicBezTo>
                  <a:cubicBezTo>
                    <a:pt x="130" y="122"/>
                    <a:pt x="144" y="130"/>
                    <a:pt x="152" y="132"/>
                  </a:cubicBezTo>
                  <a:cubicBezTo>
                    <a:pt x="163" y="135"/>
                    <a:pt x="174" y="140"/>
                    <a:pt x="176" y="152"/>
                  </a:cubicBezTo>
                  <a:cubicBezTo>
                    <a:pt x="150" y="152"/>
                    <a:pt x="150" y="152"/>
                    <a:pt x="150" y="152"/>
                  </a:cubicBezTo>
                  <a:cubicBezTo>
                    <a:pt x="150" y="155"/>
                    <a:pt x="151" y="158"/>
                    <a:pt x="151" y="161"/>
                  </a:cubicBezTo>
                  <a:cubicBezTo>
                    <a:pt x="181" y="161"/>
                    <a:pt x="181" y="161"/>
                    <a:pt x="181" y="161"/>
                  </a:cubicBezTo>
                  <a:cubicBezTo>
                    <a:pt x="185" y="161"/>
                    <a:pt x="185" y="157"/>
                    <a:pt x="185" y="157"/>
                  </a:cubicBezTo>
                  <a:cubicBezTo>
                    <a:pt x="185" y="134"/>
                    <a:pt x="164" y="127"/>
                    <a:pt x="155" y="124"/>
                  </a:cubicBezTo>
                  <a:close/>
                  <a:moveTo>
                    <a:pt x="109" y="128"/>
                  </a:moveTo>
                  <a:cubicBezTo>
                    <a:pt x="109" y="128"/>
                    <a:pt x="92" y="124"/>
                    <a:pt x="92" y="106"/>
                  </a:cubicBezTo>
                  <a:cubicBezTo>
                    <a:pt x="92" y="91"/>
                    <a:pt x="99" y="85"/>
                    <a:pt x="102" y="82"/>
                  </a:cubicBezTo>
                  <a:cubicBezTo>
                    <a:pt x="102" y="82"/>
                    <a:pt x="108" y="77"/>
                    <a:pt x="104" y="61"/>
                  </a:cubicBezTo>
                  <a:cubicBezTo>
                    <a:pt x="110" y="53"/>
                    <a:pt x="111" y="38"/>
                    <a:pt x="105" y="22"/>
                  </a:cubicBezTo>
                  <a:cubicBezTo>
                    <a:pt x="100" y="12"/>
                    <a:pt x="96" y="7"/>
                    <a:pt x="91" y="3"/>
                  </a:cubicBezTo>
                  <a:cubicBezTo>
                    <a:pt x="87" y="1"/>
                    <a:pt x="82" y="0"/>
                    <a:pt x="77" y="0"/>
                  </a:cubicBezTo>
                  <a:cubicBezTo>
                    <a:pt x="69" y="0"/>
                    <a:pt x="60" y="3"/>
                    <a:pt x="57" y="5"/>
                  </a:cubicBezTo>
                  <a:cubicBezTo>
                    <a:pt x="47" y="10"/>
                    <a:pt x="41" y="13"/>
                    <a:pt x="35" y="28"/>
                  </a:cubicBezTo>
                  <a:cubicBezTo>
                    <a:pt x="30" y="40"/>
                    <a:pt x="36" y="54"/>
                    <a:pt x="39" y="61"/>
                  </a:cubicBezTo>
                  <a:cubicBezTo>
                    <a:pt x="35" y="76"/>
                    <a:pt x="41" y="82"/>
                    <a:pt x="41" y="82"/>
                  </a:cubicBezTo>
                  <a:cubicBezTo>
                    <a:pt x="43" y="85"/>
                    <a:pt x="50" y="91"/>
                    <a:pt x="50" y="106"/>
                  </a:cubicBezTo>
                  <a:cubicBezTo>
                    <a:pt x="50" y="124"/>
                    <a:pt x="33" y="128"/>
                    <a:pt x="33" y="128"/>
                  </a:cubicBezTo>
                  <a:cubicBezTo>
                    <a:pt x="22" y="132"/>
                    <a:pt x="0" y="140"/>
                    <a:pt x="0" y="165"/>
                  </a:cubicBezTo>
                  <a:cubicBezTo>
                    <a:pt x="0" y="165"/>
                    <a:pt x="0" y="169"/>
                    <a:pt x="4" y="169"/>
                  </a:cubicBezTo>
                  <a:cubicBezTo>
                    <a:pt x="139" y="169"/>
                    <a:pt x="139" y="169"/>
                    <a:pt x="139" y="169"/>
                  </a:cubicBezTo>
                  <a:cubicBezTo>
                    <a:pt x="143" y="169"/>
                    <a:pt x="143" y="165"/>
                    <a:pt x="143" y="165"/>
                  </a:cubicBezTo>
                  <a:cubicBezTo>
                    <a:pt x="143" y="140"/>
                    <a:pt x="120" y="132"/>
                    <a:pt x="109" y="128"/>
                  </a:cubicBezTo>
                  <a:close/>
                  <a:moveTo>
                    <a:pt x="8" y="161"/>
                  </a:moveTo>
                  <a:cubicBezTo>
                    <a:pt x="10" y="146"/>
                    <a:pt x="23" y="140"/>
                    <a:pt x="36" y="136"/>
                  </a:cubicBezTo>
                  <a:cubicBezTo>
                    <a:pt x="44" y="134"/>
                    <a:pt x="59" y="125"/>
                    <a:pt x="59" y="106"/>
                  </a:cubicBezTo>
                  <a:cubicBezTo>
                    <a:pt x="59" y="90"/>
                    <a:pt x="52" y="82"/>
                    <a:pt x="49" y="78"/>
                  </a:cubicBezTo>
                  <a:cubicBezTo>
                    <a:pt x="48" y="78"/>
                    <a:pt x="48" y="77"/>
                    <a:pt x="47" y="77"/>
                  </a:cubicBezTo>
                  <a:cubicBezTo>
                    <a:pt x="47" y="77"/>
                    <a:pt x="47" y="76"/>
                    <a:pt x="47" y="76"/>
                  </a:cubicBezTo>
                  <a:cubicBezTo>
                    <a:pt x="47" y="76"/>
                    <a:pt x="45" y="72"/>
                    <a:pt x="47" y="63"/>
                  </a:cubicBezTo>
                  <a:cubicBezTo>
                    <a:pt x="48" y="61"/>
                    <a:pt x="48" y="59"/>
                    <a:pt x="47" y="57"/>
                  </a:cubicBezTo>
                  <a:cubicBezTo>
                    <a:pt x="45" y="53"/>
                    <a:pt x="39" y="40"/>
                    <a:pt x="43" y="31"/>
                  </a:cubicBezTo>
                  <a:cubicBezTo>
                    <a:pt x="48" y="19"/>
                    <a:pt x="52" y="17"/>
                    <a:pt x="60" y="13"/>
                  </a:cubicBezTo>
                  <a:cubicBezTo>
                    <a:pt x="61" y="13"/>
                    <a:pt x="61" y="13"/>
                    <a:pt x="62" y="12"/>
                  </a:cubicBezTo>
                  <a:cubicBezTo>
                    <a:pt x="64" y="11"/>
                    <a:pt x="70" y="9"/>
                    <a:pt x="77" y="9"/>
                  </a:cubicBezTo>
                  <a:cubicBezTo>
                    <a:pt x="81" y="9"/>
                    <a:pt x="84" y="9"/>
                    <a:pt x="87" y="11"/>
                  </a:cubicBezTo>
                  <a:cubicBezTo>
                    <a:pt x="90" y="13"/>
                    <a:pt x="93" y="16"/>
                    <a:pt x="97" y="25"/>
                  </a:cubicBezTo>
                  <a:cubicBezTo>
                    <a:pt x="103" y="39"/>
                    <a:pt x="101" y="51"/>
                    <a:pt x="97" y="56"/>
                  </a:cubicBezTo>
                  <a:cubicBezTo>
                    <a:pt x="96" y="58"/>
                    <a:pt x="95" y="61"/>
                    <a:pt x="96" y="63"/>
                  </a:cubicBezTo>
                  <a:cubicBezTo>
                    <a:pt x="98" y="72"/>
                    <a:pt x="96" y="75"/>
                    <a:pt x="96" y="76"/>
                  </a:cubicBezTo>
                  <a:cubicBezTo>
                    <a:pt x="96" y="76"/>
                    <a:pt x="95" y="76"/>
                    <a:pt x="95" y="77"/>
                  </a:cubicBezTo>
                  <a:cubicBezTo>
                    <a:pt x="95" y="77"/>
                    <a:pt x="94" y="78"/>
                    <a:pt x="94" y="78"/>
                  </a:cubicBezTo>
                  <a:cubicBezTo>
                    <a:pt x="90" y="82"/>
                    <a:pt x="84" y="90"/>
                    <a:pt x="84" y="106"/>
                  </a:cubicBezTo>
                  <a:cubicBezTo>
                    <a:pt x="84" y="125"/>
                    <a:pt x="99" y="134"/>
                    <a:pt x="107" y="136"/>
                  </a:cubicBezTo>
                  <a:cubicBezTo>
                    <a:pt x="119" y="140"/>
                    <a:pt x="132" y="146"/>
                    <a:pt x="134" y="161"/>
                  </a:cubicBezTo>
                  <a:lnTo>
                    <a:pt x="8" y="161"/>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p>
          </p:txBody>
        </p:sp>
        <p:pic>
          <p:nvPicPr>
            <p:cNvPr id="46086" name="Picture 6" descr="http://climaxbpm.com/knowledge-center/images/cs.png"/>
            <p:cNvPicPr>
              <a:picLocks noChangeAspect="1" noChangeArrowheads="1"/>
            </p:cNvPicPr>
            <p:nvPr/>
          </p:nvPicPr>
          <p:blipFill>
            <a:blip r:embed="rId13" cstate="print">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5413564" y="2187342"/>
              <a:ext cx="586388" cy="586388"/>
            </a:xfrm>
            <a:prstGeom prst="rect">
              <a:avLst/>
            </a:prstGeom>
            <a:noFill/>
            <a:extLst>
              <a:ext uri="{909E8E84-426E-40DD-AFC4-6F175D3DCCD1}">
                <a14:hiddenFill xmlns:a14="http://schemas.microsoft.com/office/drawing/2010/main">
                  <a:solidFill>
                    <a:srgbClr val="FFFFFF"/>
                  </a:solidFill>
                </a14:hiddenFill>
              </a:ext>
            </a:extLst>
          </p:spPr>
        </p:pic>
      </p:grpSp>
      <p:sp>
        <p:nvSpPr>
          <p:cNvPr id="120" name="TextBox 25"/>
          <p:cNvSpPr txBox="1"/>
          <p:nvPr/>
        </p:nvSpPr>
        <p:spPr>
          <a:xfrm>
            <a:off x="6910837" y="4169731"/>
            <a:ext cx="977047" cy="2308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Análisis DQ</a:t>
            </a:r>
          </a:p>
        </p:txBody>
      </p:sp>
      <p:pic>
        <p:nvPicPr>
          <p:cNvPr id="121" name="Picture 2" descr="https://cdn3.iconfinder.com/data/icons/brands-applications/512/File-512.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164468" y="4476518"/>
            <a:ext cx="469785" cy="469785"/>
          </a:xfrm>
          <a:prstGeom prst="rect">
            <a:avLst/>
          </a:prstGeom>
          <a:noFill/>
          <a:extLst>
            <a:ext uri="{909E8E84-426E-40DD-AFC4-6F175D3DCCD1}">
              <a14:hiddenFill xmlns:a14="http://schemas.microsoft.com/office/drawing/2010/main">
                <a:solidFill>
                  <a:srgbClr val="FFFFFF"/>
                </a:solidFill>
              </a14:hiddenFill>
            </a:ext>
          </a:extLst>
        </p:spPr>
      </p:pic>
      <p:pic>
        <p:nvPicPr>
          <p:cNvPr id="122" name="Picture 2" descr="https://cdn3.iconfinder.com/data/icons/brands-applications/512/File-512.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164468" y="5220793"/>
            <a:ext cx="469785" cy="469785"/>
          </a:xfrm>
          <a:prstGeom prst="rect">
            <a:avLst/>
          </a:prstGeom>
          <a:noFill/>
          <a:extLst>
            <a:ext uri="{909E8E84-426E-40DD-AFC4-6F175D3DCCD1}">
              <a14:hiddenFill xmlns:a14="http://schemas.microsoft.com/office/drawing/2010/main">
                <a:solidFill>
                  <a:srgbClr val="FFFFFF"/>
                </a:solidFill>
              </a14:hiddenFill>
            </a:ext>
          </a:extLst>
        </p:spPr>
      </p:pic>
      <p:sp>
        <p:nvSpPr>
          <p:cNvPr id="123" name="TextBox 25"/>
          <p:cNvSpPr txBox="1"/>
          <p:nvPr/>
        </p:nvSpPr>
        <p:spPr>
          <a:xfrm>
            <a:off x="6886330" y="4904619"/>
            <a:ext cx="1026060" cy="3693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Datos Depurados</a:t>
            </a:r>
          </a:p>
        </p:txBody>
      </p:sp>
      <p:sp>
        <p:nvSpPr>
          <p:cNvPr id="124" name="TextBox 25"/>
          <p:cNvSpPr txBox="1"/>
          <p:nvPr/>
        </p:nvSpPr>
        <p:spPr>
          <a:xfrm>
            <a:off x="6886330" y="5665765"/>
            <a:ext cx="1026060" cy="3693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Excepciones de Datos </a:t>
            </a:r>
          </a:p>
        </p:txBody>
      </p:sp>
      <p:sp>
        <p:nvSpPr>
          <p:cNvPr id="125" name="124 Rectángulo"/>
          <p:cNvSpPr/>
          <p:nvPr>
            <p:custDataLst>
              <p:tags r:id="rId4"/>
            </p:custDataLst>
          </p:nvPr>
        </p:nvSpPr>
        <p:spPr>
          <a:xfrm>
            <a:off x="5226432" y="3909765"/>
            <a:ext cx="1053537" cy="634814"/>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1200" kern="0" dirty="0">
                <a:solidFill>
                  <a:srgbClr val="FFFFFF"/>
                </a:solidFill>
                <a:latin typeface="Avenir 35" panose="00000400000000000000" pitchFamily="2" charset="0"/>
              </a:rPr>
              <a:t>Data Management</a:t>
            </a:r>
          </a:p>
        </p:txBody>
      </p:sp>
      <p:cxnSp>
        <p:nvCxnSpPr>
          <p:cNvPr id="13" name="12 Conector recto de flecha"/>
          <p:cNvCxnSpPr>
            <a:endCxn id="75" idx="2"/>
          </p:cNvCxnSpPr>
          <p:nvPr/>
        </p:nvCxnSpPr>
        <p:spPr>
          <a:xfrm>
            <a:off x="1182580" y="3004720"/>
            <a:ext cx="1037092" cy="5563"/>
          </a:xfrm>
          <a:prstGeom prst="straightConnector1">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cxnSp>
        <p:nvCxnSpPr>
          <p:cNvPr id="126" name="125 Conector recto de flecha"/>
          <p:cNvCxnSpPr>
            <a:stCxn id="71" idx="6"/>
          </p:cNvCxnSpPr>
          <p:nvPr/>
        </p:nvCxnSpPr>
        <p:spPr>
          <a:xfrm>
            <a:off x="1202540" y="4350696"/>
            <a:ext cx="706387" cy="0"/>
          </a:xfrm>
          <a:prstGeom prst="straightConnector1">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cxnSp>
        <p:nvCxnSpPr>
          <p:cNvPr id="127" name="126 Conector recto de flecha"/>
          <p:cNvCxnSpPr>
            <a:stCxn id="75" idx="4"/>
          </p:cNvCxnSpPr>
          <p:nvPr/>
        </p:nvCxnSpPr>
        <p:spPr>
          <a:xfrm>
            <a:off x="2489672" y="3282507"/>
            <a:ext cx="0" cy="612000"/>
          </a:xfrm>
          <a:prstGeom prst="straightConnector1">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cxnSp>
        <p:nvCxnSpPr>
          <p:cNvPr id="135" name="134 Conector recto de flecha"/>
          <p:cNvCxnSpPr/>
          <p:nvPr/>
        </p:nvCxnSpPr>
        <p:spPr>
          <a:xfrm>
            <a:off x="2925630" y="4601819"/>
            <a:ext cx="0" cy="360000"/>
          </a:xfrm>
          <a:prstGeom prst="straightConnector1">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cxnSp>
        <p:nvCxnSpPr>
          <p:cNvPr id="150" name="149 Conector recto de flecha"/>
          <p:cNvCxnSpPr>
            <a:stCxn id="75" idx="6"/>
            <a:endCxn id="89" idx="1"/>
          </p:cNvCxnSpPr>
          <p:nvPr/>
        </p:nvCxnSpPr>
        <p:spPr>
          <a:xfrm flipV="1">
            <a:off x="2759672" y="3001550"/>
            <a:ext cx="2214204" cy="8733"/>
          </a:xfrm>
          <a:prstGeom prst="straightConnector1">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cxnSp>
        <p:nvCxnSpPr>
          <p:cNvPr id="47126" name="47125 Conector angular"/>
          <p:cNvCxnSpPr>
            <a:stCxn id="92" idx="8"/>
            <a:endCxn id="125" idx="1"/>
          </p:cNvCxnSpPr>
          <p:nvPr/>
        </p:nvCxnSpPr>
        <p:spPr>
          <a:xfrm flipV="1">
            <a:off x="4304145" y="4227172"/>
            <a:ext cx="922287" cy="1708267"/>
          </a:xfrm>
          <a:prstGeom prst="bentConnector3">
            <a:avLst>
              <a:gd name="adj1" fmla="val 50000"/>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cxnSp>
        <p:nvCxnSpPr>
          <p:cNvPr id="158" name="157 Conector recto de flecha"/>
          <p:cNvCxnSpPr>
            <a:endCxn id="85" idx="1"/>
          </p:cNvCxnSpPr>
          <p:nvPr/>
        </p:nvCxnSpPr>
        <p:spPr>
          <a:xfrm flipV="1">
            <a:off x="3152800" y="4342354"/>
            <a:ext cx="530116" cy="10023"/>
          </a:xfrm>
          <a:prstGeom prst="straightConnector1">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cxnSp>
        <p:nvCxnSpPr>
          <p:cNvPr id="163" name="162 Conector angular"/>
          <p:cNvCxnSpPr>
            <a:stCxn id="125" idx="3"/>
          </p:cNvCxnSpPr>
          <p:nvPr/>
        </p:nvCxnSpPr>
        <p:spPr>
          <a:xfrm flipV="1">
            <a:off x="6279969" y="3977260"/>
            <a:ext cx="871927" cy="249912"/>
          </a:xfrm>
          <a:prstGeom prst="bentConnector3">
            <a:avLst>
              <a:gd name="adj1" fmla="val 50000"/>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cxnSp>
        <p:nvCxnSpPr>
          <p:cNvPr id="166" name="165 Conector angular"/>
          <p:cNvCxnSpPr>
            <a:stCxn id="125" idx="3"/>
            <a:endCxn id="121" idx="1"/>
          </p:cNvCxnSpPr>
          <p:nvPr/>
        </p:nvCxnSpPr>
        <p:spPr>
          <a:xfrm>
            <a:off x="6279969" y="4227172"/>
            <a:ext cx="884499" cy="484239"/>
          </a:xfrm>
          <a:prstGeom prst="bentConnector3">
            <a:avLst>
              <a:gd name="adj1" fmla="val 50000"/>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cxnSp>
        <p:nvCxnSpPr>
          <p:cNvPr id="169" name="168 Conector angular"/>
          <p:cNvCxnSpPr>
            <a:stCxn id="125" idx="3"/>
            <a:endCxn id="122" idx="1"/>
          </p:cNvCxnSpPr>
          <p:nvPr/>
        </p:nvCxnSpPr>
        <p:spPr>
          <a:xfrm>
            <a:off x="6279969" y="4227172"/>
            <a:ext cx="884499" cy="1228514"/>
          </a:xfrm>
          <a:prstGeom prst="bentConnector3">
            <a:avLst>
              <a:gd name="adj1" fmla="val 50000"/>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cxnSp>
        <p:nvCxnSpPr>
          <p:cNvPr id="147" name="146 Conector recto de flecha"/>
          <p:cNvCxnSpPr>
            <a:stCxn id="125" idx="0"/>
            <a:endCxn id="89" idx="2"/>
          </p:cNvCxnSpPr>
          <p:nvPr/>
        </p:nvCxnSpPr>
        <p:spPr>
          <a:xfrm flipH="1" flipV="1">
            <a:off x="5753200" y="3176427"/>
            <a:ext cx="1" cy="733338"/>
          </a:xfrm>
          <a:prstGeom prst="straightConnector1">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sp>
        <p:nvSpPr>
          <p:cNvPr id="195" name="TextBox 25"/>
          <p:cNvSpPr txBox="1"/>
          <p:nvPr/>
        </p:nvSpPr>
        <p:spPr>
          <a:xfrm>
            <a:off x="6321152" y="2528355"/>
            <a:ext cx="2328232" cy="2308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Analista</a:t>
            </a:r>
            <a:endParaRPr lang="es-ES" sz="900" b="1" dirty="0">
              <a:solidFill>
                <a:schemeClr val="bg1">
                  <a:lumMod val="50000"/>
                </a:schemeClr>
              </a:solidFill>
              <a:latin typeface="Avenir 35" panose="00000400000000000000" pitchFamily="2" charset="0"/>
            </a:endParaRPr>
          </a:p>
        </p:txBody>
      </p:sp>
      <p:sp>
        <p:nvSpPr>
          <p:cNvPr id="196" name="TextBox 25"/>
          <p:cNvSpPr txBox="1"/>
          <p:nvPr/>
        </p:nvSpPr>
        <p:spPr>
          <a:xfrm>
            <a:off x="8438933" y="4928024"/>
            <a:ext cx="977047" cy="2308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Informe DQ</a:t>
            </a:r>
          </a:p>
        </p:txBody>
      </p:sp>
      <p:cxnSp>
        <p:nvCxnSpPr>
          <p:cNvPr id="155" name="154 Conector recto de flecha"/>
          <p:cNvCxnSpPr>
            <a:stCxn id="121" idx="3"/>
          </p:cNvCxnSpPr>
          <p:nvPr/>
        </p:nvCxnSpPr>
        <p:spPr>
          <a:xfrm>
            <a:off x="7634253" y="4711411"/>
            <a:ext cx="1048123" cy="0"/>
          </a:xfrm>
          <a:prstGeom prst="straightConnector1">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cxnSp>
        <p:nvCxnSpPr>
          <p:cNvPr id="46087" name="46086 Conector angular"/>
          <p:cNvCxnSpPr/>
          <p:nvPr/>
        </p:nvCxnSpPr>
        <p:spPr>
          <a:xfrm rot="16200000" flipH="1">
            <a:off x="7566607" y="4115734"/>
            <a:ext cx="734151" cy="457200"/>
          </a:xfrm>
          <a:prstGeom prst="bentConnector3">
            <a:avLst>
              <a:gd name="adj1" fmla="val -3379"/>
            </a:avLst>
          </a:prstGeom>
          <a:ln w="28575">
            <a:solidFill>
              <a:srgbClr val="323232"/>
            </a:solidFill>
          </a:ln>
        </p:spPr>
        <p:style>
          <a:lnRef idx="1">
            <a:schemeClr val="accent1"/>
          </a:lnRef>
          <a:fillRef idx="0">
            <a:schemeClr val="accent1"/>
          </a:fillRef>
          <a:effectRef idx="0">
            <a:schemeClr val="accent1"/>
          </a:effectRef>
          <a:fontRef idx="minor">
            <a:schemeClr val="tx1"/>
          </a:fontRef>
        </p:style>
      </p:cxnSp>
      <p:cxnSp>
        <p:nvCxnSpPr>
          <p:cNvPr id="46091" name="46090 Conector angular"/>
          <p:cNvCxnSpPr>
            <a:stCxn id="122" idx="3"/>
          </p:cNvCxnSpPr>
          <p:nvPr/>
        </p:nvCxnSpPr>
        <p:spPr>
          <a:xfrm flipV="1">
            <a:off x="7634253" y="4711411"/>
            <a:ext cx="524061" cy="744275"/>
          </a:xfrm>
          <a:prstGeom prst="bentConnector2">
            <a:avLst/>
          </a:prstGeom>
          <a:ln w="28575">
            <a:solidFill>
              <a:srgbClr val="323232"/>
            </a:solidFill>
          </a:ln>
        </p:spPr>
        <p:style>
          <a:lnRef idx="1">
            <a:schemeClr val="accent1"/>
          </a:lnRef>
          <a:fillRef idx="0">
            <a:schemeClr val="accent1"/>
          </a:fillRef>
          <a:effectRef idx="0">
            <a:schemeClr val="accent1"/>
          </a:effectRef>
          <a:fontRef idx="minor">
            <a:schemeClr val="tx1"/>
          </a:fontRef>
        </p:style>
      </p:cxnSp>
      <p:cxnSp>
        <p:nvCxnSpPr>
          <p:cNvPr id="216" name="215 Conector recto de flecha"/>
          <p:cNvCxnSpPr/>
          <p:nvPr/>
        </p:nvCxnSpPr>
        <p:spPr>
          <a:xfrm flipH="1" flipV="1">
            <a:off x="8947985" y="3363549"/>
            <a:ext cx="9403" cy="986710"/>
          </a:xfrm>
          <a:prstGeom prst="straightConnector1">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pic>
        <p:nvPicPr>
          <p:cNvPr id="218" name="Picture 2" descr="http://programacion.net/files/article/20160105010142_sql-server.pn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482825" y="4569230"/>
            <a:ext cx="551830" cy="146892"/>
          </a:xfrm>
          <a:prstGeom prst="rect">
            <a:avLst/>
          </a:prstGeom>
          <a:noFill/>
          <a:extLst>
            <a:ext uri="{909E8E84-426E-40DD-AFC4-6F175D3DCCD1}">
              <a14:hiddenFill xmlns:a14="http://schemas.microsoft.com/office/drawing/2010/main">
                <a:solidFill>
                  <a:srgbClr val="FFFFFF"/>
                </a:solidFill>
              </a14:hiddenFill>
            </a:ext>
          </a:extLst>
        </p:spPr>
      </p:pic>
      <p:cxnSp>
        <p:nvCxnSpPr>
          <p:cNvPr id="219" name="218 Conector recto de flecha"/>
          <p:cNvCxnSpPr/>
          <p:nvPr/>
        </p:nvCxnSpPr>
        <p:spPr>
          <a:xfrm>
            <a:off x="5753201" y="4760643"/>
            <a:ext cx="0" cy="360000"/>
          </a:xfrm>
          <a:prstGeom prst="straightConnector1">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sp>
        <p:nvSpPr>
          <p:cNvPr id="220" name="Freeform 137"/>
          <p:cNvSpPr>
            <a:spLocks noEditPoints="1"/>
          </p:cNvSpPr>
          <p:nvPr/>
        </p:nvSpPr>
        <p:spPr bwMode="auto">
          <a:xfrm>
            <a:off x="806750" y="4734115"/>
            <a:ext cx="283829" cy="284668"/>
          </a:xfrm>
          <a:custGeom>
            <a:avLst/>
            <a:gdLst>
              <a:gd name="T0" fmla="*/ 139 w 186"/>
              <a:gd name="T1" fmla="*/ 89 h 186"/>
              <a:gd name="T2" fmla="*/ 97 w 186"/>
              <a:gd name="T3" fmla="*/ 89 h 186"/>
              <a:gd name="T4" fmla="*/ 97 w 186"/>
              <a:gd name="T5" fmla="*/ 47 h 186"/>
              <a:gd name="T6" fmla="*/ 93 w 186"/>
              <a:gd name="T7" fmla="*/ 42 h 186"/>
              <a:gd name="T8" fmla="*/ 89 w 186"/>
              <a:gd name="T9" fmla="*/ 47 h 186"/>
              <a:gd name="T10" fmla="*/ 89 w 186"/>
              <a:gd name="T11" fmla="*/ 89 h 186"/>
              <a:gd name="T12" fmla="*/ 46 w 186"/>
              <a:gd name="T13" fmla="*/ 89 h 186"/>
              <a:gd name="T14" fmla="*/ 42 w 186"/>
              <a:gd name="T15" fmla="*/ 93 h 186"/>
              <a:gd name="T16" fmla="*/ 46 w 186"/>
              <a:gd name="T17" fmla="*/ 97 h 186"/>
              <a:gd name="T18" fmla="*/ 89 w 186"/>
              <a:gd name="T19" fmla="*/ 97 h 186"/>
              <a:gd name="T20" fmla="*/ 89 w 186"/>
              <a:gd name="T21" fmla="*/ 139 h 186"/>
              <a:gd name="T22" fmla="*/ 93 w 186"/>
              <a:gd name="T23" fmla="*/ 144 h 186"/>
              <a:gd name="T24" fmla="*/ 97 w 186"/>
              <a:gd name="T25" fmla="*/ 139 h 186"/>
              <a:gd name="T26" fmla="*/ 97 w 186"/>
              <a:gd name="T27" fmla="*/ 97 h 186"/>
              <a:gd name="T28" fmla="*/ 139 w 186"/>
              <a:gd name="T29" fmla="*/ 97 h 186"/>
              <a:gd name="T30" fmla="*/ 143 w 186"/>
              <a:gd name="T31" fmla="*/ 93 h 186"/>
              <a:gd name="T32" fmla="*/ 139 w 186"/>
              <a:gd name="T33" fmla="*/ 89 h 186"/>
              <a:gd name="T34" fmla="*/ 93 w 186"/>
              <a:gd name="T35" fmla="*/ 0 h 186"/>
              <a:gd name="T36" fmla="*/ 0 w 186"/>
              <a:gd name="T37" fmla="*/ 93 h 186"/>
              <a:gd name="T38" fmla="*/ 93 w 186"/>
              <a:gd name="T39" fmla="*/ 186 h 186"/>
              <a:gd name="T40" fmla="*/ 186 w 186"/>
              <a:gd name="T41" fmla="*/ 93 h 186"/>
              <a:gd name="T42" fmla="*/ 93 w 186"/>
              <a:gd name="T43" fmla="*/ 0 h 186"/>
              <a:gd name="T44" fmla="*/ 93 w 186"/>
              <a:gd name="T45" fmla="*/ 177 h 186"/>
              <a:gd name="T46" fmla="*/ 8 w 186"/>
              <a:gd name="T47" fmla="*/ 93 h 186"/>
              <a:gd name="T48" fmla="*/ 93 w 186"/>
              <a:gd name="T49" fmla="*/ 9 h 186"/>
              <a:gd name="T50" fmla="*/ 177 w 186"/>
              <a:gd name="T51" fmla="*/ 93 h 186"/>
              <a:gd name="T52" fmla="*/ 93 w 186"/>
              <a:gd name="T53" fmla="*/ 17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6" h="186">
                <a:moveTo>
                  <a:pt x="139" y="89"/>
                </a:moveTo>
                <a:cubicBezTo>
                  <a:pt x="97" y="89"/>
                  <a:pt x="97" y="89"/>
                  <a:pt x="97" y="89"/>
                </a:cubicBezTo>
                <a:cubicBezTo>
                  <a:pt x="97" y="47"/>
                  <a:pt x="97" y="47"/>
                  <a:pt x="97" y="47"/>
                </a:cubicBezTo>
                <a:cubicBezTo>
                  <a:pt x="97" y="44"/>
                  <a:pt x="95" y="42"/>
                  <a:pt x="93" y="42"/>
                </a:cubicBezTo>
                <a:cubicBezTo>
                  <a:pt x="91" y="42"/>
                  <a:pt x="89" y="44"/>
                  <a:pt x="89" y="47"/>
                </a:cubicBezTo>
                <a:cubicBezTo>
                  <a:pt x="89" y="89"/>
                  <a:pt x="89" y="89"/>
                  <a:pt x="89" y="89"/>
                </a:cubicBezTo>
                <a:cubicBezTo>
                  <a:pt x="46" y="89"/>
                  <a:pt x="46" y="89"/>
                  <a:pt x="46" y="89"/>
                </a:cubicBezTo>
                <a:cubicBezTo>
                  <a:pt x="44" y="89"/>
                  <a:pt x="42" y="91"/>
                  <a:pt x="42" y="93"/>
                </a:cubicBezTo>
                <a:cubicBezTo>
                  <a:pt x="42" y="95"/>
                  <a:pt x="44" y="97"/>
                  <a:pt x="46" y="97"/>
                </a:cubicBezTo>
                <a:cubicBezTo>
                  <a:pt x="89" y="97"/>
                  <a:pt x="89" y="97"/>
                  <a:pt x="89" y="97"/>
                </a:cubicBezTo>
                <a:cubicBezTo>
                  <a:pt x="89" y="139"/>
                  <a:pt x="89" y="139"/>
                  <a:pt x="89" y="139"/>
                </a:cubicBezTo>
                <a:cubicBezTo>
                  <a:pt x="89" y="142"/>
                  <a:pt x="91" y="144"/>
                  <a:pt x="93" y="144"/>
                </a:cubicBezTo>
                <a:cubicBezTo>
                  <a:pt x="95" y="144"/>
                  <a:pt x="97" y="142"/>
                  <a:pt x="97" y="139"/>
                </a:cubicBezTo>
                <a:cubicBezTo>
                  <a:pt x="97" y="97"/>
                  <a:pt x="97" y="97"/>
                  <a:pt x="97" y="97"/>
                </a:cubicBezTo>
                <a:cubicBezTo>
                  <a:pt x="139" y="97"/>
                  <a:pt x="139" y="97"/>
                  <a:pt x="139" y="97"/>
                </a:cubicBezTo>
                <a:cubicBezTo>
                  <a:pt x="142" y="97"/>
                  <a:pt x="143" y="95"/>
                  <a:pt x="143" y="93"/>
                </a:cubicBezTo>
                <a:cubicBezTo>
                  <a:pt x="143" y="91"/>
                  <a:pt x="142" y="89"/>
                  <a:pt x="139" y="89"/>
                </a:cubicBezTo>
                <a:close/>
                <a:moveTo>
                  <a:pt x="93" y="0"/>
                </a:moveTo>
                <a:cubicBezTo>
                  <a:pt x="42" y="0"/>
                  <a:pt x="0" y="42"/>
                  <a:pt x="0" y="93"/>
                </a:cubicBezTo>
                <a:cubicBezTo>
                  <a:pt x="0" y="144"/>
                  <a:pt x="42" y="186"/>
                  <a:pt x="93" y="186"/>
                </a:cubicBezTo>
                <a:cubicBezTo>
                  <a:pt x="144" y="186"/>
                  <a:pt x="186" y="144"/>
                  <a:pt x="186" y="93"/>
                </a:cubicBezTo>
                <a:cubicBezTo>
                  <a:pt x="186" y="42"/>
                  <a:pt x="144" y="0"/>
                  <a:pt x="93" y="0"/>
                </a:cubicBezTo>
                <a:close/>
                <a:moveTo>
                  <a:pt x="93" y="177"/>
                </a:moveTo>
                <a:cubicBezTo>
                  <a:pt x="46" y="177"/>
                  <a:pt x="8" y="140"/>
                  <a:pt x="8" y="93"/>
                </a:cubicBezTo>
                <a:cubicBezTo>
                  <a:pt x="8" y="46"/>
                  <a:pt x="46" y="9"/>
                  <a:pt x="93" y="9"/>
                </a:cubicBezTo>
                <a:cubicBezTo>
                  <a:pt x="139" y="9"/>
                  <a:pt x="177" y="46"/>
                  <a:pt x="177" y="93"/>
                </a:cubicBezTo>
                <a:cubicBezTo>
                  <a:pt x="177" y="140"/>
                  <a:pt x="139" y="177"/>
                  <a:pt x="93" y="177"/>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350" dirty="0"/>
          </a:p>
        </p:txBody>
      </p:sp>
      <p:grpSp>
        <p:nvGrpSpPr>
          <p:cNvPr id="46098" name="46097 Grupo"/>
          <p:cNvGrpSpPr/>
          <p:nvPr/>
        </p:nvGrpSpPr>
        <p:grpSpPr>
          <a:xfrm>
            <a:off x="7775941" y="2959959"/>
            <a:ext cx="849467" cy="444"/>
            <a:chOff x="7689304" y="2852935"/>
            <a:chExt cx="849467" cy="444"/>
          </a:xfrm>
        </p:grpSpPr>
        <p:cxnSp>
          <p:nvCxnSpPr>
            <p:cNvPr id="221" name="220 Conector recto de flecha"/>
            <p:cNvCxnSpPr/>
            <p:nvPr/>
          </p:nvCxnSpPr>
          <p:spPr>
            <a:xfrm flipV="1">
              <a:off x="7832035" y="2852936"/>
              <a:ext cx="706736" cy="443"/>
            </a:xfrm>
            <a:prstGeom prst="straightConnector1">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cxnSp>
          <p:nvCxnSpPr>
            <p:cNvPr id="222" name="221 Conector recto de flecha"/>
            <p:cNvCxnSpPr/>
            <p:nvPr/>
          </p:nvCxnSpPr>
          <p:spPr>
            <a:xfrm flipH="1">
              <a:off x="7689304" y="2852935"/>
              <a:ext cx="690607" cy="1"/>
            </a:xfrm>
            <a:prstGeom prst="straightConnector1">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grpSp>
      <p:cxnSp>
        <p:nvCxnSpPr>
          <p:cNvPr id="228" name="227 Conector recto de flecha"/>
          <p:cNvCxnSpPr/>
          <p:nvPr/>
        </p:nvCxnSpPr>
        <p:spPr>
          <a:xfrm>
            <a:off x="2084668" y="4760603"/>
            <a:ext cx="0" cy="180000"/>
          </a:xfrm>
          <a:prstGeom prst="straightConnector1">
            <a:avLst/>
          </a:prstGeom>
          <a:ln w="28575">
            <a:solidFill>
              <a:srgbClr val="323232"/>
            </a:solidFill>
            <a:tailEnd type="arrow"/>
          </a:ln>
        </p:spPr>
        <p:style>
          <a:lnRef idx="1">
            <a:schemeClr val="accent1"/>
          </a:lnRef>
          <a:fillRef idx="0">
            <a:schemeClr val="accent1"/>
          </a:fillRef>
          <a:effectRef idx="0">
            <a:schemeClr val="accent1"/>
          </a:effectRef>
          <a:fontRef idx="minor">
            <a:schemeClr val="tx1"/>
          </a:fontRef>
        </p:style>
      </p:cxnSp>
      <p:cxnSp>
        <p:nvCxnSpPr>
          <p:cNvPr id="46100" name="46099 Conector recto"/>
          <p:cNvCxnSpPr/>
          <p:nvPr/>
        </p:nvCxnSpPr>
        <p:spPr>
          <a:xfrm>
            <a:off x="2084668" y="4760643"/>
            <a:ext cx="840962" cy="0"/>
          </a:xfrm>
          <a:prstGeom prst="line">
            <a:avLst/>
          </a:prstGeom>
          <a:ln w="28575">
            <a:solidFill>
              <a:srgbClr val="323232"/>
            </a:solidFill>
          </a:ln>
        </p:spPr>
        <p:style>
          <a:lnRef idx="1">
            <a:schemeClr val="accent1"/>
          </a:lnRef>
          <a:fillRef idx="0">
            <a:schemeClr val="accent1"/>
          </a:fillRef>
          <a:effectRef idx="0">
            <a:schemeClr val="accent1"/>
          </a:effectRef>
          <a:fontRef idx="minor">
            <a:schemeClr val="tx1"/>
          </a:fontRef>
        </p:style>
      </p:cxnSp>
      <p:sp>
        <p:nvSpPr>
          <p:cNvPr id="109"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16</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33928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16 Rectángulo"/>
          <p:cNvSpPr/>
          <p:nvPr/>
        </p:nvSpPr>
        <p:spPr>
          <a:xfrm>
            <a:off x="604033" y="844088"/>
            <a:ext cx="8660260" cy="468590"/>
          </a:xfrm>
          <a:prstGeom prst="rect">
            <a:avLst/>
          </a:prstGeom>
          <a:noFill/>
        </p:spPr>
        <p:txBody>
          <a:bodyPr wrap="square" rtlCol="0">
            <a:spAutoFit/>
          </a:bodyPr>
          <a:lstStyle/>
          <a:p>
            <a:pPr algn="ctr" defTabSz="925830" eaLnBrk="0" fontAlgn="base" hangingPunct="0">
              <a:lnSpc>
                <a:spcPct val="110000"/>
              </a:lnSpc>
              <a:spcBef>
                <a:spcPct val="30000"/>
              </a:spcBef>
              <a:spcAft>
                <a:spcPct val="0"/>
              </a:spcAft>
            </a:pPr>
            <a:r>
              <a:rPr lang="es-ES" sz="1000" dirty="0">
                <a:solidFill>
                  <a:srgbClr val="323232"/>
                </a:solidFill>
                <a:latin typeface="Avenir 35" panose="00000400000000000000" pitchFamily="2" charset="0"/>
              </a:rPr>
              <a:t>Conocer al cliente y ofrecerle lo que quiere no es opcional. Aplicar la analítica avanzada para interpretar el pasado y predecir el futuro.</a:t>
            </a:r>
          </a:p>
          <a:p>
            <a:pPr algn="ctr" defTabSz="925830" eaLnBrk="0" fontAlgn="base" hangingPunct="0">
              <a:lnSpc>
                <a:spcPct val="110000"/>
              </a:lnSpc>
              <a:spcBef>
                <a:spcPct val="30000"/>
              </a:spcBef>
              <a:spcAft>
                <a:spcPct val="0"/>
              </a:spcAft>
            </a:pPr>
            <a:r>
              <a:rPr lang="es-ES" sz="1000" dirty="0">
                <a:solidFill>
                  <a:srgbClr val="323232"/>
                </a:solidFill>
                <a:latin typeface="Avenir 35" panose="00000400000000000000" pitchFamily="2" charset="0"/>
              </a:rPr>
              <a:t>Entender los momentos de la verdad a lo largo de la relación entre Easy Money y sus clientes como input clave en la definición de la estrategia de Marketing</a:t>
            </a: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CONOCER</a:t>
            </a:r>
            <a:endParaRPr lang="es-ES" sz="1400" b="1" dirty="0">
              <a:solidFill>
                <a:srgbClr val="323232"/>
              </a:solidFill>
              <a:latin typeface="Avenir 35" panose="00000400000000000000" pitchFamily="2" charset="0"/>
            </a:endParaRPr>
          </a:p>
        </p:txBody>
      </p:sp>
      <p:sp>
        <p:nvSpPr>
          <p:cNvPr id="10"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s-ES" dirty="0">
                <a:solidFill>
                  <a:srgbClr val="323232"/>
                </a:solidFill>
                <a:latin typeface="Avenir 35" panose="00000400000000000000" pitchFamily="2" charset="0"/>
              </a:rPr>
              <a:t>Nuestra Visión</a:t>
            </a:r>
          </a:p>
          <a:p>
            <a:endParaRPr lang="es-ES" dirty="0">
              <a:solidFill>
                <a:srgbClr val="323232"/>
              </a:solidFill>
              <a:latin typeface="Avenir 35" panose="00000400000000000000" pitchFamily="2" charset="0"/>
            </a:endParaRPr>
          </a:p>
        </p:txBody>
      </p:sp>
      <p:sp>
        <p:nvSpPr>
          <p:cNvPr id="35" name="Oval 22"/>
          <p:cNvSpPr/>
          <p:nvPr/>
        </p:nvSpPr>
        <p:spPr>
          <a:xfrm>
            <a:off x="7337198" y="3532569"/>
            <a:ext cx="648000" cy="648000"/>
          </a:xfrm>
          <a:prstGeom prst="ellipse">
            <a:avLst/>
          </a:prstGeom>
          <a:solidFill>
            <a:srgbClr val="1AA5BD"/>
          </a:solidFill>
          <a:ln w="25400" cap="flat" cmpd="sng" algn="ctr">
            <a:noFill/>
            <a:prstDash val="solid"/>
          </a:ln>
          <a:effectLst/>
        </p:spPr>
        <p:txBody>
          <a:bodyPr lIns="0" rIns="0" rtlCol="0" anchor="ctr"/>
          <a:lstStyle/>
          <a:p>
            <a:pPr algn="ctr"/>
            <a:endParaRPr lang="id-ID" sz="2000" b="1" kern="0">
              <a:solidFill>
                <a:schemeClr val="bg1">
                  <a:lumMod val="50000"/>
                </a:schemeClr>
              </a:solidFill>
              <a:effectLst>
                <a:outerShdw blurRad="38100" dist="38100" dir="2700000" algn="tl">
                  <a:srgbClr val="000000">
                    <a:alpha val="43137"/>
                  </a:srgbClr>
                </a:outerShdw>
              </a:effectLst>
              <a:latin typeface="Calibri"/>
            </a:endParaRPr>
          </a:p>
        </p:txBody>
      </p:sp>
      <p:sp>
        <p:nvSpPr>
          <p:cNvPr id="36" name="TextBox 25"/>
          <p:cNvSpPr txBox="1"/>
          <p:nvPr/>
        </p:nvSpPr>
        <p:spPr>
          <a:xfrm>
            <a:off x="6617083" y="4611560"/>
            <a:ext cx="2088231" cy="484748"/>
          </a:xfrm>
          <a:prstGeom prst="rect">
            <a:avLst/>
          </a:prstGeom>
          <a:noFill/>
        </p:spPr>
        <p:txBody>
          <a:bodyPr wrap="square" rtlCol="0">
            <a:spAutoFit/>
          </a:bodyPr>
          <a:lstStyle/>
          <a:p>
            <a:pPr algn="ctr" defTabSz="914400"/>
            <a:r>
              <a:rPr lang="es-ES" sz="850" dirty="0">
                <a:solidFill>
                  <a:schemeClr val="bg1">
                    <a:lumMod val="50000"/>
                  </a:schemeClr>
                </a:solidFill>
                <a:latin typeface="Avenir 35" panose="00000400000000000000" pitchFamily="2" charset="0"/>
              </a:rPr>
              <a:t>Agrupación y caracterización de clientes en función de los requerimientos de Easy Money</a:t>
            </a:r>
            <a:endParaRPr lang="en-US" sz="850" dirty="0">
              <a:solidFill>
                <a:schemeClr val="bg1">
                  <a:lumMod val="50000"/>
                </a:schemeClr>
              </a:solidFill>
              <a:latin typeface="Avenir 35" panose="00000400000000000000" pitchFamily="2" charset="0"/>
            </a:endParaRPr>
          </a:p>
        </p:txBody>
      </p:sp>
      <p:sp>
        <p:nvSpPr>
          <p:cNvPr id="37" name="TextBox 26"/>
          <p:cNvSpPr txBox="1"/>
          <p:nvPr/>
        </p:nvSpPr>
        <p:spPr>
          <a:xfrm>
            <a:off x="6769356" y="4244023"/>
            <a:ext cx="1783685" cy="415498"/>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SEGMENTACIÓN DE CLIENTES</a:t>
            </a:r>
            <a:endParaRPr lang="id-ID" sz="1050" b="1" dirty="0">
              <a:solidFill>
                <a:schemeClr val="bg1">
                  <a:lumMod val="50000"/>
                </a:schemeClr>
              </a:solidFill>
              <a:latin typeface="Avenir 65" panose="02000600000000000000" pitchFamily="2" charset="0"/>
            </a:endParaRPr>
          </a:p>
        </p:txBody>
      </p:sp>
      <p:sp>
        <p:nvSpPr>
          <p:cNvPr id="38" name="Oval 22"/>
          <p:cNvSpPr/>
          <p:nvPr/>
        </p:nvSpPr>
        <p:spPr>
          <a:xfrm>
            <a:off x="7337198" y="5240324"/>
            <a:ext cx="648000" cy="648000"/>
          </a:xfrm>
          <a:prstGeom prst="ellipse">
            <a:avLst/>
          </a:prstGeom>
          <a:solidFill>
            <a:srgbClr val="1AA5BD"/>
          </a:solidFill>
          <a:ln w="25400" cap="flat" cmpd="sng" algn="ctr">
            <a:noFill/>
            <a:prstDash val="solid"/>
          </a:ln>
          <a:effectLst/>
        </p:spPr>
        <p:txBody>
          <a:bodyPr lIns="0" rIns="0" rtlCol="0" anchor="ctr"/>
          <a:lstStyle/>
          <a:p>
            <a:pPr algn="ctr"/>
            <a:endParaRPr lang="id-ID" sz="2000" b="1" kern="0">
              <a:solidFill>
                <a:schemeClr val="bg1">
                  <a:lumMod val="50000"/>
                </a:schemeClr>
              </a:solidFill>
              <a:effectLst>
                <a:outerShdw blurRad="38100" dist="38100" dir="2700000" algn="tl">
                  <a:srgbClr val="000000">
                    <a:alpha val="43137"/>
                  </a:srgbClr>
                </a:outerShdw>
              </a:effectLst>
              <a:latin typeface="Calibri"/>
            </a:endParaRPr>
          </a:p>
        </p:txBody>
      </p:sp>
      <p:sp>
        <p:nvSpPr>
          <p:cNvPr id="39" name="TextBox 25"/>
          <p:cNvSpPr txBox="1"/>
          <p:nvPr/>
        </p:nvSpPr>
        <p:spPr>
          <a:xfrm>
            <a:off x="6497083" y="6161533"/>
            <a:ext cx="2328232" cy="3693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Puntuación a clientes en función de parámetros previamente especificados</a:t>
            </a:r>
            <a:endParaRPr lang="es-ES" sz="900" b="1" dirty="0">
              <a:solidFill>
                <a:schemeClr val="bg1">
                  <a:lumMod val="50000"/>
                </a:schemeClr>
              </a:solidFill>
              <a:latin typeface="Avenir 35" panose="00000400000000000000" pitchFamily="2" charset="0"/>
            </a:endParaRPr>
          </a:p>
        </p:txBody>
      </p:sp>
      <p:sp>
        <p:nvSpPr>
          <p:cNvPr id="40" name="TextBox 26"/>
          <p:cNvSpPr txBox="1"/>
          <p:nvPr/>
        </p:nvSpPr>
        <p:spPr>
          <a:xfrm>
            <a:off x="6497226" y="5928026"/>
            <a:ext cx="2327945"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SCORING</a:t>
            </a:r>
            <a:endParaRPr lang="id-ID" sz="1050" b="1" dirty="0">
              <a:solidFill>
                <a:schemeClr val="bg1">
                  <a:lumMod val="50000"/>
                </a:schemeClr>
              </a:solidFill>
              <a:latin typeface="Avenir 65" panose="02000600000000000000" pitchFamily="2" charset="0"/>
            </a:endParaRPr>
          </a:p>
        </p:txBody>
      </p:sp>
      <p:grpSp>
        <p:nvGrpSpPr>
          <p:cNvPr id="41" name="40 Grupo"/>
          <p:cNvGrpSpPr/>
          <p:nvPr/>
        </p:nvGrpSpPr>
        <p:grpSpPr>
          <a:xfrm>
            <a:off x="875122" y="2432013"/>
            <a:ext cx="4149886" cy="3115949"/>
            <a:chOff x="560512" y="2132856"/>
            <a:chExt cx="4149886" cy="3115949"/>
          </a:xfrm>
        </p:grpSpPr>
        <p:sp>
          <p:nvSpPr>
            <p:cNvPr id="42" name="Freeform 6"/>
            <p:cNvSpPr>
              <a:spLocks/>
            </p:cNvSpPr>
            <p:nvPr/>
          </p:nvSpPr>
          <p:spPr bwMode="auto">
            <a:xfrm>
              <a:off x="924844" y="2132856"/>
              <a:ext cx="1968103" cy="1541860"/>
            </a:xfrm>
            <a:custGeom>
              <a:avLst/>
              <a:gdLst>
                <a:gd name="T0" fmla="*/ 3 w 227"/>
                <a:gd name="T1" fmla="*/ 68 h 178"/>
                <a:gd name="T2" fmla="*/ 112 w 227"/>
                <a:gd name="T3" fmla="*/ 178 h 178"/>
                <a:gd name="T4" fmla="*/ 227 w 227"/>
                <a:gd name="T5" fmla="*/ 63 h 178"/>
                <a:gd name="T6" fmla="*/ 3 w 227"/>
                <a:gd name="T7" fmla="*/ 58 h 178"/>
                <a:gd name="T8" fmla="*/ 3 w 227"/>
                <a:gd name="T9" fmla="*/ 68 h 178"/>
              </a:gdLst>
              <a:ahLst/>
              <a:cxnLst>
                <a:cxn ang="0">
                  <a:pos x="T0" y="T1"/>
                </a:cxn>
                <a:cxn ang="0">
                  <a:pos x="T2" y="T3"/>
                </a:cxn>
                <a:cxn ang="0">
                  <a:pos x="T4" y="T5"/>
                </a:cxn>
                <a:cxn ang="0">
                  <a:pos x="T6" y="T7"/>
                </a:cxn>
                <a:cxn ang="0">
                  <a:pos x="T8" y="T9"/>
                </a:cxn>
              </a:cxnLst>
              <a:rect l="0" t="0" r="r" b="b"/>
              <a:pathLst>
                <a:path w="227" h="178">
                  <a:moveTo>
                    <a:pt x="3" y="68"/>
                  </a:moveTo>
                  <a:cubicBezTo>
                    <a:pt x="112" y="178"/>
                    <a:pt x="112" y="178"/>
                    <a:pt x="112" y="178"/>
                  </a:cubicBezTo>
                  <a:cubicBezTo>
                    <a:pt x="227" y="63"/>
                    <a:pt x="227" y="63"/>
                    <a:pt x="227" y="63"/>
                  </a:cubicBezTo>
                  <a:cubicBezTo>
                    <a:pt x="166" y="1"/>
                    <a:pt x="67" y="0"/>
                    <a:pt x="3" y="58"/>
                  </a:cubicBezTo>
                  <a:cubicBezTo>
                    <a:pt x="0" y="60"/>
                    <a:pt x="0" y="65"/>
                    <a:pt x="3" y="68"/>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43" name="Freeform 8"/>
            <p:cNvSpPr>
              <a:spLocks/>
            </p:cNvSpPr>
            <p:nvPr/>
          </p:nvSpPr>
          <p:spPr bwMode="auto">
            <a:xfrm>
              <a:off x="2190478" y="2600771"/>
              <a:ext cx="1369219" cy="1801416"/>
            </a:xfrm>
            <a:custGeom>
              <a:avLst/>
              <a:gdLst>
                <a:gd name="T0" fmla="*/ 87 w 158"/>
                <a:gd name="T1" fmla="*/ 3 h 208"/>
                <a:gd name="T2" fmla="*/ 0 w 158"/>
                <a:gd name="T3" fmla="*/ 90 h 208"/>
                <a:gd name="T4" fmla="*/ 114 w 158"/>
                <a:gd name="T5" fmla="*/ 205 h 208"/>
                <a:gd name="T6" fmla="*/ 126 w 158"/>
                <a:gd name="T7" fmla="*/ 203 h 208"/>
                <a:gd name="T8" fmla="*/ 98 w 158"/>
                <a:gd name="T9" fmla="*/ 3 h 208"/>
                <a:gd name="T10" fmla="*/ 87 w 158"/>
                <a:gd name="T11" fmla="*/ 3 h 208"/>
              </a:gdLst>
              <a:ahLst/>
              <a:cxnLst>
                <a:cxn ang="0">
                  <a:pos x="T0" y="T1"/>
                </a:cxn>
                <a:cxn ang="0">
                  <a:pos x="T2" y="T3"/>
                </a:cxn>
                <a:cxn ang="0">
                  <a:pos x="T4" y="T5"/>
                </a:cxn>
                <a:cxn ang="0">
                  <a:pos x="T6" y="T7"/>
                </a:cxn>
                <a:cxn ang="0">
                  <a:pos x="T8" y="T9"/>
                </a:cxn>
                <a:cxn ang="0">
                  <a:pos x="T10" y="T11"/>
                </a:cxn>
              </a:cxnLst>
              <a:rect l="0" t="0" r="r" b="b"/>
              <a:pathLst>
                <a:path w="158" h="208">
                  <a:moveTo>
                    <a:pt x="87" y="3"/>
                  </a:moveTo>
                  <a:cubicBezTo>
                    <a:pt x="0" y="90"/>
                    <a:pt x="0" y="90"/>
                    <a:pt x="0" y="90"/>
                  </a:cubicBezTo>
                  <a:cubicBezTo>
                    <a:pt x="114" y="205"/>
                    <a:pt x="114" y="205"/>
                    <a:pt x="114" y="205"/>
                  </a:cubicBezTo>
                  <a:cubicBezTo>
                    <a:pt x="118" y="208"/>
                    <a:pt x="124" y="207"/>
                    <a:pt x="126" y="203"/>
                  </a:cubicBezTo>
                  <a:cubicBezTo>
                    <a:pt x="158" y="138"/>
                    <a:pt x="148" y="59"/>
                    <a:pt x="98" y="3"/>
                  </a:cubicBezTo>
                  <a:cubicBezTo>
                    <a:pt x="95" y="0"/>
                    <a:pt x="90" y="0"/>
                    <a:pt x="87" y="3"/>
                  </a:cubicBez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44" name="Freeform 9"/>
            <p:cNvSpPr>
              <a:spLocks/>
            </p:cNvSpPr>
            <p:nvPr/>
          </p:nvSpPr>
          <p:spPr bwMode="auto">
            <a:xfrm>
              <a:off x="1609452" y="3379440"/>
              <a:ext cx="1473994" cy="1472804"/>
            </a:xfrm>
            <a:custGeom>
              <a:avLst/>
              <a:gdLst>
                <a:gd name="T0" fmla="*/ 0 w 170"/>
                <a:gd name="T1" fmla="*/ 67 h 170"/>
                <a:gd name="T2" fmla="*/ 103 w 170"/>
                <a:gd name="T3" fmla="*/ 170 h 170"/>
                <a:gd name="T4" fmla="*/ 142 w 170"/>
                <a:gd name="T5" fmla="*/ 142 h 170"/>
                <a:gd name="T6" fmla="*/ 170 w 170"/>
                <a:gd name="T7" fmla="*/ 103 h 170"/>
                <a:gd name="T8" fmla="*/ 67 w 170"/>
                <a:gd name="T9" fmla="*/ 0 h 170"/>
                <a:gd name="T10" fmla="*/ 0 w 170"/>
                <a:gd name="T11" fmla="*/ 67 h 170"/>
              </a:gdLst>
              <a:ahLst/>
              <a:cxnLst>
                <a:cxn ang="0">
                  <a:pos x="T0" y="T1"/>
                </a:cxn>
                <a:cxn ang="0">
                  <a:pos x="T2" y="T3"/>
                </a:cxn>
                <a:cxn ang="0">
                  <a:pos x="T4" y="T5"/>
                </a:cxn>
                <a:cxn ang="0">
                  <a:pos x="T6" y="T7"/>
                </a:cxn>
                <a:cxn ang="0">
                  <a:pos x="T8" y="T9"/>
                </a:cxn>
                <a:cxn ang="0">
                  <a:pos x="T10" y="T11"/>
                </a:cxn>
              </a:cxnLst>
              <a:rect l="0" t="0" r="r" b="b"/>
              <a:pathLst>
                <a:path w="170" h="170">
                  <a:moveTo>
                    <a:pt x="0" y="67"/>
                  </a:moveTo>
                  <a:cubicBezTo>
                    <a:pt x="103" y="170"/>
                    <a:pt x="103" y="170"/>
                    <a:pt x="103" y="170"/>
                  </a:cubicBezTo>
                  <a:cubicBezTo>
                    <a:pt x="117" y="163"/>
                    <a:pt x="130" y="153"/>
                    <a:pt x="142" y="142"/>
                  </a:cubicBezTo>
                  <a:cubicBezTo>
                    <a:pt x="153" y="130"/>
                    <a:pt x="163" y="117"/>
                    <a:pt x="170" y="103"/>
                  </a:cubicBezTo>
                  <a:cubicBezTo>
                    <a:pt x="67" y="0"/>
                    <a:pt x="67" y="0"/>
                    <a:pt x="67" y="0"/>
                  </a:cubicBezTo>
                  <a:lnTo>
                    <a:pt x="0" y="67"/>
                  </a:lnTo>
                  <a:close/>
                </a:path>
              </a:pathLst>
            </a:custGeom>
            <a:solidFill>
              <a:srgbClr val="1AA5BD"/>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45" name="Freeform 7"/>
            <p:cNvSpPr>
              <a:spLocks/>
            </p:cNvSpPr>
            <p:nvPr/>
          </p:nvSpPr>
          <p:spPr bwMode="auto">
            <a:xfrm>
              <a:off x="883090" y="3949833"/>
              <a:ext cx="1716881" cy="1298972"/>
            </a:xfrm>
            <a:custGeom>
              <a:avLst/>
              <a:gdLst>
                <a:gd name="T0" fmla="*/ 3 w 198"/>
                <a:gd name="T1" fmla="*/ 93 h 150"/>
                <a:gd name="T2" fmla="*/ 192 w 198"/>
                <a:gd name="T3" fmla="*/ 121 h 150"/>
                <a:gd name="T4" fmla="*/ 194 w 198"/>
                <a:gd name="T5" fmla="*/ 109 h 150"/>
                <a:gd name="T6" fmla="*/ 85 w 198"/>
                <a:gd name="T7" fmla="*/ 0 h 150"/>
                <a:gd name="T8" fmla="*/ 3 w 198"/>
                <a:gd name="T9" fmla="*/ 82 h 150"/>
                <a:gd name="T10" fmla="*/ 3 w 198"/>
                <a:gd name="T11" fmla="*/ 93 h 150"/>
              </a:gdLst>
              <a:ahLst/>
              <a:cxnLst>
                <a:cxn ang="0">
                  <a:pos x="T0" y="T1"/>
                </a:cxn>
                <a:cxn ang="0">
                  <a:pos x="T2" y="T3"/>
                </a:cxn>
                <a:cxn ang="0">
                  <a:pos x="T4" y="T5"/>
                </a:cxn>
                <a:cxn ang="0">
                  <a:pos x="T6" y="T7"/>
                </a:cxn>
                <a:cxn ang="0">
                  <a:pos x="T8" y="T9"/>
                </a:cxn>
                <a:cxn ang="0">
                  <a:pos x="T10" y="T11"/>
                </a:cxn>
              </a:cxnLst>
              <a:rect l="0" t="0" r="r" b="b"/>
              <a:pathLst>
                <a:path w="198" h="150">
                  <a:moveTo>
                    <a:pt x="3" y="93"/>
                  </a:moveTo>
                  <a:cubicBezTo>
                    <a:pt x="56" y="141"/>
                    <a:pt x="131" y="150"/>
                    <a:pt x="192" y="121"/>
                  </a:cubicBezTo>
                  <a:cubicBezTo>
                    <a:pt x="196" y="119"/>
                    <a:pt x="198" y="113"/>
                    <a:pt x="194" y="109"/>
                  </a:cubicBezTo>
                  <a:cubicBezTo>
                    <a:pt x="85" y="0"/>
                    <a:pt x="85" y="0"/>
                    <a:pt x="85" y="0"/>
                  </a:cubicBezTo>
                  <a:cubicBezTo>
                    <a:pt x="3" y="82"/>
                    <a:pt x="3" y="82"/>
                    <a:pt x="3" y="82"/>
                  </a:cubicBezTo>
                  <a:cubicBezTo>
                    <a:pt x="0" y="85"/>
                    <a:pt x="0" y="90"/>
                    <a:pt x="3" y="93"/>
                  </a:cubicBez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46" name="Freeform 5"/>
            <p:cNvSpPr>
              <a:spLocks/>
            </p:cNvSpPr>
            <p:nvPr/>
          </p:nvSpPr>
          <p:spPr bwMode="auto">
            <a:xfrm>
              <a:off x="560512" y="2807940"/>
              <a:ext cx="1334690" cy="1724026"/>
            </a:xfrm>
            <a:custGeom>
              <a:avLst/>
              <a:gdLst>
                <a:gd name="T0" fmla="*/ 55 w 154"/>
                <a:gd name="T1" fmla="*/ 199 h 199"/>
                <a:gd name="T2" fmla="*/ 154 w 154"/>
                <a:gd name="T3" fmla="*/ 100 h 199"/>
                <a:gd name="T4" fmla="*/ 55 w 154"/>
                <a:gd name="T5" fmla="*/ 0 h 199"/>
                <a:gd name="T6" fmla="*/ 55 w 154"/>
                <a:gd name="T7" fmla="*/ 199 h 199"/>
              </a:gdLst>
              <a:ahLst/>
              <a:cxnLst>
                <a:cxn ang="0">
                  <a:pos x="T0" y="T1"/>
                </a:cxn>
                <a:cxn ang="0">
                  <a:pos x="T2" y="T3"/>
                </a:cxn>
                <a:cxn ang="0">
                  <a:pos x="T4" y="T5"/>
                </a:cxn>
                <a:cxn ang="0">
                  <a:pos x="T6" y="T7"/>
                </a:cxn>
              </a:cxnLst>
              <a:rect l="0" t="0" r="r" b="b"/>
              <a:pathLst>
                <a:path w="154" h="199">
                  <a:moveTo>
                    <a:pt x="55" y="199"/>
                  </a:moveTo>
                  <a:cubicBezTo>
                    <a:pt x="154" y="100"/>
                    <a:pt x="154" y="100"/>
                    <a:pt x="154" y="100"/>
                  </a:cubicBezTo>
                  <a:cubicBezTo>
                    <a:pt x="55" y="0"/>
                    <a:pt x="55" y="0"/>
                    <a:pt x="55" y="0"/>
                  </a:cubicBezTo>
                  <a:cubicBezTo>
                    <a:pt x="0" y="55"/>
                    <a:pt x="0" y="144"/>
                    <a:pt x="55" y="199"/>
                  </a:cubicBez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74" name="Freeform 11"/>
            <p:cNvSpPr/>
            <p:nvPr/>
          </p:nvSpPr>
          <p:spPr>
            <a:xfrm flipV="1">
              <a:off x="2799559" y="4599320"/>
              <a:ext cx="1910839" cy="225224"/>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noFill/>
            <a:ln w="6350" cap="flat" cmpd="sng" algn="ctr">
              <a:solidFill>
                <a:srgbClr val="0097B7">
                  <a:alpha val="50000"/>
                </a:srgbClr>
              </a:solidFill>
              <a:prstDash val="solid"/>
              <a:miter lim="800000"/>
              <a:headEnd type="none"/>
              <a:tailEnd type="oval" w="lg" len="lg"/>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445469"/>
                </a:solidFill>
                <a:effectLst/>
                <a:uLnTx/>
                <a:uFillTx/>
                <a:latin typeface="Roboto Regular" charset="0"/>
              </a:endParaRPr>
            </a:p>
          </p:txBody>
        </p:sp>
        <p:sp>
          <p:nvSpPr>
            <p:cNvPr id="75" name="TextBox 12"/>
            <p:cNvSpPr txBox="1"/>
            <p:nvPr/>
          </p:nvSpPr>
          <p:spPr>
            <a:xfrm>
              <a:off x="3437520" y="4574503"/>
              <a:ext cx="1058365" cy="485774"/>
            </a:xfrm>
            <a:prstGeom prst="rect">
              <a:avLst/>
            </a:prstGeom>
            <a:noFill/>
          </p:spPr>
          <p:txBody>
            <a:bodyPr wrap="square" lIns="91440" rIns="91440" rtlCol="0">
              <a:spAutoFit/>
            </a:bodyPr>
            <a:lstStyle/>
            <a:p>
              <a:pPr algn="ctr">
                <a:lnSpc>
                  <a:spcPct val="90000"/>
                </a:lnSpc>
                <a:spcBef>
                  <a:spcPts val="800"/>
                </a:spcBef>
              </a:pPr>
              <a:r>
                <a:rPr lang="en-US" sz="1200" b="1" dirty="0">
                  <a:solidFill>
                    <a:schemeClr val="bg1">
                      <a:lumMod val="50000"/>
                    </a:schemeClr>
                  </a:solidFill>
                  <a:latin typeface="Avenir 65" panose="02000600000000000000" pitchFamily="2" charset="0"/>
                </a:rPr>
                <a:t>CONOCER</a:t>
              </a:r>
            </a:p>
            <a:p>
              <a:pPr algn="ctr">
                <a:lnSpc>
                  <a:spcPct val="90000"/>
                </a:lnSpc>
                <a:spcBef>
                  <a:spcPts val="800"/>
                </a:spcBef>
              </a:pPr>
              <a:r>
                <a:rPr lang="en-US" sz="900" b="1" dirty="0">
                  <a:solidFill>
                    <a:schemeClr val="bg1">
                      <a:lumMod val="50000"/>
                    </a:schemeClr>
                  </a:solidFill>
                  <a:latin typeface="Avenir 35" panose="00000400000000000000" pitchFamily="2" charset="0"/>
                </a:rPr>
                <a:t> </a:t>
              </a:r>
            </a:p>
          </p:txBody>
        </p:sp>
        <p:sp>
          <p:nvSpPr>
            <p:cNvPr id="76" name="75 Rectángulo"/>
            <p:cNvSpPr/>
            <p:nvPr/>
          </p:nvSpPr>
          <p:spPr>
            <a:xfrm>
              <a:off x="1733302" y="2675143"/>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01</a:t>
              </a:r>
            </a:p>
          </p:txBody>
        </p:sp>
        <p:sp>
          <p:nvSpPr>
            <p:cNvPr id="77" name="76 Rectángulo"/>
            <p:cNvSpPr/>
            <p:nvPr/>
          </p:nvSpPr>
          <p:spPr>
            <a:xfrm>
              <a:off x="2799559" y="3300621"/>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02</a:t>
              </a:r>
            </a:p>
          </p:txBody>
        </p:sp>
        <p:sp>
          <p:nvSpPr>
            <p:cNvPr id="78" name="77 Rectángulo"/>
            <p:cNvSpPr/>
            <p:nvPr/>
          </p:nvSpPr>
          <p:spPr>
            <a:xfrm>
              <a:off x="2251073" y="4115842"/>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03</a:t>
              </a:r>
            </a:p>
          </p:txBody>
        </p:sp>
        <p:sp>
          <p:nvSpPr>
            <p:cNvPr id="79" name="78 Rectángulo"/>
            <p:cNvSpPr/>
            <p:nvPr/>
          </p:nvSpPr>
          <p:spPr>
            <a:xfrm>
              <a:off x="1470669" y="4506647"/>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04</a:t>
              </a:r>
            </a:p>
          </p:txBody>
        </p:sp>
        <p:sp>
          <p:nvSpPr>
            <p:cNvPr id="80" name="79 Rectángulo"/>
            <p:cNvSpPr/>
            <p:nvPr/>
          </p:nvSpPr>
          <p:spPr>
            <a:xfrm>
              <a:off x="776724" y="3509177"/>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05</a:t>
              </a:r>
            </a:p>
          </p:txBody>
        </p:sp>
        <p:sp>
          <p:nvSpPr>
            <p:cNvPr id="81" name="80 Elipse"/>
            <p:cNvSpPr/>
            <p:nvPr/>
          </p:nvSpPr>
          <p:spPr>
            <a:xfrm>
              <a:off x="1470669" y="3209382"/>
              <a:ext cx="952172" cy="9521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82" name="Rectangle 45"/>
            <p:cNvSpPr/>
            <p:nvPr/>
          </p:nvSpPr>
          <p:spPr>
            <a:xfrm>
              <a:off x="1552656" y="3388972"/>
              <a:ext cx="776276" cy="583227"/>
            </a:xfrm>
            <a:prstGeom prst="rect">
              <a:avLst/>
            </a:prstGeom>
            <a:no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chemeClr val="tx1">
                      <a:lumMod val="50000"/>
                      <a:lumOff val="50000"/>
                    </a:schemeClr>
                  </a:solidFill>
                  <a:effectLst/>
                  <a:uLnTx/>
                  <a:uFillTx/>
                  <a:latin typeface="Avenir 35" panose="00000400000000000000" pitchFamily="2" charset="0"/>
                </a:rPr>
                <a:t>Your</a:t>
              </a:r>
            </a:p>
            <a:p>
              <a:pPr marL="0" marR="0" lvl="0" indent="0" algn="ctr" defTabSz="914400" eaLnBrk="1" fontAlgn="auto" latinLnBrk="0" hangingPunct="1">
                <a:lnSpc>
                  <a:spcPct val="100000"/>
                </a:lnSpc>
                <a:spcBef>
                  <a:spcPts val="0"/>
                </a:spcBef>
                <a:spcAft>
                  <a:spcPts val="0"/>
                </a:spcAft>
                <a:buClrTx/>
                <a:buSzTx/>
                <a:buFontTx/>
                <a:buNone/>
                <a:tabLst/>
                <a:defRPr/>
              </a:pPr>
              <a:r>
                <a:rPr lang="en-US" sz="1600" kern="0" dirty="0">
                  <a:solidFill>
                    <a:schemeClr val="tx1">
                      <a:lumMod val="50000"/>
                      <a:lumOff val="50000"/>
                    </a:schemeClr>
                  </a:solidFill>
                  <a:latin typeface="Avenir 35" panose="00000400000000000000" pitchFamily="2" charset="0"/>
                </a:rPr>
                <a:t>Goals</a:t>
              </a:r>
              <a:endParaRPr kumimoji="0" lang="en-US" sz="1600" i="0" u="none" strike="noStrike" kern="0" cap="none" spc="0" normalizeH="0" baseline="0" dirty="0">
                <a:ln>
                  <a:noFill/>
                </a:ln>
                <a:solidFill>
                  <a:schemeClr val="tx1">
                    <a:lumMod val="50000"/>
                    <a:lumOff val="50000"/>
                  </a:schemeClr>
                </a:solidFill>
                <a:effectLst/>
                <a:uLnTx/>
                <a:uFillTx/>
                <a:latin typeface="Avenir 35" panose="00000400000000000000" pitchFamily="2" charset="0"/>
              </a:endParaRPr>
            </a:p>
          </p:txBody>
        </p:sp>
      </p:grpSp>
      <p:grpSp>
        <p:nvGrpSpPr>
          <p:cNvPr id="83" name="Group 12"/>
          <p:cNvGrpSpPr/>
          <p:nvPr/>
        </p:nvGrpSpPr>
        <p:grpSpPr>
          <a:xfrm flipH="1">
            <a:off x="7491666" y="3645108"/>
            <a:ext cx="339065" cy="386345"/>
            <a:chOff x="8196263" y="4981575"/>
            <a:chExt cx="796925" cy="908050"/>
          </a:xfrm>
          <a:solidFill>
            <a:schemeClr val="bg1"/>
          </a:solidFill>
        </p:grpSpPr>
        <p:sp>
          <p:nvSpPr>
            <p:cNvPr id="84" name="Freeform 5"/>
            <p:cNvSpPr>
              <a:spLocks noEditPoints="1"/>
            </p:cNvSpPr>
            <p:nvPr/>
          </p:nvSpPr>
          <p:spPr bwMode="auto">
            <a:xfrm>
              <a:off x="8196263" y="4981575"/>
              <a:ext cx="796925" cy="908050"/>
            </a:xfrm>
            <a:custGeom>
              <a:avLst/>
              <a:gdLst>
                <a:gd name="T0" fmla="*/ 666 w 907"/>
                <a:gd name="T1" fmla="*/ 33 h 1034"/>
                <a:gd name="T2" fmla="*/ 236 w 907"/>
                <a:gd name="T3" fmla="*/ 68 h 1034"/>
                <a:gd name="T4" fmla="*/ 77 w 907"/>
                <a:gd name="T5" fmla="*/ 272 h 1034"/>
                <a:gd name="T6" fmla="*/ 78 w 907"/>
                <a:gd name="T7" fmla="*/ 399 h 1034"/>
                <a:gd name="T8" fmla="*/ 81 w 907"/>
                <a:gd name="T9" fmla="*/ 411 h 1034"/>
                <a:gd name="T10" fmla="*/ 44 w 907"/>
                <a:gd name="T11" fmla="*/ 468 h 1034"/>
                <a:gd name="T12" fmla="*/ 16 w 907"/>
                <a:gd name="T13" fmla="*/ 509 h 1034"/>
                <a:gd name="T14" fmla="*/ 16 w 907"/>
                <a:gd name="T15" fmla="*/ 510 h 1034"/>
                <a:gd name="T16" fmla="*/ 42 w 907"/>
                <a:gd name="T17" fmla="*/ 624 h 1034"/>
                <a:gd name="T18" fmla="*/ 57 w 907"/>
                <a:gd name="T19" fmla="*/ 677 h 1034"/>
                <a:gd name="T20" fmla="*/ 86 w 907"/>
                <a:gd name="T21" fmla="*/ 749 h 1034"/>
                <a:gd name="T22" fmla="*/ 85 w 907"/>
                <a:gd name="T23" fmla="*/ 800 h 1034"/>
                <a:gd name="T24" fmla="*/ 195 w 907"/>
                <a:gd name="T25" fmla="*/ 892 h 1034"/>
                <a:gd name="T26" fmla="*/ 281 w 907"/>
                <a:gd name="T27" fmla="*/ 958 h 1034"/>
                <a:gd name="T28" fmla="*/ 713 w 907"/>
                <a:gd name="T29" fmla="*/ 1034 h 1034"/>
                <a:gd name="T30" fmla="*/ 791 w 907"/>
                <a:gd name="T31" fmla="*/ 940 h 1034"/>
                <a:gd name="T32" fmla="*/ 766 w 907"/>
                <a:gd name="T33" fmla="*/ 735 h 1034"/>
                <a:gd name="T34" fmla="*/ 896 w 907"/>
                <a:gd name="T35" fmla="*/ 481 h 1034"/>
                <a:gd name="T36" fmla="*/ 814 w 907"/>
                <a:gd name="T37" fmla="*/ 136 h 1034"/>
                <a:gd name="T38" fmla="*/ 723 w 907"/>
                <a:gd name="T39" fmla="*/ 699 h 1034"/>
                <a:gd name="T40" fmla="*/ 736 w 907"/>
                <a:gd name="T41" fmla="*/ 949 h 1034"/>
                <a:gd name="T42" fmla="*/ 713 w 907"/>
                <a:gd name="T43" fmla="*/ 978 h 1034"/>
                <a:gd name="T44" fmla="*/ 337 w 907"/>
                <a:gd name="T45" fmla="*/ 955 h 1034"/>
                <a:gd name="T46" fmla="*/ 300 w 907"/>
                <a:gd name="T47" fmla="*/ 814 h 1034"/>
                <a:gd name="T48" fmla="*/ 195 w 907"/>
                <a:gd name="T49" fmla="*/ 837 h 1034"/>
                <a:gd name="T50" fmla="*/ 116 w 907"/>
                <a:gd name="T51" fmla="*/ 697 h 1034"/>
                <a:gd name="T52" fmla="*/ 126 w 907"/>
                <a:gd name="T53" fmla="*/ 655 h 1034"/>
                <a:gd name="T54" fmla="*/ 99 w 907"/>
                <a:gd name="T55" fmla="*/ 640 h 1034"/>
                <a:gd name="T56" fmla="*/ 108 w 907"/>
                <a:gd name="T57" fmla="*/ 598 h 1034"/>
                <a:gd name="T58" fmla="*/ 75 w 907"/>
                <a:gd name="T59" fmla="*/ 579 h 1034"/>
                <a:gd name="T60" fmla="*/ 63 w 907"/>
                <a:gd name="T61" fmla="*/ 539 h 1034"/>
                <a:gd name="T62" fmla="*/ 128 w 907"/>
                <a:gd name="T63" fmla="*/ 440 h 1034"/>
                <a:gd name="T64" fmla="*/ 132 w 907"/>
                <a:gd name="T65" fmla="*/ 387 h 1034"/>
                <a:gd name="T66" fmla="*/ 131 w 907"/>
                <a:gd name="T67" fmla="*/ 286 h 1034"/>
                <a:gd name="T68" fmla="*/ 841 w 907"/>
                <a:gd name="T69" fmla="*/ 47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07" h="1034">
                  <a:moveTo>
                    <a:pt x="814" y="136"/>
                  </a:moveTo>
                  <a:cubicBezTo>
                    <a:pt x="775" y="91"/>
                    <a:pt x="726" y="56"/>
                    <a:pt x="666" y="33"/>
                  </a:cubicBezTo>
                  <a:cubicBezTo>
                    <a:pt x="613" y="11"/>
                    <a:pt x="552" y="0"/>
                    <a:pt x="490" y="0"/>
                  </a:cubicBezTo>
                  <a:cubicBezTo>
                    <a:pt x="399" y="0"/>
                    <a:pt x="308" y="24"/>
                    <a:pt x="236" y="68"/>
                  </a:cubicBezTo>
                  <a:cubicBezTo>
                    <a:pt x="196" y="92"/>
                    <a:pt x="163" y="120"/>
                    <a:pt x="137" y="153"/>
                  </a:cubicBezTo>
                  <a:cubicBezTo>
                    <a:pt x="108" y="189"/>
                    <a:pt x="88" y="229"/>
                    <a:pt x="77" y="272"/>
                  </a:cubicBezTo>
                  <a:cubicBezTo>
                    <a:pt x="68" y="310"/>
                    <a:pt x="67" y="352"/>
                    <a:pt x="75" y="387"/>
                  </a:cubicBezTo>
                  <a:cubicBezTo>
                    <a:pt x="78" y="399"/>
                    <a:pt x="78" y="399"/>
                    <a:pt x="78" y="399"/>
                  </a:cubicBezTo>
                  <a:cubicBezTo>
                    <a:pt x="78" y="403"/>
                    <a:pt x="79" y="406"/>
                    <a:pt x="80" y="409"/>
                  </a:cubicBezTo>
                  <a:cubicBezTo>
                    <a:pt x="80" y="410"/>
                    <a:pt x="80" y="410"/>
                    <a:pt x="81" y="411"/>
                  </a:cubicBezTo>
                  <a:cubicBezTo>
                    <a:pt x="78" y="416"/>
                    <a:pt x="78" y="416"/>
                    <a:pt x="78" y="416"/>
                  </a:cubicBezTo>
                  <a:cubicBezTo>
                    <a:pt x="70" y="433"/>
                    <a:pt x="58" y="450"/>
                    <a:pt x="44" y="468"/>
                  </a:cubicBezTo>
                  <a:cubicBezTo>
                    <a:pt x="35" y="481"/>
                    <a:pt x="25" y="494"/>
                    <a:pt x="16" y="509"/>
                  </a:cubicBezTo>
                  <a:cubicBezTo>
                    <a:pt x="16" y="509"/>
                    <a:pt x="16" y="509"/>
                    <a:pt x="16" y="509"/>
                  </a:cubicBezTo>
                  <a:cubicBezTo>
                    <a:pt x="16" y="509"/>
                    <a:pt x="16" y="509"/>
                    <a:pt x="16" y="509"/>
                  </a:cubicBezTo>
                  <a:cubicBezTo>
                    <a:pt x="16" y="510"/>
                    <a:pt x="16" y="510"/>
                    <a:pt x="16" y="510"/>
                  </a:cubicBezTo>
                  <a:cubicBezTo>
                    <a:pt x="3" y="530"/>
                    <a:pt x="0" y="555"/>
                    <a:pt x="7" y="578"/>
                  </a:cubicBezTo>
                  <a:cubicBezTo>
                    <a:pt x="12" y="597"/>
                    <a:pt x="25" y="613"/>
                    <a:pt x="42" y="624"/>
                  </a:cubicBezTo>
                  <a:cubicBezTo>
                    <a:pt x="40" y="638"/>
                    <a:pt x="43" y="652"/>
                    <a:pt x="49" y="665"/>
                  </a:cubicBezTo>
                  <a:cubicBezTo>
                    <a:pt x="51" y="669"/>
                    <a:pt x="54" y="674"/>
                    <a:pt x="57" y="677"/>
                  </a:cubicBezTo>
                  <a:cubicBezTo>
                    <a:pt x="55" y="696"/>
                    <a:pt x="60" y="714"/>
                    <a:pt x="71" y="730"/>
                  </a:cubicBezTo>
                  <a:cubicBezTo>
                    <a:pt x="86" y="749"/>
                    <a:pt x="86" y="749"/>
                    <a:pt x="86" y="749"/>
                  </a:cubicBezTo>
                  <a:cubicBezTo>
                    <a:pt x="86" y="752"/>
                    <a:pt x="86" y="755"/>
                    <a:pt x="85" y="758"/>
                  </a:cubicBezTo>
                  <a:cubicBezTo>
                    <a:pt x="85" y="770"/>
                    <a:pt x="84" y="785"/>
                    <a:pt x="85" y="800"/>
                  </a:cubicBezTo>
                  <a:cubicBezTo>
                    <a:pt x="88" y="825"/>
                    <a:pt x="97" y="845"/>
                    <a:pt x="112" y="860"/>
                  </a:cubicBezTo>
                  <a:cubicBezTo>
                    <a:pt x="132" y="881"/>
                    <a:pt x="160" y="892"/>
                    <a:pt x="195" y="892"/>
                  </a:cubicBezTo>
                  <a:cubicBezTo>
                    <a:pt x="218" y="892"/>
                    <a:pt x="244" y="888"/>
                    <a:pt x="276" y="879"/>
                  </a:cubicBezTo>
                  <a:cubicBezTo>
                    <a:pt x="278" y="899"/>
                    <a:pt x="280" y="925"/>
                    <a:pt x="281" y="958"/>
                  </a:cubicBezTo>
                  <a:cubicBezTo>
                    <a:pt x="283" y="1000"/>
                    <a:pt x="318" y="1034"/>
                    <a:pt x="361" y="1034"/>
                  </a:cubicBezTo>
                  <a:cubicBezTo>
                    <a:pt x="713" y="1034"/>
                    <a:pt x="713" y="1034"/>
                    <a:pt x="713" y="1034"/>
                  </a:cubicBezTo>
                  <a:cubicBezTo>
                    <a:pt x="736" y="1034"/>
                    <a:pt x="759" y="1023"/>
                    <a:pt x="774" y="1005"/>
                  </a:cubicBezTo>
                  <a:cubicBezTo>
                    <a:pt x="789" y="987"/>
                    <a:pt x="795" y="963"/>
                    <a:pt x="791" y="940"/>
                  </a:cubicBezTo>
                  <a:cubicBezTo>
                    <a:pt x="759" y="759"/>
                    <a:pt x="759" y="759"/>
                    <a:pt x="759" y="759"/>
                  </a:cubicBezTo>
                  <a:cubicBezTo>
                    <a:pt x="758" y="751"/>
                    <a:pt x="760" y="742"/>
                    <a:pt x="766" y="735"/>
                  </a:cubicBezTo>
                  <a:cubicBezTo>
                    <a:pt x="792" y="704"/>
                    <a:pt x="821" y="668"/>
                    <a:pt x="845" y="625"/>
                  </a:cubicBezTo>
                  <a:cubicBezTo>
                    <a:pt x="872" y="578"/>
                    <a:pt x="888" y="531"/>
                    <a:pt x="896" y="481"/>
                  </a:cubicBezTo>
                  <a:cubicBezTo>
                    <a:pt x="907" y="410"/>
                    <a:pt x="905" y="344"/>
                    <a:pt x="890" y="285"/>
                  </a:cubicBezTo>
                  <a:cubicBezTo>
                    <a:pt x="876" y="228"/>
                    <a:pt x="850" y="178"/>
                    <a:pt x="814" y="136"/>
                  </a:cubicBezTo>
                  <a:close/>
                  <a:moveTo>
                    <a:pt x="841" y="473"/>
                  </a:moveTo>
                  <a:cubicBezTo>
                    <a:pt x="826" y="567"/>
                    <a:pt x="777" y="635"/>
                    <a:pt x="723" y="699"/>
                  </a:cubicBezTo>
                  <a:cubicBezTo>
                    <a:pt x="707" y="718"/>
                    <a:pt x="700" y="744"/>
                    <a:pt x="704" y="769"/>
                  </a:cubicBezTo>
                  <a:cubicBezTo>
                    <a:pt x="736" y="949"/>
                    <a:pt x="736" y="949"/>
                    <a:pt x="736" y="949"/>
                  </a:cubicBezTo>
                  <a:cubicBezTo>
                    <a:pt x="738" y="956"/>
                    <a:pt x="736" y="964"/>
                    <a:pt x="731" y="969"/>
                  </a:cubicBezTo>
                  <a:cubicBezTo>
                    <a:pt x="727" y="975"/>
                    <a:pt x="720" y="978"/>
                    <a:pt x="713" y="978"/>
                  </a:cubicBezTo>
                  <a:cubicBezTo>
                    <a:pt x="361" y="978"/>
                    <a:pt x="361" y="978"/>
                    <a:pt x="361" y="978"/>
                  </a:cubicBezTo>
                  <a:cubicBezTo>
                    <a:pt x="348" y="978"/>
                    <a:pt x="337" y="968"/>
                    <a:pt x="337" y="955"/>
                  </a:cubicBezTo>
                  <a:cubicBezTo>
                    <a:pt x="334" y="894"/>
                    <a:pt x="330" y="856"/>
                    <a:pt x="328" y="835"/>
                  </a:cubicBezTo>
                  <a:cubicBezTo>
                    <a:pt x="327" y="825"/>
                    <a:pt x="314" y="814"/>
                    <a:pt x="300" y="814"/>
                  </a:cubicBezTo>
                  <a:cubicBezTo>
                    <a:pt x="297" y="814"/>
                    <a:pt x="295" y="815"/>
                    <a:pt x="292" y="816"/>
                  </a:cubicBezTo>
                  <a:cubicBezTo>
                    <a:pt x="249" y="830"/>
                    <a:pt x="217" y="837"/>
                    <a:pt x="195" y="837"/>
                  </a:cubicBezTo>
                  <a:cubicBezTo>
                    <a:pt x="109" y="837"/>
                    <a:pt x="154" y="748"/>
                    <a:pt x="137" y="725"/>
                  </a:cubicBezTo>
                  <a:cubicBezTo>
                    <a:pt x="116" y="697"/>
                    <a:pt x="116" y="697"/>
                    <a:pt x="116" y="697"/>
                  </a:cubicBezTo>
                  <a:cubicBezTo>
                    <a:pt x="111" y="689"/>
                    <a:pt x="111" y="680"/>
                    <a:pt x="115" y="672"/>
                  </a:cubicBezTo>
                  <a:cubicBezTo>
                    <a:pt x="126" y="655"/>
                    <a:pt x="126" y="655"/>
                    <a:pt x="126" y="655"/>
                  </a:cubicBezTo>
                  <a:cubicBezTo>
                    <a:pt x="112" y="652"/>
                    <a:pt x="112" y="652"/>
                    <a:pt x="112" y="652"/>
                  </a:cubicBezTo>
                  <a:cubicBezTo>
                    <a:pt x="107" y="650"/>
                    <a:pt x="102" y="646"/>
                    <a:pt x="99" y="640"/>
                  </a:cubicBezTo>
                  <a:cubicBezTo>
                    <a:pt x="96" y="635"/>
                    <a:pt x="96" y="629"/>
                    <a:pt x="98" y="623"/>
                  </a:cubicBezTo>
                  <a:cubicBezTo>
                    <a:pt x="108" y="598"/>
                    <a:pt x="108" y="598"/>
                    <a:pt x="108" y="598"/>
                  </a:cubicBezTo>
                  <a:cubicBezTo>
                    <a:pt x="109" y="596"/>
                    <a:pt x="108" y="593"/>
                    <a:pt x="106" y="592"/>
                  </a:cubicBezTo>
                  <a:cubicBezTo>
                    <a:pt x="75" y="579"/>
                    <a:pt x="75" y="579"/>
                    <a:pt x="75" y="579"/>
                  </a:cubicBezTo>
                  <a:cubicBezTo>
                    <a:pt x="68" y="575"/>
                    <a:pt x="62" y="569"/>
                    <a:pt x="60" y="562"/>
                  </a:cubicBezTo>
                  <a:cubicBezTo>
                    <a:pt x="58" y="554"/>
                    <a:pt x="59" y="546"/>
                    <a:pt x="63" y="539"/>
                  </a:cubicBezTo>
                  <a:cubicBezTo>
                    <a:pt x="63" y="538"/>
                    <a:pt x="63" y="538"/>
                    <a:pt x="63" y="538"/>
                  </a:cubicBezTo>
                  <a:cubicBezTo>
                    <a:pt x="84" y="505"/>
                    <a:pt x="111" y="475"/>
                    <a:pt x="128" y="440"/>
                  </a:cubicBezTo>
                  <a:cubicBezTo>
                    <a:pt x="136" y="425"/>
                    <a:pt x="136" y="425"/>
                    <a:pt x="136" y="425"/>
                  </a:cubicBezTo>
                  <a:cubicBezTo>
                    <a:pt x="141" y="415"/>
                    <a:pt x="134" y="398"/>
                    <a:pt x="132" y="387"/>
                  </a:cubicBezTo>
                  <a:cubicBezTo>
                    <a:pt x="129" y="375"/>
                    <a:pt x="129" y="375"/>
                    <a:pt x="129" y="375"/>
                  </a:cubicBezTo>
                  <a:cubicBezTo>
                    <a:pt x="123" y="347"/>
                    <a:pt x="124" y="313"/>
                    <a:pt x="131" y="286"/>
                  </a:cubicBezTo>
                  <a:cubicBezTo>
                    <a:pt x="168" y="139"/>
                    <a:pt x="330" y="56"/>
                    <a:pt x="490" y="56"/>
                  </a:cubicBezTo>
                  <a:cubicBezTo>
                    <a:pt x="689" y="56"/>
                    <a:pt x="885" y="183"/>
                    <a:pt x="841" y="4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solidFill>
                  <a:schemeClr val="bg1">
                    <a:lumMod val="50000"/>
                  </a:schemeClr>
                </a:solidFill>
              </a:endParaRPr>
            </a:p>
          </p:txBody>
        </p:sp>
        <p:sp>
          <p:nvSpPr>
            <p:cNvPr id="85" name="Freeform 6"/>
            <p:cNvSpPr>
              <a:spLocks noEditPoints="1"/>
            </p:cNvSpPr>
            <p:nvPr/>
          </p:nvSpPr>
          <p:spPr bwMode="auto">
            <a:xfrm>
              <a:off x="8596313" y="5100638"/>
              <a:ext cx="296863" cy="295275"/>
            </a:xfrm>
            <a:custGeom>
              <a:avLst/>
              <a:gdLst>
                <a:gd name="T0" fmla="*/ 192 w 337"/>
                <a:gd name="T1" fmla="*/ 36 h 336"/>
                <a:gd name="T2" fmla="*/ 234 w 337"/>
                <a:gd name="T3" fmla="*/ 68 h 336"/>
                <a:gd name="T4" fmla="*/ 253 w 337"/>
                <a:gd name="T5" fmla="*/ 54 h 336"/>
                <a:gd name="T6" fmla="*/ 279 w 337"/>
                <a:gd name="T7" fmla="*/ 74 h 336"/>
                <a:gd name="T8" fmla="*/ 268 w 337"/>
                <a:gd name="T9" fmla="*/ 102 h 336"/>
                <a:gd name="T10" fmla="*/ 301 w 337"/>
                <a:gd name="T11" fmla="*/ 144 h 336"/>
                <a:gd name="T12" fmla="*/ 313 w 337"/>
                <a:gd name="T13" fmla="*/ 180 h 336"/>
                <a:gd name="T14" fmla="*/ 286 w 337"/>
                <a:gd name="T15" fmla="*/ 192 h 336"/>
                <a:gd name="T16" fmla="*/ 279 w 337"/>
                <a:gd name="T17" fmla="*/ 244 h 336"/>
                <a:gd name="T18" fmla="*/ 262 w 337"/>
                <a:gd name="T19" fmla="*/ 278 h 336"/>
                <a:gd name="T20" fmla="*/ 245 w 337"/>
                <a:gd name="T21" fmla="*/ 278 h 336"/>
                <a:gd name="T22" fmla="*/ 192 w 337"/>
                <a:gd name="T23" fmla="*/ 286 h 336"/>
                <a:gd name="T24" fmla="*/ 180 w 337"/>
                <a:gd name="T25" fmla="*/ 312 h 336"/>
                <a:gd name="T26" fmla="*/ 144 w 337"/>
                <a:gd name="T27" fmla="*/ 300 h 336"/>
                <a:gd name="T28" fmla="*/ 102 w 337"/>
                <a:gd name="T29" fmla="*/ 268 h 336"/>
                <a:gd name="T30" fmla="*/ 84 w 337"/>
                <a:gd name="T31" fmla="*/ 282 h 336"/>
                <a:gd name="T32" fmla="*/ 58 w 337"/>
                <a:gd name="T33" fmla="*/ 261 h 336"/>
                <a:gd name="T34" fmla="*/ 69 w 337"/>
                <a:gd name="T35" fmla="*/ 234 h 336"/>
                <a:gd name="T36" fmla="*/ 36 w 337"/>
                <a:gd name="T37" fmla="*/ 192 h 336"/>
                <a:gd name="T38" fmla="*/ 24 w 337"/>
                <a:gd name="T39" fmla="*/ 156 h 336"/>
                <a:gd name="T40" fmla="*/ 51 w 337"/>
                <a:gd name="T41" fmla="*/ 144 h 336"/>
                <a:gd name="T42" fmla="*/ 58 w 337"/>
                <a:gd name="T43" fmla="*/ 91 h 336"/>
                <a:gd name="T44" fmla="*/ 75 w 337"/>
                <a:gd name="T45" fmla="*/ 57 h 336"/>
                <a:gd name="T46" fmla="*/ 92 w 337"/>
                <a:gd name="T47" fmla="*/ 57 h 336"/>
                <a:gd name="T48" fmla="*/ 144 w 337"/>
                <a:gd name="T49" fmla="*/ 50 h 336"/>
                <a:gd name="T50" fmla="*/ 156 w 337"/>
                <a:gd name="T51" fmla="*/ 24 h 336"/>
                <a:gd name="T52" fmla="*/ 180 w 337"/>
                <a:gd name="T53" fmla="*/ 0 h 336"/>
                <a:gd name="T54" fmla="*/ 121 w 337"/>
                <a:gd name="T55" fmla="*/ 32 h 336"/>
                <a:gd name="T56" fmla="*/ 84 w 337"/>
                <a:gd name="T57" fmla="*/ 30 h 336"/>
                <a:gd name="T58" fmla="*/ 41 w 337"/>
                <a:gd name="T59" fmla="*/ 57 h 336"/>
                <a:gd name="T60" fmla="*/ 39 w 337"/>
                <a:gd name="T61" fmla="*/ 106 h 336"/>
                <a:gd name="T62" fmla="*/ 0 w 337"/>
                <a:gd name="T63" fmla="*/ 156 h 336"/>
                <a:gd name="T64" fmla="*/ 33 w 337"/>
                <a:gd name="T65" fmla="*/ 216 h 336"/>
                <a:gd name="T66" fmla="*/ 31 w 337"/>
                <a:gd name="T67" fmla="*/ 253 h 336"/>
                <a:gd name="T68" fmla="*/ 58 w 337"/>
                <a:gd name="T69" fmla="*/ 295 h 336"/>
                <a:gd name="T70" fmla="*/ 106 w 337"/>
                <a:gd name="T71" fmla="*/ 298 h 336"/>
                <a:gd name="T72" fmla="*/ 156 w 337"/>
                <a:gd name="T73" fmla="*/ 336 h 336"/>
                <a:gd name="T74" fmla="*/ 216 w 337"/>
                <a:gd name="T75" fmla="*/ 304 h 336"/>
                <a:gd name="T76" fmla="*/ 253 w 337"/>
                <a:gd name="T77" fmla="*/ 306 h 336"/>
                <a:gd name="T78" fmla="*/ 296 w 337"/>
                <a:gd name="T79" fmla="*/ 278 h 336"/>
                <a:gd name="T80" fmla="*/ 298 w 337"/>
                <a:gd name="T81" fmla="*/ 230 h 336"/>
                <a:gd name="T82" fmla="*/ 337 w 337"/>
                <a:gd name="T83" fmla="*/ 180 h 336"/>
                <a:gd name="T84" fmla="*/ 304 w 337"/>
                <a:gd name="T85" fmla="*/ 120 h 336"/>
                <a:gd name="T86" fmla="*/ 306 w 337"/>
                <a:gd name="T87" fmla="*/ 83 h 336"/>
                <a:gd name="T88" fmla="*/ 279 w 337"/>
                <a:gd name="T89" fmla="*/ 40 h 336"/>
                <a:gd name="T90" fmla="*/ 231 w 337"/>
                <a:gd name="T91" fmla="*/ 38 h 336"/>
                <a:gd name="T92" fmla="*/ 180 w 337"/>
                <a:gd name="T93"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37" h="336">
                  <a:moveTo>
                    <a:pt x="180" y="24"/>
                  </a:moveTo>
                  <a:cubicBezTo>
                    <a:pt x="187" y="24"/>
                    <a:pt x="192" y="29"/>
                    <a:pt x="192" y="36"/>
                  </a:cubicBezTo>
                  <a:cubicBezTo>
                    <a:pt x="192" y="50"/>
                    <a:pt x="192" y="50"/>
                    <a:pt x="192" y="50"/>
                  </a:cubicBezTo>
                  <a:cubicBezTo>
                    <a:pt x="208" y="53"/>
                    <a:pt x="222" y="60"/>
                    <a:pt x="234" y="68"/>
                  </a:cubicBezTo>
                  <a:cubicBezTo>
                    <a:pt x="245" y="57"/>
                    <a:pt x="245" y="57"/>
                    <a:pt x="245" y="57"/>
                  </a:cubicBezTo>
                  <a:cubicBezTo>
                    <a:pt x="247" y="55"/>
                    <a:pt x="250" y="54"/>
                    <a:pt x="253" y="54"/>
                  </a:cubicBezTo>
                  <a:cubicBezTo>
                    <a:pt x="256" y="54"/>
                    <a:pt x="260" y="55"/>
                    <a:pt x="262" y="57"/>
                  </a:cubicBezTo>
                  <a:cubicBezTo>
                    <a:pt x="279" y="74"/>
                    <a:pt x="279" y="74"/>
                    <a:pt x="279" y="74"/>
                  </a:cubicBezTo>
                  <a:cubicBezTo>
                    <a:pt x="284" y="79"/>
                    <a:pt x="284" y="87"/>
                    <a:pt x="279" y="91"/>
                  </a:cubicBezTo>
                  <a:cubicBezTo>
                    <a:pt x="268" y="102"/>
                    <a:pt x="268" y="102"/>
                    <a:pt x="268" y="102"/>
                  </a:cubicBezTo>
                  <a:cubicBezTo>
                    <a:pt x="277" y="114"/>
                    <a:pt x="283" y="129"/>
                    <a:pt x="286" y="144"/>
                  </a:cubicBezTo>
                  <a:cubicBezTo>
                    <a:pt x="301" y="144"/>
                    <a:pt x="301" y="144"/>
                    <a:pt x="301" y="144"/>
                  </a:cubicBezTo>
                  <a:cubicBezTo>
                    <a:pt x="307" y="144"/>
                    <a:pt x="313" y="149"/>
                    <a:pt x="313" y="156"/>
                  </a:cubicBezTo>
                  <a:cubicBezTo>
                    <a:pt x="313" y="180"/>
                    <a:pt x="313" y="180"/>
                    <a:pt x="313" y="180"/>
                  </a:cubicBezTo>
                  <a:cubicBezTo>
                    <a:pt x="313" y="187"/>
                    <a:pt x="307" y="192"/>
                    <a:pt x="301" y="192"/>
                  </a:cubicBezTo>
                  <a:cubicBezTo>
                    <a:pt x="286" y="192"/>
                    <a:pt x="286" y="192"/>
                    <a:pt x="286" y="192"/>
                  </a:cubicBezTo>
                  <a:cubicBezTo>
                    <a:pt x="283" y="207"/>
                    <a:pt x="277" y="221"/>
                    <a:pt x="268" y="234"/>
                  </a:cubicBezTo>
                  <a:cubicBezTo>
                    <a:pt x="279" y="244"/>
                    <a:pt x="279" y="244"/>
                    <a:pt x="279" y="244"/>
                  </a:cubicBezTo>
                  <a:cubicBezTo>
                    <a:pt x="284" y="249"/>
                    <a:pt x="284" y="257"/>
                    <a:pt x="279" y="261"/>
                  </a:cubicBezTo>
                  <a:cubicBezTo>
                    <a:pt x="262" y="278"/>
                    <a:pt x="262" y="278"/>
                    <a:pt x="262" y="278"/>
                  </a:cubicBezTo>
                  <a:cubicBezTo>
                    <a:pt x="260" y="281"/>
                    <a:pt x="256" y="282"/>
                    <a:pt x="253" y="282"/>
                  </a:cubicBezTo>
                  <a:cubicBezTo>
                    <a:pt x="250" y="282"/>
                    <a:pt x="247" y="281"/>
                    <a:pt x="245" y="278"/>
                  </a:cubicBezTo>
                  <a:cubicBezTo>
                    <a:pt x="234" y="268"/>
                    <a:pt x="234" y="268"/>
                    <a:pt x="234" y="268"/>
                  </a:cubicBezTo>
                  <a:cubicBezTo>
                    <a:pt x="222" y="276"/>
                    <a:pt x="208" y="282"/>
                    <a:pt x="192" y="286"/>
                  </a:cubicBezTo>
                  <a:cubicBezTo>
                    <a:pt x="192" y="300"/>
                    <a:pt x="192" y="300"/>
                    <a:pt x="192" y="300"/>
                  </a:cubicBezTo>
                  <a:cubicBezTo>
                    <a:pt x="192" y="307"/>
                    <a:pt x="187" y="312"/>
                    <a:pt x="180" y="312"/>
                  </a:cubicBezTo>
                  <a:cubicBezTo>
                    <a:pt x="156" y="312"/>
                    <a:pt x="156" y="312"/>
                    <a:pt x="156" y="312"/>
                  </a:cubicBezTo>
                  <a:cubicBezTo>
                    <a:pt x="150" y="312"/>
                    <a:pt x="144" y="307"/>
                    <a:pt x="144" y="300"/>
                  </a:cubicBezTo>
                  <a:cubicBezTo>
                    <a:pt x="144" y="286"/>
                    <a:pt x="144" y="286"/>
                    <a:pt x="144" y="286"/>
                  </a:cubicBezTo>
                  <a:cubicBezTo>
                    <a:pt x="129" y="282"/>
                    <a:pt x="115" y="276"/>
                    <a:pt x="102" y="268"/>
                  </a:cubicBezTo>
                  <a:cubicBezTo>
                    <a:pt x="92" y="278"/>
                    <a:pt x="92" y="278"/>
                    <a:pt x="92" y="278"/>
                  </a:cubicBezTo>
                  <a:cubicBezTo>
                    <a:pt x="90" y="281"/>
                    <a:pt x="87" y="282"/>
                    <a:pt x="84" y="282"/>
                  </a:cubicBezTo>
                  <a:cubicBezTo>
                    <a:pt x="80" y="282"/>
                    <a:pt x="77" y="281"/>
                    <a:pt x="75" y="278"/>
                  </a:cubicBezTo>
                  <a:cubicBezTo>
                    <a:pt x="58" y="261"/>
                    <a:pt x="58" y="261"/>
                    <a:pt x="58" y="261"/>
                  </a:cubicBezTo>
                  <a:cubicBezTo>
                    <a:pt x="53" y="257"/>
                    <a:pt x="53" y="249"/>
                    <a:pt x="58" y="244"/>
                  </a:cubicBezTo>
                  <a:cubicBezTo>
                    <a:pt x="69" y="234"/>
                    <a:pt x="69" y="234"/>
                    <a:pt x="69" y="234"/>
                  </a:cubicBezTo>
                  <a:cubicBezTo>
                    <a:pt x="60" y="221"/>
                    <a:pt x="54" y="207"/>
                    <a:pt x="51" y="192"/>
                  </a:cubicBezTo>
                  <a:cubicBezTo>
                    <a:pt x="36" y="192"/>
                    <a:pt x="36" y="192"/>
                    <a:pt x="36" y="192"/>
                  </a:cubicBezTo>
                  <a:cubicBezTo>
                    <a:pt x="30" y="192"/>
                    <a:pt x="24" y="187"/>
                    <a:pt x="24" y="180"/>
                  </a:cubicBezTo>
                  <a:cubicBezTo>
                    <a:pt x="24" y="156"/>
                    <a:pt x="24" y="156"/>
                    <a:pt x="24" y="156"/>
                  </a:cubicBezTo>
                  <a:cubicBezTo>
                    <a:pt x="24" y="149"/>
                    <a:pt x="30" y="144"/>
                    <a:pt x="36" y="144"/>
                  </a:cubicBezTo>
                  <a:cubicBezTo>
                    <a:pt x="51" y="144"/>
                    <a:pt x="51" y="144"/>
                    <a:pt x="51" y="144"/>
                  </a:cubicBezTo>
                  <a:cubicBezTo>
                    <a:pt x="54" y="129"/>
                    <a:pt x="60" y="114"/>
                    <a:pt x="69" y="102"/>
                  </a:cubicBezTo>
                  <a:cubicBezTo>
                    <a:pt x="58" y="91"/>
                    <a:pt x="58" y="91"/>
                    <a:pt x="58" y="91"/>
                  </a:cubicBezTo>
                  <a:cubicBezTo>
                    <a:pt x="53" y="87"/>
                    <a:pt x="53" y="79"/>
                    <a:pt x="58" y="74"/>
                  </a:cubicBezTo>
                  <a:cubicBezTo>
                    <a:pt x="75" y="57"/>
                    <a:pt x="75" y="57"/>
                    <a:pt x="75" y="57"/>
                  </a:cubicBezTo>
                  <a:cubicBezTo>
                    <a:pt x="77" y="55"/>
                    <a:pt x="80" y="54"/>
                    <a:pt x="84" y="54"/>
                  </a:cubicBezTo>
                  <a:cubicBezTo>
                    <a:pt x="87" y="54"/>
                    <a:pt x="90" y="55"/>
                    <a:pt x="92" y="57"/>
                  </a:cubicBezTo>
                  <a:cubicBezTo>
                    <a:pt x="102" y="68"/>
                    <a:pt x="102" y="68"/>
                    <a:pt x="102" y="68"/>
                  </a:cubicBezTo>
                  <a:cubicBezTo>
                    <a:pt x="115" y="60"/>
                    <a:pt x="129" y="53"/>
                    <a:pt x="144" y="50"/>
                  </a:cubicBezTo>
                  <a:cubicBezTo>
                    <a:pt x="144" y="36"/>
                    <a:pt x="144" y="36"/>
                    <a:pt x="144" y="36"/>
                  </a:cubicBezTo>
                  <a:cubicBezTo>
                    <a:pt x="144" y="29"/>
                    <a:pt x="150" y="24"/>
                    <a:pt x="156" y="24"/>
                  </a:cubicBezTo>
                  <a:cubicBezTo>
                    <a:pt x="180" y="24"/>
                    <a:pt x="180" y="24"/>
                    <a:pt x="180" y="24"/>
                  </a:cubicBezTo>
                  <a:moveTo>
                    <a:pt x="180" y="0"/>
                  </a:moveTo>
                  <a:cubicBezTo>
                    <a:pt x="156" y="0"/>
                    <a:pt x="156" y="0"/>
                    <a:pt x="156" y="0"/>
                  </a:cubicBezTo>
                  <a:cubicBezTo>
                    <a:pt x="138" y="0"/>
                    <a:pt x="123" y="14"/>
                    <a:pt x="121" y="32"/>
                  </a:cubicBezTo>
                  <a:cubicBezTo>
                    <a:pt x="116" y="34"/>
                    <a:pt x="111" y="36"/>
                    <a:pt x="106" y="38"/>
                  </a:cubicBezTo>
                  <a:cubicBezTo>
                    <a:pt x="100" y="33"/>
                    <a:pt x="92" y="30"/>
                    <a:pt x="84" y="30"/>
                  </a:cubicBezTo>
                  <a:cubicBezTo>
                    <a:pt x="74" y="30"/>
                    <a:pt x="65" y="34"/>
                    <a:pt x="58" y="40"/>
                  </a:cubicBezTo>
                  <a:cubicBezTo>
                    <a:pt x="41" y="57"/>
                    <a:pt x="41" y="57"/>
                    <a:pt x="41" y="57"/>
                  </a:cubicBezTo>
                  <a:cubicBezTo>
                    <a:pt x="34" y="64"/>
                    <a:pt x="31" y="73"/>
                    <a:pt x="31" y="83"/>
                  </a:cubicBezTo>
                  <a:cubicBezTo>
                    <a:pt x="31" y="91"/>
                    <a:pt x="33" y="99"/>
                    <a:pt x="39" y="106"/>
                  </a:cubicBezTo>
                  <a:cubicBezTo>
                    <a:pt x="36" y="110"/>
                    <a:pt x="34" y="115"/>
                    <a:pt x="33" y="120"/>
                  </a:cubicBezTo>
                  <a:cubicBezTo>
                    <a:pt x="15" y="122"/>
                    <a:pt x="0" y="137"/>
                    <a:pt x="0" y="156"/>
                  </a:cubicBezTo>
                  <a:cubicBezTo>
                    <a:pt x="0" y="180"/>
                    <a:pt x="0" y="180"/>
                    <a:pt x="0" y="180"/>
                  </a:cubicBezTo>
                  <a:cubicBezTo>
                    <a:pt x="0" y="199"/>
                    <a:pt x="15" y="214"/>
                    <a:pt x="33" y="216"/>
                  </a:cubicBezTo>
                  <a:cubicBezTo>
                    <a:pt x="34" y="221"/>
                    <a:pt x="36" y="225"/>
                    <a:pt x="39" y="230"/>
                  </a:cubicBezTo>
                  <a:cubicBezTo>
                    <a:pt x="33" y="236"/>
                    <a:pt x="31" y="244"/>
                    <a:pt x="31" y="253"/>
                  </a:cubicBezTo>
                  <a:cubicBezTo>
                    <a:pt x="31" y="262"/>
                    <a:pt x="34" y="271"/>
                    <a:pt x="41" y="278"/>
                  </a:cubicBezTo>
                  <a:cubicBezTo>
                    <a:pt x="58" y="295"/>
                    <a:pt x="58" y="295"/>
                    <a:pt x="58" y="295"/>
                  </a:cubicBezTo>
                  <a:cubicBezTo>
                    <a:pt x="65" y="302"/>
                    <a:pt x="74" y="306"/>
                    <a:pt x="84" y="306"/>
                  </a:cubicBezTo>
                  <a:cubicBezTo>
                    <a:pt x="92" y="306"/>
                    <a:pt x="100" y="303"/>
                    <a:pt x="106" y="298"/>
                  </a:cubicBezTo>
                  <a:cubicBezTo>
                    <a:pt x="111" y="300"/>
                    <a:pt x="116" y="302"/>
                    <a:pt x="121" y="304"/>
                  </a:cubicBezTo>
                  <a:cubicBezTo>
                    <a:pt x="123" y="322"/>
                    <a:pt x="138" y="336"/>
                    <a:pt x="156" y="336"/>
                  </a:cubicBezTo>
                  <a:cubicBezTo>
                    <a:pt x="180" y="336"/>
                    <a:pt x="180" y="336"/>
                    <a:pt x="180" y="336"/>
                  </a:cubicBezTo>
                  <a:cubicBezTo>
                    <a:pt x="199" y="336"/>
                    <a:pt x="214" y="322"/>
                    <a:pt x="216" y="304"/>
                  </a:cubicBezTo>
                  <a:cubicBezTo>
                    <a:pt x="221" y="302"/>
                    <a:pt x="226" y="300"/>
                    <a:pt x="231" y="298"/>
                  </a:cubicBezTo>
                  <a:cubicBezTo>
                    <a:pt x="237" y="303"/>
                    <a:pt x="245" y="306"/>
                    <a:pt x="253" y="306"/>
                  </a:cubicBezTo>
                  <a:cubicBezTo>
                    <a:pt x="263" y="306"/>
                    <a:pt x="272" y="302"/>
                    <a:pt x="279" y="295"/>
                  </a:cubicBezTo>
                  <a:cubicBezTo>
                    <a:pt x="296" y="278"/>
                    <a:pt x="296" y="278"/>
                    <a:pt x="296" y="278"/>
                  </a:cubicBezTo>
                  <a:cubicBezTo>
                    <a:pt x="303" y="271"/>
                    <a:pt x="306" y="262"/>
                    <a:pt x="306" y="253"/>
                  </a:cubicBezTo>
                  <a:cubicBezTo>
                    <a:pt x="306" y="244"/>
                    <a:pt x="304" y="236"/>
                    <a:pt x="298" y="230"/>
                  </a:cubicBezTo>
                  <a:cubicBezTo>
                    <a:pt x="301" y="225"/>
                    <a:pt x="303" y="221"/>
                    <a:pt x="304" y="216"/>
                  </a:cubicBezTo>
                  <a:cubicBezTo>
                    <a:pt x="322" y="214"/>
                    <a:pt x="337" y="199"/>
                    <a:pt x="337" y="180"/>
                  </a:cubicBezTo>
                  <a:cubicBezTo>
                    <a:pt x="337" y="156"/>
                    <a:pt x="337" y="156"/>
                    <a:pt x="337" y="156"/>
                  </a:cubicBezTo>
                  <a:cubicBezTo>
                    <a:pt x="337" y="137"/>
                    <a:pt x="322" y="122"/>
                    <a:pt x="304" y="120"/>
                  </a:cubicBezTo>
                  <a:cubicBezTo>
                    <a:pt x="303" y="115"/>
                    <a:pt x="301" y="110"/>
                    <a:pt x="298" y="106"/>
                  </a:cubicBezTo>
                  <a:cubicBezTo>
                    <a:pt x="304" y="99"/>
                    <a:pt x="306" y="91"/>
                    <a:pt x="306" y="83"/>
                  </a:cubicBezTo>
                  <a:cubicBezTo>
                    <a:pt x="306" y="73"/>
                    <a:pt x="303" y="64"/>
                    <a:pt x="296" y="57"/>
                  </a:cubicBezTo>
                  <a:cubicBezTo>
                    <a:pt x="279" y="40"/>
                    <a:pt x="279" y="40"/>
                    <a:pt x="279" y="40"/>
                  </a:cubicBezTo>
                  <a:cubicBezTo>
                    <a:pt x="272" y="34"/>
                    <a:pt x="263" y="30"/>
                    <a:pt x="253" y="30"/>
                  </a:cubicBezTo>
                  <a:cubicBezTo>
                    <a:pt x="245" y="30"/>
                    <a:pt x="237" y="33"/>
                    <a:pt x="231" y="38"/>
                  </a:cubicBezTo>
                  <a:cubicBezTo>
                    <a:pt x="226" y="36"/>
                    <a:pt x="221" y="34"/>
                    <a:pt x="216" y="32"/>
                  </a:cubicBezTo>
                  <a:cubicBezTo>
                    <a:pt x="214" y="14"/>
                    <a:pt x="199" y="0"/>
                    <a:pt x="18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solidFill>
                  <a:schemeClr val="bg1">
                    <a:lumMod val="50000"/>
                  </a:schemeClr>
                </a:solidFill>
              </a:endParaRPr>
            </a:p>
          </p:txBody>
        </p:sp>
        <p:sp>
          <p:nvSpPr>
            <p:cNvPr id="86" name="Freeform 7"/>
            <p:cNvSpPr>
              <a:spLocks noEditPoints="1"/>
            </p:cNvSpPr>
            <p:nvPr/>
          </p:nvSpPr>
          <p:spPr bwMode="auto">
            <a:xfrm>
              <a:off x="8675688" y="5180013"/>
              <a:ext cx="138113" cy="136525"/>
            </a:xfrm>
            <a:custGeom>
              <a:avLst/>
              <a:gdLst>
                <a:gd name="T0" fmla="*/ 78 w 157"/>
                <a:gd name="T1" fmla="*/ 156 h 156"/>
                <a:gd name="T2" fmla="*/ 0 w 157"/>
                <a:gd name="T3" fmla="*/ 78 h 156"/>
                <a:gd name="T4" fmla="*/ 78 w 157"/>
                <a:gd name="T5" fmla="*/ 0 h 156"/>
                <a:gd name="T6" fmla="*/ 157 w 157"/>
                <a:gd name="T7" fmla="*/ 78 h 156"/>
                <a:gd name="T8" fmla="*/ 78 w 157"/>
                <a:gd name="T9" fmla="*/ 156 h 156"/>
                <a:gd name="T10" fmla="*/ 78 w 157"/>
                <a:gd name="T11" fmla="*/ 12 h 156"/>
                <a:gd name="T12" fmla="*/ 12 w 157"/>
                <a:gd name="T13" fmla="*/ 78 h 156"/>
                <a:gd name="T14" fmla="*/ 78 w 157"/>
                <a:gd name="T15" fmla="*/ 144 h 156"/>
                <a:gd name="T16" fmla="*/ 145 w 157"/>
                <a:gd name="T17" fmla="*/ 78 h 156"/>
                <a:gd name="T18" fmla="*/ 78 w 157"/>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156">
                  <a:moveTo>
                    <a:pt x="78" y="156"/>
                  </a:moveTo>
                  <a:cubicBezTo>
                    <a:pt x="35" y="156"/>
                    <a:pt x="0" y="121"/>
                    <a:pt x="0" y="78"/>
                  </a:cubicBezTo>
                  <a:cubicBezTo>
                    <a:pt x="0" y="35"/>
                    <a:pt x="35" y="0"/>
                    <a:pt x="78" y="0"/>
                  </a:cubicBezTo>
                  <a:cubicBezTo>
                    <a:pt x="122" y="0"/>
                    <a:pt x="157" y="35"/>
                    <a:pt x="157" y="78"/>
                  </a:cubicBezTo>
                  <a:cubicBezTo>
                    <a:pt x="157" y="121"/>
                    <a:pt x="122" y="156"/>
                    <a:pt x="78" y="156"/>
                  </a:cubicBezTo>
                  <a:close/>
                  <a:moveTo>
                    <a:pt x="78" y="12"/>
                  </a:moveTo>
                  <a:cubicBezTo>
                    <a:pt x="42" y="12"/>
                    <a:pt x="12" y="41"/>
                    <a:pt x="12" y="78"/>
                  </a:cubicBezTo>
                  <a:cubicBezTo>
                    <a:pt x="12" y="114"/>
                    <a:pt x="42" y="144"/>
                    <a:pt x="78" y="144"/>
                  </a:cubicBezTo>
                  <a:cubicBezTo>
                    <a:pt x="115" y="144"/>
                    <a:pt x="145" y="114"/>
                    <a:pt x="145" y="78"/>
                  </a:cubicBezTo>
                  <a:cubicBezTo>
                    <a:pt x="145" y="41"/>
                    <a:pt x="115"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solidFill>
                  <a:schemeClr val="bg1">
                    <a:lumMod val="50000"/>
                  </a:schemeClr>
                </a:solidFill>
              </a:endParaRPr>
            </a:p>
          </p:txBody>
        </p:sp>
        <p:sp>
          <p:nvSpPr>
            <p:cNvPr id="87" name="Freeform 8"/>
            <p:cNvSpPr>
              <a:spLocks noEditPoints="1"/>
            </p:cNvSpPr>
            <p:nvPr/>
          </p:nvSpPr>
          <p:spPr bwMode="auto">
            <a:xfrm>
              <a:off x="8707438" y="5211763"/>
              <a:ext cx="74613" cy="73025"/>
            </a:xfrm>
            <a:custGeom>
              <a:avLst/>
              <a:gdLst>
                <a:gd name="T0" fmla="*/ 42 w 85"/>
                <a:gd name="T1" fmla="*/ 84 h 84"/>
                <a:gd name="T2" fmla="*/ 0 w 85"/>
                <a:gd name="T3" fmla="*/ 42 h 84"/>
                <a:gd name="T4" fmla="*/ 42 w 85"/>
                <a:gd name="T5" fmla="*/ 0 h 84"/>
                <a:gd name="T6" fmla="*/ 85 w 85"/>
                <a:gd name="T7" fmla="*/ 42 h 84"/>
                <a:gd name="T8" fmla="*/ 42 w 85"/>
                <a:gd name="T9" fmla="*/ 84 h 84"/>
                <a:gd name="T10" fmla="*/ 42 w 85"/>
                <a:gd name="T11" fmla="*/ 12 h 84"/>
                <a:gd name="T12" fmla="*/ 12 w 85"/>
                <a:gd name="T13" fmla="*/ 42 h 84"/>
                <a:gd name="T14" fmla="*/ 42 w 85"/>
                <a:gd name="T15" fmla="*/ 72 h 84"/>
                <a:gd name="T16" fmla="*/ 73 w 85"/>
                <a:gd name="T17" fmla="*/ 42 h 84"/>
                <a:gd name="T18" fmla="*/ 42 w 85"/>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84">
                  <a:moveTo>
                    <a:pt x="42" y="84"/>
                  </a:moveTo>
                  <a:cubicBezTo>
                    <a:pt x="19" y="84"/>
                    <a:pt x="0" y="65"/>
                    <a:pt x="0" y="42"/>
                  </a:cubicBezTo>
                  <a:cubicBezTo>
                    <a:pt x="0" y="19"/>
                    <a:pt x="19" y="0"/>
                    <a:pt x="42" y="0"/>
                  </a:cubicBezTo>
                  <a:cubicBezTo>
                    <a:pt x="66" y="0"/>
                    <a:pt x="85" y="19"/>
                    <a:pt x="85" y="42"/>
                  </a:cubicBezTo>
                  <a:cubicBezTo>
                    <a:pt x="85" y="65"/>
                    <a:pt x="66" y="84"/>
                    <a:pt x="42" y="84"/>
                  </a:cubicBezTo>
                  <a:close/>
                  <a:moveTo>
                    <a:pt x="42" y="12"/>
                  </a:moveTo>
                  <a:cubicBezTo>
                    <a:pt x="26" y="12"/>
                    <a:pt x="12" y="25"/>
                    <a:pt x="12" y="42"/>
                  </a:cubicBezTo>
                  <a:cubicBezTo>
                    <a:pt x="12" y="58"/>
                    <a:pt x="26" y="72"/>
                    <a:pt x="42" y="72"/>
                  </a:cubicBezTo>
                  <a:cubicBezTo>
                    <a:pt x="59" y="72"/>
                    <a:pt x="73" y="58"/>
                    <a:pt x="73" y="42"/>
                  </a:cubicBezTo>
                  <a:cubicBezTo>
                    <a:pt x="73" y="25"/>
                    <a:pt x="59"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solidFill>
                  <a:schemeClr val="bg1">
                    <a:lumMod val="50000"/>
                  </a:schemeClr>
                </a:solidFill>
              </a:endParaRPr>
            </a:p>
          </p:txBody>
        </p:sp>
        <p:sp>
          <p:nvSpPr>
            <p:cNvPr id="88" name="Freeform 9"/>
            <p:cNvSpPr>
              <a:spLocks noEditPoints="1"/>
            </p:cNvSpPr>
            <p:nvPr/>
          </p:nvSpPr>
          <p:spPr bwMode="auto">
            <a:xfrm>
              <a:off x="8416926" y="5081588"/>
              <a:ext cx="187325" cy="187325"/>
            </a:xfrm>
            <a:custGeom>
              <a:avLst/>
              <a:gdLst>
                <a:gd name="T0" fmla="*/ 121 w 213"/>
                <a:gd name="T1" fmla="*/ 23 h 213"/>
                <a:gd name="T2" fmla="*/ 148 w 213"/>
                <a:gd name="T3" fmla="*/ 44 h 213"/>
                <a:gd name="T4" fmla="*/ 160 w 213"/>
                <a:gd name="T5" fmla="*/ 35 h 213"/>
                <a:gd name="T6" fmla="*/ 176 w 213"/>
                <a:gd name="T7" fmla="*/ 48 h 213"/>
                <a:gd name="T8" fmla="*/ 170 w 213"/>
                <a:gd name="T9" fmla="*/ 65 h 213"/>
                <a:gd name="T10" fmla="*/ 190 w 213"/>
                <a:gd name="T11" fmla="*/ 92 h 213"/>
                <a:gd name="T12" fmla="*/ 198 w 213"/>
                <a:gd name="T13" fmla="*/ 115 h 213"/>
                <a:gd name="T14" fmla="*/ 181 w 213"/>
                <a:gd name="T15" fmla="*/ 122 h 213"/>
                <a:gd name="T16" fmla="*/ 176 w 213"/>
                <a:gd name="T17" fmla="*/ 155 h 213"/>
                <a:gd name="T18" fmla="*/ 165 w 213"/>
                <a:gd name="T19" fmla="*/ 177 h 213"/>
                <a:gd name="T20" fmla="*/ 155 w 213"/>
                <a:gd name="T21" fmla="*/ 177 h 213"/>
                <a:gd name="T22" fmla="*/ 121 w 213"/>
                <a:gd name="T23" fmla="*/ 182 h 213"/>
                <a:gd name="T24" fmla="*/ 114 w 213"/>
                <a:gd name="T25" fmla="*/ 198 h 213"/>
                <a:gd name="T26" fmla="*/ 91 w 213"/>
                <a:gd name="T27" fmla="*/ 191 h 213"/>
                <a:gd name="T28" fmla="*/ 64 w 213"/>
                <a:gd name="T29" fmla="*/ 170 h 213"/>
                <a:gd name="T30" fmla="*/ 52 w 213"/>
                <a:gd name="T31" fmla="*/ 179 h 213"/>
                <a:gd name="T32" fmla="*/ 36 w 213"/>
                <a:gd name="T33" fmla="*/ 166 h 213"/>
                <a:gd name="T34" fmla="*/ 43 w 213"/>
                <a:gd name="T35" fmla="*/ 149 h 213"/>
                <a:gd name="T36" fmla="*/ 22 w 213"/>
                <a:gd name="T37" fmla="*/ 122 h 213"/>
                <a:gd name="T38" fmla="*/ 15 w 213"/>
                <a:gd name="T39" fmla="*/ 99 h 213"/>
                <a:gd name="T40" fmla="*/ 32 w 213"/>
                <a:gd name="T41" fmla="*/ 92 h 213"/>
                <a:gd name="T42" fmla="*/ 36 w 213"/>
                <a:gd name="T43" fmla="*/ 59 h 213"/>
                <a:gd name="T44" fmla="*/ 47 w 213"/>
                <a:gd name="T45" fmla="*/ 37 h 213"/>
                <a:gd name="T46" fmla="*/ 58 w 213"/>
                <a:gd name="T47" fmla="*/ 37 h 213"/>
                <a:gd name="T48" fmla="*/ 91 w 213"/>
                <a:gd name="T49" fmla="*/ 32 h 213"/>
                <a:gd name="T50" fmla="*/ 99 w 213"/>
                <a:gd name="T51" fmla="*/ 16 h 213"/>
                <a:gd name="T52" fmla="*/ 114 w 213"/>
                <a:gd name="T53" fmla="*/ 0 h 213"/>
                <a:gd name="T54" fmla="*/ 76 w 213"/>
                <a:gd name="T55" fmla="*/ 21 h 213"/>
                <a:gd name="T56" fmla="*/ 52 w 213"/>
                <a:gd name="T57" fmla="*/ 20 h 213"/>
                <a:gd name="T58" fmla="*/ 25 w 213"/>
                <a:gd name="T59" fmla="*/ 37 h 213"/>
                <a:gd name="T60" fmla="*/ 24 w 213"/>
                <a:gd name="T61" fmla="*/ 68 h 213"/>
                <a:gd name="T62" fmla="*/ 0 w 213"/>
                <a:gd name="T63" fmla="*/ 99 h 213"/>
                <a:gd name="T64" fmla="*/ 20 w 213"/>
                <a:gd name="T65" fmla="*/ 137 h 213"/>
                <a:gd name="T66" fmla="*/ 19 w 213"/>
                <a:gd name="T67" fmla="*/ 161 h 213"/>
                <a:gd name="T68" fmla="*/ 36 w 213"/>
                <a:gd name="T69" fmla="*/ 188 h 213"/>
                <a:gd name="T70" fmla="*/ 67 w 213"/>
                <a:gd name="T71" fmla="*/ 189 h 213"/>
                <a:gd name="T72" fmla="*/ 99 w 213"/>
                <a:gd name="T73" fmla="*/ 213 h 213"/>
                <a:gd name="T74" fmla="*/ 137 w 213"/>
                <a:gd name="T75" fmla="*/ 193 h 213"/>
                <a:gd name="T76" fmla="*/ 160 w 213"/>
                <a:gd name="T77" fmla="*/ 194 h 213"/>
                <a:gd name="T78" fmla="*/ 187 w 213"/>
                <a:gd name="T79" fmla="*/ 177 h 213"/>
                <a:gd name="T80" fmla="*/ 188 w 213"/>
                <a:gd name="T81" fmla="*/ 146 h 213"/>
                <a:gd name="T82" fmla="*/ 213 w 213"/>
                <a:gd name="T83" fmla="*/ 115 h 213"/>
                <a:gd name="T84" fmla="*/ 192 w 213"/>
                <a:gd name="T85" fmla="*/ 77 h 213"/>
                <a:gd name="T86" fmla="*/ 194 w 213"/>
                <a:gd name="T87" fmla="*/ 53 h 213"/>
                <a:gd name="T88" fmla="*/ 176 w 213"/>
                <a:gd name="T89" fmla="*/ 26 h 213"/>
                <a:gd name="T90" fmla="*/ 146 w 213"/>
                <a:gd name="T91" fmla="*/ 25 h 213"/>
                <a:gd name="T92" fmla="*/ 114 w 213"/>
                <a:gd name="T93"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3" h="213">
                  <a:moveTo>
                    <a:pt x="114" y="16"/>
                  </a:moveTo>
                  <a:cubicBezTo>
                    <a:pt x="118" y="16"/>
                    <a:pt x="121" y="19"/>
                    <a:pt x="121" y="23"/>
                  </a:cubicBezTo>
                  <a:cubicBezTo>
                    <a:pt x="121" y="32"/>
                    <a:pt x="121" y="32"/>
                    <a:pt x="121" y="32"/>
                  </a:cubicBezTo>
                  <a:cubicBezTo>
                    <a:pt x="131" y="34"/>
                    <a:pt x="140" y="38"/>
                    <a:pt x="148" y="44"/>
                  </a:cubicBezTo>
                  <a:cubicBezTo>
                    <a:pt x="155" y="37"/>
                    <a:pt x="155" y="37"/>
                    <a:pt x="155" y="37"/>
                  </a:cubicBezTo>
                  <a:cubicBezTo>
                    <a:pt x="156" y="35"/>
                    <a:pt x="158" y="35"/>
                    <a:pt x="160" y="35"/>
                  </a:cubicBezTo>
                  <a:cubicBezTo>
                    <a:pt x="162" y="35"/>
                    <a:pt x="164" y="35"/>
                    <a:pt x="165" y="37"/>
                  </a:cubicBezTo>
                  <a:cubicBezTo>
                    <a:pt x="176" y="48"/>
                    <a:pt x="176" y="48"/>
                    <a:pt x="176" y="48"/>
                  </a:cubicBezTo>
                  <a:cubicBezTo>
                    <a:pt x="179" y="51"/>
                    <a:pt x="179" y="56"/>
                    <a:pt x="176" y="59"/>
                  </a:cubicBezTo>
                  <a:cubicBezTo>
                    <a:pt x="170" y="65"/>
                    <a:pt x="170" y="65"/>
                    <a:pt x="170" y="65"/>
                  </a:cubicBezTo>
                  <a:cubicBezTo>
                    <a:pt x="175" y="73"/>
                    <a:pt x="179" y="82"/>
                    <a:pt x="181" y="92"/>
                  </a:cubicBezTo>
                  <a:cubicBezTo>
                    <a:pt x="190" y="92"/>
                    <a:pt x="190" y="92"/>
                    <a:pt x="190" y="92"/>
                  </a:cubicBezTo>
                  <a:cubicBezTo>
                    <a:pt x="194" y="92"/>
                    <a:pt x="198" y="95"/>
                    <a:pt x="198" y="99"/>
                  </a:cubicBezTo>
                  <a:cubicBezTo>
                    <a:pt x="198" y="115"/>
                    <a:pt x="198" y="115"/>
                    <a:pt x="198" y="115"/>
                  </a:cubicBezTo>
                  <a:cubicBezTo>
                    <a:pt x="198" y="119"/>
                    <a:pt x="194" y="122"/>
                    <a:pt x="190" y="122"/>
                  </a:cubicBezTo>
                  <a:cubicBezTo>
                    <a:pt x="181" y="122"/>
                    <a:pt x="181" y="122"/>
                    <a:pt x="181" y="122"/>
                  </a:cubicBezTo>
                  <a:cubicBezTo>
                    <a:pt x="179" y="132"/>
                    <a:pt x="175" y="141"/>
                    <a:pt x="170" y="149"/>
                  </a:cubicBezTo>
                  <a:cubicBezTo>
                    <a:pt x="176" y="155"/>
                    <a:pt x="176" y="155"/>
                    <a:pt x="176" y="155"/>
                  </a:cubicBezTo>
                  <a:cubicBezTo>
                    <a:pt x="179" y="158"/>
                    <a:pt x="179" y="163"/>
                    <a:pt x="176" y="166"/>
                  </a:cubicBezTo>
                  <a:cubicBezTo>
                    <a:pt x="165" y="177"/>
                    <a:pt x="165" y="177"/>
                    <a:pt x="165" y="177"/>
                  </a:cubicBezTo>
                  <a:cubicBezTo>
                    <a:pt x="164" y="178"/>
                    <a:pt x="162" y="179"/>
                    <a:pt x="160" y="179"/>
                  </a:cubicBezTo>
                  <a:cubicBezTo>
                    <a:pt x="158" y="179"/>
                    <a:pt x="156" y="178"/>
                    <a:pt x="155" y="177"/>
                  </a:cubicBezTo>
                  <a:cubicBezTo>
                    <a:pt x="148" y="170"/>
                    <a:pt x="148" y="170"/>
                    <a:pt x="148" y="170"/>
                  </a:cubicBezTo>
                  <a:cubicBezTo>
                    <a:pt x="140" y="176"/>
                    <a:pt x="131" y="180"/>
                    <a:pt x="121" y="182"/>
                  </a:cubicBezTo>
                  <a:cubicBezTo>
                    <a:pt x="121" y="191"/>
                    <a:pt x="121" y="191"/>
                    <a:pt x="121" y="191"/>
                  </a:cubicBezTo>
                  <a:cubicBezTo>
                    <a:pt x="121" y="195"/>
                    <a:pt x="118" y="198"/>
                    <a:pt x="114" y="198"/>
                  </a:cubicBezTo>
                  <a:cubicBezTo>
                    <a:pt x="99" y="198"/>
                    <a:pt x="99" y="198"/>
                    <a:pt x="99" y="198"/>
                  </a:cubicBezTo>
                  <a:cubicBezTo>
                    <a:pt x="94" y="198"/>
                    <a:pt x="91" y="195"/>
                    <a:pt x="91" y="191"/>
                  </a:cubicBezTo>
                  <a:cubicBezTo>
                    <a:pt x="91" y="182"/>
                    <a:pt x="91" y="182"/>
                    <a:pt x="91" y="182"/>
                  </a:cubicBezTo>
                  <a:cubicBezTo>
                    <a:pt x="81" y="180"/>
                    <a:pt x="72" y="176"/>
                    <a:pt x="64" y="170"/>
                  </a:cubicBezTo>
                  <a:cubicBezTo>
                    <a:pt x="58" y="177"/>
                    <a:pt x="58" y="177"/>
                    <a:pt x="58" y="177"/>
                  </a:cubicBezTo>
                  <a:cubicBezTo>
                    <a:pt x="56" y="178"/>
                    <a:pt x="54" y="179"/>
                    <a:pt x="52" y="179"/>
                  </a:cubicBezTo>
                  <a:cubicBezTo>
                    <a:pt x="50" y="179"/>
                    <a:pt x="48" y="178"/>
                    <a:pt x="47" y="177"/>
                  </a:cubicBezTo>
                  <a:cubicBezTo>
                    <a:pt x="36" y="166"/>
                    <a:pt x="36" y="166"/>
                    <a:pt x="36" y="166"/>
                  </a:cubicBezTo>
                  <a:cubicBezTo>
                    <a:pt x="33" y="163"/>
                    <a:pt x="33" y="158"/>
                    <a:pt x="36" y="155"/>
                  </a:cubicBezTo>
                  <a:cubicBezTo>
                    <a:pt x="43" y="149"/>
                    <a:pt x="43" y="149"/>
                    <a:pt x="43" y="149"/>
                  </a:cubicBezTo>
                  <a:cubicBezTo>
                    <a:pt x="38" y="141"/>
                    <a:pt x="34" y="132"/>
                    <a:pt x="32" y="122"/>
                  </a:cubicBezTo>
                  <a:cubicBezTo>
                    <a:pt x="22" y="122"/>
                    <a:pt x="22" y="122"/>
                    <a:pt x="22" y="122"/>
                  </a:cubicBezTo>
                  <a:cubicBezTo>
                    <a:pt x="18" y="122"/>
                    <a:pt x="15" y="119"/>
                    <a:pt x="15" y="115"/>
                  </a:cubicBezTo>
                  <a:cubicBezTo>
                    <a:pt x="15" y="99"/>
                    <a:pt x="15" y="99"/>
                    <a:pt x="15" y="99"/>
                  </a:cubicBezTo>
                  <a:cubicBezTo>
                    <a:pt x="15" y="95"/>
                    <a:pt x="18" y="92"/>
                    <a:pt x="22" y="92"/>
                  </a:cubicBezTo>
                  <a:cubicBezTo>
                    <a:pt x="32" y="92"/>
                    <a:pt x="32" y="92"/>
                    <a:pt x="32" y="92"/>
                  </a:cubicBezTo>
                  <a:cubicBezTo>
                    <a:pt x="34" y="82"/>
                    <a:pt x="38" y="73"/>
                    <a:pt x="43" y="65"/>
                  </a:cubicBezTo>
                  <a:cubicBezTo>
                    <a:pt x="36" y="59"/>
                    <a:pt x="36" y="59"/>
                    <a:pt x="36" y="59"/>
                  </a:cubicBezTo>
                  <a:cubicBezTo>
                    <a:pt x="33" y="56"/>
                    <a:pt x="33" y="51"/>
                    <a:pt x="36" y="48"/>
                  </a:cubicBezTo>
                  <a:cubicBezTo>
                    <a:pt x="47" y="37"/>
                    <a:pt x="47" y="37"/>
                    <a:pt x="47" y="37"/>
                  </a:cubicBezTo>
                  <a:cubicBezTo>
                    <a:pt x="48" y="35"/>
                    <a:pt x="50" y="35"/>
                    <a:pt x="52" y="35"/>
                  </a:cubicBezTo>
                  <a:cubicBezTo>
                    <a:pt x="54" y="35"/>
                    <a:pt x="56" y="35"/>
                    <a:pt x="58" y="37"/>
                  </a:cubicBezTo>
                  <a:cubicBezTo>
                    <a:pt x="64" y="44"/>
                    <a:pt x="64" y="44"/>
                    <a:pt x="64" y="44"/>
                  </a:cubicBezTo>
                  <a:cubicBezTo>
                    <a:pt x="72" y="38"/>
                    <a:pt x="81" y="34"/>
                    <a:pt x="91" y="32"/>
                  </a:cubicBezTo>
                  <a:cubicBezTo>
                    <a:pt x="91" y="23"/>
                    <a:pt x="91" y="23"/>
                    <a:pt x="91" y="23"/>
                  </a:cubicBezTo>
                  <a:cubicBezTo>
                    <a:pt x="91" y="19"/>
                    <a:pt x="94" y="16"/>
                    <a:pt x="99" y="16"/>
                  </a:cubicBezTo>
                  <a:cubicBezTo>
                    <a:pt x="114" y="16"/>
                    <a:pt x="114" y="16"/>
                    <a:pt x="114" y="16"/>
                  </a:cubicBezTo>
                  <a:moveTo>
                    <a:pt x="114" y="0"/>
                  </a:moveTo>
                  <a:cubicBezTo>
                    <a:pt x="99" y="0"/>
                    <a:pt x="99" y="0"/>
                    <a:pt x="99" y="0"/>
                  </a:cubicBezTo>
                  <a:cubicBezTo>
                    <a:pt x="87" y="0"/>
                    <a:pt x="77" y="9"/>
                    <a:pt x="76" y="21"/>
                  </a:cubicBezTo>
                  <a:cubicBezTo>
                    <a:pt x="73" y="22"/>
                    <a:pt x="70" y="23"/>
                    <a:pt x="67" y="25"/>
                  </a:cubicBezTo>
                  <a:cubicBezTo>
                    <a:pt x="63" y="21"/>
                    <a:pt x="58" y="20"/>
                    <a:pt x="52" y="20"/>
                  </a:cubicBezTo>
                  <a:cubicBezTo>
                    <a:pt x="46" y="20"/>
                    <a:pt x="41" y="22"/>
                    <a:pt x="36" y="26"/>
                  </a:cubicBezTo>
                  <a:cubicBezTo>
                    <a:pt x="25" y="37"/>
                    <a:pt x="25" y="37"/>
                    <a:pt x="25" y="37"/>
                  </a:cubicBezTo>
                  <a:cubicBezTo>
                    <a:pt x="21" y="41"/>
                    <a:pt x="19" y="47"/>
                    <a:pt x="19" y="53"/>
                  </a:cubicBezTo>
                  <a:cubicBezTo>
                    <a:pt x="19" y="58"/>
                    <a:pt x="21" y="64"/>
                    <a:pt x="24" y="68"/>
                  </a:cubicBezTo>
                  <a:cubicBezTo>
                    <a:pt x="23" y="71"/>
                    <a:pt x="21" y="74"/>
                    <a:pt x="20" y="77"/>
                  </a:cubicBezTo>
                  <a:cubicBezTo>
                    <a:pt x="9" y="78"/>
                    <a:pt x="0" y="88"/>
                    <a:pt x="0" y="99"/>
                  </a:cubicBezTo>
                  <a:cubicBezTo>
                    <a:pt x="0" y="115"/>
                    <a:pt x="0" y="115"/>
                    <a:pt x="0" y="115"/>
                  </a:cubicBezTo>
                  <a:cubicBezTo>
                    <a:pt x="0" y="126"/>
                    <a:pt x="9" y="136"/>
                    <a:pt x="20" y="137"/>
                  </a:cubicBezTo>
                  <a:cubicBezTo>
                    <a:pt x="21" y="140"/>
                    <a:pt x="23" y="143"/>
                    <a:pt x="24" y="146"/>
                  </a:cubicBezTo>
                  <a:cubicBezTo>
                    <a:pt x="21" y="150"/>
                    <a:pt x="19" y="155"/>
                    <a:pt x="19" y="161"/>
                  </a:cubicBezTo>
                  <a:cubicBezTo>
                    <a:pt x="19" y="167"/>
                    <a:pt x="21" y="173"/>
                    <a:pt x="25" y="177"/>
                  </a:cubicBezTo>
                  <a:cubicBezTo>
                    <a:pt x="36" y="188"/>
                    <a:pt x="36" y="188"/>
                    <a:pt x="36" y="188"/>
                  </a:cubicBezTo>
                  <a:cubicBezTo>
                    <a:pt x="41" y="192"/>
                    <a:pt x="46" y="194"/>
                    <a:pt x="52" y="194"/>
                  </a:cubicBezTo>
                  <a:cubicBezTo>
                    <a:pt x="58" y="194"/>
                    <a:pt x="63" y="193"/>
                    <a:pt x="67" y="189"/>
                  </a:cubicBezTo>
                  <a:cubicBezTo>
                    <a:pt x="70" y="191"/>
                    <a:pt x="73" y="192"/>
                    <a:pt x="76" y="193"/>
                  </a:cubicBezTo>
                  <a:cubicBezTo>
                    <a:pt x="77" y="205"/>
                    <a:pt x="87" y="213"/>
                    <a:pt x="99" y="213"/>
                  </a:cubicBezTo>
                  <a:cubicBezTo>
                    <a:pt x="114" y="213"/>
                    <a:pt x="114" y="213"/>
                    <a:pt x="114" y="213"/>
                  </a:cubicBezTo>
                  <a:cubicBezTo>
                    <a:pt x="126" y="213"/>
                    <a:pt x="135" y="205"/>
                    <a:pt x="137" y="193"/>
                  </a:cubicBezTo>
                  <a:cubicBezTo>
                    <a:pt x="140" y="192"/>
                    <a:pt x="143" y="191"/>
                    <a:pt x="146" y="189"/>
                  </a:cubicBezTo>
                  <a:cubicBezTo>
                    <a:pt x="150" y="193"/>
                    <a:pt x="155" y="194"/>
                    <a:pt x="160" y="194"/>
                  </a:cubicBezTo>
                  <a:cubicBezTo>
                    <a:pt x="166" y="194"/>
                    <a:pt x="172" y="192"/>
                    <a:pt x="176" y="188"/>
                  </a:cubicBezTo>
                  <a:cubicBezTo>
                    <a:pt x="187" y="177"/>
                    <a:pt x="187" y="177"/>
                    <a:pt x="187" y="177"/>
                  </a:cubicBezTo>
                  <a:cubicBezTo>
                    <a:pt x="191" y="173"/>
                    <a:pt x="194" y="167"/>
                    <a:pt x="194" y="161"/>
                  </a:cubicBezTo>
                  <a:cubicBezTo>
                    <a:pt x="194" y="155"/>
                    <a:pt x="192" y="150"/>
                    <a:pt x="188" y="146"/>
                  </a:cubicBezTo>
                  <a:cubicBezTo>
                    <a:pt x="190" y="143"/>
                    <a:pt x="191" y="140"/>
                    <a:pt x="192" y="137"/>
                  </a:cubicBezTo>
                  <a:cubicBezTo>
                    <a:pt x="204" y="136"/>
                    <a:pt x="213" y="126"/>
                    <a:pt x="213" y="115"/>
                  </a:cubicBezTo>
                  <a:cubicBezTo>
                    <a:pt x="213" y="99"/>
                    <a:pt x="213" y="99"/>
                    <a:pt x="213" y="99"/>
                  </a:cubicBezTo>
                  <a:cubicBezTo>
                    <a:pt x="213" y="88"/>
                    <a:pt x="204" y="78"/>
                    <a:pt x="192" y="77"/>
                  </a:cubicBezTo>
                  <a:cubicBezTo>
                    <a:pt x="191" y="74"/>
                    <a:pt x="190" y="71"/>
                    <a:pt x="188" y="68"/>
                  </a:cubicBezTo>
                  <a:cubicBezTo>
                    <a:pt x="192" y="64"/>
                    <a:pt x="194" y="58"/>
                    <a:pt x="194" y="53"/>
                  </a:cubicBezTo>
                  <a:cubicBezTo>
                    <a:pt x="194" y="47"/>
                    <a:pt x="191" y="41"/>
                    <a:pt x="187" y="37"/>
                  </a:cubicBezTo>
                  <a:cubicBezTo>
                    <a:pt x="176" y="26"/>
                    <a:pt x="176" y="26"/>
                    <a:pt x="176" y="26"/>
                  </a:cubicBezTo>
                  <a:cubicBezTo>
                    <a:pt x="172" y="22"/>
                    <a:pt x="166" y="20"/>
                    <a:pt x="160" y="20"/>
                  </a:cubicBezTo>
                  <a:cubicBezTo>
                    <a:pt x="155" y="20"/>
                    <a:pt x="150" y="21"/>
                    <a:pt x="146" y="25"/>
                  </a:cubicBezTo>
                  <a:cubicBezTo>
                    <a:pt x="143" y="23"/>
                    <a:pt x="140" y="22"/>
                    <a:pt x="137" y="21"/>
                  </a:cubicBezTo>
                  <a:cubicBezTo>
                    <a:pt x="135" y="9"/>
                    <a:pt x="126" y="0"/>
                    <a:pt x="1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solidFill>
                  <a:schemeClr val="bg1">
                    <a:lumMod val="50000"/>
                  </a:schemeClr>
                </a:solidFill>
              </a:endParaRPr>
            </a:p>
          </p:txBody>
        </p:sp>
        <p:sp>
          <p:nvSpPr>
            <p:cNvPr id="89" name="Freeform 10"/>
            <p:cNvSpPr>
              <a:spLocks noEditPoints="1"/>
            </p:cNvSpPr>
            <p:nvPr/>
          </p:nvSpPr>
          <p:spPr bwMode="auto">
            <a:xfrm>
              <a:off x="8467726" y="5132388"/>
              <a:ext cx="87313" cy="85725"/>
            </a:xfrm>
            <a:custGeom>
              <a:avLst/>
              <a:gdLst>
                <a:gd name="T0" fmla="*/ 49 w 99"/>
                <a:gd name="T1" fmla="*/ 99 h 99"/>
                <a:gd name="T2" fmla="*/ 0 w 99"/>
                <a:gd name="T3" fmla="*/ 50 h 99"/>
                <a:gd name="T4" fmla="*/ 49 w 99"/>
                <a:gd name="T5" fmla="*/ 0 h 99"/>
                <a:gd name="T6" fmla="*/ 99 w 99"/>
                <a:gd name="T7" fmla="*/ 50 h 99"/>
                <a:gd name="T8" fmla="*/ 49 w 99"/>
                <a:gd name="T9" fmla="*/ 99 h 99"/>
                <a:gd name="T10" fmla="*/ 49 w 99"/>
                <a:gd name="T11" fmla="*/ 8 h 99"/>
                <a:gd name="T12" fmla="*/ 7 w 99"/>
                <a:gd name="T13" fmla="*/ 50 h 99"/>
                <a:gd name="T14" fmla="*/ 49 w 99"/>
                <a:gd name="T15" fmla="*/ 92 h 99"/>
                <a:gd name="T16" fmla="*/ 91 w 99"/>
                <a:gd name="T17" fmla="*/ 50 h 99"/>
                <a:gd name="T18" fmla="*/ 49 w 99"/>
                <a:gd name="T19" fmla="*/ 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99">
                  <a:moveTo>
                    <a:pt x="49" y="99"/>
                  </a:moveTo>
                  <a:cubicBezTo>
                    <a:pt x="22" y="99"/>
                    <a:pt x="0" y="77"/>
                    <a:pt x="0" y="50"/>
                  </a:cubicBezTo>
                  <a:cubicBezTo>
                    <a:pt x="0" y="23"/>
                    <a:pt x="22" y="0"/>
                    <a:pt x="49" y="0"/>
                  </a:cubicBezTo>
                  <a:cubicBezTo>
                    <a:pt x="76" y="0"/>
                    <a:pt x="99" y="23"/>
                    <a:pt x="99" y="50"/>
                  </a:cubicBezTo>
                  <a:cubicBezTo>
                    <a:pt x="99" y="77"/>
                    <a:pt x="76" y="99"/>
                    <a:pt x="49" y="99"/>
                  </a:cubicBezTo>
                  <a:close/>
                  <a:moveTo>
                    <a:pt x="49" y="8"/>
                  </a:moveTo>
                  <a:cubicBezTo>
                    <a:pt x="26" y="8"/>
                    <a:pt x="7" y="27"/>
                    <a:pt x="7" y="50"/>
                  </a:cubicBezTo>
                  <a:cubicBezTo>
                    <a:pt x="7" y="73"/>
                    <a:pt x="26" y="92"/>
                    <a:pt x="49" y="92"/>
                  </a:cubicBezTo>
                  <a:cubicBezTo>
                    <a:pt x="72" y="92"/>
                    <a:pt x="91" y="73"/>
                    <a:pt x="91" y="50"/>
                  </a:cubicBezTo>
                  <a:cubicBezTo>
                    <a:pt x="91" y="27"/>
                    <a:pt x="72" y="8"/>
                    <a:pt x="4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solidFill>
                  <a:schemeClr val="bg1">
                    <a:lumMod val="50000"/>
                  </a:schemeClr>
                </a:solidFill>
              </a:endParaRPr>
            </a:p>
          </p:txBody>
        </p:sp>
        <p:sp>
          <p:nvSpPr>
            <p:cNvPr id="90" name="Freeform 11"/>
            <p:cNvSpPr>
              <a:spLocks noEditPoints="1"/>
            </p:cNvSpPr>
            <p:nvPr/>
          </p:nvSpPr>
          <p:spPr bwMode="auto">
            <a:xfrm>
              <a:off x="8488363" y="5151438"/>
              <a:ext cx="46038" cy="47625"/>
            </a:xfrm>
            <a:custGeom>
              <a:avLst/>
              <a:gdLst>
                <a:gd name="T0" fmla="*/ 26 w 53"/>
                <a:gd name="T1" fmla="*/ 54 h 54"/>
                <a:gd name="T2" fmla="*/ 0 w 53"/>
                <a:gd name="T3" fmla="*/ 27 h 54"/>
                <a:gd name="T4" fmla="*/ 26 w 53"/>
                <a:gd name="T5" fmla="*/ 0 h 54"/>
                <a:gd name="T6" fmla="*/ 53 w 53"/>
                <a:gd name="T7" fmla="*/ 27 h 54"/>
                <a:gd name="T8" fmla="*/ 26 w 53"/>
                <a:gd name="T9" fmla="*/ 54 h 54"/>
                <a:gd name="T10" fmla="*/ 26 w 53"/>
                <a:gd name="T11" fmla="*/ 8 h 54"/>
                <a:gd name="T12" fmla="*/ 7 w 53"/>
                <a:gd name="T13" fmla="*/ 27 h 54"/>
                <a:gd name="T14" fmla="*/ 26 w 53"/>
                <a:gd name="T15" fmla="*/ 46 h 54"/>
                <a:gd name="T16" fmla="*/ 45 w 53"/>
                <a:gd name="T17" fmla="*/ 27 h 54"/>
                <a:gd name="T18" fmla="*/ 26 w 53"/>
                <a:gd name="T19" fmla="*/ 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 h="54">
                  <a:moveTo>
                    <a:pt x="26" y="54"/>
                  </a:moveTo>
                  <a:cubicBezTo>
                    <a:pt x="12" y="54"/>
                    <a:pt x="0" y="42"/>
                    <a:pt x="0" y="27"/>
                  </a:cubicBezTo>
                  <a:cubicBezTo>
                    <a:pt x="0" y="12"/>
                    <a:pt x="12" y="0"/>
                    <a:pt x="26" y="0"/>
                  </a:cubicBezTo>
                  <a:cubicBezTo>
                    <a:pt x="41" y="0"/>
                    <a:pt x="53" y="12"/>
                    <a:pt x="53" y="27"/>
                  </a:cubicBezTo>
                  <a:cubicBezTo>
                    <a:pt x="53" y="42"/>
                    <a:pt x="41" y="54"/>
                    <a:pt x="26" y="54"/>
                  </a:cubicBezTo>
                  <a:close/>
                  <a:moveTo>
                    <a:pt x="26" y="8"/>
                  </a:moveTo>
                  <a:cubicBezTo>
                    <a:pt x="16" y="8"/>
                    <a:pt x="7" y="16"/>
                    <a:pt x="7" y="27"/>
                  </a:cubicBezTo>
                  <a:cubicBezTo>
                    <a:pt x="7" y="37"/>
                    <a:pt x="16" y="46"/>
                    <a:pt x="26" y="46"/>
                  </a:cubicBezTo>
                  <a:cubicBezTo>
                    <a:pt x="37" y="46"/>
                    <a:pt x="45" y="37"/>
                    <a:pt x="45" y="27"/>
                  </a:cubicBezTo>
                  <a:cubicBezTo>
                    <a:pt x="45" y="16"/>
                    <a:pt x="37" y="8"/>
                    <a:pt x="2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solidFill>
                  <a:schemeClr val="bg1">
                    <a:lumMod val="50000"/>
                  </a:schemeClr>
                </a:solidFill>
              </a:endParaRPr>
            </a:p>
          </p:txBody>
        </p:sp>
      </p:grpSp>
      <p:sp>
        <p:nvSpPr>
          <p:cNvPr id="91" name="Freeform 18"/>
          <p:cNvSpPr>
            <a:spLocks noEditPoints="1"/>
          </p:cNvSpPr>
          <p:nvPr/>
        </p:nvSpPr>
        <p:spPr bwMode="auto">
          <a:xfrm>
            <a:off x="7462707" y="5362409"/>
            <a:ext cx="396983" cy="340032"/>
          </a:xfrm>
          <a:custGeom>
            <a:avLst/>
            <a:gdLst>
              <a:gd name="T0" fmla="*/ 699 w 750"/>
              <a:gd name="T1" fmla="*/ 563 h 643"/>
              <a:gd name="T2" fmla="*/ 675 w 750"/>
              <a:gd name="T3" fmla="*/ 595 h 643"/>
              <a:gd name="T4" fmla="*/ 669 w 750"/>
              <a:gd name="T5" fmla="*/ 584 h 643"/>
              <a:gd name="T6" fmla="*/ 633 w 750"/>
              <a:gd name="T7" fmla="*/ 532 h 643"/>
              <a:gd name="T8" fmla="*/ 640 w 750"/>
              <a:gd name="T9" fmla="*/ 520 h 643"/>
              <a:gd name="T10" fmla="*/ 736 w 750"/>
              <a:gd name="T11" fmla="*/ 382 h 643"/>
              <a:gd name="T12" fmla="*/ 670 w 750"/>
              <a:gd name="T13" fmla="*/ 375 h 643"/>
              <a:gd name="T14" fmla="*/ 736 w 750"/>
              <a:gd name="T15" fmla="*/ 368 h 643"/>
              <a:gd name="T16" fmla="*/ 640 w 750"/>
              <a:gd name="T17" fmla="*/ 230 h 643"/>
              <a:gd name="T18" fmla="*/ 631 w 750"/>
              <a:gd name="T19" fmla="*/ 228 h 643"/>
              <a:gd name="T20" fmla="*/ 684 w 750"/>
              <a:gd name="T21" fmla="*/ 189 h 643"/>
              <a:gd name="T22" fmla="*/ 532 w 750"/>
              <a:gd name="T23" fmla="*/ 117 h 643"/>
              <a:gd name="T24" fmla="*/ 523 w 750"/>
              <a:gd name="T25" fmla="*/ 119 h 643"/>
              <a:gd name="T26" fmla="*/ 549 w 750"/>
              <a:gd name="T27" fmla="*/ 59 h 643"/>
              <a:gd name="T28" fmla="*/ 382 w 750"/>
              <a:gd name="T29" fmla="*/ 73 h 643"/>
              <a:gd name="T30" fmla="*/ 368 w 750"/>
              <a:gd name="T31" fmla="*/ 73 h 643"/>
              <a:gd name="T32" fmla="*/ 201 w 750"/>
              <a:gd name="T33" fmla="*/ 59 h 643"/>
              <a:gd name="T34" fmla="*/ 227 w 750"/>
              <a:gd name="T35" fmla="*/ 119 h 643"/>
              <a:gd name="T36" fmla="*/ 218 w 750"/>
              <a:gd name="T37" fmla="*/ 117 h 643"/>
              <a:gd name="T38" fmla="*/ 66 w 750"/>
              <a:gd name="T39" fmla="*/ 189 h 643"/>
              <a:gd name="T40" fmla="*/ 119 w 750"/>
              <a:gd name="T41" fmla="*/ 228 h 643"/>
              <a:gd name="T42" fmla="*/ 110 w 750"/>
              <a:gd name="T43" fmla="*/ 230 h 643"/>
              <a:gd name="T44" fmla="*/ 14 w 750"/>
              <a:gd name="T45" fmla="*/ 368 h 643"/>
              <a:gd name="T46" fmla="*/ 80 w 750"/>
              <a:gd name="T47" fmla="*/ 375 h 643"/>
              <a:gd name="T48" fmla="*/ 14 w 750"/>
              <a:gd name="T49" fmla="*/ 382 h 643"/>
              <a:gd name="T50" fmla="*/ 110 w 750"/>
              <a:gd name="T51" fmla="*/ 520 h 643"/>
              <a:gd name="T52" fmla="*/ 117 w 750"/>
              <a:gd name="T53" fmla="*/ 532 h 643"/>
              <a:gd name="T54" fmla="*/ 81 w 750"/>
              <a:gd name="T55" fmla="*/ 584 h 643"/>
              <a:gd name="T56" fmla="*/ 69 w 750"/>
              <a:gd name="T57" fmla="*/ 592 h 643"/>
              <a:gd name="T58" fmla="*/ 50 w 750"/>
              <a:gd name="T59" fmla="*/ 563 h 643"/>
              <a:gd name="T60" fmla="*/ 0 w 750"/>
              <a:gd name="T61" fmla="*/ 375 h 643"/>
              <a:gd name="T62" fmla="*/ 50 w 750"/>
              <a:gd name="T63" fmla="*/ 188 h 643"/>
              <a:gd name="T64" fmla="*/ 186 w 750"/>
              <a:gd name="T65" fmla="*/ 51 h 643"/>
              <a:gd name="T66" fmla="*/ 189 w 750"/>
              <a:gd name="T67" fmla="*/ 50 h 643"/>
              <a:gd name="T68" fmla="*/ 561 w 750"/>
              <a:gd name="T69" fmla="*/ 50 h 643"/>
              <a:gd name="T70" fmla="*/ 564 w 750"/>
              <a:gd name="T71" fmla="*/ 51 h 643"/>
              <a:gd name="T72" fmla="*/ 700 w 750"/>
              <a:gd name="T73" fmla="*/ 188 h 643"/>
              <a:gd name="T74" fmla="*/ 750 w 750"/>
              <a:gd name="T75" fmla="*/ 375 h 643"/>
              <a:gd name="T76" fmla="*/ 700 w 750"/>
              <a:gd name="T77" fmla="*/ 563 h 643"/>
              <a:gd name="T78" fmla="*/ 533 w 750"/>
              <a:gd name="T79" fmla="*/ 636 h 643"/>
              <a:gd name="T80" fmla="*/ 224 w 750"/>
              <a:gd name="T81" fmla="*/ 643 h 643"/>
              <a:gd name="T82" fmla="*/ 217 w 750"/>
              <a:gd name="T83" fmla="*/ 560 h 643"/>
              <a:gd name="T84" fmla="*/ 526 w 750"/>
              <a:gd name="T85" fmla="*/ 553 h 643"/>
              <a:gd name="T86" fmla="*/ 519 w 750"/>
              <a:gd name="T87" fmla="*/ 567 h 643"/>
              <a:gd name="T88" fmla="*/ 231 w 750"/>
              <a:gd name="T89" fmla="*/ 629 h 643"/>
              <a:gd name="T90" fmla="*/ 519 w 750"/>
              <a:gd name="T91" fmla="*/ 567 h 643"/>
              <a:gd name="T92" fmla="*/ 577 w 750"/>
              <a:gd name="T93" fmla="*/ 267 h 643"/>
              <a:gd name="T94" fmla="*/ 449 w 750"/>
              <a:gd name="T95" fmla="*/ 375 h 643"/>
              <a:gd name="T96" fmla="*/ 301 w 750"/>
              <a:gd name="T97" fmla="*/ 375 h 643"/>
              <a:gd name="T98" fmla="*/ 435 w 750"/>
              <a:gd name="T99" fmla="*/ 332 h 643"/>
              <a:gd name="T100" fmla="*/ 579 w 750"/>
              <a:gd name="T101" fmla="*/ 257 h 643"/>
              <a:gd name="T102" fmla="*/ 375 w 750"/>
              <a:gd name="T103" fmla="*/ 315 h 643"/>
              <a:gd name="T104" fmla="*/ 375 w 750"/>
              <a:gd name="T105" fmla="*/ 435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50" h="643">
                <a:moveTo>
                  <a:pt x="700" y="563"/>
                </a:moveTo>
                <a:cubicBezTo>
                  <a:pt x="699" y="563"/>
                  <a:pt x="699" y="563"/>
                  <a:pt x="699" y="563"/>
                </a:cubicBezTo>
                <a:cubicBezTo>
                  <a:pt x="693" y="573"/>
                  <a:pt x="687" y="583"/>
                  <a:pt x="680" y="592"/>
                </a:cubicBezTo>
                <a:cubicBezTo>
                  <a:pt x="679" y="594"/>
                  <a:pt x="677" y="595"/>
                  <a:pt x="675" y="595"/>
                </a:cubicBezTo>
                <a:cubicBezTo>
                  <a:pt x="673" y="595"/>
                  <a:pt x="672" y="595"/>
                  <a:pt x="671" y="594"/>
                </a:cubicBezTo>
                <a:cubicBezTo>
                  <a:pt x="667" y="592"/>
                  <a:pt x="667" y="587"/>
                  <a:pt x="669" y="584"/>
                </a:cubicBezTo>
                <a:cubicBezTo>
                  <a:pt x="674" y="577"/>
                  <a:pt x="679" y="569"/>
                  <a:pt x="684" y="562"/>
                </a:cubicBezTo>
                <a:cubicBezTo>
                  <a:pt x="633" y="532"/>
                  <a:pt x="633" y="532"/>
                  <a:pt x="633" y="532"/>
                </a:cubicBezTo>
                <a:cubicBezTo>
                  <a:pt x="630" y="530"/>
                  <a:pt x="629" y="526"/>
                  <a:pt x="631" y="523"/>
                </a:cubicBezTo>
                <a:cubicBezTo>
                  <a:pt x="633" y="520"/>
                  <a:pt x="637" y="518"/>
                  <a:pt x="640" y="520"/>
                </a:cubicBezTo>
                <a:cubicBezTo>
                  <a:pt x="691" y="550"/>
                  <a:pt x="691" y="550"/>
                  <a:pt x="691" y="550"/>
                </a:cubicBezTo>
                <a:cubicBezTo>
                  <a:pt x="719" y="498"/>
                  <a:pt x="734" y="441"/>
                  <a:pt x="736" y="382"/>
                </a:cubicBezTo>
                <a:cubicBezTo>
                  <a:pt x="677" y="382"/>
                  <a:pt x="677" y="382"/>
                  <a:pt x="677" y="382"/>
                </a:cubicBezTo>
                <a:cubicBezTo>
                  <a:pt x="673" y="382"/>
                  <a:pt x="670" y="379"/>
                  <a:pt x="670" y="375"/>
                </a:cubicBezTo>
                <a:cubicBezTo>
                  <a:pt x="670" y="371"/>
                  <a:pt x="673" y="368"/>
                  <a:pt x="677" y="368"/>
                </a:cubicBezTo>
                <a:cubicBezTo>
                  <a:pt x="736" y="368"/>
                  <a:pt x="736" y="368"/>
                  <a:pt x="736" y="368"/>
                </a:cubicBezTo>
                <a:cubicBezTo>
                  <a:pt x="735" y="308"/>
                  <a:pt x="718" y="251"/>
                  <a:pt x="691" y="201"/>
                </a:cubicBezTo>
                <a:cubicBezTo>
                  <a:pt x="640" y="230"/>
                  <a:pt x="640" y="230"/>
                  <a:pt x="640" y="230"/>
                </a:cubicBezTo>
                <a:cubicBezTo>
                  <a:pt x="639" y="231"/>
                  <a:pt x="638" y="231"/>
                  <a:pt x="637" y="231"/>
                </a:cubicBezTo>
                <a:cubicBezTo>
                  <a:pt x="634" y="231"/>
                  <a:pt x="632" y="230"/>
                  <a:pt x="631" y="228"/>
                </a:cubicBezTo>
                <a:cubicBezTo>
                  <a:pt x="629" y="224"/>
                  <a:pt x="630" y="220"/>
                  <a:pt x="633" y="218"/>
                </a:cubicBezTo>
                <a:cubicBezTo>
                  <a:pt x="684" y="189"/>
                  <a:pt x="684" y="189"/>
                  <a:pt x="684" y="189"/>
                </a:cubicBezTo>
                <a:cubicBezTo>
                  <a:pt x="653" y="139"/>
                  <a:pt x="611" y="97"/>
                  <a:pt x="561" y="66"/>
                </a:cubicBezTo>
                <a:cubicBezTo>
                  <a:pt x="532" y="117"/>
                  <a:pt x="532" y="117"/>
                  <a:pt x="532" y="117"/>
                </a:cubicBezTo>
                <a:cubicBezTo>
                  <a:pt x="531" y="119"/>
                  <a:pt x="528" y="120"/>
                  <a:pt x="526" y="120"/>
                </a:cubicBezTo>
                <a:cubicBezTo>
                  <a:pt x="525" y="120"/>
                  <a:pt x="524" y="120"/>
                  <a:pt x="523" y="119"/>
                </a:cubicBezTo>
                <a:cubicBezTo>
                  <a:pt x="519" y="118"/>
                  <a:pt x="518" y="113"/>
                  <a:pt x="520" y="110"/>
                </a:cubicBezTo>
                <a:cubicBezTo>
                  <a:pt x="549" y="59"/>
                  <a:pt x="549" y="59"/>
                  <a:pt x="549" y="59"/>
                </a:cubicBezTo>
                <a:cubicBezTo>
                  <a:pt x="499" y="32"/>
                  <a:pt x="442" y="16"/>
                  <a:pt x="382" y="14"/>
                </a:cubicBezTo>
                <a:cubicBezTo>
                  <a:pt x="382" y="73"/>
                  <a:pt x="382" y="73"/>
                  <a:pt x="382" y="73"/>
                </a:cubicBezTo>
                <a:cubicBezTo>
                  <a:pt x="382" y="77"/>
                  <a:pt x="379" y="80"/>
                  <a:pt x="375" y="80"/>
                </a:cubicBezTo>
                <a:cubicBezTo>
                  <a:pt x="371" y="80"/>
                  <a:pt x="368" y="77"/>
                  <a:pt x="368" y="73"/>
                </a:cubicBezTo>
                <a:cubicBezTo>
                  <a:pt x="368" y="14"/>
                  <a:pt x="368" y="14"/>
                  <a:pt x="368" y="14"/>
                </a:cubicBezTo>
                <a:cubicBezTo>
                  <a:pt x="307" y="16"/>
                  <a:pt x="250" y="32"/>
                  <a:pt x="201" y="59"/>
                </a:cubicBezTo>
                <a:cubicBezTo>
                  <a:pt x="230" y="110"/>
                  <a:pt x="230" y="110"/>
                  <a:pt x="230" y="110"/>
                </a:cubicBezTo>
                <a:cubicBezTo>
                  <a:pt x="232" y="113"/>
                  <a:pt x="231" y="118"/>
                  <a:pt x="227" y="119"/>
                </a:cubicBezTo>
                <a:cubicBezTo>
                  <a:pt x="226" y="120"/>
                  <a:pt x="225" y="120"/>
                  <a:pt x="224" y="120"/>
                </a:cubicBezTo>
                <a:cubicBezTo>
                  <a:pt x="221" y="120"/>
                  <a:pt x="219" y="119"/>
                  <a:pt x="218" y="117"/>
                </a:cubicBezTo>
                <a:cubicBezTo>
                  <a:pt x="189" y="66"/>
                  <a:pt x="189" y="66"/>
                  <a:pt x="189" y="66"/>
                </a:cubicBezTo>
                <a:cubicBezTo>
                  <a:pt x="139" y="97"/>
                  <a:pt x="96" y="139"/>
                  <a:pt x="66" y="189"/>
                </a:cubicBezTo>
                <a:cubicBezTo>
                  <a:pt x="117" y="218"/>
                  <a:pt x="117" y="218"/>
                  <a:pt x="117" y="218"/>
                </a:cubicBezTo>
                <a:cubicBezTo>
                  <a:pt x="120" y="220"/>
                  <a:pt x="121" y="224"/>
                  <a:pt x="119" y="228"/>
                </a:cubicBezTo>
                <a:cubicBezTo>
                  <a:pt x="118" y="230"/>
                  <a:pt x="116" y="231"/>
                  <a:pt x="113" y="231"/>
                </a:cubicBezTo>
                <a:cubicBezTo>
                  <a:pt x="112" y="231"/>
                  <a:pt x="111" y="231"/>
                  <a:pt x="110" y="230"/>
                </a:cubicBezTo>
                <a:cubicBezTo>
                  <a:pt x="59" y="201"/>
                  <a:pt x="59" y="201"/>
                  <a:pt x="59" y="201"/>
                </a:cubicBezTo>
                <a:cubicBezTo>
                  <a:pt x="32" y="251"/>
                  <a:pt x="15" y="308"/>
                  <a:pt x="14" y="368"/>
                </a:cubicBezTo>
                <a:cubicBezTo>
                  <a:pt x="73" y="368"/>
                  <a:pt x="73" y="368"/>
                  <a:pt x="73" y="368"/>
                </a:cubicBezTo>
                <a:cubicBezTo>
                  <a:pt x="76" y="368"/>
                  <a:pt x="80" y="371"/>
                  <a:pt x="80" y="375"/>
                </a:cubicBezTo>
                <a:cubicBezTo>
                  <a:pt x="80" y="379"/>
                  <a:pt x="76" y="382"/>
                  <a:pt x="73" y="382"/>
                </a:cubicBezTo>
                <a:cubicBezTo>
                  <a:pt x="14" y="382"/>
                  <a:pt x="14" y="382"/>
                  <a:pt x="14" y="382"/>
                </a:cubicBezTo>
                <a:cubicBezTo>
                  <a:pt x="15" y="441"/>
                  <a:pt x="31" y="498"/>
                  <a:pt x="59" y="550"/>
                </a:cubicBezTo>
                <a:cubicBezTo>
                  <a:pt x="110" y="520"/>
                  <a:pt x="110" y="520"/>
                  <a:pt x="110" y="520"/>
                </a:cubicBezTo>
                <a:cubicBezTo>
                  <a:pt x="113" y="518"/>
                  <a:pt x="117" y="520"/>
                  <a:pt x="119" y="523"/>
                </a:cubicBezTo>
                <a:cubicBezTo>
                  <a:pt x="121" y="526"/>
                  <a:pt x="120" y="530"/>
                  <a:pt x="117" y="532"/>
                </a:cubicBezTo>
                <a:cubicBezTo>
                  <a:pt x="66" y="562"/>
                  <a:pt x="66" y="562"/>
                  <a:pt x="66" y="562"/>
                </a:cubicBezTo>
                <a:cubicBezTo>
                  <a:pt x="71" y="569"/>
                  <a:pt x="76" y="577"/>
                  <a:pt x="81" y="584"/>
                </a:cubicBezTo>
                <a:cubicBezTo>
                  <a:pt x="83" y="587"/>
                  <a:pt x="82" y="592"/>
                  <a:pt x="79" y="594"/>
                </a:cubicBezTo>
                <a:cubicBezTo>
                  <a:pt x="76" y="596"/>
                  <a:pt x="72" y="595"/>
                  <a:pt x="69" y="592"/>
                </a:cubicBezTo>
                <a:cubicBezTo>
                  <a:pt x="63" y="583"/>
                  <a:pt x="56" y="573"/>
                  <a:pt x="51" y="563"/>
                </a:cubicBezTo>
                <a:cubicBezTo>
                  <a:pt x="51" y="563"/>
                  <a:pt x="50" y="563"/>
                  <a:pt x="50" y="563"/>
                </a:cubicBezTo>
                <a:cubicBezTo>
                  <a:pt x="50" y="562"/>
                  <a:pt x="50" y="562"/>
                  <a:pt x="50" y="562"/>
                </a:cubicBezTo>
                <a:cubicBezTo>
                  <a:pt x="17" y="505"/>
                  <a:pt x="0" y="441"/>
                  <a:pt x="0" y="375"/>
                </a:cubicBezTo>
                <a:cubicBezTo>
                  <a:pt x="0" y="307"/>
                  <a:pt x="18" y="244"/>
                  <a:pt x="50" y="189"/>
                </a:cubicBezTo>
                <a:cubicBezTo>
                  <a:pt x="50" y="189"/>
                  <a:pt x="50" y="188"/>
                  <a:pt x="50" y="188"/>
                </a:cubicBezTo>
                <a:cubicBezTo>
                  <a:pt x="51" y="187"/>
                  <a:pt x="51" y="187"/>
                  <a:pt x="51" y="187"/>
                </a:cubicBezTo>
                <a:cubicBezTo>
                  <a:pt x="84" y="131"/>
                  <a:pt x="130" y="84"/>
                  <a:pt x="186" y="51"/>
                </a:cubicBezTo>
                <a:cubicBezTo>
                  <a:pt x="187" y="51"/>
                  <a:pt x="187" y="51"/>
                  <a:pt x="187" y="51"/>
                </a:cubicBezTo>
                <a:cubicBezTo>
                  <a:pt x="188" y="50"/>
                  <a:pt x="188" y="50"/>
                  <a:pt x="189" y="50"/>
                </a:cubicBezTo>
                <a:cubicBezTo>
                  <a:pt x="244" y="18"/>
                  <a:pt x="307" y="0"/>
                  <a:pt x="375" y="0"/>
                </a:cubicBezTo>
                <a:cubicBezTo>
                  <a:pt x="443" y="0"/>
                  <a:pt x="506" y="18"/>
                  <a:pt x="561" y="50"/>
                </a:cubicBezTo>
                <a:cubicBezTo>
                  <a:pt x="562" y="50"/>
                  <a:pt x="562" y="50"/>
                  <a:pt x="562" y="51"/>
                </a:cubicBezTo>
                <a:cubicBezTo>
                  <a:pt x="563" y="51"/>
                  <a:pt x="563" y="51"/>
                  <a:pt x="564" y="51"/>
                </a:cubicBezTo>
                <a:cubicBezTo>
                  <a:pt x="619" y="84"/>
                  <a:pt x="666" y="131"/>
                  <a:pt x="699" y="187"/>
                </a:cubicBezTo>
                <a:cubicBezTo>
                  <a:pt x="699" y="187"/>
                  <a:pt x="699" y="187"/>
                  <a:pt x="700" y="188"/>
                </a:cubicBezTo>
                <a:cubicBezTo>
                  <a:pt x="700" y="188"/>
                  <a:pt x="700" y="189"/>
                  <a:pt x="700" y="189"/>
                </a:cubicBezTo>
                <a:cubicBezTo>
                  <a:pt x="732" y="244"/>
                  <a:pt x="750" y="307"/>
                  <a:pt x="750" y="375"/>
                </a:cubicBezTo>
                <a:cubicBezTo>
                  <a:pt x="750" y="441"/>
                  <a:pt x="733" y="505"/>
                  <a:pt x="700" y="562"/>
                </a:cubicBezTo>
                <a:cubicBezTo>
                  <a:pt x="700" y="562"/>
                  <a:pt x="700" y="562"/>
                  <a:pt x="700" y="563"/>
                </a:cubicBezTo>
                <a:close/>
                <a:moveTo>
                  <a:pt x="533" y="560"/>
                </a:moveTo>
                <a:cubicBezTo>
                  <a:pt x="533" y="636"/>
                  <a:pt x="533" y="636"/>
                  <a:pt x="533" y="636"/>
                </a:cubicBezTo>
                <a:cubicBezTo>
                  <a:pt x="533" y="640"/>
                  <a:pt x="530" y="643"/>
                  <a:pt x="526" y="643"/>
                </a:cubicBezTo>
                <a:cubicBezTo>
                  <a:pt x="224" y="643"/>
                  <a:pt x="224" y="643"/>
                  <a:pt x="224" y="643"/>
                </a:cubicBezTo>
                <a:cubicBezTo>
                  <a:pt x="220" y="643"/>
                  <a:pt x="217" y="640"/>
                  <a:pt x="217" y="636"/>
                </a:cubicBezTo>
                <a:cubicBezTo>
                  <a:pt x="217" y="560"/>
                  <a:pt x="217" y="560"/>
                  <a:pt x="217" y="560"/>
                </a:cubicBezTo>
                <a:cubicBezTo>
                  <a:pt x="217" y="556"/>
                  <a:pt x="220" y="553"/>
                  <a:pt x="224" y="553"/>
                </a:cubicBezTo>
                <a:cubicBezTo>
                  <a:pt x="526" y="553"/>
                  <a:pt x="526" y="553"/>
                  <a:pt x="526" y="553"/>
                </a:cubicBezTo>
                <a:cubicBezTo>
                  <a:pt x="530" y="553"/>
                  <a:pt x="533" y="556"/>
                  <a:pt x="533" y="560"/>
                </a:cubicBezTo>
                <a:close/>
                <a:moveTo>
                  <a:pt x="519" y="567"/>
                </a:moveTo>
                <a:cubicBezTo>
                  <a:pt x="231" y="567"/>
                  <a:pt x="231" y="567"/>
                  <a:pt x="231" y="567"/>
                </a:cubicBezTo>
                <a:cubicBezTo>
                  <a:pt x="231" y="629"/>
                  <a:pt x="231" y="629"/>
                  <a:pt x="231" y="629"/>
                </a:cubicBezTo>
                <a:cubicBezTo>
                  <a:pt x="519" y="629"/>
                  <a:pt x="519" y="629"/>
                  <a:pt x="519" y="629"/>
                </a:cubicBezTo>
                <a:lnTo>
                  <a:pt x="519" y="567"/>
                </a:lnTo>
                <a:close/>
                <a:moveTo>
                  <a:pt x="579" y="257"/>
                </a:moveTo>
                <a:cubicBezTo>
                  <a:pt x="581" y="261"/>
                  <a:pt x="580" y="265"/>
                  <a:pt x="577" y="267"/>
                </a:cubicBezTo>
                <a:cubicBezTo>
                  <a:pt x="442" y="344"/>
                  <a:pt x="442" y="344"/>
                  <a:pt x="442" y="344"/>
                </a:cubicBezTo>
                <a:cubicBezTo>
                  <a:pt x="447" y="354"/>
                  <a:pt x="449" y="364"/>
                  <a:pt x="449" y="375"/>
                </a:cubicBezTo>
                <a:cubicBezTo>
                  <a:pt x="449" y="416"/>
                  <a:pt x="416" y="449"/>
                  <a:pt x="375" y="449"/>
                </a:cubicBezTo>
                <a:cubicBezTo>
                  <a:pt x="334" y="449"/>
                  <a:pt x="301" y="416"/>
                  <a:pt x="301" y="375"/>
                </a:cubicBezTo>
                <a:cubicBezTo>
                  <a:pt x="301" y="334"/>
                  <a:pt x="334" y="301"/>
                  <a:pt x="375" y="301"/>
                </a:cubicBezTo>
                <a:cubicBezTo>
                  <a:pt x="400" y="301"/>
                  <a:pt x="422" y="313"/>
                  <a:pt x="435" y="332"/>
                </a:cubicBezTo>
                <a:cubicBezTo>
                  <a:pt x="570" y="255"/>
                  <a:pt x="570" y="255"/>
                  <a:pt x="570" y="255"/>
                </a:cubicBezTo>
                <a:cubicBezTo>
                  <a:pt x="573" y="253"/>
                  <a:pt x="577" y="254"/>
                  <a:pt x="579" y="257"/>
                </a:cubicBezTo>
                <a:close/>
                <a:moveTo>
                  <a:pt x="435" y="375"/>
                </a:moveTo>
                <a:cubicBezTo>
                  <a:pt x="435" y="342"/>
                  <a:pt x="408" y="315"/>
                  <a:pt x="375" y="315"/>
                </a:cubicBezTo>
                <a:cubicBezTo>
                  <a:pt x="342" y="315"/>
                  <a:pt x="315" y="342"/>
                  <a:pt x="315" y="375"/>
                </a:cubicBezTo>
                <a:cubicBezTo>
                  <a:pt x="315" y="408"/>
                  <a:pt x="342" y="435"/>
                  <a:pt x="375" y="435"/>
                </a:cubicBezTo>
                <a:cubicBezTo>
                  <a:pt x="408" y="435"/>
                  <a:pt x="435" y="408"/>
                  <a:pt x="435" y="375"/>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n-US" sz="1800" dirty="0">
              <a:solidFill>
                <a:schemeClr val="bg1">
                  <a:lumMod val="50000"/>
                </a:schemeClr>
              </a:solidFill>
            </a:endParaRPr>
          </a:p>
        </p:txBody>
      </p:sp>
      <p:sp>
        <p:nvSpPr>
          <p:cNvPr id="92" name="Oval 22"/>
          <p:cNvSpPr/>
          <p:nvPr/>
        </p:nvSpPr>
        <p:spPr>
          <a:xfrm>
            <a:off x="7337198" y="1888326"/>
            <a:ext cx="648000" cy="648000"/>
          </a:xfrm>
          <a:prstGeom prst="ellipse">
            <a:avLst/>
          </a:prstGeom>
          <a:solidFill>
            <a:srgbClr val="1AA5BD"/>
          </a:solidFill>
          <a:ln w="25400" cap="flat" cmpd="sng" algn="ctr">
            <a:noFill/>
            <a:prstDash val="solid"/>
          </a:ln>
          <a:effectLst/>
        </p:spPr>
        <p:txBody>
          <a:bodyPr lIns="0" rIns="0" rtlCol="0" anchor="ctr"/>
          <a:lstStyle/>
          <a:p>
            <a:pPr algn="ctr"/>
            <a:endParaRPr lang="id-ID" sz="2000" b="1" kern="0">
              <a:solidFill>
                <a:schemeClr val="bg1"/>
              </a:solidFill>
              <a:effectLst>
                <a:outerShdw blurRad="38100" dist="38100" dir="2700000" algn="tl">
                  <a:srgbClr val="000000">
                    <a:alpha val="43137"/>
                  </a:srgbClr>
                </a:outerShdw>
              </a:effectLst>
              <a:latin typeface="Calibri"/>
            </a:endParaRPr>
          </a:p>
        </p:txBody>
      </p:sp>
      <p:sp>
        <p:nvSpPr>
          <p:cNvPr id="93" name="TextBox 25"/>
          <p:cNvSpPr txBox="1"/>
          <p:nvPr/>
        </p:nvSpPr>
        <p:spPr>
          <a:xfrm>
            <a:off x="6497083" y="2860289"/>
            <a:ext cx="2328232" cy="3693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Momentos, canales, mensajes y acciones clave en la interacción con el cliente</a:t>
            </a:r>
            <a:endParaRPr lang="es-ES" sz="900" b="1" dirty="0">
              <a:solidFill>
                <a:schemeClr val="bg1">
                  <a:lumMod val="50000"/>
                </a:schemeClr>
              </a:solidFill>
              <a:latin typeface="Avenir 35" panose="00000400000000000000" pitchFamily="2" charset="0"/>
            </a:endParaRPr>
          </a:p>
        </p:txBody>
      </p:sp>
      <p:sp>
        <p:nvSpPr>
          <p:cNvPr id="94" name="TextBox 26"/>
          <p:cNvSpPr txBox="1"/>
          <p:nvPr/>
        </p:nvSpPr>
        <p:spPr>
          <a:xfrm>
            <a:off x="6497226" y="2626782"/>
            <a:ext cx="2327945"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CUSTOMER JOURNEY</a:t>
            </a:r>
            <a:endParaRPr lang="id-ID" sz="1050" b="1" dirty="0">
              <a:solidFill>
                <a:schemeClr val="bg1">
                  <a:lumMod val="50000"/>
                </a:schemeClr>
              </a:solidFill>
              <a:latin typeface="Avenir 65" panose="02000600000000000000" pitchFamily="2" charset="0"/>
            </a:endParaRPr>
          </a:p>
        </p:txBody>
      </p:sp>
      <p:sp>
        <p:nvSpPr>
          <p:cNvPr id="96" name="Freeform 154"/>
          <p:cNvSpPr>
            <a:spLocks noEditPoints="1"/>
          </p:cNvSpPr>
          <p:nvPr/>
        </p:nvSpPr>
        <p:spPr bwMode="auto">
          <a:xfrm>
            <a:off x="7521108" y="2071972"/>
            <a:ext cx="312212" cy="254942"/>
          </a:xfrm>
          <a:custGeom>
            <a:avLst/>
            <a:gdLst>
              <a:gd name="T0" fmla="*/ 111 w 186"/>
              <a:gd name="T1" fmla="*/ 95 h 152"/>
              <a:gd name="T2" fmla="*/ 122 w 186"/>
              <a:gd name="T3" fmla="*/ 55 h 152"/>
              <a:gd name="T4" fmla="*/ 110 w 186"/>
              <a:gd name="T5" fmla="*/ 3 h 152"/>
              <a:gd name="T6" fmla="*/ 80 w 186"/>
              <a:gd name="T7" fmla="*/ 4 h 152"/>
              <a:gd name="T8" fmla="*/ 64 w 186"/>
              <a:gd name="T9" fmla="*/ 54 h 152"/>
              <a:gd name="T10" fmla="*/ 74 w 186"/>
              <a:gd name="T11" fmla="*/ 95 h 152"/>
              <a:gd name="T12" fmla="*/ 29 w 186"/>
              <a:gd name="T13" fmla="*/ 147 h 152"/>
              <a:gd name="T14" fmla="*/ 152 w 186"/>
              <a:gd name="T15" fmla="*/ 152 h 152"/>
              <a:gd name="T16" fmla="*/ 126 w 186"/>
              <a:gd name="T17" fmla="*/ 115 h 152"/>
              <a:gd name="T18" fmla="*/ 61 w 186"/>
              <a:gd name="T19" fmla="*/ 123 h 152"/>
              <a:gd name="T20" fmla="*/ 83 w 186"/>
              <a:gd name="T21" fmla="*/ 95 h 152"/>
              <a:gd name="T22" fmla="*/ 72 w 186"/>
              <a:gd name="T23" fmla="*/ 68 h 152"/>
              <a:gd name="T24" fmla="*/ 72 w 186"/>
              <a:gd name="T25" fmla="*/ 51 h 152"/>
              <a:gd name="T26" fmla="*/ 84 w 186"/>
              <a:gd name="T27" fmla="*/ 12 h 152"/>
              <a:gd name="T28" fmla="*/ 98 w 186"/>
              <a:gd name="T29" fmla="*/ 8 h 152"/>
              <a:gd name="T30" fmla="*/ 114 w 186"/>
              <a:gd name="T31" fmla="*/ 23 h 152"/>
              <a:gd name="T32" fmla="*/ 113 w 186"/>
              <a:gd name="T33" fmla="*/ 57 h 152"/>
              <a:gd name="T34" fmla="*/ 112 w 186"/>
              <a:gd name="T35" fmla="*/ 69 h 152"/>
              <a:gd name="T36" fmla="*/ 124 w 186"/>
              <a:gd name="T37" fmla="*/ 123 h 152"/>
              <a:gd name="T38" fmla="*/ 147 w 186"/>
              <a:gd name="T39" fmla="*/ 143 h 152"/>
              <a:gd name="T40" fmla="*/ 20 w 186"/>
              <a:gd name="T41" fmla="*/ 113 h 152"/>
              <a:gd name="T42" fmla="*/ 29 w 186"/>
              <a:gd name="T43" fmla="*/ 69 h 152"/>
              <a:gd name="T44" fmla="*/ 29 w 186"/>
              <a:gd name="T45" fmla="*/ 68 h 152"/>
              <a:gd name="T46" fmla="*/ 29 w 186"/>
              <a:gd name="T47" fmla="*/ 55 h 152"/>
              <a:gd name="T48" fmla="*/ 35 w 186"/>
              <a:gd name="T49" fmla="*/ 28 h 152"/>
              <a:gd name="T50" fmla="*/ 46 w 186"/>
              <a:gd name="T51" fmla="*/ 25 h 152"/>
              <a:gd name="T52" fmla="*/ 53 w 186"/>
              <a:gd name="T53" fmla="*/ 22 h 152"/>
              <a:gd name="T54" fmla="*/ 46 w 186"/>
              <a:gd name="T55" fmla="*/ 17 h 152"/>
              <a:gd name="T56" fmla="*/ 18 w 186"/>
              <a:gd name="T57" fmla="*/ 36 h 152"/>
              <a:gd name="T58" fmla="*/ 22 w 186"/>
              <a:gd name="T59" fmla="*/ 74 h 152"/>
              <a:gd name="T60" fmla="*/ 18 w 186"/>
              <a:gd name="T61" fmla="*/ 105 h 152"/>
              <a:gd name="T62" fmla="*/ 4 w 186"/>
              <a:gd name="T63" fmla="*/ 135 h 152"/>
              <a:gd name="T64" fmla="*/ 27 w 186"/>
              <a:gd name="T65" fmla="*/ 126 h 152"/>
              <a:gd name="T66" fmla="*/ 20 w 186"/>
              <a:gd name="T67" fmla="*/ 113 h 152"/>
              <a:gd name="T68" fmla="*/ 158 w 186"/>
              <a:gd name="T69" fmla="*/ 91 h 152"/>
              <a:gd name="T70" fmla="*/ 164 w 186"/>
              <a:gd name="T71" fmla="*/ 59 h 152"/>
              <a:gd name="T72" fmla="*/ 153 w 186"/>
              <a:gd name="T73" fmla="*/ 20 h 152"/>
              <a:gd name="T74" fmla="*/ 131 w 186"/>
              <a:gd name="T75" fmla="*/ 18 h 152"/>
              <a:gd name="T76" fmla="*/ 134 w 186"/>
              <a:gd name="T77" fmla="*/ 26 h 152"/>
              <a:gd name="T78" fmla="*/ 149 w 186"/>
              <a:gd name="T79" fmla="*/ 27 h 152"/>
              <a:gd name="T80" fmla="*/ 159 w 186"/>
              <a:gd name="T81" fmla="*/ 39 h 152"/>
              <a:gd name="T82" fmla="*/ 156 w 186"/>
              <a:gd name="T83" fmla="*/ 61 h 152"/>
              <a:gd name="T84" fmla="*/ 157 w 186"/>
              <a:gd name="T85" fmla="*/ 69 h 152"/>
              <a:gd name="T86" fmla="*/ 150 w 186"/>
              <a:gd name="T87" fmla="*/ 91 h 152"/>
              <a:gd name="T88" fmla="*/ 177 w 186"/>
              <a:gd name="T89" fmla="*/ 126 h 152"/>
              <a:gd name="T90" fmla="*/ 163 w 186"/>
              <a:gd name="T91" fmla="*/ 135 h 152"/>
              <a:gd name="T92" fmla="*/ 186 w 186"/>
              <a:gd name="T93" fmla="*/ 13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6" h="152">
                <a:moveTo>
                  <a:pt x="126" y="115"/>
                </a:moveTo>
                <a:cubicBezTo>
                  <a:pt x="126" y="115"/>
                  <a:pt x="111" y="111"/>
                  <a:pt x="111" y="95"/>
                </a:cubicBezTo>
                <a:cubicBezTo>
                  <a:pt x="111" y="81"/>
                  <a:pt x="117" y="76"/>
                  <a:pt x="120" y="73"/>
                </a:cubicBezTo>
                <a:cubicBezTo>
                  <a:pt x="120" y="73"/>
                  <a:pt x="125" y="69"/>
                  <a:pt x="122" y="55"/>
                </a:cubicBezTo>
                <a:cubicBezTo>
                  <a:pt x="127" y="47"/>
                  <a:pt x="129" y="35"/>
                  <a:pt x="122" y="19"/>
                </a:cubicBezTo>
                <a:cubicBezTo>
                  <a:pt x="118" y="10"/>
                  <a:pt x="115" y="5"/>
                  <a:pt x="110" y="3"/>
                </a:cubicBezTo>
                <a:cubicBezTo>
                  <a:pt x="106" y="0"/>
                  <a:pt x="102" y="0"/>
                  <a:pt x="98" y="0"/>
                </a:cubicBezTo>
                <a:cubicBezTo>
                  <a:pt x="90" y="0"/>
                  <a:pt x="83" y="2"/>
                  <a:pt x="80" y="4"/>
                </a:cubicBezTo>
                <a:cubicBezTo>
                  <a:pt x="72" y="8"/>
                  <a:pt x="66" y="12"/>
                  <a:pt x="61" y="25"/>
                </a:cubicBezTo>
                <a:cubicBezTo>
                  <a:pt x="56" y="36"/>
                  <a:pt x="62" y="48"/>
                  <a:pt x="64" y="54"/>
                </a:cubicBezTo>
                <a:cubicBezTo>
                  <a:pt x="61" y="68"/>
                  <a:pt x="66" y="73"/>
                  <a:pt x="66" y="73"/>
                </a:cubicBezTo>
                <a:cubicBezTo>
                  <a:pt x="68" y="76"/>
                  <a:pt x="74" y="81"/>
                  <a:pt x="74" y="95"/>
                </a:cubicBezTo>
                <a:cubicBezTo>
                  <a:pt x="74" y="111"/>
                  <a:pt x="59" y="115"/>
                  <a:pt x="59" y="115"/>
                </a:cubicBezTo>
                <a:cubicBezTo>
                  <a:pt x="50" y="118"/>
                  <a:pt x="29" y="125"/>
                  <a:pt x="29" y="147"/>
                </a:cubicBezTo>
                <a:cubicBezTo>
                  <a:pt x="29" y="147"/>
                  <a:pt x="29" y="152"/>
                  <a:pt x="34" y="152"/>
                </a:cubicBezTo>
                <a:cubicBezTo>
                  <a:pt x="152" y="152"/>
                  <a:pt x="152" y="152"/>
                  <a:pt x="152" y="152"/>
                </a:cubicBezTo>
                <a:cubicBezTo>
                  <a:pt x="156" y="152"/>
                  <a:pt x="156" y="147"/>
                  <a:pt x="156" y="147"/>
                </a:cubicBezTo>
                <a:cubicBezTo>
                  <a:pt x="156" y="125"/>
                  <a:pt x="136" y="118"/>
                  <a:pt x="126" y="115"/>
                </a:cubicBezTo>
                <a:close/>
                <a:moveTo>
                  <a:pt x="38" y="143"/>
                </a:moveTo>
                <a:cubicBezTo>
                  <a:pt x="40" y="131"/>
                  <a:pt x="51" y="127"/>
                  <a:pt x="61" y="123"/>
                </a:cubicBezTo>
                <a:cubicBezTo>
                  <a:pt x="62" y="123"/>
                  <a:pt x="62" y="123"/>
                  <a:pt x="62" y="123"/>
                </a:cubicBezTo>
                <a:cubicBezTo>
                  <a:pt x="69" y="121"/>
                  <a:pt x="83" y="112"/>
                  <a:pt x="83" y="95"/>
                </a:cubicBezTo>
                <a:cubicBezTo>
                  <a:pt x="83" y="80"/>
                  <a:pt x="77" y="73"/>
                  <a:pt x="73" y="69"/>
                </a:cubicBezTo>
                <a:cubicBezTo>
                  <a:pt x="73" y="69"/>
                  <a:pt x="72" y="68"/>
                  <a:pt x="72" y="68"/>
                </a:cubicBezTo>
                <a:cubicBezTo>
                  <a:pt x="72" y="67"/>
                  <a:pt x="71" y="64"/>
                  <a:pt x="73" y="56"/>
                </a:cubicBezTo>
                <a:cubicBezTo>
                  <a:pt x="73" y="53"/>
                  <a:pt x="72" y="51"/>
                  <a:pt x="72" y="51"/>
                </a:cubicBezTo>
                <a:cubicBezTo>
                  <a:pt x="70" y="45"/>
                  <a:pt x="65" y="36"/>
                  <a:pt x="69" y="28"/>
                </a:cubicBezTo>
                <a:cubicBezTo>
                  <a:pt x="73" y="17"/>
                  <a:pt x="77" y="15"/>
                  <a:pt x="84" y="12"/>
                </a:cubicBezTo>
                <a:cubicBezTo>
                  <a:pt x="84" y="12"/>
                  <a:pt x="84" y="12"/>
                  <a:pt x="85" y="11"/>
                </a:cubicBezTo>
                <a:cubicBezTo>
                  <a:pt x="86" y="10"/>
                  <a:pt x="92" y="8"/>
                  <a:pt x="98" y="8"/>
                </a:cubicBezTo>
                <a:cubicBezTo>
                  <a:pt x="101" y="8"/>
                  <a:pt x="104" y="9"/>
                  <a:pt x="106" y="10"/>
                </a:cubicBezTo>
                <a:cubicBezTo>
                  <a:pt x="108" y="11"/>
                  <a:pt x="111" y="14"/>
                  <a:pt x="114" y="23"/>
                </a:cubicBezTo>
                <a:cubicBezTo>
                  <a:pt x="121" y="38"/>
                  <a:pt x="117" y="47"/>
                  <a:pt x="115" y="50"/>
                </a:cubicBezTo>
                <a:cubicBezTo>
                  <a:pt x="113" y="52"/>
                  <a:pt x="113" y="54"/>
                  <a:pt x="113" y="57"/>
                </a:cubicBezTo>
                <a:cubicBezTo>
                  <a:pt x="115" y="64"/>
                  <a:pt x="114" y="67"/>
                  <a:pt x="114" y="67"/>
                </a:cubicBezTo>
                <a:cubicBezTo>
                  <a:pt x="114" y="67"/>
                  <a:pt x="113" y="69"/>
                  <a:pt x="112" y="69"/>
                </a:cubicBezTo>
                <a:cubicBezTo>
                  <a:pt x="109" y="73"/>
                  <a:pt x="103" y="80"/>
                  <a:pt x="103" y="95"/>
                </a:cubicBezTo>
                <a:cubicBezTo>
                  <a:pt x="103" y="112"/>
                  <a:pt x="116" y="121"/>
                  <a:pt x="124" y="123"/>
                </a:cubicBezTo>
                <a:cubicBezTo>
                  <a:pt x="124" y="123"/>
                  <a:pt x="124" y="123"/>
                  <a:pt x="124" y="123"/>
                </a:cubicBezTo>
                <a:cubicBezTo>
                  <a:pt x="135" y="127"/>
                  <a:pt x="145" y="131"/>
                  <a:pt x="147" y="143"/>
                </a:cubicBezTo>
                <a:lnTo>
                  <a:pt x="38" y="143"/>
                </a:lnTo>
                <a:close/>
                <a:moveTo>
                  <a:pt x="20" y="113"/>
                </a:moveTo>
                <a:cubicBezTo>
                  <a:pt x="26" y="112"/>
                  <a:pt x="36" y="105"/>
                  <a:pt x="36" y="91"/>
                </a:cubicBezTo>
                <a:cubicBezTo>
                  <a:pt x="36" y="78"/>
                  <a:pt x="32" y="72"/>
                  <a:pt x="29" y="69"/>
                </a:cubicBezTo>
                <a:cubicBezTo>
                  <a:pt x="29" y="69"/>
                  <a:pt x="29" y="69"/>
                  <a:pt x="29" y="69"/>
                </a:cubicBezTo>
                <a:cubicBezTo>
                  <a:pt x="29" y="69"/>
                  <a:pt x="29" y="69"/>
                  <a:pt x="29" y="68"/>
                </a:cubicBezTo>
                <a:cubicBezTo>
                  <a:pt x="29" y="68"/>
                  <a:pt x="28" y="66"/>
                  <a:pt x="29" y="61"/>
                </a:cubicBezTo>
                <a:cubicBezTo>
                  <a:pt x="30" y="59"/>
                  <a:pt x="29" y="57"/>
                  <a:pt x="29" y="55"/>
                </a:cubicBezTo>
                <a:cubicBezTo>
                  <a:pt x="27" y="52"/>
                  <a:pt x="24" y="45"/>
                  <a:pt x="26" y="39"/>
                </a:cubicBezTo>
                <a:cubicBezTo>
                  <a:pt x="30" y="30"/>
                  <a:pt x="31" y="30"/>
                  <a:pt x="35" y="28"/>
                </a:cubicBezTo>
                <a:cubicBezTo>
                  <a:pt x="36" y="28"/>
                  <a:pt x="36" y="27"/>
                  <a:pt x="37" y="27"/>
                </a:cubicBezTo>
                <a:cubicBezTo>
                  <a:pt x="38" y="27"/>
                  <a:pt x="42" y="25"/>
                  <a:pt x="46" y="25"/>
                </a:cubicBezTo>
                <a:cubicBezTo>
                  <a:pt x="48" y="25"/>
                  <a:pt x="50" y="25"/>
                  <a:pt x="52" y="26"/>
                </a:cubicBezTo>
                <a:cubicBezTo>
                  <a:pt x="52" y="25"/>
                  <a:pt x="52" y="23"/>
                  <a:pt x="53" y="22"/>
                </a:cubicBezTo>
                <a:cubicBezTo>
                  <a:pt x="53" y="20"/>
                  <a:pt x="54" y="19"/>
                  <a:pt x="55" y="18"/>
                </a:cubicBezTo>
                <a:cubicBezTo>
                  <a:pt x="52" y="17"/>
                  <a:pt x="49" y="17"/>
                  <a:pt x="46" y="17"/>
                </a:cubicBezTo>
                <a:cubicBezTo>
                  <a:pt x="40" y="17"/>
                  <a:pt x="34" y="19"/>
                  <a:pt x="32" y="20"/>
                </a:cubicBezTo>
                <a:cubicBezTo>
                  <a:pt x="25" y="23"/>
                  <a:pt x="22" y="26"/>
                  <a:pt x="18" y="36"/>
                </a:cubicBezTo>
                <a:cubicBezTo>
                  <a:pt x="15" y="45"/>
                  <a:pt x="19" y="54"/>
                  <a:pt x="21" y="59"/>
                </a:cubicBezTo>
                <a:cubicBezTo>
                  <a:pt x="18" y="70"/>
                  <a:pt x="22" y="74"/>
                  <a:pt x="22" y="74"/>
                </a:cubicBezTo>
                <a:cubicBezTo>
                  <a:pt x="24" y="76"/>
                  <a:pt x="27" y="80"/>
                  <a:pt x="27" y="91"/>
                </a:cubicBezTo>
                <a:cubicBezTo>
                  <a:pt x="27" y="103"/>
                  <a:pt x="18" y="105"/>
                  <a:pt x="18" y="105"/>
                </a:cubicBezTo>
                <a:cubicBezTo>
                  <a:pt x="10" y="108"/>
                  <a:pt x="0" y="114"/>
                  <a:pt x="0" y="130"/>
                </a:cubicBezTo>
                <a:cubicBezTo>
                  <a:pt x="0" y="130"/>
                  <a:pt x="0" y="135"/>
                  <a:pt x="4" y="135"/>
                </a:cubicBezTo>
                <a:cubicBezTo>
                  <a:pt x="23" y="135"/>
                  <a:pt x="23" y="135"/>
                  <a:pt x="23" y="135"/>
                </a:cubicBezTo>
                <a:cubicBezTo>
                  <a:pt x="24" y="132"/>
                  <a:pt x="25" y="129"/>
                  <a:pt x="27" y="126"/>
                </a:cubicBezTo>
                <a:cubicBezTo>
                  <a:pt x="9" y="126"/>
                  <a:pt x="9" y="126"/>
                  <a:pt x="9" y="126"/>
                </a:cubicBezTo>
                <a:cubicBezTo>
                  <a:pt x="10" y="118"/>
                  <a:pt x="15" y="115"/>
                  <a:pt x="20" y="113"/>
                </a:cubicBezTo>
                <a:close/>
                <a:moveTo>
                  <a:pt x="168" y="105"/>
                </a:moveTo>
                <a:cubicBezTo>
                  <a:pt x="168" y="105"/>
                  <a:pt x="158" y="103"/>
                  <a:pt x="158" y="91"/>
                </a:cubicBezTo>
                <a:cubicBezTo>
                  <a:pt x="158" y="80"/>
                  <a:pt x="161" y="76"/>
                  <a:pt x="163" y="74"/>
                </a:cubicBezTo>
                <a:cubicBezTo>
                  <a:pt x="163" y="74"/>
                  <a:pt x="167" y="70"/>
                  <a:pt x="164" y="59"/>
                </a:cubicBezTo>
                <a:cubicBezTo>
                  <a:pt x="167" y="54"/>
                  <a:pt x="171" y="45"/>
                  <a:pt x="167" y="36"/>
                </a:cubicBezTo>
                <a:cubicBezTo>
                  <a:pt x="163" y="26"/>
                  <a:pt x="160" y="23"/>
                  <a:pt x="153" y="20"/>
                </a:cubicBezTo>
                <a:cubicBezTo>
                  <a:pt x="151" y="19"/>
                  <a:pt x="145" y="17"/>
                  <a:pt x="139" y="17"/>
                </a:cubicBezTo>
                <a:cubicBezTo>
                  <a:pt x="136" y="17"/>
                  <a:pt x="133" y="17"/>
                  <a:pt x="131" y="18"/>
                </a:cubicBezTo>
                <a:cubicBezTo>
                  <a:pt x="132" y="21"/>
                  <a:pt x="133" y="24"/>
                  <a:pt x="133" y="26"/>
                </a:cubicBezTo>
                <a:cubicBezTo>
                  <a:pt x="133" y="26"/>
                  <a:pt x="134" y="26"/>
                  <a:pt x="134" y="26"/>
                </a:cubicBezTo>
                <a:cubicBezTo>
                  <a:pt x="135" y="25"/>
                  <a:pt x="137" y="25"/>
                  <a:pt x="139" y="25"/>
                </a:cubicBezTo>
                <a:cubicBezTo>
                  <a:pt x="144" y="25"/>
                  <a:pt x="148" y="27"/>
                  <a:pt x="149" y="27"/>
                </a:cubicBezTo>
                <a:cubicBezTo>
                  <a:pt x="149" y="27"/>
                  <a:pt x="150" y="28"/>
                  <a:pt x="150" y="28"/>
                </a:cubicBezTo>
                <a:cubicBezTo>
                  <a:pt x="154" y="30"/>
                  <a:pt x="156" y="30"/>
                  <a:pt x="159" y="39"/>
                </a:cubicBezTo>
                <a:cubicBezTo>
                  <a:pt x="162" y="45"/>
                  <a:pt x="159" y="52"/>
                  <a:pt x="157" y="55"/>
                </a:cubicBezTo>
                <a:cubicBezTo>
                  <a:pt x="156" y="57"/>
                  <a:pt x="156" y="59"/>
                  <a:pt x="156" y="61"/>
                </a:cubicBezTo>
                <a:cubicBezTo>
                  <a:pt x="157" y="66"/>
                  <a:pt x="157" y="68"/>
                  <a:pt x="157" y="68"/>
                </a:cubicBezTo>
                <a:cubicBezTo>
                  <a:pt x="157" y="69"/>
                  <a:pt x="157" y="69"/>
                  <a:pt x="157" y="69"/>
                </a:cubicBezTo>
                <a:cubicBezTo>
                  <a:pt x="156" y="69"/>
                  <a:pt x="156" y="69"/>
                  <a:pt x="156" y="69"/>
                </a:cubicBezTo>
                <a:cubicBezTo>
                  <a:pt x="154" y="72"/>
                  <a:pt x="150" y="78"/>
                  <a:pt x="150" y="91"/>
                </a:cubicBezTo>
                <a:cubicBezTo>
                  <a:pt x="150" y="105"/>
                  <a:pt x="160" y="112"/>
                  <a:pt x="165" y="113"/>
                </a:cubicBezTo>
                <a:cubicBezTo>
                  <a:pt x="171" y="115"/>
                  <a:pt x="176" y="118"/>
                  <a:pt x="177" y="126"/>
                </a:cubicBezTo>
                <a:cubicBezTo>
                  <a:pt x="159" y="126"/>
                  <a:pt x="159" y="126"/>
                  <a:pt x="159" y="126"/>
                </a:cubicBezTo>
                <a:cubicBezTo>
                  <a:pt x="160" y="129"/>
                  <a:pt x="162" y="132"/>
                  <a:pt x="163" y="135"/>
                </a:cubicBezTo>
                <a:cubicBezTo>
                  <a:pt x="181" y="135"/>
                  <a:pt x="181" y="135"/>
                  <a:pt x="181" y="135"/>
                </a:cubicBezTo>
                <a:cubicBezTo>
                  <a:pt x="186" y="135"/>
                  <a:pt x="186" y="130"/>
                  <a:pt x="186" y="130"/>
                </a:cubicBezTo>
                <a:cubicBezTo>
                  <a:pt x="186" y="114"/>
                  <a:pt x="175" y="108"/>
                  <a:pt x="168" y="105"/>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solidFill>
                <a:schemeClr val="bg1"/>
              </a:solidFill>
            </a:endParaRPr>
          </a:p>
        </p:txBody>
      </p:sp>
      <p:sp>
        <p:nvSpPr>
          <p:cNvPr id="47"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17</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3897533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ombo"/>
          <p:cNvSpPr/>
          <p:nvPr/>
        </p:nvSpPr>
        <p:spPr>
          <a:xfrm>
            <a:off x="801251" y="2212044"/>
            <a:ext cx="1042846" cy="603163"/>
          </a:xfrm>
          <a:prstGeom prst="diamond">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7" name="116 Rectángulo"/>
          <p:cNvSpPr/>
          <p:nvPr/>
        </p:nvSpPr>
        <p:spPr>
          <a:xfrm>
            <a:off x="604033" y="844091"/>
            <a:ext cx="8660260" cy="430887"/>
          </a:xfrm>
          <a:prstGeom prst="rect">
            <a:avLst/>
          </a:prstGeom>
          <a:noFill/>
        </p:spPr>
        <p:txBody>
          <a:bodyPr wrap="square" rtlCol="0">
            <a:spAutoFit/>
          </a:bodyPr>
          <a:lstStyle/>
          <a:p>
            <a:pPr algn="ctr" defTabSz="925830" eaLnBrk="0" fontAlgn="base" hangingPunct="0">
              <a:lnSpc>
                <a:spcPct val="110000"/>
              </a:lnSpc>
              <a:spcBef>
                <a:spcPct val="30000"/>
              </a:spcBef>
              <a:spcAft>
                <a:spcPct val="0"/>
              </a:spcAft>
            </a:pPr>
            <a:r>
              <a:rPr lang="es-ES" sz="1000" dirty="0">
                <a:solidFill>
                  <a:srgbClr val="323232"/>
                </a:solidFill>
                <a:latin typeface="Avenir 35" panose="00000400000000000000" pitchFamily="2" charset="0"/>
              </a:rPr>
              <a:t>Consideramos un factor clave la inclusión de Servicios de Analytics que nos permita establecer un modelo móvil que permita entender el Pasado, replicándolo para el Presente y aplicándolo para el Futuro</a:t>
            </a: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CONOCER</a:t>
            </a:r>
            <a:endParaRPr lang="es-ES" sz="1400" b="1" dirty="0">
              <a:solidFill>
                <a:srgbClr val="323232"/>
              </a:solidFill>
              <a:latin typeface="Avenir 35" panose="00000400000000000000" pitchFamily="2" charset="0"/>
            </a:endParaRPr>
          </a:p>
        </p:txBody>
      </p:sp>
      <p:sp>
        <p:nvSpPr>
          <p:cNvPr id="10"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s-ES" dirty="0">
                <a:solidFill>
                  <a:srgbClr val="323232"/>
                </a:solidFill>
                <a:latin typeface="Avenir 35" panose="00000400000000000000" pitchFamily="2" charset="0"/>
              </a:rPr>
              <a:t>Nuestra Visión</a:t>
            </a:r>
          </a:p>
          <a:p>
            <a:endParaRPr lang="es-ES" dirty="0">
              <a:solidFill>
                <a:srgbClr val="323232"/>
              </a:solidFill>
              <a:latin typeface="Avenir 35" panose="00000400000000000000" pitchFamily="2" charset="0"/>
            </a:endParaRPr>
          </a:p>
        </p:txBody>
      </p:sp>
      <p:sp>
        <p:nvSpPr>
          <p:cNvPr id="48" name="AutoShape 4"/>
          <p:cNvSpPr>
            <a:spLocks noChangeArrowheads="1"/>
          </p:cNvSpPr>
          <p:nvPr/>
        </p:nvSpPr>
        <p:spPr bwMode="auto">
          <a:xfrm>
            <a:off x="508740" y="3659692"/>
            <a:ext cx="9180513" cy="510973"/>
          </a:xfrm>
          <a:prstGeom prst="rect">
            <a:avLst/>
          </a:prstGeom>
          <a:noFill/>
        </p:spPr>
        <p:txBody>
          <a:bodyPr lIns="92583" tIns="46292" rIns="92583" bIns="46292" anchor="ctr">
            <a:noAutofit/>
          </a:bodyPr>
          <a:lstStyle/>
          <a:p>
            <a:pPr algn="ctr" defTabSz="825500" eaLnBrk="0" fontAlgn="base" hangingPunct="0">
              <a:lnSpc>
                <a:spcPct val="110000"/>
              </a:lnSpc>
              <a:spcBef>
                <a:spcPct val="30000"/>
              </a:spcBef>
              <a:spcAft>
                <a:spcPct val="0"/>
              </a:spcAft>
              <a:defRPr/>
            </a:pPr>
            <a:r>
              <a:rPr lang="es-ES" sz="1200" kern="0" dirty="0">
                <a:solidFill>
                  <a:srgbClr val="323232"/>
                </a:solidFill>
                <a:latin typeface="Avenir 35" panose="00000400000000000000" pitchFamily="2" charset="0"/>
                <a:sym typeface="Calibri"/>
              </a:rPr>
              <a:t>Por otro lado completamos el modelo con: el conocimiento sectorial y la estadística predictiva en los ámbitos de estrategia, operaciones, riesgos &amp; marketing</a:t>
            </a:r>
          </a:p>
        </p:txBody>
      </p:sp>
      <p:sp>
        <p:nvSpPr>
          <p:cNvPr id="49" name="48 Rectángulo"/>
          <p:cNvSpPr/>
          <p:nvPr>
            <p:custDataLst>
              <p:tags r:id="rId1"/>
            </p:custDataLst>
          </p:nvPr>
        </p:nvSpPr>
        <p:spPr>
          <a:xfrm>
            <a:off x="710596" y="2781830"/>
            <a:ext cx="8504113" cy="550166"/>
          </a:xfrm>
          <a:prstGeom prst="rect">
            <a:avLst/>
          </a:prstGeom>
          <a:solidFill>
            <a:schemeClr val="tx1">
              <a:alpha val="15000"/>
            </a:schemeClr>
          </a:solidFill>
          <a:ln w="25400" cap="flat" cmpd="sng" algn="ctr">
            <a:noFill/>
            <a:prstDash val="sysDot"/>
          </a:ln>
          <a:effectLst/>
        </p:spPr>
        <p:txBody>
          <a:bodyPr rtlCol="0" anchor="ctr"/>
          <a:lstStyle/>
          <a:p>
            <a:pPr algn="ctr">
              <a:defRPr/>
            </a:pPr>
            <a:endParaRPr lang="es-ES" sz="1000" b="1" kern="0" dirty="0">
              <a:solidFill>
                <a:srgbClr val="FFFFFF"/>
              </a:solidFill>
              <a:latin typeface="Avenir 35" panose="00000400000000000000" pitchFamily="2" charset="0"/>
            </a:endParaRPr>
          </a:p>
        </p:txBody>
      </p:sp>
      <p:sp>
        <p:nvSpPr>
          <p:cNvPr id="50" name="49 Rectángulo"/>
          <p:cNvSpPr/>
          <p:nvPr>
            <p:custDataLst>
              <p:tags r:id="rId2"/>
            </p:custDataLst>
          </p:nvPr>
        </p:nvSpPr>
        <p:spPr>
          <a:xfrm>
            <a:off x="710596" y="1651764"/>
            <a:ext cx="8504113" cy="550166"/>
          </a:xfrm>
          <a:prstGeom prst="rect">
            <a:avLst/>
          </a:prstGeom>
          <a:solidFill>
            <a:srgbClr val="3CB2C3">
              <a:alpha val="14902"/>
            </a:srgbClr>
          </a:solidFill>
          <a:ln w="25400" cap="flat" cmpd="sng" algn="ctr">
            <a:noFill/>
            <a:prstDash val="sysDot"/>
          </a:ln>
          <a:effectLst/>
        </p:spPr>
        <p:txBody>
          <a:bodyPr rtlCol="0" anchor="ctr"/>
          <a:lstStyle/>
          <a:p>
            <a:pPr algn="ctr">
              <a:defRPr/>
            </a:pPr>
            <a:endParaRPr lang="es-ES" sz="1000" b="1" kern="0" dirty="0">
              <a:solidFill>
                <a:srgbClr val="FFFFFF"/>
              </a:solidFill>
              <a:latin typeface="Avenir 35" panose="00000400000000000000" pitchFamily="2" charset="0"/>
            </a:endParaRPr>
          </a:p>
        </p:txBody>
      </p:sp>
      <p:sp>
        <p:nvSpPr>
          <p:cNvPr id="51" name="Rectangle 7"/>
          <p:cNvSpPr/>
          <p:nvPr>
            <p:custDataLst>
              <p:tags r:id="rId3"/>
            </p:custDataLst>
          </p:nvPr>
        </p:nvSpPr>
        <p:spPr>
          <a:xfrm>
            <a:off x="2013769" y="2279005"/>
            <a:ext cx="2095833" cy="427496"/>
          </a:xfrm>
          <a:prstGeom prst="rect">
            <a:avLst/>
          </a:prstGeom>
          <a:solidFill>
            <a:srgbClr val="3CB2C3"/>
          </a:solidFill>
          <a:ln w="9525" cap="flat" cmpd="sng" algn="ctr">
            <a:noFill/>
            <a:prstDash val="solid"/>
          </a:ln>
          <a:effectLst>
            <a:outerShdw blurRad="40000" dist="23000" dir="5400000" rotWithShape="0">
              <a:srgbClr val="000000">
                <a:alpha val="35000"/>
              </a:srgbClr>
            </a:outerShdw>
          </a:effectLst>
        </p:spPr>
        <p:txBody>
          <a:bodyPr rtlCol="0" anchor="ctr"/>
          <a:lstStyle/>
          <a:p>
            <a:pPr algn="ctr">
              <a:defRPr/>
            </a:pPr>
            <a:r>
              <a:rPr lang="es-ES" sz="1200" kern="0" dirty="0">
                <a:solidFill>
                  <a:srgbClr val="FFFFFF"/>
                </a:solidFill>
                <a:latin typeface="Avenir 35" panose="00000400000000000000" pitchFamily="2" charset="0"/>
              </a:rPr>
              <a:t>Pasado</a:t>
            </a:r>
          </a:p>
        </p:txBody>
      </p:sp>
      <p:sp>
        <p:nvSpPr>
          <p:cNvPr id="53" name="Rectangle 81"/>
          <p:cNvSpPr/>
          <p:nvPr>
            <p:custDataLst>
              <p:tags r:id="rId4"/>
            </p:custDataLst>
          </p:nvPr>
        </p:nvSpPr>
        <p:spPr>
          <a:xfrm>
            <a:off x="2023719" y="2830382"/>
            <a:ext cx="2095833" cy="181775"/>
          </a:xfrm>
          <a:prstGeom prst="rect">
            <a:avLst/>
          </a:prstGeom>
          <a:solidFill>
            <a:srgbClr val="969696"/>
          </a:solidFill>
          <a:ln w="25400" cap="flat" cmpd="sng" algn="ctr">
            <a:noFill/>
            <a:prstDash val="solid"/>
          </a:ln>
          <a:effectLst/>
        </p:spPr>
        <p:txBody>
          <a:bodyPr rtlCol="0" anchor="ctr"/>
          <a:lstStyle/>
          <a:p>
            <a:pPr algn="ctr">
              <a:defRPr/>
            </a:pPr>
            <a:r>
              <a:rPr lang="es-ES" sz="1000" kern="0" dirty="0">
                <a:solidFill>
                  <a:srgbClr val="FFFFFF"/>
                </a:solidFill>
                <a:latin typeface="Avenir 35" panose="00000400000000000000" pitchFamily="2" charset="0"/>
              </a:rPr>
              <a:t>¿Por qué ocurrió?</a:t>
            </a:r>
          </a:p>
        </p:txBody>
      </p:sp>
      <p:sp>
        <p:nvSpPr>
          <p:cNvPr id="54" name="Rectangle 82"/>
          <p:cNvSpPr/>
          <p:nvPr>
            <p:custDataLst>
              <p:tags r:id="rId5"/>
            </p:custDataLst>
          </p:nvPr>
        </p:nvSpPr>
        <p:spPr>
          <a:xfrm>
            <a:off x="4433180" y="1700809"/>
            <a:ext cx="2095833" cy="181775"/>
          </a:xfrm>
          <a:prstGeom prst="rect">
            <a:avLst/>
          </a:prstGeom>
          <a:solidFill>
            <a:srgbClr val="969696"/>
          </a:solidFill>
          <a:ln w="25400" cap="flat" cmpd="sng" algn="ctr">
            <a:noFill/>
            <a:prstDash val="solid"/>
          </a:ln>
          <a:effectLst/>
        </p:spPr>
        <p:txBody>
          <a:bodyPr rtlCol="0" anchor="ctr"/>
          <a:lstStyle/>
          <a:p>
            <a:pPr algn="ctr">
              <a:defRPr/>
            </a:pPr>
            <a:r>
              <a:rPr lang="es-ES" sz="1000" kern="0" dirty="0">
                <a:solidFill>
                  <a:srgbClr val="FFFFFF"/>
                </a:solidFill>
                <a:latin typeface="Avenir 35" panose="00000400000000000000" pitchFamily="2" charset="0"/>
              </a:rPr>
              <a:t>¿Qué ocurre?</a:t>
            </a:r>
          </a:p>
        </p:txBody>
      </p:sp>
      <p:sp>
        <p:nvSpPr>
          <p:cNvPr id="55" name="Rectangle 83"/>
          <p:cNvSpPr/>
          <p:nvPr>
            <p:custDataLst>
              <p:tags r:id="rId6"/>
            </p:custDataLst>
          </p:nvPr>
        </p:nvSpPr>
        <p:spPr>
          <a:xfrm>
            <a:off x="4433180" y="2830382"/>
            <a:ext cx="2095833" cy="181775"/>
          </a:xfrm>
          <a:prstGeom prst="rect">
            <a:avLst/>
          </a:prstGeom>
          <a:solidFill>
            <a:srgbClr val="969696"/>
          </a:solidFill>
          <a:ln w="25400" cap="flat" cmpd="sng" algn="ctr">
            <a:noFill/>
            <a:prstDash val="solid"/>
          </a:ln>
          <a:effectLst/>
        </p:spPr>
        <p:txBody>
          <a:bodyPr rtlCol="0" anchor="ctr"/>
          <a:lstStyle/>
          <a:p>
            <a:pPr algn="ctr">
              <a:defRPr/>
            </a:pPr>
            <a:r>
              <a:rPr lang="es-ES" sz="1000" kern="0" dirty="0">
                <a:solidFill>
                  <a:srgbClr val="FFFFFF"/>
                </a:solidFill>
                <a:latin typeface="Avenir 35" panose="00000400000000000000" pitchFamily="2" charset="0"/>
              </a:rPr>
              <a:t>¿Qué hago?</a:t>
            </a:r>
          </a:p>
        </p:txBody>
      </p:sp>
      <p:sp>
        <p:nvSpPr>
          <p:cNvPr id="56" name="Rectangle 86"/>
          <p:cNvSpPr/>
          <p:nvPr>
            <p:custDataLst>
              <p:tags r:id="rId7"/>
            </p:custDataLst>
          </p:nvPr>
        </p:nvSpPr>
        <p:spPr>
          <a:xfrm>
            <a:off x="2023719" y="1931204"/>
            <a:ext cx="2095833" cy="181775"/>
          </a:xfrm>
          <a:prstGeom prst="rect">
            <a:avLst/>
          </a:prstGeom>
          <a:solidFill>
            <a:srgbClr val="0086AC"/>
          </a:solidFill>
          <a:ln w="9525" cap="flat" cmpd="sng" algn="ctr">
            <a:noFill/>
            <a:prstDash val="solid"/>
          </a:ln>
          <a:effectLst>
            <a:outerShdw blurRad="40000" dist="23000" dir="5400000" rotWithShape="0">
              <a:srgbClr val="000000">
                <a:alpha val="35000"/>
              </a:srgbClr>
            </a:outerShdw>
          </a:effectLst>
        </p:spPr>
        <p:txBody>
          <a:bodyPr rtlCol="0" anchor="ctr"/>
          <a:lstStyle/>
          <a:p>
            <a:pPr algn="ctr">
              <a:defRPr/>
            </a:pPr>
            <a:r>
              <a:rPr lang="es-ES" sz="1000" kern="0" dirty="0">
                <a:solidFill>
                  <a:prstClr val="white"/>
                </a:solidFill>
                <a:latin typeface="Avenir 35" panose="00000400000000000000" pitchFamily="2" charset="0"/>
              </a:rPr>
              <a:t>Informes</a:t>
            </a:r>
          </a:p>
        </p:txBody>
      </p:sp>
      <p:sp>
        <p:nvSpPr>
          <p:cNvPr id="57" name="Rectangle 87"/>
          <p:cNvSpPr/>
          <p:nvPr>
            <p:custDataLst>
              <p:tags r:id="rId8"/>
            </p:custDataLst>
          </p:nvPr>
        </p:nvSpPr>
        <p:spPr>
          <a:xfrm>
            <a:off x="4433180" y="1931204"/>
            <a:ext cx="2095833" cy="181775"/>
          </a:xfrm>
          <a:prstGeom prst="rect">
            <a:avLst/>
          </a:prstGeom>
          <a:solidFill>
            <a:srgbClr val="0086AC"/>
          </a:solidFill>
          <a:ln w="9525" cap="flat" cmpd="sng" algn="ctr">
            <a:noFill/>
            <a:prstDash val="solid"/>
          </a:ln>
          <a:effectLst>
            <a:outerShdw blurRad="40000" dist="23000" dir="5400000" rotWithShape="0">
              <a:srgbClr val="000000">
                <a:alpha val="35000"/>
              </a:srgbClr>
            </a:outerShdw>
          </a:effectLst>
        </p:spPr>
        <p:txBody>
          <a:bodyPr rtlCol="0" anchor="ctr"/>
          <a:lstStyle/>
          <a:p>
            <a:pPr algn="ctr">
              <a:defRPr/>
            </a:pPr>
            <a:r>
              <a:rPr lang="es-ES" sz="1000" kern="0" dirty="0">
                <a:solidFill>
                  <a:prstClr val="white"/>
                </a:solidFill>
                <a:latin typeface="Avenir 35" panose="00000400000000000000" pitchFamily="2" charset="0"/>
              </a:rPr>
              <a:t>Alertas</a:t>
            </a:r>
          </a:p>
        </p:txBody>
      </p:sp>
      <p:sp>
        <p:nvSpPr>
          <p:cNvPr id="58" name="Rectangle 88"/>
          <p:cNvSpPr/>
          <p:nvPr>
            <p:custDataLst>
              <p:tags r:id="rId9"/>
            </p:custDataLst>
          </p:nvPr>
        </p:nvSpPr>
        <p:spPr>
          <a:xfrm>
            <a:off x="2023719" y="3080157"/>
            <a:ext cx="2095833" cy="181775"/>
          </a:xfrm>
          <a:prstGeom prst="rect">
            <a:avLst/>
          </a:prstGeom>
          <a:solidFill>
            <a:schemeClr val="bg1">
              <a:lumMod val="95000"/>
            </a:schemeClr>
          </a:solidFill>
          <a:ln w="9525" cap="flat" cmpd="sng" algn="ctr">
            <a:noFill/>
            <a:prstDash val="solid"/>
          </a:ln>
          <a:effectLst>
            <a:outerShdw blurRad="40000" dist="23000" dir="5400000" rotWithShape="0">
              <a:srgbClr val="000000">
                <a:alpha val="35000"/>
              </a:srgbClr>
            </a:outerShdw>
          </a:effectLst>
        </p:spPr>
        <p:txBody>
          <a:bodyPr rtlCol="0" anchor="ctr"/>
          <a:lstStyle/>
          <a:p>
            <a:pPr algn="ctr">
              <a:defRPr/>
            </a:pPr>
            <a:r>
              <a:rPr lang="es-ES" sz="1000" kern="0" dirty="0">
                <a:solidFill>
                  <a:srgbClr val="000000"/>
                </a:solidFill>
                <a:latin typeface="Avenir 35" panose="00000400000000000000" pitchFamily="2" charset="0"/>
              </a:rPr>
              <a:t>Medición</a:t>
            </a:r>
          </a:p>
        </p:txBody>
      </p:sp>
      <p:sp>
        <p:nvSpPr>
          <p:cNvPr id="59" name="Rectangle 90"/>
          <p:cNvSpPr/>
          <p:nvPr>
            <p:custDataLst>
              <p:tags r:id="rId10"/>
            </p:custDataLst>
          </p:nvPr>
        </p:nvSpPr>
        <p:spPr>
          <a:xfrm>
            <a:off x="4433183" y="3080157"/>
            <a:ext cx="2095833" cy="181775"/>
          </a:xfrm>
          <a:prstGeom prst="rect">
            <a:avLst/>
          </a:prstGeom>
          <a:solidFill>
            <a:schemeClr val="bg1">
              <a:lumMod val="95000"/>
            </a:schemeClr>
          </a:solidFill>
          <a:ln w="9525" cap="flat" cmpd="sng" algn="ctr">
            <a:noFill/>
            <a:prstDash val="solid"/>
          </a:ln>
          <a:effectLst>
            <a:outerShdw blurRad="40000" dist="23000" dir="5400000" rotWithShape="0">
              <a:srgbClr val="000000">
                <a:alpha val="35000"/>
              </a:srgbClr>
            </a:outerShdw>
          </a:effectLst>
        </p:spPr>
        <p:txBody>
          <a:bodyPr rtlCol="0" anchor="ctr"/>
          <a:lstStyle/>
          <a:p>
            <a:pPr algn="ctr">
              <a:defRPr/>
            </a:pPr>
            <a:r>
              <a:rPr lang="es-ES" sz="1000" kern="0" dirty="0">
                <a:solidFill>
                  <a:srgbClr val="000000"/>
                </a:solidFill>
                <a:latin typeface="Avenir 35" panose="00000400000000000000" pitchFamily="2" charset="0"/>
              </a:rPr>
              <a:t>Táctica</a:t>
            </a:r>
          </a:p>
        </p:txBody>
      </p:sp>
      <p:sp>
        <p:nvSpPr>
          <p:cNvPr id="60" name="Rectangle 82"/>
          <p:cNvSpPr/>
          <p:nvPr>
            <p:custDataLst>
              <p:tags r:id="rId11"/>
            </p:custDataLst>
          </p:nvPr>
        </p:nvSpPr>
        <p:spPr>
          <a:xfrm>
            <a:off x="6842642" y="1700809"/>
            <a:ext cx="2095833" cy="181775"/>
          </a:xfrm>
          <a:prstGeom prst="rect">
            <a:avLst/>
          </a:prstGeom>
          <a:solidFill>
            <a:srgbClr val="969696"/>
          </a:solidFill>
          <a:ln w="25400" cap="flat" cmpd="sng" algn="ctr">
            <a:noFill/>
            <a:prstDash val="solid"/>
          </a:ln>
          <a:effectLst/>
        </p:spPr>
        <p:txBody>
          <a:bodyPr rtlCol="0" anchor="ctr"/>
          <a:lstStyle/>
          <a:p>
            <a:pPr algn="ctr">
              <a:defRPr/>
            </a:pPr>
            <a:r>
              <a:rPr lang="es-ES" sz="1000" kern="0" dirty="0">
                <a:solidFill>
                  <a:srgbClr val="FFFFFF"/>
                </a:solidFill>
                <a:latin typeface="Avenir 35" panose="00000400000000000000" pitchFamily="2" charset="0"/>
              </a:rPr>
              <a:t>¿Qué ocurrirá?</a:t>
            </a:r>
          </a:p>
        </p:txBody>
      </p:sp>
      <p:sp>
        <p:nvSpPr>
          <p:cNvPr id="61" name="Rectangle 83"/>
          <p:cNvSpPr/>
          <p:nvPr>
            <p:custDataLst>
              <p:tags r:id="rId12"/>
            </p:custDataLst>
          </p:nvPr>
        </p:nvSpPr>
        <p:spPr>
          <a:xfrm>
            <a:off x="6842642" y="2830382"/>
            <a:ext cx="2095833" cy="181775"/>
          </a:xfrm>
          <a:prstGeom prst="rect">
            <a:avLst/>
          </a:prstGeom>
          <a:solidFill>
            <a:srgbClr val="969696"/>
          </a:solidFill>
          <a:ln w="25400" cap="flat" cmpd="sng" algn="ctr">
            <a:noFill/>
            <a:prstDash val="solid"/>
          </a:ln>
          <a:effectLst/>
        </p:spPr>
        <p:txBody>
          <a:bodyPr lIns="36000" rIns="36000" rtlCol="0" anchor="ctr"/>
          <a:lstStyle/>
          <a:p>
            <a:pPr algn="ctr">
              <a:defRPr/>
            </a:pPr>
            <a:r>
              <a:rPr lang="es-ES" sz="1000" kern="0" dirty="0">
                <a:solidFill>
                  <a:srgbClr val="FFFFFF"/>
                </a:solidFill>
                <a:latin typeface="Avenir 35" panose="00000400000000000000" pitchFamily="2" charset="0"/>
              </a:rPr>
              <a:t>¿Qué debería hacer?</a:t>
            </a:r>
          </a:p>
        </p:txBody>
      </p:sp>
      <p:sp>
        <p:nvSpPr>
          <p:cNvPr id="62" name="Rectangle 87"/>
          <p:cNvSpPr/>
          <p:nvPr>
            <p:custDataLst>
              <p:tags r:id="rId13"/>
            </p:custDataLst>
          </p:nvPr>
        </p:nvSpPr>
        <p:spPr>
          <a:xfrm>
            <a:off x="6842642" y="1931204"/>
            <a:ext cx="2095833" cy="181775"/>
          </a:xfrm>
          <a:prstGeom prst="rect">
            <a:avLst/>
          </a:prstGeom>
          <a:solidFill>
            <a:srgbClr val="0086AC"/>
          </a:solidFill>
          <a:ln w="9525" cap="flat" cmpd="sng" algn="ctr">
            <a:noFill/>
            <a:prstDash val="solid"/>
          </a:ln>
          <a:effectLst>
            <a:outerShdw blurRad="40000" dist="23000" dir="5400000" rotWithShape="0">
              <a:srgbClr val="000000">
                <a:alpha val="35000"/>
              </a:srgbClr>
            </a:outerShdw>
          </a:effectLst>
        </p:spPr>
        <p:txBody>
          <a:bodyPr rtlCol="0" anchor="ctr"/>
          <a:lstStyle/>
          <a:p>
            <a:pPr algn="ctr">
              <a:defRPr/>
            </a:pPr>
            <a:r>
              <a:rPr lang="es-ES" sz="1000" kern="0" dirty="0">
                <a:solidFill>
                  <a:prstClr val="white"/>
                </a:solidFill>
                <a:latin typeface="Avenir 35" panose="00000400000000000000" pitchFamily="2" charset="0"/>
              </a:rPr>
              <a:t>Tendencias</a:t>
            </a:r>
          </a:p>
        </p:txBody>
      </p:sp>
      <p:sp>
        <p:nvSpPr>
          <p:cNvPr id="63" name="Rectangle 90"/>
          <p:cNvSpPr/>
          <p:nvPr>
            <p:custDataLst>
              <p:tags r:id="rId14"/>
            </p:custDataLst>
          </p:nvPr>
        </p:nvSpPr>
        <p:spPr>
          <a:xfrm>
            <a:off x="6842643" y="3080157"/>
            <a:ext cx="2095833" cy="181775"/>
          </a:xfrm>
          <a:prstGeom prst="rect">
            <a:avLst/>
          </a:prstGeom>
          <a:solidFill>
            <a:schemeClr val="bg1">
              <a:lumMod val="95000"/>
            </a:schemeClr>
          </a:solidFill>
          <a:ln w="9525" cap="flat" cmpd="sng" algn="ctr">
            <a:noFill/>
            <a:prstDash val="solid"/>
          </a:ln>
          <a:effectLst>
            <a:outerShdw blurRad="40000" dist="23000" dir="5400000" rotWithShape="0">
              <a:srgbClr val="000000">
                <a:alpha val="35000"/>
              </a:srgbClr>
            </a:outerShdw>
          </a:effectLst>
        </p:spPr>
        <p:txBody>
          <a:bodyPr rtlCol="0" anchor="ctr"/>
          <a:lstStyle/>
          <a:p>
            <a:pPr algn="ctr">
              <a:defRPr/>
            </a:pPr>
            <a:r>
              <a:rPr lang="es-ES" sz="1000" kern="0" dirty="0">
                <a:solidFill>
                  <a:srgbClr val="000000"/>
                </a:solidFill>
                <a:latin typeface="Avenir 35" panose="00000400000000000000" pitchFamily="2" charset="0"/>
              </a:rPr>
              <a:t>Estrategia</a:t>
            </a:r>
          </a:p>
        </p:txBody>
      </p:sp>
      <p:sp>
        <p:nvSpPr>
          <p:cNvPr id="64" name="63 Rectángulo redondeado"/>
          <p:cNvSpPr/>
          <p:nvPr>
            <p:custDataLst>
              <p:tags r:id="rId15"/>
            </p:custDataLst>
          </p:nvPr>
        </p:nvSpPr>
        <p:spPr>
          <a:xfrm>
            <a:off x="721187" y="1970459"/>
            <a:ext cx="1200885" cy="709598"/>
          </a:xfrm>
          <a:prstGeom prst="roundRect">
            <a:avLst/>
          </a:prstGeom>
          <a:noFill/>
          <a:ln w="25400" cap="flat" cmpd="sng" algn="ctr">
            <a:noFill/>
            <a:prstDash val="sysDot"/>
          </a:ln>
          <a:effectLst/>
        </p:spPr>
        <p:txBody>
          <a:bodyPr rtlCol="0" anchor="ctr"/>
          <a:lstStyle/>
          <a:p>
            <a:pPr algn="ctr">
              <a:defRPr/>
            </a:pPr>
            <a:endParaRPr lang="es-ES" sz="1000" b="1" kern="0" dirty="0">
              <a:solidFill>
                <a:srgbClr val="FFFFFF"/>
              </a:solidFill>
              <a:latin typeface="Avenir 35" panose="00000400000000000000" pitchFamily="2" charset="0"/>
            </a:endParaRPr>
          </a:p>
        </p:txBody>
      </p:sp>
      <p:sp>
        <p:nvSpPr>
          <p:cNvPr id="65" name="64 Rectángulo redondeado"/>
          <p:cNvSpPr/>
          <p:nvPr>
            <p:custDataLst>
              <p:tags r:id="rId16"/>
            </p:custDataLst>
          </p:nvPr>
        </p:nvSpPr>
        <p:spPr>
          <a:xfrm>
            <a:off x="710595" y="2433842"/>
            <a:ext cx="1211477" cy="670241"/>
          </a:xfrm>
          <a:prstGeom prst="roundRect">
            <a:avLst/>
          </a:prstGeom>
          <a:noFill/>
          <a:ln w="25400" cap="flat" cmpd="sng" algn="ctr">
            <a:noFill/>
            <a:prstDash val="sysDot"/>
          </a:ln>
          <a:effectLst/>
        </p:spPr>
        <p:txBody>
          <a:bodyPr rtlCol="0" anchor="ctr"/>
          <a:lstStyle/>
          <a:p>
            <a:pPr algn="ctr">
              <a:defRPr/>
            </a:pPr>
            <a:endParaRPr lang="es-ES" sz="1000" b="1" kern="0" dirty="0">
              <a:solidFill>
                <a:srgbClr val="FFFFFF"/>
              </a:solidFill>
              <a:latin typeface="Avenir 35" panose="00000400000000000000" pitchFamily="2" charset="0"/>
            </a:endParaRPr>
          </a:p>
        </p:txBody>
      </p:sp>
      <p:sp>
        <p:nvSpPr>
          <p:cNvPr id="66" name="TextBox 9"/>
          <p:cNvSpPr txBox="1"/>
          <p:nvPr>
            <p:custDataLst>
              <p:tags r:id="rId17"/>
            </p:custDataLst>
          </p:nvPr>
        </p:nvSpPr>
        <p:spPr>
          <a:xfrm>
            <a:off x="876588" y="1785349"/>
            <a:ext cx="922167" cy="246221"/>
          </a:xfrm>
          <a:prstGeom prst="rect">
            <a:avLst/>
          </a:prstGeom>
          <a:noFill/>
        </p:spPr>
        <p:txBody>
          <a:bodyPr wrap="square" lIns="0" rIns="0" rtlCol="0">
            <a:spAutoFit/>
          </a:bodyPr>
          <a:lstStyle/>
          <a:p>
            <a:pPr algn="ctr">
              <a:defRPr/>
            </a:pPr>
            <a:r>
              <a:rPr lang="es-ES" sz="1000" kern="0" dirty="0">
                <a:solidFill>
                  <a:sysClr val="windowText" lastClr="000000"/>
                </a:solidFill>
                <a:latin typeface="Avenir 35" panose="00000400000000000000" pitchFamily="2" charset="0"/>
              </a:rPr>
              <a:t>Información</a:t>
            </a:r>
          </a:p>
        </p:txBody>
      </p:sp>
      <p:sp>
        <p:nvSpPr>
          <p:cNvPr id="67" name="TextBox 9"/>
          <p:cNvSpPr txBox="1"/>
          <p:nvPr>
            <p:custDataLst>
              <p:tags r:id="rId18"/>
            </p:custDataLst>
          </p:nvPr>
        </p:nvSpPr>
        <p:spPr>
          <a:xfrm>
            <a:off x="829051" y="2936632"/>
            <a:ext cx="1047917" cy="246221"/>
          </a:xfrm>
          <a:prstGeom prst="rect">
            <a:avLst/>
          </a:prstGeom>
          <a:noFill/>
        </p:spPr>
        <p:txBody>
          <a:bodyPr wrap="square" lIns="0" rIns="0" rtlCol="0">
            <a:spAutoFit/>
          </a:bodyPr>
          <a:lstStyle/>
          <a:p>
            <a:pPr algn="ctr">
              <a:defRPr/>
            </a:pPr>
            <a:r>
              <a:rPr lang="es-ES" sz="1000" kern="0" dirty="0">
                <a:solidFill>
                  <a:sysClr val="windowText" lastClr="000000"/>
                </a:solidFill>
                <a:latin typeface="Avenir 35" panose="00000400000000000000" pitchFamily="2" charset="0"/>
              </a:rPr>
              <a:t>Conocimiento</a:t>
            </a:r>
          </a:p>
        </p:txBody>
      </p:sp>
      <p:sp>
        <p:nvSpPr>
          <p:cNvPr id="68" name="TextBox 9"/>
          <p:cNvSpPr txBox="1"/>
          <p:nvPr/>
        </p:nvSpPr>
        <p:spPr>
          <a:xfrm>
            <a:off x="823949" y="2380281"/>
            <a:ext cx="969701" cy="246221"/>
          </a:xfrm>
          <a:prstGeom prst="rect">
            <a:avLst/>
          </a:prstGeom>
          <a:noFill/>
        </p:spPr>
        <p:txBody>
          <a:bodyPr wrap="square" rtlCol="0">
            <a:spAutoFit/>
          </a:bodyPr>
          <a:lstStyle/>
          <a:p>
            <a:pPr algn="ctr">
              <a:defRPr/>
            </a:pPr>
            <a:r>
              <a:rPr lang="es-ES" sz="1000" kern="0" dirty="0">
                <a:solidFill>
                  <a:prstClr val="white"/>
                </a:solidFill>
                <a:latin typeface="Avenir 35" panose="00000400000000000000" pitchFamily="2" charset="0"/>
              </a:rPr>
              <a:t>Analytics</a:t>
            </a:r>
          </a:p>
        </p:txBody>
      </p:sp>
      <p:sp>
        <p:nvSpPr>
          <p:cNvPr id="69" name="68 Rectángulo"/>
          <p:cNvSpPr/>
          <p:nvPr>
            <p:custDataLst>
              <p:tags r:id="rId19"/>
            </p:custDataLst>
          </p:nvPr>
        </p:nvSpPr>
        <p:spPr>
          <a:xfrm>
            <a:off x="710596" y="1295794"/>
            <a:ext cx="8504113" cy="275083"/>
          </a:xfrm>
          <a:prstGeom prst="rect">
            <a:avLst/>
          </a:prstGeom>
          <a:solidFill>
            <a:srgbClr val="3CB2C3"/>
          </a:solidFill>
          <a:ln w="3175" cap="flat" cmpd="sng" algn="ctr">
            <a:solidFill>
              <a:schemeClr val="bg1">
                <a:lumMod val="85000"/>
              </a:schemeClr>
            </a:solidFill>
            <a:prstDash val="solid"/>
          </a:ln>
          <a:effectLst/>
        </p:spPr>
        <p:txBody>
          <a:bodyPr rtlCol="0" anchor="ctr"/>
          <a:lstStyle/>
          <a:p>
            <a:pPr algn="ctr">
              <a:defRPr/>
            </a:pPr>
            <a:r>
              <a:rPr lang="es-ES" sz="1000" kern="0" cap="all" dirty="0">
                <a:solidFill>
                  <a:prstClr val="white"/>
                </a:solidFill>
                <a:latin typeface="Avenir 35" panose="00000400000000000000" pitchFamily="2" charset="0"/>
              </a:rPr>
              <a:t>Tecnología: Datos</a:t>
            </a:r>
          </a:p>
        </p:txBody>
      </p:sp>
      <p:sp>
        <p:nvSpPr>
          <p:cNvPr id="70" name="69 Rectángulo"/>
          <p:cNvSpPr/>
          <p:nvPr>
            <p:custDataLst>
              <p:tags r:id="rId20"/>
            </p:custDataLst>
          </p:nvPr>
        </p:nvSpPr>
        <p:spPr>
          <a:xfrm>
            <a:off x="710596" y="3375156"/>
            <a:ext cx="8504113" cy="275083"/>
          </a:xfrm>
          <a:prstGeom prst="rect">
            <a:avLst/>
          </a:prstGeom>
          <a:solidFill>
            <a:srgbClr val="3CB2C3"/>
          </a:solidFill>
          <a:ln w="3175" cap="flat" cmpd="sng" algn="ctr">
            <a:solidFill>
              <a:schemeClr val="bg1">
                <a:lumMod val="85000"/>
              </a:schemeClr>
            </a:solidFill>
            <a:prstDash val="solid"/>
          </a:ln>
          <a:effectLst/>
        </p:spPr>
        <p:txBody>
          <a:bodyPr rtlCol="0" anchor="ctr"/>
          <a:lstStyle/>
          <a:p>
            <a:pPr algn="ctr">
              <a:defRPr/>
            </a:pPr>
            <a:r>
              <a:rPr lang="es-ES" sz="1000" kern="0" cap="all" dirty="0">
                <a:solidFill>
                  <a:prstClr val="white"/>
                </a:solidFill>
                <a:latin typeface="Avenir 35" panose="00000400000000000000" pitchFamily="2" charset="0"/>
              </a:rPr>
              <a:t>Negocio: Toma de decisiones</a:t>
            </a:r>
          </a:p>
        </p:txBody>
      </p:sp>
      <p:sp>
        <p:nvSpPr>
          <p:cNvPr id="71" name="Rectangle 7"/>
          <p:cNvSpPr/>
          <p:nvPr>
            <p:custDataLst>
              <p:tags r:id="rId21"/>
            </p:custDataLst>
          </p:nvPr>
        </p:nvSpPr>
        <p:spPr>
          <a:xfrm>
            <a:off x="4433180" y="2279005"/>
            <a:ext cx="2095833" cy="427496"/>
          </a:xfrm>
          <a:prstGeom prst="rect">
            <a:avLst/>
          </a:prstGeom>
          <a:solidFill>
            <a:srgbClr val="3CB2C3"/>
          </a:solidFill>
          <a:ln w="9525" cap="flat" cmpd="sng" algn="ctr">
            <a:noFill/>
            <a:prstDash val="solid"/>
          </a:ln>
          <a:effectLst>
            <a:outerShdw blurRad="40000" dist="23000" dir="5400000" rotWithShape="0">
              <a:srgbClr val="000000">
                <a:alpha val="35000"/>
              </a:srgbClr>
            </a:outerShdw>
          </a:effectLst>
        </p:spPr>
        <p:txBody>
          <a:bodyPr rtlCol="0" anchor="ctr"/>
          <a:lstStyle/>
          <a:p>
            <a:pPr algn="ctr">
              <a:defRPr/>
            </a:pPr>
            <a:r>
              <a:rPr lang="es-ES" sz="1200" kern="0" dirty="0">
                <a:solidFill>
                  <a:srgbClr val="FFFFFF"/>
                </a:solidFill>
                <a:latin typeface="Avenir 35" panose="00000400000000000000" pitchFamily="2" charset="0"/>
              </a:rPr>
              <a:t>Presente</a:t>
            </a:r>
          </a:p>
        </p:txBody>
      </p:sp>
      <p:sp>
        <p:nvSpPr>
          <p:cNvPr id="72" name="Rectangle 7"/>
          <p:cNvSpPr/>
          <p:nvPr>
            <p:custDataLst>
              <p:tags r:id="rId22"/>
            </p:custDataLst>
          </p:nvPr>
        </p:nvSpPr>
        <p:spPr>
          <a:xfrm>
            <a:off x="6842643" y="2279005"/>
            <a:ext cx="2095833" cy="427496"/>
          </a:xfrm>
          <a:prstGeom prst="rect">
            <a:avLst/>
          </a:prstGeom>
          <a:solidFill>
            <a:srgbClr val="3CB2C3"/>
          </a:solidFill>
          <a:ln w="9525" cap="flat" cmpd="sng" algn="ctr">
            <a:noFill/>
            <a:prstDash val="solid"/>
          </a:ln>
          <a:effectLst>
            <a:outerShdw blurRad="40000" dist="23000" dir="5400000" rotWithShape="0">
              <a:srgbClr val="000000">
                <a:alpha val="35000"/>
              </a:srgbClr>
            </a:outerShdw>
          </a:effectLst>
        </p:spPr>
        <p:txBody>
          <a:bodyPr rtlCol="0" anchor="ctr"/>
          <a:lstStyle/>
          <a:p>
            <a:pPr algn="ctr">
              <a:defRPr/>
            </a:pPr>
            <a:r>
              <a:rPr lang="es-ES" sz="1200" kern="0" dirty="0">
                <a:solidFill>
                  <a:srgbClr val="FFFFFF"/>
                </a:solidFill>
                <a:latin typeface="Avenir 35" panose="00000400000000000000" pitchFamily="2" charset="0"/>
              </a:rPr>
              <a:t>Futuro</a:t>
            </a:r>
          </a:p>
        </p:txBody>
      </p:sp>
      <p:sp>
        <p:nvSpPr>
          <p:cNvPr id="73" name="1 CuadroTexto"/>
          <p:cNvSpPr txBox="1"/>
          <p:nvPr/>
        </p:nvSpPr>
        <p:spPr>
          <a:xfrm>
            <a:off x="234659" y="6360596"/>
            <a:ext cx="1152128" cy="430887"/>
          </a:xfrm>
          <a:prstGeom prst="rect">
            <a:avLst/>
          </a:prstGeom>
          <a:noFill/>
        </p:spPr>
        <p:txBody>
          <a:bodyPr wrap="square" rtlCol="0">
            <a:spAutoFit/>
          </a:bodyPr>
          <a:lstStyle/>
          <a:p>
            <a:pPr algn="ctr">
              <a:defRPr/>
            </a:pPr>
            <a:r>
              <a:rPr lang="es-ES" sz="1100" kern="0" dirty="0">
                <a:solidFill>
                  <a:prstClr val="black"/>
                </a:solidFill>
                <a:latin typeface="Avenir 35" panose="00000400000000000000" pitchFamily="2" charset="0"/>
              </a:rPr>
              <a:t>Necesidad de negocio</a:t>
            </a:r>
          </a:p>
        </p:txBody>
      </p:sp>
      <p:sp>
        <p:nvSpPr>
          <p:cNvPr id="97" name="14 CuadroTexto"/>
          <p:cNvSpPr txBox="1"/>
          <p:nvPr/>
        </p:nvSpPr>
        <p:spPr>
          <a:xfrm>
            <a:off x="8616862" y="5939829"/>
            <a:ext cx="1152128" cy="430887"/>
          </a:xfrm>
          <a:prstGeom prst="rect">
            <a:avLst/>
          </a:prstGeom>
          <a:noFill/>
        </p:spPr>
        <p:txBody>
          <a:bodyPr wrap="square" rtlCol="0">
            <a:spAutoFit/>
          </a:bodyPr>
          <a:lstStyle/>
          <a:p>
            <a:pPr algn="ctr">
              <a:defRPr/>
            </a:pPr>
            <a:r>
              <a:rPr lang="es-ES" sz="1100" kern="0" dirty="0">
                <a:solidFill>
                  <a:prstClr val="black"/>
                </a:solidFill>
                <a:latin typeface="Avenir 35" panose="00000400000000000000" pitchFamily="2" charset="0"/>
              </a:rPr>
              <a:t>Resultados de negocio</a:t>
            </a:r>
          </a:p>
        </p:txBody>
      </p:sp>
      <p:grpSp>
        <p:nvGrpSpPr>
          <p:cNvPr id="98" name="97 Grupo"/>
          <p:cNvGrpSpPr/>
          <p:nvPr/>
        </p:nvGrpSpPr>
        <p:grpSpPr>
          <a:xfrm>
            <a:off x="1870325" y="4182670"/>
            <a:ext cx="2494932" cy="2317643"/>
            <a:chOff x="556341" y="3228694"/>
            <a:chExt cx="2665762" cy="3810454"/>
          </a:xfrm>
        </p:grpSpPr>
        <p:sp>
          <p:nvSpPr>
            <p:cNvPr id="99" name="98 Pentágono"/>
            <p:cNvSpPr/>
            <p:nvPr/>
          </p:nvSpPr>
          <p:spPr>
            <a:xfrm>
              <a:off x="557212" y="3228694"/>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49" dirty="0">
                <a:solidFill>
                  <a:srgbClr val="FFFFFF"/>
                </a:solidFill>
                <a:latin typeface="Avenir 35" panose="00000400000000000000" pitchFamily="2" charset="0"/>
              </a:endParaRPr>
            </a:p>
          </p:txBody>
        </p:sp>
        <p:sp>
          <p:nvSpPr>
            <p:cNvPr id="100" name="99 Pentágono"/>
            <p:cNvSpPr/>
            <p:nvPr/>
          </p:nvSpPr>
          <p:spPr>
            <a:xfrm>
              <a:off x="557212" y="3487150"/>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01" name="100 Pentágono"/>
            <p:cNvSpPr/>
            <p:nvPr/>
          </p:nvSpPr>
          <p:spPr>
            <a:xfrm>
              <a:off x="557212" y="4004063"/>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02" name="101 Pentágono"/>
            <p:cNvSpPr/>
            <p:nvPr/>
          </p:nvSpPr>
          <p:spPr>
            <a:xfrm>
              <a:off x="557212" y="4520975"/>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03" name="102 Pentágono"/>
            <p:cNvSpPr/>
            <p:nvPr/>
          </p:nvSpPr>
          <p:spPr>
            <a:xfrm>
              <a:off x="557212" y="3745607"/>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04" name="103 Pentágono"/>
            <p:cNvSpPr/>
            <p:nvPr/>
          </p:nvSpPr>
          <p:spPr>
            <a:xfrm>
              <a:off x="557212" y="4262519"/>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05" name="104 Pentágono"/>
            <p:cNvSpPr/>
            <p:nvPr/>
          </p:nvSpPr>
          <p:spPr>
            <a:xfrm>
              <a:off x="557212" y="4779432"/>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06" name="105 Pentágono"/>
            <p:cNvSpPr/>
            <p:nvPr/>
          </p:nvSpPr>
          <p:spPr>
            <a:xfrm>
              <a:off x="557212" y="5037888"/>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07" name="106 Pentágono"/>
            <p:cNvSpPr/>
            <p:nvPr/>
          </p:nvSpPr>
          <p:spPr>
            <a:xfrm>
              <a:off x="557212" y="5296344"/>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08" name="107 Pentágono"/>
            <p:cNvSpPr/>
            <p:nvPr/>
          </p:nvSpPr>
          <p:spPr>
            <a:xfrm>
              <a:off x="557212" y="5554800"/>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09" name="108 Pentágono"/>
            <p:cNvSpPr/>
            <p:nvPr/>
          </p:nvSpPr>
          <p:spPr>
            <a:xfrm>
              <a:off x="557212" y="5813257"/>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10" name="109 Pentágono"/>
            <p:cNvSpPr/>
            <p:nvPr/>
          </p:nvSpPr>
          <p:spPr>
            <a:xfrm>
              <a:off x="557212" y="6071713"/>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11" name="110 Pentágono"/>
            <p:cNvSpPr/>
            <p:nvPr/>
          </p:nvSpPr>
          <p:spPr>
            <a:xfrm>
              <a:off x="557212" y="6330169"/>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12" name="111 Pentágono"/>
            <p:cNvSpPr/>
            <p:nvPr/>
          </p:nvSpPr>
          <p:spPr>
            <a:xfrm>
              <a:off x="557212" y="6588621"/>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13" name="112 Rectángulo redondeado"/>
            <p:cNvSpPr/>
            <p:nvPr/>
          </p:nvSpPr>
          <p:spPr>
            <a:xfrm>
              <a:off x="557212" y="4025908"/>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CONTRATOS  FINANCIEROS</a:t>
              </a:r>
            </a:p>
          </p:txBody>
        </p:sp>
        <p:sp>
          <p:nvSpPr>
            <p:cNvPr id="114" name="113 Rectángulo redondeado"/>
            <p:cNvSpPr/>
            <p:nvPr/>
          </p:nvSpPr>
          <p:spPr>
            <a:xfrm>
              <a:off x="557212" y="3765714"/>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CRM CAMPAIGNS (SALES &amp; AFTERSALES)</a:t>
              </a:r>
            </a:p>
          </p:txBody>
        </p:sp>
        <p:sp>
          <p:nvSpPr>
            <p:cNvPr id="115" name="114 Rectángulo redondeado"/>
            <p:cNvSpPr/>
            <p:nvPr/>
          </p:nvSpPr>
          <p:spPr>
            <a:xfrm>
              <a:off x="557212" y="4806491"/>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MOBILITY / ASSISTANCE EVENTS</a:t>
              </a:r>
            </a:p>
          </p:txBody>
        </p:sp>
        <p:sp>
          <p:nvSpPr>
            <p:cNvPr id="116" name="115 Rectángulo redondeado"/>
            <p:cNvSpPr/>
            <p:nvPr/>
          </p:nvSpPr>
          <p:spPr>
            <a:xfrm>
              <a:off x="557212" y="5326879"/>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EXTENSIÓN DE GARANTÍA</a:t>
              </a:r>
            </a:p>
          </p:txBody>
        </p:sp>
        <p:sp>
          <p:nvSpPr>
            <p:cNvPr id="118" name="117 Rectángulo redondeado"/>
            <p:cNvSpPr/>
            <p:nvPr/>
          </p:nvSpPr>
          <p:spPr>
            <a:xfrm>
              <a:off x="557212" y="6367656"/>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AFTERSALES EVENTS</a:t>
              </a:r>
            </a:p>
          </p:txBody>
        </p:sp>
        <p:sp>
          <p:nvSpPr>
            <p:cNvPr id="119" name="118 Rectángulo redondeado"/>
            <p:cNvSpPr/>
            <p:nvPr/>
          </p:nvSpPr>
          <p:spPr>
            <a:xfrm>
              <a:off x="557212" y="3505520"/>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DATOS DEMOGRÁFICOS</a:t>
              </a:r>
            </a:p>
          </p:txBody>
        </p:sp>
        <p:sp>
          <p:nvSpPr>
            <p:cNvPr id="120" name="119 Rectángulo redondeado"/>
            <p:cNvSpPr/>
            <p:nvPr/>
          </p:nvSpPr>
          <p:spPr>
            <a:xfrm>
              <a:off x="557213" y="4546296"/>
              <a:ext cx="2459488" cy="166313"/>
            </a:xfrm>
            <a:prstGeom prst="roundRect">
              <a:avLst/>
            </a:prstGeom>
            <a:noFill/>
            <a:ln w="3175" cap="flat" cmpd="sng" algn="ctr">
              <a:noFill/>
              <a:prstDash val="solid"/>
            </a:ln>
            <a:effectLst/>
          </p:spPr>
          <p:txBody>
            <a:bodyPr lIns="36000" rIns="36000" rtlCol="0" anchor="ctr"/>
            <a:lstStyle/>
            <a:p>
              <a:pPr>
                <a:lnSpc>
                  <a:spcPct val="90000"/>
                </a:lnSpc>
                <a:defRPr/>
              </a:pPr>
              <a:r>
                <a:rPr lang="en-GB" sz="900" kern="0" spc="-99" dirty="0">
                  <a:solidFill>
                    <a:srgbClr val="FFFFFF"/>
                  </a:solidFill>
                  <a:latin typeface="Avenir 35" panose="00000400000000000000" pitchFamily="2" charset="0"/>
                  <a:cs typeface="Arial" pitchFamily="34" charset="0"/>
                </a:rPr>
                <a:t>TRANSFERENCIAS &amp; BAJAS MATRICULACIONES</a:t>
              </a:r>
            </a:p>
          </p:txBody>
        </p:sp>
        <p:sp>
          <p:nvSpPr>
            <p:cNvPr id="121" name="120 Rectángulo redondeado"/>
            <p:cNvSpPr/>
            <p:nvPr/>
          </p:nvSpPr>
          <p:spPr>
            <a:xfrm>
              <a:off x="557212" y="4286102"/>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CONTRATOS DE SEGUROS</a:t>
              </a:r>
            </a:p>
          </p:txBody>
        </p:sp>
        <p:sp>
          <p:nvSpPr>
            <p:cNvPr id="122" name="121 Rectángulo redondeado"/>
            <p:cNvSpPr/>
            <p:nvPr/>
          </p:nvSpPr>
          <p:spPr>
            <a:xfrm>
              <a:off x="557212" y="5587073"/>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COMPLAINTS &amp; CLAIMS</a:t>
              </a:r>
            </a:p>
          </p:txBody>
        </p:sp>
        <p:sp>
          <p:nvSpPr>
            <p:cNvPr id="123" name="122 Rectángulo redondeado"/>
            <p:cNvSpPr/>
            <p:nvPr/>
          </p:nvSpPr>
          <p:spPr>
            <a:xfrm>
              <a:off x="557212" y="5847268"/>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CUSTOMER SATISFACTION</a:t>
              </a:r>
            </a:p>
          </p:txBody>
        </p:sp>
        <p:sp>
          <p:nvSpPr>
            <p:cNvPr id="124" name="123 Rectángulo redondeado"/>
            <p:cNvSpPr/>
            <p:nvPr/>
          </p:nvSpPr>
          <p:spPr>
            <a:xfrm>
              <a:off x="557212" y="6627854"/>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SERVICE CONTRACTS</a:t>
              </a:r>
            </a:p>
          </p:txBody>
        </p:sp>
        <p:sp>
          <p:nvSpPr>
            <p:cNvPr id="125" name="124 Rectángulo redondeado"/>
            <p:cNvSpPr/>
            <p:nvPr/>
          </p:nvSpPr>
          <p:spPr>
            <a:xfrm>
              <a:off x="557212" y="6107462"/>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INVOICING DATA</a:t>
              </a:r>
            </a:p>
          </p:txBody>
        </p:sp>
        <p:sp>
          <p:nvSpPr>
            <p:cNvPr id="126" name="125 Rectángulo redondeado"/>
            <p:cNvSpPr/>
            <p:nvPr/>
          </p:nvSpPr>
          <p:spPr>
            <a:xfrm>
              <a:off x="557212" y="3245325"/>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CAR INFORMATION</a:t>
              </a:r>
            </a:p>
          </p:txBody>
        </p:sp>
        <p:sp>
          <p:nvSpPr>
            <p:cNvPr id="127" name="126 Rectángulo redondeado"/>
            <p:cNvSpPr/>
            <p:nvPr/>
          </p:nvSpPr>
          <p:spPr>
            <a:xfrm>
              <a:off x="557212" y="5066685"/>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DATA ON CAR EXTRAS/ACCESORIES</a:t>
              </a:r>
            </a:p>
          </p:txBody>
        </p:sp>
        <p:sp>
          <p:nvSpPr>
            <p:cNvPr id="128" name="127 Pentágono"/>
            <p:cNvSpPr/>
            <p:nvPr/>
          </p:nvSpPr>
          <p:spPr>
            <a:xfrm>
              <a:off x="556341" y="6839572"/>
              <a:ext cx="2664891" cy="199576"/>
            </a:xfrm>
            <a:prstGeom prst="homePlate">
              <a:avLst>
                <a:gd name="adj" fmla="val 24655"/>
              </a:avLst>
            </a:prstGeom>
            <a:gradFill flip="none" rotWithShape="1">
              <a:gsLst>
                <a:gs pos="0">
                  <a:srgbClr val="56BDD4">
                    <a:shade val="30000"/>
                    <a:satMod val="115000"/>
                  </a:srgbClr>
                </a:gs>
                <a:gs pos="64000">
                  <a:srgbClr val="56BDD4">
                    <a:shade val="67500"/>
                    <a:satMod val="115000"/>
                  </a:srgbClr>
                </a:gs>
                <a:gs pos="100000">
                  <a:srgbClr val="56BDD4">
                    <a:shade val="100000"/>
                    <a:satMod val="115000"/>
                  </a:srgbClr>
                </a:gs>
              </a:gsLst>
              <a:lin ang="0" scaled="1"/>
              <a:tileRect/>
            </a:gradFill>
            <a:ln w="25400" cap="flat" cmpd="sng" algn="ctr">
              <a:noFill/>
              <a:prstDash val="solid"/>
            </a:ln>
            <a:effectLst>
              <a:outerShdw blurRad="50800" dist="38100" dir="5400000" algn="t" rotWithShape="0">
                <a:prstClr val="black">
                  <a:alpha val="40000"/>
                </a:prstClr>
              </a:outerShdw>
            </a:effectLst>
          </p:spPr>
          <p:txBody>
            <a:bodyPr rtlCol="0" anchor="ctr"/>
            <a:lstStyle/>
            <a:p>
              <a:pPr algn="ctr">
                <a:defRPr/>
              </a:pPr>
              <a:endParaRPr lang="en-GB" sz="900" kern="0" spc="-99" dirty="0">
                <a:solidFill>
                  <a:srgbClr val="FFFFFF"/>
                </a:solidFill>
                <a:latin typeface="Avenir 35" panose="00000400000000000000" pitchFamily="2" charset="0"/>
              </a:endParaRPr>
            </a:p>
          </p:txBody>
        </p:sp>
        <p:sp>
          <p:nvSpPr>
            <p:cNvPr id="129" name="128 Rectángulo redondeado"/>
            <p:cNvSpPr/>
            <p:nvPr/>
          </p:nvSpPr>
          <p:spPr>
            <a:xfrm>
              <a:off x="557212" y="6806797"/>
              <a:ext cx="2459488" cy="166313"/>
            </a:xfrm>
            <a:prstGeom prst="roundRect">
              <a:avLst/>
            </a:prstGeom>
            <a:noFill/>
            <a:ln w="3175" cap="flat" cmpd="sng" algn="ctr">
              <a:noFill/>
              <a:prstDash val="solid"/>
            </a:ln>
            <a:effectLst/>
          </p:spPr>
          <p:txBody>
            <a:bodyPr lIns="36000" rIns="36000" rtlCol="0" anchor="ctr"/>
            <a:lstStyle/>
            <a:p>
              <a:pPr>
                <a:defRPr/>
              </a:pPr>
              <a:r>
                <a:rPr lang="en-GB" sz="900" kern="0" spc="-99" dirty="0">
                  <a:solidFill>
                    <a:srgbClr val="FFFFFF"/>
                  </a:solidFill>
                  <a:latin typeface="Avenir 35" panose="00000400000000000000" pitchFamily="2" charset="0"/>
                  <a:cs typeface="Arial" pitchFamily="34" charset="0"/>
                </a:rPr>
                <a:t>…</a:t>
              </a:r>
            </a:p>
          </p:txBody>
        </p:sp>
      </p:grpSp>
      <p:sp>
        <p:nvSpPr>
          <p:cNvPr id="130" name="129 Rectángulo redondeado"/>
          <p:cNvSpPr/>
          <p:nvPr/>
        </p:nvSpPr>
        <p:spPr>
          <a:xfrm>
            <a:off x="1867351" y="6641046"/>
            <a:ext cx="690563" cy="170964"/>
          </a:xfrm>
          <a:prstGeom prst="roundRect">
            <a:avLst>
              <a:gd name="adj" fmla="val 0"/>
            </a:avLst>
          </a:prstGeom>
          <a:solidFill>
            <a:srgbClr val="4BACC6">
              <a:lumMod val="40000"/>
              <a:lumOff val="60000"/>
            </a:srgbClr>
          </a:solidFill>
          <a:ln w="9525" cap="flat" cmpd="sng" algn="ctr">
            <a:noFill/>
            <a:prstDash val="solid"/>
          </a:ln>
          <a:effectLst/>
        </p:spPr>
        <p:txBody>
          <a:bodyPr lIns="0" tIns="35554" rIns="0" bIns="35554" rtlCol="0" anchor="ctr"/>
          <a:lstStyle/>
          <a:p>
            <a:pPr algn="ctr">
              <a:defRPr/>
            </a:pPr>
            <a:r>
              <a:rPr lang="en-US" sz="700" kern="0" dirty="0">
                <a:solidFill>
                  <a:srgbClr val="000000">
                    <a:lumMod val="75000"/>
                    <a:lumOff val="25000"/>
                  </a:srgbClr>
                </a:solidFill>
                <a:latin typeface="Franklin Gothic Demi Cond" pitchFamily="34" charset="0"/>
                <a:cs typeface="Arial" pitchFamily="34" charset="0"/>
              </a:rPr>
              <a:t>DATA AUDITORY</a:t>
            </a:r>
          </a:p>
        </p:txBody>
      </p:sp>
      <p:sp>
        <p:nvSpPr>
          <p:cNvPr id="131" name="130 Rectángulo redondeado"/>
          <p:cNvSpPr/>
          <p:nvPr/>
        </p:nvSpPr>
        <p:spPr>
          <a:xfrm>
            <a:off x="2581494" y="6642412"/>
            <a:ext cx="945714" cy="170964"/>
          </a:xfrm>
          <a:prstGeom prst="roundRect">
            <a:avLst>
              <a:gd name="adj" fmla="val 0"/>
            </a:avLst>
          </a:prstGeom>
          <a:solidFill>
            <a:srgbClr val="4BACC6">
              <a:lumMod val="40000"/>
              <a:lumOff val="60000"/>
            </a:srgbClr>
          </a:solidFill>
          <a:ln w="9525" cap="flat" cmpd="sng" algn="ctr">
            <a:solidFill>
              <a:srgbClr val="FFFFFF"/>
            </a:solidFill>
            <a:prstDash val="solid"/>
          </a:ln>
          <a:effectLst/>
        </p:spPr>
        <p:txBody>
          <a:bodyPr lIns="0" tIns="35554" rIns="0" bIns="35554" rtlCol="0" anchor="ctr"/>
          <a:lstStyle/>
          <a:p>
            <a:pPr algn="ctr">
              <a:defRPr/>
            </a:pPr>
            <a:r>
              <a:rPr lang="en-US" sz="700" kern="0" dirty="0">
                <a:solidFill>
                  <a:srgbClr val="000000">
                    <a:lumMod val="75000"/>
                    <a:lumOff val="25000"/>
                  </a:srgbClr>
                </a:solidFill>
                <a:latin typeface="Franklin Gothic Demi Cond" pitchFamily="34" charset="0"/>
                <a:cs typeface="Arial" pitchFamily="34" charset="0"/>
              </a:rPr>
              <a:t>DATA QUALITY ASSURANCE</a:t>
            </a:r>
          </a:p>
        </p:txBody>
      </p:sp>
      <p:sp>
        <p:nvSpPr>
          <p:cNvPr id="132" name="131 Rectángulo redondeado"/>
          <p:cNvSpPr/>
          <p:nvPr/>
        </p:nvSpPr>
        <p:spPr>
          <a:xfrm>
            <a:off x="3550788" y="6642412"/>
            <a:ext cx="814470" cy="169598"/>
          </a:xfrm>
          <a:prstGeom prst="roundRect">
            <a:avLst>
              <a:gd name="adj" fmla="val 0"/>
            </a:avLst>
          </a:prstGeom>
          <a:solidFill>
            <a:srgbClr val="4BACC6">
              <a:lumMod val="40000"/>
              <a:lumOff val="60000"/>
            </a:srgbClr>
          </a:solidFill>
          <a:ln w="9525" cap="flat" cmpd="sng" algn="ctr">
            <a:solidFill>
              <a:srgbClr val="FFFFFF"/>
            </a:solidFill>
            <a:prstDash val="solid"/>
          </a:ln>
          <a:effectLst/>
        </p:spPr>
        <p:txBody>
          <a:bodyPr lIns="0" tIns="35554" rIns="0" bIns="35554" rtlCol="0" anchor="ctr"/>
          <a:lstStyle/>
          <a:p>
            <a:pPr algn="ctr">
              <a:defRPr/>
            </a:pPr>
            <a:r>
              <a:rPr lang="en-US" sz="700" kern="0" dirty="0">
                <a:solidFill>
                  <a:srgbClr val="000000">
                    <a:lumMod val="75000"/>
                    <a:lumOff val="25000"/>
                  </a:srgbClr>
                </a:solidFill>
                <a:latin typeface="Franklin Gothic Demi Cond" pitchFamily="34" charset="0"/>
                <a:cs typeface="Arial" pitchFamily="34" charset="0"/>
              </a:rPr>
              <a:t>DATA TRANSFORMATION</a:t>
            </a:r>
          </a:p>
        </p:txBody>
      </p:sp>
      <p:pic>
        <p:nvPicPr>
          <p:cNvPr id="133" name="Picture 190" descr="Arrow Icon"/>
          <p:cNvPicPr>
            <a:picLocks noChangeAspect="1" noChangeArrowheads="1"/>
          </p:cNvPicPr>
          <p:nvPr/>
        </p:nvPicPr>
        <p:blipFill>
          <a:blip r:embed="rId24" cstate="print">
            <a:duotone>
              <a:srgbClr val="4BACC6">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2142963" y="6500315"/>
            <a:ext cx="139339" cy="136637"/>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190" descr="Arrow Icon"/>
          <p:cNvPicPr>
            <a:picLocks noChangeAspect="1" noChangeArrowheads="1"/>
          </p:cNvPicPr>
          <p:nvPr/>
        </p:nvPicPr>
        <p:blipFill>
          <a:blip r:embed="rId24" cstate="print">
            <a:duotone>
              <a:srgbClr val="4BACC6">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2984683" y="6500315"/>
            <a:ext cx="139339" cy="136637"/>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190" descr="Arrow Icon"/>
          <p:cNvPicPr>
            <a:picLocks noChangeAspect="1" noChangeArrowheads="1"/>
          </p:cNvPicPr>
          <p:nvPr/>
        </p:nvPicPr>
        <p:blipFill>
          <a:blip r:embed="rId24" cstate="print">
            <a:duotone>
              <a:srgbClr val="4BACC6">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3931885" y="6500315"/>
            <a:ext cx="139339" cy="136637"/>
          </a:xfrm>
          <a:prstGeom prst="rect">
            <a:avLst/>
          </a:prstGeom>
          <a:noFill/>
          <a:extLst>
            <a:ext uri="{909E8E84-426E-40DD-AFC4-6F175D3DCCD1}">
              <a14:hiddenFill xmlns:a14="http://schemas.microsoft.com/office/drawing/2010/main">
                <a:solidFill>
                  <a:srgbClr val="FFFFFF"/>
                </a:solidFill>
              </a14:hiddenFill>
            </a:ext>
          </a:extLst>
        </p:spPr>
      </p:pic>
      <p:sp>
        <p:nvSpPr>
          <p:cNvPr id="136" name="135 Flecha derecha"/>
          <p:cNvSpPr/>
          <p:nvPr/>
        </p:nvSpPr>
        <p:spPr>
          <a:xfrm>
            <a:off x="4554510" y="5179631"/>
            <a:ext cx="283953" cy="241334"/>
          </a:xfrm>
          <a:prstGeom prst="rightArrow">
            <a:avLst>
              <a:gd name="adj1" fmla="val 67933"/>
              <a:gd name="adj2" fmla="val 50000"/>
            </a:avLst>
          </a:prstGeom>
          <a:noFill/>
          <a:ln>
            <a:solidFill>
              <a:srgbClr val="0097B7"/>
            </a:solidFill>
          </a:ln>
        </p:spPr>
        <p:style>
          <a:lnRef idx="2">
            <a:schemeClr val="accent1">
              <a:shade val="50000"/>
            </a:schemeClr>
          </a:lnRef>
          <a:fillRef idx="1">
            <a:schemeClr val="accent1"/>
          </a:fillRef>
          <a:effectRef idx="0">
            <a:schemeClr val="accent1"/>
          </a:effectRef>
          <a:fontRef idx="minor">
            <a:schemeClr val="lt1"/>
          </a:fontRef>
        </p:style>
        <p:txBody>
          <a:bodyPr lIns="90306" tIns="45153" rIns="90306" bIns="45153" rtlCol="0" anchor="ctr"/>
          <a:lstStyle/>
          <a:p>
            <a:pPr algn="ctr"/>
            <a:endParaRPr lang="es-ES" dirty="0">
              <a:solidFill>
                <a:prstClr val="white"/>
              </a:solidFill>
            </a:endParaRPr>
          </a:p>
        </p:txBody>
      </p:sp>
      <p:sp>
        <p:nvSpPr>
          <p:cNvPr id="137" name="136 CuadroTexto"/>
          <p:cNvSpPr txBox="1"/>
          <p:nvPr/>
        </p:nvSpPr>
        <p:spPr>
          <a:xfrm>
            <a:off x="4721008" y="4476179"/>
            <a:ext cx="1286474" cy="398936"/>
          </a:xfrm>
          <a:prstGeom prst="rect">
            <a:avLst/>
          </a:prstGeom>
          <a:noFill/>
        </p:spPr>
        <p:txBody>
          <a:bodyPr wrap="square" lIns="90281" tIns="45139" rIns="90281" bIns="45139" rtlCol="0">
            <a:spAutoFit/>
          </a:bodyPr>
          <a:lstStyle/>
          <a:p>
            <a:pPr algn="ctr" defTabSz="902813"/>
            <a:r>
              <a:rPr lang="en-GB" sz="1000" spc="-49" dirty="0">
                <a:solidFill>
                  <a:srgbClr val="FFFFFF">
                    <a:lumMod val="50000"/>
                  </a:srgbClr>
                </a:solidFill>
                <a:latin typeface="Avenir 35" panose="00000400000000000000" pitchFamily="2" charset="0"/>
                <a:cs typeface="Arial" pitchFamily="34" charset="0"/>
              </a:rPr>
              <a:t>ENTORNO</a:t>
            </a:r>
          </a:p>
          <a:p>
            <a:pPr algn="ctr" defTabSz="902813"/>
            <a:r>
              <a:rPr lang="en-GB" sz="1000" spc="-49" dirty="0">
                <a:solidFill>
                  <a:srgbClr val="FFFFFF">
                    <a:lumMod val="50000"/>
                  </a:srgbClr>
                </a:solidFill>
                <a:latin typeface="Avenir 35" panose="00000400000000000000" pitchFamily="2" charset="0"/>
                <a:cs typeface="Arial" pitchFamily="34" charset="0"/>
              </a:rPr>
              <a:t>ANALÍTICO</a:t>
            </a:r>
          </a:p>
        </p:txBody>
      </p:sp>
      <p:sp>
        <p:nvSpPr>
          <p:cNvPr id="138" name="1 CuadroTexto"/>
          <p:cNvSpPr txBox="1"/>
          <p:nvPr/>
        </p:nvSpPr>
        <p:spPr>
          <a:xfrm>
            <a:off x="4799317" y="5944264"/>
            <a:ext cx="1152128" cy="430887"/>
          </a:xfrm>
          <a:prstGeom prst="rect">
            <a:avLst/>
          </a:prstGeom>
          <a:noFill/>
        </p:spPr>
        <p:txBody>
          <a:bodyPr wrap="square" rtlCol="0">
            <a:spAutoFit/>
          </a:bodyPr>
          <a:lstStyle/>
          <a:p>
            <a:pPr algn="ctr">
              <a:defRPr/>
            </a:pPr>
            <a:r>
              <a:rPr lang="es-ES" sz="1100" kern="0" dirty="0">
                <a:solidFill>
                  <a:prstClr val="black"/>
                </a:solidFill>
                <a:latin typeface="Avenir 35" panose="00000400000000000000" pitchFamily="2" charset="0"/>
              </a:rPr>
              <a:t>Entorno Analítico</a:t>
            </a:r>
          </a:p>
        </p:txBody>
      </p:sp>
      <p:sp>
        <p:nvSpPr>
          <p:cNvPr id="139" name="1 CuadroTexto"/>
          <p:cNvSpPr txBox="1"/>
          <p:nvPr/>
        </p:nvSpPr>
        <p:spPr>
          <a:xfrm>
            <a:off x="6681195" y="5954536"/>
            <a:ext cx="1152128" cy="430887"/>
          </a:xfrm>
          <a:prstGeom prst="rect">
            <a:avLst/>
          </a:prstGeom>
          <a:noFill/>
        </p:spPr>
        <p:txBody>
          <a:bodyPr wrap="square" rtlCol="0">
            <a:spAutoFit/>
          </a:bodyPr>
          <a:lstStyle/>
          <a:p>
            <a:pPr algn="ctr">
              <a:defRPr/>
            </a:pPr>
            <a:r>
              <a:rPr lang="es-ES" sz="1100" kern="0" dirty="0">
                <a:solidFill>
                  <a:prstClr val="black"/>
                </a:solidFill>
                <a:latin typeface="Avenir 35" panose="00000400000000000000" pitchFamily="2" charset="0"/>
              </a:rPr>
              <a:t>Modelo Estadístico</a:t>
            </a:r>
          </a:p>
        </p:txBody>
      </p:sp>
      <p:sp>
        <p:nvSpPr>
          <p:cNvPr id="140" name="139 Flecha derecha"/>
          <p:cNvSpPr/>
          <p:nvPr/>
        </p:nvSpPr>
        <p:spPr>
          <a:xfrm>
            <a:off x="5934958" y="5169529"/>
            <a:ext cx="283953" cy="241334"/>
          </a:xfrm>
          <a:prstGeom prst="rightArrow">
            <a:avLst>
              <a:gd name="adj1" fmla="val 67933"/>
              <a:gd name="adj2" fmla="val 50000"/>
            </a:avLst>
          </a:prstGeom>
          <a:noFill/>
          <a:ln>
            <a:solidFill>
              <a:srgbClr val="0097B7"/>
            </a:solidFill>
          </a:ln>
        </p:spPr>
        <p:style>
          <a:lnRef idx="2">
            <a:schemeClr val="accent1">
              <a:shade val="50000"/>
            </a:schemeClr>
          </a:lnRef>
          <a:fillRef idx="1">
            <a:schemeClr val="accent1"/>
          </a:fillRef>
          <a:effectRef idx="0">
            <a:schemeClr val="accent1"/>
          </a:effectRef>
          <a:fontRef idx="minor">
            <a:schemeClr val="lt1"/>
          </a:fontRef>
        </p:style>
        <p:txBody>
          <a:bodyPr lIns="90306" tIns="45153" rIns="90306" bIns="45153" rtlCol="0" anchor="ctr"/>
          <a:lstStyle/>
          <a:p>
            <a:pPr algn="ctr"/>
            <a:endParaRPr lang="es-ES" dirty="0">
              <a:solidFill>
                <a:prstClr val="white"/>
              </a:solidFill>
            </a:endParaRPr>
          </a:p>
        </p:txBody>
      </p:sp>
      <p:pic>
        <p:nvPicPr>
          <p:cNvPr id="141" name="Picture 2" descr="https://www.es.capgemini.com/sites/default/files/styles/cap_image_324x219/public/resource/image/vt3_2664-web-banner_0001_layer-4.png?itok=nmyj18yq"/>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431579" y="4759491"/>
            <a:ext cx="1651359" cy="1116197"/>
          </a:xfrm>
          <a:prstGeom prst="rect">
            <a:avLst/>
          </a:prstGeom>
          <a:noFill/>
          <a:extLst>
            <a:ext uri="{909E8E84-426E-40DD-AFC4-6F175D3DCCD1}">
              <a14:hiddenFill xmlns:a14="http://schemas.microsoft.com/office/drawing/2010/main">
                <a:solidFill>
                  <a:srgbClr val="FFFFFF"/>
                </a:solidFill>
              </a14:hiddenFill>
            </a:ext>
          </a:extLst>
        </p:spPr>
      </p:pic>
      <p:sp>
        <p:nvSpPr>
          <p:cNvPr id="142" name="Freeform 381"/>
          <p:cNvSpPr>
            <a:spLocks noEditPoints="1"/>
          </p:cNvSpPr>
          <p:nvPr/>
        </p:nvSpPr>
        <p:spPr bwMode="auto">
          <a:xfrm>
            <a:off x="1398792" y="4974118"/>
            <a:ext cx="207623" cy="550759"/>
          </a:xfrm>
          <a:custGeom>
            <a:avLst/>
            <a:gdLst>
              <a:gd name="T0" fmla="*/ 102 w 102"/>
              <a:gd name="T1" fmla="*/ 92 h 185"/>
              <a:gd name="T2" fmla="*/ 100 w 102"/>
              <a:gd name="T3" fmla="*/ 89 h 185"/>
              <a:gd name="T4" fmla="*/ 100 w 102"/>
              <a:gd name="T5" fmla="*/ 89 h 185"/>
              <a:gd name="T6" fmla="*/ 7 w 102"/>
              <a:gd name="T7" fmla="*/ 1 h 185"/>
              <a:gd name="T8" fmla="*/ 7 w 102"/>
              <a:gd name="T9" fmla="*/ 1 h 185"/>
              <a:gd name="T10" fmla="*/ 5 w 102"/>
              <a:gd name="T11" fmla="*/ 0 h 185"/>
              <a:gd name="T12" fmla="*/ 0 w 102"/>
              <a:gd name="T13" fmla="*/ 4 h 185"/>
              <a:gd name="T14" fmla="*/ 0 w 102"/>
              <a:gd name="T15" fmla="*/ 181 h 185"/>
              <a:gd name="T16" fmla="*/ 5 w 102"/>
              <a:gd name="T17" fmla="*/ 185 h 185"/>
              <a:gd name="T18" fmla="*/ 7 w 102"/>
              <a:gd name="T19" fmla="*/ 184 h 185"/>
              <a:gd name="T20" fmla="*/ 7 w 102"/>
              <a:gd name="T21" fmla="*/ 184 h 185"/>
              <a:gd name="T22" fmla="*/ 100 w 102"/>
              <a:gd name="T23" fmla="*/ 95 h 185"/>
              <a:gd name="T24" fmla="*/ 100 w 102"/>
              <a:gd name="T25" fmla="*/ 95 h 185"/>
              <a:gd name="T26" fmla="*/ 102 w 102"/>
              <a:gd name="T27" fmla="*/ 92 h 185"/>
              <a:gd name="T28" fmla="*/ 9 w 102"/>
              <a:gd name="T29" fmla="*/ 171 h 185"/>
              <a:gd name="T30" fmla="*/ 9 w 102"/>
              <a:gd name="T31" fmla="*/ 14 h 185"/>
              <a:gd name="T32" fmla="*/ 91 w 102"/>
              <a:gd name="T33" fmla="*/ 92 h 185"/>
              <a:gd name="T34" fmla="*/ 9 w 102"/>
              <a:gd name="T35" fmla="*/ 17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85">
                <a:moveTo>
                  <a:pt x="102" y="92"/>
                </a:moveTo>
                <a:cubicBezTo>
                  <a:pt x="102" y="91"/>
                  <a:pt x="101" y="90"/>
                  <a:pt x="100" y="89"/>
                </a:cubicBezTo>
                <a:cubicBezTo>
                  <a:pt x="100" y="89"/>
                  <a:pt x="100" y="89"/>
                  <a:pt x="100" y="89"/>
                </a:cubicBezTo>
                <a:cubicBezTo>
                  <a:pt x="7" y="1"/>
                  <a:pt x="7" y="1"/>
                  <a:pt x="7" y="1"/>
                </a:cubicBezTo>
                <a:cubicBezTo>
                  <a:pt x="7" y="1"/>
                  <a:pt x="7" y="1"/>
                  <a:pt x="7" y="1"/>
                </a:cubicBezTo>
                <a:cubicBezTo>
                  <a:pt x="7" y="0"/>
                  <a:pt x="6" y="0"/>
                  <a:pt x="5" y="0"/>
                </a:cubicBezTo>
                <a:cubicBezTo>
                  <a:pt x="2" y="0"/>
                  <a:pt x="0" y="1"/>
                  <a:pt x="0" y="4"/>
                </a:cubicBezTo>
                <a:cubicBezTo>
                  <a:pt x="0" y="181"/>
                  <a:pt x="0" y="181"/>
                  <a:pt x="0" y="181"/>
                </a:cubicBezTo>
                <a:cubicBezTo>
                  <a:pt x="0" y="183"/>
                  <a:pt x="2" y="185"/>
                  <a:pt x="5" y="185"/>
                </a:cubicBezTo>
                <a:cubicBezTo>
                  <a:pt x="6" y="185"/>
                  <a:pt x="7" y="185"/>
                  <a:pt x="7" y="184"/>
                </a:cubicBezTo>
                <a:cubicBezTo>
                  <a:pt x="7" y="184"/>
                  <a:pt x="7" y="184"/>
                  <a:pt x="7" y="184"/>
                </a:cubicBezTo>
                <a:cubicBezTo>
                  <a:pt x="100" y="95"/>
                  <a:pt x="100" y="95"/>
                  <a:pt x="100" y="95"/>
                </a:cubicBezTo>
                <a:cubicBezTo>
                  <a:pt x="100" y="95"/>
                  <a:pt x="100" y="95"/>
                  <a:pt x="100" y="95"/>
                </a:cubicBezTo>
                <a:cubicBezTo>
                  <a:pt x="101" y="95"/>
                  <a:pt x="102" y="94"/>
                  <a:pt x="102" y="92"/>
                </a:cubicBezTo>
                <a:close/>
                <a:moveTo>
                  <a:pt x="9" y="171"/>
                </a:moveTo>
                <a:cubicBezTo>
                  <a:pt x="9" y="14"/>
                  <a:pt x="9" y="14"/>
                  <a:pt x="9" y="14"/>
                </a:cubicBezTo>
                <a:cubicBezTo>
                  <a:pt x="91" y="92"/>
                  <a:pt x="91" y="92"/>
                  <a:pt x="91" y="92"/>
                </a:cubicBezTo>
                <a:lnTo>
                  <a:pt x="9" y="171"/>
                </a:lnTo>
                <a:close/>
              </a:path>
            </a:pathLst>
          </a:custGeom>
          <a:solidFill>
            <a:srgbClr val="0097B7"/>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143" name="Freeform 381"/>
          <p:cNvSpPr>
            <a:spLocks noEditPoints="1"/>
          </p:cNvSpPr>
          <p:nvPr/>
        </p:nvSpPr>
        <p:spPr bwMode="auto">
          <a:xfrm>
            <a:off x="8265371" y="4986495"/>
            <a:ext cx="207623" cy="550759"/>
          </a:xfrm>
          <a:custGeom>
            <a:avLst/>
            <a:gdLst>
              <a:gd name="T0" fmla="*/ 102 w 102"/>
              <a:gd name="T1" fmla="*/ 92 h 185"/>
              <a:gd name="T2" fmla="*/ 100 w 102"/>
              <a:gd name="T3" fmla="*/ 89 h 185"/>
              <a:gd name="T4" fmla="*/ 100 w 102"/>
              <a:gd name="T5" fmla="*/ 89 h 185"/>
              <a:gd name="T6" fmla="*/ 7 w 102"/>
              <a:gd name="T7" fmla="*/ 1 h 185"/>
              <a:gd name="T8" fmla="*/ 7 w 102"/>
              <a:gd name="T9" fmla="*/ 1 h 185"/>
              <a:gd name="T10" fmla="*/ 5 w 102"/>
              <a:gd name="T11" fmla="*/ 0 h 185"/>
              <a:gd name="T12" fmla="*/ 0 w 102"/>
              <a:gd name="T13" fmla="*/ 4 h 185"/>
              <a:gd name="T14" fmla="*/ 0 w 102"/>
              <a:gd name="T15" fmla="*/ 181 h 185"/>
              <a:gd name="T16" fmla="*/ 5 w 102"/>
              <a:gd name="T17" fmla="*/ 185 h 185"/>
              <a:gd name="T18" fmla="*/ 7 w 102"/>
              <a:gd name="T19" fmla="*/ 184 h 185"/>
              <a:gd name="T20" fmla="*/ 7 w 102"/>
              <a:gd name="T21" fmla="*/ 184 h 185"/>
              <a:gd name="T22" fmla="*/ 100 w 102"/>
              <a:gd name="T23" fmla="*/ 95 h 185"/>
              <a:gd name="T24" fmla="*/ 100 w 102"/>
              <a:gd name="T25" fmla="*/ 95 h 185"/>
              <a:gd name="T26" fmla="*/ 102 w 102"/>
              <a:gd name="T27" fmla="*/ 92 h 185"/>
              <a:gd name="T28" fmla="*/ 9 w 102"/>
              <a:gd name="T29" fmla="*/ 171 h 185"/>
              <a:gd name="T30" fmla="*/ 9 w 102"/>
              <a:gd name="T31" fmla="*/ 14 h 185"/>
              <a:gd name="T32" fmla="*/ 91 w 102"/>
              <a:gd name="T33" fmla="*/ 92 h 185"/>
              <a:gd name="T34" fmla="*/ 9 w 102"/>
              <a:gd name="T35" fmla="*/ 17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2" h="185">
                <a:moveTo>
                  <a:pt x="102" y="92"/>
                </a:moveTo>
                <a:cubicBezTo>
                  <a:pt x="102" y="91"/>
                  <a:pt x="101" y="90"/>
                  <a:pt x="100" y="89"/>
                </a:cubicBezTo>
                <a:cubicBezTo>
                  <a:pt x="100" y="89"/>
                  <a:pt x="100" y="89"/>
                  <a:pt x="100" y="89"/>
                </a:cubicBezTo>
                <a:cubicBezTo>
                  <a:pt x="7" y="1"/>
                  <a:pt x="7" y="1"/>
                  <a:pt x="7" y="1"/>
                </a:cubicBezTo>
                <a:cubicBezTo>
                  <a:pt x="7" y="1"/>
                  <a:pt x="7" y="1"/>
                  <a:pt x="7" y="1"/>
                </a:cubicBezTo>
                <a:cubicBezTo>
                  <a:pt x="7" y="0"/>
                  <a:pt x="6" y="0"/>
                  <a:pt x="5" y="0"/>
                </a:cubicBezTo>
                <a:cubicBezTo>
                  <a:pt x="2" y="0"/>
                  <a:pt x="0" y="1"/>
                  <a:pt x="0" y="4"/>
                </a:cubicBezTo>
                <a:cubicBezTo>
                  <a:pt x="0" y="181"/>
                  <a:pt x="0" y="181"/>
                  <a:pt x="0" y="181"/>
                </a:cubicBezTo>
                <a:cubicBezTo>
                  <a:pt x="0" y="183"/>
                  <a:pt x="2" y="185"/>
                  <a:pt x="5" y="185"/>
                </a:cubicBezTo>
                <a:cubicBezTo>
                  <a:pt x="6" y="185"/>
                  <a:pt x="7" y="185"/>
                  <a:pt x="7" y="184"/>
                </a:cubicBezTo>
                <a:cubicBezTo>
                  <a:pt x="7" y="184"/>
                  <a:pt x="7" y="184"/>
                  <a:pt x="7" y="184"/>
                </a:cubicBezTo>
                <a:cubicBezTo>
                  <a:pt x="100" y="95"/>
                  <a:pt x="100" y="95"/>
                  <a:pt x="100" y="95"/>
                </a:cubicBezTo>
                <a:cubicBezTo>
                  <a:pt x="100" y="95"/>
                  <a:pt x="100" y="95"/>
                  <a:pt x="100" y="95"/>
                </a:cubicBezTo>
                <a:cubicBezTo>
                  <a:pt x="101" y="95"/>
                  <a:pt x="102" y="94"/>
                  <a:pt x="102" y="92"/>
                </a:cubicBezTo>
                <a:close/>
                <a:moveTo>
                  <a:pt x="9" y="171"/>
                </a:moveTo>
                <a:cubicBezTo>
                  <a:pt x="9" y="14"/>
                  <a:pt x="9" y="14"/>
                  <a:pt x="9" y="14"/>
                </a:cubicBezTo>
                <a:cubicBezTo>
                  <a:pt x="91" y="92"/>
                  <a:pt x="91" y="92"/>
                  <a:pt x="91" y="92"/>
                </a:cubicBezTo>
                <a:lnTo>
                  <a:pt x="9" y="171"/>
                </a:lnTo>
                <a:close/>
              </a:path>
            </a:pathLst>
          </a:custGeom>
          <a:solidFill>
            <a:srgbClr val="0097B7"/>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145" name="Freeform 310"/>
          <p:cNvSpPr>
            <a:spLocks noEditPoints="1"/>
          </p:cNvSpPr>
          <p:nvPr/>
        </p:nvSpPr>
        <p:spPr bwMode="auto">
          <a:xfrm>
            <a:off x="5039938" y="4938478"/>
            <a:ext cx="670886" cy="816204"/>
          </a:xfrm>
          <a:custGeom>
            <a:avLst/>
            <a:gdLst>
              <a:gd name="T0" fmla="*/ 152 w 152"/>
              <a:gd name="T1" fmla="*/ 25 h 185"/>
              <a:gd name="T2" fmla="*/ 76 w 152"/>
              <a:gd name="T3" fmla="*/ 0 h 185"/>
              <a:gd name="T4" fmla="*/ 0 w 152"/>
              <a:gd name="T5" fmla="*/ 25 h 185"/>
              <a:gd name="T6" fmla="*/ 0 w 152"/>
              <a:gd name="T7" fmla="*/ 59 h 185"/>
              <a:gd name="T8" fmla="*/ 4 w 152"/>
              <a:gd name="T9" fmla="*/ 67 h 185"/>
              <a:gd name="T10" fmla="*/ 0 w 152"/>
              <a:gd name="T11" fmla="*/ 75 h 185"/>
              <a:gd name="T12" fmla="*/ 0 w 152"/>
              <a:gd name="T13" fmla="*/ 109 h 185"/>
              <a:gd name="T14" fmla="*/ 4 w 152"/>
              <a:gd name="T15" fmla="*/ 118 h 185"/>
              <a:gd name="T16" fmla="*/ 0 w 152"/>
              <a:gd name="T17" fmla="*/ 126 h 185"/>
              <a:gd name="T18" fmla="*/ 0 w 152"/>
              <a:gd name="T19" fmla="*/ 160 h 185"/>
              <a:gd name="T20" fmla="*/ 76 w 152"/>
              <a:gd name="T21" fmla="*/ 185 h 185"/>
              <a:gd name="T22" fmla="*/ 152 w 152"/>
              <a:gd name="T23" fmla="*/ 160 h 185"/>
              <a:gd name="T24" fmla="*/ 152 w 152"/>
              <a:gd name="T25" fmla="*/ 126 h 185"/>
              <a:gd name="T26" fmla="*/ 147 w 152"/>
              <a:gd name="T27" fmla="*/ 118 h 185"/>
              <a:gd name="T28" fmla="*/ 152 w 152"/>
              <a:gd name="T29" fmla="*/ 109 h 185"/>
              <a:gd name="T30" fmla="*/ 152 w 152"/>
              <a:gd name="T31" fmla="*/ 75 h 185"/>
              <a:gd name="T32" fmla="*/ 147 w 152"/>
              <a:gd name="T33" fmla="*/ 67 h 185"/>
              <a:gd name="T34" fmla="*/ 152 w 152"/>
              <a:gd name="T35" fmla="*/ 59 h 185"/>
              <a:gd name="T36" fmla="*/ 152 w 152"/>
              <a:gd name="T37" fmla="*/ 25 h 185"/>
              <a:gd name="T38" fmla="*/ 143 w 152"/>
              <a:gd name="T39" fmla="*/ 160 h 185"/>
              <a:gd name="T40" fmla="*/ 76 w 152"/>
              <a:gd name="T41" fmla="*/ 177 h 185"/>
              <a:gd name="T42" fmla="*/ 8 w 152"/>
              <a:gd name="T43" fmla="*/ 160 h 185"/>
              <a:gd name="T44" fmla="*/ 8 w 152"/>
              <a:gd name="T45" fmla="*/ 138 h 185"/>
              <a:gd name="T46" fmla="*/ 76 w 152"/>
              <a:gd name="T47" fmla="*/ 151 h 185"/>
              <a:gd name="T48" fmla="*/ 143 w 152"/>
              <a:gd name="T49" fmla="*/ 138 h 185"/>
              <a:gd name="T50" fmla="*/ 143 w 152"/>
              <a:gd name="T51" fmla="*/ 160 h 185"/>
              <a:gd name="T52" fmla="*/ 76 w 152"/>
              <a:gd name="T53" fmla="*/ 143 h 185"/>
              <a:gd name="T54" fmla="*/ 8 w 152"/>
              <a:gd name="T55" fmla="*/ 126 h 185"/>
              <a:gd name="T56" fmla="*/ 10 w 152"/>
              <a:gd name="T57" fmla="*/ 122 h 185"/>
              <a:gd name="T58" fmla="*/ 76 w 152"/>
              <a:gd name="T59" fmla="*/ 135 h 185"/>
              <a:gd name="T60" fmla="*/ 141 w 152"/>
              <a:gd name="T61" fmla="*/ 122 h 185"/>
              <a:gd name="T62" fmla="*/ 143 w 152"/>
              <a:gd name="T63" fmla="*/ 126 h 185"/>
              <a:gd name="T64" fmla="*/ 76 w 152"/>
              <a:gd name="T65" fmla="*/ 143 h 185"/>
              <a:gd name="T66" fmla="*/ 143 w 152"/>
              <a:gd name="T67" fmla="*/ 109 h 185"/>
              <a:gd name="T68" fmla="*/ 76 w 152"/>
              <a:gd name="T69" fmla="*/ 126 h 185"/>
              <a:gd name="T70" fmla="*/ 8 w 152"/>
              <a:gd name="T71" fmla="*/ 109 h 185"/>
              <a:gd name="T72" fmla="*/ 8 w 152"/>
              <a:gd name="T73" fmla="*/ 87 h 185"/>
              <a:gd name="T74" fmla="*/ 76 w 152"/>
              <a:gd name="T75" fmla="*/ 101 h 185"/>
              <a:gd name="T76" fmla="*/ 143 w 152"/>
              <a:gd name="T77" fmla="*/ 87 h 185"/>
              <a:gd name="T78" fmla="*/ 143 w 152"/>
              <a:gd name="T79" fmla="*/ 109 h 185"/>
              <a:gd name="T80" fmla="*/ 76 w 152"/>
              <a:gd name="T81" fmla="*/ 92 h 185"/>
              <a:gd name="T82" fmla="*/ 8 w 152"/>
              <a:gd name="T83" fmla="*/ 75 h 185"/>
              <a:gd name="T84" fmla="*/ 10 w 152"/>
              <a:gd name="T85" fmla="*/ 71 h 185"/>
              <a:gd name="T86" fmla="*/ 76 w 152"/>
              <a:gd name="T87" fmla="*/ 84 h 185"/>
              <a:gd name="T88" fmla="*/ 141 w 152"/>
              <a:gd name="T89" fmla="*/ 71 h 185"/>
              <a:gd name="T90" fmla="*/ 143 w 152"/>
              <a:gd name="T91" fmla="*/ 75 h 185"/>
              <a:gd name="T92" fmla="*/ 76 w 152"/>
              <a:gd name="T93" fmla="*/ 92 h 185"/>
              <a:gd name="T94" fmla="*/ 143 w 152"/>
              <a:gd name="T95" fmla="*/ 59 h 185"/>
              <a:gd name="T96" fmla="*/ 76 w 152"/>
              <a:gd name="T97" fmla="*/ 75 h 185"/>
              <a:gd name="T98" fmla="*/ 8 w 152"/>
              <a:gd name="T99" fmla="*/ 59 h 185"/>
              <a:gd name="T100" fmla="*/ 8 w 152"/>
              <a:gd name="T101" fmla="*/ 36 h 185"/>
              <a:gd name="T102" fmla="*/ 76 w 152"/>
              <a:gd name="T103" fmla="*/ 50 h 185"/>
              <a:gd name="T104" fmla="*/ 143 w 152"/>
              <a:gd name="T105" fmla="*/ 36 h 185"/>
              <a:gd name="T106" fmla="*/ 143 w 152"/>
              <a:gd name="T107" fmla="*/ 59 h 185"/>
              <a:gd name="T108" fmla="*/ 76 w 152"/>
              <a:gd name="T109" fmla="*/ 42 h 185"/>
              <a:gd name="T110" fmla="*/ 8 w 152"/>
              <a:gd name="T111" fmla="*/ 25 h 185"/>
              <a:gd name="T112" fmla="*/ 76 w 152"/>
              <a:gd name="T113" fmla="*/ 8 h 185"/>
              <a:gd name="T114" fmla="*/ 143 w 152"/>
              <a:gd name="T115" fmla="*/ 25 h 185"/>
              <a:gd name="T116" fmla="*/ 76 w 152"/>
              <a:gd name="T117" fmla="*/ 42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2" h="185">
                <a:moveTo>
                  <a:pt x="152" y="25"/>
                </a:moveTo>
                <a:cubicBezTo>
                  <a:pt x="152" y="11"/>
                  <a:pt x="118" y="0"/>
                  <a:pt x="76" y="0"/>
                </a:cubicBezTo>
                <a:cubicBezTo>
                  <a:pt x="34" y="0"/>
                  <a:pt x="0" y="11"/>
                  <a:pt x="0" y="25"/>
                </a:cubicBezTo>
                <a:cubicBezTo>
                  <a:pt x="0" y="59"/>
                  <a:pt x="0" y="59"/>
                  <a:pt x="0" y="59"/>
                </a:cubicBezTo>
                <a:cubicBezTo>
                  <a:pt x="0" y="62"/>
                  <a:pt x="1" y="64"/>
                  <a:pt x="4" y="67"/>
                </a:cubicBezTo>
                <a:cubicBezTo>
                  <a:pt x="1" y="70"/>
                  <a:pt x="0" y="73"/>
                  <a:pt x="0" y="75"/>
                </a:cubicBezTo>
                <a:cubicBezTo>
                  <a:pt x="0" y="109"/>
                  <a:pt x="0" y="109"/>
                  <a:pt x="0" y="109"/>
                </a:cubicBezTo>
                <a:cubicBezTo>
                  <a:pt x="0" y="112"/>
                  <a:pt x="1" y="115"/>
                  <a:pt x="4" y="118"/>
                </a:cubicBezTo>
                <a:cubicBezTo>
                  <a:pt x="1" y="120"/>
                  <a:pt x="0" y="123"/>
                  <a:pt x="0" y="126"/>
                </a:cubicBezTo>
                <a:cubicBezTo>
                  <a:pt x="0" y="160"/>
                  <a:pt x="0" y="160"/>
                  <a:pt x="0" y="160"/>
                </a:cubicBezTo>
                <a:cubicBezTo>
                  <a:pt x="0" y="174"/>
                  <a:pt x="34" y="185"/>
                  <a:pt x="76" y="185"/>
                </a:cubicBezTo>
                <a:cubicBezTo>
                  <a:pt x="118" y="185"/>
                  <a:pt x="152" y="174"/>
                  <a:pt x="152" y="160"/>
                </a:cubicBezTo>
                <a:cubicBezTo>
                  <a:pt x="152" y="126"/>
                  <a:pt x="152" y="126"/>
                  <a:pt x="152" y="126"/>
                </a:cubicBezTo>
                <a:cubicBezTo>
                  <a:pt x="152" y="123"/>
                  <a:pt x="150" y="120"/>
                  <a:pt x="147" y="118"/>
                </a:cubicBezTo>
                <a:cubicBezTo>
                  <a:pt x="150" y="115"/>
                  <a:pt x="152" y="112"/>
                  <a:pt x="152" y="109"/>
                </a:cubicBezTo>
                <a:cubicBezTo>
                  <a:pt x="152" y="75"/>
                  <a:pt x="152" y="75"/>
                  <a:pt x="152" y="75"/>
                </a:cubicBezTo>
                <a:cubicBezTo>
                  <a:pt x="152" y="73"/>
                  <a:pt x="150" y="70"/>
                  <a:pt x="147" y="67"/>
                </a:cubicBezTo>
                <a:cubicBezTo>
                  <a:pt x="150" y="64"/>
                  <a:pt x="152" y="62"/>
                  <a:pt x="152" y="59"/>
                </a:cubicBezTo>
                <a:lnTo>
                  <a:pt x="152" y="25"/>
                </a:lnTo>
                <a:close/>
                <a:moveTo>
                  <a:pt x="143" y="160"/>
                </a:moveTo>
                <a:cubicBezTo>
                  <a:pt x="143" y="169"/>
                  <a:pt x="113" y="177"/>
                  <a:pt x="76" y="177"/>
                </a:cubicBezTo>
                <a:cubicBezTo>
                  <a:pt x="38" y="177"/>
                  <a:pt x="8" y="169"/>
                  <a:pt x="8" y="160"/>
                </a:cubicBezTo>
                <a:cubicBezTo>
                  <a:pt x="8" y="138"/>
                  <a:pt x="8" y="138"/>
                  <a:pt x="8" y="138"/>
                </a:cubicBezTo>
                <a:cubicBezTo>
                  <a:pt x="21" y="146"/>
                  <a:pt x="46" y="151"/>
                  <a:pt x="76" y="151"/>
                </a:cubicBezTo>
                <a:cubicBezTo>
                  <a:pt x="105" y="151"/>
                  <a:pt x="130" y="146"/>
                  <a:pt x="143" y="138"/>
                </a:cubicBezTo>
                <a:lnTo>
                  <a:pt x="143" y="160"/>
                </a:lnTo>
                <a:close/>
                <a:moveTo>
                  <a:pt x="76" y="143"/>
                </a:moveTo>
                <a:cubicBezTo>
                  <a:pt x="38" y="143"/>
                  <a:pt x="8" y="135"/>
                  <a:pt x="8" y="126"/>
                </a:cubicBezTo>
                <a:cubicBezTo>
                  <a:pt x="8" y="125"/>
                  <a:pt x="9" y="123"/>
                  <a:pt x="10" y="122"/>
                </a:cubicBezTo>
                <a:cubicBezTo>
                  <a:pt x="23" y="130"/>
                  <a:pt x="48" y="135"/>
                  <a:pt x="76" y="135"/>
                </a:cubicBezTo>
                <a:cubicBezTo>
                  <a:pt x="103" y="135"/>
                  <a:pt x="128" y="130"/>
                  <a:pt x="141" y="122"/>
                </a:cubicBezTo>
                <a:cubicBezTo>
                  <a:pt x="142" y="123"/>
                  <a:pt x="143" y="125"/>
                  <a:pt x="143" y="126"/>
                </a:cubicBezTo>
                <a:cubicBezTo>
                  <a:pt x="143" y="135"/>
                  <a:pt x="113" y="143"/>
                  <a:pt x="76" y="143"/>
                </a:cubicBezTo>
                <a:close/>
                <a:moveTo>
                  <a:pt x="143" y="109"/>
                </a:moveTo>
                <a:cubicBezTo>
                  <a:pt x="143" y="119"/>
                  <a:pt x="113" y="126"/>
                  <a:pt x="76" y="126"/>
                </a:cubicBezTo>
                <a:cubicBezTo>
                  <a:pt x="38" y="126"/>
                  <a:pt x="8" y="119"/>
                  <a:pt x="8" y="109"/>
                </a:cubicBezTo>
                <a:cubicBezTo>
                  <a:pt x="8" y="87"/>
                  <a:pt x="8" y="87"/>
                  <a:pt x="8" y="87"/>
                </a:cubicBezTo>
                <a:cubicBezTo>
                  <a:pt x="21" y="95"/>
                  <a:pt x="46" y="101"/>
                  <a:pt x="76" y="101"/>
                </a:cubicBezTo>
                <a:cubicBezTo>
                  <a:pt x="105" y="101"/>
                  <a:pt x="130" y="95"/>
                  <a:pt x="143" y="87"/>
                </a:cubicBezTo>
                <a:lnTo>
                  <a:pt x="143" y="109"/>
                </a:lnTo>
                <a:close/>
                <a:moveTo>
                  <a:pt x="76" y="92"/>
                </a:moveTo>
                <a:cubicBezTo>
                  <a:pt x="38" y="92"/>
                  <a:pt x="8" y="85"/>
                  <a:pt x="8" y="75"/>
                </a:cubicBezTo>
                <a:cubicBezTo>
                  <a:pt x="8" y="74"/>
                  <a:pt x="9" y="73"/>
                  <a:pt x="10" y="71"/>
                </a:cubicBezTo>
                <a:cubicBezTo>
                  <a:pt x="23" y="79"/>
                  <a:pt x="48" y="84"/>
                  <a:pt x="76" y="84"/>
                </a:cubicBezTo>
                <a:cubicBezTo>
                  <a:pt x="103" y="84"/>
                  <a:pt x="128" y="79"/>
                  <a:pt x="141" y="71"/>
                </a:cubicBezTo>
                <a:cubicBezTo>
                  <a:pt x="142" y="73"/>
                  <a:pt x="143" y="74"/>
                  <a:pt x="143" y="75"/>
                </a:cubicBezTo>
                <a:cubicBezTo>
                  <a:pt x="143" y="85"/>
                  <a:pt x="113" y="92"/>
                  <a:pt x="76" y="92"/>
                </a:cubicBezTo>
                <a:close/>
                <a:moveTo>
                  <a:pt x="143" y="59"/>
                </a:moveTo>
                <a:cubicBezTo>
                  <a:pt x="143" y="68"/>
                  <a:pt x="113" y="75"/>
                  <a:pt x="76" y="75"/>
                </a:cubicBezTo>
                <a:cubicBezTo>
                  <a:pt x="38" y="75"/>
                  <a:pt x="8" y="68"/>
                  <a:pt x="8" y="59"/>
                </a:cubicBezTo>
                <a:cubicBezTo>
                  <a:pt x="8" y="36"/>
                  <a:pt x="8" y="36"/>
                  <a:pt x="8" y="36"/>
                </a:cubicBezTo>
                <a:cubicBezTo>
                  <a:pt x="21" y="45"/>
                  <a:pt x="46" y="50"/>
                  <a:pt x="76" y="50"/>
                </a:cubicBezTo>
                <a:cubicBezTo>
                  <a:pt x="105" y="50"/>
                  <a:pt x="130" y="45"/>
                  <a:pt x="143" y="36"/>
                </a:cubicBezTo>
                <a:lnTo>
                  <a:pt x="143" y="59"/>
                </a:lnTo>
                <a:close/>
                <a:moveTo>
                  <a:pt x="76" y="42"/>
                </a:moveTo>
                <a:cubicBezTo>
                  <a:pt x="38" y="42"/>
                  <a:pt x="8" y="34"/>
                  <a:pt x="8" y="25"/>
                </a:cubicBezTo>
                <a:cubicBezTo>
                  <a:pt x="8" y="16"/>
                  <a:pt x="38" y="8"/>
                  <a:pt x="76" y="8"/>
                </a:cubicBezTo>
                <a:cubicBezTo>
                  <a:pt x="113" y="8"/>
                  <a:pt x="143" y="16"/>
                  <a:pt x="143" y="25"/>
                </a:cubicBezTo>
                <a:cubicBezTo>
                  <a:pt x="143" y="34"/>
                  <a:pt x="113" y="42"/>
                  <a:pt x="76" y="42"/>
                </a:cubicBezTo>
                <a:close/>
              </a:path>
            </a:pathLst>
          </a:custGeom>
          <a:solidFill>
            <a:srgbClr val="0097B7"/>
          </a:solidFill>
          <a:ln>
            <a:noFill/>
          </a:ln>
        </p:spPr>
        <p:txBody>
          <a:bodyPr vert="horz" wrap="square" lIns="68580" tIns="34290" rIns="68580" bIns="34290" numCol="1" anchor="t" anchorCtr="0" compatLnSpc="1">
            <a:prstTxWarp prst="textNoShape">
              <a:avLst/>
            </a:prstTxWarp>
          </a:bodyPr>
          <a:lstStyle/>
          <a:p>
            <a:endParaRPr lang="en-US" sz="1350" dirty="0"/>
          </a:p>
        </p:txBody>
      </p:sp>
      <p:grpSp>
        <p:nvGrpSpPr>
          <p:cNvPr id="2" name="1 Grupo"/>
          <p:cNvGrpSpPr>
            <a:grpSpLocks noChangeAspect="1"/>
          </p:cNvGrpSpPr>
          <p:nvPr/>
        </p:nvGrpSpPr>
        <p:grpSpPr>
          <a:xfrm>
            <a:off x="517114" y="5157192"/>
            <a:ext cx="594046" cy="627110"/>
            <a:chOff x="487202" y="4293096"/>
            <a:chExt cx="594046" cy="627110"/>
          </a:xfrm>
        </p:grpSpPr>
        <p:sp>
          <p:nvSpPr>
            <p:cNvPr id="147" name="146 Elipse"/>
            <p:cNvSpPr/>
            <p:nvPr/>
          </p:nvSpPr>
          <p:spPr>
            <a:xfrm>
              <a:off x="489869" y="4293096"/>
              <a:ext cx="580437" cy="607227"/>
            </a:xfrm>
            <a:prstGeom prst="ellipse">
              <a:avLst/>
            </a:prstGeom>
            <a:solidFill>
              <a:srgbClr val="0097B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149" name="Picture 2" descr="https://cdn0.iconfinder.com/data/icons/shipping-icons/100/15-256.png"/>
            <p:cNvPicPr>
              <a:picLocks noChangeAspect="1" noChangeArrowheads="1"/>
            </p:cNvPicPr>
            <p:nvPr/>
          </p:nvPicPr>
          <p:blipFill>
            <a:blip r:embed="rId26" cstate="print">
              <a:biLevel thresh="25000"/>
              <a:extLst>
                <a:ext uri="{28A0092B-C50C-407E-A947-70E740481C1C}">
                  <a14:useLocalDpi xmlns:a14="http://schemas.microsoft.com/office/drawing/2010/main" val="0"/>
                </a:ext>
              </a:extLst>
            </a:blip>
            <a:srcRect/>
            <a:stretch>
              <a:fillRect/>
            </a:stretch>
          </p:blipFill>
          <p:spPr bwMode="auto">
            <a:xfrm>
              <a:off x="487202" y="4326160"/>
              <a:ext cx="594046" cy="59404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 name="2 Grupo"/>
          <p:cNvGrpSpPr>
            <a:grpSpLocks noChangeAspect="1"/>
          </p:cNvGrpSpPr>
          <p:nvPr/>
        </p:nvGrpSpPr>
        <p:grpSpPr>
          <a:xfrm>
            <a:off x="523921" y="4549969"/>
            <a:ext cx="580437" cy="607227"/>
            <a:chOff x="471642" y="4900973"/>
            <a:chExt cx="580437" cy="607227"/>
          </a:xfrm>
        </p:grpSpPr>
        <p:sp>
          <p:nvSpPr>
            <p:cNvPr id="150" name="149 Elipse"/>
            <p:cNvSpPr/>
            <p:nvPr/>
          </p:nvSpPr>
          <p:spPr>
            <a:xfrm>
              <a:off x="471642" y="4900973"/>
              <a:ext cx="580437" cy="607227"/>
            </a:xfrm>
            <a:prstGeom prst="ellipse">
              <a:avLst/>
            </a:prstGeom>
            <a:solidFill>
              <a:srgbClr val="0097B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154" name="Picture 27" descr="http://flaticons.net/icons/Transportation/Van.png"/>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546086" y="4979379"/>
              <a:ext cx="460901" cy="4609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5 Grupo"/>
          <p:cNvGrpSpPr>
            <a:grpSpLocks noChangeAspect="1"/>
          </p:cNvGrpSpPr>
          <p:nvPr/>
        </p:nvGrpSpPr>
        <p:grpSpPr>
          <a:xfrm>
            <a:off x="523921" y="3933059"/>
            <a:ext cx="580437" cy="607227"/>
            <a:chOff x="471642" y="5518761"/>
            <a:chExt cx="580437" cy="607227"/>
          </a:xfrm>
        </p:grpSpPr>
        <p:sp>
          <p:nvSpPr>
            <p:cNvPr id="152" name="151 Elipse"/>
            <p:cNvSpPr/>
            <p:nvPr/>
          </p:nvSpPr>
          <p:spPr>
            <a:xfrm>
              <a:off x="471642" y="5518761"/>
              <a:ext cx="580437" cy="607227"/>
            </a:xfrm>
            <a:prstGeom prst="ellipse">
              <a:avLst/>
            </a:prstGeom>
            <a:solidFill>
              <a:srgbClr val="0097B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155" name="Picture 25" descr="http://www.iconsdb.com/icons/preview/white/car-xxl.png"/>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546086" y="5602320"/>
              <a:ext cx="418968" cy="418968"/>
            </a:xfrm>
            <a:prstGeom prst="rect">
              <a:avLst/>
            </a:prstGeom>
            <a:noFill/>
            <a:extLst>
              <a:ext uri="{909E8E84-426E-40DD-AFC4-6F175D3DCCD1}">
                <a14:hiddenFill xmlns:a14="http://schemas.microsoft.com/office/drawing/2010/main">
                  <a:solidFill>
                    <a:srgbClr val="FFFFFF"/>
                  </a:solidFill>
                </a14:hiddenFill>
              </a:ext>
            </a:extLst>
          </p:spPr>
        </p:pic>
      </p:grpSp>
      <p:sp>
        <p:nvSpPr>
          <p:cNvPr id="157" name="156 Elipse"/>
          <p:cNvSpPr/>
          <p:nvPr/>
        </p:nvSpPr>
        <p:spPr>
          <a:xfrm>
            <a:off x="519781" y="5754222"/>
            <a:ext cx="580437" cy="607227"/>
          </a:xfrm>
          <a:prstGeom prst="ellipse">
            <a:avLst/>
          </a:prstGeom>
          <a:solidFill>
            <a:srgbClr val="0097B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sp>
        <p:nvSpPr>
          <p:cNvPr id="93" name="92 CuadroTexto"/>
          <p:cNvSpPr txBox="1"/>
          <p:nvPr/>
        </p:nvSpPr>
        <p:spPr>
          <a:xfrm>
            <a:off x="523921" y="5935645"/>
            <a:ext cx="535345" cy="229659"/>
          </a:xfrm>
          <a:prstGeom prst="rect">
            <a:avLst/>
          </a:prstGeom>
          <a:noFill/>
        </p:spPr>
        <p:txBody>
          <a:bodyPr wrap="square" lIns="90281" tIns="45139" rIns="90281" bIns="45139" rtlCol="0">
            <a:spAutoFit/>
          </a:bodyPr>
          <a:lstStyle/>
          <a:p>
            <a:pPr algn="ctr" defTabSz="902813"/>
            <a:r>
              <a:rPr lang="en-GB" sz="900" b="1" spc="-49" dirty="0">
                <a:solidFill>
                  <a:schemeClr val="bg1"/>
                </a:solidFill>
                <a:latin typeface="Avenir 65" panose="02000600000000000000" pitchFamily="2" charset="0"/>
                <a:cs typeface="Arial" pitchFamily="34" charset="0"/>
              </a:rPr>
              <a:t>MBFN</a:t>
            </a:r>
          </a:p>
        </p:txBody>
      </p:sp>
      <p:sp>
        <p:nvSpPr>
          <p:cNvPr id="96" name="Freeform 110"/>
          <p:cNvSpPr>
            <a:spLocks noEditPoints="1"/>
          </p:cNvSpPr>
          <p:nvPr/>
        </p:nvSpPr>
        <p:spPr bwMode="auto">
          <a:xfrm>
            <a:off x="8714347" y="4923976"/>
            <a:ext cx="653525" cy="732106"/>
          </a:xfrm>
          <a:custGeom>
            <a:avLst/>
            <a:gdLst>
              <a:gd name="T0" fmla="*/ 196 w 577"/>
              <a:gd name="T1" fmla="*/ 432 h 646"/>
              <a:gd name="T2" fmla="*/ 292 w 577"/>
              <a:gd name="T3" fmla="*/ 304 h 646"/>
              <a:gd name="T4" fmla="*/ 361 w 577"/>
              <a:gd name="T5" fmla="*/ 355 h 646"/>
              <a:gd name="T6" fmla="*/ 292 w 577"/>
              <a:gd name="T7" fmla="*/ 318 h 646"/>
              <a:gd name="T8" fmla="*/ 210 w 577"/>
              <a:gd name="T9" fmla="*/ 432 h 646"/>
              <a:gd name="T10" fmla="*/ 351 w 577"/>
              <a:gd name="T11" fmla="*/ 511 h 646"/>
              <a:gd name="T12" fmla="*/ 363 w 577"/>
              <a:gd name="T13" fmla="*/ 519 h 646"/>
              <a:gd name="T14" fmla="*/ 299 w 577"/>
              <a:gd name="T15" fmla="*/ 406 h 646"/>
              <a:gd name="T16" fmla="*/ 169 w 577"/>
              <a:gd name="T17" fmla="*/ 399 h 646"/>
              <a:gd name="T18" fmla="*/ 169 w 577"/>
              <a:gd name="T19" fmla="*/ 413 h 646"/>
              <a:gd name="T20" fmla="*/ 299 w 577"/>
              <a:gd name="T21" fmla="*/ 406 h 646"/>
              <a:gd name="T22" fmla="*/ 299 w 577"/>
              <a:gd name="T23" fmla="*/ 460 h 646"/>
              <a:gd name="T24" fmla="*/ 169 w 577"/>
              <a:gd name="T25" fmla="*/ 453 h 646"/>
              <a:gd name="T26" fmla="*/ 169 w 577"/>
              <a:gd name="T27" fmla="*/ 467 h 646"/>
              <a:gd name="T28" fmla="*/ 364 w 577"/>
              <a:gd name="T29" fmla="*/ 219 h 646"/>
              <a:gd name="T30" fmla="*/ 350 w 577"/>
              <a:gd name="T31" fmla="*/ 216 h 646"/>
              <a:gd name="T32" fmla="*/ 226 w 577"/>
              <a:gd name="T33" fmla="*/ 216 h 646"/>
              <a:gd name="T34" fmla="*/ 213 w 577"/>
              <a:gd name="T35" fmla="*/ 219 h 646"/>
              <a:gd name="T36" fmla="*/ 364 w 577"/>
              <a:gd name="T37" fmla="*/ 219 h 646"/>
              <a:gd name="T38" fmla="*/ 364 w 577"/>
              <a:gd name="T39" fmla="*/ 213 h 646"/>
              <a:gd name="T40" fmla="*/ 447 w 577"/>
              <a:gd name="T41" fmla="*/ 80 h 646"/>
              <a:gd name="T42" fmla="*/ 430 w 577"/>
              <a:gd name="T43" fmla="*/ 37 h 646"/>
              <a:gd name="T44" fmla="*/ 377 w 577"/>
              <a:gd name="T45" fmla="*/ 51 h 646"/>
              <a:gd name="T46" fmla="*/ 341 w 577"/>
              <a:gd name="T47" fmla="*/ 28 h 646"/>
              <a:gd name="T48" fmla="*/ 236 w 577"/>
              <a:gd name="T49" fmla="*/ 28 h 646"/>
              <a:gd name="T50" fmla="*/ 200 w 577"/>
              <a:gd name="T51" fmla="*/ 51 h 646"/>
              <a:gd name="T52" fmla="*/ 185 w 577"/>
              <a:gd name="T53" fmla="*/ 47 h 646"/>
              <a:gd name="T54" fmla="*/ 119 w 577"/>
              <a:gd name="T55" fmla="*/ 51 h 646"/>
              <a:gd name="T56" fmla="*/ 134 w 577"/>
              <a:gd name="T57" fmla="*/ 83 h 646"/>
              <a:gd name="T58" fmla="*/ 0 w 577"/>
              <a:gd name="T59" fmla="*/ 462 h 646"/>
              <a:gd name="T60" fmla="*/ 577 w 577"/>
              <a:gd name="T61" fmla="*/ 462 h 646"/>
              <a:gd name="T62" fmla="*/ 200 w 577"/>
              <a:gd name="T63" fmla="*/ 65 h 646"/>
              <a:gd name="T64" fmla="*/ 243 w 577"/>
              <a:gd name="T65" fmla="*/ 41 h 646"/>
              <a:gd name="T66" fmla="*/ 288 w 577"/>
              <a:gd name="T67" fmla="*/ 14 h 646"/>
              <a:gd name="T68" fmla="*/ 334 w 577"/>
              <a:gd name="T69" fmla="*/ 41 h 646"/>
              <a:gd name="T70" fmla="*/ 398 w 577"/>
              <a:gd name="T71" fmla="*/ 59 h 646"/>
              <a:gd name="T72" fmla="*/ 445 w 577"/>
              <a:gd name="T73" fmla="*/ 56 h 646"/>
              <a:gd name="T74" fmla="*/ 435 w 577"/>
              <a:gd name="T75" fmla="*/ 72 h 646"/>
              <a:gd name="T76" fmla="*/ 355 w 577"/>
              <a:gd name="T77" fmla="*/ 224 h 646"/>
              <a:gd name="T78" fmla="*/ 288 w 577"/>
              <a:gd name="T79" fmla="*/ 632 h 646"/>
              <a:gd name="T80" fmla="*/ 222 w 577"/>
              <a:gd name="T81" fmla="*/ 224 h 646"/>
              <a:gd name="T82" fmla="*/ 142 w 577"/>
              <a:gd name="T83" fmla="*/ 72 h 646"/>
              <a:gd name="T84" fmla="*/ 132 w 577"/>
              <a:gd name="T85" fmla="*/ 56 h 646"/>
              <a:gd name="T86" fmla="*/ 179 w 577"/>
              <a:gd name="T87" fmla="*/ 59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77" h="646">
                <a:moveTo>
                  <a:pt x="292" y="561"/>
                </a:moveTo>
                <a:cubicBezTo>
                  <a:pt x="233" y="561"/>
                  <a:pt x="196" y="510"/>
                  <a:pt x="196" y="432"/>
                </a:cubicBezTo>
                <a:cubicBezTo>
                  <a:pt x="196" y="395"/>
                  <a:pt x="204" y="363"/>
                  <a:pt x="221" y="340"/>
                </a:cubicBezTo>
                <a:cubicBezTo>
                  <a:pt x="238" y="316"/>
                  <a:pt x="263" y="304"/>
                  <a:pt x="292" y="304"/>
                </a:cubicBezTo>
                <a:cubicBezTo>
                  <a:pt x="320" y="304"/>
                  <a:pt x="344" y="317"/>
                  <a:pt x="363" y="345"/>
                </a:cubicBezTo>
                <a:cubicBezTo>
                  <a:pt x="365" y="348"/>
                  <a:pt x="364" y="353"/>
                  <a:pt x="361" y="355"/>
                </a:cubicBezTo>
                <a:cubicBezTo>
                  <a:pt x="358" y="357"/>
                  <a:pt x="354" y="356"/>
                  <a:pt x="351" y="353"/>
                </a:cubicBezTo>
                <a:cubicBezTo>
                  <a:pt x="335" y="329"/>
                  <a:pt x="316" y="318"/>
                  <a:pt x="292" y="318"/>
                </a:cubicBezTo>
                <a:cubicBezTo>
                  <a:pt x="267" y="318"/>
                  <a:pt x="247" y="328"/>
                  <a:pt x="232" y="348"/>
                </a:cubicBezTo>
                <a:cubicBezTo>
                  <a:pt x="218" y="369"/>
                  <a:pt x="210" y="398"/>
                  <a:pt x="210" y="432"/>
                </a:cubicBezTo>
                <a:cubicBezTo>
                  <a:pt x="210" y="502"/>
                  <a:pt x="242" y="547"/>
                  <a:pt x="292" y="547"/>
                </a:cubicBezTo>
                <a:cubicBezTo>
                  <a:pt x="316" y="547"/>
                  <a:pt x="335" y="535"/>
                  <a:pt x="351" y="511"/>
                </a:cubicBezTo>
                <a:cubicBezTo>
                  <a:pt x="354" y="508"/>
                  <a:pt x="358" y="507"/>
                  <a:pt x="361" y="509"/>
                </a:cubicBezTo>
                <a:cubicBezTo>
                  <a:pt x="364" y="512"/>
                  <a:pt x="365" y="516"/>
                  <a:pt x="363" y="519"/>
                </a:cubicBezTo>
                <a:cubicBezTo>
                  <a:pt x="344" y="547"/>
                  <a:pt x="320" y="561"/>
                  <a:pt x="292" y="561"/>
                </a:cubicBezTo>
                <a:close/>
                <a:moveTo>
                  <a:pt x="299" y="406"/>
                </a:moveTo>
                <a:cubicBezTo>
                  <a:pt x="299" y="402"/>
                  <a:pt x="296" y="399"/>
                  <a:pt x="292" y="399"/>
                </a:cubicBezTo>
                <a:cubicBezTo>
                  <a:pt x="169" y="399"/>
                  <a:pt x="169" y="399"/>
                  <a:pt x="169" y="399"/>
                </a:cubicBezTo>
                <a:cubicBezTo>
                  <a:pt x="165" y="399"/>
                  <a:pt x="162" y="402"/>
                  <a:pt x="162" y="406"/>
                </a:cubicBezTo>
                <a:cubicBezTo>
                  <a:pt x="162" y="410"/>
                  <a:pt x="165" y="413"/>
                  <a:pt x="169" y="413"/>
                </a:cubicBezTo>
                <a:cubicBezTo>
                  <a:pt x="292" y="413"/>
                  <a:pt x="292" y="413"/>
                  <a:pt x="292" y="413"/>
                </a:cubicBezTo>
                <a:cubicBezTo>
                  <a:pt x="296" y="413"/>
                  <a:pt x="299" y="410"/>
                  <a:pt x="299" y="406"/>
                </a:cubicBezTo>
                <a:close/>
                <a:moveTo>
                  <a:pt x="292" y="467"/>
                </a:moveTo>
                <a:cubicBezTo>
                  <a:pt x="296" y="467"/>
                  <a:pt x="299" y="464"/>
                  <a:pt x="299" y="460"/>
                </a:cubicBezTo>
                <a:cubicBezTo>
                  <a:pt x="299" y="456"/>
                  <a:pt x="296" y="453"/>
                  <a:pt x="292" y="453"/>
                </a:cubicBezTo>
                <a:cubicBezTo>
                  <a:pt x="169" y="453"/>
                  <a:pt x="169" y="453"/>
                  <a:pt x="169" y="453"/>
                </a:cubicBezTo>
                <a:cubicBezTo>
                  <a:pt x="165" y="453"/>
                  <a:pt x="162" y="456"/>
                  <a:pt x="162" y="460"/>
                </a:cubicBezTo>
                <a:cubicBezTo>
                  <a:pt x="162" y="464"/>
                  <a:pt x="165" y="467"/>
                  <a:pt x="169" y="467"/>
                </a:cubicBezTo>
                <a:lnTo>
                  <a:pt x="292" y="467"/>
                </a:lnTo>
                <a:close/>
                <a:moveTo>
                  <a:pt x="364" y="219"/>
                </a:moveTo>
                <a:cubicBezTo>
                  <a:pt x="350" y="216"/>
                  <a:pt x="350" y="216"/>
                  <a:pt x="350" y="216"/>
                </a:cubicBezTo>
                <a:cubicBezTo>
                  <a:pt x="350" y="216"/>
                  <a:pt x="350" y="216"/>
                  <a:pt x="350" y="216"/>
                </a:cubicBezTo>
                <a:cubicBezTo>
                  <a:pt x="350" y="216"/>
                  <a:pt x="344" y="231"/>
                  <a:pt x="288" y="231"/>
                </a:cubicBezTo>
                <a:cubicBezTo>
                  <a:pt x="233" y="231"/>
                  <a:pt x="227" y="216"/>
                  <a:pt x="226" y="216"/>
                </a:cubicBezTo>
                <a:cubicBezTo>
                  <a:pt x="227" y="216"/>
                  <a:pt x="227" y="216"/>
                  <a:pt x="227" y="216"/>
                </a:cubicBezTo>
                <a:cubicBezTo>
                  <a:pt x="213" y="219"/>
                  <a:pt x="213" y="219"/>
                  <a:pt x="213" y="219"/>
                </a:cubicBezTo>
                <a:cubicBezTo>
                  <a:pt x="214" y="224"/>
                  <a:pt x="222" y="245"/>
                  <a:pt x="288" y="245"/>
                </a:cubicBezTo>
                <a:cubicBezTo>
                  <a:pt x="355" y="245"/>
                  <a:pt x="363" y="224"/>
                  <a:pt x="364" y="219"/>
                </a:cubicBezTo>
                <a:close/>
                <a:moveTo>
                  <a:pt x="577" y="462"/>
                </a:moveTo>
                <a:cubicBezTo>
                  <a:pt x="577" y="344"/>
                  <a:pt x="452" y="245"/>
                  <a:pt x="364" y="213"/>
                </a:cubicBezTo>
                <a:cubicBezTo>
                  <a:pt x="366" y="181"/>
                  <a:pt x="381" y="134"/>
                  <a:pt x="443" y="83"/>
                </a:cubicBezTo>
                <a:cubicBezTo>
                  <a:pt x="445" y="81"/>
                  <a:pt x="447" y="80"/>
                  <a:pt x="447" y="80"/>
                </a:cubicBezTo>
                <a:cubicBezTo>
                  <a:pt x="461" y="67"/>
                  <a:pt x="461" y="57"/>
                  <a:pt x="458" y="51"/>
                </a:cubicBezTo>
                <a:cubicBezTo>
                  <a:pt x="455" y="42"/>
                  <a:pt x="444" y="37"/>
                  <a:pt x="430" y="37"/>
                </a:cubicBezTo>
                <a:cubicBezTo>
                  <a:pt x="418" y="37"/>
                  <a:pt x="405" y="41"/>
                  <a:pt x="392" y="47"/>
                </a:cubicBezTo>
                <a:cubicBezTo>
                  <a:pt x="387" y="49"/>
                  <a:pt x="382" y="51"/>
                  <a:pt x="377" y="51"/>
                </a:cubicBezTo>
                <a:cubicBezTo>
                  <a:pt x="365" y="51"/>
                  <a:pt x="355" y="43"/>
                  <a:pt x="344" y="31"/>
                </a:cubicBezTo>
                <a:cubicBezTo>
                  <a:pt x="341" y="28"/>
                  <a:pt x="341" y="28"/>
                  <a:pt x="341" y="28"/>
                </a:cubicBezTo>
                <a:cubicBezTo>
                  <a:pt x="328" y="15"/>
                  <a:pt x="314" y="0"/>
                  <a:pt x="288" y="0"/>
                </a:cubicBezTo>
                <a:cubicBezTo>
                  <a:pt x="263" y="0"/>
                  <a:pt x="249" y="15"/>
                  <a:pt x="236" y="28"/>
                </a:cubicBezTo>
                <a:cubicBezTo>
                  <a:pt x="233" y="31"/>
                  <a:pt x="233" y="31"/>
                  <a:pt x="233" y="31"/>
                </a:cubicBezTo>
                <a:cubicBezTo>
                  <a:pt x="222" y="43"/>
                  <a:pt x="212" y="51"/>
                  <a:pt x="200" y="51"/>
                </a:cubicBezTo>
                <a:cubicBezTo>
                  <a:pt x="200" y="51"/>
                  <a:pt x="200" y="51"/>
                  <a:pt x="200" y="51"/>
                </a:cubicBezTo>
                <a:cubicBezTo>
                  <a:pt x="195" y="51"/>
                  <a:pt x="190" y="49"/>
                  <a:pt x="185" y="47"/>
                </a:cubicBezTo>
                <a:cubicBezTo>
                  <a:pt x="172" y="41"/>
                  <a:pt x="159" y="37"/>
                  <a:pt x="147" y="37"/>
                </a:cubicBezTo>
                <a:cubicBezTo>
                  <a:pt x="133" y="37"/>
                  <a:pt x="122" y="42"/>
                  <a:pt x="119" y="51"/>
                </a:cubicBezTo>
                <a:cubicBezTo>
                  <a:pt x="116" y="57"/>
                  <a:pt x="116" y="67"/>
                  <a:pt x="130" y="80"/>
                </a:cubicBezTo>
                <a:cubicBezTo>
                  <a:pt x="130" y="80"/>
                  <a:pt x="132" y="81"/>
                  <a:pt x="134" y="83"/>
                </a:cubicBezTo>
                <a:cubicBezTo>
                  <a:pt x="196" y="134"/>
                  <a:pt x="211" y="181"/>
                  <a:pt x="213" y="213"/>
                </a:cubicBezTo>
                <a:cubicBezTo>
                  <a:pt x="125" y="245"/>
                  <a:pt x="0" y="344"/>
                  <a:pt x="0" y="462"/>
                </a:cubicBezTo>
                <a:cubicBezTo>
                  <a:pt x="0" y="579"/>
                  <a:pt x="47" y="646"/>
                  <a:pt x="288" y="646"/>
                </a:cubicBezTo>
                <a:cubicBezTo>
                  <a:pt x="530" y="646"/>
                  <a:pt x="577" y="579"/>
                  <a:pt x="577" y="462"/>
                </a:cubicBezTo>
                <a:close/>
                <a:moveTo>
                  <a:pt x="179" y="59"/>
                </a:moveTo>
                <a:cubicBezTo>
                  <a:pt x="186" y="63"/>
                  <a:pt x="193" y="65"/>
                  <a:pt x="200" y="65"/>
                </a:cubicBezTo>
                <a:cubicBezTo>
                  <a:pt x="200" y="65"/>
                  <a:pt x="200" y="65"/>
                  <a:pt x="200" y="65"/>
                </a:cubicBezTo>
                <a:cubicBezTo>
                  <a:pt x="218" y="65"/>
                  <a:pt x="231" y="53"/>
                  <a:pt x="243" y="41"/>
                </a:cubicBezTo>
                <a:cubicBezTo>
                  <a:pt x="246" y="37"/>
                  <a:pt x="246" y="37"/>
                  <a:pt x="246" y="37"/>
                </a:cubicBezTo>
                <a:cubicBezTo>
                  <a:pt x="258" y="25"/>
                  <a:pt x="269" y="14"/>
                  <a:pt x="288" y="14"/>
                </a:cubicBezTo>
                <a:cubicBezTo>
                  <a:pt x="308" y="14"/>
                  <a:pt x="319" y="25"/>
                  <a:pt x="331" y="37"/>
                </a:cubicBezTo>
                <a:cubicBezTo>
                  <a:pt x="334" y="41"/>
                  <a:pt x="334" y="41"/>
                  <a:pt x="334" y="41"/>
                </a:cubicBezTo>
                <a:cubicBezTo>
                  <a:pt x="346" y="53"/>
                  <a:pt x="359" y="65"/>
                  <a:pt x="377" y="65"/>
                </a:cubicBezTo>
                <a:cubicBezTo>
                  <a:pt x="384" y="65"/>
                  <a:pt x="391" y="63"/>
                  <a:pt x="398" y="59"/>
                </a:cubicBezTo>
                <a:cubicBezTo>
                  <a:pt x="409" y="54"/>
                  <a:pt x="420" y="51"/>
                  <a:pt x="430" y="51"/>
                </a:cubicBezTo>
                <a:cubicBezTo>
                  <a:pt x="439" y="51"/>
                  <a:pt x="444" y="54"/>
                  <a:pt x="445" y="56"/>
                </a:cubicBezTo>
                <a:cubicBezTo>
                  <a:pt x="446" y="58"/>
                  <a:pt x="444" y="63"/>
                  <a:pt x="438" y="70"/>
                </a:cubicBezTo>
                <a:cubicBezTo>
                  <a:pt x="437" y="70"/>
                  <a:pt x="436" y="71"/>
                  <a:pt x="435" y="72"/>
                </a:cubicBezTo>
                <a:cubicBezTo>
                  <a:pt x="365" y="129"/>
                  <a:pt x="350" y="183"/>
                  <a:pt x="350" y="218"/>
                </a:cubicBezTo>
                <a:cubicBezTo>
                  <a:pt x="350" y="221"/>
                  <a:pt x="352" y="223"/>
                  <a:pt x="355" y="224"/>
                </a:cubicBezTo>
                <a:cubicBezTo>
                  <a:pt x="439" y="253"/>
                  <a:pt x="563" y="349"/>
                  <a:pt x="563" y="462"/>
                </a:cubicBezTo>
                <a:cubicBezTo>
                  <a:pt x="563" y="573"/>
                  <a:pt x="519" y="632"/>
                  <a:pt x="288" y="632"/>
                </a:cubicBezTo>
                <a:cubicBezTo>
                  <a:pt x="58" y="632"/>
                  <a:pt x="14" y="573"/>
                  <a:pt x="14" y="462"/>
                </a:cubicBezTo>
                <a:cubicBezTo>
                  <a:pt x="14" y="349"/>
                  <a:pt x="138" y="253"/>
                  <a:pt x="222" y="224"/>
                </a:cubicBezTo>
                <a:cubicBezTo>
                  <a:pt x="225" y="223"/>
                  <a:pt x="227" y="221"/>
                  <a:pt x="227" y="218"/>
                </a:cubicBezTo>
                <a:cubicBezTo>
                  <a:pt x="227" y="183"/>
                  <a:pt x="212" y="129"/>
                  <a:pt x="142" y="72"/>
                </a:cubicBezTo>
                <a:cubicBezTo>
                  <a:pt x="141" y="71"/>
                  <a:pt x="140" y="70"/>
                  <a:pt x="139" y="70"/>
                </a:cubicBezTo>
                <a:cubicBezTo>
                  <a:pt x="133" y="63"/>
                  <a:pt x="131" y="58"/>
                  <a:pt x="132" y="56"/>
                </a:cubicBezTo>
                <a:cubicBezTo>
                  <a:pt x="133" y="54"/>
                  <a:pt x="138" y="51"/>
                  <a:pt x="147" y="51"/>
                </a:cubicBezTo>
                <a:cubicBezTo>
                  <a:pt x="157" y="51"/>
                  <a:pt x="168" y="54"/>
                  <a:pt x="179" y="59"/>
                </a:cubicBezTo>
                <a:close/>
              </a:path>
            </a:pathLst>
          </a:custGeom>
          <a:solidFill>
            <a:srgbClr val="0097B7"/>
          </a:solidFill>
          <a:ln>
            <a:solidFill>
              <a:srgbClr val="0097B7"/>
            </a:solidFill>
          </a:ln>
        </p:spPr>
        <p:txBody>
          <a:bodyPr vert="horz" wrap="square" lIns="68580" tIns="34290" rIns="68580" bIns="34290" numCol="1" anchor="t" anchorCtr="0" compatLnSpc="1">
            <a:prstTxWarp prst="textNoShape">
              <a:avLst/>
            </a:prstTxWarp>
          </a:bodyPr>
          <a:lstStyle/>
          <a:p>
            <a:endParaRPr lang="en-US" sz="1800" dirty="0"/>
          </a:p>
        </p:txBody>
      </p:sp>
      <p:sp>
        <p:nvSpPr>
          <p:cNvPr id="94"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18</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3167650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16 Rectángulo"/>
          <p:cNvSpPr/>
          <p:nvPr/>
        </p:nvSpPr>
        <p:spPr>
          <a:xfrm>
            <a:off x="604033" y="852636"/>
            <a:ext cx="8660260" cy="430888"/>
          </a:xfrm>
          <a:prstGeom prst="rect">
            <a:avLst/>
          </a:prstGeom>
          <a:noFill/>
        </p:spPr>
        <p:txBody>
          <a:bodyPr wrap="square" rtlCol="0" anchor="ctr">
            <a:spAutoFit/>
          </a:bodyPr>
          <a:lstStyle/>
          <a:p>
            <a:pPr algn="ctr" defTabSz="925830" eaLnBrk="0" fontAlgn="base" hangingPunct="0">
              <a:lnSpc>
                <a:spcPct val="110000"/>
              </a:lnSpc>
              <a:spcBef>
                <a:spcPct val="30000"/>
              </a:spcBef>
              <a:spcAft>
                <a:spcPct val="0"/>
              </a:spcAft>
            </a:pPr>
            <a:r>
              <a:rPr lang="es-ES" sz="1000" dirty="0">
                <a:solidFill>
                  <a:srgbClr val="323232"/>
                </a:solidFill>
                <a:latin typeface="Avenir 35" panose="00000400000000000000" pitchFamily="2" charset="0"/>
              </a:rPr>
              <a:t>Maximizar el impacto de las campañas de marketing así como asegurar su alineamiento con la estrategia de negocio de Easy Money con una visión única e integrada del cliente. Medir y proporcionar información de valor a las Business Units </a:t>
            </a: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EXPLOTAR</a:t>
            </a:r>
            <a:endParaRPr lang="es-ES" sz="1400" b="1" dirty="0">
              <a:solidFill>
                <a:srgbClr val="323232"/>
              </a:solidFill>
              <a:latin typeface="Avenir 35" panose="00000400000000000000" pitchFamily="2" charset="0"/>
            </a:endParaRPr>
          </a:p>
        </p:txBody>
      </p:sp>
      <p:sp>
        <p:nvSpPr>
          <p:cNvPr id="10"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s-ES" dirty="0">
                <a:solidFill>
                  <a:srgbClr val="323232"/>
                </a:solidFill>
                <a:latin typeface="Avenir 35" panose="00000400000000000000" pitchFamily="2" charset="0"/>
              </a:rPr>
              <a:t>Nuestra Visión</a:t>
            </a:r>
          </a:p>
          <a:p>
            <a:endParaRPr lang="es-ES" dirty="0">
              <a:solidFill>
                <a:srgbClr val="323232"/>
              </a:solidFill>
              <a:latin typeface="Avenir 35" panose="00000400000000000000" pitchFamily="2" charset="0"/>
            </a:endParaRPr>
          </a:p>
        </p:txBody>
      </p:sp>
      <p:sp>
        <p:nvSpPr>
          <p:cNvPr id="47" name="Oval 22"/>
          <p:cNvSpPr/>
          <p:nvPr/>
        </p:nvSpPr>
        <p:spPr>
          <a:xfrm>
            <a:off x="1435925" y="1944557"/>
            <a:ext cx="648000" cy="648000"/>
          </a:xfrm>
          <a:prstGeom prst="ellipse">
            <a:avLst/>
          </a:prstGeom>
          <a:solidFill>
            <a:srgbClr val="0097B7"/>
          </a:solidFill>
          <a:ln w="25400" cap="flat" cmpd="sng" algn="ctr">
            <a:noFill/>
            <a:prstDash val="solid"/>
          </a:ln>
          <a:effectLst/>
        </p:spPr>
        <p:txBody>
          <a:bodyPr rtlCol="0" anchor="ctr"/>
          <a:lstStyle/>
          <a:p>
            <a:pPr algn="ctr"/>
            <a:endParaRPr lang="en-GB" sz="1400" kern="0" dirty="0">
              <a:solidFill>
                <a:schemeClr val="bg1">
                  <a:lumMod val="50000"/>
                </a:schemeClr>
              </a:solidFill>
              <a:latin typeface="Calibri"/>
            </a:endParaRPr>
          </a:p>
        </p:txBody>
      </p:sp>
      <p:sp>
        <p:nvSpPr>
          <p:cNvPr id="48" name="TextBox 25"/>
          <p:cNvSpPr txBox="1"/>
          <p:nvPr/>
        </p:nvSpPr>
        <p:spPr>
          <a:xfrm>
            <a:off x="644081" y="3040709"/>
            <a:ext cx="2231688" cy="3693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Centrado en la captación, reactivación y fidelización de clientes</a:t>
            </a:r>
            <a:endParaRPr lang="es-ES" sz="900" b="1" dirty="0">
              <a:solidFill>
                <a:schemeClr val="bg1">
                  <a:lumMod val="50000"/>
                </a:schemeClr>
              </a:solidFill>
              <a:latin typeface="Avenir 35" panose="00000400000000000000" pitchFamily="2" charset="0"/>
            </a:endParaRPr>
          </a:p>
        </p:txBody>
      </p:sp>
      <p:sp>
        <p:nvSpPr>
          <p:cNvPr id="49" name="Oval 22"/>
          <p:cNvSpPr/>
          <p:nvPr/>
        </p:nvSpPr>
        <p:spPr>
          <a:xfrm>
            <a:off x="3662015" y="1944557"/>
            <a:ext cx="648000" cy="648000"/>
          </a:xfrm>
          <a:prstGeom prst="ellipse">
            <a:avLst/>
          </a:prstGeom>
          <a:solidFill>
            <a:srgbClr val="0097B7"/>
          </a:solidFill>
          <a:ln w="25400" cap="flat" cmpd="sng" algn="ctr">
            <a:noFill/>
            <a:prstDash val="solid"/>
          </a:ln>
          <a:effectLst/>
        </p:spPr>
        <p:txBody>
          <a:bodyPr rtlCol="0" anchor="ctr"/>
          <a:lstStyle/>
          <a:p>
            <a:pPr algn="ctr"/>
            <a:endParaRPr lang="id-ID" sz="1400" kern="0">
              <a:solidFill>
                <a:schemeClr val="bg1">
                  <a:lumMod val="50000"/>
                </a:schemeClr>
              </a:solidFill>
              <a:latin typeface="Calibri"/>
            </a:endParaRPr>
          </a:p>
        </p:txBody>
      </p:sp>
      <p:sp>
        <p:nvSpPr>
          <p:cNvPr id="50" name="TextBox 25"/>
          <p:cNvSpPr txBox="1"/>
          <p:nvPr/>
        </p:nvSpPr>
        <p:spPr>
          <a:xfrm>
            <a:off x="2998906" y="2921657"/>
            <a:ext cx="1974219" cy="507831"/>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Asegurar una visión global a lo largo de la organización alineada con los objetivos de negocio de Easy Money</a:t>
            </a:r>
          </a:p>
        </p:txBody>
      </p:sp>
      <p:sp>
        <p:nvSpPr>
          <p:cNvPr id="51" name="Oval 22"/>
          <p:cNvSpPr/>
          <p:nvPr/>
        </p:nvSpPr>
        <p:spPr>
          <a:xfrm>
            <a:off x="1435925" y="4072040"/>
            <a:ext cx="648000" cy="648000"/>
          </a:xfrm>
          <a:prstGeom prst="ellipse">
            <a:avLst/>
          </a:prstGeom>
          <a:solidFill>
            <a:srgbClr val="0097B7"/>
          </a:solidFill>
          <a:ln w="25400" cap="flat" cmpd="sng" algn="ctr">
            <a:noFill/>
            <a:prstDash val="solid"/>
          </a:ln>
          <a:effectLst/>
        </p:spPr>
        <p:txBody>
          <a:bodyPr rtlCol="0" anchor="ctr"/>
          <a:lstStyle/>
          <a:p>
            <a:pPr algn="ctr"/>
            <a:endParaRPr lang="id-ID" sz="1400" kern="0">
              <a:solidFill>
                <a:schemeClr val="bg1">
                  <a:lumMod val="50000"/>
                </a:schemeClr>
              </a:solidFill>
              <a:latin typeface="Calibri"/>
            </a:endParaRPr>
          </a:p>
        </p:txBody>
      </p:sp>
      <p:sp>
        <p:nvSpPr>
          <p:cNvPr id="52" name="TextBox 25"/>
          <p:cNvSpPr txBox="1"/>
          <p:nvPr/>
        </p:nvSpPr>
        <p:spPr>
          <a:xfrm>
            <a:off x="595811" y="5297437"/>
            <a:ext cx="2328232" cy="369332"/>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Proporcionar la información necesaria en el momento adecuado a cada cliente</a:t>
            </a:r>
            <a:endParaRPr lang="es-ES" sz="900" b="1" dirty="0">
              <a:solidFill>
                <a:schemeClr val="bg1">
                  <a:lumMod val="50000"/>
                </a:schemeClr>
              </a:solidFill>
              <a:latin typeface="Avenir 35" panose="00000400000000000000" pitchFamily="2" charset="0"/>
            </a:endParaRPr>
          </a:p>
        </p:txBody>
      </p:sp>
      <p:sp>
        <p:nvSpPr>
          <p:cNvPr id="53" name="TextBox 26"/>
          <p:cNvSpPr txBox="1"/>
          <p:nvPr/>
        </p:nvSpPr>
        <p:spPr>
          <a:xfrm>
            <a:off x="643803" y="4851291"/>
            <a:ext cx="2232248" cy="415498"/>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COHESIÓN DE EXPERIENCIA DE CLIENTE</a:t>
            </a:r>
            <a:endParaRPr lang="id-ID" sz="1050" b="1" dirty="0">
              <a:solidFill>
                <a:schemeClr val="bg1">
                  <a:lumMod val="50000"/>
                </a:schemeClr>
              </a:solidFill>
              <a:latin typeface="Avenir 65" panose="02000600000000000000" pitchFamily="2" charset="0"/>
            </a:endParaRPr>
          </a:p>
        </p:txBody>
      </p:sp>
      <p:sp>
        <p:nvSpPr>
          <p:cNvPr id="54" name="Oval 22"/>
          <p:cNvSpPr/>
          <p:nvPr/>
        </p:nvSpPr>
        <p:spPr>
          <a:xfrm>
            <a:off x="3662015" y="4101839"/>
            <a:ext cx="648000" cy="648000"/>
          </a:xfrm>
          <a:prstGeom prst="ellipse">
            <a:avLst/>
          </a:prstGeom>
          <a:solidFill>
            <a:srgbClr val="0097B7"/>
          </a:solidFill>
          <a:ln w="25400" cap="flat" cmpd="sng" algn="ctr">
            <a:noFill/>
            <a:prstDash val="solid"/>
          </a:ln>
          <a:effectLst/>
        </p:spPr>
        <p:txBody>
          <a:bodyPr rtlCol="0" anchor="ctr"/>
          <a:lstStyle/>
          <a:p>
            <a:pPr algn="ctr"/>
            <a:endParaRPr lang="id-ID" sz="1400" kern="0">
              <a:solidFill>
                <a:schemeClr val="bg1">
                  <a:lumMod val="50000"/>
                </a:schemeClr>
              </a:solidFill>
              <a:latin typeface="Calibri"/>
            </a:endParaRPr>
          </a:p>
        </p:txBody>
      </p:sp>
      <p:sp>
        <p:nvSpPr>
          <p:cNvPr id="55" name="TextBox 25"/>
          <p:cNvSpPr txBox="1"/>
          <p:nvPr/>
        </p:nvSpPr>
        <p:spPr>
          <a:xfrm>
            <a:off x="3099503" y="5089361"/>
            <a:ext cx="1773025" cy="646331"/>
          </a:xfrm>
          <a:prstGeom prst="rect">
            <a:avLst/>
          </a:prstGeom>
          <a:noFill/>
        </p:spPr>
        <p:txBody>
          <a:bodyPr wrap="square" rtlCol="0">
            <a:spAutoFit/>
          </a:bodyPr>
          <a:lstStyle/>
          <a:p>
            <a:pPr algn="ctr" defTabSz="914400"/>
            <a:r>
              <a:rPr lang="es-ES" sz="900" dirty="0">
                <a:solidFill>
                  <a:schemeClr val="bg1">
                    <a:lumMod val="50000"/>
                  </a:schemeClr>
                </a:solidFill>
                <a:latin typeface="Avenir 35" panose="00000400000000000000" pitchFamily="2" charset="0"/>
              </a:rPr>
              <a:t>Definir la estrategia de canales adecuada, con visión amplia, incorporando los canales sociales</a:t>
            </a:r>
            <a:endParaRPr lang="en-US" sz="900" dirty="0">
              <a:solidFill>
                <a:schemeClr val="bg1">
                  <a:lumMod val="50000"/>
                </a:schemeClr>
              </a:solidFill>
              <a:latin typeface="Avenir 35" panose="00000400000000000000" pitchFamily="2" charset="0"/>
            </a:endParaRPr>
          </a:p>
        </p:txBody>
      </p:sp>
      <p:sp>
        <p:nvSpPr>
          <p:cNvPr id="56" name="TextBox 26"/>
          <p:cNvSpPr txBox="1"/>
          <p:nvPr/>
        </p:nvSpPr>
        <p:spPr>
          <a:xfrm>
            <a:off x="3191152" y="4851291"/>
            <a:ext cx="1589730"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MULTICANALIDAD</a:t>
            </a:r>
            <a:endParaRPr lang="id-ID" sz="1050" b="1" dirty="0">
              <a:solidFill>
                <a:schemeClr val="bg1">
                  <a:lumMod val="50000"/>
                </a:schemeClr>
              </a:solidFill>
              <a:latin typeface="Avenir 65" panose="02000600000000000000" pitchFamily="2" charset="0"/>
            </a:endParaRPr>
          </a:p>
        </p:txBody>
      </p:sp>
      <p:sp>
        <p:nvSpPr>
          <p:cNvPr id="57" name="TextBox 26"/>
          <p:cNvSpPr txBox="1"/>
          <p:nvPr/>
        </p:nvSpPr>
        <p:spPr>
          <a:xfrm>
            <a:off x="715811" y="2676488"/>
            <a:ext cx="2088232" cy="415498"/>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MAXIMIZAR RESULTADOS DE CAMPAÑAS</a:t>
            </a:r>
            <a:endParaRPr lang="id-ID" sz="1050" b="1" dirty="0">
              <a:solidFill>
                <a:schemeClr val="bg1">
                  <a:lumMod val="50000"/>
                </a:schemeClr>
              </a:solidFill>
              <a:latin typeface="Avenir 65" panose="02000600000000000000" pitchFamily="2" charset="0"/>
            </a:endParaRPr>
          </a:p>
        </p:txBody>
      </p:sp>
      <p:sp>
        <p:nvSpPr>
          <p:cNvPr id="58" name="TextBox 26"/>
          <p:cNvSpPr txBox="1"/>
          <p:nvPr/>
        </p:nvSpPr>
        <p:spPr>
          <a:xfrm>
            <a:off x="2995910" y="2680665"/>
            <a:ext cx="1980215"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VISIÓN UNIFICADA</a:t>
            </a:r>
            <a:endParaRPr lang="id-ID" sz="1050" b="1" dirty="0">
              <a:solidFill>
                <a:schemeClr val="bg1">
                  <a:lumMod val="50000"/>
                </a:schemeClr>
              </a:solidFill>
              <a:latin typeface="Avenir 65" panose="02000600000000000000" pitchFamily="2" charset="0"/>
            </a:endParaRPr>
          </a:p>
        </p:txBody>
      </p:sp>
      <p:grpSp>
        <p:nvGrpSpPr>
          <p:cNvPr id="59" name="58 Grupo"/>
          <p:cNvGrpSpPr/>
          <p:nvPr/>
        </p:nvGrpSpPr>
        <p:grpSpPr>
          <a:xfrm>
            <a:off x="6147001" y="2051199"/>
            <a:ext cx="2999185" cy="3605617"/>
            <a:chOff x="6147001" y="2051199"/>
            <a:chExt cx="2999185" cy="3605617"/>
          </a:xfrm>
        </p:grpSpPr>
        <p:sp>
          <p:nvSpPr>
            <p:cNvPr id="60" name="Freeform 6"/>
            <p:cNvSpPr>
              <a:spLocks/>
            </p:cNvSpPr>
            <p:nvPr/>
          </p:nvSpPr>
          <p:spPr bwMode="auto">
            <a:xfrm>
              <a:off x="6511333" y="2051199"/>
              <a:ext cx="1968103" cy="1541860"/>
            </a:xfrm>
            <a:custGeom>
              <a:avLst/>
              <a:gdLst>
                <a:gd name="T0" fmla="*/ 3 w 227"/>
                <a:gd name="T1" fmla="*/ 68 h 178"/>
                <a:gd name="T2" fmla="*/ 112 w 227"/>
                <a:gd name="T3" fmla="*/ 178 h 178"/>
                <a:gd name="T4" fmla="*/ 227 w 227"/>
                <a:gd name="T5" fmla="*/ 63 h 178"/>
                <a:gd name="T6" fmla="*/ 3 w 227"/>
                <a:gd name="T7" fmla="*/ 58 h 178"/>
                <a:gd name="T8" fmla="*/ 3 w 227"/>
                <a:gd name="T9" fmla="*/ 68 h 178"/>
              </a:gdLst>
              <a:ahLst/>
              <a:cxnLst>
                <a:cxn ang="0">
                  <a:pos x="T0" y="T1"/>
                </a:cxn>
                <a:cxn ang="0">
                  <a:pos x="T2" y="T3"/>
                </a:cxn>
                <a:cxn ang="0">
                  <a:pos x="T4" y="T5"/>
                </a:cxn>
                <a:cxn ang="0">
                  <a:pos x="T6" y="T7"/>
                </a:cxn>
                <a:cxn ang="0">
                  <a:pos x="T8" y="T9"/>
                </a:cxn>
              </a:cxnLst>
              <a:rect l="0" t="0" r="r" b="b"/>
              <a:pathLst>
                <a:path w="227" h="178">
                  <a:moveTo>
                    <a:pt x="3" y="68"/>
                  </a:moveTo>
                  <a:cubicBezTo>
                    <a:pt x="112" y="178"/>
                    <a:pt x="112" y="178"/>
                    <a:pt x="112" y="178"/>
                  </a:cubicBezTo>
                  <a:cubicBezTo>
                    <a:pt x="227" y="63"/>
                    <a:pt x="227" y="63"/>
                    <a:pt x="227" y="63"/>
                  </a:cubicBezTo>
                  <a:cubicBezTo>
                    <a:pt x="166" y="1"/>
                    <a:pt x="67" y="0"/>
                    <a:pt x="3" y="58"/>
                  </a:cubicBezTo>
                  <a:cubicBezTo>
                    <a:pt x="0" y="60"/>
                    <a:pt x="0" y="65"/>
                    <a:pt x="3" y="68"/>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61" name="Freeform 8"/>
            <p:cNvSpPr>
              <a:spLocks/>
            </p:cNvSpPr>
            <p:nvPr/>
          </p:nvSpPr>
          <p:spPr bwMode="auto">
            <a:xfrm>
              <a:off x="7776967" y="2519114"/>
              <a:ext cx="1369219" cy="1801416"/>
            </a:xfrm>
            <a:custGeom>
              <a:avLst/>
              <a:gdLst>
                <a:gd name="T0" fmla="*/ 87 w 158"/>
                <a:gd name="T1" fmla="*/ 3 h 208"/>
                <a:gd name="T2" fmla="*/ 0 w 158"/>
                <a:gd name="T3" fmla="*/ 90 h 208"/>
                <a:gd name="T4" fmla="*/ 114 w 158"/>
                <a:gd name="T5" fmla="*/ 205 h 208"/>
                <a:gd name="T6" fmla="*/ 126 w 158"/>
                <a:gd name="T7" fmla="*/ 203 h 208"/>
                <a:gd name="T8" fmla="*/ 98 w 158"/>
                <a:gd name="T9" fmla="*/ 3 h 208"/>
                <a:gd name="T10" fmla="*/ 87 w 158"/>
                <a:gd name="T11" fmla="*/ 3 h 208"/>
              </a:gdLst>
              <a:ahLst/>
              <a:cxnLst>
                <a:cxn ang="0">
                  <a:pos x="T0" y="T1"/>
                </a:cxn>
                <a:cxn ang="0">
                  <a:pos x="T2" y="T3"/>
                </a:cxn>
                <a:cxn ang="0">
                  <a:pos x="T4" y="T5"/>
                </a:cxn>
                <a:cxn ang="0">
                  <a:pos x="T6" y="T7"/>
                </a:cxn>
                <a:cxn ang="0">
                  <a:pos x="T8" y="T9"/>
                </a:cxn>
                <a:cxn ang="0">
                  <a:pos x="T10" y="T11"/>
                </a:cxn>
              </a:cxnLst>
              <a:rect l="0" t="0" r="r" b="b"/>
              <a:pathLst>
                <a:path w="158" h="208">
                  <a:moveTo>
                    <a:pt x="87" y="3"/>
                  </a:moveTo>
                  <a:cubicBezTo>
                    <a:pt x="0" y="90"/>
                    <a:pt x="0" y="90"/>
                    <a:pt x="0" y="90"/>
                  </a:cubicBezTo>
                  <a:cubicBezTo>
                    <a:pt x="114" y="205"/>
                    <a:pt x="114" y="205"/>
                    <a:pt x="114" y="205"/>
                  </a:cubicBezTo>
                  <a:cubicBezTo>
                    <a:pt x="118" y="208"/>
                    <a:pt x="124" y="207"/>
                    <a:pt x="126" y="203"/>
                  </a:cubicBezTo>
                  <a:cubicBezTo>
                    <a:pt x="158" y="138"/>
                    <a:pt x="148" y="59"/>
                    <a:pt x="98" y="3"/>
                  </a:cubicBezTo>
                  <a:cubicBezTo>
                    <a:pt x="95" y="0"/>
                    <a:pt x="90" y="0"/>
                    <a:pt x="87" y="3"/>
                  </a:cubicBez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62" name="Freeform 9"/>
            <p:cNvSpPr>
              <a:spLocks/>
            </p:cNvSpPr>
            <p:nvPr/>
          </p:nvSpPr>
          <p:spPr bwMode="auto">
            <a:xfrm>
              <a:off x="7195941" y="3297783"/>
              <a:ext cx="1473994" cy="1472804"/>
            </a:xfrm>
            <a:custGeom>
              <a:avLst/>
              <a:gdLst>
                <a:gd name="T0" fmla="*/ 0 w 170"/>
                <a:gd name="T1" fmla="*/ 67 h 170"/>
                <a:gd name="T2" fmla="*/ 103 w 170"/>
                <a:gd name="T3" fmla="*/ 170 h 170"/>
                <a:gd name="T4" fmla="*/ 142 w 170"/>
                <a:gd name="T5" fmla="*/ 142 h 170"/>
                <a:gd name="T6" fmla="*/ 170 w 170"/>
                <a:gd name="T7" fmla="*/ 103 h 170"/>
                <a:gd name="T8" fmla="*/ 67 w 170"/>
                <a:gd name="T9" fmla="*/ 0 h 170"/>
                <a:gd name="T10" fmla="*/ 0 w 170"/>
                <a:gd name="T11" fmla="*/ 67 h 170"/>
              </a:gdLst>
              <a:ahLst/>
              <a:cxnLst>
                <a:cxn ang="0">
                  <a:pos x="T0" y="T1"/>
                </a:cxn>
                <a:cxn ang="0">
                  <a:pos x="T2" y="T3"/>
                </a:cxn>
                <a:cxn ang="0">
                  <a:pos x="T4" y="T5"/>
                </a:cxn>
                <a:cxn ang="0">
                  <a:pos x="T6" y="T7"/>
                </a:cxn>
                <a:cxn ang="0">
                  <a:pos x="T8" y="T9"/>
                </a:cxn>
                <a:cxn ang="0">
                  <a:pos x="T10" y="T11"/>
                </a:cxn>
              </a:cxnLst>
              <a:rect l="0" t="0" r="r" b="b"/>
              <a:pathLst>
                <a:path w="170" h="170">
                  <a:moveTo>
                    <a:pt x="0" y="67"/>
                  </a:moveTo>
                  <a:cubicBezTo>
                    <a:pt x="103" y="170"/>
                    <a:pt x="103" y="170"/>
                    <a:pt x="103" y="170"/>
                  </a:cubicBezTo>
                  <a:cubicBezTo>
                    <a:pt x="117" y="163"/>
                    <a:pt x="130" y="153"/>
                    <a:pt x="142" y="142"/>
                  </a:cubicBezTo>
                  <a:cubicBezTo>
                    <a:pt x="153" y="130"/>
                    <a:pt x="163" y="117"/>
                    <a:pt x="170" y="103"/>
                  </a:cubicBezTo>
                  <a:cubicBezTo>
                    <a:pt x="67" y="0"/>
                    <a:pt x="67" y="0"/>
                    <a:pt x="67" y="0"/>
                  </a:cubicBezTo>
                  <a:lnTo>
                    <a:pt x="0" y="67"/>
                  </a:ln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63" name="Freeform 7"/>
            <p:cNvSpPr>
              <a:spLocks/>
            </p:cNvSpPr>
            <p:nvPr/>
          </p:nvSpPr>
          <p:spPr bwMode="auto">
            <a:xfrm>
              <a:off x="6469579" y="3868176"/>
              <a:ext cx="1716881" cy="1298972"/>
            </a:xfrm>
            <a:custGeom>
              <a:avLst/>
              <a:gdLst>
                <a:gd name="T0" fmla="*/ 3 w 198"/>
                <a:gd name="T1" fmla="*/ 93 h 150"/>
                <a:gd name="T2" fmla="*/ 192 w 198"/>
                <a:gd name="T3" fmla="*/ 121 h 150"/>
                <a:gd name="T4" fmla="*/ 194 w 198"/>
                <a:gd name="T5" fmla="*/ 109 h 150"/>
                <a:gd name="T6" fmla="*/ 85 w 198"/>
                <a:gd name="T7" fmla="*/ 0 h 150"/>
                <a:gd name="T8" fmla="*/ 3 w 198"/>
                <a:gd name="T9" fmla="*/ 82 h 150"/>
                <a:gd name="T10" fmla="*/ 3 w 198"/>
                <a:gd name="T11" fmla="*/ 93 h 150"/>
              </a:gdLst>
              <a:ahLst/>
              <a:cxnLst>
                <a:cxn ang="0">
                  <a:pos x="T0" y="T1"/>
                </a:cxn>
                <a:cxn ang="0">
                  <a:pos x="T2" y="T3"/>
                </a:cxn>
                <a:cxn ang="0">
                  <a:pos x="T4" y="T5"/>
                </a:cxn>
                <a:cxn ang="0">
                  <a:pos x="T6" y="T7"/>
                </a:cxn>
                <a:cxn ang="0">
                  <a:pos x="T8" y="T9"/>
                </a:cxn>
                <a:cxn ang="0">
                  <a:pos x="T10" y="T11"/>
                </a:cxn>
              </a:cxnLst>
              <a:rect l="0" t="0" r="r" b="b"/>
              <a:pathLst>
                <a:path w="198" h="150">
                  <a:moveTo>
                    <a:pt x="3" y="93"/>
                  </a:moveTo>
                  <a:cubicBezTo>
                    <a:pt x="56" y="141"/>
                    <a:pt x="131" y="150"/>
                    <a:pt x="192" y="121"/>
                  </a:cubicBezTo>
                  <a:cubicBezTo>
                    <a:pt x="196" y="119"/>
                    <a:pt x="198" y="113"/>
                    <a:pt x="194" y="109"/>
                  </a:cubicBezTo>
                  <a:cubicBezTo>
                    <a:pt x="85" y="0"/>
                    <a:pt x="85" y="0"/>
                    <a:pt x="85" y="0"/>
                  </a:cubicBezTo>
                  <a:cubicBezTo>
                    <a:pt x="3" y="82"/>
                    <a:pt x="3" y="82"/>
                    <a:pt x="3" y="82"/>
                  </a:cubicBezTo>
                  <a:cubicBezTo>
                    <a:pt x="0" y="85"/>
                    <a:pt x="0" y="90"/>
                    <a:pt x="3" y="93"/>
                  </a:cubicBezTo>
                  <a:close/>
                </a:path>
              </a:pathLst>
            </a:custGeom>
            <a:solidFill>
              <a:srgbClr val="0097B7"/>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64" name="Freeform 5"/>
            <p:cNvSpPr>
              <a:spLocks/>
            </p:cNvSpPr>
            <p:nvPr/>
          </p:nvSpPr>
          <p:spPr bwMode="auto">
            <a:xfrm>
              <a:off x="6147001" y="2726283"/>
              <a:ext cx="1334690" cy="1724026"/>
            </a:xfrm>
            <a:custGeom>
              <a:avLst/>
              <a:gdLst>
                <a:gd name="T0" fmla="*/ 55 w 154"/>
                <a:gd name="T1" fmla="*/ 199 h 199"/>
                <a:gd name="T2" fmla="*/ 154 w 154"/>
                <a:gd name="T3" fmla="*/ 100 h 199"/>
                <a:gd name="T4" fmla="*/ 55 w 154"/>
                <a:gd name="T5" fmla="*/ 0 h 199"/>
                <a:gd name="T6" fmla="*/ 55 w 154"/>
                <a:gd name="T7" fmla="*/ 199 h 199"/>
              </a:gdLst>
              <a:ahLst/>
              <a:cxnLst>
                <a:cxn ang="0">
                  <a:pos x="T0" y="T1"/>
                </a:cxn>
                <a:cxn ang="0">
                  <a:pos x="T2" y="T3"/>
                </a:cxn>
                <a:cxn ang="0">
                  <a:pos x="T4" y="T5"/>
                </a:cxn>
                <a:cxn ang="0">
                  <a:pos x="T6" y="T7"/>
                </a:cxn>
              </a:cxnLst>
              <a:rect l="0" t="0" r="r" b="b"/>
              <a:pathLst>
                <a:path w="154" h="199">
                  <a:moveTo>
                    <a:pt x="55" y="199"/>
                  </a:moveTo>
                  <a:cubicBezTo>
                    <a:pt x="154" y="100"/>
                    <a:pt x="154" y="100"/>
                    <a:pt x="154" y="100"/>
                  </a:cubicBezTo>
                  <a:cubicBezTo>
                    <a:pt x="55" y="0"/>
                    <a:pt x="55" y="0"/>
                    <a:pt x="55" y="0"/>
                  </a:cubicBezTo>
                  <a:cubicBezTo>
                    <a:pt x="0" y="55"/>
                    <a:pt x="0" y="144"/>
                    <a:pt x="55" y="199"/>
                  </a:cubicBez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65" name="Freeform 11"/>
            <p:cNvSpPr/>
            <p:nvPr/>
          </p:nvSpPr>
          <p:spPr>
            <a:xfrm flipV="1">
              <a:off x="7353915" y="4956103"/>
              <a:ext cx="1665090" cy="422092"/>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noFill/>
            <a:ln w="6350" cap="flat" cmpd="sng" algn="ctr">
              <a:solidFill>
                <a:srgbClr val="0097B7">
                  <a:alpha val="50000"/>
                </a:srgbClr>
              </a:solidFill>
              <a:prstDash val="solid"/>
              <a:miter lim="800000"/>
              <a:headEnd type="none"/>
              <a:tailEnd type="oval" w="lg" len="lg"/>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445469"/>
                </a:solidFill>
                <a:effectLst/>
                <a:uLnTx/>
                <a:uFillTx/>
                <a:latin typeface="Roboto Regular" charset="0"/>
              </a:endParaRPr>
            </a:p>
          </p:txBody>
        </p:sp>
        <p:sp>
          <p:nvSpPr>
            <p:cNvPr id="66" name="TextBox 12"/>
            <p:cNvSpPr txBox="1"/>
            <p:nvPr/>
          </p:nvSpPr>
          <p:spPr>
            <a:xfrm>
              <a:off x="7113240" y="5157192"/>
              <a:ext cx="1704506" cy="499624"/>
            </a:xfrm>
            <a:prstGeom prst="rect">
              <a:avLst/>
            </a:prstGeom>
            <a:noFill/>
          </p:spPr>
          <p:txBody>
            <a:bodyPr wrap="square" lIns="91440" rIns="91440" rtlCol="0">
              <a:spAutoFit/>
            </a:bodyPr>
            <a:lstStyle/>
            <a:p>
              <a:pPr algn="r">
                <a:lnSpc>
                  <a:spcPct val="90000"/>
                </a:lnSpc>
                <a:spcBef>
                  <a:spcPts val="800"/>
                </a:spcBef>
              </a:pPr>
              <a:r>
                <a:rPr lang="en-US" sz="1200" b="1" dirty="0">
                  <a:solidFill>
                    <a:schemeClr val="bg1">
                      <a:lumMod val="50000"/>
                    </a:schemeClr>
                  </a:solidFill>
                  <a:latin typeface="Avenir 65" panose="02000600000000000000" pitchFamily="2" charset="0"/>
                </a:rPr>
                <a:t>EXPLOTAR</a:t>
              </a:r>
            </a:p>
            <a:p>
              <a:pPr algn="r">
                <a:lnSpc>
                  <a:spcPct val="90000"/>
                </a:lnSpc>
                <a:spcBef>
                  <a:spcPts val="800"/>
                </a:spcBef>
              </a:pPr>
              <a:r>
                <a:rPr lang="en-US" sz="900" b="1" dirty="0">
                  <a:solidFill>
                    <a:schemeClr val="bg1">
                      <a:lumMod val="50000"/>
                    </a:schemeClr>
                  </a:solidFill>
                  <a:latin typeface="Avenir 35" panose="00000400000000000000" pitchFamily="2" charset="0"/>
                </a:rPr>
                <a:t> </a:t>
              </a:r>
            </a:p>
          </p:txBody>
        </p:sp>
        <p:sp>
          <p:nvSpPr>
            <p:cNvPr id="67" name="66 Rectángulo"/>
            <p:cNvSpPr/>
            <p:nvPr/>
          </p:nvSpPr>
          <p:spPr>
            <a:xfrm>
              <a:off x="7319791" y="2593486"/>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01</a:t>
              </a:r>
            </a:p>
          </p:txBody>
        </p:sp>
        <p:sp>
          <p:nvSpPr>
            <p:cNvPr id="68" name="67 Rectángulo"/>
            <p:cNvSpPr/>
            <p:nvPr/>
          </p:nvSpPr>
          <p:spPr>
            <a:xfrm>
              <a:off x="8386048" y="3218964"/>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02</a:t>
              </a:r>
            </a:p>
          </p:txBody>
        </p:sp>
        <p:sp>
          <p:nvSpPr>
            <p:cNvPr id="69" name="68 Rectángulo"/>
            <p:cNvSpPr/>
            <p:nvPr/>
          </p:nvSpPr>
          <p:spPr>
            <a:xfrm>
              <a:off x="7837562" y="4034185"/>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03</a:t>
              </a:r>
            </a:p>
          </p:txBody>
        </p:sp>
        <p:sp>
          <p:nvSpPr>
            <p:cNvPr id="70" name="69 Rectángulo"/>
            <p:cNvSpPr/>
            <p:nvPr/>
          </p:nvSpPr>
          <p:spPr>
            <a:xfrm>
              <a:off x="7057158" y="4424990"/>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04</a:t>
              </a:r>
            </a:p>
          </p:txBody>
        </p:sp>
        <p:sp>
          <p:nvSpPr>
            <p:cNvPr id="71" name="70 Rectángulo"/>
            <p:cNvSpPr/>
            <p:nvPr/>
          </p:nvSpPr>
          <p:spPr>
            <a:xfrm>
              <a:off x="6363213" y="3427520"/>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05</a:t>
              </a:r>
            </a:p>
          </p:txBody>
        </p:sp>
        <p:sp>
          <p:nvSpPr>
            <p:cNvPr id="72" name="71 Elipse"/>
            <p:cNvSpPr/>
            <p:nvPr/>
          </p:nvSpPr>
          <p:spPr>
            <a:xfrm>
              <a:off x="7057158" y="3127725"/>
              <a:ext cx="952172" cy="9521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3" name="Rectangle 45"/>
            <p:cNvSpPr/>
            <p:nvPr/>
          </p:nvSpPr>
          <p:spPr>
            <a:xfrm>
              <a:off x="7139145" y="3307315"/>
              <a:ext cx="776276" cy="583227"/>
            </a:xfrm>
            <a:prstGeom prst="rect">
              <a:avLst/>
            </a:prstGeom>
            <a:no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chemeClr val="tx1">
                      <a:lumMod val="50000"/>
                      <a:lumOff val="50000"/>
                    </a:schemeClr>
                  </a:solidFill>
                  <a:effectLst/>
                  <a:uLnTx/>
                  <a:uFillTx/>
                  <a:latin typeface="Avenir 35" panose="00000400000000000000" pitchFamily="2" charset="0"/>
                </a:rPr>
                <a:t>Your</a:t>
              </a:r>
            </a:p>
            <a:p>
              <a:pPr marL="0" marR="0" lvl="0" indent="0" algn="ctr" defTabSz="914400" eaLnBrk="1" fontAlgn="auto" latinLnBrk="0" hangingPunct="1">
                <a:lnSpc>
                  <a:spcPct val="100000"/>
                </a:lnSpc>
                <a:spcBef>
                  <a:spcPts val="0"/>
                </a:spcBef>
                <a:spcAft>
                  <a:spcPts val="0"/>
                </a:spcAft>
                <a:buClrTx/>
                <a:buSzTx/>
                <a:buFontTx/>
                <a:buNone/>
                <a:tabLst/>
                <a:defRPr/>
              </a:pPr>
              <a:r>
                <a:rPr lang="en-US" sz="1600" kern="0" dirty="0">
                  <a:solidFill>
                    <a:schemeClr val="tx1">
                      <a:lumMod val="50000"/>
                      <a:lumOff val="50000"/>
                    </a:schemeClr>
                  </a:solidFill>
                  <a:latin typeface="Avenir 35" panose="00000400000000000000" pitchFamily="2" charset="0"/>
                </a:rPr>
                <a:t>Goals</a:t>
              </a:r>
              <a:endParaRPr kumimoji="0" lang="en-US" sz="1600" i="0" u="none" strike="noStrike" kern="0" cap="none" spc="0" normalizeH="0" baseline="0" dirty="0">
                <a:ln>
                  <a:noFill/>
                </a:ln>
                <a:solidFill>
                  <a:schemeClr val="tx1">
                    <a:lumMod val="50000"/>
                    <a:lumOff val="50000"/>
                  </a:schemeClr>
                </a:solidFill>
                <a:effectLst/>
                <a:uLnTx/>
                <a:uFillTx/>
                <a:latin typeface="Avenir 35" panose="00000400000000000000" pitchFamily="2" charset="0"/>
              </a:endParaRPr>
            </a:p>
          </p:txBody>
        </p:sp>
      </p:grpSp>
      <p:sp>
        <p:nvSpPr>
          <p:cNvPr id="97" name="Freeform 154"/>
          <p:cNvSpPr>
            <a:spLocks noEditPoints="1"/>
          </p:cNvSpPr>
          <p:nvPr/>
        </p:nvSpPr>
        <p:spPr bwMode="auto">
          <a:xfrm>
            <a:off x="1603819" y="4244759"/>
            <a:ext cx="312212" cy="254942"/>
          </a:xfrm>
          <a:custGeom>
            <a:avLst/>
            <a:gdLst>
              <a:gd name="T0" fmla="*/ 111 w 186"/>
              <a:gd name="T1" fmla="*/ 95 h 152"/>
              <a:gd name="T2" fmla="*/ 122 w 186"/>
              <a:gd name="T3" fmla="*/ 55 h 152"/>
              <a:gd name="T4" fmla="*/ 110 w 186"/>
              <a:gd name="T5" fmla="*/ 3 h 152"/>
              <a:gd name="T6" fmla="*/ 80 w 186"/>
              <a:gd name="T7" fmla="*/ 4 h 152"/>
              <a:gd name="T8" fmla="*/ 64 w 186"/>
              <a:gd name="T9" fmla="*/ 54 h 152"/>
              <a:gd name="T10" fmla="*/ 74 w 186"/>
              <a:gd name="T11" fmla="*/ 95 h 152"/>
              <a:gd name="T12" fmla="*/ 29 w 186"/>
              <a:gd name="T13" fmla="*/ 147 h 152"/>
              <a:gd name="T14" fmla="*/ 152 w 186"/>
              <a:gd name="T15" fmla="*/ 152 h 152"/>
              <a:gd name="T16" fmla="*/ 126 w 186"/>
              <a:gd name="T17" fmla="*/ 115 h 152"/>
              <a:gd name="T18" fmla="*/ 61 w 186"/>
              <a:gd name="T19" fmla="*/ 123 h 152"/>
              <a:gd name="T20" fmla="*/ 83 w 186"/>
              <a:gd name="T21" fmla="*/ 95 h 152"/>
              <a:gd name="T22" fmla="*/ 72 w 186"/>
              <a:gd name="T23" fmla="*/ 68 h 152"/>
              <a:gd name="T24" fmla="*/ 72 w 186"/>
              <a:gd name="T25" fmla="*/ 51 h 152"/>
              <a:gd name="T26" fmla="*/ 84 w 186"/>
              <a:gd name="T27" fmla="*/ 12 h 152"/>
              <a:gd name="T28" fmla="*/ 98 w 186"/>
              <a:gd name="T29" fmla="*/ 8 h 152"/>
              <a:gd name="T30" fmla="*/ 114 w 186"/>
              <a:gd name="T31" fmla="*/ 23 h 152"/>
              <a:gd name="T32" fmla="*/ 113 w 186"/>
              <a:gd name="T33" fmla="*/ 57 h 152"/>
              <a:gd name="T34" fmla="*/ 112 w 186"/>
              <a:gd name="T35" fmla="*/ 69 h 152"/>
              <a:gd name="T36" fmla="*/ 124 w 186"/>
              <a:gd name="T37" fmla="*/ 123 h 152"/>
              <a:gd name="T38" fmla="*/ 147 w 186"/>
              <a:gd name="T39" fmla="*/ 143 h 152"/>
              <a:gd name="T40" fmla="*/ 20 w 186"/>
              <a:gd name="T41" fmla="*/ 113 h 152"/>
              <a:gd name="T42" fmla="*/ 29 w 186"/>
              <a:gd name="T43" fmla="*/ 69 h 152"/>
              <a:gd name="T44" fmla="*/ 29 w 186"/>
              <a:gd name="T45" fmla="*/ 68 h 152"/>
              <a:gd name="T46" fmla="*/ 29 w 186"/>
              <a:gd name="T47" fmla="*/ 55 h 152"/>
              <a:gd name="T48" fmla="*/ 35 w 186"/>
              <a:gd name="T49" fmla="*/ 28 h 152"/>
              <a:gd name="T50" fmla="*/ 46 w 186"/>
              <a:gd name="T51" fmla="*/ 25 h 152"/>
              <a:gd name="T52" fmla="*/ 53 w 186"/>
              <a:gd name="T53" fmla="*/ 22 h 152"/>
              <a:gd name="T54" fmla="*/ 46 w 186"/>
              <a:gd name="T55" fmla="*/ 17 h 152"/>
              <a:gd name="T56" fmla="*/ 18 w 186"/>
              <a:gd name="T57" fmla="*/ 36 h 152"/>
              <a:gd name="T58" fmla="*/ 22 w 186"/>
              <a:gd name="T59" fmla="*/ 74 h 152"/>
              <a:gd name="T60" fmla="*/ 18 w 186"/>
              <a:gd name="T61" fmla="*/ 105 h 152"/>
              <a:gd name="T62" fmla="*/ 4 w 186"/>
              <a:gd name="T63" fmla="*/ 135 h 152"/>
              <a:gd name="T64" fmla="*/ 27 w 186"/>
              <a:gd name="T65" fmla="*/ 126 h 152"/>
              <a:gd name="T66" fmla="*/ 20 w 186"/>
              <a:gd name="T67" fmla="*/ 113 h 152"/>
              <a:gd name="T68" fmla="*/ 158 w 186"/>
              <a:gd name="T69" fmla="*/ 91 h 152"/>
              <a:gd name="T70" fmla="*/ 164 w 186"/>
              <a:gd name="T71" fmla="*/ 59 h 152"/>
              <a:gd name="T72" fmla="*/ 153 w 186"/>
              <a:gd name="T73" fmla="*/ 20 h 152"/>
              <a:gd name="T74" fmla="*/ 131 w 186"/>
              <a:gd name="T75" fmla="*/ 18 h 152"/>
              <a:gd name="T76" fmla="*/ 134 w 186"/>
              <a:gd name="T77" fmla="*/ 26 h 152"/>
              <a:gd name="T78" fmla="*/ 149 w 186"/>
              <a:gd name="T79" fmla="*/ 27 h 152"/>
              <a:gd name="T80" fmla="*/ 159 w 186"/>
              <a:gd name="T81" fmla="*/ 39 h 152"/>
              <a:gd name="T82" fmla="*/ 156 w 186"/>
              <a:gd name="T83" fmla="*/ 61 h 152"/>
              <a:gd name="T84" fmla="*/ 157 w 186"/>
              <a:gd name="T85" fmla="*/ 69 h 152"/>
              <a:gd name="T86" fmla="*/ 150 w 186"/>
              <a:gd name="T87" fmla="*/ 91 h 152"/>
              <a:gd name="T88" fmla="*/ 177 w 186"/>
              <a:gd name="T89" fmla="*/ 126 h 152"/>
              <a:gd name="T90" fmla="*/ 163 w 186"/>
              <a:gd name="T91" fmla="*/ 135 h 152"/>
              <a:gd name="T92" fmla="*/ 186 w 186"/>
              <a:gd name="T93" fmla="*/ 13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6" h="152">
                <a:moveTo>
                  <a:pt x="126" y="115"/>
                </a:moveTo>
                <a:cubicBezTo>
                  <a:pt x="126" y="115"/>
                  <a:pt x="111" y="111"/>
                  <a:pt x="111" y="95"/>
                </a:cubicBezTo>
                <a:cubicBezTo>
                  <a:pt x="111" y="81"/>
                  <a:pt x="117" y="76"/>
                  <a:pt x="120" y="73"/>
                </a:cubicBezTo>
                <a:cubicBezTo>
                  <a:pt x="120" y="73"/>
                  <a:pt x="125" y="69"/>
                  <a:pt x="122" y="55"/>
                </a:cubicBezTo>
                <a:cubicBezTo>
                  <a:pt x="127" y="47"/>
                  <a:pt x="129" y="35"/>
                  <a:pt x="122" y="19"/>
                </a:cubicBezTo>
                <a:cubicBezTo>
                  <a:pt x="118" y="10"/>
                  <a:pt x="115" y="5"/>
                  <a:pt x="110" y="3"/>
                </a:cubicBezTo>
                <a:cubicBezTo>
                  <a:pt x="106" y="0"/>
                  <a:pt x="102" y="0"/>
                  <a:pt x="98" y="0"/>
                </a:cubicBezTo>
                <a:cubicBezTo>
                  <a:pt x="90" y="0"/>
                  <a:pt x="83" y="2"/>
                  <a:pt x="80" y="4"/>
                </a:cubicBezTo>
                <a:cubicBezTo>
                  <a:pt x="72" y="8"/>
                  <a:pt x="66" y="12"/>
                  <a:pt x="61" y="25"/>
                </a:cubicBezTo>
                <a:cubicBezTo>
                  <a:pt x="56" y="36"/>
                  <a:pt x="62" y="48"/>
                  <a:pt x="64" y="54"/>
                </a:cubicBezTo>
                <a:cubicBezTo>
                  <a:pt x="61" y="68"/>
                  <a:pt x="66" y="73"/>
                  <a:pt x="66" y="73"/>
                </a:cubicBezTo>
                <a:cubicBezTo>
                  <a:pt x="68" y="76"/>
                  <a:pt x="74" y="81"/>
                  <a:pt x="74" y="95"/>
                </a:cubicBezTo>
                <a:cubicBezTo>
                  <a:pt x="74" y="111"/>
                  <a:pt x="59" y="115"/>
                  <a:pt x="59" y="115"/>
                </a:cubicBezTo>
                <a:cubicBezTo>
                  <a:pt x="50" y="118"/>
                  <a:pt x="29" y="125"/>
                  <a:pt x="29" y="147"/>
                </a:cubicBezTo>
                <a:cubicBezTo>
                  <a:pt x="29" y="147"/>
                  <a:pt x="29" y="152"/>
                  <a:pt x="34" y="152"/>
                </a:cubicBezTo>
                <a:cubicBezTo>
                  <a:pt x="152" y="152"/>
                  <a:pt x="152" y="152"/>
                  <a:pt x="152" y="152"/>
                </a:cubicBezTo>
                <a:cubicBezTo>
                  <a:pt x="156" y="152"/>
                  <a:pt x="156" y="147"/>
                  <a:pt x="156" y="147"/>
                </a:cubicBezTo>
                <a:cubicBezTo>
                  <a:pt x="156" y="125"/>
                  <a:pt x="136" y="118"/>
                  <a:pt x="126" y="115"/>
                </a:cubicBezTo>
                <a:close/>
                <a:moveTo>
                  <a:pt x="38" y="143"/>
                </a:moveTo>
                <a:cubicBezTo>
                  <a:pt x="40" y="131"/>
                  <a:pt x="51" y="127"/>
                  <a:pt x="61" y="123"/>
                </a:cubicBezTo>
                <a:cubicBezTo>
                  <a:pt x="62" y="123"/>
                  <a:pt x="62" y="123"/>
                  <a:pt x="62" y="123"/>
                </a:cubicBezTo>
                <a:cubicBezTo>
                  <a:pt x="69" y="121"/>
                  <a:pt x="83" y="112"/>
                  <a:pt x="83" y="95"/>
                </a:cubicBezTo>
                <a:cubicBezTo>
                  <a:pt x="83" y="80"/>
                  <a:pt x="77" y="73"/>
                  <a:pt x="73" y="69"/>
                </a:cubicBezTo>
                <a:cubicBezTo>
                  <a:pt x="73" y="69"/>
                  <a:pt x="72" y="68"/>
                  <a:pt x="72" y="68"/>
                </a:cubicBezTo>
                <a:cubicBezTo>
                  <a:pt x="72" y="67"/>
                  <a:pt x="71" y="64"/>
                  <a:pt x="73" y="56"/>
                </a:cubicBezTo>
                <a:cubicBezTo>
                  <a:pt x="73" y="53"/>
                  <a:pt x="72" y="51"/>
                  <a:pt x="72" y="51"/>
                </a:cubicBezTo>
                <a:cubicBezTo>
                  <a:pt x="70" y="45"/>
                  <a:pt x="65" y="36"/>
                  <a:pt x="69" y="28"/>
                </a:cubicBezTo>
                <a:cubicBezTo>
                  <a:pt x="73" y="17"/>
                  <a:pt x="77" y="15"/>
                  <a:pt x="84" y="12"/>
                </a:cubicBezTo>
                <a:cubicBezTo>
                  <a:pt x="84" y="12"/>
                  <a:pt x="84" y="12"/>
                  <a:pt x="85" y="11"/>
                </a:cubicBezTo>
                <a:cubicBezTo>
                  <a:pt x="86" y="10"/>
                  <a:pt x="92" y="8"/>
                  <a:pt x="98" y="8"/>
                </a:cubicBezTo>
                <a:cubicBezTo>
                  <a:pt x="101" y="8"/>
                  <a:pt x="104" y="9"/>
                  <a:pt x="106" y="10"/>
                </a:cubicBezTo>
                <a:cubicBezTo>
                  <a:pt x="108" y="11"/>
                  <a:pt x="111" y="14"/>
                  <a:pt x="114" y="23"/>
                </a:cubicBezTo>
                <a:cubicBezTo>
                  <a:pt x="121" y="38"/>
                  <a:pt x="117" y="47"/>
                  <a:pt x="115" y="50"/>
                </a:cubicBezTo>
                <a:cubicBezTo>
                  <a:pt x="113" y="52"/>
                  <a:pt x="113" y="54"/>
                  <a:pt x="113" y="57"/>
                </a:cubicBezTo>
                <a:cubicBezTo>
                  <a:pt x="115" y="64"/>
                  <a:pt x="114" y="67"/>
                  <a:pt x="114" y="67"/>
                </a:cubicBezTo>
                <a:cubicBezTo>
                  <a:pt x="114" y="67"/>
                  <a:pt x="113" y="69"/>
                  <a:pt x="112" y="69"/>
                </a:cubicBezTo>
                <a:cubicBezTo>
                  <a:pt x="109" y="73"/>
                  <a:pt x="103" y="80"/>
                  <a:pt x="103" y="95"/>
                </a:cubicBezTo>
                <a:cubicBezTo>
                  <a:pt x="103" y="112"/>
                  <a:pt x="116" y="121"/>
                  <a:pt x="124" y="123"/>
                </a:cubicBezTo>
                <a:cubicBezTo>
                  <a:pt x="124" y="123"/>
                  <a:pt x="124" y="123"/>
                  <a:pt x="124" y="123"/>
                </a:cubicBezTo>
                <a:cubicBezTo>
                  <a:pt x="135" y="127"/>
                  <a:pt x="145" y="131"/>
                  <a:pt x="147" y="143"/>
                </a:cubicBezTo>
                <a:lnTo>
                  <a:pt x="38" y="143"/>
                </a:lnTo>
                <a:close/>
                <a:moveTo>
                  <a:pt x="20" y="113"/>
                </a:moveTo>
                <a:cubicBezTo>
                  <a:pt x="26" y="112"/>
                  <a:pt x="36" y="105"/>
                  <a:pt x="36" y="91"/>
                </a:cubicBezTo>
                <a:cubicBezTo>
                  <a:pt x="36" y="78"/>
                  <a:pt x="32" y="72"/>
                  <a:pt x="29" y="69"/>
                </a:cubicBezTo>
                <a:cubicBezTo>
                  <a:pt x="29" y="69"/>
                  <a:pt x="29" y="69"/>
                  <a:pt x="29" y="69"/>
                </a:cubicBezTo>
                <a:cubicBezTo>
                  <a:pt x="29" y="69"/>
                  <a:pt x="29" y="69"/>
                  <a:pt x="29" y="68"/>
                </a:cubicBezTo>
                <a:cubicBezTo>
                  <a:pt x="29" y="68"/>
                  <a:pt x="28" y="66"/>
                  <a:pt x="29" y="61"/>
                </a:cubicBezTo>
                <a:cubicBezTo>
                  <a:pt x="30" y="59"/>
                  <a:pt x="29" y="57"/>
                  <a:pt x="29" y="55"/>
                </a:cubicBezTo>
                <a:cubicBezTo>
                  <a:pt x="27" y="52"/>
                  <a:pt x="24" y="45"/>
                  <a:pt x="26" y="39"/>
                </a:cubicBezTo>
                <a:cubicBezTo>
                  <a:pt x="30" y="30"/>
                  <a:pt x="31" y="30"/>
                  <a:pt x="35" y="28"/>
                </a:cubicBezTo>
                <a:cubicBezTo>
                  <a:pt x="36" y="28"/>
                  <a:pt x="36" y="27"/>
                  <a:pt x="37" y="27"/>
                </a:cubicBezTo>
                <a:cubicBezTo>
                  <a:pt x="38" y="27"/>
                  <a:pt x="42" y="25"/>
                  <a:pt x="46" y="25"/>
                </a:cubicBezTo>
                <a:cubicBezTo>
                  <a:pt x="48" y="25"/>
                  <a:pt x="50" y="25"/>
                  <a:pt x="52" y="26"/>
                </a:cubicBezTo>
                <a:cubicBezTo>
                  <a:pt x="52" y="25"/>
                  <a:pt x="52" y="23"/>
                  <a:pt x="53" y="22"/>
                </a:cubicBezTo>
                <a:cubicBezTo>
                  <a:pt x="53" y="20"/>
                  <a:pt x="54" y="19"/>
                  <a:pt x="55" y="18"/>
                </a:cubicBezTo>
                <a:cubicBezTo>
                  <a:pt x="52" y="17"/>
                  <a:pt x="49" y="17"/>
                  <a:pt x="46" y="17"/>
                </a:cubicBezTo>
                <a:cubicBezTo>
                  <a:pt x="40" y="17"/>
                  <a:pt x="34" y="19"/>
                  <a:pt x="32" y="20"/>
                </a:cubicBezTo>
                <a:cubicBezTo>
                  <a:pt x="25" y="23"/>
                  <a:pt x="22" y="26"/>
                  <a:pt x="18" y="36"/>
                </a:cubicBezTo>
                <a:cubicBezTo>
                  <a:pt x="15" y="45"/>
                  <a:pt x="19" y="54"/>
                  <a:pt x="21" y="59"/>
                </a:cubicBezTo>
                <a:cubicBezTo>
                  <a:pt x="18" y="70"/>
                  <a:pt x="22" y="74"/>
                  <a:pt x="22" y="74"/>
                </a:cubicBezTo>
                <a:cubicBezTo>
                  <a:pt x="24" y="76"/>
                  <a:pt x="27" y="80"/>
                  <a:pt x="27" y="91"/>
                </a:cubicBezTo>
                <a:cubicBezTo>
                  <a:pt x="27" y="103"/>
                  <a:pt x="18" y="105"/>
                  <a:pt x="18" y="105"/>
                </a:cubicBezTo>
                <a:cubicBezTo>
                  <a:pt x="10" y="108"/>
                  <a:pt x="0" y="114"/>
                  <a:pt x="0" y="130"/>
                </a:cubicBezTo>
                <a:cubicBezTo>
                  <a:pt x="0" y="130"/>
                  <a:pt x="0" y="135"/>
                  <a:pt x="4" y="135"/>
                </a:cubicBezTo>
                <a:cubicBezTo>
                  <a:pt x="23" y="135"/>
                  <a:pt x="23" y="135"/>
                  <a:pt x="23" y="135"/>
                </a:cubicBezTo>
                <a:cubicBezTo>
                  <a:pt x="24" y="132"/>
                  <a:pt x="25" y="129"/>
                  <a:pt x="27" y="126"/>
                </a:cubicBezTo>
                <a:cubicBezTo>
                  <a:pt x="9" y="126"/>
                  <a:pt x="9" y="126"/>
                  <a:pt x="9" y="126"/>
                </a:cubicBezTo>
                <a:cubicBezTo>
                  <a:pt x="10" y="118"/>
                  <a:pt x="15" y="115"/>
                  <a:pt x="20" y="113"/>
                </a:cubicBezTo>
                <a:close/>
                <a:moveTo>
                  <a:pt x="168" y="105"/>
                </a:moveTo>
                <a:cubicBezTo>
                  <a:pt x="168" y="105"/>
                  <a:pt x="158" y="103"/>
                  <a:pt x="158" y="91"/>
                </a:cubicBezTo>
                <a:cubicBezTo>
                  <a:pt x="158" y="80"/>
                  <a:pt x="161" y="76"/>
                  <a:pt x="163" y="74"/>
                </a:cubicBezTo>
                <a:cubicBezTo>
                  <a:pt x="163" y="74"/>
                  <a:pt x="167" y="70"/>
                  <a:pt x="164" y="59"/>
                </a:cubicBezTo>
                <a:cubicBezTo>
                  <a:pt x="167" y="54"/>
                  <a:pt x="171" y="45"/>
                  <a:pt x="167" y="36"/>
                </a:cubicBezTo>
                <a:cubicBezTo>
                  <a:pt x="163" y="26"/>
                  <a:pt x="160" y="23"/>
                  <a:pt x="153" y="20"/>
                </a:cubicBezTo>
                <a:cubicBezTo>
                  <a:pt x="151" y="19"/>
                  <a:pt x="145" y="17"/>
                  <a:pt x="139" y="17"/>
                </a:cubicBezTo>
                <a:cubicBezTo>
                  <a:pt x="136" y="17"/>
                  <a:pt x="133" y="17"/>
                  <a:pt x="131" y="18"/>
                </a:cubicBezTo>
                <a:cubicBezTo>
                  <a:pt x="132" y="21"/>
                  <a:pt x="133" y="24"/>
                  <a:pt x="133" y="26"/>
                </a:cubicBezTo>
                <a:cubicBezTo>
                  <a:pt x="133" y="26"/>
                  <a:pt x="134" y="26"/>
                  <a:pt x="134" y="26"/>
                </a:cubicBezTo>
                <a:cubicBezTo>
                  <a:pt x="135" y="25"/>
                  <a:pt x="137" y="25"/>
                  <a:pt x="139" y="25"/>
                </a:cubicBezTo>
                <a:cubicBezTo>
                  <a:pt x="144" y="25"/>
                  <a:pt x="148" y="27"/>
                  <a:pt x="149" y="27"/>
                </a:cubicBezTo>
                <a:cubicBezTo>
                  <a:pt x="149" y="27"/>
                  <a:pt x="150" y="28"/>
                  <a:pt x="150" y="28"/>
                </a:cubicBezTo>
                <a:cubicBezTo>
                  <a:pt x="154" y="30"/>
                  <a:pt x="156" y="30"/>
                  <a:pt x="159" y="39"/>
                </a:cubicBezTo>
                <a:cubicBezTo>
                  <a:pt x="162" y="45"/>
                  <a:pt x="159" y="52"/>
                  <a:pt x="157" y="55"/>
                </a:cubicBezTo>
                <a:cubicBezTo>
                  <a:pt x="156" y="57"/>
                  <a:pt x="156" y="59"/>
                  <a:pt x="156" y="61"/>
                </a:cubicBezTo>
                <a:cubicBezTo>
                  <a:pt x="157" y="66"/>
                  <a:pt x="157" y="68"/>
                  <a:pt x="157" y="68"/>
                </a:cubicBezTo>
                <a:cubicBezTo>
                  <a:pt x="157" y="69"/>
                  <a:pt x="157" y="69"/>
                  <a:pt x="157" y="69"/>
                </a:cubicBezTo>
                <a:cubicBezTo>
                  <a:pt x="156" y="69"/>
                  <a:pt x="156" y="69"/>
                  <a:pt x="156" y="69"/>
                </a:cubicBezTo>
                <a:cubicBezTo>
                  <a:pt x="154" y="72"/>
                  <a:pt x="150" y="78"/>
                  <a:pt x="150" y="91"/>
                </a:cubicBezTo>
                <a:cubicBezTo>
                  <a:pt x="150" y="105"/>
                  <a:pt x="160" y="112"/>
                  <a:pt x="165" y="113"/>
                </a:cubicBezTo>
                <a:cubicBezTo>
                  <a:pt x="171" y="115"/>
                  <a:pt x="176" y="118"/>
                  <a:pt x="177" y="126"/>
                </a:cubicBezTo>
                <a:cubicBezTo>
                  <a:pt x="159" y="126"/>
                  <a:pt x="159" y="126"/>
                  <a:pt x="159" y="126"/>
                </a:cubicBezTo>
                <a:cubicBezTo>
                  <a:pt x="160" y="129"/>
                  <a:pt x="162" y="132"/>
                  <a:pt x="163" y="135"/>
                </a:cubicBezTo>
                <a:cubicBezTo>
                  <a:pt x="181" y="135"/>
                  <a:pt x="181" y="135"/>
                  <a:pt x="181" y="135"/>
                </a:cubicBezTo>
                <a:cubicBezTo>
                  <a:pt x="186" y="135"/>
                  <a:pt x="186" y="130"/>
                  <a:pt x="186" y="130"/>
                </a:cubicBezTo>
                <a:cubicBezTo>
                  <a:pt x="186" y="114"/>
                  <a:pt x="175" y="108"/>
                  <a:pt x="168" y="105"/>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solidFill>
                <a:schemeClr val="bg1">
                  <a:lumMod val="50000"/>
                </a:schemeClr>
              </a:solidFill>
            </a:endParaRPr>
          </a:p>
        </p:txBody>
      </p:sp>
      <p:sp>
        <p:nvSpPr>
          <p:cNvPr id="98" name="Freeform 91"/>
          <p:cNvSpPr>
            <a:spLocks noEditPoints="1"/>
          </p:cNvSpPr>
          <p:nvPr/>
        </p:nvSpPr>
        <p:spPr bwMode="auto">
          <a:xfrm>
            <a:off x="3830373" y="4284518"/>
            <a:ext cx="311288" cy="282653"/>
          </a:xfrm>
          <a:custGeom>
            <a:avLst/>
            <a:gdLst>
              <a:gd name="T0" fmla="*/ 67 w 185"/>
              <a:gd name="T1" fmla="*/ 42 h 168"/>
              <a:gd name="T2" fmla="*/ 0 w 185"/>
              <a:gd name="T3" fmla="*/ 99 h 168"/>
              <a:gd name="T4" fmla="*/ 20 w 185"/>
              <a:gd name="T5" fmla="*/ 140 h 168"/>
              <a:gd name="T6" fmla="*/ 12 w 185"/>
              <a:gd name="T7" fmla="*/ 168 h 168"/>
              <a:gd name="T8" fmla="*/ 50 w 185"/>
              <a:gd name="T9" fmla="*/ 154 h 168"/>
              <a:gd name="T10" fmla="*/ 67 w 185"/>
              <a:gd name="T11" fmla="*/ 156 h 168"/>
              <a:gd name="T12" fmla="*/ 135 w 185"/>
              <a:gd name="T13" fmla="*/ 99 h 168"/>
              <a:gd name="T14" fmla="*/ 67 w 185"/>
              <a:gd name="T15" fmla="*/ 42 h 168"/>
              <a:gd name="T16" fmla="*/ 67 w 185"/>
              <a:gd name="T17" fmla="*/ 147 h 168"/>
              <a:gd name="T18" fmla="*/ 52 w 185"/>
              <a:gd name="T19" fmla="*/ 146 h 168"/>
              <a:gd name="T20" fmla="*/ 50 w 185"/>
              <a:gd name="T21" fmla="*/ 145 h 168"/>
              <a:gd name="T22" fmla="*/ 47 w 185"/>
              <a:gd name="T23" fmla="*/ 146 h 168"/>
              <a:gd name="T24" fmla="*/ 25 w 185"/>
              <a:gd name="T25" fmla="*/ 154 h 168"/>
              <a:gd name="T26" fmla="*/ 28 w 185"/>
              <a:gd name="T27" fmla="*/ 142 h 168"/>
              <a:gd name="T28" fmla="*/ 26 w 185"/>
              <a:gd name="T29" fmla="*/ 133 h 168"/>
              <a:gd name="T30" fmla="*/ 8 w 185"/>
              <a:gd name="T31" fmla="*/ 99 h 168"/>
              <a:gd name="T32" fmla="*/ 67 w 185"/>
              <a:gd name="T33" fmla="*/ 50 h 168"/>
              <a:gd name="T34" fmla="*/ 126 w 185"/>
              <a:gd name="T35" fmla="*/ 99 h 168"/>
              <a:gd name="T36" fmla="*/ 67 w 185"/>
              <a:gd name="T37" fmla="*/ 147 h 168"/>
              <a:gd name="T38" fmla="*/ 185 w 185"/>
              <a:gd name="T39" fmla="*/ 57 h 168"/>
              <a:gd name="T40" fmla="*/ 118 w 185"/>
              <a:gd name="T41" fmla="*/ 0 h 168"/>
              <a:gd name="T42" fmla="*/ 56 w 185"/>
              <a:gd name="T43" fmla="*/ 34 h 168"/>
              <a:gd name="T44" fmla="*/ 66 w 185"/>
              <a:gd name="T45" fmla="*/ 33 h 168"/>
              <a:gd name="T46" fmla="*/ 118 w 185"/>
              <a:gd name="T47" fmla="*/ 8 h 168"/>
              <a:gd name="T48" fmla="*/ 177 w 185"/>
              <a:gd name="T49" fmla="*/ 57 h 168"/>
              <a:gd name="T50" fmla="*/ 159 w 185"/>
              <a:gd name="T51" fmla="*/ 91 h 168"/>
              <a:gd name="T52" fmla="*/ 156 w 185"/>
              <a:gd name="T53" fmla="*/ 100 h 168"/>
              <a:gd name="T54" fmla="*/ 160 w 185"/>
              <a:gd name="T55" fmla="*/ 112 h 168"/>
              <a:gd name="T56" fmla="*/ 142 w 185"/>
              <a:gd name="T57" fmla="*/ 106 h 168"/>
              <a:gd name="T58" fmla="*/ 141 w 185"/>
              <a:gd name="T59" fmla="*/ 114 h 168"/>
              <a:gd name="T60" fmla="*/ 172 w 185"/>
              <a:gd name="T61" fmla="*/ 126 h 168"/>
              <a:gd name="T62" fmla="*/ 164 w 185"/>
              <a:gd name="T63" fmla="*/ 98 h 168"/>
              <a:gd name="T64" fmla="*/ 185 w 185"/>
              <a:gd name="T65" fmla="*/ 5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5" h="168">
                <a:moveTo>
                  <a:pt x="67" y="42"/>
                </a:moveTo>
                <a:cubicBezTo>
                  <a:pt x="30" y="42"/>
                  <a:pt x="0" y="67"/>
                  <a:pt x="0" y="99"/>
                </a:cubicBezTo>
                <a:cubicBezTo>
                  <a:pt x="0" y="115"/>
                  <a:pt x="8" y="130"/>
                  <a:pt x="20" y="140"/>
                </a:cubicBezTo>
                <a:cubicBezTo>
                  <a:pt x="12" y="168"/>
                  <a:pt x="12" y="168"/>
                  <a:pt x="12" y="168"/>
                </a:cubicBezTo>
                <a:cubicBezTo>
                  <a:pt x="50" y="154"/>
                  <a:pt x="50" y="154"/>
                  <a:pt x="50" y="154"/>
                </a:cubicBezTo>
                <a:cubicBezTo>
                  <a:pt x="55" y="155"/>
                  <a:pt x="61" y="156"/>
                  <a:pt x="67" y="156"/>
                </a:cubicBezTo>
                <a:cubicBezTo>
                  <a:pt x="104" y="156"/>
                  <a:pt x="135" y="130"/>
                  <a:pt x="135" y="99"/>
                </a:cubicBezTo>
                <a:cubicBezTo>
                  <a:pt x="135" y="67"/>
                  <a:pt x="104" y="42"/>
                  <a:pt x="67" y="42"/>
                </a:cubicBezTo>
                <a:close/>
                <a:moveTo>
                  <a:pt x="67" y="147"/>
                </a:moveTo>
                <a:cubicBezTo>
                  <a:pt x="62" y="147"/>
                  <a:pt x="57" y="147"/>
                  <a:pt x="52" y="146"/>
                </a:cubicBezTo>
                <a:cubicBezTo>
                  <a:pt x="51" y="146"/>
                  <a:pt x="51" y="145"/>
                  <a:pt x="50" y="145"/>
                </a:cubicBezTo>
                <a:cubicBezTo>
                  <a:pt x="49" y="145"/>
                  <a:pt x="48" y="146"/>
                  <a:pt x="47" y="146"/>
                </a:cubicBezTo>
                <a:cubicBezTo>
                  <a:pt x="25" y="154"/>
                  <a:pt x="25" y="154"/>
                  <a:pt x="25" y="154"/>
                </a:cubicBezTo>
                <a:cubicBezTo>
                  <a:pt x="28" y="142"/>
                  <a:pt x="28" y="142"/>
                  <a:pt x="28" y="142"/>
                </a:cubicBezTo>
                <a:cubicBezTo>
                  <a:pt x="29" y="139"/>
                  <a:pt x="28" y="135"/>
                  <a:pt x="26" y="133"/>
                </a:cubicBezTo>
                <a:cubicBezTo>
                  <a:pt x="14" y="124"/>
                  <a:pt x="8" y="112"/>
                  <a:pt x="8" y="99"/>
                </a:cubicBezTo>
                <a:cubicBezTo>
                  <a:pt x="8" y="72"/>
                  <a:pt x="34" y="50"/>
                  <a:pt x="67" y="50"/>
                </a:cubicBezTo>
                <a:cubicBezTo>
                  <a:pt x="100" y="50"/>
                  <a:pt x="126" y="72"/>
                  <a:pt x="126" y="99"/>
                </a:cubicBezTo>
                <a:cubicBezTo>
                  <a:pt x="126" y="126"/>
                  <a:pt x="100" y="147"/>
                  <a:pt x="67" y="147"/>
                </a:cubicBezTo>
                <a:close/>
                <a:moveTo>
                  <a:pt x="185" y="57"/>
                </a:moveTo>
                <a:cubicBezTo>
                  <a:pt x="185" y="25"/>
                  <a:pt x="155" y="0"/>
                  <a:pt x="118" y="0"/>
                </a:cubicBezTo>
                <a:cubicBezTo>
                  <a:pt x="90" y="0"/>
                  <a:pt x="66" y="14"/>
                  <a:pt x="56" y="34"/>
                </a:cubicBezTo>
                <a:cubicBezTo>
                  <a:pt x="59" y="34"/>
                  <a:pt x="62" y="34"/>
                  <a:pt x="66" y="33"/>
                </a:cubicBezTo>
                <a:cubicBezTo>
                  <a:pt x="76" y="18"/>
                  <a:pt x="95" y="8"/>
                  <a:pt x="118" y="8"/>
                </a:cubicBezTo>
                <a:cubicBezTo>
                  <a:pt x="150" y="8"/>
                  <a:pt x="177" y="30"/>
                  <a:pt x="177" y="57"/>
                </a:cubicBezTo>
                <a:cubicBezTo>
                  <a:pt x="177" y="70"/>
                  <a:pt x="170" y="82"/>
                  <a:pt x="159" y="91"/>
                </a:cubicBezTo>
                <a:cubicBezTo>
                  <a:pt x="156" y="93"/>
                  <a:pt x="155" y="97"/>
                  <a:pt x="156" y="100"/>
                </a:cubicBezTo>
                <a:cubicBezTo>
                  <a:pt x="160" y="112"/>
                  <a:pt x="160" y="112"/>
                  <a:pt x="160" y="112"/>
                </a:cubicBezTo>
                <a:cubicBezTo>
                  <a:pt x="142" y="106"/>
                  <a:pt x="142" y="106"/>
                  <a:pt x="142" y="106"/>
                </a:cubicBezTo>
                <a:cubicBezTo>
                  <a:pt x="142" y="108"/>
                  <a:pt x="141" y="111"/>
                  <a:pt x="141" y="114"/>
                </a:cubicBezTo>
                <a:cubicBezTo>
                  <a:pt x="172" y="126"/>
                  <a:pt x="172" y="126"/>
                  <a:pt x="172" y="126"/>
                </a:cubicBezTo>
                <a:cubicBezTo>
                  <a:pt x="164" y="98"/>
                  <a:pt x="164" y="98"/>
                  <a:pt x="164" y="98"/>
                </a:cubicBezTo>
                <a:cubicBezTo>
                  <a:pt x="177" y="87"/>
                  <a:pt x="185" y="73"/>
                  <a:pt x="185" y="57"/>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solidFill>
                <a:schemeClr val="bg1">
                  <a:lumMod val="50000"/>
                </a:schemeClr>
              </a:solidFill>
            </a:endParaRPr>
          </a:p>
        </p:txBody>
      </p:sp>
      <p:sp>
        <p:nvSpPr>
          <p:cNvPr id="99" name="Freeform 132"/>
          <p:cNvSpPr>
            <a:spLocks noEditPoints="1"/>
          </p:cNvSpPr>
          <p:nvPr/>
        </p:nvSpPr>
        <p:spPr bwMode="auto">
          <a:xfrm>
            <a:off x="3741070" y="2159969"/>
            <a:ext cx="489895" cy="217185"/>
          </a:xfrm>
          <a:custGeom>
            <a:avLst/>
            <a:gdLst>
              <a:gd name="T0" fmla="*/ 596 w 765"/>
              <a:gd name="T1" fmla="*/ 0 h 339"/>
              <a:gd name="T2" fmla="*/ 443 w 765"/>
              <a:gd name="T3" fmla="*/ 97 h 339"/>
              <a:gd name="T4" fmla="*/ 415 w 765"/>
              <a:gd name="T5" fmla="*/ 88 h 339"/>
              <a:gd name="T6" fmla="*/ 382 w 765"/>
              <a:gd name="T7" fmla="*/ 58 h 339"/>
              <a:gd name="T8" fmla="*/ 349 w 765"/>
              <a:gd name="T9" fmla="*/ 88 h 339"/>
              <a:gd name="T10" fmla="*/ 321 w 765"/>
              <a:gd name="T11" fmla="*/ 97 h 339"/>
              <a:gd name="T12" fmla="*/ 169 w 765"/>
              <a:gd name="T13" fmla="*/ 0 h 339"/>
              <a:gd name="T14" fmla="*/ 0 w 765"/>
              <a:gd name="T15" fmla="*/ 170 h 339"/>
              <a:gd name="T16" fmla="*/ 169 w 765"/>
              <a:gd name="T17" fmla="*/ 339 h 339"/>
              <a:gd name="T18" fmla="*/ 338 w 765"/>
              <a:gd name="T19" fmla="*/ 170 h 339"/>
              <a:gd name="T20" fmla="*/ 327 w 765"/>
              <a:gd name="T21" fmla="*/ 109 h 339"/>
              <a:gd name="T22" fmla="*/ 351 w 765"/>
              <a:gd name="T23" fmla="*/ 102 h 339"/>
              <a:gd name="T24" fmla="*/ 382 w 765"/>
              <a:gd name="T25" fmla="*/ 124 h 339"/>
              <a:gd name="T26" fmla="*/ 414 w 765"/>
              <a:gd name="T27" fmla="*/ 102 h 339"/>
              <a:gd name="T28" fmla="*/ 438 w 765"/>
              <a:gd name="T29" fmla="*/ 109 h 339"/>
              <a:gd name="T30" fmla="*/ 427 w 765"/>
              <a:gd name="T31" fmla="*/ 170 h 339"/>
              <a:gd name="T32" fmla="*/ 596 w 765"/>
              <a:gd name="T33" fmla="*/ 339 h 339"/>
              <a:gd name="T34" fmla="*/ 765 w 765"/>
              <a:gd name="T35" fmla="*/ 170 h 339"/>
              <a:gd name="T36" fmla="*/ 596 w 765"/>
              <a:gd name="T37" fmla="*/ 0 h 339"/>
              <a:gd name="T38" fmla="*/ 169 w 765"/>
              <a:gd name="T39" fmla="*/ 325 h 339"/>
              <a:gd name="T40" fmla="*/ 14 w 765"/>
              <a:gd name="T41" fmla="*/ 170 h 339"/>
              <a:gd name="T42" fmla="*/ 169 w 765"/>
              <a:gd name="T43" fmla="*/ 14 h 339"/>
              <a:gd name="T44" fmla="*/ 324 w 765"/>
              <a:gd name="T45" fmla="*/ 170 h 339"/>
              <a:gd name="T46" fmla="*/ 169 w 765"/>
              <a:gd name="T47" fmla="*/ 325 h 339"/>
              <a:gd name="T48" fmla="*/ 382 w 765"/>
              <a:gd name="T49" fmla="*/ 110 h 339"/>
              <a:gd name="T50" fmla="*/ 363 w 765"/>
              <a:gd name="T51" fmla="*/ 91 h 339"/>
              <a:gd name="T52" fmla="*/ 382 w 765"/>
              <a:gd name="T53" fmla="*/ 72 h 339"/>
              <a:gd name="T54" fmla="*/ 401 w 765"/>
              <a:gd name="T55" fmla="*/ 91 h 339"/>
              <a:gd name="T56" fmla="*/ 382 w 765"/>
              <a:gd name="T57" fmla="*/ 110 h 339"/>
              <a:gd name="T58" fmla="*/ 596 w 765"/>
              <a:gd name="T59" fmla="*/ 325 h 339"/>
              <a:gd name="T60" fmla="*/ 441 w 765"/>
              <a:gd name="T61" fmla="*/ 170 h 339"/>
              <a:gd name="T62" fmla="*/ 596 w 765"/>
              <a:gd name="T63" fmla="*/ 14 h 339"/>
              <a:gd name="T64" fmla="*/ 751 w 765"/>
              <a:gd name="T65" fmla="*/ 170 h 339"/>
              <a:gd name="T66" fmla="*/ 596 w 765"/>
              <a:gd name="T67" fmla="*/ 325 h 339"/>
              <a:gd name="T68" fmla="*/ 233 w 765"/>
              <a:gd name="T69" fmla="*/ 55 h 339"/>
              <a:gd name="T70" fmla="*/ 223 w 765"/>
              <a:gd name="T71" fmla="*/ 58 h 339"/>
              <a:gd name="T72" fmla="*/ 57 w 765"/>
              <a:gd name="T73" fmla="*/ 115 h 339"/>
              <a:gd name="T74" fmla="*/ 51 w 765"/>
              <a:gd name="T75" fmla="*/ 119 h 339"/>
              <a:gd name="T76" fmla="*/ 48 w 765"/>
              <a:gd name="T77" fmla="*/ 118 h 339"/>
              <a:gd name="T78" fmla="*/ 45 w 765"/>
              <a:gd name="T79" fmla="*/ 109 h 339"/>
              <a:gd name="T80" fmla="*/ 229 w 765"/>
              <a:gd name="T81" fmla="*/ 45 h 339"/>
              <a:gd name="T82" fmla="*/ 233 w 765"/>
              <a:gd name="T83" fmla="*/ 55 h 339"/>
              <a:gd name="T84" fmla="*/ 660 w 765"/>
              <a:gd name="T85" fmla="*/ 55 h 339"/>
              <a:gd name="T86" fmla="*/ 650 w 765"/>
              <a:gd name="T87" fmla="*/ 58 h 339"/>
              <a:gd name="T88" fmla="*/ 484 w 765"/>
              <a:gd name="T89" fmla="*/ 115 h 339"/>
              <a:gd name="T90" fmla="*/ 478 w 765"/>
              <a:gd name="T91" fmla="*/ 119 h 339"/>
              <a:gd name="T92" fmla="*/ 475 w 765"/>
              <a:gd name="T93" fmla="*/ 118 h 339"/>
              <a:gd name="T94" fmla="*/ 471 w 765"/>
              <a:gd name="T95" fmla="*/ 109 h 339"/>
              <a:gd name="T96" fmla="*/ 656 w 765"/>
              <a:gd name="T97" fmla="*/ 45 h 339"/>
              <a:gd name="T98" fmla="*/ 660 w 765"/>
              <a:gd name="T99" fmla="*/ 55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65" h="339">
                <a:moveTo>
                  <a:pt x="596" y="0"/>
                </a:moveTo>
                <a:cubicBezTo>
                  <a:pt x="529" y="0"/>
                  <a:pt x="471" y="40"/>
                  <a:pt x="443" y="97"/>
                </a:cubicBezTo>
                <a:cubicBezTo>
                  <a:pt x="434" y="93"/>
                  <a:pt x="425" y="90"/>
                  <a:pt x="415" y="88"/>
                </a:cubicBezTo>
                <a:cubicBezTo>
                  <a:pt x="414" y="71"/>
                  <a:pt x="399" y="58"/>
                  <a:pt x="382" y="58"/>
                </a:cubicBezTo>
                <a:cubicBezTo>
                  <a:pt x="365" y="58"/>
                  <a:pt x="351" y="71"/>
                  <a:pt x="349" y="88"/>
                </a:cubicBezTo>
                <a:cubicBezTo>
                  <a:pt x="340" y="90"/>
                  <a:pt x="330" y="93"/>
                  <a:pt x="321" y="97"/>
                </a:cubicBezTo>
                <a:cubicBezTo>
                  <a:pt x="294" y="40"/>
                  <a:pt x="236" y="0"/>
                  <a:pt x="169" y="0"/>
                </a:cubicBezTo>
                <a:cubicBezTo>
                  <a:pt x="76" y="0"/>
                  <a:pt x="0" y="76"/>
                  <a:pt x="0" y="170"/>
                </a:cubicBezTo>
                <a:cubicBezTo>
                  <a:pt x="0" y="263"/>
                  <a:pt x="76" y="339"/>
                  <a:pt x="169" y="339"/>
                </a:cubicBezTo>
                <a:cubicBezTo>
                  <a:pt x="262" y="339"/>
                  <a:pt x="338" y="263"/>
                  <a:pt x="338" y="170"/>
                </a:cubicBezTo>
                <a:cubicBezTo>
                  <a:pt x="338" y="148"/>
                  <a:pt x="334" y="128"/>
                  <a:pt x="327" y="109"/>
                </a:cubicBezTo>
                <a:cubicBezTo>
                  <a:pt x="335" y="106"/>
                  <a:pt x="343" y="103"/>
                  <a:pt x="351" y="102"/>
                </a:cubicBezTo>
                <a:cubicBezTo>
                  <a:pt x="355" y="115"/>
                  <a:pt x="368" y="124"/>
                  <a:pt x="382" y="124"/>
                </a:cubicBezTo>
                <a:cubicBezTo>
                  <a:pt x="397" y="124"/>
                  <a:pt x="409" y="115"/>
                  <a:pt x="414" y="102"/>
                </a:cubicBezTo>
                <a:cubicBezTo>
                  <a:pt x="422" y="103"/>
                  <a:pt x="430" y="106"/>
                  <a:pt x="438" y="109"/>
                </a:cubicBezTo>
                <a:cubicBezTo>
                  <a:pt x="431" y="128"/>
                  <a:pt x="427" y="148"/>
                  <a:pt x="427" y="170"/>
                </a:cubicBezTo>
                <a:cubicBezTo>
                  <a:pt x="427" y="263"/>
                  <a:pt x="502" y="339"/>
                  <a:pt x="596" y="339"/>
                </a:cubicBezTo>
                <a:cubicBezTo>
                  <a:pt x="689" y="339"/>
                  <a:pt x="765" y="263"/>
                  <a:pt x="765" y="170"/>
                </a:cubicBezTo>
                <a:cubicBezTo>
                  <a:pt x="765" y="76"/>
                  <a:pt x="689" y="0"/>
                  <a:pt x="596" y="0"/>
                </a:cubicBezTo>
                <a:close/>
                <a:moveTo>
                  <a:pt x="169" y="325"/>
                </a:moveTo>
                <a:cubicBezTo>
                  <a:pt x="83" y="325"/>
                  <a:pt x="14" y="255"/>
                  <a:pt x="14" y="170"/>
                </a:cubicBezTo>
                <a:cubicBezTo>
                  <a:pt x="14" y="84"/>
                  <a:pt x="83" y="14"/>
                  <a:pt x="169" y="14"/>
                </a:cubicBezTo>
                <a:cubicBezTo>
                  <a:pt x="254" y="14"/>
                  <a:pt x="324" y="84"/>
                  <a:pt x="324" y="170"/>
                </a:cubicBezTo>
                <a:cubicBezTo>
                  <a:pt x="324" y="255"/>
                  <a:pt x="254" y="325"/>
                  <a:pt x="169" y="325"/>
                </a:cubicBezTo>
                <a:close/>
                <a:moveTo>
                  <a:pt x="382" y="110"/>
                </a:moveTo>
                <a:cubicBezTo>
                  <a:pt x="372" y="110"/>
                  <a:pt x="363" y="102"/>
                  <a:pt x="363" y="91"/>
                </a:cubicBezTo>
                <a:cubicBezTo>
                  <a:pt x="363" y="80"/>
                  <a:pt x="372" y="72"/>
                  <a:pt x="382" y="72"/>
                </a:cubicBezTo>
                <a:cubicBezTo>
                  <a:pt x="393" y="72"/>
                  <a:pt x="401" y="80"/>
                  <a:pt x="401" y="91"/>
                </a:cubicBezTo>
                <a:cubicBezTo>
                  <a:pt x="401" y="102"/>
                  <a:pt x="393" y="110"/>
                  <a:pt x="382" y="110"/>
                </a:cubicBezTo>
                <a:close/>
                <a:moveTo>
                  <a:pt x="596" y="325"/>
                </a:moveTo>
                <a:cubicBezTo>
                  <a:pt x="510" y="325"/>
                  <a:pt x="441" y="255"/>
                  <a:pt x="441" y="170"/>
                </a:cubicBezTo>
                <a:cubicBezTo>
                  <a:pt x="441" y="84"/>
                  <a:pt x="510" y="14"/>
                  <a:pt x="596" y="14"/>
                </a:cubicBezTo>
                <a:cubicBezTo>
                  <a:pt x="681" y="14"/>
                  <a:pt x="751" y="84"/>
                  <a:pt x="751" y="170"/>
                </a:cubicBezTo>
                <a:cubicBezTo>
                  <a:pt x="751" y="255"/>
                  <a:pt x="681" y="325"/>
                  <a:pt x="596" y="325"/>
                </a:cubicBezTo>
                <a:close/>
                <a:moveTo>
                  <a:pt x="233" y="55"/>
                </a:moveTo>
                <a:cubicBezTo>
                  <a:pt x="231" y="58"/>
                  <a:pt x="227" y="60"/>
                  <a:pt x="223" y="58"/>
                </a:cubicBezTo>
                <a:cubicBezTo>
                  <a:pt x="162" y="28"/>
                  <a:pt x="87" y="53"/>
                  <a:pt x="57" y="115"/>
                </a:cubicBezTo>
                <a:cubicBezTo>
                  <a:pt x="56" y="118"/>
                  <a:pt x="53" y="119"/>
                  <a:pt x="51" y="119"/>
                </a:cubicBezTo>
                <a:cubicBezTo>
                  <a:pt x="50" y="119"/>
                  <a:pt x="49" y="119"/>
                  <a:pt x="48" y="118"/>
                </a:cubicBezTo>
                <a:cubicBezTo>
                  <a:pt x="44" y="117"/>
                  <a:pt x="43" y="112"/>
                  <a:pt x="45" y="109"/>
                </a:cubicBezTo>
                <a:cubicBezTo>
                  <a:pt x="78" y="40"/>
                  <a:pt x="161" y="12"/>
                  <a:pt x="229" y="45"/>
                </a:cubicBezTo>
                <a:cubicBezTo>
                  <a:pt x="233" y="47"/>
                  <a:pt x="234" y="51"/>
                  <a:pt x="233" y="55"/>
                </a:cubicBezTo>
                <a:close/>
                <a:moveTo>
                  <a:pt x="660" y="55"/>
                </a:moveTo>
                <a:cubicBezTo>
                  <a:pt x="658" y="58"/>
                  <a:pt x="654" y="60"/>
                  <a:pt x="650" y="58"/>
                </a:cubicBezTo>
                <a:cubicBezTo>
                  <a:pt x="589" y="28"/>
                  <a:pt x="514" y="53"/>
                  <a:pt x="484" y="115"/>
                </a:cubicBezTo>
                <a:cubicBezTo>
                  <a:pt x="483" y="118"/>
                  <a:pt x="480" y="119"/>
                  <a:pt x="478" y="119"/>
                </a:cubicBezTo>
                <a:cubicBezTo>
                  <a:pt x="477" y="119"/>
                  <a:pt x="476" y="119"/>
                  <a:pt x="475" y="118"/>
                </a:cubicBezTo>
                <a:cubicBezTo>
                  <a:pt x="471" y="117"/>
                  <a:pt x="470" y="112"/>
                  <a:pt x="471" y="109"/>
                </a:cubicBezTo>
                <a:cubicBezTo>
                  <a:pt x="505" y="40"/>
                  <a:pt x="588" y="12"/>
                  <a:pt x="656" y="45"/>
                </a:cubicBezTo>
                <a:cubicBezTo>
                  <a:pt x="660" y="47"/>
                  <a:pt x="661" y="51"/>
                  <a:pt x="660" y="55"/>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n-US" sz="1800" dirty="0">
              <a:solidFill>
                <a:schemeClr val="bg1">
                  <a:lumMod val="50000"/>
                </a:schemeClr>
              </a:solidFill>
            </a:endParaRPr>
          </a:p>
        </p:txBody>
      </p:sp>
      <p:sp>
        <p:nvSpPr>
          <p:cNvPr id="100" name="Freeform 86"/>
          <p:cNvSpPr>
            <a:spLocks noEditPoints="1"/>
          </p:cNvSpPr>
          <p:nvPr/>
        </p:nvSpPr>
        <p:spPr bwMode="auto">
          <a:xfrm>
            <a:off x="1607631" y="2099628"/>
            <a:ext cx="304595" cy="337867"/>
          </a:xfrm>
          <a:custGeom>
            <a:avLst/>
            <a:gdLst>
              <a:gd name="T0" fmla="*/ 208 w 575"/>
              <a:gd name="T1" fmla="*/ 639 h 639"/>
              <a:gd name="T2" fmla="*/ 201 w 575"/>
              <a:gd name="T3" fmla="*/ 373 h 639"/>
              <a:gd name="T4" fmla="*/ 369 w 575"/>
              <a:gd name="T5" fmla="*/ 366 h 639"/>
              <a:gd name="T6" fmla="*/ 376 w 575"/>
              <a:gd name="T7" fmla="*/ 632 h 639"/>
              <a:gd name="T8" fmla="*/ 215 w 575"/>
              <a:gd name="T9" fmla="*/ 625 h 639"/>
              <a:gd name="T10" fmla="*/ 362 w 575"/>
              <a:gd name="T11" fmla="*/ 380 h 639"/>
              <a:gd name="T12" fmla="*/ 215 w 575"/>
              <a:gd name="T13" fmla="*/ 625 h 639"/>
              <a:gd name="T14" fmla="*/ 10 w 575"/>
              <a:gd name="T15" fmla="*/ 639 h 639"/>
              <a:gd name="T16" fmla="*/ 3 w 575"/>
              <a:gd name="T17" fmla="*/ 503 h 639"/>
              <a:gd name="T18" fmla="*/ 170 w 575"/>
              <a:gd name="T19" fmla="*/ 496 h 639"/>
              <a:gd name="T20" fmla="*/ 177 w 575"/>
              <a:gd name="T21" fmla="*/ 632 h 639"/>
              <a:gd name="T22" fmla="*/ 17 w 575"/>
              <a:gd name="T23" fmla="*/ 625 h 639"/>
              <a:gd name="T24" fmla="*/ 163 w 575"/>
              <a:gd name="T25" fmla="*/ 510 h 639"/>
              <a:gd name="T26" fmla="*/ 17 w 575"/>
              <a:gd name="T27" fmla="*/ 625 h 639"/>
              <a:gd name="T28" fmla="*/ 5 w 575"/>
              <a:gd name="T29" fmla="*/ 411 h 639"/>
              <a:gd name="T30" fmla="*/ 292 w 575"/>
              <a:gd name="T31" fmla="*/ 47 h 639"/>
              <a:gd name="T32" fmla="*/ 256 w 575"/>
              <a:gd name="T33" fmla="*/ 4 h 639"/>
              <a:gd name="T34" fmla="*/ 417 w 575"/>
              <a:gd name="T35" fmla="*/ 0 h 639"/>
              <a:gd name="T36" fmla="*/ 424 w 575"/>
              <a:gd name="T37" fmla="*/ 163 h 639"/>
              <a:gd name="T38" fmla="*/ 412 w 575"/>
              <a:gd name="T39" fmla="*/ 168 h 639"/>
              <a:gd name="T40" fmla="*/ 31 w 575"/>
              <a:gd name="T41" fmla="*/ 414 h 639"/>
              <a:gd name="T42" fmla="*/ 279 w 575"/>
              <a:gd name="T43" fmla="*/ 14 h 639"/>
              <a:gd name="T44" fmla="*/ 307 w 575"/>
              <a:gd name="T45" fmla="*/ 51 h 639"/>
              <a:gd name="T46" fmla="*/ 16 w 575"/>
              <a:gd name="T47" fmla="*/ 402 h 639"/>
              <a:gd name="T48" fmla="*/ 22 w 575"/>
              <a:gd name="T49" fmla="*/ 403 h 639"/>
              <a:gd name="T50" fmla="*/ 383 w 575"/>
              <a:gd name="T51" fmla="*/ 118 h 639"/>
              <a:gd name="T52" fmla="*/ 410 w 575"/>
              <a:gd name="T53" fmla="*/ 14 h 639"/>
              <a:gd name="T54" fmla="*/ 568 w 575"/>
              <a:gd name="T55" fmla="*/ 639 h 639"/>
              <a:gd name="T56" fmla="*/ 400 w 575"/>
              <a:gd name="T57" fmla="*/ 632 h 639"/>
              <a:gd name="T58" fmla="*/ 407 w 575"/>
              <a:gd name="T59" fmla="*/ 238 h 639"/>
              <a:gd name="T60" fmla="*/ 575 w 575"/>
              <a:gd name="T61" fmla="*/ 245 h 639"/>
              <a:gd name="T62" fmla="*/ 568 w 575"/>
              <a:gd name="T63" fmla="*/ 639 h 639"/>
              <a:gd name="T64" fmla="*/ 561 w 575"/>
              <a:gd name="T65" fmla="*/ 625 h 639"/>
              <a:gd name="T66" fmla="*/ 414 w 575"/>
              <a:gd name="T67" fmla="*/ 252 h 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5" h="639">
                <a:moveTo>
                  <a:pt x="369" y="639"/>
                </a:moveTo>
                <a:cubicBezTo>
                  <a:pt x="208" y="639"/>
                  <a:pt x="208" y="639"/>
                  <a:pt x="208" y="639"/>
                </a:cubicBezTo>
                <a:cubicBezTo>
                  <a:pt x="205" y="639"/>
                  <a:pt x="201" y="636"/>
                  <a:pt x="201" y="632"/>
                </a:cubicBezTo>
                <a:cubicBezTo>
                  <a:pt x="201" y="373"/>
                  <a:pt x="201" y="373"/>
                  <a:pt x="201" y="373"/>
                </a:cubicBezTo>
                <a:cubicBezTo>
                  <a:pt x="201" y="369"/>
                  <a:pt x="205" y="366"/>
                  <a:pt x="208" y="366"/>
                </a:cubicBezTo>
                <a:cubicBezTo>
                  <a:pt x="369" y="366"/>
                  <a:pt x="369" y="366"/>
                  <a:pt x="369" y="366"/>
                </a:cubicBezTo>
                <a:cubicBezTo>
                  <a:pt x="373" y="366"/>
                  <a:pt x="376" y="369"/>
                  <a:pt x="376" y="373"/>
                </a:cubicBezTo>
                <a:cubicBezTo>
                  <a:pt x="376" y="632"/>
                  <a:pt x="376" y="632"/>
                  <a:pt x="376" y="632"/>
                </a:cubicBezTo>
                <a:cubicBezTo>
                  <a:pt x="376" y="636"/>
                  <a:pt x="373" y="639"/>
                  <a:pt x="369" y="639"/>
                </a:cubicBezTo>
                <a:close/>
                <a:moveTo>
                  <a:pt x="215" y="625"/>
                </a:moveTo>
                <a:cubicBezTo>
                  <a:pt x="362" y="625"/>
                  <a:pt x="362" y="625"/>
                  <a:pt x="362" y="625"/>
                </a:cubicBezTo>
                <a:cubicBezTo>
                  <a:pt x="362" y="380"/>
                  <a:pt x="362" y="380"/>
                  <a:pt x="362" y="380"/>
                </a:cubicBezTo>
                <a:cubicBezTo>
                  <a:pt x="215" y="380"/>
                  <a:pt x="215" y="380"/>
                  <a:pt x="215" y="380"/>
                </a:cubicBezTo>
                <a:lnTo>
                  <a:pt x="215" y="625"/>
                </a:lnTo>
                <a:close/>
                <a:moveTo>
                  <a:pt x="170" y="639"/>
                </a:moveTo>
                <a:cubicBezTo>
                  <a:pt x="10" y="639"/>
                  <a:pt x="10" y="639"/>
                  <a:pt x="10" y="639"/>
                </a:cubicBezTo>
                <a:cubicBezTo>
                  <a:pt x="6" y="639"/>
                  <a:pt x="3" y="636"/>
                  <a:pt x="3" y="632"/>
                </a:cubicBezTo>
                <a:cubicBezTo>
                  <a:pt x="3" y="503"/>
                  <a:pt x="3" y="503"/>
                  <a:pt x="3" y="503"/>
                </a:cubicBezTo>
                <a:cubicBezTo>
                  <a:pt x="3" y="499"/>
                  <a:pt x="6" y="496"/>
                  <a:pt x="10" y="496"/>
                </a:cubicBezTo>
                <a:cubicBezTo>
                  <a:pt x="170" y="496"/>
                  <a:pt x="170" y="496"/>
                  <a:pt x="170" y="496"/>
                </a:cubicBezTo>
                <a:cubicBezTo>
                  <a:pt x="174" y="496"/>
                  <a:pt x="177" y="499"/>
                  <a:pt x="177" y="503"/>
                </a:cubicBezTo>
                <a:cubicBezTo>
                  <a:pt x="177" y="632"/>
                  <a:pt x="177" y="632"/>
                  <a:pt x="177" y="632"/>
                </a:cubicBezTo>
                <a:cubicBezTo>
                  <a:pt x="177" y="636"/>
                  <a:pt x="174" y="639"/>
                  <a:pt x="170" y="639"/>
                </a:cubicBezTo>
                <a:close/>
                <a:moveTo>
                  <a:pt x="17" y="625"/>
                </a:moveTo>
                <a:cubicBezTo>
                  <a:pt x="163" y="625"/>
                  <a:pt x="163" y="625"/>
                  <a:pt x="163" y="625"/>
                </a:cubicBezTo>
                <a:cubicBezTo>
                  <a:pt x="163" y="510"/>
                  <a:pt x="163" y="510"/>
                  <a:pt x="163" y="510"/>
                </a:cubicBezTo>
                <a:cubicBezTo>
                  <a:pt x="17" y="510"/>
                  <a:pt x="17" y="510"/>
                  <a:pt x="17" y="510"/>
                </a:cubicBezTo>
                <a:lnTo>
                  <a:pt x="17" y="625"/>
                </a:lnTo>
                <a:close/>
                <a:moveTo>
                  <a:pt x="19" y="418"/>
                </a:moveTo>
                <a:cubicBezTo>
                  <a:pt x="14" y="418"/>
                  <a:pt x="9" y="416"/>
                  <a:pt x="5" y="411"/>
                </a:cubicBezTo>
                <a:cubicBezTo>
                  <a:pt x="0" y="404"/>
                  <a:pt x="0" y="395"/>
                  <a:pt x="5" y="388"/>
                </a:cubicBezTo>
                <a:cubicBezTo>
                  <a:pt x="292" y="47"/>
                  <a:pt x="292" y="47"/>
                  <a:pt x="292" y="47"/>
                </a:cubicBezTo>
                <a:cubicBezTo>
                  <a:pt x="257" y="12"/>
                  <a:pt x="257" y="12"/>
                  <a:pt x="257" y="12"/>
                </a:cubicBezTo>
                <a:cubicBezTo>
                  <a:pt x="255" y="10"/>
                  <a:pt x="255" y="7"/>
                  <a:pt x="256" y="4"/>
                </a:cubicBezTo>
                <a:cubicBezTo>
                  <a:pt x="257" y="1"/>
                  <a:pt x="260" y="0"/>
                  <a:pt x="262" y="0"/>
                </a:cubicBezTo>
                <a:cubicBezTo>
                  <a:pt x="417" y="0"/>
                  <a:pt x="417" y="0"/>
                  <a:pt x="417" y="0"/>
                </a:cubicBezTo>
                <a:cubicBezTo>
                  <a:pt x="421" y="0"/>
                  <a:pt x="424" y="3"/>
                  <a:pt x="424" y="7"/>
                </a:cubicBezTo>
                <a:cubicBezTo>
                  <a:pt x="424" y="163"/>
                  <a:pt x="424" y="163"/>
                  <a:pt x="424" y="163"/>
                </a:cubicBezTo>
                <a:cubicBezTo>
                  <a:pt x="424" y="166"/>
                  <a:pt x="423" y="168"/>
                  <a:pt x="420" y="169"/>
                </a:cubicBezTo>
                <a:cubicBezTo>
                  <a:pt x="417" y="170"/>
                  <a:pt x="414" y="170"/>
                  <a:pt x="412" y="168"/>
                </a:cubicBezTo>
                <a:cubicBezTo>
                  <a:pt x="377" y="133"/>
                  <a:pt x="377" y="133"/>
                  <a:pt x="377" y="133"/>
                </a:cubicBezTo>
                <a:cubicBezTo>
                  <a:pt x="31" y="414"/>
                  <a:pt x="31" y="414"/>
                  <a:pt x="31" y="414"/>
                </a:cubicBezTo>
                <a:cubicBezTo>
                  <a:pt x="28" y="417"/>
                  <a:pt x="24" y="418"/>
                  <a:pt x="19" y="418"/>
                </a:cubicBezTo>
                <a:close/>
                <a:moveTo>
                  <a:pt x="279" y="14"/>
                </a:moveTo>
                <a:cubicBezTo>
                  <a:pt x="307" y="41"/>
                  <a:pt x="307" y="41"/>
                  <a:pt x="307" y="41"/>
                </a:cubicBezTo>
                <a:cubicBezTo>
                  <a:pt x="309" y="44"/>
                  <a:pt x="309" y="48"/>
                  <a:pt x="307" y="51"/>
                </a:cubicBezTo>
                <a:cubicBezTo>
                  <a:pt x="16" y="397"/>
                  <a:pt x="16" y="397"/>
                  <a:pt x="16" y="397"/>
                </a:cubicBezTo>
                <a:cubicBezTo>
                  <a:pt x="15" y="399"/>
                  <a:pt x="15" y="401"/>
                  <a:pt x="16" y="402"/>
                </a:cubicBezTo>
                <a:cubicBezTo>
                  <a:pt x="17" y="404"/>
                  <a:pt x="18" y="404"/>
                  <a:pt x="19" y="404"/>
                </a:cubicBezTo>
                <a:cubicBezTo>
                  <a:pt x="20" y="404"/>
                  <a:pt x="21" y="404"/>
                  <a:pt x="22" y="403"/>
                </a:cubicBezTo>
                <a:cubicBezTo>
                  <a:pt x="373" y="118"/>
                  <a:pt x="373" y="118"/>
                  <a:pt x="373" y="118"/>
                </a:cubicBezTo>
                <a:cubicBezTo>
                  <a:pt x="376" y="115"/>
                  <a:pt x="380" y="116"/>
                  <a:pt x="383" y="118"/>
                </a:cubicBezTo>
                <a:cubicBezTo>
                  <a:pt x="410" y="146"/>
                  <a:pt x="410" y="146"/>
                  <a:pt x="410" y="146"/>
                </a:cubicBezTo>
                <a:cubicBezTo>
                  <a:pt x="410" y="14"/>
                  <a:pt x="410" y="14"/>
                  <a:pt x="410" y="14"/>
                </a:cubicBezTo>
                <a:lnTo>
                  <a:pt x="279" y="14"/>
                </a:lnTo>
                <a:close/>
                <a:moveTo>
                  <a:pt x="568" y="639"/>
                </a:moveTo>
                <a:cubicBezTo>
                  <a:pt x="407" y="639"/>
                  <a:pt x="407" y="639"/>
                  <a:pt x="407" y="639"/>
                </a:cubicBezTo>
                <a:cubicBezTo>
                  <a:pt x="403" y="639"/>
                  <a:pt x="400" y="636"/>
                  <a:pt x="400" y="632"/>
                </a:cubicBezTo>
                <a:cubicBezTo>
                  <a:pt x="400" y="245"/>
                  <a:pt x="400" y="245"/>
                  <a:pt x="400" y="245"/>
                </a:cubicBezTo>
                <a:cubicBezTo>
                  <a:pt x="400" y="241"/>
                  <a:pt x="403" y="238"/>
                  <a:pt x="407" y="238"/>
                </a:cubicBezTo>
                <a:cubicBezTo>
                  <a:pt x="568" y="238"/>
                  <a:pt x="568" y="238"/>
                  <a:pt x="568" y="238"/>
                </a:cubicBezTo>
                <a:cubicBezTo>
                  <a:pt x="572" y="238"/>
                  <a:pt x="575" y="241"/>
                  <a:pt x="575" y="245"/>
                </a:cubicBezTo>
                <a:cubicBezTo>
                  <a:pt x="575" y="632"/>
                  <a:pt x="575" y="632"/>
                  <a:pt x="575" y="632"/>
                </a:cubicBezTo>
                <a:cubicBezTo>
                  <a:pt x="575" y="636"/>
                  <a:pt x="572" y="639"/>
                  <a:pt x="568" y="639"/>
                </a:cubicBezTo>
                <a:close/>
                <a:moveTo>
                  <a:pt x="414" y="625"/>
                </a:moveTo>
                <a:cubicBezTo>
                  <a:pt x="561" y="625"/>
                  <a:pt x="561" y="625"/>
                  <a:pt x="561" y="625"/>
                </a:cubicBezTo>
                <a:cubicBezTo>
                  <a:pt x="561" y="252"/>
                  <a:pt x="561" y="252"/>
                  <a:pt x="561" y="252"/>
                </a:cubicBezTo>
                <a:cubicBezTo>
                  <a:pt x="414" y="252"/>
                  <a:pt x="414" y="252"/>
                  <a:pt x="414" y="252"/>
                </a:cubicBezTo>
                <a:lnTo>
                  <a:pt x="414" y="625"/>
                </a:ln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n-US" sz="1800" dirty="0">
              <a:solidFill>
                <a:schemeClr val="bg1">
                  <a:lumMod val="50000"/>
                </a:schemeClr>
              </a:solidFill>
            </a:endParaRPr>
          </a:p>
        </p:txBody>
      </p:sp>
      <p:sp>
        <p:nvSpPr>
          <p:cNvPr id="39"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19</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1451348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Nuestra Visión</a:t>
            </a:r>
          </a:p>
          <a:p>
            <a:endParaRPr lang="en-US" dirty="0">
              <a:solidFill>
                <a:srgbClr val="323232"/>
              </a:solidFill>
              <a:latin typeface="Avenir 35" panose="00000400000000000000" pitchFamily="2" charset="0"/>
            </a:endParaRP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EXPLOTAR</a:t>
            </a:r>
            <a:endParaRPr lang="es-ES" sz="1400" b="1" dirty="0">
              <a:solidFill>
                <a:srgbClr val="323232"/>
              </a:solidFill>
              <a:latin typeface="Avenir 35" panose="00000400000000000000" pitchFamily="2" charset="0"/>
            </a:endParaRPr>
          </a:p>
        </p:txBody>
      </p:sp>
      <p:sp>
        <p:nvSpPr>
          <p:cNvPr id="20" name="AutoShape 4"/>
          <p:cNvSpPr>
            <a:spLocks noChangeArrowheads="1"/>
          </p:cNvSpPr>
          <p:nvPr/>
        </p:nvSpPr>
        <p:spPr bwMode="auto">
          <a:xfrm>
            <a:off x="632527" y="764704"/>
            <a:ext cx="8660261" cy="432048"/>
          </a:xfrm>
          <a:prstGeom prst="roundRect">
            <a:avLst>
              <a:gd name="adj" fmla="val 12500"/>
            </a:avLst>
          </a:prstGeom>
        </p:spPr>
        <p:txBody>
          <a:bodyPr lIns="92583" tIns="46292" rIns="92583" bIns="46292" anchor="ctr">
            <a:noAutofit/>
          </a:bodyPr>
          <a:lstStyle/>
          <a:p>
            <a:pPr algn="ctr"/>
            <a:r>
              <a:rPr lang="es-ES" sz="1000" dirty="0">
                <a:solidFill>
                  <a:srgbClr val="505050"/>
                </a:solidFill>
                <a:latin typeface="Avenir 35" panose="00000400000000000000" pitchFamily="2" charset="0"/>
                <a:cs typeface="Arial" panose="020B0604020202020204" pitchFamily="34" charset="0"/>
              </a:rPr>
              <a:t>La selección de la solución se ha fundamentado no solo en las necesidades  actuales, sino que hemos ponderado las necesidades que Easy Money tendrá en el futuro.</a:t>
            </a:r>
          </a:p>
        </p:txBody>
      </p:sp>
      <p:sp>
        <p:nvSpPr>
          <p:cNvPr id="3" name="AutoShape 4" descr="Resultado de imagen de car dealer network"/>
          <p:cNvSpPr>
            <a:spLocks noChangeAspect="1" noChangeArrowheads="1"/>
          </p:cNvSpPr>
          <p:nvPr/>
        </p:nvSpPr>
        <p:spPr bwMode="auto">
          <a:xfrm>
            <a:off x="155575" y="-13652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88" name="71 Cheurón"/>
          <p:cNvSpPr/>
          <p:nvPr>
            <p:custDataLst>
              <p:tags r:id="rId1"/>
            </p:custDataLst>
          </p:nvPr>
        </p:nvSpPr>
        <p:spPr>
          <a:xfrm>
            <a:off x="2504728" y="6597352"/>
            <a:ext cx="1584000" cy="180000"/>
          </a:xfrm>
          <a:prstGeom prst="chevron">
            <a:avLst>
              <a:gd name="adj" fmla="val 0"/>
            </a:avLst>
          </a:prstGeom>
          <a:solidFill>
            <a:srgbClr val="C00000"/>
          </a:solidFill>
          <a:ln w="12700" cap="flat" cmpd="sng" algn="ctr">
            <a:solidFill>
              <a:schemeClr val="bg1"/>
            </a:solidFill>
            <a:prstDash val="solid"/>
          </a:ln>
          <a:effectLst/>
        </p:spPr>
        <p:txBody>
          <a:bodyPr lIns="18000" rIns="18000" rtlCol="0" anchor="ctr"/>
          <a:lstStyle/>
          <a:p>
            <a:pPr algn="ctr" defTabSz="825500"/>
            <a:r>
              <a:rPr lang="es-ES" sz="1000" kern="0" dirty="0">
                <a:solidFill>
                  <a:prstClr val="white"/>
                </a:solidFill>
                <a:latin typeface="Century Gothic" panose="020B0502020202020204" pitchFamily="34" charset="0"/>
                <a:cs typeface="Arial" panose="020B0604020202020204" pitchFamily="34" charset="0"/>
                <a:sym typeface="Calibri"/>
              </a:rPr>
              <a:t>Campañas Informativas</a:t>
            </a:r>
          </a:p>
        </p:txBody>
      </p:sp>
      <p:sp>
        <p:nvSpPr>
          <p:cNvPr id="90" name="71 Cheurón"/>
          <p:cNvSpPr/>
          <p:nvPr>
            <p:custDataLst>
              <p:tags r:id="rId2"/>
            </p:custDataLst>
          </p:nvPr>
        </p:nvSpPr>
        <p:spPr>
          <a:xfrm>
            <a:off x="5961288" y="6597352"/>
            <a:ext cx="1584000" cy="180000"/>
          </a:xfrm>
          <a:prstGeom prst="chevron">
            <a:avLst>
              <a:gd name="adj" fmla="val 0"/>
            </a:avLst>
          </a:prstGeom>
          <a:solidFill>
            <a:srgbClr val="C00000"/>
          </a:solidFill>
          <a:ln w="12700" cap="flat" cmpd="sng" algn="ctr">
            <a:solidFill>
              <a:schemeClr val="bg1"/>
            </a:solidFill>
            <a:prstDash val="solid"/>
          </a:ln>
          <a:effectLst/>
        </p:spPr>
        <p:txBody>
          <a:bodyPr lIns="18000" rIns="18000" rtlCol="0" anchor="ctr"/>
          <a:lstStyle/>
          <a:p>
            <a:pPr algn="ctr" defTabSz="825500"/>
            <a:r>
              <a:rPr lang="es-ES" sz="1000" kern="0" dirty="0">
                <a:solidFill>
                  <a:prstClr val="white"/>
                </a:solidFill>
                <a:latin typeface="Century Gothic" panose="020B0502020202020204" pitchFamily="34" charset="0"/>
                <a:cs typeface="Arial" panose="020B0604020202020204" pitchFamily="34" charset="0"/>
                <a:sym typeface="Calibri"/>
              </a:rPr>
              <a:t>Campañas Recurrentes</a:t>
            </a:r>
          </a:p>
        </p:txBody>
      </p:sp>
      <p:sp>
        <p:nvSpPr>
          <p:cNvPr id="91" name="71 Cheurón"/>
          <p:cNvSpPr/>
          <p:nvPr>
            <p:custDataLst>
              <p:tags r:id="rId3"/>
            </p:custDataLst>
          </p:nvPr>
        </p:nvSpPr>
        <p:spPr>
          <a:xfrm>
            <a:off x="4214608" y="6597352"/>
            <a:ext cx="1584000" cy="180000"/>
          </a:xfrm>
          <a:prstGeom prst="chevron">
            <a:avLst>
              <a:gd name="adj" fmla="val 0"/>
            </a:avLst>
          </a:prstGeom>
          <a:solidFill>
            <a:srgbClr val="C00000"/>
          </a:solidFill>
          <a:ln w="12700" cap="flat" cmpd="sng" algn="ctr">
            <a:solidFill>
              <a:schemeClr val="bg1"/>
            </a:solidFill>
            <a:prstDash val="solid"/>
          </a:ln>
          <a:effectLst/>
        </p:spPr>
        <p:txBody>
          <a:bodyPr lIns="18000" rIns="18000" rtlCol="0" anchor="ctr"/>
          <a:lstStyle/>
          <a:p>
            <a:pPr algn="ctr" defTabSz="825500"/>
            <a:r>
              <a:rPr lang="en-US" sz="1000" kern="0" dirty="0">
                <a:solidFill>
                  <a:prstClr val="white"/>
                </a:solidFill>
                <a:latin typeface="Century Gothic" panose="020B0502020202020204" pitchFamily="34" charset="0"/>
                <a:cs typeface="Arial" panose="020B0604020202020204" pitchFamily="34" charset="0"/>
                <a:sym typeface="Calibri"/>
              </a:rPr>
              <a:t>Change of Vision</a:t>
            </a:r>
          </a:p>
        </p:txBody>
      </p:sp>
      <p:sp>
        <p:nvSpPr>
          <p:cNvPr id="109" name="Rectángulo redondeado 3"/>
          <p:cNvSpPr/>
          <p:nvPr/>
        </p:nvSpPr>
        <p:spPr>
          <a:xfrm>
            <a:off x="222923" y="1530328"/>
            <a:ext cx="9453524" cy="1116000"/>
          </a:xfrm>
          <a:prstGeom prst="rect">
            <a:avLst/>
          </a:prstGeom>
          <a:solidFill>
            <a:srgbClr val="0086AC"/>
          </a:solidFill>
          <a:ln w="9525">
            <a:noFill/>
            <a:miter lim="800000"/>
            <a:headEnd/>
            <a:tailEnd/>
          </a:ln>
        </p:spPr>
        <p:txBody>
          <a:bodyPr wrap="square" lIns="91401" tIns="45699" rIns="91401" bIns="45699" anchor="t">
            <a:spAutoFit/>
          </a:bodyPr>
          <a:lstStyle/>
          <a:p>
            <a:pPr algn="ctr"/>
            <a:r>
              <a:rPr lang="en-US" sz="1100" b="1" dirty="0">
                <a:solidFill>
                  <a:srgbClr val="FFFFFF"/>
                </a:solidFill>
                <a:latin typeface="Avenir 65" panose="02000600000000000000" pitchFamily="2" charset="0"/>
                <a:cs typeface="Avenir 35 Light"/>
              </a:rPr>
              <a:t>Customer Journey</a:t>
            </a:r>
          </a:p>
        </p:txBody>
      </p:sp>
      <p:sp>
        <p:nvSpPr>
          <p:cNvPr id="62" name="71 Cheurón"/>
          <p:cNvSpPr/>
          <p:nvPr>
            <p:custDataLst>
              <p:tags r:id="rId4"/>
            </p:custDataLst>
          </p:nvPr>
        </p:nvSpPr>
        <p:spPr>
          <a:xfrm>
            <a:off x="956032" y="1792174"/>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Exploro opciones</a:t>
            </a:r>
          </a:p>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(internet)</a:t>
            </a:r>
          </a:p>
        </p:txBody>
      </p:sp>
      <p:sp>
        <p:nvSpPr>
          <p:cNvPr id="65" name="71 Cheurón"/>
          <p:cNvSpPr/>
          <p:nvPr>
            <p:custDataLst>
              <p:tags r:id="rId5"/>
            </p:custDataLst>
          </p:nvPr>
        </p:nvSpPr>
        <p:spPr>
          <a:xfrm>
            <a:off x="3132394" y="1792174"/>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Pido cita y </a:t>
            </a:r>
          </a:p>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Test drive</a:t>
            </a:r>
          </a:p>
        </p:txBody>
      </p:sp>
      <p:sp>
        <p:nvSpPr>
          <p:cNvPr id="67" name="71 Cheurón"/>
          <p:cNvSpPr/>
          <p:nvPr>
            <p:custDataLst>
              <p:tags r:id="rId6"/>
            </p:custDataLst>
          </p:nvPr>
        </p:nvSpPr>
        <p:spPr>
          <a:xfrm>
            <a:off x="1681486" y="1792174"/>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Configuro mis preferencias y las comparto</a:t>
            </a:r>
          </a:p>
        </p:txBody>
      </p:sp>
      <p:sp>
        <p:nvSpPr>
          <p:cNvPr id="69" name="71 Cheurón"/>
          <p:cNvSpPr/>
          <p:nvPr>
            <p:custDataLst>
              <p:tags r:id="rId7"/>
            </p:custDataLst>
          </p:nvPr>
        </p:nvSpPr>
        <p:spPr>
          <a:xfrm>
            <a:off x="2406940" y="1792174"/>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Consulto dudas</a:t>
            </a:r>
          </a:p>
        </p:txBody>
      </p:sp>
      <p:sp>
        <p:nvSpPr>
          <p:cNvPr id="72" name="71 Cheurón"/>
          <p:cNvSpPr/>
          <p:nvPr>
            <p:custDataLst>
              <p:tags r:id="rId8"/>
            </p:custDataLst>
          </p:nvPr>
        </p:nvSpPr>
        <p:spPr>
          <a:xfrm>
            <a:off x="3857848" y="1792174"/>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Voy al concesionario</a:t>
            </a:r>
          </a:p>
        </p:txBody>
      </p:sp>
      <p:sp>
        <p:nvSpPr>
          <p:cNvPr id="82" name="71 Cheurón"/>
          <p:cNvSpPr/>
          <p:nvPr>
            <p:custDataLst>
              <p:tags r:id="rId9"/>
            </p:custDataLst>
          </p:nvPr>
        </p:nvSpPr>
        <p:spPr>
          <a:xfrm>
            <a:off x="4583302" y="1792174"/>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Comparto preferencias y necesidades</a:t>
            </a:r>
          </a:p>
        </p:txBody>
      </p:sp>
      <p:sp>
        <p:nvSpPr>
          <p:cNvPr id="89" name="71 Cheurón"/>
          <p:cNvSpPr/>
          <p:nvPr>
            <p:custDataLst>
              <p:tags r:id="rId10"/>
            </p:custDataLst>
          </p:nvPr>
        </p:nvSpPr>
        <p:spPr>
          <a:xfrm>
            <a:off x="5308756" y="1792174"/>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Me presentan “mi coche”</a:t>
            </a:r>
          </a:p>
        </p:txBody>
      </p:sp>
      <p:sp>
        <p:nvSpPr>
          <p:cNvPr id="93" name="71 Cheurón"/>
          <p:cNvSpPr/>
          <p:nvPr>
            <p:custDataLst>
              <p:tags r:id="rId11"/>
            </p:custDataLst>
          </p:nvPr>
        </p:nvSpPr>
        <p:spPr>
          <a:xfrm>
            <a:off x="6759664" y="1792174"/>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Negocio el precio y la financiación</a:t>
            </a:r>
          </a:p>
        </p:txBody>
      </p:sp>
      <p:sp>
        <p:nvSpPr>
          <p:cNvPr id="98" name="71 Cheurón"/>
          <p:cNvSpPr/>
          <p:nvPr>
            <p:custDataLst>
              <p:tags r:id="rId12"/>
            </p:custDataLst>
          </p:nvPr>
        </p:nvSpPr>
        <p:spPr>
          <a:xfrm>
            <a:off x="6034210" y="1792174"/>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Pruebo el coche</a:t>
            </a:r>
          </a:p>
        </p:txBody>
      </p:sp>
      <p:sp>
        <p:nvSpPr>
          <p:cNvPr id="99" name="71 Cheurón"/>
          <p:cNvSpPr/>
          <p:nvPr>
            <p:custDataLst>
              <p:tags r:id="rId13"/>
            </p:custDataLst>
          </p:nvPr>
        </p:nvSpPr>
        <p:spPr>
          <a:xfrm>
            <a:off x="7485118" y="1792174"/>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Tomo una decisión y</a:t>
            </a:r>
          </a:p>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firmo</a:t>
            </a:r>
          </a:p>
        </p:txBody>
      </p:sp>
      <p:sp>
        <p:nvSpPr>
          <p:cNvPr id="100" name="71 Cheurón"/>
          <p:cNvSpPr/>
          <p:nvPr>
            <p:custDataLst>
              <p:tags r:id="rId14"/>
            </p:custDataLst>
          </p:nvPr>
        </p:nvSpPr>
        <p:spPr>
          <a:xfrm>
            <a:off x="8210572" y="1792174"/>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Recibo el</a:t>
            </a:r>
          </a:p>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 coche</a:t>
            </a:r>
          </a:p>
        </p:txBody>
      </p:sp>
      <p:sp>
        <p:nvSpPr>
          <p:cNvPr id="108" name="71 Cheurón"/>
          <p:cNvSpPr/>
          <p:nvPr>
            <p:custDataLst>
              <p:tags r:id="rId15"/>
            </p:custDataLst>
          </p:nvPr>
        </p:nvSpPr>
        <p:spPr>
          <a:xfrm>
            <a:off x="8936029" y="1792174"/>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Valoro mi experiencia</a:t>
            </a:r>
          </a:p>
        </p:txBody>
      </p:sp>
      <p:sp>
        <p:nvSpPr>
          <p:cNvPr id="110" name="71 Cheurón"/>
          <p:cNvSpPr/>
          <p:nvPr>
            <p:custDataLst>
              <p:tags r:id="rId16"/>
            </p:custDataLst>
          </p:nvPr>
        </p:nvSpPr>
        <p:spPr>
          <a:xfrm>
            <a:off x="222923" y="1196752"/>
            <a:ext cx="9453524" cy="261568"/>
          </a:xfrm>
          <a:prstGeom prst="chevron">
            <a:avLst>
              <a:gd name="adj" fmla="val 0"/>
            </a:avLst>
          </a:prstGeom>
          <a:solidFill>
            <a:schemeClr val="tx1">
              <a:lumMod val="65000"/>
              <a:lumOff val="35000"/>
            </a:schemeClr>
          </a:solidFill>
          <a:ln w="9525">
            <a:noFill/>
            <a:miter lim="800000"/>
            <a:headEnd/>
            <a:tailEnd/>
          </a:ln>
        </p:spPr>
        <p:txBody>
          <a:bodyPr wrap="square" lIns="91401" tIns="45699" rIns="91401" bIns="45699" anchor="ctr">
            <a:spAutoFit/>
          </a:bodyPr>
          <a:lstStyle/>
          <a:p>
            <a:pPr algn="ctr"/>
            <a:r>
              <a:rPr lang="es-ES" sz="1100" b="1" dirty="0">
                <a:solidFill>
                  <a:schemeClr val="bg1"/>
                </a:solidFill>
                <a:latin typeface="Avenir 65" panose="02000600000000000000" pitchFamily="2" charset="0"/>
                <a:cs typeface="Avenir 35 Light"/>
                <a:sym typeface="Calibri"/>
              </a:rPr>
              <a:t>Estrategia de Cliente &amp; Comercial</a:t>
            </a:r>
          </a:p>
        </p:txBody>
      </p:sp>
      <p:sp>
        <p:nvSpPr>
          <p:cNvPr id="115" name="71 Cheurón"/>
          <p:cNvSpPr/>
          <p:nvPr>
            <p:custDataLst>
              <p:tags r:id="rId17"/>
            </p:custDataLst>
          </p:nvPr>
        </p:nvSpPr>
        <p:spPr>
          <a:xfrm>
            <a:off x="298663" y="1796934"/>
            <a:ext cx="572268" cy="360000"/>
          </a:xfrm>
          <a:prstGeom prst="chevron">
            <a:avLst>
              <a:gd name="adj" fmla="val 0"/>
            </a:avLst>
          </a:prstGeom>
          <a:solidFill>
            <a:srgbClr val="323232"/>
          </a:solidFill>
          <a:ln w="12700" cap="flat" cmpd="sng" algn="ctr">
            <a:noFill/>
            <a:prstDash val="solid"/>
          </a:ln>
          <a:effectLst>
            <a:outerShdw blurRad="50800" dist="38100" dir="5400000" algn="t" rotWithShape="0">
              <a:prstClr val="black">
                <a:alpha val="40000"/>
              </a:prstClr>
            </a:outerShdw>
          </a:effectLst>
        </p:spPr>
        <p:txBody>
          <a:bodyPr lIns="18000" rIns="18000" rtlCol="0" anchor="ctr"/>
          <a:lstStyle/>
          <a:p>
            <a:pPr algn="ctr" defTabSz="825500"/>
            <a:r>
              <a:rPr lang="es-ES" sz="700" kern="0" dirty="0">
                <a:solidFill>
                  <a:prstClr val="white"/>
                </a:solidFill>
                <a:latin typeface="Century Gothic" panose="020B0502020202020204" pitchFamily="34" charset="0"/>
                <a:cs typeface="Arial" panose="020B0604020202020204" pitchFamily="34" charset="0"/>
                <a:sym typeface="Calibri"/>
              </a:rPr>
              <a:t>VENTAS</a:t>
            </a:r>
          </a:p>
        </p:txBody>
      </p:sp>
      <p:sp>
        <p:nvSpPr>
          <p:cNvPr id="129" name="71 Cheurón"/>
          <p:cNvSpPr/>
          <p:nvPr>
            <p:custDataLst>
              <p:tags r:id="rId18"/>
            </p:custDataLst>
          </p:nvPr>
        </p:nvSpPr>
        <p:spPr>
          <a:xfrm>
            <a:off x="959764" y="2219502"/>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Exploro opciones</a:t>
            </a:r>
          </a:p>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(internet)</a:t>
            </a:r>
          </a:p>
        </p:txBody>
      </p:sp>
      <p:sp>
        <p:nvSpPr>
          <p:cNvPr id="130" name="71 Cheurón"/>
          <p:cNvSpPr/>
          <p:nvPr>
            <p:custDataLst>
              <p:tags r:id="rId19"/>
            </p:custDataLst>
          </p:nvPr>
        </p:nvSpPr>
        <p:spPr>
          <a:xfrm>
            <a:off x="3136126" y="2219502"/>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Solicito Cita</a:t>
            </a:r>
          </a:p>
        </p:txBody>
      </p:sp>
      <p:sp>
        <p:nvSpPr>
          <p:cNvPr id="131" name="71 Cheurón"/>
          <p:cNvSpPr/>
          <p:nvPr>
            <p:custDataLst>
              <p:tags r:id="rId20"/>
            </p:custDataLst>
          </p:nvPr>
        </p:nvSpPr>
        <p:spPr>
          <a:xfrm>
            <a:off x="1685218" y="2219502"/>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Analizo intervención</a:t>
            </a:r>
          </a:p>
        </p:txBody>
      </p:sp>
      <p:sp>
        <p:nvSpPr>
          <p:cNvPr id="132" name="71 Cheurón"/>
          <p:cNvSpPr/>
          <p:nvPr>
            <p:custDataLst>
              <p:tags r:id="rId21"/>
            </p:custDataLst>
          </p:nvPr>
        </p:nvSpPr>
        <p:spPr>
          <a:xfrm>
            <a:off x="2410672" y="2219502"/>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Comparo precio</a:t>
            </a:r>
          </a:p>
        </p:txBody>
      </p:sp>
      <p:sp>
        <p:nvSpPr>
          <p:cNvPr id="133" name="132 Cheurón"/>
          <p:cNvSpPr/>
          <p:nvPr>
            <p:custDataLst>
              <p:tags r:id="rId22"/>
            </p:custDataLst>
          </p:nvPr>
        </p:nvSpPr>
        <p:spPr>
          <a:xfrm>
            <a:off x="3861580" y="2219502"/>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Recepción de mi vehículo</a:t>
            </a:r>
          </a:p>
        </p:txBody>
      </p:sp>
      <p:sp>
        <p:nvSpPr>
          <p:cNvPr id="134" name="71 Cheurón"/>
          <p:cNvSpPr/>
          <p:nvPr>
            <p:custDataLst>
              <p:tags r:id="rId23"/>
            </p:custDataLst>
          </p:nvPr>
        </p:nvSpPr>
        <p:spPr>
          <a:xfrm>
            <a:off x="4587034" y="2219502"/>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Me ofrecen presupuesto</a:t>
            </a:r>
          </a:p>
        </p:txBody>
      </p:sp>
      <p:sp>
        <p:nvSpPr>
          <p:cNvPr id="135" name="71 Cheurón"/>
          <p:cNvSpPr/>
          <p:nvPr>
            <p:custDataLst>
              <p:tags r:id="rId24"/>
            </p:custDataLst>
          </p:nvPr>
        </p:nvSpPr>
        <p:spPr>
          <a:xfrm>
            <a:off x="5312488" y="2219502"/>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Reparan mi vehículo</a:t>
            </a:r>
          </a:p>
        </p:txBody>
      </p:sp>
      <p:sp>
        <p:nvSpPr>
          <p:cNvPr id="136" name="71 Cheurón"/>
          <p:cNvSpPr/>
          <p:nvPr>
            <p:custDataLst>
              <p:tags r:id="rId25"/>
            </p:custDataLst>
          </p:nvPr>
        </p:nvSpPr>
        <p:spPr>
          <a:xfrm>
            <a:off x="6763396" y="2219502"/>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Me explican la factura</a:t>
            </a:r>
          </a:p>
        </p:txBody>
      </p:sp>
      <p:sp>
        <p:nvSpPr>
          <p:cNvPr id="137" name="71 Cheurón"/>
          <p:cNvSpPr/>
          <p:nvPr>
            <p:custDataLst>
              <p:tags r:id="rId26"/>
            </p:custDataLst>
          </p:nvPr>
        </p:nvSpPr>
        <p:spPr>
          <a:xfrm>
            <a:off x="6037942" y="2219502"/>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Acuerdo hora de recogida</a:t>
            </a:r>
          </a:p>
        </p:txBody>
      </p:sp>
      <p:sp>
        <p:nvSpPr>
          <p:cNvPr id="138" name="71 Cheurón"/>
          <p:cNvSpPr/>
          <p:nvPr>
            <p:custDataLst>
              <p:tags r:id="rId27"/>
            </p:custDataLst>
          </p:nvPr>
        </p:nvSpPr>
        <p:spPr>
          <a:xfrm>
            <a:off x="7488850" y="2219502"/>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Dudas y Pago de reparación</a:t>
            </a:r>
          </a:p>
        </p:txBody>
      </p:sp>
      <p:sp>
        <p:nvSpPr>
          <p:cNvPr id="139" name="71 Cheurón"/>
          <p:cNvSpPr/>
          <p:nvPr>
            <p:custDataLst>
              <p:tags r:id="rId28"/>
            </p:custDataLst>
          </p:nvPr>
        </p:nvSpPr>
        <p:spPr>
          <a:xfrm>
            <a:off x="8214304" y="2219502"/>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Despedida del SSOO</a:t>
            </a:r>
          </a:p>
        </p:txBody>
      </p:sp>
      <p:sp>
        <p:nvSpPr>
          <p:cNvPr id="140" name="71 Cheurón"/>
          <p:cNvSpPr/>
          <p:nvPr>
            <p:custDataLst>
              <p:tags r:id="rId29"/>
            </p:custDataLst>
          </p:nvPr>
        </p:nvSpPr>
        <p:spPr>
          <a:xfrm>
            <a:off x="8939761" y="2219502"/>
            <a:ext cx="684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Valoro mi experiencia</a:t>
            </a:r>
          </a:p>
        </p:txBody>
      </p:sp>
      <p:sp>
        <p:nvSpPr>
          <p:cNvPr id="141" name="71 Cheurón"/>
          <p:cNvSpPr/>
          <p:nvPr>
            <p:custDataLst>
              <p:tags r:id="rId30"/>
            </p:custDataLst>
          </p:nvPr>
        </p:nvSpPr>
        <p:spPr>
          <a:xfrm>
            <a:off x="298663" y="2224262"/>
            <a:ext cx="576000" cy="360000"/>
          </a:xfrm>
          <a:prstGeom prst="chevron">
            <a:avLst>
              <a:gd name="adj" fmla="val 0"/>
            </a:avLst>
          </a:prstGeom>
          <a:solidFill>
            <a:srgbClr val="323232"/>
          </a:solidFill>
          <a:ln w="12700" cap="flat" cmpd="sng" algn="ctr">
            <a:noFill/>
            <a:prstDash val="solid"/>
          </a:ln>
          <a:effectLst>
            <a:outerShdw blurRad="50800" dist="38100" dir="5400000" algn="t" rotWithShape="0">
              <a:prstClr val="black">
                <a:alpha val="40000"/>
              </a:prstClr>
            </a:outerShdw>
          </a:effectLst>
        </p:spPr>
        <p:txBody>
          <a:bodyPr lIns="18000" rIns="18000" rtlCol="0" anchor="ctr"/>
          <a:lstStyle/>
          <a:p>
            <a:pPr algn="ctr" defTabSz="825500"/>
            <a:r>
              <a:rPr lang="es-ES" sz="700" kern="0" dirty="0">
                <a:solidFill>
                  <a:prstClr val="white"/>
                </a:solidFill>
                <a:latin typeface="Century Gothic" panose="020B0502020202020204" pitchFamily="34" charset="0"/>
                <a:cs typeface="Arial" panose="020B0604020202020204" pitchFamily="34" charset="0"/>
                <a:sym typeface="Calibri"/>
              </a:rPr>
              <a:t>POSVENTA</a:t>
            </a:r>
          </a:p>
        </p:txBody>
      </p:sp>
      <p:grpSp>
        <p:nvGrpSpPr>
          <p:cNvPr id="142" name="141 Grupo"/>
          <p:cNvGrpSpPr>
            <a:grpSpLocks noChangeAspect="1"/>
          </p:cNvGrpSpPr>
          <p:nvPr/>
        </p:nvGrpSpPr>
        <p:grpSpPr>
          <a:xfrm>
            <a:off x="1137997" y="1314344"/>
            <a:ext cx="341019" cy="360000"/>
            <a:chOff x="487202" y="4293096"/>
            <a:chExt cx="594046" cy="627110"/>
          </a:xfrm>
        </p:grpSpPr>
        <p:sp>
          <p:nvSpPr>
            <p:cNvPr id="143" name="142 Elipse"/>
            <p:cNvSpPr/>
            <p:nvPr/>
          </p:nvSpPr>
          <p:spPr>
            <a:xfrm>
              <a:off x="489869" y="4293096"/>
              <a:ext cx="580437" cy="607227"/>
            </a:xfrm>
            <a:prstGeom prst="ellipse">
              <a:avLst/>
            </a:prstGeom>
            <a:solidFill>
              <a:srgbClr val="0097B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144" name="Picture 2" descr="https://cdn0.iconfinder.com/data/icons/shipping-icons/100/15-256.png"/>
            <p:cNvPicPr>
              <a:picLocks noChangeAspect="1" noChangeArrowheads="1"/>
            </p:cNvPicPr>
            <p:nvPr/>
          </p:nvPicPr>
          <p:blipFill>
            <a:blip r:embed="rId73" cstate="print">
              <a:biLevel thresh="25000"/>
              <a:extLst>
                <a:ext uri="{28A0092B-C50C-407E-A947-70E740481C1C}">
                  <a14:useLocalDpi xmlns:a14="http://schemas.microsoft.com/office/drawing/2010/main" val="0"/>
                </a:ext>
              </a:extLst>
            </a:blip>
            <a:srcRect/>
            <a:stretch>
              <a:fillRect/>
            </a:stretch>
          </p:blipFill>
          <p:spPr bwMode="auto">
            <a:xfrm>
              <a:off x="487202" y="4326160"/>
              <a:ext cx="594046" cy="59404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5" name="144 Grupo"/>
          <p:cNvGrpSpPr>
            <a:grpSpLocks noChangeAspect="1"/>
          </p:cNvGrpSpPr>
          <p:nvPr/>
        </p:nvGrpSpPr>
        <p:grpSpPr>
          <a:xfrm>
            <a:off x="1649614" y="1314344"/>
            <a:ext cx="344117" cy="360000"/>
            <a:chOff x="471642" y="4900973"/>
            <a:chExt cx="580437" cy="607227"/>
          </a:xfrm>
        </p:grpSpPr>
        <p:sp>
          <p:nvSpPr>
            <p:cNvPr id="146" name="145 Elipse"/>
            <p:cNvSpPr/>
            <p:nvPr/>
          </p:nvSpPr>
          <p:spPr>
            <a:xfrm>
              <a:off x="471642" y="4900973"/>
              <a:ext cx="580437" cy="607227"/>
            </a:xfrm>
            <a:prstGeom prst="ellipse">
              <a:avLst/>
            </a:prstGeom>
            <a:solidFill>
              <a:srgbClr val="0097B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147" name="Picture 27" descr="http://flaticons.net/icons/Transportation/Van.png"/>
            <p:cNvPicPr>
              <a:picLocks noChangeAspect="1" noChangeArrowheads="1"/>
            </p:cNvPicPr>
            <p:nvPr/>
          </p:nvPicPr>
          <p:blipFill>
            <a:blip r:embed="rId74" cstate="print">
              <a:extLst>
                <a:ext uri="{28A0092B-C50C-407E-A947-70E740481C1C}">
                  <a14:useLocalDpi xmlns:a14="http://schemas.microsoft.com/office/drawing/2010/main" val="0"/>
                </a:ext>
              </a:extLst>
            </a:blip>
            <a:srcRect/>
            <a:stretch>
              <a:fillRect/>
            </a:stretch>
          </p:blipFill>
          <p:spPr bwMode="auto">
            <a:xfrm>
              <a:off x="546086" y="4979379"/>
              <a:ext cx="460901" cy="4609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8" name="147 Grupo"/>
          <p:cNvGrpSpPr>
            <a:grpSpLocks noChangeAspect="1"/>
          </p:cNvGrpSpPr>
          <p:nvPr/>
        </p:nvGrpSpPr>
        <p:grpSpPr>
          <a:xfrm>
            <a:off x="622663" y="1314344"/>
            <a:ext cx="344116" cy="360000"/>
            <a:chOff x="471642" y="5518761"/>
            <a:chExt cx="580437" cy="607227"/>
          </a:xfrm>
        </p:grpSpPr>
        <p:sp>
          <p:nvSpPr>
            <p:cNvPr id="149" name="148 Elipse"/>
            <p:cNvSpPr/>
            <p:nvPr/>
          </p:nvSpPr>
          <p:spPr>
            <a:xfrm>
              <a:off x="471642" y="5518761"/>
              <a:ext cx="580437" cy="607227"/>
            </a:xfrm>
            <a:prstGeom prst="ellipse">
              <a:avLst/>
            </a:prstGeom>
            <a:solidFill>
              <a:srgbClr val="0097B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150" name="Picture 25" descr="http://www.iconsdb.com/icons/preview/white/car-xxl.png"/>
            <p:cNvPicPr>
              <a:picLocks noChangeAspect="1" noChangeArrowheads="1"/>
            </p:cNvPicPr>
            <p:nvPr/>
          </p:nvPicPr>
          <p:blipFill>
            <a:blip r:embed="rId75" cstate="print">
              <a:extLst>
                <a:ext uri="{28A0092B-C50C-407E-A947-70E740481C1C}">
                  <a14:useLocalDpi xmlns:a14="http://schemas.microsoft.com/office/drawing/2010/main" val="0"/>
                </a:ext>
              </a:extLst>
            </a:blip>
            <a:srcRect/>
            <a:stretch>
              <a:fillRect/>
            </a:stretch>
          </p:blipFill>
          <p:spPr bwMode="auto">
            <a:xfrm>
              <a:off x="546086" y="5602320"/>
              <a:ext cx="418968" cy="4189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10 Grupo"/>
          <p:cNvGrpSpPr>
            <a:grpSpLocks noChangeAspect="1"/>
          </p:cNvGrpSpPr>
          <p:nvPr/>
        </p:nvGrpSpPr>
        <p:grpSpPr>
          <a:xfrm>
            <a:off x="2104912" y="1314344"/>
            <a:ext cx="504056" cy="360000"/>
            <a:chOff x="384037" y="5754222"/>
            <a:chExt cx="850214" cy="607227"/>
          </a:xfrm>
        </p:grpSpPr>
        <p:sp>
          <p:nvSpPr>
            <p:cNvPr id="152" name="151 Elipse"/>
            <p:cNvSpPr/>
            <p:nvPr/>
          </p:nvSpPr>
          <p:spPr>
            <a:xfrm>
              <a:off x="519781" y="5754222"/>
              <a:ext cx="580437" cy="607227"/>
            </a:xfrm>
            <a:prstGeom prst="ellipse">
              <a:avLst/>
            </a:prstGeom>
            <a:solidFill>
              <a:srgbClr val="0097B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00" dirty="0">
                <a:solidFill>
                  <a:prstClr val="white"/>
                </a:solidFill>
              </a:endParaRPr>
            </a:p>
          </p:txBody>
        </p:sp>
        <p:sp>
          <p:nvSpPr>
            <p:cNvPr id="153" name="152 CuadroTexto"/>
            <p:cNvSpPr txBox="1"/>
            <p:nvPr/>
          </p:nvSpPr>
          <p:spPr>
            <a:xfrm>
              <a:off x="384037" y="5877126"/>
              <a:ext cx="850214" cy="361418"/>
            </a:xfrm>
            <a:prstGeom prst="rect">
              <a:avLst/>
            </a:prstGeom>
            <a:noFill/>
          </p:spPr>
          <p:txBody>
            <a:bodyPr wrap="square" lIns="90281" tIns="45139" rIns="90281" bIns="45139" rtlCol="0">
              <a:spAutoFit/>
            </a:bodyPr>
            <a:lstStyle/>
            <a:p>
              <a:pPr algn="ctr" defTabSz="902813"/>
              <a:r>
                <a:rPr lang="en-GB" sz="800" spc="-49" dirty="0">
                  <a:solidFill>
                    <a:schemeClr val="bg1"/>
                  </a:solidFill>
                  <a:latin typeface="Avenir 65" panose="02000600000000000000" pitchFamily="2" charset="0"/>
                  <a:cs typeface="Arial" pitchFamily="34" charset="0"/>
                </a:rPr>
                <a:t>MBFN</a:t>
              </a:r>
            </a:p>
          </p:txBody>
        </p:sp>
      </p:grpSp>
      <p:sp>
        <p:nvSpPr>
          <p:cNvPr id="154" name="Rectángulo redondeado 3"/>
          <p:cNvSpPr/>
          <p:nvPr/>
        </p:nvSpPr>
        <p:spPr>
          <a:xfrm>
            <a:off x="222923" y="2718208"/>
            <a:ext cx="9453524" cy="1152000"/>
          </a:xfrm>
          <a:prstGeom prst="rect">
            <a:avLst/>
          </a:prstGeom>
          <a:solidFill>
            <a:schemeClr val="bg1">
              <a:lumMod val="50000"/>
            </a:schemeClr>
          </a:solidFill>
          <a:ln w="9525">
            <a:noFill/>
            <a:miter lim="800000"/>
            <a:headEnd/>
            <a:tailEnd/>
          </a:ln>
        </p:spPr>
        <p:txBody>
          <a:bodyPr wrap="square" lIns="91401" tIns="45699" rIns="91401" bIns="45699" anchor="t">
            <a:spAutoFit/>
          </a:bodyPr>
          <a:lstStyle/>
          <a:p>
            <a:pPr algn="ctr"/>
            <a:r>
              <a:rPr lang="en-US" sz="1100" b="1" dirty="0">
                <a:solidFill>
                  <a:srgbClr val="FFFFFF"/>
                </a:solidFill>
                <a:latin typeface="Avenir 65" panose="02000600000000000000" pitchFamily="2" charset="0"/>
                <a:cs typeface="Avenir 35 Light"/>
              </a:rPr>
              <a:t>Employee Journey</a:t>
            </a:r>
          </a:p>
        </p:txBody>
      </p:sp>
      <p:sp>
        <p:nvSpPr>
          <p:cNvPr id="156" name="71 Cheurón"/>
          <p:cNvSpPr/>
          <p:nvPr>
            <p:custDataLst>
              <p:tags r:id="rId31"/>
            </p:custDataLst>
          </p:nvPr>
        </p:nvSpPr>
        <p:spPr>
          <a:xfrm>
            <a:off x="2501008" y="2982434"/>
            <a:ext cx="756000" cy="374558"/>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Reviso preferencias y</a:t>
            </a:r>
          </a:p>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 presento el coche</a:t>
            </a:r>
          </a:p>
        </p:txBody>
      </p:sp>
      <p:sp>
        <p:nvSpPr>
          <p:cNvPr id="157" name="71 Cheurón"/>
          <p:cNvSpPr/>
          <p:nvPr>
            <p:custDataLst>
              <p:tags r:id="rId32"/>
            </p:custDataLst>
          </p:nvPr>
        </p:nvSpPr>
        <p:spPr>
          <a:xfrm>
            <a:off x="910290" y="2982434"/>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Preparo la visita y gestiono la cita</a:t>
            </a:r>
          </a:p>
        </p:txBody>
      </p:sp>
      <p:sp>
        <p:nvSpPr>
          <p:cNvPr id="158" name="71 Cheurón"/>
          <p:cNvSpPr/>
          <p:nvPr>
            <p:custDataLst>
              <p:tags r:id="rId33"/>
            </p:custDataLst>
          </p:nvPr>
        </p:nvSpPr>
        <p:spPr>
          <a:xfrm>
            <a:off x="1705649" y="2982434"/>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Recibo al cliente </a:t>
            </a:r>
          </a:p>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(con / sin cita</a:t>
            </a:r>
          </a:p>
        </p:txBody>
      </p:sp>
      <p:sp>
        <p:nvSpPr>
          <p:cNvPr id="159" name="158 Cheurón"/>
          <p:cNvSpPr/>
          <p:nvPr>
            <p:custDataLst>
              <p:tags r:id="rId34"/>
            </p:custDataLst>
          </p:nvPr>
        </p:nvSpPr>
        <p:spPr>
          <a:xfrm>
            <a:off x="3296367" y="2982434"/>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Localizo el coche y gestiono el</a:t>
            </a:r>
          </a:p>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test drive</a:t>
            </a:r>
          </a:p>
        </p:txBody>
      </p:sp>
      <p:sp>
        <p:nvSpPr>
          <p:cNvPr id="160" name="71 Cheurón"/>
          <p:cNvSpPr/>
          <p:nvPr>
            <p:custDataLst>
              <p:tags r:id="rId35"/>
            </p:custDataLst>
          </p:nvPr>
        </p:nvSpPr>
        <p:spPr>
          <a:xfrm>
            <a:off x="4091726" y="2982434"/>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Hago la oferta económica y la tasación VO</a:t>
            </a:r>
          </a:p>
        </p:txBody>
      </p:sp>
      <p:sp>
        <p:nvSpPr>
          <p:cNvPr id="161" name="71 Cheurón"/>
          <p:cNvSpPr/>
          <p:nvPr>
            <p:custDataLst>
              <p:tags r:id="rId36"/>
            </p:custDataLst>
          </p:nvPr>
        </p:nvSpPr>
        <p:spPr>
          <a:xfrm>
            <a:off x="4887085" y="2982434"/>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Presento la oferta para firma</a:t>
            </a:r>
          </a:p>
        </p:txBody>
      </p:sp>
      <p:sp>
        <p:nvSpPr>
          <p:cNvPr id="162" name="71 Cheurón"/>
          <p:cNvSpPr/>
          <p:nvPr>
            <p:custDataLst>
              <p:tags r:id="rId37"/>
            </p:custDataLst>
          </p:nvPr>
        </p:nvSpPr>
        <p:spPr>
          <a:xfrm>
            <a:off x="6477803" y="2982434"/>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Gestiono los trámites y la entrega</a:t>
            </a:r>
          </a:p>
        </p:txBody>
      </p:sp>
      <p:sp>
        <p:nvSpPr>
          <p:cNvPr id="163" name="71 Cheurón"/>
          <p:cNvSpPr/>
          <p:nvPr>
            <p:custDataLst>
              <p:tags r:id="rId38"/>
            </p:custDataLst>
          </p:nvPr>
        </p:nvSpPr>
        <p:spPr>
          <a:xfrm>
            <a:off x="5682444" y="2982434"/>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Hago seguimiento</a:t>
            </a:r>
          </a:p>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y resuelvo dudas</a:t>
            </a:r>
          </a:p>
        </p:txBody>
      </p:sp>
      <p:sp>
        <p:nvSpPr>
          <p:cNvPr id="164" name="71 Cheurón"/>
          <p:cNvSpPr/>
          <p:nvPr>
            <p:custDataLst>
              <p:tags r:id="rId39"/>
            </p:custDataLst>
          </p:nvPr>
        </p:nvSpPr>
        <p:spPr>
          <a:xfrm>
            <a:off x="7273162" y="2982434"/>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Realizo la entrega e introduzco la posventa</a:t>
            </a:r>
          </a:p>
        </p:txBody>
      </p:sp>
      <p:sp>
        <p:nvSpPr>
          <p:cNvPr id="165" name="71 Cheurón"/>
          <p:cNvSpPr/>
          <p:nvPr>
            <p:custDataLst>
              <p:tags r:id="rId40"/>
            </p:custDataLst>
          </p:nvPr>
        </p:nvSpPr>
        <p:spPr>
          <a:xfrm>
            <a:off x="8068521" y="2982434"/>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Pido feedback y analizo resultados</a:t>
            </a:r>
          </a:p>
        </p:txBody>
      </p:sp>
      <p:sp>
        <p:nvSpPr>
          <p:cNvPr id="166" name="71 Cheurón"/>
          <p:cNvSpPr/>
          <p:nvPr>
            <p:custDataLst>
              <p:tags r:id="rId41"/>
            </p:custDataLst>
          </p:nvPr>
        </p:nvSpPr>
        <p:spPr>
          <a:xfrm>
            <a:off x="8863883" y="2982434"/>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Mejoro mi atención</a:t>
            </a:r>
          </a:p>
        </p:txBody>
      </p:sp>
      <p:sp>
        <p:nvSpPr>
          <p:cNvPr id="167" name="71 Cheurón"/>
          <p:cNvSpPr/>
          <p:nvPr>
            <p:custDataLst>
              <p:tags r:id="rId42"/>
            </p:custDataLst>
          </p:nvPr>
        </p:nvSpPr>
        <p:spPr>
          <a:xfrm>
            <a:off x="298663" y="2982434"/>
            <a:ext cx="572268" cy="360000"/>
          </a:xfrm>
          <a:prstGeom prst="chevron">
            <a:avLst>
              <a:gd name="adj" fmla="val 0"/>
            </a:avLst>
          </a:prstGeom>
          <a:solidFill>
            <a:srgbClr val="323232"/>
          </a:solidFill>
          <a:ln w="12700" cap="flat" cmpd="sng" algn="ctr">
            <a:noFill/>
            <a:prstDash val="solid"/>
          </a:ln>
          <a:effectLst>
            <a:outerShdw blurRad="50800" dist="38100" dir="5400000" algn="t" rotWithShape="0">
              <a:prstClr val="black">
                <a:alpha val="40000"/>
              </a:prstClr>
            </a:outerShdw>
          </a:effectLst>
        </p:spPr>
        <p:txBody>
          <a:bodyPr lIns="18000" rIns="18000" rtlCol="0" anchor="ctr"/>
          <a:lstStyle/>
          <a:p>
            <a:pPr algn="ctr" defTabSz="825500"/>
            <a:r>
              <a:rPr lang="es-ES" sz="700" kern="0" dirty="0">
                <a:solidFill>
                  <a:prstClr val="white"/>
                </a:solidFill>
                <a:latin typeface="Century Gothic" panose="020B0502020202020204" pitchFamily="34" charset="0"/>
                <a:cs typeface="Arial" panose="020B0604020202020204" pitchFamily="34" charset="0"/>
                <a:sym typeface="Calibri"/>
              </a:rPr>
              <a:t>VENTAS</a:t>
            </a:r>
          </a:p>
        </p:txBody>
      </p:sp>
      <p:sp>
        <p:nvSpPr>
          <p:cNvPr id="191" name="71 Cheurón"/>
          <p:cNvSpPr/>
          <p:nvPr>
            <p:custDataLst>
              <p:tags r:id="rId43"/>
            </p:custDataLst>
          </p:nvPr>
        </p:nvSpPr>
        <p:spPr>
          <a:xfrm>
            <a:off x="2504740" y="3402536"/>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Explico Paquete Cerrado o Campaña</a:t>
            </a:r>
          </a:p>
        </p:txBody>
      </p:sp>
      <p:sp>
        <p:nvSpPr>
          <p:cNvPr id="192" name="71 Cheurón"/>
          <p:cNvSpPr/>
          <p:nvPr>
            <p:custDataLst>
              <p:tags r:id="rId44"/>
            </p:custDataLst>
          </p:nvPr>
        </p:nvSpPr>
        <p:spPr>
          <a:xfrm>
            <a:off x="914022" y="3402536"/>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Preparo Argumentación SSOO</a:t>
            </a:r>
          </a:p>
        </p:txBody>
      </p:sp>
      <p:sp>
        <p:nvSpPr>
          <p:cNvPr id="193" name="71 Cheurón"/>
          <p:cNvSpPr/>
          <p:nvPr>
            <p:custDataLst>
              <p:tags r:id="rId45"/>
            </p:custDataLst>
          </p:nvPr>
        </p:nvSpPr>
        <p:spPr>
          <a:xfrm>
            <a:off x="1709381" y="3402536"/>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Explico Plan de Mantenimiento</a:t>
            </a:r>
          </a:p>
        </p:txBody>
      </p:sp>
      <p:sp>
        <p:nvSpPr>
          <p:cNvPr id="194" name="193 Cheurón"/>
          <p:cNvSpPr/>
          <p:nvPr>
            <p:custDataLst>
              <p:tags r:id="rId46"/>
            </p:custDataLst>
          </p:nvPr>
        </p:nvSpPr>
        <p:spPr>
          <a:xfrm>
            <a:off x="3300099" y="3402536"/>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Propongo cita</a:t>
            </a:r>
          </a:p>
        </p:txBody>
      </p:sp>
      <p:sp>
        <p:nvSpPr>
          <p:cNvPr id="195" name="71 Cheurón"/>
          <p:cNvSpPr/>
          <p:nvPr>
            <p:custDataLst>
              <p:tags r:id="rId47"/>
            </p:custDataLst>
          </p:nvPr>
        </p:nvSpPr>
        <p:spPr>
          <a:xfrm>
            <a:off x="4095458" y="3402536"/>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Recepción Activa &amp; Cross</a:t>
            </a:r>
          </a:p>
        </p:txBody>
      </p:sp>
      <p:sp>
        <p:nvSpPr>
          <p:cNvPr id="196" name="71 Cheurón"/>
          <p:cNvSpPr/>
          <p:nvPr>
            <p:custDataLst>
              <p:tags r:id="rId48"/>
            </p:custDataLst>
          </p:nvPr>
        </p:nvSpPr>
        <p:spPr>
          <a:xfrm>
            <a:off x="4890817" y="3402536"/>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Preparo Presupuesto</a:t>
            </a:r>
          </a:p>
        </p:txBody>
      </p:sp>
      <p:sp>
        <p:nvSpPr>
          <p:cNvPr id="197" name="71 Cheurón"/>
          <p:cNvSpPr/>
          <p:nvPr>
            <p:custDataLst>
              <p:tags r:id="rId49"/>
            </p:custDataLst>
          </p:nvPr>
        </p:nvSpPr>
        <p:spPr>
          <a:xfrm>
            <a:off x="6481535" y="3402536"/>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Planifico Hora de Entrega</a:t>
            </a:r>
          </a:p>
        </p:txBody>
      </p:sp>
      <p:sp>
        <p:nvSpPr>
          <p:cNvPr id="198" name="71 Cheurón"/>
          <p:cNvSpPr/>
          <p:nvPr>
            <p:custDataLst>
              <p:tags r:id="rId50"/>
            </p:custDataLst>
          </p:nvPr>
        </p:nvSpPr>
        <p:spPr>
          <a:xfrm>
            <a:off x="5686176" y="3402536"/>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Envío OR al Taller</a:t>
            </a:r>
          </a:p>
        </p:txBody>
      </p:sp>
      <p:sp>
        <p:nvSpPr>
          <p:cNvPr id="199" name="71 Cheurón"/>
          <p:cNvSpPr/>
          <p:nvPr>
            <p:custDataLst>
              <p:tags r:id="rId51"/>
            </p:custDataLst>
          </p:nvPr>
        </p:nvSpPr>
        <p:spPr>
          <a:xfrm>
            <a:off x="7276894" y="3402536"/>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Preparo Documentación</a:t>
            </a:r>
          </a:p>
        </p:txBody>
      </p:sp>
      <p:sp>
        <p:nvSpPr>
          <p:cNvPr id="200" name="71 Cheurón"/>
          <p:cNvSpPr/>
          <p:nvPr>
            <p:custDataLst>
              <p:tags r:id="rId52"/>
            </p:custDataLst>
          </p:nvPr>
        </p:nvSpPr>
        <p:spPr>
          <a:xfrm>
            <a:off x="8072253" y="3402536"/>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Realizo el pago y entrega</a:t>
            </a:r>
          </a:p>
        </p:txBody>
      </p:sp>
      <p:sp>
        <p:nvSpPr>
          <p:cNvPr id="201" name="71 Cheurón"/>
          <p:cNvSpPr/>
          <p:nvPr>
            <p:custDataLst>
              <p:tags r:id="rId53"/>
            </p:custDataLst>
          </p:nvPr>
        </p:nvSpPr>
        <p:spPr>
          <a:xfrm>
            <a:off x="8867615" y="3402536"/>
            <a:ext cx="756000" cy="360000"/>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Avenir 35" panose="00000400000000000000" pitchFamily="2" charset="0"/>
                <a:cs typeface="Arial" panose="020B0604020202020204" pitchFamily="34" charset="0"/>
                <a:sym typeface="Calibri"/>
              </a:rPr>
              <a:t>Mejoro mi atención</a:t>
            </a:r>
          </a:p>
        </p:txBody>
      </p:sp>
      <p:sp>
        <p:nvSpPr>
          <p:cNvPr id="202" name="71 Cheurón"/>
          <p:cNvSpPr/>
          <p:nvPr>
            <p:custDataLst>
              <p:tags r:id="rId54"/>
            </p:custDataLst>
          </p:nvPr>
        </p:nvSpPr>
        <p:spPr>
          <a:xfrm>
            <a:off x="302395" y="3402536"/>
            <a:ext cx="572268" cy="360000"/>
          </a:xfrm>
          <a:prstGeom prst="chevron">
            <a:avLst>
              <a:gd name="adj" fmla="val 0"/>
            </a:avLst>
          </a:prstGeom>
          <a:solidFill>
            <a:srgbClr val="323232"/>
          </a:solidFill>
          <a:ln w="12700" cap="flat" cmpd="sng" algn="ctr">
            <a:noFill/>
            <a:prstDash val="solid"/>
          </a:ln>
          <a:effectLst>
            <a:outerShdw blurRad="50800" dist="38100" dir="5400000" algn="t" rotWithShape="0">
              <a:prstClr val="black">
                <a:alpha val="40000"/>
              </a:prstClr>
            </a:outerShdw>
          </a:effectLst>
        </p:spPr>
        <p:txBody>
          <a:bodyPr lIns="18000" rIns="18000" rtlCol="0" anchor="ctr"/>
          <a:lstStyle/>
          <a:p>
            <a:pPr algn="ctr" defTabSz="825500"/>
            <a:r>
              <a:rPr lang="es-ES" sz="700" kern="0" dirty="0">
                <a:solidFill>
                  <a:prstClr val="white"/>
                </a:solidFill>
                <a:latin typeface="Century Gothic" panose="020B0502020202020204" pitchFamily="34" charset="0"/>
                <a:cs typeface="Arial" panose="020B0604020202020204" pitchFamily="34" charset="0"/>
                <a:sym typeface="Calibri"/>
              </a:rPr>
              <a:t>POSVENTA</a:t>
            </a:r>
          </a:p>
        </p:txBody>
      </p:sp>
      <p:sp>
        <p:nvSpPr>
          <p:cNvPr id="203" name="Rectángulo redondeado 3"/>
          <p:cNvSpPr/>
          <p:nvPr/>
        </p:nvSpPr>
        <p:spPr>
          <a:xfrm>
            <a:off x="229553" y="3906592"/>
            <a:ext cx="9453524" cy="2556000"/>
          </a:xfrm>
          <a:prstGeom prst="rect">
            <a:avLst/>
          </a:prstGeom>
          <a:solidFill>
            <a:srgbClr val="4BACC6"/>
          </a:solidFill>
          <a:ln w="9525">
            <a:noFill/>
            <a:miter lim="800000"/>
            <a:headEnd/>
            <a:tailEnd/>
          </a:ln>
        </p:spPr>
        <p:txBody>
          <a:bodyPr wrap="square" lIns="91401" tIns="45699" rIns="91401" bIns="45699" anchor="t">
            <a:spAutoFit/>
          </a:bodyPr>
          <a:lstStyle/>
          <a:p>
            <a:pPr algn="ctr"/>
            <a:r>
              <a:rPr lang="en-US" sz="1100" b="1" dirty="0">
                <a:solidFill>
                  <a:srgbClr val="FFFFFF"/>
                </a:solidFill>
                <a:latin typeface="Avenir 65" panose="02000600000000000000" pitchFamily="2" charset="0"/>
                <a:cs typeface="Avenir 35 Light"/>
              </a:rPr>
              <a:t>Oficina de Campañas</a:t>
            </a:r>
          </a:p>
          <a:p>
            <a:pPr algn="ctr"/>
            <a:endParaRPr lang="es-ES" sz="1100" b="1" dirty="0">
              <a:solidFill>
                <a:srgbClr val="FFFFFF"/>
              </a:solidFill>
              <a:latin typeface="Avenir 65" panose="02000600000000000000" pitchFamily="2" charset="0"/>
              <a:cs typeface="Avenir 35 Light"/>
            </a:endParaRPr>
          </a:p>
          <a:p>
            <a:pPr algn="ctr"/>
            <a:endParaRPr lang="es-ES" sz="1100" b="1" dirty="0">
              <a:solidFill>
                <a:srgbClr val="FFFFFF"/>
              </a:solidFill>
              <a:latin typeface="Avenir 65" panose="02000600000000000000" pitchFamily="2" charset="0"/>
              <a:cs typeface="Avenir 35 Light"/>
            </a:endParaRPr>
          </a:p>
          <a:p>
            <a:pPr algn="ctr"/>
            <a:endParaRPr lang="es-ES" sz="1100" b="1" dirty="0">
              <a:solidFill>
                <a:srgbClr val="FFFFFF"/>
              </a:solidFill>
              <a:latin typeface="Avenir 65" panose="02000600000000000000" pitchFamily="2" charset="0"/>
              <a:cs typeface="Avenir 35 Light"/>
            </a:endParaRPr>
          </a:p>
          <a:p>
            <a:pPr algn="ctr"/>
            <a:endParaRPr lang="es-ES" sz="1100" b="1" dirty="0">
              <a:solidFill>
                <a:srgbClr val="FFFFFF"/>
              </a:solidFill>
              <a:latin typeface="Avenir 65" panose="02000600000000000000" pitchFamily="2" charset="0"/>
              <a:cs typeface="Avenir 35 Light"/>
            </a:endParaRPr>
          </a:p>
          <a:p>
            <a:pPr algn="ctr"/>
            <a:endParaRPr lang="es-ES" sz="1100" b="1" dirty="0">
              <a:solidFill>
                <a:srgbClr val="FFFFFF"/>
              </a:solidFill>
              <a:latin typeface="Avenir 65" panose="02000600000000000000" pitchFamily="2" charset="0"/>
              <a:cs typeface="Avenir 35 Light"/>
            </a:endParaRPr>
          </a:p>
          <a:p>
            <a:pPr algn="ctr"/>
            <a:endParaRPr lang="es-ES" sz="1100" b="1" dirty="0">
              <a:solidFill>
                <a:srgbClr val="FFFFFF"/>
              </a:solidFill>
              <a:latin typeface="Avenir 65" panose="02000600000000000000" pitchFamily="2" charset="0"/>
              <a:cs typeface="Avenir 35 Light"/>
            </a:endParaRPr>
          </a:p>
          <a:p>
            <a:pPr algn="ctr"/>
            <a:endParaRPr lang="es-ES" sz="1100" b="1" dirty="0">
              <a:solidFill>
                <a:srgbClr val="FFFFFF"/>
              </a:solidFill>
              <a:latin typeface="Avenir 65" panose="02000600000000000000" pitchFamily="2" charset="0"/>
              <a:cs typeface="Avenir 35 Light"/>
            </a:endParaRPr>
          </a:p>
          <a:p>
            <a:pPr algn="ctr"/>
            <a:endParaRPr lang="es-ES" sz="1100" b="1" dirty="0">
              <a:solidFill>
                <a:srgbClr val="FFFFFF"/>
              </a:solidFill>
              <a:latin typeface="Avenir 65" panose="02000600000000000000" pitchFamily="2" charset="0"/>
              <a:cs typeface="Avenir 35 Light"/>
            </a:endParaRPr>
          </a:p>
          <a:p>
            <a:pPr algn="ctr"/>
            <a:endParaRPr lang="es-ES" sz="1100" b="1" dirty="0">
              <a:solidFill>
                <a:srgbClr val="FFFFFF"/>
              </a:solidFill>
              <a:latin typeface="Avenir 65" panose="02000600000000000000" pitchFamily="2" charset="0"/>
              <a:cs typeface="Avenir 35 Light"/>
            </a:endParaRPr>
          </a:p>
          <a:p>
            <a:pPr algn="ctr"/>
            <a:endParaRPr lang="es-ES" sz="1100" b="1" dirty="0">
              <a:solidFill>
                <a:srgbClr val="FFFFFF"/>
              </a:solidFill>
              <a:latin typeface="Avenir 65" panose="02000600000000000000" pitchFamily="2" charset="0"/>
              <a:cs typeface="Avenir 35 Light"/>
            </a:endParaRPr>
          </a:p>
          <a:p>
            <a:pPr algn="ctr"/>
            <a:endParaRPr lang="es-ES" sz="1100" b="1" dirty="0">
              <a:solidFill>
                <a:srgbClr val="FFFFFF"/>
              </a:solidFill>
              <a:latin typeface="Avenir 65" panose="02000600000000000000" pitchFamily="2" charset="0"/>
              <a:cs typeface="Avenir 35 Light"/>
            </a:endParaRPr>
          </a:p>
          <a:p>
            <a:pPr algn="ctr"/>
            <a:endParaRPr lang="es-ES" sz="1100" b="1" dirty="0">
              <a:solidFill>
                <a:srgbClr val="FFFFFF"/>
              </a:solidFill>
              <a:latin typeface="Avenir 65" panose="02000600000000000000" pitchFamily="2" charset="0"/>
              <a:cs typeface="Avenir 35 Light"/>
            </a:endParaRPr>
          </a:p>
          <a:p>
            <a:pPr algn="ctr"/>
            <a:endParaRPr lang="es-ES" sz="1100" b="1" dirty="0">
              <a:solidFill>
                <a:srgbClr val="FFFFFF"/>
              </a:solidFill>
              <a:latin typeface="Avenir 65" panose="02000600000000000000" pitchFamily="2" charset="0"/>
              <a:cs typeface="Avenir 35 Light"/>
            </a:endParaRPr>
          </a:p>
          <a:p>
            <a:pPr algn="ctr"/>
            <a:endParaRPr lang="en-US" sz="1100" b="1" dirty="0">
              <a:solidFill>
                <a:srgbClr val="FFFFFF"/>
              </a:solidFill>
              <a:latin typeface="Avenir 65" panose="02000600000000000000" pitchFamily="2" charset="0"/>
              <a:cs typeface="Avenir 35 Light"/>
            </a:endParaRPr>
          </a:p>
        </p:txBody>
      </p:sp>
      <p:sp>
        <p:nvSpPr>
          <p:cNvPr id="209" name="71 Cheurón"/>
          <p:cNvSpPr/>
          <p:nvPr>
            <p:custDataLst>
              <p:tags r:id="rId55"/>
            </p:custDataLst>
          </p:nvPr>
        </p:nvSpPr>
        <p:spPr>
          <a:xfrm>
            <a:off x="302395" y="4196308"/>
            <a:ext cx="4690567" cy="204213"/>
          </a:xfrm>
          <a:prstGeom prst="chevron">
            <a:avLst>
              <a:gd name="adj" fmla="val 0"/>
            </a:avLst>
          </a:prstGeom>
          <a:solidFill>
            <a:srgbClr val="323232"/>
          </a:solidFill>
          <a:ln w="12700" cap="flat" cmpd="sng" algn="ctr">
            <a:noFill/>
            <a:prstDash val="solid"/>
          </a:ln>
          <a:effectLst/>
        </p:spPr>
        <p:txBody>
          <a:bodyPr lIns="18000" rIns="18000" rtlCol="0" anchor="ctr"/>
          <a:lstStyle/>
          <a:p>
            <a:pPr algn="ctr" defTabSz="825500"/>
            <a:r>
              <a:rPr lang="es-ES" sz="900" kern="0" dirty="0">
                <a:solidFill>
                  <a:prstClr val="white"/>
                </a:solidFill>
                <a:latin typeface="Century Gothic" panose="020B0502020202020204" pitchFamily="34" charset="0"/>
                <a:cs typeface="Arial" panose="020B0604020202020204" pitchFamily="34" charset="0"/>
                <a:sym typeface="Calibri"/>
              </a:rPr>
              <a:t>ESTRATEGIA</a:t>
            </a:r>
          </a:p>
        </p:txBody>
      </p:sp>
      <p:sp>
        <p:nvSpPr>
          <p:cNvPr id="210" name="71 Cheurón"/>
          <p:cNvSpPr/>
          <p:nvPr>
            <p:custDataLst>
              <p:tags r:id="rId56"/>
            </p:custDataLst>
          </p:nvPr>
        </p:nvSpPr>
        <p:spPr>
          <a:xfrm>
            <a:off x="5172601" y="4196307"/>
            <a:ext cx="4411362" cy="204213"/>
          </a:xfrm>
          <a:prstGeom prst="chevron">
            <a:avLst>
              <a:gd name="adj" fmla="val 0"/>
            </a:avLst>
          </a:prstGeom>
          <a:solidFill>
            <a:srgbClr val="323232"/>
          </a:solidFill>
          <a:ln w="12700" cap="flat" cmpd="sng" algn="ctr">
            <a:solidFill>
              <a:srgbClr val="323232"/>
            </a:solidFill>
            <a:prstDash val="solid"/>
          </a:ln>
          <a:effectLst/>
        </p:spPr>
        <p:txBody>
          <a:bodyPr lIns="18000" rIns="18000" rtlCol="0" anchor="ctr"/>
          <a:lstStyle/>
          <a:p>
            <a:pPr algn="ctr" defTabSz="825500"/>
            <a:r>
              <a:rPr lang="es-ES" sz="900" kern="0" dirty="0">
                <a:solidFill>
                  <a:prstClr val="white"/>
                </a:solidFill>
                <a:latin typeface="Century Gothic" panose="020B0502020202020204" pitchFamily="34" charset="0"/>
                <a:cs typeface="Arial" panose="020B0604020202020204" pitchFamily="34" charset="0"/>
                <a:sym typeface="Calibri"/>
              </a:rPr>
              <a:t>OPERATIVA</a:t>
            </a:r>
          </a:p>
        </p:txBody>
      </p:sp>
      <p:sp>
        <p:nvSpPr>
          <p:cNvPr id="204" name="71 Cheurón"/>
          <p:cNvSpPr/>
          <p:nvPr>
            <p:custDataLst>
              <p:tags r:id="rId57"/>
            </p:custDataLst>
          </p:nvPr>
        </p:nvSpPr>
        <p:spPr>
          <a:xfrm>
            <a:off x="302395" y="4439432"/>
            <a:ext cx="1440000" cy="180000"/>
          </a:xfrm>
          <a:prstGeom prst="chevron">
            <a:avLst>
              <a:gd name="adj" fmla="val 0"/>
            </a:avLst>
          </a:prstGeom>
          <a:solidFill>
            <a:srgbClr val="323232"/>
          </a:solidFill>
          <a:ln w="12700" cap="flat" cmpd="sng" algn="ctr">
            <a:noFill/>
            <a:prstDash val="solid"/>
          </a:ln>
          <a:effectLst/>
        </p:spPr>
        <p:txBody>
          <a:bodyPr lIns="18000" rIns="18000" rtlCol="0" anchor="ctr"/>
          <a:lstStyle/>
          <a:p>
            <a:pPr algn="ctr" defTabSz="825500"/>
            <a:r>
              <a:rPr lang="es-ES" sz="700" kern="0" dirty="0">
                <a:solidFill>
                  <a:prstClr val="white"/>
                </a:solidFill>
                <a:latin typeface="Century Gothic" panose="020B0502020202020204" pitchFamily="34" charset="0"/>
                <a:cs typeface="Arial" panose="020B0604020202020204" pitchFamily="34" charset="0"/>
                <a:sym typeface="Calibri"/>
              </a:rPr>
              <a:t>Entendimiento</a:t>
            </a:r>
          </a:p>
        </p:txBody>
      </p:sp>
      <p:sp>
        <p:nvSpPr>
          <p:cNvPr id="211" name="71 Cheurón"/>
          <p:cNvSpPr/>
          <p:nvPr>
            <p:custDataLst>
              <p:tags r:id="rId58"/>
            </p:custDataLst>
          </p:nvPr>
        </p:nvSpPr>
        <p:spPr>
          <a:xfrm>
            <a:off x="307961" y="4666773"/>
            <a:ext cx="1434434" cy="1728192"/>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t"/>
          <a:lstStyle/>
          <a:p>
            <a:pPr marL="171450" indent="-171450" defTabSz="825500">
              <a:buFontTx/>
              <a:buChar char="-"/>
            </a:pPr>
            <a:r>
              <a:rPr lang="es-ES" sz="800" kern="0" dirty="0">
                <a:solidFill>
                  <a:schemeClr val="tx1">
                    <a:lumMod val="65000"/>
                    <a:lumOff val="35000"/>
                  </a:schemeClr>
                </a:solidFill>
                <a:latin typeface="Avenir 35" panose="00000400000000000000" pitchFamily="2" charset="0"/>
                <a:cs typeface="Arial" panose="020B0604020202020204" pitchFamily="34" charset="0"/>
                <a:sym typeface="Calibri"/>
              </a:rPr>
              <a:t>Entender Briefing Easy Money.</a:t>
            </a:r>
          </a:p>
          <a:p>
            <a:pPr marL="171450" indent="-171450" defTabSz="825500">
              <a:buFontTx/>
              <a:buChar char="-"/>
            </a:pPr>
            <a:r>
              <a:rPr lang="es-ES" sz="800" kern="0" dirty="0">
                <a:solidFill>
                  <a:schemeClr val="tx1">
                    <a:lumMod val="65000"/>
                    <a:lumOff val="35000"/>
                  </a:schemeClr>
                </a:solidFill>
                <a:latin typeface="Avenir 35" panose="00000400000000000000" pitchFamily="2" charset="0"/>
                <a:cs typeface="Arial" panose="020B0604020202020204" pitchFamily="34" charset="0"/>
                <a:sym typeface="Calibri"/>
              </a:rPr>
              <a:t>Ponderar las necesidades de los clientes. (Social,…)</a:t>
            </a:r>
          </a:p>
          <a:p>
            <a:pPr marL="171450" indent="-171450" defTabSz="825500">
              <a:buFontTx/>
              <a:buChar char="-"/>
            </a:pPr>
            <a:r>
              <a:rPr lang="es-ES" sz="800" kern="0" dirty="0">
                <a:solidFill>
                  <a:schemeClr val="tx1">
                    <a:lumMod val="65000"/>
                    <a:lumOff val="35000"/>
                  </a:schemeClr>
                </a:solidFill>
                <a:latin typeface="Avenir 35" panose="00000400000000000000" pitchFamily="2" charset="0"/>
                <a:cs typeface="Arial" panose="020B0604020202020204" pitchFamily="34" charset="0"/>
                <a:sym typeface="Calibri"/>
              </a:rPr>
              <a:t>Ponderar las necesidades de los Dealers o SSOO.</a:t>
            </a:r>
          </a:p>
          <a:p>
            <a:pPr marL="171450" indent="-171450" defTabSz="825500">
              <a:buFontTx/>
              <a:buChar char="-"/>
            </a:pPr>
            <a:r>
              <a:rPr lang="es-ES" sz="800" kern="0" dirty="0">
                <a:solidFill>
                  <a:schemeClr val="tx1">
                    <a:lumMod val="65000"/>
                    <a:lumOff val="35000"/>
                  </a:schemeClr>
                </a:solidFill>
                <a:latin typeface="Avenir 35" panose="00000400000000000000" pitchFamily="2" charset="0"/>
                <a:cs typeface="Arial" panose="020B0604020202020204" pitchFamily="34" charset="0"/>
                <a:sym typeface="Calibri"/>
              </a:rPr>
              <a:t>Modificar o Adaptar enfoque.</a:t>
            </a:r>
          </a:p>
          <a:p>
            <a:pPr marL="171450" indent="-171450" defTabSz="825500">
              <a:buFontTx/>
              <a:buChar char="-"/>
            </a:pPr>
            <a:r>
              <a:rPr lang="es-ES" sz="800" kern="0" dirty="0">
                <a:solidFill>
                  <a:schemeClr val="tx1">
                    <a:lumMod val="65000"/>
                    <a:lumOff val="35000"/>
                  </a:schemeClr>
                </a:solidFill>
                <a:latin typeface="Avenir 35" panose="00000400000000000000" pitchFamily="2" charset="0"/>
                <a:cs typeface="Arial" panose="020B0604020202020204" pitchFamily="34" charset="0"/>
                <a:sym typeface="Calibri"/>
              </a:rPr>
              <a:t>Fijar los objetivos de la campaña.</a:t>
            </a:r>
          </a:p>
        </p:txBody>
      </p:sp>
      <p:sp>
        <p:nvSpPr>
          <p:cNvPr id="205" name="71 Cheurón"/>
          <p:cNvSpPr/>
          <p:nvPr>
            <p:custDataLst>
              <p:tags r:id="rId59"/>
            </p:custDataLst>
          </p:nvPr>
        </p:nvSpPr>
        <p:spPr>
          <a:xfrm>
            <a:off x="1927678" y="4439432"/>
            <a:ext cx="1440000" cy="180000"/>
          </a:xfrm>
          <a:prstGeom prst="chevron">
            <a:avLst>
              <a:gd name="adj" fmla="val 0"/>
            </a:avLst>
          </a:prstGeom>
          <a:solidFill>
            <a:srgbClr val="323232"/>
          </a:solidFill>
          <a:ln w="12700" cap="flat" cmpd="sng" algn="ctr">
            <a:noFill/>
            <a:prstDash val="solid"/>
          </a:ln>
          <a:effectLst/>
        </p:spPr>
        <p:txBody>
          <a:bodyPr lIns="18000" rIns="18000" rtlCol="0" anchor="ctr"/>
          <a:lstStyle/>
          <a:p>
            <a:pPr algn="ctr" defTabSz="825500"/>
            <a:r>
              <a:rPr lang="es-ES" sz="700" kern="0" dirty="0">
                <a:solidFill>
                  <a:prstClr val="white"/>
                </a:solidFill>
                <a:latin typeface="Century Gothic" panose="020B0502020202020204" pitchFamily="34" charset="0"/>
                <a:cs typeface="Arial" panose="020B0604020202020204" pitchFamily="34" charset="0"/>
                <a:sym typeface="Calibri"/>
              </a:rPr>
              <a:t>Planificación</a:t>
            </a:r>
          </a:p>
        </p:txBody>
      </p:sp>
      <p:sp>
        <p:nvSpPr>
          <p:cNvPr id="212" name="71 Cheurón"/>
          <p:cNvSpPr/>
          <p:nvPr>
            <p:custDataLst>
              <p:tags r:id="rId60"/>
            </p:custDataLst>
          </p:nvPr>
        </p:nvSpPr>
        <p:spPr>
          <a:xfrm>
            <a:off x="1927678" y="4666773"/>
            <a:ext cx="1429514" cy="1728192"/>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t"/>
          <a:lstStyle/>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Definir parámetros de segmentación.</a:t>
            </a:r>
          </a:p>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Analizar Mapa de contactos con clientes.</a:t>
            </a:r>
          </a:p>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Acordar los Touchpoints con los actores involucrados: Business Units, Dealer, Call Center,…</a:t>
            </a:r>
          </a:p>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Definir los canales de comunicación.</a:t>
            </a:r>
          </a:p>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Reglas de Convivencia.</a:t>
            </a:r>
          </a:p>
          <a:p>
            <a:pPr marL="171450" lvl="0" indent="-171450" defTabSz="825500">
              <a:buFontTx/>
              <a:buChar char="-"/>
            </a:pPr>
            <a:r>
              <a:rPr lang="en-US" sz="800" kern="0" dirty="0">
                <a:solidFill>
                  <a:prstClr val="black">
                    <a:lumMod val="65000"/>
                    <a:lumOff val="35000"/>
                  </a:prstClr>
                </a:solidFill>
                <a:latin typeface="Avenir 35" panose="00000400000000000000" pitchFamily="2" charset="0"/>
                <a:cs typeface="Arial" panose="020B0604020202020204" pitchFamily="34" charset="0"/>
                <a:sym typeface="Calibri"/>
              </a:rPr>
              <a:t>Benchmark</a:t>
            </a: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 Competencia.</a:t>
            </a:r>
          </a:p>
          <a:p>
            <a:pPr marL="171450" lvl="0" indent="-171450" defTabSz="825500">
              <a:buFontTx/>
              <a:buChar char="-"/>
            </a:pPr>
            <a:endPar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endParaRPr>
          </a:p>
        </p:txBody>
      </p:sp>
      <p:sp>
        <p:nvSpPr>
          <p:cNvPr id="213" name="71 Cheurón"/>
          <p:cNvSpPr/>
          <p:nvPr>
            <p:custDataLst>
              <p:tags r:id="rId61"/>
            </p:custDataLst>
          </p:nvPr>
        </p:nvSpPr>
        <p:spPr>
          <a:xfrm>
            <a:off x="5170999" y="4652529"/>
            <a:ext cx="1429514" cy="1728192"/>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ctr"/>
          <a:lstStyle/>
          <a:p>
            <a:pPr algn="ctr" defTabSz="825500"/>
            <a:r>
              <a:rPr lang="es-ES" sz="700" kern="0" dirty="0">
                <a:solidFill>
                  <a:schemeClr val="tx1">
                    <a:lumMod val="65000"/>
                    <a:lumOff val="35000"/>
                  </a:schemeClr>
                </a:solidFill>
                <a:latin typeface="Century Gothic" panose="020B0502020202020204" pitchFamily="34" charset="0"/>
                <a:cs typeface="Arial" panose="020B0604020202020204" pitchFamily="34" charset="0"/>
                <a:sym typeface="Calibri"/>
              </a:rPr>
              <a:t>-</a:t>
            </a:r>
          </a:p>
        </p:txBody>
      </p:sp>
      <p:sp>
        <p:nvSpPr>
          <p:cNvPr id="214" name="71 Cheurón"/>
          <p:cNvSpPr/>
          <p:nvPr>
            <p:custDataLst>
              <p:tags r:id="rId62"/>
            </p:custDataLst>
          </p:nvPr>
        </p:nvSpPr>
        <p:spPr>
          <a:xfrm>
            <a:off x="6663525" y="4652529"/>
            <a:ext cx="1429514" cy="1728192"/>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t"/>
          <a:lstStyle/>
          <a:p>
            <a:pPr algn="ctr" defTabSz="825500"/>
            <a:endParaRPr lang="es-ES" sz="800" kern="0" dirty="0">
              <a:solidFill>
                <a:schemeClr val="tx1">
                  <a:lumMod val="65000"/>
                  <a:lumOff val="35000"/>
                </a:schemeClr>
              </a:solidFill>
              <a:latin typeface="Avenir 35" panose="00000400000000000000" pitchFamily="2" charset="0"/>
              <a:cs typeface="Arial" panose="020B0604020202020204" pitchFamily="34" charset="0"/>
              <a:sym typeface="Calibri"/>
            </a:endParaRPr>
          </a:p>
        </p:txBody>
      </p:sp>
      <p:sp>
        <p:nvSpPr>
          <p:cNvPr id="208" name="71 Cheurón"/>
          <p:cNvSpPr/>
          <p:nvPr>
            <p:custDataLst>
              <p:tags r:id="rId63"/>
            </p:custDataLst>
          </p:nvPr>
        </p:nvSpPr>
        <p:spPr>
          <a:xfrm>
            <a:off x="8152579" y="4448859"/>
            <a:ext cx="1440000" cy="180000"/>
          </a:xfrm>
          <a:prstGeom prst="chevron">
            <a:avLst>
              <a:gd name="adj" fmla="val 0"/>
            </a:avLst>
          </a:prstGeom>
          <a:solidFill>
            <a:srgbClr val="323232"/>
          </a:solidFill>
          <a:ln w="12700" cap="flat" cmpd="sng" algn="ctr">
            <a:noFill/>
            <a:prstDash val="solid"/>
          </a:ln>
          <a:effectLst/>
        </p:spPr>
        <p:txBody>
          <a:bodyPr lIns="18000" rIns="18000" rtlCol="0" anchor="ctr"/>
          <a:lstStyle/>
          <a:p>
            <a:pPr algn="ctr" defTabSz="825500"/>
            <a:r>
              <a:rPr lang="es-ES" sz="700" kern="0" dirty="0">
                <a:solidFill>
                  <a:prstClr val="white"/>
                </a:solidFill>
                <a:latin typeface="Century Gothic" panose="020B0502020202020204" pitchFamily="34" charset="0"/>
                <a:cs typeface="Arial" panose="020B0604020202020204" pitchFamily="34" charset="0"/>
                <a:sym typeface="Calibri"/>
              </a:rPr>
              <a:t>Optimización</a:t>
            </a:r>
          </a:p>
        </p:txBody>
      </p:sp>
      <p:sp>
        <p:nvSpPr>
          <p:cNvPr id="215" name="71 Cheurón"/>
          <p:cNvSpPr/>
          <p:nvPr>
            <p:custDataLst>
              <p:tags r:id="rId64"/>
            </p:custDataLst>
          </p:nvPr>
        </p:nvSpPr>
        <p:spPr>
          <a:xfrm>
            <a:off x="8157822" y="4666773"/>
            <a:ext cx="1429514" cy="1728192"/>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t"/>
          <a:lstStyle/>
          <a:p>
            <a:pPr marL="17145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Actualización de los datos de clientes impactados.</a:t>
            </a:r>
          </a:p>
          <a:p>
            <a:pPr marL="17145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Compartir  con las Business Units de Easy Money los resultados de campaña, para analizar su recurrencia o perfilado.</a:t>
            </a:r>
          </a:p>
          <a:p>
            <a:pPr marL="17145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Compartir resultados de campaña con los diferentes actores involucrados: Dealers, Call Center, …</a:t>
            </a:r>
          </a:p>
          <a:p>
            <a:pPr marL="17145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Diseño de Rankings.</a:t>
            </a:r>
          </a:p>
          <a:p>
            <a:pPr marL="171450" indent="-171450" defTabSz="825500">
              <a:buFontTx/>
              <a:buChar char="-"/>
            </a:pPr>
            <a:endPar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endParaRPr>
          </a:p>
        </p:txBody>
      </p:sp>
      <p:sp>
        <p:nvSpPr>
          <p:cNvPr id="102" name="71 Cheurón"/>
          <p:cNvSpPr/>
          <p:nvPr>
            <p:custDataLst>
              <p:tags r:id="rId65"/>
            </p:custDataLst>
          </p:nvPr>
        </p:nvSpPr>
        <p:spPr>
          <a:xfrm>
            <a:off x="3552962" y="4439432"/>
            <a:ext cx="1440000" cy="180000"/>
          </a:xfrm>
          <a:prstGeom prst="chevron">
            <a:avLst>
              <a:gd name="adj" fmla="val 0"/>
            </a:avLst>
          </a:prstGeom>
          <a:solidFill>
            <a:srgbClr val="323232"/>
          </a:solidFill>
          <a:ln w="12700" cap="flat" cmpd="sng" algn="ctr">
            <a:noFill/>
            <a:prstDash val="solid"/>
          </a:ln>
          <a:effectLst/>
        </p:spPr>
        <p:txBody>
          <a:bodyPr lIns="18000" rIns="18000" rtlCol="0" anchor="ctr"/>
          <a:lstStyle/>
          <a:p>
            <a:pPr algn="ctr" defTabSz="825500"/>
            <a:r>
              <a:rPr lang="es-ES" sz="700" kern="0" dirty="0">
                <a:solidFill>
                  <a:prstClr val="white"/>
                </a:solidFill>
                <a:latin typeface="Century Gothic" panose="020B0502020202020204" pitchFamily="34" charset="0"/>
                <a:cs typeface="Arial" panose="020B0604020202020204" pitchFamily="34" charset="0"/>
                <a:sym typeface="Calibri"/>
              </a:rPr>
              <a:t>Diseño</a:t>
            </a:r>
          </a:p>
        </p:txBody>
      </p:sp>
      <p:sp>
        <p:nvSpPr>
          <p:cNvPr id="103" name="71 Cheurón"/>
          <p:cNvSpPr/>
          <p:nvPr>
            <p:custDataLst>
              <p:tags r:id="rId66"/>
            </p:custDataLst>
          </p:nvPr>
        </p:nvSpPr>
        <p:spPr>
          <a:xfrm>
            <a:off x="3552962" y="4666773"/>
            <a:ext cx="1429514" cy="1728192"/>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t"/>
          <a:lstStyle/>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Definición de los mensajes y comunicaciones.</a:t>
            </a:r>
          </a:p>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Diseño de creatividades en base a los estándares marcados por Easy Money.</a:t>
            </a:r>
          </a:p>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Reglas de Convivencia.</a:t>
            </a:r>
          </a:p>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Extracción y Validación de las segmentaciones (Business Units, Dealer,…).</a:t>
            </a:r>
          </a:p>
          <a:p>
            <a:pPr marL="171450" lvl="0" indent="-171450" defTabSz="825500">
              <a:buFontTx/>
              <a:buChar char="-"/>
            </a:pPr>
            <a:r>
              <a:rPr lang="en-US" sz="800" kern="0" dirty="0">
                <a:solidFill>
                  <a:prstClr val="black">
                    <a:lumMod val="65000"/>
                    <a:lumOff val="35000"/>
                  </a:prstClr>
                </a:solidFill>
                <a:latin typeface="Avenir 35" panose="00000400000000000000" pitchFamily="2" charset="0"/>
                <a:cs typeface="Arial" panose="020B0604020202020204" pitchFamily="34" charset="0"/>
                <a:sym typeface="Calibri"/>
              </a:rPr>
              <a:t>Forecast</a:t>
            </a: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t esperado.</a:t>
            </a:r>
          </a:p>
          <a:p>
            <a:pPr marL="171450" lvl="0" indent="-171450" defTabSz="825500">
              <a:buFontTx/>
              <a:buChar char="-"/>
            </a:pPr>
            <a:endPar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endParaRPr>
          </a:p>
        </p:txBody>
      </p:sp>
      <p:sp>
        <p:nvSpPr>
          <p:cNvPr id="206" name="71 Cheurón"/>
          <p:cNvSpPr/>
          <p:nvPr>
            <p:custDataLst>
              <p:tags r:id="rId67"/>
            </p:custDataLst>
          </p:nvPr>
        </p:nvSpPr>
        <p:spPr>
          <a:xfrm>
            <a:off x="5170999" y="4448859"/>
            <a:ext cx="1440000" cy="180000"/>
          </a:xfrm>
          <a:prstGeom prst="chevron">
            <a:avLst>
              <a:gd name="adj" fmla="val 0"/>
            </a:avLst>
          </a:prstGeom>
          <a:solidFill>
            <a:srgbClr val="323232"/>
          </a:solidFill>
          <a:ln w="12700" cap="flat" cmpd="sng" algn="ctr">
            <a:noFill/>
            <a:prstDash val="solid"/>
          </a:ln>
          <a:effectLst/>
        </p:spPr>
        <p:txBody>
          <a:bodyPr lIns="18000" rIns="18000" rtlCol="0" anchor="ctr"/>
          <a:lstStyle/>
          <a:p>
            <a:pPr algn="ctr" defTabSz="825500"/>
            <a:r>
              <a:rPr lang="es-ES" sz="700" kern="0" dirty="0">
                <a:solidFill>
                  <a:prstClr val="white"/>
                </a:solidFill>
                <a:latin typeface="Century Gothic" panose="020B0502020202020204" pitchFamily="34" charset="0"/>
                <a:cs typeface="Arial" panose="020B0604020202020204" pitchFamily="34" charset="0"/>
                <a:sym typeface="Calibri"/>
              </a:rPr>
              <a:t>Ejecución</a:t>
            </a:r>
          </a:p>
        </p:txBody>
      </p:sp>
      <p:sp>
        <p:nvSpPr>
          <p:cNvPr id="104" name="71 Cheurón"/>
          <p:cNvSpPr/>
          <p:nvPr>
            <p:custDataLst>
              <p:tags r:id="rId68"/>
            </p:custDataLst>
          </p:nvPr>
        </p:nvSpPr>
        <p:spPr>
          <a:xfrm>
            <a:off x="5176242" y="4666773"/>
            <a:ext cx="1429514" cy="1728192"/>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t"/>
          <a:lstStyle/>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Depuración de Segmentaciones (Clientes Robinson, Visitas no registradas,…)</a:t>
            </a:r>
          </a:p>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Envío de las fichas de campañas, argumentarios de campaña para optimizar el resultado de la campaña.</a:t>
            </a:r>
          </a:p>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Ejecutar las campañas con los medios acordados.</a:t>
            </a:r>
          </a:p>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Workflows de operativa.</a:t>
            </a:r>
          </a:p>
          <a:p>
            <a:pPr marL="171450" lvl="0" indent="-171450" defTabSz="825500">
              <a:buFontTx/>
              <a:buChar char="-"/>
            </a:pPr>
            <a:endPar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endParaRPr>
          </a:p>
        </p:txBody>
      </p:sp>
      <p:sp>
        <p:nvSpPr>
          <p:cNvPr id="207" name="71 Cheurón"/>
          <p:cNvSpPr/>
          <p:nvPr>
            <p:custDataLst>
              <p:tags r:id="rId69"/>
            </p:custDataLst>
          </p:nvPr>
        </p:nvSpPr>
        <p:spPr>
          <a:xfrm>
            <a:off x="6663525" y="4448859"/>
            <a:ext cx="1440000" cy="180000"/>
          </a:xfrm>
          <a:prstGeom prst="chevron">
            <a:avLst>
              <a:gd name="adj" fmla="val 0"/>
            </a:avLst>
          </a:prstGeom>
          <a:solidFill>
            <a:srgbClr val="323232"/>
          </a:solidFill>
          <a:ln w="12700" cap="flat" cmpd="sng" algn="ctr">
            <a:noFill/>
            <a:prstDash val="solid"/>
          </a:ln>
          <a:effectLst/>
        </p:spPr>
        <p:txBody>
          <a:bodyPr lIns="18000" rIns="18000" rtlCol="0" anchor="ctr"/>
          <a:lstStyle/>
          <a:p>
            <a:pPr algn="ctr" defTabSz="825500"/>
            <a:r>
              <a:rPr lang="es-ES" sz="700" kern="0" dirty="0">
                <a:solidFill>
                  <a:prstClr val="white"/>
                </a:solidFill>
                <a:latin typeface="Century Gothic" panose="020B0502020202020204" pitchFamily="34" charset="0"/>
                <a:cs typeface="Arial" panose="020B0604020202020204" pitchFamily="34" charset="0"/>
                <a:sym typeface="Calibri"/>
              </a:rPr>
              <a:t>Monitorización</a:t>
            </a:r>
          </a:p>
        </p:txBody>
      </p:sp>
      <p:sp>
        <p:nvSpPr>
          <p:cNvPr id="105" name="71 Cheurón"/>
          <p:cNvSpPr/>
          <p:nvPr>
            <p:custDataLst>
              <p:tags r:id="rId70"/>
            </p:custDataLst>
          </p:nvPr>
        </p:nvSpPr>
        <p:spPr>
          <a:xfrm>
            <a:off x="6663525" y="4666773"/>
            <a:ext cx="1429514" cy="1728192"/>
          </a:xfrm>
          <a:prstGeom prst="chevron">
            <a:avLst>
              <a:gd name="adj" fmla="val 0"/>
            </a:avLst>
          </a:prstGeom>
          <a:solidFill>
            <a:schemeClr val="bg1">
              <a:lumMod val="95000"/>
            </a:schemeClr>
          </a:solidFill>
          <a:ln w="12700" cap="flat" cmpd="sng" algn="ctr">
            <a:solidFill>
              <a:schemeClr val="bg1">
                <a:lumMod val="95000"/>
              </a:schemeClr>
            </a:solidFill>
            <a:prstDash val="solid"/>
          </a:ln>
          <a:effectLst/>
        </p:spPr>
        <p:txBody>
          <a:bodyPr lIns="18000" rIns="18000" rtlCol="0" anchor="t"/>
          <a:lstStyle/>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Definición de KPI's con los que medir el éxito de la campaña con cada Business Units.</a:t>
            </a:r>
          </a:p>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Definir el método de recoger la información necesaria para calcular dichos KPI's: automático o manual.</a:t>
            </a:r>
          </a:p>
          <a:p>
            <a:pPr marL="171450" lvl="0" indent="-171450" defTabSz="825500">
              <a:buFontTx/>
              <a:buChar char="-"/>
            </a:pPr>
            <a:r>
              <a:rPr lang="es-ES" sz="800" kern="0" dirty="0">
                <a:solidFill>
                  <a:prstClr val="black">
                    <a:lumMod val="65000"/>
                    <a:lumOff val="35000"/>
                  </a:prstClr>
                </a:solidFill>
                <a:latin typeface="Avenir 35" panose="00000400000000000000" pitchFamily="2" charset="0"/>
                <a:cs typeface="Arial" panose="020B0604020202020204" pitchFamily="34" charset="0"/>
                <a:sym typeface="Calibri"/>
              </a:rPr>
              <a:t>Analizar los resultados finales de la campaña y compararlos con las estimaciones realizadas.</a:t>
            </a:r>
          </a:p>
        </p:txBody>
      </p:sp>
      <p:sp>
        <p:nvSpPr>
          <p:cNvPr id="94" name="AutoShape 4"/>
          <p:cNvSpPr>
            <a:spLocks noChangeArrowheads="1"/>
          </p:cNvSpPr>
          <p:nvPr/>
        </p:nvSpPr>
        <p:spPr bwMode="auto">
          <a:xfrm>
            <a:off x="-671252" y="6459542"/>
            <a:ext cx="4040076" cy="432048"/>
          </a:xfrm>
          <a:prstGeom prst="roundRect">
            <a:avLst>
              <a:gd name="adj" fmla="val 12500"/>
            </a:avLst>
          </a:prstGeom>
        </p:spPr>
        <p:txBody>
          <a:bodyPr lIns="92583" tIns="46292" rIns="92583" bIns="46292" anchor="ctr">
            <a:noAutofit/>
          </a:bodyPr>
          <a:lstStyle/>
          <a:p>
            <a:pPr algn="ctr"/>
            <a:r>
              <a:rPr lang="es-ES" sz="1100" b="1" dirty="0">
                <a:solidFill>
                  <a:srgbClr val="323232"/>
                </a:solidFill>
                <a:latin typeface="Avenir 65" panose="02000600000000000000" pitchFamily="2" charset="0"/>
                <a:cs typeface="Arial" panose="020B0604020202020204" pitchFamily="34" charset="0"/>
              </a:rPr>
              <a:t>Con todo esto obtenemos</a:t>
            </a:r>
          </a:p>
        </p:txBody>
      </p:sp>
      <p:sp>
        <p:nvSpPr>
          <p:cNvPr id="95"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20</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1338881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Nuestra Visión</a:t>
            </a:r>
          </a:p>
          <a:p>
            <a:endParaRPr lang="en-US" dirty="0">
              <a:solidFill>
                <a:srgbClr val="323232"/>
              </a:solidFill>
              <a:latin typeface="Avenir 35" panose="00000400000000000000" pitchFamily="2" charset="0"/>
            </a:endParaRP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EXPLOTAR</a:t>
            </a:r>
            <a:endParaRPr lang="es-ES" sz="1400" b="1" dirty="0">
              <a:solidFill>
                <a:srgbClr val="323232"/>
              </a:solidFill>
              <a:latin typeface="Avenir 35" panose="00000400000000000000" pitchFamily="2" charset="0"/>
            </a:endParaRPr>
          </a:p>
        </p:txBody>
      </p:sp>
      <p:sp>
        <p:nvSpPr>
          <p:cNvPr id="20" name="AutoShape 4"/>
          <p:cNvSpPr>
            <a:spLocks noChangeArrowheads="1"/>
          </p:cNvSpPr>
          <p:nvPr/>
        </p:nvSpPr>
        <p:spPr bwMode="auto">
          <a:xfrm>
            <a:off x="632527" y="764704"/>
            <a:ext cx="8660261" cy="432048"/>
          </a:xfrm>
          <a:prstGeom prst="roundRect">
            <a:avLst>
              <a:gd name="adj" fmla="val 12500"/>
            </a:avLst>
          </a:prstGeom>
        </p:spPr>
        <p:txBody>
          <a:bodyPr lIns="92583" tIns="46292" rIns="92583" bIns="46292" anchor="ctr">
            <a:noAutofit/>
          </a:bodyPr>
          <a:lstStyle/>
          <a:p>
            <a:pPr algn="ctr"/>
            <a:r>
              <a:rPr lang="es-ES" sz="1000" dirty="0">
                <a:solidFill>
                  <a:srgbClr val="505050"/>
                </a:solidFill>
                <a:latin typeface="Avenir 35" panose="00000400000000000000" pitchFamily="2" charset="0"/>
                <a:cs typeface="Arial" panose="020B0604020202020204" pitchFamily="34" charset="0"/>
              </a:rPr>
              <a:t>La selección de la solución se ha fundamentado no solo en las necesidades  actuales, sino que hemos ponderado las necesidades que Easy Money tendrá en el futuro.</a:t>
            </a:r>
          </a:p>
        </p:txBody>
      </p:sp>
      <p:sp>
        <p:nvSpPr>
          <p:cNvPr id="3" name="AutoShape 4" descr="Resultado de imagen de car dealer network"/>
          <p:cNvSpPr>
            <a:spLocks noChangeAspect="1" noChangeArrowheads="1"/>
          </p:cNvSpPr>
          <p:nvPr/>
        </p:nvSpPr>
        <p:spPr bwMode="auto">
          <a:xfrm>
            <a:off x="155575" y="-13652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209" name="71 Cheurón"/>
          <p:cNvSpPr/>
          <p:nvPr>
            <p:custDataLst>
              <p:tags r:id="rId1"/>
            </p:custDataLst>
          </p:nvPr>
        </p:nvSpPr>
        <p:spPr>
          <a:xfrm>
            <a:off x="362675" y="1513756"/>
            <a:ext cx="4569087" cy="198001"/>
          </a:xfrm>
          <a:prstGeom prst="chevron">
            <a:avLst>
              <a:gd name="adj" fmla="val 0"/>
            </a:avLst>
          </a:prstGeom>
          <a:solidFill>
            <a:srgbClr val="323232"/>
          </a:solidFill>
          <a:ln w="12700" cap="flat" cmpd="sng" algn="ctr">
            <a:solidFill>
              <a:schemeClr val="bg1"/>
            </a:solidFill>
            <a:prstDash val="solid"/>
          </a:ln>
          <a:effectLst/>
        </p:spPr>
        <p:txBody>
          <a:bodyPr lIns="18000" rIns="18000" rtlCol="0" anchor="ctr"/>
          <a:lstStyle/>
          <a:p>
            <a:pPr algn="ctr" defTabSz="825500"/>
            <a:r>
              <a:rPr lang="es-ES" sz="1100" kern="0" dirty="0">
                <a:solidFill>
                  <a:prstClr val="white"/>
                </a:solidFill>
                <a:latin typeface="Avenir 35" panose="00000400000000000000" pitchFamily="2" charset="0"/>
                <a:cs typeface="Arial" panose="020B0604020202020204" pitchFamily="34" charset="0"/>
                <a:sym typeface="Calibri"/>
              </a:rPr>
              <a:t>ESTRATEGIA</a:t>
            </a:r>
          </a:p>
        </p:txBody>
      </p:sp>
      <p:sp>
        <p:nvSpPr>
          <p:cNvPr id="210" name="71 Cheurón"/>
          <p:cNvSpPr/>
          <p:nvPr>
            <p:custDataLst>
              <p:tags r:id="rId2"/>
            </p:custDataLst>
          </p:nvPr>
        </p:nvSpPr>
        <p:spPr>
          <a:xfrm>
            <a:off x="5172601" y="1513757"/>
            <a:ext cx="4411362" cy="198000"/>
          </a:xfrm>
          <a:prstGeom prst="chevron">
            <a:avLst>
              <a:gd name="adj" fmla="val 0"/>
            </a:avLst>
          </a:prstGeom>
          <a:solidFill>
            <a:srgbClr val="323232"/>
          </a:solidFill>
          <a:ln w="12700" cap="flat" cmpd="sng" algn="ctr">
            <a:noFill/>
            <a:prstDash val="solid"/>
          </a:ln>
          <a:effectLst/>
        </p:spPr>
        <p:txBody>
          <a:bodyPr lIns="18000" rIns="18000" rtlCol="0" anchor="ctr"/>
          <a:lstStyle/>
          <a:p>
            <a:pPr algn="ctr" defTabSz="825500"/>
            <a:r>
              <a:rPr lang="es-ES" sz="1100" kern="0" dirty="0">
                <a:solidFill>
                  <a:prstClr val="white"/>
                </a:solidFill>
                <a:latin typeface="Avenir 35" panose="00000400000000000000" pitchFamily="2" charset="0"/>
                <a:cs typeface="Arial" panose="020B0604020202020204" pitchFamily="34" charset="0"/>
                <a:sym typeface="Calibri"/>
              </a:rPr>
              <a:t>OPERATIVA</a:t>
            </a:r>
          </a:p>
        </p:txBody>
      </p:sp>
      <p:sp>
        <p:nvSpPr>
          <p:cNvPr id="204" name="71 Cheurón"/>
          <p:cNvSpPr/>
          <p:nvPr>
            <p:custDataLst>
              <p:tags r:id="rId3"/>
            </p:custDataLst>
          </p:nvPr>
        </p:nvSpPr>
        <p:spPr>
          <a:xfrm>
            <a:off x="362675" y="1784734"/>
            <a:ext cx="1379720" cy="204106"/>
          </a:xfrm>
          <a:prstGeom prst="chevron">
            <a:avLst>
              <a:gd name="adj" fmla="val 0"/>
            </a:avLst>
          </a:prstGeom>
          <a:solidFill>
            <a:srgbClr val="323232"/>
          </a:solidFill>
          <a:ln w="12700" cap="flat" cmpd="sng" algn="ctr">
            <a:solidFill>
              <a:schemeClr val="bg1"/>
            </a:solidFill>
            <a:prstDash val="solid"/>
          </a:ln>
          <a:effectLst/>
        </p:spPr>
        <p:txBody>
          <a:bodyPr lIns="18000" rIns="18000" rtlCol="0" anchor="ctr"/>
          <a:lstStyle/>
          <a:p>
            <a:pPr algn="ctr" defTabSz="825500"/>
            <a:r>
              <a:rPr lang="es-ES" sz="1000" kern="0" dirty="0">
                <a:solidFill>
                  <a:prstClr val="white"/>
                </a:solidFill>
                <a:latin typeface="Avenir 35" panose="00000400000000000000" pitchFamily="2" charset="0"/>
                <a:cs typeface="Arial" panose="020B0604020202020204" pitchFamily="34" charset="0"/>
                <a:sym typeface="Calibri"/>
              </a:rPr>
              <a:t>Entendimiento</a:t>
            </a:r>
          </a:p>
        </p:txBody>
      </p:sp>
      <p:sp>
        <p:nvSpPr>
          <p:cNvPr id="205" name="71 Cheurón"/>
          <p:cNvSpPr/>
          <p:nvPr>
            <p:custDataLst>
              <p:tags r:id="rId4"/>
            </p:custDataLst>
          </p:nvPr>
        </p:nvSpPr>
        <p:spPr>
          <a:xfrm>
            <a:off x="1927678" y="1803984"/>
            <a:ext cx="1378800" cy="180000"/>
          </a:xfrm>
          <a:prstGeom prst="chevron">
            <a:avLst>
              <a:gd name="adj" fmla="val 0"/>
            </a:avLst>
          </a:prstGeom>
          <a:solidFill>
            <a:srgbClr val="323232"/>
          </a:solidFill>
          <a:ln w="12700" cap="flat" cmpd="sng" algn="ctr">
            <a:solidFill>
              <a:srgbClr val="323232"/>
            </a:solidFill>
            <a:prstDash val="solid"/>
          </a:ln>
          <a:effectLst/>
        </p:spPr>
        <p:txBody>
          <a:bodyPr lIns="18000" rIns="18000" rtlCol="0" anchor="ctr"/>
          <a:lstStyle/>
          <a:p>
            <a:pPr algn="ctr" defTabSz="825500"/>
            <a:r>
              <a:rPr lang="es-ES" sz="1000" kern="0" dirty="0">
                <a:solidFill>
                  <a:prstClr val="white"/>
                </a:solidFill>
                <a:latin typeface="Avenir 35" panose="00000400000000000000" pitchFamily="2" charset="0"/>
                <a:cs typeface="Arial" panose="020B0604020202020204" pitchFamily="34" charset="0"/>
                <a:sym typeface="Calibri"/>
              </a:rPr>
              <a:t>Planificación</a:t>
            </a:r>
          </a:p>
        </p:txBody>
      </p:sp>
      <p:sp>
        <p:nvSpPr>
          <p:cNvPr id="208" name="71 Cheurón"/>
          <p:cNvSpPr/>
          <p:nvPr>
            <p:custDataLst>
              <p:tags r:id="rId5"/>
            </p:custDataLst>
          </p:nvPr>
        </p:nvSpPr>
        <p:spPr>
          <a:xfrm>
            <a:off x="8205163" y="1803984"/>
            <a:ext cx="1378800" cy="180000"/>
          </a:xfrm>
          <a:prstGeom prst="chevron">
            <a:avLst>
              <a:gd name="adj" fmla="val 0"/>
            </a:avLst>
          </a:prstGeom>
          <a:solidFill>
            <a:srgbClr val="323232"/>
          </a:solidFill>
          <a:ln w="12700" cap="flat" cmpd="sng" algn="ctr">
            <a:solidFill>
              <a:srgbClr val="323232"/>
            </a:solidFill>
            <a:prstDash val="solid"/>
          </a:ln>
          <a:effectLst/>
        </p:spPr>
        <p:txBody>
          <a:bodyPr lIns="18000" rIns="18000" rtlCol="0" anchor="ctr"/>
          <a:lstStyle/>
          <a:p>
            <a:pPr algn="ctr" defTabSz="825500"/>
            <a:r>
              <a:rPr lang="es-ES" sz="1000" kern="0" dirty="0">
                <a:solidFill>
                  <a:prstClr val="white"/>
                </a:solidFill>
                <a:latin typeface="Avenir 35" panose="00000400000000000000" pitchFamily="2" charset="0"/>
                <a:cs typeface="Arial" panose="020B0604020202020204" pitchFamily="34" charset="0"/>
                <a:sym typeface="Calibri"/>
              </a:rPr>
              <a:t>Optimización</a:t>
            </a:r>
          </a:p>
        </p:txBody>
      </p:sp>
      <p:sp>
        <p:nvSpPr>
          <p:cNvPr id="102" name="71 Cheurón"/>
          <p:cNvSpPr/>
          <p:nvPr>
            <p:custDataLst>
              <p:tags r:id="rId6"/>
            </p:custDataLst>
          </p:nvPr>
        </p:nvSpPr>
        <p:spPr>
          <a:xfrm>
            <a:off x="3552962" y="1803984"/>
            <a:ext cx="1378800" cy="180000"/>
          </a:xfrm>
          <a:prstGeom prst="chevron">
            <a:avLst>
              <a:gd name="adj" fmla="val 0"/>
            </a:avLst>
          </a:prstGeom>
          <a:solidFill>
            <a:srgbClr val="323232"/>
          </a:solidFill>
          <a:ln w="12700" cap="flat" cmpd="sng" algn="ctr">
            <a:solidFill>
              <a:srgbClr val="323232"/>
            </a:solidFill>
            <a:prstDash val="solid"/>
          </a:ln>
          <a:effectLst/>
        </p:spPr>
        <p:txBody>
          <a:bodyPr lIns="18000" rIns="18000" rtlCol="0" anchor="ctr"/>
          <a:lstStyle/>
          <a:p>
            <a:pPr algn="ctr" defTabSz="825500"/>
            <a:r>
              <a:rPr lang="es-ES" sz="1000" kern="0" dirty="0">
                <a:solidFill>
                  <a:prstClr val="white"/>
                </a:solidFill>
                <a:latin typeface="Avenir 35" panose="00000400000000000000" pitchFamily="2" charset="0"/>
                <a:cs typeface="Arial" panose="020B0604020202020204" pitchFamily="34" charset="0"/>
                <a:sym typeface="Calibri"/>
              </a:rPr>
              <a:t>Diseño</a:t>
            </a:r>
          </a:p>
        </p:txBody>
      </p:sp>
      <p:sp>
        <p:nvSpPr>
          <p:cNvPr id="206" name="71 Cheurón"/>
          <p:cNvSpPr/>
          <p:nvPr>
            <p:custDataLst>
              <p:tags r:id="rId7"/>
            </p:custDataLst>
          </p:nvPr>
        </p:nvSpPr>
        <p:spPr>
          <a:xfrm>
            <a:off x="5170999" y="1803984"/>
            <a:ext cx="1378800" cy="180000"/>
          </a:xfrm>
          <a:prstGeom prst="chevron">
            <a:avLst>
              <a:gd name="adj" fmla="val 0"/>
            </a:avLst>
          </a:prstGeom>
          <a:solidFill>
            <a:srgbClr val="323232"/>
          </a:solidFill>
          <a:ln w="12700" cap="flat" cmpd="sng" algn="ctr">
            <a:solidFill>
              <a:srgbClr val="323232"/>
            </a:solidFill>
            <a:prstDash val="solid"/>
          </a:ln>
          <a:effectLst/>
        </p:spPr>
        <p:txBody>
          <a:bodyPr lIns="18000" rIns="18000" rtlCol="0" anchor="ctr"/>
          <a:lstStyle/>
          <a:p>
            <a:pPr algn="ctr" defTabSz="825500"/>
            <a:r>
              <a:rPr lang="es-ES" sz="1000" kern="0" dirty="0">
                <a:solidFill>
                  <a:prstClr val="white"/>
                </a:solidFill>
                <a:latin typeface="Avenir 35" panose="00000400000000000000" pitchFamily="2" charset="0"/>
                <a:cs typeface="Arial" panose="020B0604020202020204" pitchFamily="34" charset="0"/>
                <a:sym typeface="Calibri"/>
              </a:rPr>
              <a:t>Ejecución</a:t>
            </a:r>
          </a:p>
        </p:txBody>
      </p:sp>
      <p:sp>
        <p:nvSpPr>
          <p:cNvPr id="207" name="71 Cheurón"/>
          <p:cNvSpPr/>
          <p:nvPr>
            <p:custDataLst>
              <p:tags r:id="rId8"/>
            </p:custDataLst>
          </p:nvPr>
        </p:nvSpPr>
        <p:spPr>
          <a:xfrm>
            <a:off x="6663525" y="1803984"/>
            <a:ext cx="1378800" cy="180000"/>
          </a:xfrm>
          <a:prstGeom prst="chevron">
            <a:avLst>
              <a:gd name="adj" fmla="val 0"/>
            </a:avLst>
          </a:prstGeom>
          <a:solidFill>
            <a:srgbClr val="323232"/>
          </a:solidFill>
          <a:ln w="12700" cap="flat" cmpd="sng" algn="ctr">
            <a:solidFill>
              <a:srgbClr val="323232"/>
            </a:solidFill>
            <a:prstDash val="solid"/>
          </a:ln>
          <a:effectLst/>
        </p:spPr>
        <p:txBody>
          <a:bodyPr lIns="18000" rIns="18000" rtlCol="0" anchor="ctr"/>
          <a:lstStyle/>
          <a:p>
            <a:pPr algn="ctr" defTabSz="825500"/>
            <a:r>
              <a:rPr lang="es-ES" sz="1000" kern="0" dirty="0">
                <a:solidFill>
                  <a:prstClr val="white"/>
                </a:solidFill>
                <a:latin typeface="Avenir 35" panose="00000400000000000000" pitchFamily="2" charset="0"/>
                <a:cs typeface="Arial" panose="020B0604020202020204" pitchFamily="34" charset="0"/>
                <a:sym typeface="Calibri"/>
              </a:rPr>
              <a:t>Monitorización</a:t>
            </a:r>
          </a:p>
        </p:txBody>
      </p:sp>
      <p:pic>
        <p:nvPicPr>
          <p:cNvPr id="95" name="Picture 2"/>
          <p:cNvPicPr>
            <a:picLocks noChangeArrowheads="1"/>
          </p:cNvPicPr>
          <p:nvPr/>
        </p:nvPicPr>
        <p:blipFill rotWithShape="1">
          <a:blip r:embed="rId14" cstate="print">
            <a:extLst>
              <a:ext uri="{28A0092B-C50C-407E-A947-70E740481C1C}">
                <a14:useLocalDpi xmlns:a14="http://schemas.microsoft.com/office/drawing/2010/main" val="0"/>
              </a:ext>
            </a:extLst>
          </a:blip>
          <a:srcRect l="16015" t="28832" r="50389" b="7501"/>
          <a:stretch/>
        </p:blipFill>
        <p:spPr bwMode="auto">
          <a:xfrm>
            <a:off x="512535" y="2153248"/>
            <a:ext cx="1080000" cy="900000"/>
          </a:xfrm>
          <a:prstGeom prst="rect">
            <a:avLst/>
          </a:prstGeom>
          <a:noFill/>
          <a:ln w="9525">
            <a:solidFill>
              <a:srgbClr val="A7A7A7">
                <a:lumMod val="20000"/>
                <a:lumOff val="80000"/>
              </a:srgbClr>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pic>
      <p:sp>
        <p:nvSpPr>
          <p:cNvPr id="96" name="41 Pentágono"/>
          <p:cNvSpPr/>
          <p:nvPr/>
        </p:nvSpPr>
        <p:spPr>
          <a:xfrm rot="2505501">
            <a:off x="1271941" y="2215425"/>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pic>
        <p:nvPicPr>
          <p:cNvPr id="97" name="Picture 31"/>
          <p:cNvPicPr>
            <a:picLocks noChangeArrowheads="1"/>
          </p:cNvPicPr>
          <p:nvPr/>
        </p:nvPicPr>
        <p:blipFill rotWithShape="1">
          <a:blip r:embed="rId15" cstate="print">
            <a:extLst>
              <a:ext uri="{28A0092B-C50C-407E-A947-70E740481C1C}">
                <a14:useLocalDpi xmlns:a14="http://schemas.microsoft.com/office/drawing/2010/main" val="0"/>
              </a:ext>
            </a:extLst>
          </a:blip>
          <a:srcRect l="3188" r="47840"/>
          <a:stretch/>
        </p:blipFill>
        <p:spPr bwMode="auto">
          <a:xfrm>
            <a:off x="512535" y="3695632"/>
            <a:ext cx="1080000" cy="900000"/>
          </a:xfrm>
          <a:prstGeom prst="rect">
            <a:avLst/>
          </a:prstGeom>
          <a:solidFill>
            <a:schemeClr val="bg1"/>
          </a:solidFill>
          <a:ln>
            <a:solidFill>
              <a:schemeClr val="tx2">
                <a:lumMod val="20000"/>
                <a:lumOff val="80000"/>
              </a:schemeClr>
            </a:solidFill>
          </a:ln>
          <a:effectLst/>
        </p:spPr>
      </p:pic>
      <p:sp>
        <p:nvSpPr>
          <p:cNvPr id="101" name="41 Pentágono"/>
          <p:cNvSpPr/>
          <p:nvPr/>
        </p:nvSpPr>
        <p:spPr>
          <a:xfrm rot="2505501">
            <a:off x="1199933" y="3668172"/>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pic>
        <p:nvPicPr>
          <p:cNvPr id="106" name="Picture 3"/>
          <p:cNvPicPr>
            <a:picLocks noChangeArrowheads="1"/>
          </p:cNvPicPr>
          <p:nvPr/>
        </p:nvPicPr>
        <p:blipFill rotWithShape="1">
          <a:blip r:embed="rId16" cstate="print">
            <a:duotone>
              <a:prstClr val="black"/>
              <a:schemeClr val="accent3">
                <a:tint val="45000"/>
                <a:satMod val="400000"/>
              </a:schemeClr>
            </a:duotone>
            <a:extLst>
              <a:ext uri="{28A0092B-C50C-407E-A947-70E740481C1C}">
                <a14:useLocalDpi xmlns:a14="http://schemas.microsoft.com/office/drawing/2010/main" val="0"/>
              </a:ext>
            </a:extLst>
          </a:blip>
          <a:srcRect l="1979" t="23336" r="50000" b="14366"/>
          <a:stretch/>
        </p:blipFill>
        <p:spPr bwMode="auto">
          <a:xfrm>
            <a:off x="512535" y="5157192"/>
            <a:ext cx="1080000" cy="900000"/>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7" name="41 Pentágono"/>
          <p:cNvSpPr/>
          <p:nvPr/>
        </p:nvSpPr>
        <p:spPr>
          <a:xfrm rot="2505501">
            <a:off x="1396330" y="5180278"/>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sp>
        <p:nvSpPr>
          <p:cNvPr id="112" name="TextBox 25"/>
          <p:cNvSpPr txBox="1"/>
          <p:nvPr/>
        </p:nvSpPr>
        <p:spPr>
          <a:xfrm>
            <a:off x="-139045" y="4684513"/>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Análisis de Necesidades</a:t>
            </a:r>
            <a:endParaRPr lang="es-ES" sz="900" b="1" dirty="0">
              <a:solidFill>
                <a:srgbClr val="323232"/>
              </a:solidFill>
              <a:latin typeface="Avenir 35" panose="00000400000000000000" pitchFamily="2" charset="0"/>
            </a:endParaRPr>
          </a:p>
        </p:txBody>
      </p:sp>
      <p:sp>
        <p:nvSpPr>
          <p:cNvPr id="113" name="TextBox 25"/>
          <p:cNvSpPr txBox="1"/>
          <p:nvPr/>
        </p:nvSpPr>
        <p:spPr>
          <a:xfrm>
            <a:off x="-139045" y="6087182"/>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Forecast Campañas</a:t>
            </a:r>
            <a:endParaRPr lang="es-ES" sz="900" b="1" dirty="0">
              <a:solidFill>
                <a:srgbClr val="323232"/>
              </a:solidFill>
              <a:latin typeface="Avenir 35" panose="00000400000000000000" pitchFamily="2" charset="0"/>
            </a:endParaRPr>
          </a:p>
        </p:txBody>
      </p:sp>
      <p:pic>
        <p:nvPicPr>
          <p:cNvPr id="114" name="Picture 9"/>
          <p:cNvPicPr>
            <a:picLocks noChangeArrowheads="1"/>
          </p:cNvPicPr>
          <p:nvPr/>
        </p:nvPicPr>
        <p:blipFill rotWithShape="1">
          <a:blip r:embed="rId17" cstate="print">
            <a:extLst>
              <a:ext uri="{28A0092B-C50C-407E-A947-70E740481C1C}">
                <a14:useLocalDpi xmlns:a14="http://schemas.microsoft.com/office/drawing/2010/main" val="0"/>
              </a:ext>
            </a:extLst>
          </a:blip>
          <a:srcRect l="10816" t="21565" r="26038" b="7296"/>
          <a:stretch/>
        </p:blipFill>
        <p:spPr bwMode="auto">
          <a:xfrm>
            <a:off x="2072712" y="2173566"/>
            <a:ext cx="1080000" cy="900000"/>
          </a:xfrm>
          <a:prstGeom prst="rect">
            <a:avLst/>
          </a:prstGeom>
          <a:noFill/>
          <a:ln w="9525">
            <a:solidFill>
              <a:schemeClr val="tx2">
                <a:lumMod val="40000"/>
                <a:lumOff val="60000"/>
              </a:schemeClr>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pic>
      <p:pic>
        <p:nvPicPr>
          <p:cNvPr id="117" name="Picture 3"/>
          <p:cNvPicPr>
            <a:picLocks noChangeArrowheads="1"/>
          </p:cNvPicPr>
          <p:nvPr/>
        </p:nvPicPr>
        <p:blipFill rotWithShape="1">
          <a:blip r:embed="rId18" cstate="print">
            <a:extLst>
              <a:ext uri="{28A0092B-C50C-407E-A947-70E740481C1C}">
                <a14:useLocalDpi xmlns:a14="http://schemas.microsoft.com/office/drawing/2010/main" val="0"/>
              </a:ext>
            </a:extLst>
          </a:blip>
          <a:srcRect l="22726" t="11438" r="22511" b="21591"/>
          <a:stretch/>
        </p:blipFill>
        <p:spPr bwMode="auto">
          <a:xfrm>
            <a:off x="2072712" y="3694401"/>
            <a:ext cx="1080000" cy="9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8" name="TextBox 25"/>
          <p:cNvSpPr txBox="1"/>
          <p:nvPr/>
        </p:nvSpPr>
        <p:spPr>
          <a:xfrm>
            <a:off x="1507290" y="4685093"/>
            <a:ext cx="2328232" cy="230832"/>
          </a:xfrm>
          <a:prstGeom prst="rect">
            <a:avLst/>
          </a:prstGeom>
          <a:noFill/>
        </p:spPr>
        <p:txBody>
          <a:bodyPr wrap="square" rtlCol="0">
            <a:spAutoFit/>
          </a:bodyPr>
          <a:lstStyle/>
          <a:p>
            <a:pPr algn="ctr">
              <a:defRPr/>
            </a:pPr>
            <a:r>
              <a:rPr lang="en-US" sz="900" dirty="0">
                <a:solidFill>
                  <a:srgbClr val="323232"/>
                </a:solidFill>
                <a:latin typeface="Avenir 35" panose="00000400000000000000" pitchFamily="2" charset="0"/>
              </a:rPr>
              <a:t>Workflows </a:t>
            </a:r>
            <a:r>
              <a:rPr lang="es-ES" sz="900" dirty="0">
                <a:solidFill>
                  <a:srgbClr val="323232"/>
                </a:solidFill>
                <a:latin typeface="Avenir 35" panose="00000400000000000000" pitchFamily="2" charset="0"/>
              </a:rPr>
              <a:t>Actuación</a:t>
            </a:r>
            <a:endParaRPr lang="es-ES" sz="900" b="1" dirty="0">
              <a:solidFill>
                <a:srgbClr val="323232"/>
              </a:solidFill>
              <a:latin typeface="Avenir 35" panose="00000400000000000000" pitchFamily="2" charset="0"/>
            </a:endParaRPr>
          </a:p>
        </p:txBody>
      </p:sp>
      <p:pic>
        <p:nvPicPr>
          <p:cNvPr id="119" name="Picture 14"/>
          <p:cNvPicPr>
            <a:picLocks noChangeArrowheads="1"/>
          </p:cNvPicPr>
          <p:nvPr/>
        </p:nvPicPr>
        <p:blipFill rotWithShape="1">
          <a:blip r:embed="rId19" cstate="print">
            <a:extLst>
              <a:ext uri="{28A0092B-C50C-407E-A947-70E740481C1C}">
                <a14:useLocalDpi xmlns:a14="http://schemas.microsoft.com/office/drawing/2010/main" val="0"/>
              </a:ext>
            </a:extLst>
          </a:blip>
          <a:srcRect l="12912" t="16739" r="13051" b="2616"/>
          <a:stretch/>
        </p:blipFill>
        <p:spPr bwMode="auto">
          <a:xfrm>
            <a:off x="2072712" y="5157192"/>
            <a:ext cx="1080000" cy="9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0" name="TextBox 25"/>
          <p:cNvSpPr txBox="1"/>
          <p:nvPr/>
        </p:nvSpPr>
        <p:spPr>
          <a:xfrm>
            <a:off x="1507290" y="6087182"/>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Mapa de Multicanalidad</a:t>
            </a:r>
            <a:endParaRPr lang="es-ES" sz="900" b="1" dirty="0">
              <a:solidFill>
                <a:srgbClr val="323232"/>
              </a:solidFill>
              <a:latin typeface="Avenir 35" panose="00000400000000000000" pitchFamily="2" charset="0"/>
            </a:endParaRPr>
          </a:p>
        </p:txBody>
      </p:sp>
      <p:sp>
        <p:nvSpPr>
          <p:cNvPr id="121" name="41 Pentágono"/>
          <p:cNvSpPr/>
          <p:nvPr/>
        </p:nvSpPr>
        <p:spPr>
          <a:xfrm rot="2505501">
            <a:off x="2856117" y="3668172"/>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sp>
        <p:nvSpPr>
          <p:cNvPr id="122" name="41 Pentágono"/>
          <p:cNvSpPr/>
          <p:nvPr/>
        </p:nvSpPr>
        <p:spPr>
          <a:xfrm rot="2505501">
            <a:off x="2974702" y="2215425"/>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pic>
        <p:nvPicPr>
          <p:cNvPr id="46082" name="Picture 2"/>
          <p:cNvPicPr>
            <a:picLocks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3632889" y="2154891"/>
            <a:ext cx="1080000" cy="9000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4" name="41 Pentágono"/>
          <p:cNvSpPr/>
          <p:nvPr/>
        </p:nvSpPr>
        <p:spPr>
          <a:xfrm rot="2505501">
            <a:off x="4512301" y="2215425"/>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pic>
        <p:nvPicPr>
          <p:cNvPr id="125" name="124 Imagen"/>
          <p:cNvPicPr>
            <a:picLocks/>
          </p:cNvPicPr>
          <p:nvPr/>
        </p:nvPicPr>
        <p:blipFill rotWithShape="1">
          <a:blip r:embed="rId21" cstate="print">
            <a:extLst>
              <a:ext uri="{28A0092B-C50C-407E-A947-70E740481C1C}">
                <a14:useLocalDpi xmlns:a14="http://schemas.microsoft.com/office/drawing/2010/main" val="0"/>
              </a:ext>
            </a:extLst>
          </a:blip>
          <a:srcRect/>
          <a:stretch/>
        </p:blipFill>
        <p:spPr>
          <a:xfrm>
            <a:off x="3632889" y="3660964"/>
            <a:ext cx="1080000" cy="900000"/>
          </a:xfrm>
          <a:prstGeom prst="rect">
            <a:avLst/>
          </a:prstGeom>
          <a:ln>
            <a:noFill/>
          </a:ln>
          <a:effectLst/>
        </p:spPr>
      </p:pic>
      <p:sp>
        <p:nvSpPr>
          <p:cNvPr id="126" name="TextBox 25"/>
          <p:cNvSpPr txBox="1"/>
          <p:nvPr/>
        </p:nvSpPr>
        <p:spPr>
          <a:xfrm>
            <a:off x="3099942" y="4725724"/>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Reglas de Convivencia</a:t>
            </a:r>
            <a:endParaRPr lang="es-ES" sz="900" b="1" dirty="0">
              <a:solidFill>
                <a:srgbClr val="323232"/>
              </a:solidFill>
              <a:latin typeface="Avenir 35" panose="00000400000000000000" pitchFamily="2" charset="0"/>
            </a:endParaRPr>
          </a:p>
        </p:txBody>
      </p:sp>
      <p:sp>
        <p:nvSpPr>
          <p:cNvPr id="127" name="41 Pentágono"/>
          <p:cNvSpPr/>
          <p:nvPr/>
        </p:nvSpPr>
        <p:spPr>
          <a:xfrm rot="2505501">
            <a:off x="4368285" y="3668172"/>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pic>
        <p:nvPicPr>
          <p:cNvPr id="128" name="Picture 7"/>
          <p:cNvPicPr>
            <a:picLocks noChangeArrowheads="1"/>
          </p:cNvPicPr>
          <p:nvPr/>
        </p:nvPicPr>
        <p:blipFill>
          <a:blip r:embed="rId22" cstate="print">
            <a:extLst>
              <a:ext uri="{28A0092B-C50C-407E-A947-70E740481C1C}">
                <a14:useLocalDpi xmlns:a14="http://schemas.microsoft.com/office/drawing/2010/main" val="0"/>
              </a:ext>
            </a:extLst>
          </a:blip>
          <a:srcRect l="4494" t="22464" r="11566" b="25075"/>
          <a:stretch>
            <a:fillRect/>
          </a:stretch>
        </p:blipFill>
        <p:spPr bwMode="auto">
          <a:xfrm>
            <a:off x="3632889" y="5157192"/>
            <a:ext cx="1080000" cy="9000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1" name="TextBox 25"/>
          <p:cNvSpPr txBox="1"/>
          <p:nvPr/>
        </p:nvSpPr>
        <p:spPr>
          <a:xfrm>
            <a:off x="3099942" y="6087182"/>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Mapa de Segmentación</a:t>
            </a:r>
            <a:endParaRPr lang="es-ES" sz="900" b="1" dirty="0">
              <a:solidFill>
                <a:srgbClr val="323232"/>
              </a:solidFill>
              <a:latin typeface="Avenir 35" panose="00000400000000000000" pitchFamily="2" charset="0"/>
            </a:endParaRPr>
          </a:p>
        </p:txBody>
      </p:sp>
      <p:pic>
        <p:nvPicPr>
          <p:cNvPr id="155" name="Picture 4"/>
          <p:cNvPicPr>
            <a:picLocks noChangeArrowheads="1"/>
          </p:cNvPicPr>
          <p:nvPr/>
        </p:nvPicPr>
        <p:blipFill rotWithShape="1">
          <a:blip r:embed="rId23" cstate="print">
            <a:extLst>
              <a:ext uri="{28A0092B-C50C-407E-A947-70E740481C1C}">
                <a14:useLocalDpi xmlns:a14="http://schemas.microsoft.com/office/drawing/2010/main" val="0"/>
              </a:ext>
            </a:extLst>
          </a:blip>
          <a:srcRect l="9584" r="9551" b="4058"/>
          <a:stretch/>
        </p:blipFill>
        <p:spPr bwMode="auto">
          <a:xfrm>
            <a:off x="5320399" y="2166016"/>
            <a:ext cx="1080000" cy="9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8" name="41 Pentágono"/>
          <p:cNvSpPr/>
          <p:nvPr/>
        </p:nvSpPr>
        <p:spPr>
          <a:xfrm rot="2505501">
            <a:off x="6018450" y="2215425"/>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sp>
        <p:nvSpPr>
          <p:cNvPr id="173" name="TextBox 25"/>
          <p:cNvSpPr txBox="1"/>
          <p:nvPr/>
        </p:nvSpPr>
        <p:spPr>
          <a:xfrm>
            <a:off x="4782301" y="4675713"/>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Ficha de campaña</a:t>
            </a:r>
            <a:endParaRPr lang="es-ES" sz="900" b="1" dirty="0">
              <a:solidFill>
                <a:srgbClr val="323232"/>
              </a:solidFill>
              <a:latin typeface="Avenir 35" panose="00000400000000000000" pitchFamily="2" charset="0"/>
            </a:endParaRPr>
          </a:p>
        </p:txBody>
      </p:sp>
      <p:grpSp>
        <p:nvGrpSpPr>
          <p:cNvPr id="2" name="1 Grupo"/>
          <p:cNvGrpSpPr/>
          <p:nvPr/>
        </p:nvGrpSpPr>
        <p:grpSpPr>
          <a:xfrm>
            <a:off x="5318798" y="3643571"/>
            <a:ext cx="1081601" cy="900000"/>
            <a:chOff x="5171000" y="3643571"/>
            <a:chExt cx="1081601" cy="900000"/>
          </a:xfrm>
        </p:grpSpPr>
        <p:grpSp>
          <p:nvGrpSpPr>
            <p:cNvPr id="170" name="3 Grupo"/>
            <p:cNvGrpSpPr>
              <a:grpSpLocks/>
            </p:cNvGrpSpPr>
            <p:nvPr/>
          </p:nvGrpSpPr>
          <p:grpSpPr>
            <a:xfrm>
              <a:off x="5172601" y="3643571"/>
              <a:ext cx="1080000" cy="900000"/>
              <a:chOff x="6007374" y="1556792"/>
              <a:chExt cx="5638254" cy="2171214"/>
            </a:xfrm>
            <a:effectLst/>
          </p:grpSpPr>
          <p:sp>
            <p:nvSpPr>
              <p:cNvPr id="171" name="9 Rectángulo"/>
              <p:cNvSpPr/>
              <p:nvPr/>
            </p:nvSpPr>
            <p:spPr bwMode="auto">
              <a:xfrm>
                <a:off x="6007376" y="1556792"/>
                <a:ext cx="5638252" cy="2171214"/>
              </a:xfrm>
              <a:prstGeom prst="rect">
                <a:avLst/>
              </a:prstGeom>
              <a:solidFill>
                <a:schemeClr val="bg1"/>
              </a:solidFill>
              <a:ln w="9525" cap="flat" cmpd="sng" algn="ctr">
                <a:solidFill>
                  <a:schemeClr val="bg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914400" rtl="0" fontAlgn="base">
                  <a:spcBef>
                    <a:spcPct val="0"/>
                  </a:spcBef>
                  <a:spcAft>
                    <a:spcPct val="0"/>
                  </a:spcAft>
                </a:pPr>
                <a:endParaRPr lang="en-US" sz="1800" dirty="0">
                  <a:solidFill>
                    <a:srgbClr val="323232"/>
                  </a:solidFill>
                  <a:latin typeface="Arial" charset="0"/>
                </a:endParaRPr>
              </a:p>
            </p:txBody>
          </p:sp>
          <p:pic>
            <p:nvPicPr>
              <p:cNvPr id="172" name="Picture 2"/>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6007374" y="1752936"/>
                <a:ext cx="5508006" cy="1964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46084" name="Picture 4" descr="http://i1.wp.com/autoblog.com.ar/wp-content/uploads/2014/11/LANZAMIENTO-MERCEDES-GLA1.jpg"/>
            <p:cNvPicPr>
              <a:picLocks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171000" y="3660962"/>
              <a:ext cx="1080000" cy="405962"/>
            </a:xfrm>
            <a:prstGeom prst="rect">
              <a:avLst/>
            </a:prstGeom>
            <a:noFill/>
            <a:extLst>
              <a:ext uri="{909E8E84-426E-40DD-AFC4-6F175D3DCCD1}">
                <a14:hiddenFill xmlns:a14="http://schemas.microsoft.com/office/drawing/2010/main">
                  <a:solidFill>
                    <a:srgbClr val="FFFFFF"/>
                  </a:solidFill>
                </a14:hiddenFill>
              </a:ext>
            </a:extLst>
          </p:spPr>
        </p:pic>
      </p:grpSp>
      <p:sp>
        <p:nvSpPr>
          <p:cNvPr id="174" name="41 Pentágono"/>
          <p:cNvSpPr/>
          <p:nvPr/>
        </p:nvSpPr>
        <p:spPr>
          <a:xfrm rot="2505501">
            <a:off x="6096477" y="3668172"/>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pic>
        <p:nvPicPr>
          <p:cNvPr id="46085" name="Picture 5"/>
          <p:cNvPicPr>
            <a:picLocks noChangeArrowheads="1"/>
          </p:cNvPicPr>
          <p:nvPr/>
        </p:nvPicPr>
        <p:blipFill rotWithShape="1">
          <a:blip r:embed="rId26">
            <a:extLst>
              <a:ext uri="{28A0092B-C50C-407E-A947-70E740481C1C}">
                <a14:useLocalDpi xmlns:a14="http://schemas.microsoft.com/office/drawing/2010/main" val="0"/>
              </a:ext>
            </a:extLst>
          </a:blip>
          <a:srcRect t="11366" r="24909"/>
          <a:stretch/>
        </p:blipFill>
        <p:spPr bwMode="auto">
          <a:xfrm>
            <a:off x="5320399" y="5157192"/>
            <a:ext cx="1080000" cy="9000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9" name="TextBox 25"/>
          <p:cNvSpPr txBox="1"/>
          <p:nvPr/>
        </p:nvSpPr>
        <p:spPr>
          <a:xfrm>
            <a:off x="4782301" y="6087182"/>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Factory Content</a:t>
            </a:r>
            <a:endParaRPr lang="es-ES" sz="900" b="1" dirty="0">
              <a:solidFill>
                <a:srgbClr val="323232"/>
              </a:solidFill>
              <a:latin typeface="Avenir 35" panose="00000400000000000000" pitchFamily="2" charset="0"/>
            </a:endParaRPr>
          </a:p>
        </p:txBody>
      </p:sp>
      <p:sp>
        <p:nvSpPr>
          <p:cNvPr id="180" name="41 Pentágono"/>
          <p:cNvSpPr/>
          <p:nvPr/>
        </p:nvSpPr>
        <p:spPr>
          <a:xfrm rot="2505501">
            <a:off x="6193648" y="5180278"/>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sp>
        <p:nvSpPr>
          <p:cNvPr id="181" name="41 Pentágono"/>
          <p:cNvSpPr/>
          <p:nvPr/>
        </p:nvSpPr>
        <p:spPr>
          <a:xfrm rot="2505501">
            <a:off x="4578195" y="5180278"/>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sp>
        <p:nvSpPr>
          <p:cNvPr id="182" name="41 Pentágono"/>
          <p:cNvSpPr/>
          <p:nvPr/>
        </p:nvSpPr>
        <p:spPr>
          <a:xfrm rot="2505501">
            <a:off x="3000133" y="5180278"/>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pic>
        <p:nvPicPr>
          <p:cNvPr id="183" name="Picture 4"/>
          <p:cNvPicPr>
            <a:picLocks noChangeArrowheads="1"/>
          </p:cNvPicPr>
          <p:nvPr/>
        </p:nvPicPr>
        <p:blipFill>
          <a:blip r:embed="rId27" cstate="print">
            <a:duotone>
              <a:schemeClr val="accent5">
                <a:shade val="45000"/>
                <a:satMod val="135000"/>
              </a:schemeClr>
              <a:prstClr val="white"/>
            </a:duotone>
            <a:extLst>
              <a:ext uri="{28A0092B-C50C-407E-A947-70E740481C1C}">
                <a14:useLocalDpi xmlns:a14="http://schemas.microsoft.com/office/drawing/2010/main" val="0"/>
              </a:ext>
            </a:extLst>
          </a:blip>
          <a:srcRect b="46213"/>
          <a:stretch>
            <a:fillRect/>
          </a:stretch>
        </p:blipFill>
        <p:spPr bwMode="auto">
          <a:xfrm>
            <a:off x="6753243" y="3643571"/>
            <a:ext cx="1080000" cy="90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186" name="TextBox 25"/>
          <p:cNvSpPr txBox="1"/>
          <p:nvPr/>
        </p:nvSpPr>
        <p:spPr>
          <a:xfrm>
            <a:off x="6177136" y="4725724"/>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Cuadro de Mando</a:t>
            </a:r>
            <a:endParaRPr lang="es-ES" sz="900" b="1" dirty="0">
              <a:solidFill>
                <a:srgbClr val="323232"/>
              </a:solidFill>
              <a:latin typeface="Avenir 35" panose="00000400000000000000" pitchFamily="2" charset="0"/>
            </a:endParaRPr>
          </a:p>
        </p:txBody>
      </p:sp>
      <p:pic>
        <p:nvPicPr>
          <p:cNvPr id="187" name="Picture 29"/>
          <p:cNvPicPr>
            <a:picLocks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6753243" y="5157192"/>
            <a:ext cx="1080000" cy="900000"/>
          </a:xfrm>
          <a:prstGeom prst="rect">
            <a:avLst/>
          </a:prstGeom>
          <a:noFill/>
          <a:ln>
            <a:noFill/>
          </a:ln>
          <a:effectLst/>
          <a:scene3d>
            <a:camera prst="orthographicFront"/>
            <a:lightRig rig="threePt" dir="t"/>
          </a:scene3d>
          <a:sp3d>
            <a:bevelT/>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189" name="TextBox 25"/>
          <p:cNvSpPr txBox="1"/>
          <p:nvPr/>
        </p:nvSpPr>
        <p:spPr>
          <a:xfrm>
            <a:off x="6177136" y="6087182"/>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Informes de Seguimiento</a:t>
            </a:r>
            <a:endParaRPr lang="es-ES" sz="900" b="1" dirty="0">
              <a:solidFill>
                <a:srgbClr val="323232"/>
              </a:solidFill>
              <a:latin typeface="Avenir 35" panose="00000400000000000000" pitchFamily="2" charset="0"/>
            </a:endParaRPr>
          </a:p>
        </p:txBody>
      </p:sp>
      <p:pic>
        <p:nvPicPr>
          <p:cNvPr id="190" name="Picture 5"/>
          <p:cNvPicPr>
            <a:picLocks noChangeArrowheads="1"/>
          </p:cNvPicPr>
          <p:nvPr/>
        </p:nvPicPr>
        <p:blipFill>
          <a:blip r:embed="rId29" cstate="screen">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6753243" y="2178314"/>
            <a:ext cx="1080000" cy="9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6" name="TextBox 25"/>
          <p:cNvSpPr txBox="1"/>
          <p:nvPr/>
        </p:nvSpPr>
        <p:spPr>
          <a:xfrm>
            <a:off x="6177136" y="3165790"/>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Definición de KPIs</a:t>
            </a:r>
            <a:endParaRPr lang="es-ES" sz="900" b="1" dirty="0">
              <a:solidFill>
                <a:srgbClr val="323232"/>
              </a:solidFill>
              <a:latin typeface="Avenir 35" panose="00000400000000000000" pitchFamily="2" charset="0"/>
            </a:endParaRPr>
          </a:p>
        </p:txBody>
      </p:sp>
      <p:pic>
        <p:nvPicPr>
          <p:cNvPr id="217" name="Picture 6"/>
          <p:cNvPicPr>
            <a:picLocks noChangeArrowheads="1"/>
          </p:cNvPicPr>
          <p:nvPr/>
        </p:nvPicPr>
        <p:blipFill rotWithShape="1">
          <a:blip r:embed="rId30" cstate="print">
            <a:extLst>
              <a:ext uri="{28A0092B-C50C-407E-A947-70E740481C1C}">
                <a14:useLocalDpi xmlns:a14="http://schemas.microsoft.com/office/drawing/2010/main" val="0"/>
              </a:ext>
            </a:extLst>
          </a:blip>
          <a:srcRect l="31194" t="21020" r="23163" b="18097"/>
          <a:stretch/>
        </p:blipFill>
        <p:spPr bwMode="auto">
          <a:xfrm>
            <a:off x="8313419" y="5157192"/>
            <a:ext cx="1080000" cy="900000"/>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8" name="TextBox 25"/>
          <p:cNvSpPr txBox="1"/>
          <p:nvPr/>
        </p:nvSpPr>
        <p:spPr>
          <a:xfrm>
            <a:off x="7671821" y="3155000"/>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Ranking Dealer</a:t>
            </a:r>
            <a:endParaRPr lang="es-ES" sz="900" b="1" dirty="0">
              <a:solidFill>
                <a:srgbClr val="323232"/>
              </a:solidFill>
              <a:latin typeface="Avenir 35" panose="00000400000000000000" pitchFamily="2" charset="0"/>
            </a:endParaRPr>
          </a:p>
        </p:txBody>
      </p:sp>
      <p:sp>
        <p:nvSpPr>
          <p:cNvPr id="220" name="41 Pentágono"/>
          <p:cNvSpPr/>
          <p:nvPr/>
        </p:nvSpPr>
        <p:spPr>
          <a:xfrm rot="2505501">
            <a:off x="9166083" y="5098121"/>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pic>
        <p:nvPicPr>
          <p:cNvPr id="46086" name="Picture 6"/>
          <p:cNvPicPr>
            <a:picLocks noChangeArrowheads="1"/>
          </p:cNvPicPr>
          <p:nvPr/>
        </p:nvPicPr>
        <p:blipFill>
          <a:blip r:embed="rId31" cstate="print">
            <a:grayscl/>
            <a:extLst>
              <a:ext uri="{28A0092B-C50C-407E-A947-70E740481C1C}">
                <a14:useLocalDpi xmlns:a14="http://schemas.microsoft.com/office/drawing/2010/main" val="0"/>
              </a:ext>
            </a:extLst>
          </a:blip>
          <a:srcRect/>
          <a:stretch>
            <a:fillRect/>
          </a:stretch>
        </p:blipFill>
        <p:spPr bwMode="auto">
          <a:xfrm>
            <a:off x="8313419" y="3643570"/>
            <a:ext cx="1080000" cy="900000"/>
          </a:xfrm>
          <a:prstGeom prst="rect">
            <a:avLst/>
          </a:prstGeom>
          <a:solidFill>
            <a:schemeClr val="bg1">
              <a:lumMod val="95000"/>
            </a:schemeClr>
          </a:solidFill>
          <a:ln>
            <a:noFill/>
          </a:ln>
          <a:effectLst/>
        </p:spPr>
      </p:pic>
      <p:sp>
        <p:nvSpPr>
          <p:cNvPr id="185" name="41 Pentágono"/>
          <p:cNvSpPr/>
          <p:nvPr/>
        </p:nvSpPr>
        <p:spPr>
          <a:xfrm rot="2505501">
            <a:off x="7464629" y="3668172"/>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sp>
        <p:nvSpPr>
          <p:cNvPr id="224" name="41 Pentágono"/>
          <p:cNvSpPr/>
          <p:nvPr/>
        </p:nvSpPr>
        <p:spPr>
          <a:xfrm rot="2505501">
            <a:off x="8976797" y="3668172"/>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sp>
        <p:nvSpPr>
          <p:cNvPr id="225" name="TextBox 25"/>
          <p:cNvSpPr txBox="1"/>
          <p:nvPr/>
        </p:nvSpPr>
        <p:spPr>
          <a:xfrm>
            <a:off x="7671821" y="4685237"/>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Redefinición de Mensajes</a:t>
            </a:r>
            <a:endParaRPr lang="es-ES" sz="900" b="1" dirty="0">
              <a:solidFill>
                <a:srgbClr val="323232"/>
              </a:solidFill>
              <a:latin typeface="Avenir 35" panose="00000400000000000000" pitchFamily="2" charset="0"/>
            </a:endParaRPr>
          </a:p>
        </p:txBody>
      </p:sp>
      <p:sp>
        <p:nvSpPr>
          <p:cNvPr id="226" name="TextBox 25"/>
          <p:cNvSpPr txBox="1"/>
          <p:nvPr/>
        </p:nvSpPr>
        <p:spPr>
          <a:xfrm>
            <a:off x="7671821" y="6087182"/>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Best Practices</a:t>
            </a:r>
            <a:endParaRPr lang="es-ES" sz="900" b="1" dirty="0">
              <a:solidFill>
                <a:srgbClr val="323232"/>
              </a:solidFill>
              <a:latin typeface="Avenir 35" panose="00000400000000000000" pitchFamily="2" charset="0"/>
            </a:endParaRPr>
          </a:p>
        </p:txBody>
      </p:sp>
      <p:pic>
        <p:nvPicPr>
          <p:cNvPr id="227" name="Picture 2"/>
          <p:cNvPicPr>
            <a:picLocks noChangeArrowheads="1"/>
          </p:cNvPicPr>
          <p:nvPr/>
        </p:nvPicPr>
        <p:blipFill rotWithShape="1">
          <a:blip r:embed="rId32" cstate="print">
            <a:extLst>
              <a:ext uri="{28A0092B-C50C-407E-A947-70E740481C1C}">
                <a14:useLocalDpi xmlns:a14="http://schemas.microsoft.com/office/drawing/2010/main" val="0"/>
              </a:ext>
            </a:extLst>
          </a:blip>
          <a:srcRect l="14538" t="22375" r="39507" b="6772"/>
          <a:stretch/>
        </p:blipFill>
        <p:spPr bwMode="auto">
          <a:xfrm>
            <a:off x="8313419" y="2173566"/>
            <a:ext cx="1080000" cy="9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8" name="41 Pentágono"/>
          <p:cNvSpPr/>
          <p:nvPr/>
        </p:nvSpPr>
        <p:spPr>
          <a:xfrm rot="2505501">
            <a:off x="7736985" y="5067192"/>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sp>
        <p:nvSpPr>
          <p:cNvPr id="219" name="41 Pentágono"/>
          <p:cNvSpPr/>
          <p:nvPr/>
        </p:nvSpPr>
        <p:spPr>
          <a:xfrm rot="2505501">
            <a:off x="7680652" y="2215425"/>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sp>
        <p:nvSpPr>
          <p:cNvPr id="228" name="41 Pentágono"/>
          <p:cNvSpPr/>
          <p:nvPr/>
        </p:nvSpPr>
        <p:spPr>
          <a:xfrm rot="2505501">
            <a:off x="9166082" y="2215425"/>
            <a:ext cx="540000" cy="18000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600" b="1" kern="0" dirty="0">
                <a:solidFill>
                  <a:srgbClr val="323232"/>
                </a:solidFill>
                <a:latin typeface="Avenir 35" panose="00000400000000000000" pitchFamily="2" charset="0"/>
              </a:rPr>
              <a:t>Ilustrativo</a:t>
            </a:r>
            <a:endParaRPr lang="es-ES" sz="600" b="1" kern="0" dirty="0">
              <a:solidFill>
                <a:srgbClr val="323232"/>
              </a:solidFill>
              <a:latin typeface="Avenir 35" panose="00000400000000000000" pitchFamily="2" charset="0"/>
            </a:endParaRPr>
          </a:p>
        </p:txBody>
      </p:sp>
      <p:sp>
        <p:nvSpPr>
          <p:cNvPr id="229" name="TextBox 25"/>
          <p:cNvSpPr txBox="1"/>
          <p:nvPr/>
        </p:nvSpPr>
        <p:spPr>
          <a:xfrm>
            <a:off x="-139045" y="3155000"/>
            <a:ext cx="2328232" cy="230832"/>
          </a:xfrm>
          <a:prstGeom prst="rect">
            <a:avLst/>
          </a:prstGeom>
          <a:noFill/>
        </p:spPr>
        <p:txBody>
          <a:bodyPr wrap="square" rtlCol="0">
            <a:spAutoFit/>
          </a:bodyPr>
          <a:lstStyle/>
          <a:p>
            <a:pPr algn="ctr">
              <a:defRPr/>
            </a:pPr>
            <a:r>
              <a:rPr lang="en-US" sz="900" dirty="0">
                <a:solidFill>
                  <a:srgbClr val="323232"/>
                </a:solidFill>
                <a:latin typeface="Avenir 35" panose="00000400000000000000" pitchFamily="2" charset="0"/>
              </a:rPr>
              <a:t>Briefing Campaign</a:t>
            </a:r>
            <a:endParaRPr lang="en-US" sz="900" b="1" dirty="0">
              <a:solidFill>
                <a:srgbClr val="323232"/>
              </a:solidFill>
              <a:latin typeface="Avenir 35" panose="00000400000000000000" pitchFamily="2" charset="0"/>
            </a:endParaRPr>
          </a:p>
        </p:txBody>
      </p:sp>
      <p:sp>
        <p:nvSpPr>
          <p:cNvPr id="230" name="TextBox 25"/>
          <p:cNvSpPr txBox="1"/>
          <p:nvPr/>
        </p:nvSpPr>
        <p:spPr>
          <a:xfrm>
            <a:off x="1507290" y="3155580"/>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Mapa de Contactos</a:t>
            </a:r>
            <a:endParaRPr lang="es-ES" sz="900" b="1" dirty="0">
              <a:solidFill>
                <a:srgbClr val="323232"/>
              </a:solidFill>
              <a:latin typeface="Avenir 35" panose="00000400000000000000" pitchFamily="2" charset="0"/>
            </a:endParaRPr>
          </a:p>
        </p:txBody>
      </p:sp>
      <p:sp>
        <p:nvSpPr>
          <p:cNvPr id="231" name="TextBox 25"/>
          <p:cNvSpPr txBox="1"/>
          <p:nvPr/>
        </p:nvSpPr>
        <p:spPr>
          <a:xfrm>
            <a:off x="3099942" y="3155000"/>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Definición de Mensajes</a:t>
            </a:r>
            <a:endParaRPr lang="es-ES" sz="900" b="1" dirty="0">
              <a:solidFill>
                <a:srgbClr val="323232"/>
              </a:solidFill>
              <a:latin typeface="Avenir 35" panose="00000400000000000000" pitchFamily="2" charset="0"/>
            </a:endParaRPr>
          </a:p>
        </p:txBody>
      </p:sp>
      <p:sp>
        <p:nvSpPr>
          <p:cNvPr id="232" name="TextBox 25"/>
          <p:cNvSpPr txBox="1"/>
          <p:nvPr/>
        </p:nvSpPr>
        <p:spPr>
          <a:xfrm>
            <a:off x="4782301" y="3165790"/>
            <a:ext cx="2328232" cy="230832"/>
          </a:xfrm>
          <a:prstGeom prst="rect">
            <a:avLst/>
          </a:prstGeom>
          <a:noFill/>
        </p:spPr>
        <p:txBody>
          <a:bodyPr wrap="square" rtlCol="0">
            <a:spAutoFit/>
          </a:bodyPr>
          <a:lstStyle/>
          <a:p>
            <a:pPr algn="ctr">
              <a:defRPr/>
            </a:pPr>
            <a:r>
              <a:rPr lang="es-ES" sz="900" dirty="0">
                <a:solidFill>
                  <a:srgbClr val="323232"/>
                </a:solidFill>
                <a:latin typeface="Avenir 35" panose="00000400000000000000" pitchFamily="2" charset="0"/>
              </a:rPr>
              <a:t>Plan de Medios Empleado</a:t>
            </a:r>
            <a:endParaRPr lang="es-ES" sz="900" b="1" dirty="0">
              <a:solidFill>
                <a:srgbClr val="323232"/>
              </a:solidFill>
              <a:latin typeface="Avenir 35" panose="00000400000000000000" pitchFamily="2" charset="0"/>
            </a:endParaRPr>
          </a:p>
        </p:txBody>
      </p:sp>
      <p:sp>
        <p:nvSpPr>
          <p:cNvPr id="4" name="3 Rectángulo"/>
          <p:cNvSpPr/>
          <p:nvPr/>
        </p:nvSpPr>
        <p:spPr>
          <a:xfrm>
            <a:off x="4169010" y="1196752"/>
            <a:ext cx="1587293" cy="261610"/>
          </a:xfrm>
          <a:prstGeom prst="rect">
            <a:avLst/>
          </a:prstGeom>
        </p:spPr>
        <p:txBody>
          <a:bodyPr wrap="none">
            <a:spAutoFit/>
          </a:bodyPr>
          <a:lstStyle/>
          <a:p>
            <a:pPr algn="ctr"/>
            <a:r>
              <a:rPr lang="en-US" sz="1100" b="1" dirty="0">
                <a:solidFill>
                  <a:srgbClr val="323232"/>
                </a:solidFill>
                <a:latin typeface="Avenir 65" panose="02000600000000000000" pitchFamily="2" charset="0"/>
                <a:cs typeface="Avenir 35 Light"/>
              </a:rPr>
              <a:t>Oficina de Campañas</a:t>
            </a:r>
          </a:p>
        </p:txBody>
      </p:sp>
      <p:sp>
        <p:nvSpPr>
          <p:cNvPr id="80" name="71 Cheurón"/>
          <p:cNvSpPr/>
          <p:nvPr>
            <p:custDataLst>
              <p:tags r:id="rId9"/>
            </p:custDataLst>
          </p:nvPr>
        </p:nvSpPr>
        <p:spPr>
          <a:xfrm>
            <a:off x="2570717" y="6531363"/>
            <a:ext cx="1584000" cy="180000"/>
          </a:xfrm>
          <a:prstGeom prst="chevron">
            <a:avLst>
              <a:gd name="adj" fmla="val 0"/>
            </a:avLst>
          </a:prstGeom>
          <a:solidFill>
            <a:srgbClr val="C00000"/>
          </a:solidFill>
          <a:ln w="12700" cap="flat" cmpd="sng" algn="ctr">
            <a:solidFill>
              <a:schemeClr val="bg1"/>
            </a:solidFill>
            <a:prstDash val="solid"/>
          </a:ln>
          <a:effectLst/>
        </p:spPr>
        <p:txBody>
          <a:bodyPr lIns="18000" rIns="18000" rtlCol="0" anchor="ctr"/>
          <a:lstStyle/>
          <a:p>
            <a:pPr algn="ctr" defTabSz="825500"/>
            <a:r>
              <a:rPr lang="es-ES" sz="1000" kern="0" dirty="0">
                <a:solidFill>
                  <a:prstClr val="white"/>
                </a:solidFill>
                <a:latin typeface="Avenir 35" panose="00000400000000000000" pitchFamily="2" charset="0"/>
                <a:cs typeface="Arial" panose="020B0604020202020204" pitchFamily="34" charset="0"/>
                <a:sym typeface="Calibri"/>
              </a:rPr>
              <a:t>Campañas Informativas</a:t>
            </a:r>
          </a:p>
        </p:txBody>
      </p:sp>
      <p:sp>
        <p:nvSpPr>
          <p:cNvPr id="81" name="71 Cheurón"/>
          <p:cNvSpPr/>
          <p:nvPr>
            <p:custDataLst>
              <p:tags r:id="rId10"/>
            </p:custDataLst>
          </p:nvPr>
        </p:nvSpPr>
        <p:spPr>
          <a:xfrm>
            <a:off x="6027277" y="6531363"/>
            <a:ext cx="1584000" cy="180000"/>
          </a:xfrm>
          <a:prstGeom prst="chevron">
            <a:avLst>
              <a:gd name="adj" fmla="val 0"/>
            </a:avLst>
          </a:prstGeom>
          <a:solidFill>
            <a:srgbClr val="C00000"/>
          </a:solidFill>
          <a:ln w="12700" cap="flat" cmpd="sng" algn="ctr">
            <a:solidFill>
              <a:schemeClr val="bg1"/>
            </a:solidFill>
            <a:prstDash val="solid"/>
          </a:ln>
          <a:effectLst/>
        </p:spPr>
        <p:txBody>
          <a:bodyPr lIns="18000" rIns="18000" rtlCol="0" anchor="ctr"/>
          <a:lstStyle/>
          <a:p>
            <a:pPr algn="ctr" defTabSz="825500"/>
            <a:r>
              <a:rPr lang="es-ES" sz="1000" kern="0" dirty="0">
                <a:solidFill>
                  <a:prstClr val="white"/>
                </a:solidFill>
                <a:latin typeface="Avenir 35" panose="00000400000000000000" pitchFamily="2" charset="0"/>
                <a:cs typeface="Arial" panose="020B0604020202020204" pitchFamily="34" charset="0"/>
                <a:sym typeface="Calibri"/>
              </a:rPr>
              <a:t>Campañas Recurrentes</a:t>
            </a:r>
          </a:p>
        </p:txBody>
      </p:sp>
      <p:sp>
        <p:nvSpPr>
          <p:cNvPr id="82" name="71 Cheurón"/>
          <p:cNvSpPr/>
          <p:nvPr>
            <p:custDataLst>
              <p:tags r:id="rId11"/>
            </p:custDataLst>
          </p:nvPr>
        </p:nvSpPr>
        <p:spPr>
          <a:xfrm>
            <a:off x="4280597" y="6531363"/>
            <a:ext cx="1584000" cy="180000"/>
          </a:xfrm>
          <a:prstGeom prst="chevron">
            <a:avLst>
              <a:gd name="adj" fmla="val 0"/>
            </a:avLst>
          </a:prstGeom>
          <a:solidFill>
            <a:srgbClr val="C00000"/>
          </a:solidFill>
          <a:ln w="12700" cap="flat" cmpd="sng" algn="ctr">
            <a:solidFill>
              <a:schemeClr val="bg1"/>
            </a:solidFill>
            <a:prstDash val="solid"/>
          </a:ln>
          <a:effectLst/>
        </p:spPr>
        <p:txBody>
          <a:bodyPr lIns="18000" rIns="18000" rtlCol="0" anchor="ctr"/>
          <a:lstStyle/>
          <a:p>
            <a:pPr algn="ctr" defTabSz="825500"/>
            <a:r>
              <a:rPr lang="en-US" sz="1000" kern="0" dirty="0">
                <a:solidFill>
                  <a:prstClr val="white"/>
                </a:solidFill>
                <a:latin typeface="Avenir 35" panose="00000400000000000000" pitchFamily="2" charset="0"/>
                <a:cs typeface="Arial" panose="020B0604020202020204" pitchFamily="34" charset="0"/>
                <a:sym typeface="Calibri"/>
              </a:rPr>
              <a:t>Change of Vision</a:t>
            </a:r>
          </a:p>
        </p:txBody>
      </p:sp>
      <p:sp>
        <p:nvSpPr>
          <p:cNvPr id="83" name="AutoShape 4"/>
          <p:cNvSpPr>
            <a:spLocks noChangeArrowheads="1"/>
          </p:cNvSpPr>
          <p:nvPr/>
        </p:nvSpPr>
        <p:spPr bwMode="auto">
          <a:xfrm>
            <a:off x="-605263" y="6393553"/>
            <a:ext cx="4040076" cy="432048"/>
          </a:xfrm>
          <a:prstGeom prst="roundRect">
            <a:avLst>
              <a:gd name="adj" fmla="val 12500"/>
            </a:avLst>
          </a:prstGeom>
        </p:spPr>
        <p:txBody>
          <a:bodyPr lIns="92583" tIns="46292" rIns="92583" bIns="46292" anchor="ctr">
            <a:noAutofit/>
          </a:bodyPr>
          <a:lstStyle/>
          <a:p>
            <a:pPr algn="ctr"/>
            <a:r>
              <a:rPr lang="es-ES" sz="1100" b="1" dirty="0">
                <a:solidFill>
                  <a:srgbClr val="323232"/>
                </a:solidFill>
                <a:latin typeface="Avenir 65" panose="02000600000000000000" pitchFamily="2" charset="0"/>
                <a:cs typeface="Arial" panose="020B0604020202020204" pitchFamily="34" charset="0"/>
              </a:rPr>
              <a:t>Con todo esto obtenemos</a:t>
            </a:r>
          </a:p>
        </p:txBody>
      </p:sp>
      <p:sp>
        <p:nvSpPr>
          <p:cNvPr id="84"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21</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1893636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16 Rectángulo"/>
          <p:cNvSpPr/>
          <p:nvPr/>
        </p:nvSpPr>
        <p:spPr>
          <a:xfrm>
            <a:off x="604033" y="844091"/>
            <a:ext cx="8660260" cy="646331"/>
          </a:xfrm>
          <a:prstGeom prst="rect">
            <a:avLst/>
          </a:prstGeom>
          <a:noFill/>
        </p:spPr>
        <p:txBody>
          <a:bodyPr wrap="square" rtlCol="0">
            <a:spAutoFit/>
          </a:bodyPr>
          <a:lstStyle/>
          <a:p>
            <a:pPr algn="ctr" defTabSz="925830" eaLnBrk="0" fontAlgn="base" hangingPunct="0">
              <a:lnSpc>
                <a:spcPct val="110000"/>
              </a:lnSpc>
              <a:spcBef>
                <a:spcPct val="30000"/>
              </a:spcBef>
              <a:spcAft>
                <a:spcPct val="0"/>
              </a:spcAft>
            </a:pPr>
            <a:r>
              <a:rPr lang="es-ES" sz="1000" dirty="0">
                <a:solidFill>
                  <a:srgbClr val="323232"/>
                </a:solidFill>
                <a:latin typeface="Avenir 35" panose="00000400000000000000" pitchFamily="2" charset="0"/>
              </a:rPr>
              <a:t>Soportar el desarrollo de futuras funcionalidades o líneas de negocio para adaptarse a un mercado cambiante, apoyándose en herramientas líderes, escalables y robustas.</a:t>
            </a:r>
          </a:p>
          <a:p>
            <a:pPr algn="ctr" defTabSz="925830" eaLnBrk="0" fontAlgn="base" hangingPunct="0">
              <a:lnSpc>
                <a:spcPct val="110000"/>
              </a:lnSpc>
              <a:spcBef>
                <a:spcPct val="30000"/>
              </a:spcBef>
              <a:spcAft>
                <a:spcPct val="0"/>
              </a:spcAft>
            </a:pPr>
            <a:r>
              <a:rPr lang="es-ES" sz="1000" dirty="0">
                <a:solidFill>
                  <a:srgbClr val="323232"/>
                </a:solidFill>
                <a:latin typeface="Avenir 35" panose="00000400000000000000" pitchFamily="2" charset="0"/>
              </a:rPr>
              <a:t>Medir, analizar, proponer y mejorar </a:t>
            </a: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EVOLUCIONAR</a:t>
            </a:r>
            <a:endParaRPr lang="es-ES" sz="1400" b="1" dirty="0">
              <a:solidFill>
                <a:srgbClr val="323232"/>
              </a:solidFill>
              <a:latin typeface="Avenir 35" panose="00000400000000000000" pitchFamily="2" charset="0"/>
            </a:endParaRPr>
          </a:p>
        </p:txBody>
      </p:sp>
      <p:sp>
        <p:nvSpPr>
          <p:cNvPr id="10"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s-ES" dirty="0">
                <a:solidFill>
                  <a:srgbClr val="323232"/>
                </a:solidFill>
                <a:latin typeface="Avenir 35" panose="00000400000000000000" pitchFamily="2" charset="0"/>
              </a:rPr>
              <a:t>Nuestra Visión</a:t>
            </a:r>
          </a:p>
          <a:p>
            <a:endParaRPr lang="es-ES" dirty="0">
              <a:solidFill>
                <a:srgbClr val="323232"/>
              </a:solidFill>
              <a:latin typeface="Avenir 35" panose="00000400000000000000" pitchFamily="2" charset="0"/>
            </a:endParaRPr>
          </a:p>
        </p:txBody>
      </p:sp>
      <p:sp>
        <p:nvSpPr>
          <p:cNvPr id="39" name="Oval 22"/>
          <p:cNvSpPr/>
          <p:nvPr/>
        </p:nvSpPr>
        <p:spPr>
          <a:xfrm>
            <a:off x="1312334" y="1992057"/>
            <a:ext cx="648000" cy="648000"/>
          </a:xfrm>
          <a:prstGeom prst="ellipse">
            <a:avLst/>
          </a:prstGeom>
          <a:solidFill>
            <a:srgbClr val="0086AC"/>
          </a:solidFill>
          <a:ln w="25400" cap="flat" cmpd="sng" algn="ctr">
            <a:noFill/>
            <a:prstDash val="solid"/>
          </a:ln>
          <a:effectLst/>
        </p:spPr>
        <p:txBody>
          <a:bodyPr lIns="0" rIns="0" rtlCol="0" anchor="ctr"/>
          <a:lstStyle/>
          <a:p>
            <a:pPr algn="ctr"/>
            <a:endParaRPr lang="en-GB" sz="2000" b="1" kern="0" dirty="0">
              <a:solidFill>
                <a:schemeClr val="bg1">
                  <a:lumMod val="50000"/>
                </a:schemeClr>
              </a:solidFill>
              <a:effectLst>
                <a:outerShdw blurRad="38100" dist="38100" dir="2700000" algn="tl">
                  <a:srgbClr val="000000">
                    <a:alpha val="43137"/>
                  </a:srgbClr>
                </a:outerShdw>
              </a:effectLst>
              <a:latin typeface="Calibri"/>
            </a:endParaRPr>
          </a:p>
        </p:txBody>
      </p:sp>
      <p:sp>
        <p:nvSpPr>
          <p:cNvPr id="40" name="TextBox 25"/>
          <p:cNvSpPr txBox="1"/>
          <p:nvPr/>
        </p:nvSpPr>
        <p:spPr>
          <a:xfrm>
            <a:off x="560515" y="2992421"/>
            <a:ext cx="2328232" cy="507831"/>
          </a:xfrm>
          <a:prstGeom prst="rect">
            <a:avLst/>
          </a:prstGeom>
          <a:noFill/>
        </p:spPr>
        <p:txBody>
          <a:bodyPr wrap="square" rtlCol="0">
            <a:spAutoFit/>
          </a:bodyPr>
          <a:lstStyle/>
          <a:p>
            <a:pPr algn="ctr">
              <a:defRPr/>
            </a:pPr>
            <a:r>
              <a:rPr lang="es-ES" sz="900" dirty="0">
                <a:solidFill>
                  <a:schemeClr val="bg1">
                    <a:lumMod val="50000"/>
                  </a:schemeClr>
                </a:solidFill>
                <a:latin typeface="Avenir 35" panose="00000400000000000000" pitchFamily="2" charset="0"/>
              </a:rPr>
              <a:t>Arquitectura diseñada para el desarrollo futuro  de evolutivos, basada en una plataforma robusta y escalable</a:t>
            </a:r>
            <a:endParaRPr lang="es-ES" sz="900" b="1" dirty="0">
              <a:solidFill>
                <a:schemeClr val="bg1">
                  <a:lumMod val="50000"/>
                </a:schemeClr>
              </a:solidFill>
              <a:latin typeface="Avenir 35" panose="00000400000000000000" pitchFamily="2" charset="0"/>
            </a:endParaRPr>
          </a:p>
        </p:txBody>
      </p:sp>
      <p:sp>
        <p:nvSpPr>
          <p:cNvPr id="41" name="Oval 22"/>
          <p:cNvSpPr/>
          <p:nvPr/>
        </p:nvSpPr>
        <p:spPr>
          <a:xfrm>
            <a:off x="3512316" y="1992057"/>
            <a:ext cx="648000" cy="648000"/>
          </a:xfrm>
          <a:prstGeom prst="ellipse">
            <a:avLst/>
          </a:prstGeom>
          <a:solidFill>
            <a:srgbClr val="0086AC"/>
          </a:solidFill>
          <a:ln w="25400" cap="flat" cmpd="sng" algn="ctr">
            <a:noFill/>
            <a:prstDash val="solid"/>
          </a:ln>
          <a:effectLst/>
        </p:spPr>
        <p:txBody>
          <a:bodyPr lIns="0" rIns="0" rtlCol="0" anchor="ctr"/>
          <a:lstStyle/>
          <a:p>
            <a:pPr algn="ctr"/>
            <a:endParaRPr lang="id-ID" sz="2000" b="1" kern="0">
              <a:solidFill>
                <a:schemeClr val="bg1">
                  <a:lumMod val="50000"/>
                </a:schemeClr>
              </a:solidFill>
              <a:effectLst>
                <a:outerShdw blurRad="38100" dist="38100" dir="2700000" algn="tl">
                  <a:srgbClr val="000000">
                    <a:alpha val="43137"/>
                  </a:srgbClr>
                </a:outerShdw>
              </a:effectLst>
              <a:latin typeface="Calibri"/>
            </a:endParaRPr>
          </a:p>
        </p:txBody>
      </p:sp>
      <p:sp>
        <p:nvSpPr>
          <p:cNvPr id="42" name="TextBox 25"/>
          <p:cNvSpPr txBox="1"/>
          <p:nvPr/>
        </p:nvSpPr>
        <p:spPr>
          <a:xfrm>
            <a:off x="2838727" y="2992422"/>
            <a:ext cx="2088231" cy="507831"/>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Análisis y mejora iterativa tanto en campañas como en gestión de bases de datos</a:t>
            </a:r>
          </a:p>
        </p:txBody>
      </p:sp>
      <p:sp>
        <p:nvSpPr>
          <p:cNvPr id="43" name="Oval 22"/>
          <p:cNvSpPr/>
          <p:nvPr/>
        </p:nvSpPr>
        <p:spPr>
          <a:xfrm>
            <a:off x="1329578" y="3804592"/>
            <a:ext cx="648000" cy="648000"/>
          </a:xfrm>
          <a:prstGeom prst="ellipse">
            <a:avLst/>
          </a:prstGeom>
          <a:solidFill>
            <a:srgbClr val="0086AC"/>
          </a:solidFill>
          <a:ln w="25400" cap="flat" cmpd="sng" algn="ctr">
            <a:noFill/>
            <a:prstDash val="solid"/>
          </a:ln>
          <a:effectLst/>
        </p:spPr>
        <p:txBody>
          <a:bodyPr lIns="0" rIns="0" rtlCol="0" anchor="ctr"/>
          <a:lstStyle/>
          <a:p>
            <a:pPr algn="ctr"/>
            <a:endParaRPr lang="id-ID" sz="2000" b="1" kern="0">
              <a:solidFill>
                <a:schemeClr val="bg1">
                  <a:lumMod val="50000"/>
                </a:schemeClr>
              </a:solidFill>
              <a:effectLst>
                <a:outerShdw blurRad="38100" dist="38100" dir="2700000" algn="tl">
                  <a:srgbClr val="000000">
                    <a:alpha val="43137"/>
                  </a:srgbClr>
                </a:outerShdw>
              </a:effectLst>
              <a:latin typeface="Calibri"/>
            </a:endParaRPr>
          </a:p>
        </p:txBody>
      </p:sp>
      <p:sp>
        <p:nvSpPr>
          <p:cNvPr id="44" name="TextBox 25"/>
          <p:cNvSpPr txBox="1"/>
          <p:nvPr/>
        </p:nvSpPr>
        <p:spPr>
          <a:xfrm>
            <a:off x="447816" y="4802114"/>
            <a:ext cx="2328232" cy="646331"/>
          </a:xfrm>
          <a:prstGeom prst="rect">
            <a:avLst/>
          </a:prstGeom>
          <a:noFill/>
        </p:spPr>
        <p:txBody>
          <a:bodyPr wrap="square" rtlCol="0">
            <a:spAutoFit/>
          </a:bodyPr>
          <a:lstStyle/>
          <a:p>
            <a:pPr algn="ctr" defTabSz="914400">
              <a:defRPr/>
            </a:pPr>
            <a:r>
              <a:rPr lang="es-ES" sz="900" dirty="0">
                <a:solidFill>
                  <a:schemeClr val="bg1">
                    <a:lumMod val="50000"/>
                  </a:schemeClr>
                </a:solidFill>
                <a:latin typeface="Avenir 35" panose="00000400000000000000" pitchFamily="2" charset="0"/>
              </a:rPr>
              <a:t>Contemplación de oportunidades de integración de nuevas líneas (Car2Go, Fleet Management, Event Management…)</a:t>
            </a:r>
            <a:endParaRPr lang="es-ES" sz="900" b="1" dirty="0">
              <a:solidFill>
                <a:schemeClr val="bg1">
                  <a:lumMod val="50000"/>
                </a:schemeClr>
              </a:solidFill>
              <a:latin typeface="Avenir 35" panose="00000400000000000000" pitchFamily="2" charset="0"/>
            </a:endParaRPr>
          </a:p>
        </p:txBody>
      </p:sp>
      <p:sp>
        <p:nvSpPr>
          <p:cNvPr id="45" name="TextBox 26"/>
          <p:cNvSpPr txBox="1"/>
          <p:nvPr/>
        </p:nvSpPr>
        <p:spPr>
          <a:xfrm>
            <a:off x="416499" y="4583843"/>
            <a:ext cx="2232248"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NUEVAS LINEAS DE NEGOCIO</a:t>
            </a:r>
            <a:endParaRPr lang="id-ID" sz="1050" b="1" dirty="0">
              <a:solidFill>
                <a:schemeClr val="bg1">
                  <a:lumMod val="50000"/>
                </a:schemeClr>
              </a:solidFill>
              <a:latin typeface="Avenir 65" panose="02000600000000000000" pitchFamily="2" charset="0"/>
            </a:endParaRPr>
          </a:p>
        </p:txBody>
      </p:sp>
      <p:sp>
        <p:nvSpPr>
          <p:cNvPr id="46" name="Oval 22"/>
          <p:cNvSpPr/>
          <p:nvPr/>
        </p:nvSpPr>
        <p:spPr>
          <a:xfrm>
            <a:off x="3512316" y="3820529"/>
            <a:ext cx="648000" cy="648000"/>
          </a:xfrm>
          <a:prstGeom prst="ellipse">
            <a:avLst/>
          </a:prstGeom>
          <a:solidFill>
            <a:srgbClr val="0086AC"/>
          </a:solidFill>
          <a:ln w="25400" cap="flat" cmpd="sng" algn="ctr">
            <a:noFill/>
            <a:prstDash val="solid"/>
          </a:ln>
          <a:effectLst/>
        </p:spPr>
        <p:txBody>
          <a:bodyPr lIns="0" rIns="0" rtlCol="0" anchor="ctr"/>
          <a:lstStyle/>
          <a:p>
            <a:pPr algn="ctr"/>
            <a:endParaRPr lang="id-ID" sz="2000" b="1" kern="0">
              <a:solidFill>
                <a:schemeClr val="bg1">
                  <a:lumMod val="50000"/>
                </a:schemeClr>
              </a:solidFill>
              <a:effectLst>
                <a:outerShdw blurRad="38100" dist="38100" dir="2700000" algn="tl">
                  <a:srgbClr val="000000">
                    <a:alpha val="43137"/>
                  </a:srgbClr>
                </a:outerShdw>
              </a:effectLst>
              <a:latin typeface="Calibri"/>
            </a:endParaRPr>
          </a:p>
        </p:txBody>
      </p:sp>
      <p:sp>
        <p:nvSpPr>
          <p:cNvPr id="74" name="TextBox 25"/>
          <p:cNvSpPr txBox="1"/>
          <p:nvPr/>
        </p:nvSpPr>
        <p:spPr>
          <a:xfrm>
            <a:off x="2888744" y="4798190"/>
            <a:ext cx="2088231" cy="646331"/>
          </a:xfrm>
          <a:prstGeom prst="rect">
            <a:avLst/>
          </a:prstGeom>
          <a:noFill/>
        </p:spPr>
        <p:txBody>
          <a:bodyPr wrap="square" rtlCol="0">
            <a:spAutoFit/>
          </a:bodyPr>
          <a:lstStyle/>
          <a:p>
            <a:pPr algn="ctr" defTabSz="914400"/>
            <a:r>
              <a:rPr lang="es-ES" sz="900" dirty="0">
                <a:solidFill>
                  <a:schemeClr val="bg1">
                    <a:lumMod val="50000"/>
                  </a:schemeClr>
                </a:solidFill>
                <a:latin typeface="Avenir 35" panose="00000400000000000000" pitchFamily="2" charset="0"/>
              </a:rPr>
              <a:t>Control de resultados para asegurar la consecución de objetivos, proporcionando información de valor al negocio</a:t>
            </a:r>
            <a:endParaRPr lang="en-US" sz="900" dirty="0">
              <a:solidFill>
                <a:schemeClr val="bg1">
                  <a:lumMod val="50000"/>
                </a:schemeClr>
              </a:solidFill>
              <a:latin typeface="Avenir 35" panose="00000400000000000000" pitchFamily="2" charset="0"/>
            </a:endParaRPr>
          </a:p>
        </p:txBody>
      </p:sp>
      <p:sp>
        <p:nvSpPr>
          <p:cNvPr id="75" name="TextBox 26"/>
          <p:cNvSpPr txBox="1"/>
          <p:nvPr/>
        </p:nvSpPr>
        <p:spPr>
          <a:xfrm>
            <a:off x="3075238" y="4583843"/>
            <a:ext cx="1589730"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MONITORIZACIÓN</a:t>
            </a:r>
            <a:endParaRPr lang="id-ID" sz="1050" b="1" dirty="0">
              <a:solidFill>
                <a:schemeClr val="bg1">
                  <a:lumMod val="50000"/>
                </a:schemeClr>
              </a:solidFill>
              <a:latin typeface="Avenir 65" panose="02000600000000000000" pitchFamily="2" charset="0"/>
            </a:endParaRPr>
          </a:p>
        </p:txBody>
      </p:sp>
      <p:sp>
        <p:nvSpPr>
          <p:cNvPr id="76" name="TextBox 26"/>
          <p:cNvSpPr txBox="1"/>
          <p:nvPr/>
        </p:nvSpPr>
        <p:spPr>
          <a:xfrm>
            <a:off x="560514" y="2775209"/>
            <a:ext cx="2088232"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EVOLUTIVOS</a:t>
            </a:r>
            <a:endParaRPr lang="id-ID" sz="1050" b="1" dirty="0">
              <a:solidFill>
                <a:schemeClr val="bg1">
                  <a:lumMod val="50000"/>
                </a:schemeClr>
              </a:solidFill>
              <a:latin typeface="Avenir 65" panose="02000600000000000000" pitchFamily="2" charset="0"/>
            </a:endParaRPr>
          </a:p>
        </p:txBody>
      </p:sp>
      <p:sp>
        <p:nvSpPr>
          <p:cNvPr id="77" name="TextBox 26"/>
          <p:cNvSpPr txBox="1"/>
          <p:nvPr/>
        </p:nvSpPr>
        <p:spPr>
          <a:xfrm>
            <a:off x="2828773" y="2775209"/>
            <a:ext cx="1980215" cy="253916"/>
          </a:xfrm>
          <a:prstGeom prst="rect">
            <a:avLst/>
          </a:prstGeom>
          <a:noFill/>
        </p:spPr>
        <p:txBody>
          <a:bodyPr wrap="square" rtlCol="0">
            <a:spAutoFit/>
          </a:bodyPr>
          <a:lstStyle/>
          <a:p>
            <a:pPr algn="ctr" defTabSz="914400">
              <a:defRPr/>
            </a:pPr>
            <a:r>
              <a:rPr lang="es-ES" sz="1050" b="1" dirty="0">
                <a:solidFill>
                  <a:schemeClr val="bg1">
                    <a:lumMod val="50000"/>
                  </a:schemeClr>
                </a:solidFill>
                <a:latin typeface="Avenir 65" panose="02000600000000000000" pitchFamily="2" charset="0"/>
              </a:rPr>
              <a:t>MEJORA CONTINUA</a:t>
            </a:r>
            <a:endParaRPr lang="id-ID" sz="1050" b="1" dirty="0">
              <a:solidFill>
                <a:schemeClr val="bg1">
                  <a:lumMod val="50000"/>
                </a:schemeClr>
              </a:solidFill>
              <a:latin typeface="Avenir 65" panose="02000600000000000000" pitchFamily="2" charset="0"/>
            </a:endParaRPr>
          </a:p>
        </p:txBody>
      </p:sp>
      <p:grpSp>
        <p:nvGrpSpPr>
          <p:cNvPr id="78" name="77 Grupo"/>
          <p:cNvGrpSpPr/>
          <p:nvPr/>
        </p:nvGrpSpPr>
        <p:grpSpPr>
          <a:xfrm>
            <a:off x="5025008" y="2270440"/>
            <a:ext cx="4673556" cy="3606832"/>
            <a:chOff x="4891814" y="2051199"/>
            <a:chExt cx="4673556" cy="3606832"/>
          </a:xfrm>
        </p:grpSpPr>
        <p:sp>
          <p:nvSpPr>
            <p:cNvPr id="79" name="Freeform 6"/>
            <p:cNvSpPr>
              <a:spLocks/>
            </p:cNvSpPr>
            <p:nvPr/>
          </p:nvSpPr>
          <p:spPr bwMode="auto">
            <a:xfrm>
              <a:off x="6930517" y="2051199"/>
              <a:ext cx="1968103" cy="1541860"/>
            </a:xfrm>
            <a:custGeom>
              <a:avLst/>
              <a:gdLst>
                <a:gd name="T0" fmla="*/ 3 w 227"/>
                <a:gd name="T1" fmla="*/ 68 h 178"/>
                <a:gd name="T2" fmla="*/ 112 w 227"/>
                <a:gd name="T3" fmla="*/ 178 h 178"/>
                <a:gd name="T4" fmla="*/ 227 w 227"/>
                <a:gd name="T5" fmla="*/ 63 h 178"/>
                <a:gd name="T6" fmla="*/ 3 w 227"/>
                <a:gd name="T7" fmla="*/ 58 h 178"/>
                <a:gd name="T8" fmla="*/ 3 w 227"/>
                <a:gd name="T9" fmla="*/ 68 h 178"/>
              </a:gdLst>
              <a:ahLst/>
              <a:cxnLst>
                <a:cxn ang="0">
                  <a:pos x="T0" y="T1"/>
                </a:cxn>
                <a:cxn ang="0">
                  <a:pos x="T2" y="T3"/>
                </a:cxn>
                <a:cxn ang="0">
                  <a:pos x="T4" y="T5"/>
                </a:cxn>
                <a:cxn ang="0">
                  <a:pos x="T6" y="T7"/>
                </a:cxn>
                <a:cxn ang="0">
                  <a:pos x="T8" y="T9"/>
                </a:cxn>
              </a:cxnLst>
              <a:rect l="0" t="0" r="r" b="b"/>
              <a:pathLst>
                <a:path w="227" h="178">
                  <a:moveTo>
                    <a:pt x="3" y="68"/>
                  </a:moveTo>
                  <a:cubicBezTo>
                    <a:pt x="112" y="178"/>
                    <a:pt x="112" y="178"/>
                    <a:pt x="112" y="178"/>
                  </a:cubicBezTo>
                  <a:cubicBezTo>
                    <a:pt x="227" y="63"/>
                    <a:pt x="227" y="63"/>
                    <a:pt x="227" y="63"/>
                  </a:cubicBezTo>
                  <a:cubicBezTo>
                    <a:pt x="166" y="1"/>
                    <a:pt x="67" y="0"/>
                    <a:pt x="3" y="58"/>
                  </a:cubicBezTo>
                  <a:cubicBezTo>
                    <a:pt x="0" y="60"/>
                    <a:pt x="0" y="65"/>
                    <a:pt x="3" y="68"/>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80" name="Freeform 8"/>
            <p:cNvSpPr>
              <a:spLocks/>
            </p:cNvSpPr>
            <p:nvPr/>
          </p:nvSpPr>
          <p:spPr bwMode="auto">
            <a:xfrm>
              <a:off x="8196151" y="2519114"/>
              <a:ext cx="1369219" cy="1801416"/>
            </a:xfrm>
            <a:custGeom>
              <a:avLst/>
              <a:gdLst>
                <a:gd name="T0" fmla="*/ 87 w 158"/>
                <a:gd name="T1" fmla="*/ 3 h 208"/>
                <a:gd name="T2" fmla="*/ 0 w 158"/>
                <a:gd name="T3" fmla="*/ 90 h 208"/>
                <a:gd name="T4" fmla="*/ 114 w 158"/>
                <a:gd name="T5" fmla="*/ 205 h 208"/>
                <a:gd name="T6" fmla="*/ 126 w 158"/>
                <a:gd name="T7" fmla="*/ 203 h 208"/>
                <a:gd name="T8" fmla="*/ 98 w 158"/>
                <a:gd name="T9" fmla="*/ 3 h 208"/>
                <a:gd name="T10" fmla="*/ 87 w 158"/>
                <a:gd name="T11" fmla="*/ 3 h 208"/>
              </a:gdLst>
              <a:ahLst/>
              <a:cxnLst>
                <a:cxn ang="0">
                  <a:pos x="T0" y="T1"/>
                </a:cxn>
                <a:cxn ang="0">
                  <a:pos x="T2" y="T3"/>
                </a:cxn>
                <a:cxn ang="0">
                  <a:pos x="T4" y="T5"/>
                </a:cxn>
                <a:cxn ang="0">
                  <a:pos x="T6" y="T7"/>
                </a:cxn>
                <a:cxn ang="0">
                  <a:pos x="T8" y="T9"/>
                </a:cxn>
                <a:cxn ang="0">
                  <a:pos x="T10" y="T11"/>
                </a:cxn>
              </a:cxnLst>
              <a:rect l="0" t="0" r="r" b="b"/>
              <a:pathLst>
                <a:path w="158" h="208">
                  <a:moveTo>
                    <a:pt x="87" y="3"/>
                  </a:moveTo>
                  <a:cubicBezTo>
                    <a:pt x="0" y="90"/>
                    <a:pt x="0" y="90"/>
                    <a:pt x="0" y="90"/>
                  </a:cubicBezTo>
                  <a:cubicBezTo>
                    <a:pt x="114" y="205"/>
                    <a:pt x="114" y="205"/>
                    <a:pt x="114" y="205"/>
                  </a:cubicBezTo>
                  <a:cubicBezTo>
                    <a:pt x="118" y="208"/>
                    <a:pt x="124" y="207"/>
                    <a:pt x="126" y="203"/>
                  </a:cubicBezTo>
                  <a:cubicBezTo>
                    <a:pt x="158" y="138"/>
                    <a:pt x="148" y="59"/>
                    <a:pt x="98" y="3"/>
                  </a:cubicBezTo>
                  <a:cubicBezTo>
                    <a:pt x="95" y="0"/>
                    <a:pt x="90" y="0"/>
                    <a:pt x="87" y="3"/>
                  </a:cubicBez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81" name="Freeform 9"/>
            <p:cNvSpPr>
              <a:spLocks/>
            </p:cNvSpPr>
            <p:nvPr/>
          </p:nvSpPr>
          <p:spPr bwMode="auto">
            <a:xfrm>
              <a:off x="7615125" y="3297783"/>
              <a:ext cx="1473994" cy="1472804"/>
            </a:xfrm>
            <a:custGeom>
              <a:avLst/>
              <a:gdLst>
                <a:gd name="T0" fmla="*/ 0 w 170"/>
                <a:gd name="T1" fmla="*/ 67 h 170"/>
                <a:gd name="T2" fmla="*/ 103 w 170"/>
                <a:gd name="T3" fmla="*/ 170 h 170"/>
                <a:gd name="T4" fmla="*/ 142 w 170"/>
                <a:gd name="T5" fmla="*/ 142 h 170"/>
                <a:gd name="T6" fmla="*/ 170 w 170"/>
                <a:gd name="T7" fmla="*/ 103 h 170"/>
                <a:gd name="T8" fmla="*/ 67 w 170"/>
                <a:gd name="T9" fmla="*/ 0 h 170"/>
                <a:gd name="T10" fmla="*/ 0 w 170"/>
                <a:gd name="T11" fmla="*/ 67 h 170"/>
              </a:gdLst>
              <a:ahLst/>
              <a:cxnLst>
                <a:cxn ang="0">
                  <a:pos x="T0" y="T1"/>
                </a:cxn>
                <a:cxn ang="0">
                  <a:pos x="T2" y="T3"/>
                </a:cxn>
                <a:cxn ang="0">
                  <a:pos x="T4" y="T5"/>
                </a:cxn>
                <a:cxn ang="0">
                  <a:pos x="T6" y="T7"/>
                </a:cxn>
                <a:cxn ang="0">
                  <a:pos x="T8" y="T9"/>
                </a:cxn>
                <a:cxn ang="0">
                  <a:pos x="T10" y="T11"/>
                </a:cxn>
              </a:cxnLst>
              <a:rect l="0" t="0" r="r" b="b"/>
              <a:pathLst>
                <a:path w="170" h="170">
                  <a:moveTo>
                    <a:pt x="0" y="67"/>
                  </a:moveTo>
                  <a:cubicBezTo>
                    <a:pt x="103" y="170"/>
                    <a:pt x="103" y="170"/>
                    <a:pt x="103" y="170"/>
                  </a:cubicBezTo>
                  <a:cubicBezTo>
                    <a:pt x="117" y="163"/>
                    <a:pt x="130" y="153"/>
                    <a:pt x="142" y="142"/>
                  </a:cubicBezTo>
                  <a:cubicBezTo>
                    <a:pt x="153" y="130"/>
                    <a:pt x="163" y="117"/>
                    <a:pt x="170" y="103"/>
                  </a:cubicBezTo>
                  <a:cubicBezTo>
                    <a:pt x="67" y="0"/>
                    <a:pt x="67" y="0"/>
                    <a:pt x="67" y="0"/>
                  </a:cubicBezTo>
                  <a:lnTo>
                    <a:pt x="0" y="67"/>
                  </a:ln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82" name="Freeform 7"/>
            <p:cNvSpPr>
              <a:spLocks/>
            </p:cNvSpPr>
            <p:nvPr/>
          </p:nvSpPr>
          <p:spPr bwMode="auto">
            <a:xfrm>
              <a:off x="6888763" y="3868176"/>
              <a:ext cx="1716881" cy="1298972"/>
            </a:xfrm>
            <a:custGeom>
              <a:avLst/>
              <a:gdLst>
                <a:gd name="T0" fmla="*/ 3 w 198"/>
                <a:gd name="T1" fmla="*/ 93 h 150"/>
                <a:gd name="T2" fmla="*/ 192 w 198"/>
                <a:gd name="T3" fmla="*/ 121 h 150"/>
                <a:gd name="T4" fmla="*/ 194 w 198"/>
                <a:gd name="T5" fmla="*/ 109 h 150"/>
                <a:gd name="T6" fmla="*/ 85 w 198"/>
                <a:gd name="T7" fmla="*/ 0 h 150"/>
                <a:gd name="T8" fmla="*/ 3 w 198"/>
                <a:gd name="T9" fmla="*/ 82 h 150"/>
                <a:gd name="T10" fmla="*/ 3 w 198"/>
                <a:gd name="T11" fmla="*/ 93 h 150"/>
              </a:gdLst>
              <a:ahLst/>
              <a:cxnLst>
                <a:cxn ang="0">
                  <a:pos x="T0" y="T1"/>
                </a:cxn>
                <a:cxn ang="0">
                  <a:pos x="T2" y="T3"/>
                </a:cxn>
                <a:cxn ang="0">
                  <a:pos x="T4" y="T5"/>
                </a:cxn>
                <a:cxn ang="0">
                  <a:pos x="T6" y="T7"/>
                </a:cxn>
                <a:cxn ang="0">
                  <a:pos x="T8" y="T9"/>
                </a:cxn>
                <a:cxn ang="0">
                  <a:pos x="T10" y="T11"/>
                </a:cxn>
              </a:cxnLst>
              <a:rect l="0" t="0" r="r" b="b"/>
              <a:pathLst>
                <a:path w="198" h="150">
                  <a:moveTo>
                    <a:pt x="3" y="93"/>
                  </a:moveTo>
                  <a:cubicBezTo>
                    <a:pt x="56" y="141"/>
                    <a:pt x="131" y="150"/>
                    <a:pt x="192" y="121"/>
                  </a:cubicBezTo>
                  <a:cubicBezTo>
                    <a:pt x="196" y="119"/>
                    <a:pt x="198" y="113"/>
                    <a:pt x="194" y="109"/>
                  </a:cubicBezTo>
                  <a:cubicBezTo>
                    <a:pt x="85" y="0"/>
                    <a:pt x="85" y="0"/>
                    <a:pt x="85" y="0"/>
                  </a:cubicBezTo>
                  <a:cubicBezTo>
                    <a:pt x="3" y="82"/>
                    <a:pt x="3" y="82"/>
                    <a:pt x="3" y="82"/>
                  </a:cubicBezTo>
                  <a:cubicBezTo>
                    <a:pt x="0" y="85"/>
                    <a:pt x="0" y="90"/>
                    <a:pt x="3" y="93"/>
                  </a:cubicBezTo>
                  <a:close/>
                </a:path>
              </a:pathLst>
            </a:custGeom>
            <a:solidFill>
              <a:schemeClr val="bg1">
                <a:lumMod val="65000"/>
              </a:schemeClr>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83" name="Freeform 5"/>
            <p:cNvSpPr>
              <a:spLocks/>
            </p:cNvSpPr>
            <p:nvPr/>
          </p:nvSpPr>
          <p:spPr bwMode="auto">
            <a:xfrm>
              <a:off x="6566185" y="2726283"/>
              <a:ext cx="1334690" cy="1724026"/>
            </a:xfrm>
            <a:custGeom>
              <a:avLst/>
              <a:gdLst>
                <a:gd name="T0" fmla="*/ 55 w 154"/>
                <a:gd name="T1" fmla="*/ 199 h 199"/>
                <a:gd name="T2" fmla="*/ 154 w 154"/>
                <a:gd name="T3" fmla="*/ 100 h 199"/>
                <a:gd name="T4" fmla="*/ 55 w 154"/>
                <a:gd name="T5" fmla="*/ 0 h 199"/>
                <a:gd name="T6" fmla="*/ 55 w 154"/>
                <a:gd name="T7" fmla="*/ 199 h 199"/>
              </a:gdLst>
              <a:ahLst/>
              <a:cxnLst>
                <a:cxn ang="0">
                  <a:pos x="T0" y="T1"/>
                </a:cxn>
                <a:cxn ang="0">
                  <a:pos x="T2" y="T3"/>
                </a:cxn>
                <a:cxn ang="0">
                  <a:pos x="T4" y="T5"/>
                </a:cxn>
                <a:cxn ang="0">
                  <a:pos x="T6" y="T7"/>
                </a:cxn>
              </a:cxnLst>
              <a:rect l="0" t="0" r="r" b="b"/>
              <a:pathLst>
                <a:path w="154" h="199">
                  <a:moveTo>
                    <a:pt x="55" y="199"/>
                  </a:moveTo>
                  <a:cubicBezTo>
                    <a:pt x="154" y="100"/>
                    <a:pt x="154" y="100"/>
                    <a:pt x="154" y="100"/>
                  </a:cubicBezTo>
                  <a:cubicBezTo>
                    <a:pt x="55" y="0"/>
                    <a:pt x="55" y="0"/>
                    <a:pt x="55" y="0"/>
                  </a:cubicBezTo>
                  <a:cubicBezTo>
                    <a:pt x="0" y="55"/>
                    <a:pt x="0" y="144"/>
                    <a:pt x="55" y="199"/>
                  </a:cubicBezTo>
                  <a:close/>
                </a:path>
              </a:pathLst>
            </a:custGeom>
            <a:solidFill>
              <a:srgbClr val="0086AC"/>
            </a:solidFill>
            <a:ln>
              <a:solidFill>
                <a:schemeClr val="bg1"/>
              </a:soli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445469"/>
                </a:solidFill>
                <a:effectLst/>
                <a:uLnTx/>
                <a:uFillTx/>
                <a:latin typeface="Roboto Regular" charset="0"/>
              </a:endParaRPr>
            </a:p>
          </p:txBody>
        </p:sp>
        <p:sp>
          <p:nvSpPr>
            <p:cNvPr id="84" name="Freeform 11"/>
            <p:cNvSpPr/>
            <p:nvPr/>
          </p:nvSpPr>
          <p:spPr>
            <a:xfrm flipH="1" flipV="1">
              <a:off x="5228167" y="4220588"/>
              <a:ext cx="1660595" cy="1157606"/>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noFill/>
            <a:ln w="6350" cap="flat" cmpd="sng" algn="ctr">
              <a:solidFill>
                <a:srgbClr val="0097B7">
                  <a:alpha val="50000"/>
                </a:srgbClr>
              </a:solidFill>
              <a:prstDash val="solid"/>
              <a:miter lim="800000"/>
              <a:headEnd type="none"/>
              <a:tailEnd type="oval" w="lg" len="lg"/>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445469"/>
                </a:solidFill>
                <a:effectLst/>
                <a:uLnTx/>
                <a:uFillTx/>
                <a:latin typeface="Roboto Regular" charset="0"/>
              </a:endParaRPr>
            </a:p>
          </p:txBody>
        </p:sp>
        <p:sp>
          <p:nvSpPr>
            <p:cNvPr id="85" name="TextBox 12"/>
            <p:cNvSpPr txBox="1"/>
            <p:nvPr/>
          </p:nvSpPr>
          <p:spPr>
            <a:xfrm>
              <a:off x="4891814" y="5158407"/>
              <a:ext cx="1704506" cy="499624"/>
            </a:xfrm>
            <a:prstGeom prst="rect">
              <a:avLst/>
            </a:prstGeom>
            <a:noFill/>
          </p:spPr>
          <p:txBody>
            <a:bodyPr wrap="square" lIns="91440" rIns="91440" rtlCol="0">
              <a:spAutoFit/>
            </a:bodyPr>
            <a:lstStyle/>
            <a:p>
              <a:pPr algn="r">
                <a:lnSpc>
                  <a:spcPct val="90000"/>
                </a:lnSpc>
                <a:spcBef>
                  <a:spcPts val="800"/>
                </a:spcBef>
              </a:pPr>
              <a:r>
                <a:rPr lang="en-US" sz="1200" b="1" dirty="0">
                  <a:solidFill>
                    <a:schemeClr val="bg1">
                      <a:lumMod val="50000"/>
                    </a:schemeClr>
                  </a:solidFill>
                  <a:latin typeface="Avenir 65" panose="02000600000000000000" pitchFamily="2" charset="0"/>
                </a:rPr>
                <a:t>EVOLUCIONAR</a:t>
              </a:r>
            </a:p>
            <a:p>
              <a:pPr algn="r">
                <a:lnSpc>
                  <a:spcPct val="90000"/>
                </a:lnSpc>
                <a:spcBef>
                  <a:spcPts val="800"/>
                </a:spcBef>
              </a:pPr>
              <a:r>
                <a:rPr lang="en-US" sz="900" b="1" dirty="0">
                  <a:solidFill>
                    <a:schemeClr val="bg1">
                      <a:lumMod val="50000"/>
                    </a:schemeClr>
                  </a:solidFill>
                  <a:latin typeface="Avenir 35" panose="00000400000000000000" pitchFamily="2" charset="0"/>
                </a:rPr>
                <a:t> </a:t>
              </a:r>
            </a:p>
          </p:txBody>
        </p:sp>
        <p:sp>
          <p:nvSpPr>
            <p:cNvPr id="86" name="85 Rectángulo"/>
            <p:cNvSpPr/>
            <p:nvPr/>
          </p:nvSpPr>
          <p:spPr>
            <a:xfrm>
              <a:off x="7738975" y="2593486"/>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01</a:t>
              </a:r>
            </a:p>
          </p:txBody>
        </p:sp>
        <p:sp>
          <p:nvSpPr>
            <p:cNvPr id="87" name="86 Rectángulo"/>
            <p:cNvSpPr/>
            <p:nvPr/>
          </p:nvSpPr>
          <p:spPr>
            <a:xfrm>
              <a:off x="8805232" y="3218964"/>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02</a:t>
              </a:r>
            </a:p>
          </p:txBody>
        </p:sp>
        <p:sp>
          <p:nvSpPr>
            <p:cNvPr id="88" name="87 Rectángulo"/>
            <p:cNvSpPr/>
            <p:nvPr/>
          </p:nvSpPr>
          <p:spPr>
            <a:xfrm>
              <a:off x="8256746" y="4034185"/>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03</a:t>
              </a:r>
            </a:p>
          </p:txBody>
        </p:sp>
        <p:sp>
          <p:nvSpPr>
            <p:cNvPr id="89" name="88 Rectángulo"/>
            <p:cNvSpPr/>
            <p:nvPr/>
          </p:nvSpPr>
          <p:spPr>
            <a:xfrm>
              <a:off x="7476342" y="4424990"/>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04</a:t>
              </a:r>
            </a:p>
          </p:txBody>
        </p:sp>
        <p:sp>
          <p:nvSpPr>
            <p:cNvPr id="90" name="89 Rectángulo"/>
            <p:cNvSpPr/>
            <p:nvPr/>
          </p:nvSpPr>
          <p:spPr>
            <a:xfrm>
              <a:off x="6782397" y="3427520"/>
              <a:ext cx="457176" cy="369332"/>
            </a:xfrm>
            <a:prstGeom prst="rect">
              <a:avLst/>
            </a:prstGeom>
          </p:spPr>
          <p:txBody>
            <a:bodyPr wrap="none">
              <a:spAutoFit/>
            </a:bodyPr>
            <a:lstStyle/>
            <a:p>
              <a:pPr lvl="0">
                <a:defRPr/>
              </a:pPr>
              <a:r>
                <a:rPr lang="en-US" b="1" kern="0" dirty="0">
                  <a:solidFill>
                    <a:srgbClr val="FFFFFF"/>
                  </a:solidFill>
                  <a:latin typeface="Avenir 65" panose="02000600000000000000" pitchFamily="2" charset="0"/>
                </a:rPr>
                <a:t>05</a:t>
              </a:r>
            </a:p>
          </p:txBody>
        </p:sp>
        <p:sp>
          <p:nvSpPr>
            <p:cNvPr id="91" name="90 Elipse"/>
            <p:cNvSpPr/>
            <p:nvPr/>
          </p:nvSpPr>
          <p:spPr>
            <a:xfrm>
              <a:off x="7476342" y="3127725"/>
              <a:ext cx="952172" cy="9521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92" name="Rectangle 45"/>
            <p:cNvSpPr/>
            <p:nvPr/>
          </p:nvSpPr>
          <p:spPr>
            <a:xfrm>
              <a:off x="7558329" y="3307315"/>
              <a:ext cx="776276" cy="583227"/>
            </a:xfrm>
            <a:prstGeom prst="rect">
              <a:avLst/>
            </a:prstGeom>
            <a:no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chemeClr val="tx1">
                      <a:lumMod val="50000"/>
                      <a:lumOff val="50000"/>
                    </a:schemeClr>
                  </a:solidFill>
                  <a:effectLst/>
                  <a:uLnTx/>
                  <a:uFillTx/>
                  <a:latin typeface="Avenir 35" panose="00000400000000000000" pitchFamily="2" charset="0"/>
                </a:rPr>
                <a:t>Your</a:t>
              </a:r>
            </a:p>
            <a:p>
              <a:pPr marL="0" marR="0" lvl="0" indent="0" algn="ctr" defTabSz="914400" eaLnBrk="1" fontAlgn="auto" latinLnBrk="0" hangingPunct="1">
                <a:lnSpc>
                  <a:spcPct val="100000"/>
                </a:lnSpc>
                <a:spcBef>
                  <a:spcPts val="0"/>
                </a:spcBef>
                <a:spcAft>
                  <a:spcPts val="0"/>
                </a:spcAft>
                <a:buClrTx/>
                <a:buSzTx/>
                <a:buFontTx/>
                <a:buNone/>
                <a:tabLst/>
                <a:defRPr/>
              </a:pPr>
              <a:r>
                <a:rPr lang="en-US" sz="1600" kern="0" dirty="0">
                  <a:solidFill>
                    <a:schemeClr val="tx1">
                      <a:lumMod val="50000"/>
                      <a:lumOff val="50000"/>
                    </a:schemeClr>
                  </a:solidFill>
                  <a:latin typeface="Avenir 35" panose="00000400000000000000" pitchFamily="2" charset="0"/>
                </a:rPr>
                <a:t>Goals</a:t>
              </a:r>
              <a:endParaRPr kumimoji="0" lang="en-US" sz="1600" i="0" u="none" strike="noStrike" kern="0" cap="none" spc="0" normalizeH="0" baseline="0" dirty="0">
                <a:ln>
                  <a:noFill/>
                </a:ln>
                <a:solidFill>
                  <a:schemeClr val="tx1">
                    <a:lumMod val="50000"/>
                    <a:lumOff val="50000"/>
                  </a:schemeClr>
                </a:solidFill>
                <a:effectLst/>
                <a:uLnTx/>
                <a:uFillTx/>
                <a:latin typeface="Avenir 35" panose="00000400000000000000" pitchFamily="2" charset="0"/>
              </a:endParaRPr>
            </a:p>
          </p:txBody>
        </p:sp>
      </p:grpSp>
      <p:sp>
        <p:nvSpPr>
          <p:cNvPr id="93" name="Freeform 108"/>
          <p:cNvSpPr>
            <a:spLocks noEditPoints="1"/>
          </p:cNvSpPr>
          <p:nvPr/>
        </p:nvSpPr>
        <p:spPr bwMode="auto">
          <a:xfrm>
            <a:off x="3693982" y="4002619"/>
            <a:ext cx="284668" cy="283829"/>
          </a:xfrm>
          <a:custGeom>
            <a:avLst/>
            <a:gdLst>
              <a:gd name="T0" fmla="*/ 185 w 186"/>
              <a:gd name="T1" fmla="*/ 178 h 186"/>
              <a:gd name="T2" fmla="*/ 140 w 186"/>
              <a:gd name="T3" fmla="*/ 134 h 186"/>
              <a:gd name="T4" fmla="*/ 161 w 186"/>
              <a:gd name="T5" fmla="*/ 80 h 186"/>
              <a:gd name="T6" fmla="*/ 81 w 186"/>
              <a:gd name="T7" fmla="*/ 0 h 186"/>
              <a:gd name="T8" fmla="*/ 0 w 186"/>
              <a:gd name="T9" fmla="*/ 80 h 186"/>
              <a:gd name="T10" fmla="*/ 81 w 186"/>
              <a:gd name="T11" fmla="*/ 160 h 186"/>
              <a:gd name="T12" fmla="*/ 134 w 186"/>
              <a:gd name="T13" fmla="*/ 140 h 186"/>
              <a:gd name="T14" fmla="*/ 179 w 186"/>
              <a:gd name="T15" fmla="*/ 184 h 186"/>
              <a:gd name="T16" fmla="*/ 182 w 186"/>
              <a:gd name="T17" fmla="*/ 186 h 186"/>
              <a:gd name="T18" fmla="*/ 186 w 186"/>
              <a:gd name="T19" fmla="*/ 181 h 186"/>
              <a:gd name="T20" fmla="*/ 185 w 186"/>
              <a:gd name="T21" fmla="*/ 178 h 186"/>
              <a:gd name="T22" fmla="*/ 81 w 186"/>
              <a:gd name="T23" fmla="*/ 152 h 186"/>
              <a:gd name="T24" fmla="*/ 9 w 186"/>
              <a:gd name="T25" fmla="*/ 80 h 186"/>
              <a:gd name="T26" fmla="*/ 81 w 186"/>
              <a:gd name="T27" fmla="*/ 8 h 186"/>
              <a:gd name="T28" fmla="*/ 152 w 186"/>
              <a:gd name="T29" fmla="*/ 80 h 186"/>
              <a:gd name="T30" fmla="*/ 81 w 186"/>
              <a:gd name="T31" fmla="*/ 152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6" h="186">
                <a:moveTo>
                  <a:pt x="185" y="178"/>
                </a:moveTo>
                <a:cubicBezTo>
                  <a:pt x="140" y="134"/>
                  <a:pt x="140" y="134"/>
                  <a:pt x="140" y="134"/>
                </a:cubicBezTo>
                <a:cubicBezTo>
                  <a:pt x="153" y="119"/>
                  <a:pt x="161" y="101"/>
                  <a:pt x="161" y="80"/>
                </a:cubicBezTo>
                <a:cubicBezTo>
                  <a:pt x="161" y="36"/>
                  <a:pt x="125" y="0"/>
                  <a:pt x="81" y="0"/>
                </a:cubicBezTo>
                <a:cubicBezTo>
                  <a:pt x="36" y="0"/>
                  <a:pt x="0" y="36"/>
                  <a:pt x="0" y="80"/>
                </a:cubicBezTo>
                <a:cubicBezTo>
                  <a:pt x="0" y="124"/>
                  <a:pt x="36" y="160"/>
                  <a:pt x="81" y="160"/>
                </a:cubicBezTo>
                <a:cubicBezTo>
                  <a:pt x="101" y="160"/>
                  <a:pt x="120" y="152"/>
                  <a:pt x="134" y="140"/>
                </a:cubicBezTo>
                <a:cubicBezTo>
                  <a:pt x="179" y="184"/>
                  <a:pt x="179" y="184"/>
                  <a:pt x="179" y="184"/>
                </a:cubicBezTo>
                <a:cubicBezTo>
                  <a:pt x="180" y="185"/>
                  <a:pt x="181" y="186"/>
                  <a:pt x="182" y="186"/>
                </a:cubicBezTo>
                <a:cubicBezTo>
                  <a:pt x="184" y="186"/>
                  <a:pt x="186" y="184"/>
                  <a:pt x="186" y="181"/>
                </a:cubicBezTo>
                <a:cubicBezTo>
                  <a:pt x="186" y="180"/>
                  <a:pt x="186" y="179"/>
                  <a:pt x="185" y="178"/>
                </a:cubicBezTo>
                <a:close/>
                <a:moveTo>
                  <a:pt x="81" y="152"/>
                </a:moveTo>
                <a:cubicBezTo>
                  <a:pt x="41" y="152"/>
                  <a:pt x="9" y="120"/>
                  <a:pt x="9" y="80"/>
                </a:cubicBezTo>
                <a:cubicBezTo>
                  <a:pt x="9" y="41"/>
                  <a:pt x="41" y="8"/>
                  <a:pt x="81" y="8"/>
                </a:cubicBezTo>
                <a:cubicBezTo>
                  <a:pt x="120" y="8"/>
                  <a:pt x="152" y="41"/>
                  <a:pt x="152" y="80"/>
                </a:cubicBezTo>
                <a:cubicBezTo>
                  <a:pt x="152" y="120"/>
                  <a:pt x="120" y="152"/>
                  <a:pt x="81" y="152"/>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solidFill>
                <a:schemeClr val="bg1">
                  <a:lumMod val="50000"/>
                </a:schemeClr>
              </a:solidFill>
            </a:endParaRPr>
          </a:p>
        </p:txBody>
      </p:sp>
      <p:sp>
        <p:nvSpPr>
          <p:cNvPr id="94" name="Freeform 298"/>
          <p:cNvSpPr>
            <a:spLocks/>
          </p:cNvSpPr>
          <p:nvPr/>
        </p:nvSpPr>
        <p:spPr bwMode="auto">
          <a:xfrm>
            <a:off x="3709011" y="2110136"/>
            <a:ext cx="254615" cy="311810"/>
          </a:xfrm>
          <a:custGeom>
            <a:avLst/>
            <a:gdLst>
              <a:gd name="T0" fmla="*/ 148 w 152"/>
              <a:gd name="T1" fmla="*/ 106 h 186"/>
              <a:gd name="T2" fmla="*/ 143 w 152"/>
              <a:gd name="T3" fmla="*/ 110 h 186"/>
              <a:gd name="T4" fmla="*/ 76 w 152"/>
              <a:gd name="T5" fmla="*/ 177 h 186"/>
              <a:gd name="T6" fmla="*/ 8 w 152"/>
              <a:gd name="T7" fmla="*/ 110 h 186"/>
              <a:gd name="T8" fmla="*/ 76 w 152"/>
              <a:gd name="T9" fmla="*/ 42 h 186"/>
              <a:gd name="T10" fmla="*/ 104 w 152"/>
              <a:gd name="T11" fmla="*/ 42 h 186"/>
              <a:gd name="T12" fmla="*/ 78 w 152"/>
              <a:gd name="T13" fmla="*/ 68 h 186"/>
              <a:gd name="T14" fmla="*/ 78 w 152"/>
              <a:gd name="T15" fmla="*/ 68 h 186"/>
              <a:gd name="T16" fmla="*/ 76 w 152"/>
              <a:gd name="T17" fmla="*/ 72 h 186"/>
              <a:gd name="T18" fmla="*/ 80 w 152"/>
              <a:gd name="T19" fmla="*/ 76 h 186"/>
              <a:gd name="T20" fmla="*/ 82 w 152"/>
              <a:gd name="T21" fmla="*/ 75 h 186"/>
              <a:gd name="T22" fmla="*/ 82 w 152"/>
              <a:gd name="T23" fmla="*/ 75 h 186"/>
              <a:gd name="T24" fmla="*/ 83 w 152"/>
              <a:gd name="T25" fmla="*/ 75 h 186"/>
              <a:gd name="T26" fmla="*/ 83 w 152"/>
              <a:gd name="T27" fmla="*/ 75 h 186"/>
              <a:gd name="T28" fmla="*/ 116 w 152"/>
              <a:gd name="T29" fmla="*/ 42 h 186"/>
              <a:gd name="T30" fmla="*/ 116 w 152"/>
              <a:gd name="T31" fmla="*/ 42 h 186"/>
              <a:gd name="T32" fmla="*/ 118 w 152"/>
              <a:gd name="T33" fmla="*/ 38 h 186"/>
              <a:gd name="T34" fmla="*/ 116 w 152"/>
              <a:gd name="T35" fmla="*/ 35 h 186"/>
              <a:gd name="T36" fmla="*/ 116 w 152"/>
              <a:gd name="T37" fmla="*/ 35 h 186"/>
              <a:gd name="T38" fmla="*/ 83 w 152"/>
              <a:gd name="T39" fmla="*/ 2 h 186"/>
              <a:gd name="T40" fmla="*/ 83 w 152"/>
              <a:gd name="T41" fmla="*/ 1 h 186"/>
              <a:gd name="T42" fmla="*/ 82 w 152"/>
              <a:gd name="T43" fmla="*/ 1 h 186"/>
              <a:gd name="T44" fmla="*/ 82 w 152"/>
              <a:gd name="T45" fmla="*/ 1 h 186"/>
              <a:gd name="T46" fmla="*/ 80 w 152"/>
              <a:gd name="T47" fmla="*/ 0 h 186"/>
              <a:gd name="T48" fmla="*/ 76 w 152"/>
              <a:gd name="T49" fmla="*/ 4 h 186"/>
              <a:gd name="T50" fmla="*/ 78 w 152"/>
              <a:gd name="T51" fmla="*/ 8 h 186"/>
              <a:gd name="T52" fmla="*/ 78 w 152"/>
              <a:gd name="T53" fmla="*/ 8 h 186"/>
              <a:gd name="T54" fmla="*/ 104 w 152"/>
              <a:gd name="T55" fmla="*/ 34 h 186"/>
              <a:gd name="T56" fmla="*/ 76 w 152"/>
              <a:gd name="T57" fmla="*/ 34 h 186"/>
              <a:gd name="T58" fmla="*/ 0 w 152"/>
              <a:gd name="T59" fmla="*/ 110 h 186"/>
              <a:gd name="T60" fmla="*/ 76 w 152"/>
              <a:gd name="T61" fmla="*/ 186 h 186"/>
              <a:gd name="T62" fmla="*/ 152 w 152"/>
              <a:gd name="T63" fmla="*/ 110 h 186"/>
              <a:gd name="T64" fmla="*/ 148 w 152"/>
              <a:gd name="T65" fmla="*/ 106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2" h="186">
                <a:moveTo>
                  <a:pt x="148" y="106"/>
                </a:moveTo>
                <a:cubicBezTo>
                  <a:pt x="145" y="106"/>
                  <a:pt x="143" y="108"/>
                  <a:pt x="143" y="110"/>
                </a:cubicBezTo>
                <a:cubicBezTo>
                  <a:pt x="143" y="147"/>
                  <a:pt x="113" y="177"/>
                  <a:pt x="76" y="177"/>
                </a:cubicBezTo>
                <a:cubicBezTo>
                  <a:pt x="39" y="177"/>
                  <a:pt x="8" y="147"/>
                  <a:pt x="8" y="110"/>
                </a:cubicBezTo>
                <a:cubicBezTo>
                  <a:pt x="8" y="73"/>
                  <a:pt x="39" y="42"/>
                  <a:pt x="76" y="42"/>
                </a:cubicBezTo>
                <a:cubicBezTo>
                  <a:pt x="104" y="42"/>
                  <a:pt x="104" y="42"/>
                  <a:pt x="104" y="42"/>
                </a:cubicBezTo>
                <a:cubicBezTo>
                  <a:pt x="78" y="68"/>
                  <a:pt x="78" y="68"/>
                  <a:pt x="78" y="68"/>
                </a:cubicBezTo>
                <a:cubicBezTo>
                  <a:pt x="78" y="68"/>
                  <a:pt x="78" y="68"/>
                  <a:pt x="78" y="68"/>
                </a:cubicBezTo>
                <a:cubicBezTo>
                  <a:pt x="77" y="69"/>
                  <a:pt x="76" y="70"/>
                  <a:pt x="76" y="72"/>
                </a:cubicBezTo>
                <a:cubicBezTo>
                  <a:pt x="76" y="74"/>
                  <a:pt x="78" y="76"/>
                  <a:pt x="80" y="76"/>
                </a:cubicBezTo>
                <a:cubicBezTo>
                  <a:pt x="81" y="76"/>
                  <a:pt x="82" y="76"/>
                  <a:pt x="82" y="75"/>
                </a:cubicBezTo>
                <a:cubicBezTo>
                  <a:pt x="82" y="75"/>
                  <a:pt x="82" y="75"/>
                  <a:pt x="82" y="75"/>
                </a:cubicBezTo>
                <a:cubicBezTo>
                  <a:pt x="83" y="75"/>
                  <a:pt x="83" y="75"/>
                  <a:pt x="83" y="75"/>
                </a:cubicBezTo>
                <a:cubicBezTo>
                  <a:pt x="83" y="75"/>
                  <a:pt x="83" y="75"/>
                  <a:pt x="83" y="75"/>
                </a:cubicBezTo>
                <a:cubicBezTo>
                  <a:pt x="116" y="42"/>
                  <a:pt x="116" y="42"/>
                  <a:pt x="116" y="42"/>
                </a:cubicBezTo>
                <a:cubicBezTo>
                  <a:pt x="116" y="42"/>
                  <a:pt x="116" y="42"/>
                  <a:pt x="116" y="42"/>
                </a:cubicBezTo>
                <a:cubicBezTo>
                  <a:pt x="117" y="41"/>
                  <a:pt x="118" y="40"/>
                  <a:pt x="118" y="38"/>
                </a:cubicBezTo>
                <a:cubicBezTo>
                  <a:pt x="118" y="37"/>
                  <a:pt x="117" y="35"/>
                  <a:pt x="116" y="35"/>
                </a:cubicBezTo>
                <a:cubicBezTo>
                  <a:pt x="116" y="35"/>
                  <a:pt x="116" y="35"/>
                  <a:pt x="116" y="35"/>
                </a:cubicBezTo>
                <a:cubicBezTo>
                  <a:pt x="83" y="2"/>
                  <a:pt x="83" y="2"/>
                  <a:pt x="83" y="2"/>
                </a:cubicBezTo>
                <a:cubicBezTo>
                  <a:pt x="83" y="2"/>
                  <a:pt x="83" y="1"/>
                  <a:pt x="83" y="1"/>
                </a:cubicBezTo>
                <a:cubicBezTo>
                  <a:pt x="82" y="1"/>
                  <a:pt x="82" y="1"/>
                  <a:pt x="82" y="1"/>
                </a:cubicBezTo>
                <a:cubicBezTo>
                  <a:pt x="82" y="1"/>
                  <a:pt x="82" y="1"/>
                  <a:pt x="82" y="1"/>
                </a:cubicBezTo>
                <a:cubicBezTo>
                  <a:pt x="82" y="1"/>
                  <a:pt x="81" y="0"/>
                  <a:pt x="80" y="0"/>
                </a:cubicBezTo>
                <a:cubicBezTo>
                  <a:pt x="78" y="0"/>
                  <a:pt x="76" y="2"/>
                  <a:pt x="76" y="4"/>
                </a:cubicBezTo>
                <a:cubicBezTo>
                  <a:pt x="76" y="6"/>
                  <a:pt x="77" y="7"/>
                  <a:pt x="78" y="8"/>
                </a:cubicBezTo>
                <a:cubicBezTo>
                  <a:pt x="78" y="8"/>
                  <a:pt x="78" y="8"/>
                  <a:pt x="78" y="8"/>
                </a:cubicBezTo>
                <a:cubicBezTo>
                  <a:pt x="104" y="34"/>
                  <a:pt x="104" y="34"/>
                  <a:pt x="104" y="34"/>
                </a:cubicBezTo>
                <a:cubicBezTo>
                  <a:pt x="76" y="34"/>
                  <a:pt x="76" y="34"/>
                  <a:pt x="76" y="34"/>
                </a:cubicBezTo>
                <a:cubicBezTo>
                  <a:pt x="34" y="34"/>
                  <a:pt x="0" y="68"/>
                  <a:pt x="0" y="110"/>
                </a:cubicBezTo>
                <a:cubicBezTo>
                  <a:pt x="0" y="152"/>
                  <a:pt x="34" y="186"/>
                  <a:pt x="76" y="186"/>
                </a:cubicBezTo>
                <a:cubicBezTo>
                  <a:pt x="118" y="186"/>
                  <a:pt x="152" y="152"/>
                  <a:pt x="152" y="110"/>
                </a:cubicBezTo>
                <a:cubicBezTo>
                  <a:pt x="152" y="108"/>
                  <a:pt x="150" y="106"/>
                  <a:pt x="148" y="106"/>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solidFill>
                <a:schemeClr val="bg1">
                  <a:lumMod val="50000"/>
                </a:schemeClr>
              </a:solidFill>
            </a:endParaRPr>
          </a:p>
        </p:txBody>
      </p:sp>
      <p:sp>
        <p:nvSpPr>
          <p:cNvPr id="96" name="Freeform 402"/>
          <p:cNvSpPr>
            <a:spLocks noEditPoints="1"/>
          </p:cNvSpPr>
          <p:nvPr/>
        </p:nvSpPr>
        <p:spPr bwMode="auto">
          <a:xfrm>
            <a:off x="1498136" y="3968765"/>
            <a:ext cx="310889" cy="255538"/>
          </a:xfrm>
          <a:custGeom>
            <a:avLst/>
            <a:gdLst>
              <a:gd name="T0" fmla="*/ 184 w 185"/>
              <a:gd name="T1" fmla="*/ 73 h 152"/>
              <a:gd name="T2" fmla="*/ 159 w 185"/>
              <a:gd name="T3" fmla="*/ 48 h 152"/>
              <a:gd name="T4" fmla="*/ 156 w 185"/>
              <a:gd name="T5" fmla="*/ 47 h 152"/>
              <a:gd name="T6" fmla="*/ 151 w 185"/>
              <a:gd name="T7" fmla="*/ 51 h 152"/>
              <a:gd name="T8" fmla="*/ 153 w 185"/>
              <a:gd name="T9" fmla="*/ 54 h 152"/>
              <a:gd name="T10" fmla="*/ 171 w 185"/>
              <a:gd name="T11" fmla="*/ 72 h 152"/>
              <a:gd name="T12" fmla="*/ 69 w 185"/>
              <a:gd name="T13" fmla="*/ 72 h 152"/>
              <a:gd name="T14" fmla="*/ 126 w 185"/>
              <a:gd name="T15" fmla="*/ 15 h 152"/>
              <a:gd name="T16" fmla="*/ 126 w 185"/>
              <a:gd name="T17" fmla="*/ 38 h 152"/>
              <a:gd name="T18" fmla="*/ 130 w 185"/>
              <a:gd name="T19" fmla="*/ 42 h 152"/>
              <a:gd name="T20" fmla="*/ 135 w 185"/>
              <a:gd name="T21" fmla="*/ 38 h 152"/>
              <a:gd name="T22" fmla="*/ 135 w 185"/>
              <a:gd name="T23" fmla="*/ 4 h 152"/>
              <a:gd name="T24" fmla="*/ 130 w 185"/>
              <a:gd name="T25" fmla="*/ 0 h 152"/>
              <a:gd name="T26" fmla="*/ 97 w 185"/>
              <a:gd name="T27" fmla="*/ 0 h 152"/>
              <a:gd name="T28" fmla="*/ 92 w 185"/>
              <a:gd name="T29" fmla="*/ 4 h 152"/>
              <a:gd name="T30" fmla="*/ 97 w 185"/>
              <a:gd name="T31" fmla="*/ 9 h 152"/>
              <a:gd name="T32" fmla="*/ 120 w 185"/>
              <a:gd name="T33" fmla="*/ 9 h 152"/>
              <a:gd name="T34" fmla="*/ 57 w 185"/>
              <a:gd name="T35" fmla="*/ 72 h 152"/>
              <a:gd name="T36" fmla="*/ 33 w 185"/>
              <a:gd name="T37" fmla="*/ 72 h 152"/>
              <a:gd name="T38" fmla="*/ 16 w 185"/>
              <a:gd name="T39" fmla="*/ 59 h 152"/>
              <a:gd name="T40" fmla="*/ 0 w 185"/>
              <a:gd name="T41" fmla="*/ 76 h 152"/>
              <a:gd name="T42" fmla="*/ 16 w 185"/>
              <a:gd name="T43" fmla="*/ 93 h 152"/>
              <a:gd name="T44" fmla="*/ 33 w 185"/>
              <a:gd name="T45" fmla="*/ 80 h 152"/>
              <a:gd name="T46" fmla="*/ 57 w 185"/>
              <a:gd name="T47" fmla="*/ 80 h 152"/>
              <a:gd name="T48" fmla="*/ 120 w 185"/>
              <a:gd name="T49" fmla="*/ 144 h 152"/>
              <a:gd name="T50" fmla="*/ 97 w 185"/>
              <a:gd name="T51" fmla="*/ 144 h 152"/>
              <a:gd name="T52" fmla="*/ 92 w 185"/>
              <a:gd name="T53" fmla="*/ 148 h 152"/>
              <a:gd name="T54" fmla="*/ 97 w 185"/>
              <a:gd name="T55" fmla="*/ 152 h 152"/>
              <a:gd name="T56" fmla="*/ 130 w 185"/>
              <a:gd name="T57" fmla="*/ 152 h 152"/>
              <a:gd name="T58" fmla="*/ 135 w 185"/>
              <a:gd name="T59" fmla="*/ 148 h 152"/>
              <a:gd name="T60" fmla="*/ 135 w 185"/>
              <a:gd name="T61" fmla="*/ 114 h 152"/>
              <a:gd name="T62" fmla="*/ 130 w 185"/>
              <a:gd name="T63" fmla="*/ 110 h 152"/>
              <a:gd name="T64" fmla="*/ 126 w 185"/>
              <a:gd name="T65" fmla="*/ 114 h 152"/>
              <a:gd name="T66" fmla="*/ 126 w 185"/>
              <a:gd name="T67" fmla="*/ 138 h 152"/>
              <a:gd name="T68" fmla="*/ 69 w 185"/>
              <a:gd name="T69" fmla="*/ 80 h 152"/>
              <a:gd name="T70" fmla="*/ 171 w 185"/>
              <a:gd name="T71" fmla="*/ 80 h 152"/>
              <a:gd name="T72" fmla="*/ 153 w 185"/>
              <a:gd name="T73" fmla="*/ 98 h 152"/>
              <a:gd name="T74" fmla="*/ 151 w 185"/>
              <a:gd name="T75" fmla="*/ 101 h 152"/>
              <a:gd name="T76" fmla="*/ 156 w 185"/>
              <a:gd name="T77" fmla="*/ 106 h 152"/>
              <a:gd name="T78" fmla="*/ 159 w 185"/>
              <a:gd name="T79" fmla="*/ 104 h 152"/>
              <a:gd name="T80" fmla="*/ 184 w 185"/>
              <a:gd name="T81" fmla="*/ 79 h 152"/>
              <a:gd name="T82" fmla="*/ 185 w 185"/>
              <a:gd name="T83" fmla="*/ 76 h 152"/>
              <a:gd name="T84" fmla="*/ 184 w 185"/>
              <a:gd name="T85" fmla="*/ 73 h 152"/>
              <a:gd name="T86" fmla="*/ 16 w 185"/>
              <a:gd name="T87" fmla="*/ 85 h 152"/>
              <a:gd name="T88" fmla="*/ 8 w 185"/>
              <a:gd name="T89" fmla="*/ 76 h 152"/>
              <a:gd name="T90" fmla="*/ 16 w 185"/>
              <a:gd name="T91" fmla="*/ 68 h 152"/>
              <a:gd name="T92" fmla="*/ 25 w 185"/>
              <a:gd name="T93" fmla="*/ 76 h 152"/>
              <a:gd name="T94" fmla="*/ 16 w 185"/>
              <a:gd name="T95" fmla="*/ 85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5" h="152">
                <a:moveTo>
                  <a:pt x="184" y="73"/>
                </a:moveTo>
                <a:cubicBezTo>
                  <a:pt x="159" y="48"/>
                  <a:pt x="159" y="48"/>
                  <a:pt x="159" y="48"/>
                </a:cubicBezTo>
                <a:cubicBezTo>
                  <a:pt x="158" y="47"/>
                  <a:pt x="157" y="47"/>
                  <a:pt x="156" y="47"/>
                </a:cubicBezTo>
                <a:cubicBezTo>
                  <a:pt x="153" y="47"/>
                  <a:pt x="151" y="49"/>
                  <a:pt x="151" y="51"/>
                </a:cubicBezTo>
                <a:cubicBezTo>
                  <a:pt x="151" y="52"/>
                  <a:pt x="152" y="53"/>
                  <a:pt x="153" y="54"/>
                </a:cubicBezTo>
                <a:cubicBezTo>
                  <a:pt x="171" y="72"/>
                  <a:pt x="171" y="72"/>
                  <a:pt x="171" y="72"/>
                </a:cubicBezTo>
                <a:cubicBezTo>
                  <a:pt x="69" y="72"/>
                  <a:pt x="69" y="72"/>
                  <a:pt x="69" y="72"/>
                </a:cubicBezTo>
                <a:cubicBezTo>
                  <a:pt x="126" y="15"/>
                  <a:pt x="126" y="15"/>
                  <a:pt x="126" y="15"/>
                </a:cubicBezTo>
                <a:cubicBezTo>
                  <a:pt x="126" y="38"/>
                  <a:pt x="126" y="38"/>
                  <a:pt x="126" y="38"/>
                </a:cubicBezTo>
                <a:cubicBezTo>
                  <a:pt x="126" y="41"/>
                  <a:pt x="128" y="42"/>
                  <a:pt x="130" y="42"/>
                </a:cubicBezTo>
                <a:cubicBezTo>
                  <a:pt x="133" y="42"/>
                  <a:pt x="135" y="41"/>
                  <a:pt x="135" y="38"/>
                </a:cubicBezTo>
                <a:cubicBezTo>
                  <a:pt x="135" y="4"/>
                  <a:pt x="135" y="4"/>
                  <a:pt x="135" y="4"/>
                </a:cubicBezTo>
                <a:cubicBezTo>
                  <a:pt x="135" y="2"/>
                  <a:pt x="133" y="0"/>
                  <a:pt x="130" y="0"/>
                </a:cubicBezTo>
                <a:cubicBezTo>
                  <a:pt x="97" y="0"/>
                  <a:pt x="97" y="0"/>
                  <a:pt x="97" y="0"/>
                </a:cubicBezTo>
                <a:cubicBezTo>
                  <a:pt x="94" y="0"/>
                  <a:pt x="92" y="2"/>
                  <a:pt x="92" y="4"/>
                </a:cubicBezTo>
                <a:cubicBezTo>
                  <a:pt x="92" y="7"/>
                  <a:pt x="94" y="9"/>
                  <a:pt x="97" y="9"/>
                </a:cubicBezTo>
                <a:cubicBezTo>
                  <a:pt x="120" y="9"/>
                  <a:pt x="120" y="9"/>
                  <a:pt x="120" y="9"/>
                </a:cubicBezTo>
                <a:cubicBezTo>
                  <a:pt x="57" y="72"/>
                  <a:pt x="57" y="72"/>
                  <a:pt x="57" y="72"/>
                </a:cubicBezTo>
                <a:cubicBezTo>
                  <a:pt x="33" y="72"/>
                  <a:pt x="33" y="72"/>
                  <a:pt x="33" y="72"/>
                </a:cubicBezTo>
                <a:cubicBezTo>
                  <a:pt x="31" y="65"/>
                  <a:pt x="24" y="59"/>
                  <a:pt x="16" y="59"/>
                </a:cubicBezTo>
                <a:cubicBezTo>
                  <a:pt x="7" y="59"/>
                  <a:pt x="0" y="67"/>
                  <a:pt x="0" y="76"/>
                </a:cubicBezTo>
                <a:cubicBezTo>
                  <a:pt x="0" y="85"/>
                  <a:pt x="7" y="93"/>
                  <a:pt x="16" y="93"/>
                </a:cubicBezTo>
                <a:cubicBezTo>
                  <a:pt x="24" y="93"/>
                  <a:pt x="31" y="88"/>
                  <a:pt x="33" y="80"/>
                </a:cubicBezTo>
                <a:cubicBezTo>
                  <a:pt x="57" y="80"/>
                  <a:pt x="57" y="80"/>
                  <a:pt x="57" y="80"/>
                </a:cubicBezTo>
                <a:cubicBezTo>
                  <a:pt x="120" y="144"/>
                  <a:pt x="120" y="144"/>
                  <a:pt x="120" y="144"/>
                </a:cubicBezTo>
                <a:cubicBezTo>
                  <a:pt x="97" y="144"/>
                  <a:pt x="97" y="144"/>
                  <a:pt x="97" y="144"/>
                </a:cubicBezTo>
                <a:cubicBezTo>
                  <a:pt x="94" y="144"/>
                  <a:pt x="92" y="146"/>
                  <a:pt x="92" y="148"/>
                </a:cubicBezTo>
                <a:cubicBezTo>
                  <a:pt x="92" y="150"/>
                  <a:pt x="94" y="152"/>
                  <a:pt x="97" y="152"/>
                </a:cubicBezTo>
                <a:cubicBezTo>
                  <a:pt x="130" y="152"/>
                  <a:pt x="130" y="152"/>
                  <a:pt x="130" y="152"/>
                </a:cubicBezTo>
                <a:cubicBezTo>
                  <a:pt x="133" y="152"/>
                  <a:pt x="135" y="150"/>
                  <a:pt x="135" y="148"/>
                </a:cubicBezTo>
                <a:cubicBezTo>
                  <a:pt x="135" y="114"/>
                  <a:pt x="135" y="114"/>
                  <a:pt x="135" y="114"/>
                </a:cubicBezTo>
                <a:cubicBezTo>
                  <a:pt x="135" y="112"/>
                  <a:pt x="133" y="110"/>
                  <a:pt x="130" y="110"/>
                </a:cubicBezTo>
                <a:cubicBezTo>
                  <a:pt x="128" y="110"/>
                  <a:pt x="126" y="112"/>
                  <a:pt x="126" y="114"/>
                </a:cubicBezTo>
                <a:cubicBezTo>
                  <a:pt x="126" y="138"/>
                  <a:pt x="126" y="138"/>
                  <a:pt x="126" y="138"/>
                </a:cubicBezTo>
                <a:cubicBezTo>
                  <a:pt x="69" y="80"/>
                  <a:pt x="69" y="80"/>
                  <a:pt x="69" y="80"/>
                </a:cubicBezTo>
                <a:cubicBezTo>
                  <a:pt x="171" y="80"/>
                  <a:pt x="171" y="80"/>
                  <a:pt x="171" y="80"/>
                </a:cubicBezTo>
                <a:cubicBezTo>
                  <a:pt x="153" y="98"/>
                  <a:pt x="153" y="98"/>
                  <a:pt x="153" y="98"/>
                </a:cubicBezTo>
                <a:cubicBezTo>
                  <a:pt x="152" y="99"/>
                  <a:pt x="151" y="100"/>
                  <a:pt x="151" y="101"/>
                </a:cubicBezTo>
                <a:cubicBezTo>
                  <a:pt x="151" y="104"/>
                  <a:pt x="153" y="106"/>
                  <a:pt x="156" y="106"/>
                </a:cubicBezTo>
                <a:cubicBezTo>
                  <a:pt x="157" y="106"/>
                  <a:pt x="158" y="105"/>
                  <a:pt x="159" y="104"/>
                </a:cubicBezTo>
                <a:cubicBezTo>
                  <a:pt x="184" y="79"/>
                  <a:pt x="184" y="79"/>
                  <a:pt x="184" y="79"/>
                </a:cubicBezTo>
                <a:cubicBezTo>
                  <a:pt x="185" y="78"/>
                  <a:pt x="185" y="77"/>
                  <a:pt x="185" y="76"/>
                </a:cubicBezTo>
                <a:cubicBezTo>
                  <a:pt x="185" y="75"/>
                  <a:pt x="185" y="74"/>
                  <a:pt x="184" y="73"/>
                </a:cubicBezTo>
                <a:close/>
                <a:moveTo>
                  <a:pt x="16" y="85"/>
                </a:moveTo>
                <a:cubicBezTo>
                  <a:pt x="12" y="85"/>
                  <a:pt x="8" y="81"/>
                  <a:pt x="8" y="76"/>
                </a:cubicBezTo>
                <a:cubicBezTo>
                  <a:pt x="8" y="71"/>
                  <a:pt x="12" y="68"/>
                  <a:pt x="16" y="68"/>
                </a:cubicBezTo>
                <a:cubicBezTo>
                  <a:pt x="21" y="68"/>
                  <a:pt x="25" y="71"/>
                  <a:pt x="25" y="76"/>
                </a:cubicBezTo>
                <a:cubicBezTo>
                  <a:pt x="25" y="81"/>
                  <a:pt x="21" y="85"/>
                  <a:pt x="16" y="85"/>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solidFill>
                <a:schemeClr val="bg1">
                  <a:lumMod val="50000"/>
                </a:schemeClr>
              </a:solidFill>
            </a:endParaRPr>
          </a:p>
        </p:txBody>
      </p:sp>
      <p:sp>
        <p:nvSpPr>
          <p:cNvPr id="101" name="Freeform 306"/>
          <p:cNvSpPr>
            <a:spLocks noEditPoints="1"/>
          </p:cNvSpPr>
          <p:nvPr/>
        </p:nvSpPr>
        <p:spPr bwMode="auto">
          <a:xfrm>
            <a:off x="1494182" y="2174744"/>
            <a:ext cx="284304" cy="282626"/>
          </a:xfrm>
          <a:custGeom>
            <a:avLst/>
            <a:gdLst>
              <a:gd name="T0" fmla="*/ 165 w 186"/>
              <a:gd name="T1" fmla="*/ 0 h 185"/>
              <a:gd name="T2" fmla="*/ 144 w 186"/>
              <a:gd name="T3" fmla="*/ 21 h 185"/>
              <a:gd name="T4" fmla="*/ 161 w 186"/>
              <a:gd name="T5" fmla="*/ 41 h 185"/>
              <a:gd name="T6" fmla="*/ 161 w 186"/>
              <a:gd name="T7" fmla="*/ 88 h 185"/>
              <a:gd name="T8" fmla="*/ 114 w 186"/>
              <a:gd name="T9" fmla="*/ 88 h 185"/>
              <a:gd name="T10" fmla="*/ 93 w 186"/>
              <a:gd name="T11" fmla="*/ 71 h 185"/>
              <a:gd name="T12" fmla="*/ 72 w 186"/>
              <a:gd name="T13" fmla="*/ 88 h 185"/>
              <a:gd name="T14" fmla="*/ 21 w 186"/>
              <a:gd name="T15" fmla="*/ 88 h 185"/>
              <a:gd name="T16" fmla="*/ 17 w 186"/>
              <a:gd name="T17" fmla="*/ 92 h 185"/>
              <a:gd name="T18" fmla="*/ 17 w 186"/>
              <a:gd name="T19" fmla="*/ 143 h 185"/>
              <a:gd name="T20" fmla="*/ 0 w 186"/>
              <a:gd name="T21" fmla="*/ 164 h 185"/>
              <a:gd name="T22" fmla="*/ 21 w 186"/>
              <a:gd name="T23" fmla="*/ 185 h 185"/>
              <a:gd name="T24" fmla="*/ 42 w 186"/>
              <a:gd name="T25" fmla="*/ 164 h 185"/>
              <a:gd name="T26" fmla="*/ 26 w 186"/>
              <a:gd name="T27" fmla="*/ 143 h 185"/>
              <a:gd name="T28" fmla="*/ 26 w 186"/>
              <a:gd name="T29" fmla="*/ 97 h 185"/>
              <a:gd name="T30" fmla="*/ 72 w 186"/>
              <a:gd name="T31" fmla="*/ 97 h 185"/>
              <a:gd name="T32" fmla="*/ 93 w 186"/>
              <a:gd name="T33" fmla="*/ 113 h 185"/>
              <a:gd name="T34" fmla="*/ 114 w 186"/>
              <a:gd name="T35" fmla="*/ 97 h 185"/>
              <a:gd name="T36" fmla="*/ 165 w 186"/>
              <a:gd name="T37" fmla="*/ 97 h 185"/>
              <a:gd name="T38" fmla="*/ 169 w 186"/>
              <a:gd name="T39" fmla="*/ 92 h 185"/>
              <a:gd name="T40" fmla="*/ 169 w 186"/>
              <a:gd name="T41" fmla="*/ 41 h 185"/>
              <a:gd name="T42" fmla="*/ 186 w 186"/>
              <a:gd name="T43" fmla="*/ 21 h 185"/>
              <a:gd name="T44" fmla="*/ 165 w 186"/>
              <a:gd name="T45" fmla="*/ 0 h 185"/>
              <a:gd name="T46" fmla="*/ 34 w 186"/>
              <a:gd name="T47" fmla="*/ 164 h 185"/>
              <a:gd name="T48" fmla="*/ 21 w 186"/>
              <a:gd name="T49" fmla="*/ 177 h 185"/>
              <a:gd name="T50" fmla="*/ 9 w 186"/>
              <a:gd name="T51" fmla="*/ 164 h 185"/>
              <a:gd name="T52" fmla="*/ 21 w 186"/>
              <a:gd name="T53" fmla="*/ 151 h 185"/>
              <a:gd name="T54" fmla="*/ 34 w 186"/>
              <a:gd name="T55" fmla="*/ 164 h 185"/>
              <a:gd name="T56" fmla="*/ 93 w 186"/>
              <a:gd name="T57" fmla="*/ 105 h 185"/>
              <a:gd name="T58" fmla="*/ 80 w 186"/>
              <a:gd name="T59" fmla="*/ 92 h 185"/>
              <a:gd name="T60" fmla="*/ 93 w 186"/>
              <a:gd name="T61" fmla="*/ 80 h 185"/>
              <a:gd name="T62" fmla="*/ 106 w 186"/>
              <a:gd name="T63" fmla="*/ 92 h 185"/>
              <a:gd name="T64" fmla="*/ 93 w 186"/>
              <a:gd name="T65" fmla="*/ 105 h 185"/>
              <a:gd name="T66" fmla="*/ 165 w 186"/>
              <a:gd name="T67" fmla="*/ 33 h 185"/>
              <a:gd name="T68" fmla="*/ 152 w 186"/>
              <a:gd name="T69" fmla="*/ 21 h 185"/>
              <a:gd name="T70" fmla="*/ 165 w 186"/>
              <a:gd name="T71" fmla="*/ 8 h 185"/>
              <a:gd name="T72" fmla="*/ 178 w 186"/>
              <a:gd name="T73" fmla="*/ 21 h 185"/>
              <a:gd name="T74" fmla="*/ 165 w 186"/>
              <a:gd name="T75" fmla="*/ 3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6" h="185">
                <a:moveTo>
                  <a:pt x="165" y="0"/>
                </a:moveTo>
                <a:cubicBezTo>
                  <a:pt x="153" y="0"/>
                  <a:pt x="144" y="9"/>
                  <a:pt x="144" y="21"/>
                </a:cubicBezTo>
                <a:cubicBezTo>
                  <a:pt x="144" y="31"/>
                  <a:pt x="151" y="39"/>
                  <a:pt x="161" y="41"/>
                </a:cubicBezTo>
                <a:cubicBezTo>
                  <a:pt x="161" y="88"/>
                  <a:pt x="161" y="88"/>
                  <a:pt x="161" y="88"/>
                </a:cubicBezTo>
                <a:cubicBezTo>
                  <a:pt x="114" y="88"/>
                  <a:pt x="114" y="88"/>
                  <a:pt x="114" y="88"/>
                </a:cubicBezTo>
                <a:cubicBezTo>
                  <a:pt x="112" y="79"/>
                  <a:pt x="103" y="71"/>
                  <a:pt x="93" y="71"/>
                </a:cubicBezTo>
                <a:cubicBezTo>
                  <a:pt x="83" y="71"/>
                  <a:pt x="74" y="79"/>
                  <a:pt x="72" y="88"/>
                </a:cubicBezTo>
                <a:cubicBezTo>
                  <a:pt x="21" y="88"/>
                  <a:pt x="21" y="88"/>
                  <a:pt x="21" y="88"/>
                </a:cubicBezTo>
                <a:cubicBezTo>
                  <a:pt x="19" y="88"/>
                  <a:pt x="17" y="90"/>
                  <a:pt x="17" y="92"/>
                </a:cubicBezTo>
                <a:cubicBezTo>
                  <a:pt x="17" y="143"/>
                  <a:pt x="17" y="143"/>
                  <a:pt x="17" y="143"/>
                </a:cubicBezTo>
                <a:cubicBezTo>
                  <a:pt x="8" y="145"/>
                  <a:pt x="0" y="154"/>
                  <a:pt x="0" y="164"/>
                </a:cubicBezTo>
                <a:cubicBezTo>
                  <a:pt x="0" y="176"/>
                  <a:pt x="10" y="185"/>
                  <a:pt x="21" y="185"/>
                </a:cubicBezTo>
                <a:cubicBezTo>
                  <a:pt x="33" y="185"/>
                  <a:pt x="42" y="176"/>
                  <a:pt x="42" y="164"/>
                </a:cubicBezTo>
                <a:cubicBezTo>
                  <a:pt x="42" y="154"/>
                  <a:pt x="35" y="145"/>
                  <a:pt x="26" y="143"/>
                </a:cubicBezTo>
                <a:cubicBezTo>
                  <a:pt x="26" y="97"/>
                  <a:pt x="26" y="97"/>
                  <a:pt x="26" y="97"/>
                </a:cubicBezTo>
                <a:cubicBezTo>
                  <a:pt x="72" y="97"/>
                  <a:pt x="72" y="97"/>
                  <a:pt x="72" y="97"/>
                </a:cubicBezTo>
                <a:cubicBezTo>
                  <a:pt x="74" y="106"/>
                  <a:pt x="83" y="113"/>
                  <a:pt x="93" y="113"/>
                </a:cubicBezTo>
                <a:cubicBezTo>
                  <a:pt x="103" y="113"/>
                  <a:pt x="112" y="106"/>
                  <a:pt x="114" y="97"/>
                </a:cubicBezTo>
                <a:cubicBezTo>
                  <a:pt x="165" y="97"/>
                  <a:pt x="165" y="97"/>
                  <a:pt x="165" y="97"/>
                </a:cubicBezTo>
                <a:cubicBezTo>
                  <a:pt x="167" y="97"/>
                  <a:pt x="169" y="95"/>
                  <a:pt x="169" y="92"/>
                </a:cubicBezTo>
                <a:cubicBezTo>
                  <a:pt x="169" y="41"/>
                  <a:pt x="169" y="41"/>
                  <a:pt x="169" y="41"/>
                </a:cubicBezTo>
                <a:cubicBezTo>
                  <a:pt x="179" y="39"/>
                  <a:pt x="186" y="31"/>
                  <a:pt x="186" y="21"/>
                </a:cubicBezTo>
                <a:cubicBezTo>
                  <a:pt x="186" y="9"/>
                  <a:pt x="176" y="0"/>
                  <a:pt x="165" y="0"/>
                </a:cubicBezTo>
                <a:close/>
                <a:moveTo>
                  <a:pt x="34" y="164"/>
                </a:moveTo>
                <a:cubicBezTo>
                  <a:pt x="34" y="171"/>
                  <a:pt x="28" y="177"/>
                  <a:pt x="21" y="177"/>
                </a:cubicBezTo>
                <a:cubicBezTo>
                  <a:pt x="14" y="177"/>
                  <a:pt x="9" y="171"/>
                  <a:pt x="9" y="164"/>
                </a:cubicBezTo>
                <a:cubicBezTo>
                  <a:pt x="9" y="157"/>
                  <a:pt x="14" y="151"/>
                  <a:pt x="21" y="151"/>
                </a:cubicBezTo>
                <a:cubicBezTo>
                  <a:pt x="28" y="151"/>
                  <a:pt x="34" y="157"/>
                  <a:pt x="34" y="164"/>
                </a:cubicBezTo>
                <a:close/>
                <a:moveTo>
                  <a:pt x="93" y="105"/>
                </a:moveTo>
                <a:cubicBezTo>
                  <a:pt x="86" y="105"/>
                  <a:pt x="80" y="99"/>
                  <a:pt x="80" y="92"/>
                </a:cubicBezTo>
                <a:cubicBezTo>
                  <a:pt x="80" y="85"/>
                  <a:pt x="86" y="80"/>
                  <a:pt x="93" y="80"/>
                </a:cubicBezTo>
                <a:cubicBezTo>
                  <a:pt x="100" y="80"/>
                  <a:pt x="106" y="85"/>
                  <a:pt x="106" y="92"/>
                </a:cubicBezTo>
                <a:cubicBezTo>
                  <a:pt x="106" y="99"/>
                  <a:pt x="100" y="105"/>
                  <a:pt x="93" y="105"/>
                </a:cubicBezTo>
                <a:close/>
                <a:moveTo>
                  <a:pt x="165" y="33"/>
                </a:moveTo>
                <a:cubicBezTo>
                  <a:pt x="158" y="33"/>
                  <a:pt x="152" y="28"/>
                  <a:pt x="152" y="21"/>
                </a:cubicBezTo>
                <a:cubicBezTo>
                  <a:pt x="152" y="14"/>
                  <a:pt x="158" y="8"/>
                  <a:pt x="165" y="8"/>
                </a:cubicBezTo>
                <a:cubicBezTo>
                  <a:pt x="172" y="8"/>
                  <a:pt x="178" y="14"/>
                  <a:pt x="178" y="21"/>
                </a:cubicBezTo>
                <a:cubicBezTo>
                  <a:pt x="178" y="28"/>
                  <a:pt x="172" y="33"/>
                  <a:pt x="165" y="33"/>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solidFill>
                <a:schemeClr val="bg1">
                  <a:lumMod val="50000"/>
                </a:schemeClr>
              </a:solidFill>
            </a:endParaRPr>
          </a:p>
        </p:txBody>
      </p:sp>
      <p:sp>
        <p:nvSpPr>
          <p:cNvPr id="47"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22</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1280685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Nuestra Visión</a:t>
            </a:r>
          </a:p>
          <a:p>
            <a:endParaRPr lang="en-US" dirty="0">
              <a:solidFill>
                <a:srgbClr val="323232"/>
              </a:solidFill>
              <a:latin typeface="Avenir 35" panose="00000400000000000000" pitchFamily="2" charset="0"/>
            </a:endParaRP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EVOLUCIONAR</a:t>
            </a:r>
            <a:endParaRPr lang="es-ES" sz="1400" b="1" dirty="0">
              <a:solidFill>
                <a:srgbClr val="323232"/>
              </a:solidFill>
              <a:latin typeface="Avenir 35" panose="00000400000000000000" pitchFamily="2" charset="0"/>
            </a:endParaRPr>
          </a:p>
        </p:txBody>
      </p:sp>
      <p:sp>
        <p:nvSpPr>
          <p:cNvPr id="20" name="AutoShape 4"/>
          <p:cNvSpPr>
            <a:spLocks noChangeArrowheads="1"/>
          </p:cNvSpPr>
          <p:nvPr/>
        </p:nvSpPr>
        <p:spPr bwMode="auto">
          <a:xfrm>
            <a:off x="632527" y="789349"/>
            <a:ext cx="8660261" cy="432048"/>
          </a:xfrm>
          <a:prstGeom prst="roundRect">
            <a:avLst>
              <a:gd name="adj" fmla="val 12500"/>
            </a:avLst>
          </a:prstGeom>
        </p:spPr>
        <p:txBody>
          <a:bodyPr lIns="92583" tIns="46292" rIns="92583" bIns="46292" anchor="ctr">
            <a:noAutofit/>
          </a:bodyPr>
          <a:lstStyle/>
          <a:p>
            <a:pPr algn="ctr"/>
            <a:r>
              <a:rPr lang="es-ES" sz="1000" dirty="0">
                <a:solidFill>
                  <a:srgbClr val="505050"/>
                </a:solidFill>
                <a:latin typeface="Avenir 35" panose="00000400000000000000" pitchFamily="2" charset="0"/>
                <a:cs typeface="Arial" panose="020B0604020202020204" pitchFamily="34" charset="0"/>
              </a:rPr>
              <a:t>La selección de la solución se ha fundamentado no solo en las necesidades  actuales, sino que hemos ponderado las necesidades que Easy Money tendrá en el futuro.</a:t>
            </a:r>
          </a:p>
        </p:txBody>
      </p:sp>
      <p:grpSp>
        <p:nvGrpSpPr>
          <p:cNvPr id="73" name="Group 28"/>
          <p:cNvGrpSpPr/>
          <p:nvPr/>
        </p:nvGrpSpPr>
        <p:grpSpPr>
          <a:xfrm>
            <a:off x="4840030" y="1592590"/>
            <a:ext cx="225941" cy="6300906"/>
            <a:chOff x="6017571" y="1819122"/>
            <a:chExt cx="225941" cy="4253265"/>
          </a:xfrm>
          <a:solidFill>
            <a:schemeClr val="bg1">
              <a:lumMod val="65000"/>
            </a:schemeClr>
          </a:solidFill>
        </p:grpSpPr>
        <p:sp>
          <p:nvSpPr>
            <p:cNvPr id="74" name="Rectangle 29"/>
            <p:cNvSpPr/>
            <p:nvPr/>
          </p:nvSpPr>
          <p:spPr>
            <a:xfrm>
              <a:off x="6061444" y="1913637"/>
              <a:ext cx="138196" cy="4158750"/>
            </a:xfrm>
            <a:prstGeom prst="rect">
              <a:avLst/>
            </a:prstGeom>
            <a:grpFill/>
            <a:ln w="12700" cap="flat" cmpd="sng" algn="ctr">
              <a:noFill/>
              <a:prstDash val="solid"/>
              <a:miter lim="800000"/>
            </a:ln>
            <a:effectLst/>
          </p:spPr>
          <p:txBody>
            <a:bodyPr anchor="ctr"/>
            <a:lstStyle/>
            <a:p>
              <a:pPr algn="ctr" defTabSz="1371600">
                <a:defRPr/>
              </a:pPr>
              <a:endParaRPr lang="en-US" sz="2800" kern="0" dirty="0">
                <a:solidFill>
                  <a:prstClr val="white"/>
                </a:solidFill>
              </a:endParaRPr>
            </a:p>
          </p:txBody>
        </p:sp>
        <p:sp>
          <p:nvSpPr>
            <p:cNvPr id="75" name="Rectangle 30"/>
            <p:cNvSpPr/>
            <p:nvPr/>
          </p:nvSpPr>
          <p:spPr>
            <a:xfrm>
              <a:off x="6017571" y="1819122"/>
              <a:ext cx="225941" cy="94515"/>
            </a:xfrm>
            <a:prstGeom prst="rect">
              <a:avLst/>
            </a:prstGeom>
            <a:grpFill/>
            <a:ln w="12700" cap="flat" cmpd="sng" algn="ctr">
              <a:noFill/>
              <a:prstDash val="solid"/>
              <a:miter lim="800000"/>
            </a:ln>
            <a:effectLst/>
          </p:spPr>
          <p:txBody>
            <a:bodyPr anchor="ctr"/>
            <a:lstStyle/>
            <a:p>
              <a:pPr algn="ctr">
                <a:defRPr/>
              </a:pPr>
              <a:endParaRPr lang="en-US" sz="2000" kern="0" dirty="0">
                <a:solidFill>
                  <a:prstClr val="white"/>
                </a:solidFill>
                <a:latin typeface="Calibri Light"/>
              </a:endParaRPr>
            </a:p>
          </p:txBody>
        </p:sp>
      </p:grpSp>
      <p:sp>
        <p:nvSpPr>
          <p:cNvPr id="76" name="Notched Right Arrow 9"/>
          <p:cNvSpPr>
            <a:spLocks noChangeArrowheads="1"/>
          </p:cNvSpPr>
          <p:nvPr/>
        </p:nvSpPr>
        <p:spPr bwMode="auto">
          <a:xfrm>
            <a:off x="4532637" y="1804080"/>
            <a:ext cx="2172501" cy="347255"/>
          </a:xfrm>
          <a:prstGeom prst="notchedRightArrow">
            <a:avLst>
              <a:gd name="adj1" fmla="val 100000"/>
              <a:gd name="adj2" fmla="val 32366"/>
            </a:avLst>
          </a:prstGeom>
          <a:solidFill>
            <a:srgbClr val="0097B7"/>
          </a:solidFill>
          <a:ln w="25400" cap="flat" cmpd="sng" algn="ctr">
            <a:noFill/>
            <a:prstDash val="solid"/>
          </a:ln>
          <a:effectLst/>
        </p:spPr>
        <p:txBody>
          <a:bodyPr rtlCol="0" anchor="ctr"/>
          <a:lstStyle/>
          <a:p>
            <a:pPr algn="ctr"/>
            <a:r>
              <a:rPr lang="es-ES" altLang="es-ES" sz="1300" kern="0" cap="all" dirty="0">
                <a:solidFill>
                  <a:schemeClr val="bg1"/>
                </a:solidFill>
                <a:latin typeface="Avenir 35" panose="00000400000000000000" pitchFamily="2" charset="0"/>
              </a:rPr>
              <a:t>Event Management</a:t>
            </a:r>
            <a:endParaRPr lang="en-GB" altLang="es-ES" sz="1300" kern="0" cap="all" dirty="0">
              <a:solidFill>
                <a:schemeClr val="bg1"/>
              </a:solidFill>
              <a:latin typeface="Avenir 35" panose="00000400000000000000" pitchFamily="2" charset="0"/>
            </a:endParaRPr>
          </a:p>
        </p:txBody>
      </p:sp>
      <p:sp>
        <p:nvSpPr>
          <p:cNvPr id="77" name="Notched Right Arrow 11"/>
          <p:cNvSpPr/>
          <p:nvPr/>
        </p:nvSpPr>
        <p:spPr>
          <a:xfrm flipH="1">
            <a:off x="3155008" y="4435385"/>
            <a:ext cx="2174400" cy="349200"/>
          </a:xfrm>
          <a:prstGeom prst="notchedRightArrow">
            <a:avLst>
              <a:gd name="adj1" fmla="val 100000"/>
              <a:gd name="adj2" fmla="val 32381"/>
            </a:avLst>
          </a:prstGeom>
          <a:solidFill>
            <a:schemeClr val="tx1">
              <a:lumMod val="65000"/>
              <a:lumOff val="35000"/>
            </a:schemeClr>
          </a:solidFill>
          <a:ln w="12700" cap="flat" cmpd="sng" algn="ctr">
            <a:noFill/>
            <a:prstDash val="solid"/>
            <a:miter lim="800000"/>
          </a:ln>
          <a:effectLst/>
        </p:spPr>
        <p:txBody>
          <a:bodyPr anchor="ctr"/>
          <a:lstStyle/>
          <a:p>
            <a:pPr algn="ctr"/>
            <a:r>
              <a:rPr lang="es-ES" sz="1300" kern="0" cap="all" dirty="0">
                <a:solidFill>
                  <a:prstClr val="white"/>
                </a:solidFill>
                <a:latin typeface="Avenir 35" panose="00000400000000000000" pitchFamily="2" charset="0"/>
                <a:cs typeface="Clear Sans" panose="020B0503030202020304" pitchFamily="34" charset="0"/>
              </a:rPr>
              <a:t>Call Center</a:t>
            </a:r>
            <a:endParaRPr lang="en-GB" sz="1300" kern="0" cap="all" dirty="0">
              <a:solidFill>
                <a:prstClr val="white"/>
              </a:solidFill>
              <a:latin typeface="Avenir 35" panose="00000400000000000000" pitchFamily="2" charset="0"/>
              <a:cs typeface="Clear Sans" panose="020B0503030202020304" pitchFamily="34" charset="0"/>
            </a:endParaRPr>
          </a:p>
        </p:txBody>
      </p:sp>
      <p:sp>
        <p:nvSpPr>
          <p:cNvPr id="78" name="Notched Right Arrow 12"/>
          <p:cNvSpPr>
            <a:spLocks noChangeArrowheads="1"/>
          </p:cNvSpPr>
          <p:nvPr/>
        </p:nvSpPr>
        <p:spPr bwMode="auto">
          <a:xfrm>
            <a:off x="4532637" y="4921304"/>
            <a:ext cx="2174400" cy="349200"/>
          </a:xfrm>
          <a:prstGeom prst="notchedRightArrow">
            <a:avLst>
              <a:gd name="adj1" fmla="val 100000"/>
              <a:gd name="adj2" fmla="val 32366"/>
            </a:avLst>
          </a:prstGeom>
          <a:solidFill>
            <a:srgbClr val="0097B7"/>
          </a:solidFill>
          <a:ln w="25400" cap="flat" cmpd="sng" algn="ctr">
            <a:noFill/>
            <a:prstDash val="solid"/>
          </a:ln>
          <a:effectLst/>
        </p:spPr>
        <p:txBody>
          <a:bodyPr rtlCol="0" anchor="ctr"/>
          <a:lstStyle/>
          <a:p>
            <a:pPr algn="ctr"/>
            <a:r>
              <a:rPr lang="en-US" altLang="es-ES" sz="1300" kern="0" cap="all" dirty="0">
                <a:solidFill>
                  <a:schemeClr val="bg1"/>
                </a:solidFill>
                <a:latin typeface="Avenir 35" panose="00000400000000000000" pitchFamily="2" charset="0"/>
              </a:rPr>
              <a:t>Activity Dashboard</a:t>
            </a:r>
          </a:p>
        </p:txBody>
      </p:sp>
      <p:sp>
        <p:nvSpPr>
          <p:cNvPr id="80" name="Content Placeholder 2"/>
          <p:cNvSpPr txBox="1">
            <a:spLocks/>
          </p:cNvSpPr>
          <p:nvPr/>
        </p:nvSpPr>
        <p:spPr bwMode="auto">
          <a:xfrm>
            <a:off x="6705138" y="1642745"/>
            <a:ext cx="2208062"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itchFamily="34" charset="0"/>
              <a:defRPr sz="2800">
                <a:solidFill>
                  <a:schemeClr val="tx1"/>
                </a:solidFill>
                <a:latin typeface="Calibri Light" pitchFamily="34" charset="0"/>
              </a:defRPr>
            </a:lvl1pPr>
            <a:lvl2pPr>
              <a:lnSpc>
                <a:spcPct val="90000"/>
              </a:lnSpc>
              <a:spcBef>
                <a:spcPts val="500"/>
              </a:spcBef>
              <a:buFont typeface="Arial" pitchFamily="34" charset="0"/>
              <a:defRPr sz="2400">
                <a:solidFill>
                  <a:schemeClr val="tx1"/>
                </a:solidFill>
                <a:latin typeface="Calibri Light" pitchFamily="34" charset="0"/>
              </a:defRPr>
            </a:lvl2pPr>
            <a:lvl3pPr>
              <a:lnSpc>
                <a:spcPct val="90000"/>
              </a:lnSpc>
              <a:spcBef>
                <a:spcPts val="500"/>
              </a:spcBef>
              <a:buFont typeface="Arial" pitchFamily="34" charset="0"/>
              <a:defRPr sz="2000">
                <a:solidFill>
                  <a:schemeClr val="tx1"/>
                </a:solidFill>
                <a:latin typeface="Calibri Light" pitchFamily="34" charset="0"/>
              </a:defRPr>
            </a:lvl3pPr>
            <a:lvl4pPr>
              <a:lnSpc>
                <a:spcPct val="90000"/>
              </a:lnSpc>
              <a:spcBef>
                <a:spcPts val="500"/>
              </a:spcBef>
              <a:buFont typeface="Arial" pitchFamily="34" charset="0"/>
              <a:defRPr>
                <a:solidFill>
                  <a:schemeClr val="tx1"/>
                </a:solidFill>
                <a:latin typeface="Calibri Light" pitchFamily="34" charset="0"/>
              </a:defRPr>
            </a:lvl4pPr>
            <a:lvl5pPr>
              <a:lnSpc>
                <a:spcPct val="90000"/>
              </a:lnSpc>
              <a:spcBef>
                <a:spcPts val="500"/>
              </a:spcBef>
              <a:buFont typeface="Arial" pitchFamily="34" charset="0"/>
              <a:defRPr>
                <a:solidFill>
                  <a:schemeClr val="tx1"/>
                </a:solidFill>
                <a:latin typeface="Calibri Light" pitchFamily="34" charset="0"/>
              </a:defRPr>
            </a:lvl5pPr>
            <a:lvl6pPr fontAlgn="base">
              <a:lnSpc>
                <a:spcPct val="90000"/>
              </a:lnSpc>
              <a:spcBef>
                <a:spcPts val="500"/>
              </a:spcBef>
              <a:spcAft>
                <a:spcPct val="0"/>
              </a:spcAft>
              <a:buFont typeface="Arial" pitchFamily="34" charset="0"/>
              <a:defRPr>
                <a:solidFill>
                  <a:schemeClr val="tx1"/>
                </a:solidFill>
                <a:latin typeface="Calibri Light" pitchFamily="34" charset="0"/>
              </a:defRPr>
            </a:lvl6pPr>
            <a:lvl7pPr fontAlgn="base">
              <a:lnSpc>
                <a:spcPct val="90000"/>
              </a:lnSpc>
              <a:spcBef>
                <a:spcPts val="500"/>
              </a:spcBef>
              <a:spcAft>
                <a:spcPct val="0"/>
              </a:spcAft>
              <a:buFont typeface="Arial" pitchFamily="34" charset="0"/>
              <a:defRPr>
                <a:solidFill>
                  <a:schemeClr val="tx1"/>
                </a:solidFill>
                <a:latin typeface="Calibri Light" pitchFamily="34" charset="0"/>
              </a:defRPr>
            </a:lvl7pPr>
            <a:lvl8pPr fontAlgn="base">
              <a:lnSpc>
                <a:spcPct val="90000"/>
              </a:lnSpc>
              <a:spcBef>
                <a:spcPts val="500"/>
              </a:spcBef>
              <a:spcAft>
                <a:spcPct val="0"/>
              </a:spcAft>
              <a:buFont typeface="Arial" pitchFamily="34" charset="0"/>
              <a:defRPr>
                <a:solidFill>
                  <a:schemeClr val="tx1"/>
                </a:solidFill>
                <a:latin typeface="Calibri Light" pitchFamily="34" charset="0"/>
              </a:defRPr>
            </a:lvl8pPr>
            <a:lvl9pPr fontAlgn="base">
              <a:lnSpc>
                <a:spcPct val="90000"/>
              </a:lnSpc>
              <a:spcBef>
                <a:spcPts val="500"/>
              </a:spcBef>
              <a:spcAft>
                <a:spcPct val="0"/>
              </a:spcAft>
              <a:buFont typeface="Arial" pitchFamily="34" charset="0"/>
              <a:defRPr>
                <a:solidFill>
                  <a:schemeClr val="tx1"/>
                </a:solidFill>
                <a:latin typeface="Calibri Light" pitchFamily="34" charset="0"/>
              </a:defRPr>
            </a:lvl9pPr>
          </a:lstStyle>
          <a:p>
            <a:pPr algn="r" fontAlgn="base">
              <a:lnSpc>
                <a:spcPct val="100000"/>
              </a:lnSpc>
              <a:spcAft>
                <a:spcPct val="0"/>
              </a:spcAft>
              <a:defRPr/>
            </a:pPr>
            <a:r>
              <a:rPr lang="es-ES" altLang="es-ES" sz="1000" kern="0" dirty="0">
                <a:solidFill>
                  <a:prstClr val="black"/>
                </a:solidFill>
                <a:latin typeface="Avenir 35" panose="00000400000000000000" pitchFamily="2" charset="0"/>
              </a:rPr>
              <a:t>Herramienta que permite la gestión de eventos antes, durante y después de su desarrollo</a:t>
            </a:r>
            <a:endParaRPr lang="en-AU" altLang="es-ES" sz="1000" kern="0" dirty="0">
              <a:solidFill>
                <a:prstClr val="black"/>
              </a:solidFill>
              <a:latin typeface="Avenir 35" panose="00000400000000000000" pitchFamily="2" charset="0"/>
            </a:endParaRPr>
          </a:p>
        </p:txBody>
      </p:sp>
      <p:sp>
        <p:nvSpPr>
          <p:cNvPr id="83" name="Content Placeholder 2"/>
          <p:cNvSpPr txBox="1">
            <a:spLocks/>
          </p:cNvSpPr>
          <p:nvPr/>
        </p:nvSpPr>
        <p:spPr bwMode="auto">
          <a:xfrm>
            <a:off x="992560" y="3176766"/>
            <a:ext cx="21600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es-ES"/>
            </a:defPPr>
            <a:lvl1pPr marR="0" lvl="0" indent="0" algn="ctr" fontAlgn="base">
              <a:lnSpc>
                <a:spcPct val="100000"/>
              </a:lnSpc>
              <a:spcBef>
                <a:spcPts val="1000"/>
              </a:spcBef>
              <a:spcAft>
                <a:spcPct val="0"/>
              </a:spcAft>
              <a:buClrTx/>
              <a:buSzTx/>
              <a:buFont typeface="Arial" pitchFamily="34" charset="0"/>
              <a:buNone/>
              <a:tabLst/>
              <a:defRPr kumimoji="0" sz="900" b="0" i="0" u="none" strike="noStrike" kern="0" cap="none" spc="0" normalizeH="0" baseline="0">
                <a:ln>
                  <a:noFill/>
                </a:ln>
                <a:solidFill>
                  <a:prstClr val="black"/>
                </a:solidFill>
                <a:effectLst/>
                <a:uLnTx/>
                <a:uFillTx/>
                <a:latin typeface="Calibri Light" pitchFamily="34" charset="0"/>
              </a:defRPr>
            </a:lvl1pPr>
            <a:lvl2pPr>
              <a:lnSpc>
                <a:spcPct val="90000"/>
              </a:lnSpc>
              <a:spcBef>
                <a:spcPts val="500"/>
              </a:spcBef>
              <a:buFont typeface="Arial" pitchFamily="34" charset="0"/>
              <a:defRPr sz="2400">
                <a:latin typeface="Calibri Light" pitchFamily="34" charset="0"/>
              </a:defRPr>
            </a:lvl2pPr>
            <a:lvl3pPr>
              <a:lnSpc>
                <a:spcPct val="90000"/>
              </a:lnSpc>
              <a:spcBef>
                <a:spcPts val="500"/>
              </a:spcBef>
              <a:buFont typeface="Arial" pitchFamily="34" charset="0"/>
              <a:defRPr sz="2000">
                <a:latin typeface="Calibri Light" pitchFamily="34" charset="0"/>
              </a:defRPr>
            </a:lvl3pPr>
            <a:lvl4pPr>
              <a:lnSpc>
                <a:spcPct val="90000"/>
              </a:lnSpc>
              <a:spcBef>
                <a:spcPts val="500"/>
              </a:spcBef>
              <a:buFont typeface="Arial" pitchFamily="34" charset="0"/>
              <a:defRPr>
                <a:latin typeface="Calibri Light" pitchFamily="34" charset="0"/>
              </a:defRPr>
            </a:lvl4pPr>
            <a:lvl5pPr>
              <a:lnSpc>
                <a:spcPct val="90000"/>
              </a:lnSpc>
              <a:spcBef>
                <a:spcPts val="500"/>
              </a:spcBef>
              <a:buFont typeface="Arial" pitchFamily="34" charset="0"/>
              <a:defRPr>
                <a:latin typeface="Calibri Light" pitchFamily="34" charset="0"/>
              </a:defRPr>
            </a:lvl5pPr>
            <a:lvl6pPr fontAlgn="base">
              <a:lnSpc>
                <a:spcPct val="90000"/>
              </a:lnSpc>
              <a:spcBef>
                <a:spcPts val="500"/>
              </a:spcBef>
              <a:spcAft>
                <a:spcPct val="0"/>
              </a:spcAft>
              <a:buFont typeface="Arial" pitchFamily="34" charset="0"/>
              <a:defRPr>
                <a:latin typeface="Calibri Light" pitchFamily="34" charset="0"/>
              </a:defRPr>
            </a:lvl6pPr>
            <a:lvl7pPr fontAlgn="base">
              <a:lnSpc>
                <a:spcPct val="90000"/>
              </a:lnSpc>
              <a:spcBef>
                <a:spcPts val="500"/>
              </a:spcBef>
              <a:spcAft>
                <a:spcPct val="0"/>
              </a:spcAft>
              <a:buFont typeface="Arial" pitchFamily="34" charset="0"/>
              <a:defRPr>
                <a:latin typeface="Calibri Light" pitchFamily="34" charset="0"/>
              </a:defRPr>
            </a:lvl7pPr>
            <a:lvl8pPr fontAlgn="base">
              <a:lnSpc>
                <a:spcPct val="90000"/>
              </a:lnSpc>
              <a:spcBef>
                <a:spcPts val="500"/>
              </a:spcBef>
              <a:spcAft>
                <a:spcPct val="0"/>
              </a:spcAft>
              <a:buFont typeface="Arial" pitchFamily="34" charset="0"/>
              <a:defRPr>
                <a:latin typeface="Calibri Light" pitchFamily="34" charset="0"/>
              </a:defRPr>
            </a:lvl8pPr>
            <a:lvl9pPr fontAlgn="base">
              <a:lnSpc>
                <a:spcPct val="90000"/>
              </a:lnSpc>
              <a:spcBef>
                <a:spcPts val="500"/>
              </a:spcBef>
              <a:spcAft>
                <a:spcPct val="0"/>
              </a:spcAft>
              <a:buFont typeface="Arial" pitchFamily="34" charset="0"/>
              <a:defRPr>
                <a:latin typeface="Calibri Light" pitchFamily="34" charset="0"/>
              </a:defRPr>
            </a:lvl9pPr>
          </a:lstStyle>
          <a:p>
            <a:pPr algn="l"/>
            <a:r>
              <a:rPr lang="es-ES" altLang="es-ES" sz="1000" dirty="0">
                <a:latin typeface="Avenir 35" panose="00000400000000000000" pitchFamily="2" charset="0"/>
              </a:rPr>
              <a:t>Integración con los DMS de los concesionarios que permiten medir la actividad comercial y de posventa.</a:t>
            </a:r>
            <a:endParaRPr lang="en-AU" altLang="es-ES" sz="1000" dirty="0">
              <a:latin typeface="Avenir 35" panose="00000400000000000000" pitchFamily="2" charset="0"/>
            </a:endParaRPr>
          </a:p>
        </p:txBody>
      </p:sp>
      <p:sp>
        <p:nvSpPr>
          <p:cNvPr id="90" name="Notched Right Arrow 13"/>
          <p:cNvSpPr/>
          <p:nvPr/>
        </p:nvSpPr>
        <p:spPr>
          <a:xfrm flipH="1">
            <a:off x="3155008" y="3337128"/>
            <a:ext cx="2174400" cy="349200"/>
          </a:xfrm>
          <a:prstGeom prst="notchedRightArrow">
            <a:avLst>
              <a:gd name="adj1" fmla="val 100000"/>
              <a:gd name="adj2" fmla="val 32381"/>
            </a:avLst>
          </a:prstGeom>
          <a:solidFill>
            <a:schemeClr val="tx1">
              <a:lumMod val="65000"/>
              <a:lumOff val="35000"/>
            </a:schemeClr>
          </a:solidFill>
          <a:ln w="12700" cap="flat" cmpd="sng" algn="ctr">
            <a:noFill/>
            <a:prstDash val="solid"/>
            <a:miter lim="800000"/>
          </a:ln>
          <a:effectLst/>
        </p:spPr>
        <p:txBody>
          <a:bodyPr anchor="ctr"/>
          <a:lstStyle/>
          <a:p>
            <a:pPr algn="ctr"/>
            <a:r>
              <a:rPr lang="en-GB" sz="1300" kern="0" cap="all" dirty="0">
                <a:solidFill>
                  <a:prstClr val="white"/>
                </a:solidFill>
                <a:latin typeface="Avenir 35" panose="00000400000000000000" pitchFamily="2" charset="0"/>
                <a:cs typeface="Clear Sans" panose="020B0503030202020304" pitchFamily="34" charset="0"/>
              </a:rPr>
              <a:t>DMS Dealer</a:t>
            </a:r>
          </a:p>
        </p:txBody>
      </p:sp>
      <p:sp>
        <p:nvSpPr>
          <p:cNvPr id="94" name="Content Placeholder 2"/>
          <p:cNvSpPr txBox="1">
            <a:spLocks/>
          </p:cNvSpPr>
          <p:nvPr/>
        </p:nvSpPr>
        <p:spPr bwMode="auto">
          <a:xfrm>
            <a:off x="992560" y="2145213"/>
            <a:ext cx="2160000"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es-ES"/>
            </a:defPPr>
            <a:lvl1pPr marR="0" lvl="0" indent="0" algn="ctr" fontAlgn="base">
              <a:lnSpc>
                <a:spcPct val="100000"/>
              </a:lnSpc>
              <a:spcBef>
                <a:spcPts val="1000"/>
              </a:spcBef>
              <a:spcAft>
                <a:spcPct val="0"/>
              </a:spcAft>
              <a:buClrTx/>
              <a:buSzTx/>
              <a:buFont typeface="Arial" pitchFamily="34" charset="0"/>
              <a:buNone/>
              <a:tabLst/>
              <a:defRPr kumimoji="0" sz="900" b="0" i="0" u="none" strike="noStrike" kern="0" cap="none" spc="0" normalizeH="0" baseline="0">
                <a:ln>
                  <a:noFill/>
                </a:ln>
                <a:solidFill>
                  <a:prstClr val="black"/>
                </a:solidFill>
                <a:effectLst/>
                <a:uLnTx/>
                <a:uFillTx/>
                <a:latin typeface="Calibri Light" pitchFamily="34" charset="0"/>
              </a:defRPr>
            </a:lvl1pPr>
            <a:lvl2pPr>
              <a:lnSpc>
                <a:spcPct val="90000"/>
              </a:lnSpc>
              <a:spcBef>
                <a:spcPts val="500"/>
              </a:spcBef>
              <a:buFont typeface="Arial" pitchFamily="34" charset="0"/>
              <a:defRPr sz="2400">
                <a:latin typeface="Calibri Light" pitchFamily="34" charset="0"/>
              </a:defRPr>
            </a:lvl2pPr>
            <a:lvl3pPr>
              <a:lnSpc>
                <a:spcPct val="90000"/>
              </a:lnSpc>
              <a:spcBef>
                <a:spcPts val="500"/>
              </a:spcBef>
              <a:buFont typeface="Arial" pitchFamily="34" charset="0"/>
              <a:defRPr sz="2000">
                <a:latin typeface="Calibri Light" pitchFamily="34" charset="0"/>
              </a:defRPr>
            </a:lvl3pPr>
            <a:lvl4pPr>
              <a:lnSpc>
                <a:spcPct val="90000"/>
              </a:lnSpc>
              <a:spcBef>
                <a:spcPts val="500"/>
              </a:spcBef>
              <a:buFont typeface="Arial" pitchFamily="34" charset="0"/>
              <a:defRPr>
                <a:latin typeface="Calibri Light" pitchFamily="34" charset="0"/>
              </a:defRPr>
            </a:lvl4pPr>
            <a:lvl5pPr>
              <a:lnSpc>
                <a:spcPct val="90000"/>
              </a:lnSpc>
              <a:spcBef>
                <a:spcPts val="500"/>
              </a:spcBef>
              <a:buFont typeface="Arial" pitchFamily="34" charset="0"/>
              <a:defRPr>
                <a:latin typeface="Calibri Light" pitchFamily="34" charset="0"/>
              </a:defRPr>
            </a:lvl5pPr>
            <a:lvl6pPr fontAlgn="base">
              <a:lnSpc>
                <a:spcPct val="90000"/>
              </a:lnSpc>
              <a:spcBef>
                <a:spcPts val="500"/>
              </a:spcBef>
              <a:spcAft>
                <a:spcPct val="0"/>
              </a:spcAft>
              <a:buFont typeface="Arial" pitchFamily="34" charset="0"/>
              <a:defRPr>
                <a:latin typeface="Calibri Light" pitchFamily="34" charset="0"/>
              </a:defRPr>
            </a:lvl6pPr>
            <a:lvl7pPr fontAlgn="base">
              <a:lnSpc>
                <a:spcPct val="90000"/>
              </a:lnSpc>
              <a:spcBef>
                <a:spcPts val="500"/>
              </a:spcBef>
              <a:spcAft>
                <a:spcPct val="0"/>
              </a:spcAft>
              <a:buFont typeface="Arial" pitchFamily="34" charset="0"/>
              <a:defRPr>
                <a:latin typeface="Calibri Light" pitchFamily="34" charset="0"/>
              </a:defRPr>
            </a:lvl7pPr>
            <a:lvl8pPr fontAlgn="base">
              <a:lnSpc>
                <a:spcPct val="90000"/>
              </a:lnSpc>
              <a:spcBef>
                <a:spcPts val="500"/>
              </a:spcBef>
              <a:spcAft>
                <a:spcPct val="0"/>
              </a:spcAft>
              <a:buFont typeface="Arial" pitchFamily="34" charset="0"/>
              <a:defRPr>
                <a:latin typeface="Calibri Light" pitchFamily="34" charset="0"/>
              </a:defRPr>
            </a:lvl8pPr>
            <a:lvl9pPr fontAlgn="base">
              <a:lnSpc>
                <a:spcPct val="90000"/>
              </a:lnSpc>
              <a:spcBef>
                <a:spcPts val="500"/>
              </a:spcBef>
              <a:spcAft>
                <a:spcPct val="0"/>
              </a:spcAft>
              <a:buFont typeface="Arial" pitchFamily="34" charset="0"/>
              <a:defRPr>
                <a:latin typeface="Calibri Light" pitchFamily="34" charset="0"/>
              </a:defRPr>
            </a:lvl9pPr>
          </a:lstStyle>
          <a:p>
            <a:pPr algn="l"/>
            <a:r>
              <a:rPr lang="es-ES" altLang="es-ES" sz="1000" dirty="0">
                <a:latin typeface="Avenir 35" panose="00000400000000000000" pitchFamily="2" charset="0"/>
              </a:rPr>
              <a:t>Integración in Time con la Financiera de Easy Money, permitiendo mejorar la eficiencia de las campañas CRM.</a:t>
            </a:r>
            <a:endParaRPr lang="en-AU" altLang="es-ES" sz="1000" dirty="0">
              <a:latin typeface="Avenir 35" panose="00000400000000000000" pitchFamily="2" charset="0"/>
            </a:endParaRPr>
          </a:p>
        </p:txBody>
      </p:sp>
      <p:sp>
        <p:nvSpPr>
          <p:cNvPr id="95" name="Notched Right Arrow 9"/>
          <p:cNvSpPr>
            <a:spLocks noChangeArrowheads="1"/>
          </p:cNvSpPr>
          <p:nvPr/>
        </p:nvSpPr>
        <p:spPr bwMode="auto">
          <a:xfrm>
            <a:off x="4532637" y="2812192"/>
            <a:ext cx="2172501" cy="347255"/>
          </a:xfrm>
          <a:prstGeom prst="notchedRightArrow">
            <a:avLst>
              <a:gd name="adj1" fmla="val 100000"/>
              <a:gd name="adj2" fmla="val 32366"/>
            </a:avLst>
          </a:prstGeom>
          <a:solidFill>
            <a:srgbClr val="0097B7"/>
          </a:solidFill>
          <a:ln w="25400" cap="flat" cmpd="sng" algn="ctr">
            <a:noFill/>
            <a:prstDash val="solid"/>
          </a:ln>
          <a:effectLst/>
        </p:spPr>
        <p:txBody>
          <a:bodyPr rtlCol="0" anchor="ctr"/>
          <a:lstStyle/>
          <a:p>
            <a:pPr algn="ctr"/>
            <a:r>
              <a:rPr lang="es-ES" altLang="es-ES" sz="1300" kern="0" cap="all" dirty="0">
                <a:solidFill>
                  <a:schemeClr val="bg1"/>
                </a:solidFill>
                <a:latin typeface="Avenir 35" panose="00000400000000000000" pitchFamily="2" charset="0"/>
              </a:rPr>
              <a:t>Dealer CRM</a:t>
            </a:r>
            <a:endParaRPr lang="en-GB" altLang="es-ES" sz="1300" kern="0" cap="all" dirty="0">
              <a:solidFill>
                <a:schemeClr val="bg1"/>
              </a:solidFill>
              <a:latin typeface="Avenir 35" panose="00000400000000000000" pitchFamily="2" charset="0"/>
            </a:endParaRPr>
          </a:p>
        </p:txBody>
      </p:sp>
      <p:sp>
        <p:nvSpPr>
          <p:cNvPr id="84" name="Oval 24"/>
          <p:cNvSpPr/>
          <p:nvPr/>
        </p:nvSpPr>
        <p:spPr>
          <a:xfrm>
            <a:off x="9121220" y="1725707"/>
            <a:ext cx="504000" cy="504000"/>
          </a:xfrm>
          <a:prstGeom prst="ellipse">
            <a:avLst/>
          </a:prstGeom>
          <a:solidFill>
            <a:srgbClr val="0097B7"/>
          </a:solidFill>
          <a:ln w="25400" cap="flat" cmpd="sng" algn="ctr">
            <a:noFill/>
            <a:prstDash val="solid"/>
          </a:ln>
          <a:effectLst/>
        </p:spPr>
        <p:txBody>
          <a:bodyPr rtlCol="0" anchor="ctr"/>
          <a:lstStyle/>
          <a:p>
            <a:pPr algn="ctr"/>
            <a:endParaRPr lang="en-US" sz="1600" kern="0" dirty="0">
              <a:solidFill>
                <a:schemeClr val="bg1"/>
              </a:solidFill>
              <a:latin typeface="Calibri"/>
            </a:endParaRPr>
          </a:p>
        </p:txBody>
      </p:sp>
      <p:sp>
        <p:nvSpPr>
          <p:cNvPr id="97" name="Freeform 83"/>
          <p:cNvSpPr>
            <a:spLocks noEditPoints="1"/>
          </p:cNvSpPr>
          <p:nvPr/>
        </p:nvSpPr>
        <p:spPr bwMode="auto">
          <a:xfrm>
            <a:off x="8958708" y="5266730"/>
            <a:ext cx="288000" cy="288000"/>
          </a:xfrm>
          <a:custGeom>
            <a:avLst/>
            <a:gdLst>
              <a:gd name="T0" fmla="*/ 29 w 185"/>
              <a:gd name="T1" fmla="*/ 93 h 152"/>
              <a:gd name="T2" fmla="*/ 4 w 185"/>
              <a:gd name="T3" fmla="*/ 93 h 152"/>
              <a:gd name="T4" fmla="*/ 0 w 185"/>
              <a:gd name="T5" fmla="*/ 97 h 152"/>
              <a:gd name="T6" fmla="*/ 0 w 185"/>
              <a:gd name="T7" fmla="*/ 148 h 152"/>
              <a:gd name="T8" fmla="*/ 4 w 185"/>
              <a:gd name="T9" fmla="*/ 152 h 152"/>
              <a:gd name="T10" fmla="*/ 29 w 185"/>
              <a:gd name="T11" fmla="*/ 152 h 152"/>
              <a:gd name="T12" fmla="*/ 33 w 185"/>
              <a:gd name="T13" fmla="*/ 148 h 152"/>
              <a:gd name="T14" fmla="*/ 33 w 185"/>
              <a:gd name="T15" fmla="*/ 97 h 152"/>
              <a:gd name="T16" fmla="*/ 29 w 185"/>
              <a:gd name="T17" fmla="*/ 93 h 152"/>
              <a:gd name="T18" fmla="*/ 25 w 185"/>
              <a:gd name="T19" fmla="*/ 144 h 152"/>
              <a:gd name="T20" fmla="*/ 8 w 185"/>
              <a:gd name="T21" fmla="*/ 144 h 152"/>
              <a:gd name="T22" fmla="*/ 8 w 185"/>
              <a:gd name="T23" fmla="*/ 101 h 152"/>
              <a:gd name="T24" fmla="*/ 25 w 185"/>
              <a:gd name="T25" fmla="*/ 101 h 152"/>
              <a:gd name="T26" fmla="*/ 25 w 185"/>
              <a:gd name="T27" fmla="*/ 144 h 152"/>
              <a:gd name="T28" fmla="*/ 80 w 185"/>
              <a:gd name="T29" fmla="*/ 17 h 152"/>
              <a:gd name="T30" fmla="*/ 54 w 185"/>
              <a:gd name="T31" fmla="*/ 17 h 152"/>
              <a:gd name="T32" fmla="*/ 50 w 185"/>
              <a:gd name="T33" fmla="*/ 21 h 152"/>
              <a:gd name="T34" fmla="*/ 50 w 185"/>
              <a:gd name="T35" fmla="*/ 148 h 152"/>
              <a:gd name="T36" fmla="*/ 54 w 185"/>
              <a:gd name="T37" fmla="*/ 152 h 152"/>
              <a:gd name="T38" fmla="*/ 80 w 185"/>
              <a:gd name="T39" fmla="*/ 152 h 152"/>
              <a:gd name="T40" fmla="*/ 84 w 185"/>
              <a:gd name="T41" fmla="*/ 148 h 152"/>
              <a:gd name="T42" fmla="*/ 84 w 185"/>
              <a:gd name="T43" fmla="*/ 21 h 152"/>
              <a:gd name="T44" fmla="*/ 80 w 185"/>
              <a:gd name="T45" fmla="*/ 17 h 152"/>
              <a:gd name="T46" fmla="*/ 76 w 185"/>
              <a:gd name="T47" fmla="*/ 144 h 152"/>
              <a:gd name="T48" fmla="*/ 59 w 185"/>
              <a:gd name="T49" fmla="*/ 144 h 152"/>
              <a:gd name="T50" fmla="*/ 59 w 185"/>
              <a:gd name="T51" fmla="*/ 25 h 152"/>
              <a:gd name="T52" fmla="*/ 76 w 185"/>
              <a:gd name="T53" fmla="*/ 25 h 152"/>
              <a:gd name="T54" fmla="*/ 76 w 185"/>
              <a:gd name="T55" fmla="*/ 144 h 152"/>
              <a:gd name="T56" fmla="*/ 181 w 185"/>
              <a:gd name="T57" fmla="*/ 0 h 152"/>
              <a:gd name="T58" fmla="*/ 156 w 185"/>
              <a:gd name="T59" fmla="*/ 0 h 152"/>
              <a:gd name="T60" fmla="*/ 151 w 185"/>
              <a:gd name="T61" fmla="*/ 4 h 152"/>
              <a:gd name="T62" fmla="*/ 151 w 185"/>
              <a:gd name="T63" fmla="*/ 148 h 152"/>
              <a:gd name="T64" fmla="*/ 156 w 185"/>
              <a:gd name="T65" fmla="*/ 152 h 152"/>
              <a:gd name="T66" fmla="*/ 181 w 185"/>
              <a:gd name="T67" fmla="*/ 152 h 152"/>
              <a:gd name="T68" fmla="*/ 185 w 185"/>
              <a:gd name="T69" fmla="*/ 148 h 152"/>
              <a:gd name="T70" fmla="*/ 185 w 185"/>
              <a:gd name="T71" fmla="*/ 4 h 152"/>
              <a:gd name="T72" fmla="*/ 181 w 185"/>
              <a:gd name="T73" fmla="*/ 0 h 152"/>
              <a:gd name="T74" fmla="*/ 177 w 185"/>
              <a:gd name="T75" fmla="*/ 144 h 152"/>
              <a:gd name="T76" fmla="*/ 160 w 185"/>
              <a:gd name="T77" fmla="*/ 144 h 152"/>
              <a:gd name="T78" fmla="*/ 160 w 185"/>
              <a:gd name="T79" fmla="*/ 9 h 152"/>
              <a:gd name="T80" fmla="*/ 177 w 185"/>
              <a:gd name="T81" fmla="*/ 9 h 152"/>
              <a:gd name="T82" fmla="*/ 177 w 185"/>
              <a:gd name="T83" fmla="*/ 144 h 152"/>
              <a:gd name="T84" fmla="*/ 130 w 185"/>
              <a:gd name="T85" fmla="*/ 68 h 152"/>
              <a:gd name="T86" fmla="*/ 105 w 185"/>
              <a:gd name="T87" fmla="*/ 68 h 152"/>
              <a:gd name="T88" fmla="*/ 101 w 185"/>
              <a:gd name="T89" fmla="*/ 72 h 152"/>
              <a:gd name="T90" fmla="*/ 101 w 185"/>
              <a:gd name="T91" fmla="*/ 148 h 152"/>
              <a:gd name="T92" fmla="*/ 105 w 185"/>
              <a:gd name="T93" fmla="*/ 152 h 152"/>
              <a:gd name="T94" fmla="*/ 130 w 185"/>
              <a:gd name="T95" fmla="*/ 152 h 152"/>
              <a:gd name="T96" fmla="*/ 135 w 185"/>
              <a:gd name="T97" fmla="*/ 148 h 152"/>
              <a:gd name="T98" fmla="*/ 135 w 185"/>
              <a:gd name="T99" fmla="*/ 72 h 152"/>
              <a:gd name="T100" fmla="*/ 130 w 185"/>
              <a:gd name="T101" fmla="*/ 68 h 152"/>
              <a:gd name="T102" fmla="*/ 126 w 185"/>
              <a:gd name="T103" fmla="*/ 144 h 152"/>
              <a:gd name="T104" fmla="*/ 109 w 185"/>
              <a:gd name="T105" fmla="*/ 144 h 152"/>
              <a:gd name="T106" fmla="*/ 109 w 185"/>
              <a:gd name="T107" fmla="*/ 76 h 152"/>
              <a:gd name="T108" fmla="*/ 126 w 185"/>
              <a:gd name="T109" fmla="*/ 76 h 152"/>
              <a:gd name="T110" fmla="*/ 126 w 185"/>
              <a:gd name="T111" fmla="*/ 14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5" h="152">
                <a:moveTo>
                  <a:pt x="29" y="93"/>
                </a:moveTo>
                <a:cubicBezTo>
                  <a:pt x="4" y="93"/>
                  <a:pt x="4" y="93"/>
                  <a:pt x="4" y="93"/>
                </a:cubicBezTo>
                <a:cubicBezTo>
                  <a:pt x="1" y="93"/>
                  <a:pt x="0" y="95"/>
                  <a:pt x="0" y="97"/>
                </a:cubicBezTo>
                <a:cubicBezTo>
                  <a:pt x="0" y="148"/>
                  <a:pt x="0" y="148"/>
                  <a:pt x="0" y="148"/>
                </a:cubicBezTo>
                <a:cubicBezTo>
                  <a:pt x="0" y="150"/>
                  <a:pt x="1" y="152"/>
                  <a:pt x="4" y="152"/>
                </a:cubicBezTo>
                <a:cubicBezTo>
                  <a:pt x="29" y="152"/>
                  <a:pt x="29" y="152"/>
                  <a:pt x="29" y="152"/>
                </a:cubicBezTo>
                <a:cubicBezTo>
                  <a:pt x="31" y="152"/>
                  <a:pt x="33" y="150"/>
                  <a:pt x="33" y="148"/>
                </a:cubicBezTo>
                <a:cubicBezTo>
                  <a:pt x="33" y="97"/>
                  <a:pt x="33" y="97"/>
                  <a:pt x="33" y="97"/>
                </a:cubicBezTo>
                <a:cubicBezTo>
                  <a:pt x="33" y="95"/>
                  <a:pt x="31" y="93"/>
                  <a:pt x="29" y="93"/>
                </a:cubicBezTo>
                <a:close/>
                <a:moveTo>
                  <a:pt x="25" y="144"/>
                </a:moveTo>
                <a:cubicBezTo>
                  <a:pt x="8" y="144"/>
                  <a:pt x="8" y="144"/>
                  <a:pt x="8" y="144"/>
                </a:cubicBezTo>
                <a:cubicBezTo>
                  <a:pt x="8" y="101"/>
                  <a:pt x="8" y="101"/>
                  <a:pt x="8" y="101"/>
                </a:cubicBezTo>
                <a:cubicBezTo>
                  <a:pt x="25" y="101"/>
                  <a:pt x="25" y="101"/>
                  <a:pt x="25" y="101"/>
                </a:cubicBezTo>
                <a:lnTo>
                  <a:pt x="25" y="144"/>
                </a:lnTo>
                <a:close/>
                <a:moveTo>
                  <a:pt x="80" y="17"/>
                </a:moveTo>
                <a:cubicBezTo>
                  <a:pt x="54" y="17"/>
                  <a:pt x="54" y="17"/>
                  <a:pt x="54" y="17"/>
                </a:cubicBezTo>
                <a:cubicBezTo>
                  <a:pt x="52" y="17"/>
                  <a:pt x="50" y="19"/>
                  <a:pt x="50" y="21"/>
                </a:cubicBezTo>
                <a:cubicBezTo>
                  <a:pt x="50" y="148"/>
                  <a:pt x="50" y="148"/>
                  <a:pt x="50" y="148"/>
                </a:cubicBezTo>
                <a:cubicBezTo>
                  <a:pt x="50" y="150"/>
                  <a:pt x="52" y="152"/>
                  <a:pt x="54" y="152"/>
                </a:cubicBezTo>
                <a:cubicBezTo>
                  <a:pt x="80" y="152"/>
                  <a:pt x="80" y="152"/>
                  <a:pt x="80" y="152"/>
                </a:cubicBezTo>
                <a:cubicBezTo>
                  <a:pt x="82" y="152"/>
                  <a:pt x="84" y="150"/>
                  <a:pt x="84" y="148"/>
                </a:cubicBezTo>
                <a:cubicBezTo>
                  <a:pt x="84" y="21"/>
                  <a:pt x="84" y="21"/>
                  <a:pt x="84" y="21"/>
                </a:cubicBezTo>
                <a:cubicBezTo>
                  <a:pt x="84" y="19"/>
                  <a:pt x="82" y="17"/>
                  <a:pt x="80" y="17"/>
                </a:cubicBezTo>
                <a:close/>
                <a:moveTo>
                  <a:pt x="76" y="144"/>
                </a:moveTo>
                <a:cubicBezTo>
                  <a:pt x="59" y="144"/>
                  <a:pt x="59" y="144"/>
                  <a:pt x="59" y="144"/>
                </a:cubicBezTo>
                <a:cubicBezTo>
                  <a:pt x="59" y="25"/>
                  <a:pt x="59" y="25"/>
                  <a:pt x="59" y="25"/>
                </a:cubicBezTo>
                <a:cubicBezTo>
                  <a:pt x="76" y="25"/>
                  <a:pt x="76" y="25"/>
                  <a:pt x="76" y="25"/>
                </a:cubicBezTo>
                <a:lnTo>
                  <a:pt x="76" y="144"/>
                </a:lnTo>
                <a:close/>
                <a:moveTo>
                  <a:pt x="181" y="0"/>
                </a:moveTo>
                <a:cubicBezTo>
                  <a:pt x="156" y="0"/>
                  <a:pt x="156" y="0"/>
                  <a:pt x="156" y="0"/>
                </a:cubicBezTo>
                <a:cubicBezTo>
                  <a:pt x="153" y="0"/>
                  <a:pt x="151" y="2"/>
                  <a:pt x="151" y="4"/>
                </a:cubicBezTo>
                <a:cubicBezTo>
                  <a:pt x="151" y="148"/>
                  <a:pt x="151" y="148"/>
                  <a:pt x="151" y="148"/>
                </a:cubicBezTo>
                <a:cubicBezTo>
                  <a:pt x="151" y="150"/>
                  <a:pt x="153" y="152"/>
                  <a:pt x="156" y="152"/>
                </a:cubicBezTo>
                <a:cubicBezTo>
                  <a:pt x="181" y="152"/>
                  <a:pt x="181" y="152"/>
                  <a:pt x="181" y="152"/>
                </a:cubicBezTo>
                <a:cubicBezTo>
                  <a:pt x="183" y="152"/>
                  <a:pt x="185" y="150"/>
                  <a:pt x="185" y="148"/>
                </a:cubicBezTo>
                <a:cubicBezTo>
                  <a:pt x="185" y="4"/>
                  <a:pt x="185" y="4"/>
                  <a:pt x="185" y="4"/>
                </a:cubicBezTo>
                <a:cubicBezTo>
                  <a:pt x="185" y="2"/>
                  <a:pt x="183" y="0"/>
                  <a:pt x="181" y="0"/>
                </a:cubicBezTo>
                <a:close/>
                <a:moveTo>
                  <a:pt x="177" y="144"/>
                </a:moveTo>
                <a:cubicBezTo>
                  <a:pt x="160" y="144"/>
                  <a:pt x="160" y="144"/>
                  <a:pt x="160" y="144"/>
                </a:cubicBezTo>
                <a:cubicBezTo>
                  <a:pt x="160" y="9"/>
                  <a:pt x="160" y="9"/>
                  <a:pt x="160" y="9"/>
                </a:cubicBezTo>
                <a:cubicBezTo>
                  <a:pt x="177" y="9"/>
                  <a:pt x="177" y="9"/>
                  <a:pt x="177" y="9"/>
                </a:cubicBezTo>
                <a:lnTo>
                  <a:pt x="177" y="144"/>
                </a:lnTo>
                <a:close/>
                <a:moveTo>
                  <a:pt x="130" y="68"/>
                </a:moveTo>
                <a:cubicBezTo>
                  <a:pt x="105" y="68"/>
                  <a:pt x="105" y="68"/>
                  <a:pt x="105" y="68"/>
                </a:cubicBezTo>
                <a:cubicBezTo>
                  <a:pt x="103" y="68"/>
                  <a:pt x="101" y="70"/>
                  <a:pt x="101" y="72"/>
                </a:cubicBezTo>
                <a:cubicBezTo>
                  <a:pt x="101" y="148"/>
                  <a:pt x="101" y="148"/>
                  <a:pt x="101" y="148"/>
                </a:cubicBezTo>
                <a:cubicBezTo>
                  <a:pt x="101" y="150"/>
                  <a:pt x="103" y="152"/>
                  <a:pt x="105" y="152"/>
                </a:cubicBezTo>
                <a:cubicBezTo>
                  <a:pt x="130" y="152"/>
                  <a:pt x="130" y="152"/>
                  <a:pt x="130" y="152"/>
                </a:cubicBezTo>
                <a:cubicBezTo>
                  <a:pt x="133" y="152"/>
                  <a:pt x="135" y="150"/>
                  <a:pt x="135" y="148"/>
                </a:cubicBezTo>
                <a:cubicBezTo>
                  <a:pt x="135" y="72"/>
                  <a:pt x="135" y="72"/>
                  <a:pt x="135" y="72"/>
                </a:cubicBezTo>
                <a:cubicBezTo>
                  <a:pt x="135" y="70"/>
                  <a:pt x="133" y="68"/>
                  <a:pt x="130" y="68"/>
                </a:cubicBezTo>
                <a:close/>
                <a:moveTo>
                  <a:pt x="126" y="144"/>
                </a:moveTo>
                <a:cubicBezTo>
                  <a:pt x="109" y="144"/>
                  <a:pt x="109" y="144"/>
                  <a:pt x="109" y="144"/>
                </a:cubicBezTo>
                <a:cubicBezTo>
                  <a:pt x="109" y="76"/>
                  <a:pt x="109" y="76"/>
                  <a:pt x="109" y="76"/>
                </a:cubicBezTo>
                <a:cubicBezTo>
                  <a:pt x="126" y="76"/>
                  <a:pt x="126" y="76"/>
                  <a:pt x="126" y="76"/>
                </a:cubicBezTo>
                <a:lnTo>
                  <a:pt x="126" y="144"/>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400" dirty="0">
              <a:solidFill>
                <a:prstClr val="black"/>
              </a:solidFill>
            </a:endParaRPr>
          </a:p>
        </p:txBody>
      </p:sp>
      <p:sp>
        <p:nvSpPr>
          <p:cNvPr id="104" name="Notched Right Arrow 11"/>
          <p:cNvSpPr/>
          <p:nvPr/>
        </p:nvSpPr>
        <p:spPr>
          <a:xfrm flipH="1">
            <a:off x="3155008" y="2306369"/>
            <a:ext cx="2174400" cy="349200"/>
          </a:xfrm>
          <a:prstGeom prst="notchedRightArrow">
            <a:avLst>
              <a:gd name="adj1" fmla="val 100000"/>
              <a:gd name="adj2" fmla="val 32381"/>
            </a:avLst>
          </a:prstGeom>
          <a:solidFill>
            <a:schemeClr val="tx1">
              <a:lumMod val="65000"/>
              <a:lumOff val="35000"/>
            </a:schemeClr>
          </a:solidFill>
          <a:ln w="12700" cap="flat" cmpd="sng" algn="ctr">
            <a:noFill/>
            <a:prstDash val="solid"/>
            <a:miter lim="800000"/>
          </a:ln>
          <a:effectLst/>
        </p:spPr>
        <p:txBody>
          <a:bodyPr anchor="ctr"/>
          <a:lstStyle/>
          <a:p>
            <a:pPr algn="ctr"/>
            <a:r>
              <a:rPr lang="es-ES" sz="1300" kern="0" cap="all" dirty="0">
                <a:solidFill>
                  <a:prstClr val="white"/>
                </a:solidFill>
                <a:latin typeface="Avenir 35" panose="00000400000000000000" pitchFamily="2" charset="0"/>
                <a:cs typeface="Clear Sans" panose="020B0503030202020304" pitchFamily="34" charset="0"/>
              </a:rPr>
              <a:t>MBFS</a:t>
            </a:r>
            <a:endParaRPr lang="en-GB" sz="1300" kern="0" cap="all" dirty="0">
              <a:solidFill>
                <a:prstClr val="white"/>
              </a:solidFill>
              <a:latin typeface="Avenir 35" panose="00000400000000000000" pitchFamily="2" charset="0"/>
              <a:cs typeface="Clear Sans" panose="020B0503030202020304" pitchFamily="34" charset="0"/>
            </a:endParaRPr>
          </a:p>
        </p:txBody>
      </p:sp>
      <p:sp>
        <p:nvSpPr>
          <p:cNvPr id="32" name="Notched Right Arrow 9"/>
          <p:cNvSpPr>
            <a:spLocks noChangeArrowheads="1"/>
          </p:cNvSpPr>
          <p:nvPr/>
        </p:nvSpPr>
        <p:spPr bwMode="auto">
          <a:xfrm>
            <a:off x="4532637" y="3878367"/>
            <a:ext cx="2172501" cy="347255"/>
          </a:xfrm>
          <a:prstGeom prst="notchedRightArrow">
            <a:avLst>
              <a:gd name="adj1" fmla="val 100000"/>
              <a:gd name="adj2" fmla="val 32366"/>
            </a:avLst>
          </a:prstGeom>
          <a:solidFill>
            <a:srgbClr val="0097B7"/>
          </a:solidFill>
          <a:ln w="25400" cap="flat" cmpd="sng" algn="ctr">
            <a:noFill/>
            <a:prstDash val="solid"/>
          </a:ln>
          <a:effectLst/>
        </p:spPr>
        <p:txBody>
          <a:bodyPr rtlCol="0" anchor="ctr"/>
          <a:lstStyle/>
          <a:p>
            <a:pPr algn="ctr"/>
            <a:r>
              <a:rPr lang="en-PH" altLang="es-ES" sz="1300" kern="0" cap="all" dirty="0">
                <a:solidFill>
                  <a:schemeClr val="bg1"/>
                </a:solidFill>
                <a:latin typeface="Avenir 35" panose="00000400000000000000" pitchFamily="2" charset="0"/>
              </a:rPr>
              <a:t>Connected Car</a:t>
            </a:r>
          </a:p>
        </p:txBody>
      </p:sp>
      <p:sp>
        <p:nvSpPr>
          <p:cNvPr id="35" name="Content Placeholder 2"/>
          <p:cNvSpPr txBox="1">
            <a:spLocks/>
          </p:cNvSpPr>
          <p:nvPr/>
        </p:nvSpPr>
        <p:spPr bwMode="auto">
          <a:xfrm>
            <a:off x="6753200" y="2650857"/>
            <a:ext cx="21600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itchFamily="34" charset="0"/>
              <a:defRPr sz="2800">
                <a:solidFill>
                  <a:schemeClr val="tx1"/>
                </a:solidFill>
                <a:latin typeface="Calibri Light" pitchFamily="34" charset="0"/>
              </a:defRPr>
            </a:lvl1pPr>
            <a:lvl2pPr>
              <a:lnSpc>
                <a:spcPct val="90000"/>
              </a:lnSpc>
              <a:spcBef>
                <a:spcPts val="500"/>
              </a:spcBef>
              <a:buFont typeface="Arial" pitchFamily="34" charset="0"/>
              <a:defRPr sz="2400">
                <a:solidFill>
                  <a:schemeClr val="tx1"/>
                </a:solidFill>
                <a:latin typeface="Calibri Light" pitchFamily="34" charset="0"/>
              </a:defRPr>
            </a:lvl2pPr>
            <a:lvl3pPr>
              <a:lnSpc>
                <a:spcPct val="90000"/>
              </a:lnSpc>
              <a:spcBef>
                <a:spcPts val="500"/>
              </a:spcBef>
              <a:buFont typeface="Arial" pitchFamily="34" charset="0"/>
              <a:defRPr sz="2000">
                <a:solidFill>
                  <a:schemeClr val="tx1"/>
                </a:solidFill>
                <a:latin typeface="Calibri Light" pitchFamily="34" charset="0"/>
              </a:defRPr>
            </a:lvl3pPr>
            <a:lvl4pPr>
              <a:lnSpc>
                <a:spcPct val="90000"/>
              </a:lnSpc>
              <a:spcBef>
                <a:spcPts val="500"/>
              </a:spcBef>
              <a:buFont typeface="Arial" pitchFamily="34" charset="0"/>
              <a:defRPr>
                <a:solidFill>
                  <a:schemeClr val="tx1"/>
                </a:solidFill>
                <a:latin typeface="Calibri Light" pitchFamily="34" charset="0"/>
              </a:defRPr>
            </a:lvl4pPr>
            <a:lvl5pPr>
              <a:lnSpc>
                <a:spcPct val="90000"/>
              </a:lnSpc>
              <a:spcBef>
                <a:spcPts val="500"/>
              </a:spcBef>
              <a:buFont typeface="Arial" pitchFamily="34" charset="0"/>
              <a:defRPr>
                <a:solidFill>
                  <a:schemeClr val="tx1"/>
                </a:solidFill>
                <a:latin typeface="Calibri Light" pitchFamily="34" charset="0"/>
              </a:defRPr>
            </a:lvl5pPr>
            <a:lvl6pPr fontAlgn="base">
              <a:lnSpc>
                <a:spcPct val="90000"/>
              </a:lnSpc>
              <a:spcBef>
                <a:spcPts val="500"/>
              </a:spcBef>
              <a:spcAft>
                <a:spcPct val="0"/>
              </a:spcAft>
              <a:buFont typeface="Arial" pitchFamily="34" charset="0"/>
              <a:defRPr>
                <a:solidFill>
                  <a:schemeClr val="tx1"/>
                </a:solidFill>
                <a:latin typeface="Calibri Light" pitchFamily="34" charset="0"/>
              </a:defRPr>
            </a:lvl6pPr>
            <a:lvl7pPr fontAlgn="base">
              <a:lnSpc>
                <a:spcPct val="90000"/>
              </a:lnSpc>
              <a:spcBef>
                <a:spcPts val="500"/>
              </a:spcBef>
              <a:spcAft>
                <a:spcPct val="0"/>
              </a:spcAft>
              <a:buFont typeface="Arial" pitchFamily="34" charset="0"/>
              <a:defRPr>
                <a:solidFill>
                  <a:schemeClr val="tx1"/>
                </a:solidFill>
                <a:latin typeface="Calibri Light" pitchFamily="34" charset="0"/>
              </a:defRPr>
            </a:lvl7pPr>
            <a:lvl8pPr fontAlgn="base">
              <a:lnSpc>
                <a:spcPct val="90000"/>
              </a:lnSpc>
              <a:spcBef>
                <a:spcPts val="500"/>
              </a:spcBef>
              <a:spcAft>
                <a:spcPct val="0"/>
              </a:spcAft>
              <a:buFont typeface="Arial" pitchFamily="34" charset="0"/>
              <a:defRPr>
                <a:solidFill>
                  <a:schemeClr val="tx1"/>
                </a:solidFill>
                <a:latin typeface="Calibri Light" pitchFamily="34" charset="0"/>
              </a:defRPr>
            </a:lvl8pPr>
            <a:lvl9pPr fontAlgn="base">
              <a:lnSpc>
                <a:spcPct val="90000"/>
              </a:lnSpc>
              <a:spcBef>
                <a:spcPts val="500"/>
              </a:spcBef>
              <a:spcAft>
                <a:spcPct val="0"/>
              </a:spcAft>
              <a:buFont typeface="Arial" pitchFamily="34" charset="0"/>
              <a:defRPr>
                <a:solidFill>
                  <a:schemeClr val="tx1"/>
                </a:solidFill>
                <a:latin typeface="Calibri Light" pitchFamily="34" charset="0"/>
              </a:defRPr>
            </a:lvl9pPr>
          </a:lstStyle>
          <a:p>
            <a:pPr algn="r" fontAlgn="base">
              <a:lnSpc>
                <a:spcPct val="100000"/>
              </a:lnSpc>
              <a:spcAft>
                <a:spcPct val="0"/>
              </a:spcAft>
              <a:defRPr/>
            </a:pPr>
            <a:r>
              <a:rPr lang="es-ES" altLang="es-ES" sz="1000" kern="0" dirty="0">
                <a:solidFill>
                  <a:prstClr val="black"/>
                </a:solidFill>
                <a:latin typeface="Avenir 35" panose="00000400000000000000" pitchFamily="2" charset="0"/>
              </a:rPr>
              <a:t>Herramienta de Marketing predictivo en ventas y posventa, que permite lanzar acciones de contacto locales. (Alineadas con la estrategia CRM)</a:t>
            </a:r>
            <a:endParaRPr lang="en-AU" altLang="es-ES" sz="1000" kern="0" dirty="0">
              <a:solidFill>
                <a:prstClr val="black"/>
              </a:solidFill>
              <a:latin typeface="Avenir 35" panose="00000400000000000000" pitchFamily="2" charset="0"/>
            </a:endParaRPr>
          </a:p>
        </p:txBody>
      </p:sp>
      <p:sp>
        <p:nvSpPr>
          <p:cNvPr id="41" name="Oval 24"/>
          <p:cNvSpPr/>
          <p:nvPr/>
        </p:nvSpPr>
        <p:spPr>
          <a:xfrm>
            <a:off x="9161797" y="4843904"/>
            <a:ext cx="504000" cy="504000"/>
          </a:xfrm>
          <a:prstGeom prst="ellipse">
            <a:avLst/>
          </a:prstGeom>
          <a:solidFill>
            <a:srgbClr val="0097B7"/>
          </a:solidFill>
          <a:ln w="25400" cap="flat" cmpd="sng" algn="ctr">
            <a:noFill/>
            <a:prstDash val="solid"/>
          </a:ln>
          <a:effectLst/>
        </p:spPr>
        <p:txBody>
          <a:bodyPr rtlCol="0" anchor="ctr"/>
          <a:lstStyle/>
          <a:p>
            <a:pPr algn="ctr"/>
            <a:endParaRPr lang="en-US" sz="1600" kern="0" dirty="0">
              <a:solidFill>
                <a:schemeClr val="bg1"/>
              </a:solidFill>
              <a:latin typeface="Calibri"/>
            </a:endParaRPr>
          </a:p>
        </p:txBody>
      </p:sp>
      <p:sp>
        <p:nvSpPr>
          <p:cNvPr id="42" name="Freeform 83"/>
          <p:cNvSpPr>
            <a:spLocks noEditPoints="1"/>
          </p:cNvSpPr>
          <p:nvPr/>
        </p:nvSpPr>
        <p:spPr bwMode="auto">
          <a:xfrm>
            <a:off x="9269797" y="4960750"/>
            <a:ext cx="288000" cy="288000"/>
          </a:xfrm>
          <a:custGeom>
            <a:avLst/>
            <a:gdLst>
              <a:gd name="T0" fmla="*/ 29 w 185"/>
              <a:gd name="T1" fmla="*/ 93 h 152"/>
              <a:gd name="T2" fmla="*/ 4 w 185"/>
              <a:gd name="T3" fmla="*/ 93 h 152"/>
              <a:gd name="T4" fmla="*/ 0 w 185"/>
              <a:gd name="T5" fmla="*/ 97 h 152"/>
              <a:gd name="T6" fmla="*/ 0 w 185"/>
              <a:gd name="T7" fmla="*/ 148 h 152"/>
              <a:gd name="T8" fmla="*/ 4 w 185"/>
              <a:gd name="T9" fmla="*/ 152 h 152"/>
              <a:gd name="T10" fmla="*/ 29 w 185"/>
              <a:gd name="T11" fmla="*/ 152 h 152"/>
              <a:gd name="T12" fmla="*/ 33 w 185"/>
              <a:gd name="T13" fmla="*/ 148 h 152"/>
              <a:gd name="T14" fmla="*/ 33 w 185"/>
              <a:gd name="T15" fmla="*/ 97 h 152"/>
              <a:gd name="T16" fmla="*/ 29 w 185"/>
              <a:gd name="T17" fmla="*/ 93 h 152"/>
              <a:gd name="T18" fmla="*/ 25 w 185"/>
              <a:gd name="T19" fmla="*/ 144 h 152"/>
              <a:gd name="T20" fmla="*/ 8 w 185"/>
              <a:gd name="T21" fmla="*/ 144 h 152"/>
              <a:gd name="T22" fmla="*/ 8 w 185"/>
              <a:gd name="T23" fmla="*/ 101 h 152"/>
              <a:gd name="T24" fmla="*/ 25 w 185"/>
              <a:gd name="T25" fmla="*/ 101 h 152"/>
              <a:gd name="T26" fmla="*/ 25 w 185"/>
              <a:gd name="T27" fmla="*/ 144 h 152"/>
              <a:gd name="T28" fmla="*/ 80 w 185"/>
              <a:gd name="T29" fmla="*/ 17 h 152"/>
              <a:gd name="T30" fmla="*/ 54 w 185"/>
              <a:gd name="T31" fmla="*/ 17 h 152"/>
              <a:gd name="T32" fmla="*/ 50 w 185"/>
              <a:gd name="T33" fmla="*/ 21 h 152"/>
              <a:gd name="T34" fmla="*/ 50 w 185"/>
              <a:gd name="T35" fmla="*/ 148 h 152"/>
              <a:gd name="T36" fmla="*/ 54 w 185"/>
              <a:gd name="T37" fmla="*/ 152 h 152"/>
              <a:gd name="T38" fmla="*/ 80 w 185"/>
              <a:gd name="T39" fmla="*/ 152 h 152"/>
              <a:gd name="T40" fmla="*/ 84 w 185"/>
              <a:gd name="T41" fmla="*/ 148 h 152"/>
              <a:gd name="T42" fmla="*/ 84 w 185"/>
              <a:gd name="T43" fmla="*/ 21 h 152"/>
              <a:gd name="T44" fmla="*/ 80 w 185"/>
              <a:gd name="T45" fmla="*/ 17 h 152"/>
              <a:gd name="T46" fmla="*/ 76 w 185"/>
              <a:gd name="T47" fmla="*/ 144 h 152"/>
              <a:gd name="T48" fmla="*/ 59 w 185"/>
              <a:gd name="T49" fmla="*/ 144 h 152"/>
              <a:gd name="T50" fmla="*/ 59 w 185"/>
              <a:gd name="T51" fmla="*/ 25 h 152"/>
              <a:gd name="T52" fmla="*/ 76 w 185"/>
              <a:gd name="T53" fmla="*/ 25 h 152"/>
              <a:gd name="T54" fmla="*/ 76 w 185"/>
              <a:gd name="T55" fmla="*/ 144 h 152"/>
              <a:gd name="T56" fmla="*/ 181 w 185"/>
              <a:gd name="T57" fmla="*/ 0 h 152"/>
              <a:gd name="T58" fmla="*/ 156 w 185"/>
              <a:gd name="T59" fmla="*/ 0 h 152"/>
              <a:gd name="T60" fmla="*/ 151 w 185"/>
              <a:gd name="T61" fmla="*/ 4 h 152"/>
              <a:gd name="T62" fmla="*/ 151 w 185"/>
              <a:gd name="T63" fmla="*/ 148 h 152"/>
              <a:gd name="T64" fmla="*/ 156 w 185"/>
              <a:gd name="T65" fmla="*/ 152 h 152"/>
              <a:gd name="T66" fmla="*/ 181 w 185"/>
              <a:gd name="T67" fmla="*/ 152 h 152"/>
              <a:gd name="T68" fmla="*/ 185 w 185"/>
              <a:gd name="T69" fmla="*/ 148 h 152"/>
              <a:gd name="T70" fmla="*/ 185 w 185"/>
              <a:gd name="T71" fmla="*/ 4 h 152"/>
              <a:gd name="T72" fmla="*/ 181 w 185"/>
              <a:gd name="T73" fmla="*/ 0 h 152"/>
              <a:gd name="T74" fmla="*/ 177 w 185"/>
              <a:gd name="T75" fmla="*/ 144 h 152"/>
              <a:gd name="T76" fmla="*/ 160 w 185"/>
              <a:gd name="T77" fmla="*/ 144 h 152"/>
              <a:gd name="T78" fmla="*/ 160 w 185"/>
              <a:gd name="T79" fmla="*/ 9 h 152"/>
              <a:gd name="T80" fmla="*/ 177 w 185"/>
              <a:gd name="T81" fmla="*/ 9 h 152"/>
              <a:gd name="T82" fmla="*/ 177 w 185"/>
              <a:gd name="T83" fmla="*/ 144 h 152"/>
              <a:gd name="T84" fmla="*/ 130 w 185"/>
              <a:gd name="T85" fmla="*/ 68 h 152"/>
              <a:gd name="T86" fmla="*/ 105 w 185"/>
              <a:gd name="T87" fmla="*/ 68 h 152"/>
              <a:gd name="T88" fmla="*/ 101 w 185"/>
              <a:gd name="T89" fmla="*/ 72 h 152"/>
              <a:gd name="T90" fmla="*/ 101 w 185"/>
              <a:gd name="T91" fmla="*/ 148 h 152"/>
              <a:gd name="T92" fmla="*/ 105 w 185"/>
              <a:gd name="T93" fmla="*/ 152 h 152"/>
              <a:gd name="T94" fmla="*/ 130 w 185"/>
              <a:gd name="T95" fmla="*/ 152 h 152"/>
              <a:gd name="T96" fmla="*/ 135 w 185"/>
              <a:gd name="T97" fmla="*/ 148 h 152"/>
              <a:gd name="T98" fmla="*/ 135 w 185"/>
              <a:gd name="T99" fmla="*/ 72 h 152"/>
              <a:gd name="T100" fmla="*/ 130 w 185"/>
              <a:gd name="T101" fmla="*/ 68 h 152"/>
              <a:gd name="T102" fmla="*/ 126 w 185"/>
              <a:gd name="T103" fmla="*/ 144 h 152"/>
              <a:gd name="T104" fmla="*/ 109 w 185"/>
              <a:gd name="T105" fmla="*/ 144 h 152"/>
              <a:gd name="T106" fmla="*/ 109 w 185"/>
              <a:gd name="T107" fmla="*/ 76 h 152"/>
              <a:gd name="T108" fmla="*/ 126 w 185"/>
              <a:gd name="T109" fmla="*/ 76 h 152"/>
              <a:gd name="T110" fmla="*/ 126 w 185"/>
              <a:gd name="T111" fmla="*/ 14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5" h="152">
                <a:moveTo>
                  <a:pt x="29" y="93"/>
                </a:moveTo>
                <a:cubicBezTo>
                  <a:pt x="4" y="93"/>
                  <a:pt x="4" y="93"/>
                  <a:pt x="4" y="93"/>
                </a:cubicBezTo>
                <a:cubicBezTo>
                  <a:pt x="1" y="93"/>
                  <a:pt x="0" y="95"/>
                  <a:pt x="0" y="97"/>
                </a:cubicBezTo>
                <a:cubicBezTo>
                  <a:pt x="0" y="148"/>
                  <a:pt x="0" y="148"/>
                  <a:pt x="0" y="148"/>
                </a:cubicBezTo>
                <a:cubicBezTo>
                  <a:pt x="0" y="150"/>
                  <a:pt x="1" y="152"/>
                  <a:pt x="4" y="152"/>
                </a:cubicBezTo>
                <a:cubicBezTo>
                  <a:pt x="29" y="152"/>
                  <a:pt x="29" y="152"/>
                  <a:pt x="29" y="152"/>
                </a:cubicBezTo>
                <a:cubicBezTo>
                  <a:pt x="31" y="152"/>
                  <a:pt x="33" y="150"/>
                  <a:pt x="33" y="148"/>
                </a:cubicBezTo>
                <a:cubicBezTo>
                  <a:pt x="33" y="97"/>
                  <a:pt x="33" y="97"/>
                  <a:pt x="33" y="97"/>
                </a:cubicBezTo>
                <a:cubicBezTo>
                  <a:pt x="33" y="95"/>
                  <a:pt x="31" y="93"/>
                  <a:pt x="29" y="93"/>
                </a:cubicBezTo>
                <a:close/>
                <a:moveTo>
                  <a:pt x="25" y="144"/>
                </a:moveTo>
                <a:cubicBezTo>
                  <a:pt x="8" y="144"/>
                  <a:pt x="8" y="144"/>
                  <a:pt x="8" y="144"/>
                </a:cubicBezTo>
                <a:cubicBezTo>
                  <a:pt x="8" y="101"/>
                  <a:pt x="8" y="101"/>
                  <a:pt x="8" y="101"/>
                </a:cubicBezTo>
                <a:cubicBezTo>
                  <a:pt x="25" y="101"/>
                  <a:pt x="25" y="101"/>
                  <a:pt x="25" y="101"/>
                </a:cubicBezTo>
                <a:lnTo>
                  <a:pt x="25" y="144"/>
                </a:lnTo>
                <a:close/>
                <a:moveTo>
                  <a:pt x="80" y="17"/>
                </a:moveTo>
                <a:cubicBezTo>
                  <a:pt x="54" y="17"/>
                  <a:pt x="54" y="17"/>
                  <a:pt x="54" y="17"/>
                </a:cubicBezTo>
                <a:cubicBezTo>
                  <a:pt x="52" y="17"/>
                  <a:pt x="50" y="19"/>
                  <a:pt x="50" y="21"/>
                </a:cubicBezTo>
                <a:cubicBezTo>
                  <a:pt x="50" y="148"/>
                  <a:pt x="50" y="148"/>
                  <a:pt x="50" y="148"/>
                </a:cubicBezTo>
                <a:cubicBezTo>
                  <a:pt x="50" y="150"/>
                  <a:pt x="52" y="152"/>
                  <a:pt x="54" y="152"/>
                </a:cubicBezTo>
                <a:cubicBezTo>
                  <a:pt x="80" y="152"/>
                  <a:pt x="80" y="152"/>
                  <a:pt x="80" y="152"/>
                </a:cubicBezTo>
                <a:cubicBezTo>
                  <a:pt x="82" y="152"/>
                  <a:pt x="84" y="150"/>
                  <a:pt x="84" y="148"/>
                </a:cubicBezTo>
                <a:cubicBezTo>
                  <a:pt x="84" y="21"/>
                  <a:pt x="84" y="21"/>
                  <a:pt x="84" y="21"/>
                </a:cubicBezTo>
                <a:cubicBezTo>
                  <a:pt x="84" y="19"/>
                  <a:pt x="82" y="17"/>
                  <a:pt x="80" y="17"/>
                </a:cubicBezTo>
                <a:close/>
                <a:moveTo>
                  <a:pt x="76" y="144"/>
                </a:moveTo>
                <a:cubicBezTo>
                  <a:pt x="59" y="144"/>
                  <a:pt x="59" y="144"/>
                  <a:pt x="59" y="144"/>
                </a:cubicBezTo>
                <a:cubicBezTo>
                  <a:pt x="59" y="25"/>
                  <a:pt x="59" y="25"/>
                  <a:pt x="59" y="25"/>
                </a:cubicBezTo>
                <a:cubicBezTo>
                  <a:pt x="76" y="25"/>
                  <a:pt x="76" y="25"/>
                  <a:pt x="76" y="25"/>
                </a:cubicBezTo>
                <a:lnTo>
                  <a:pt x="76" y="144"/>
                </a:lnTo>
                <a:close/>
                <a:moveTo>
                  <a:pt x="181" y="0"/>
                </a:moveTo>
                <a:cubicBezTo>
                  <a:pt x="156" y="0"/>
                  <a:pt x="156" y="0"/>
                  <a:pt x="156" y="0"/>
                </a:cubicBezTo>
                <a:cubicBezTo>
                  <a:pt x="153" y="0"/>
                  <a:pt x="151" y="2"/>
                  <a:pt x="151" y="4"/>
                </a:cubicBezTo>
                <a:cubicBezTo>
                  <a:pt x="151" y="148"/>
                  <a:pt x="151" y="148"/>
                  <a:pt x="151" y="148"/>
                </a:cubicBezTo>
                <a:cubicBezTo>
                  <a:pt x="151" y="150"/>
                  <a:pt x="153" y="152"/>
                  <a:pt x="156" y="152"/>
                </a:cubicBezTo>
                <a:cubicBezTo>
                  <a:pt x="181" y="152"/>
                  <a:pt x="181" y="152"/>
                  <a:pt x="181" y="152"/>
                </a:cubicBezTo>
                <a:cubicBezTo>
                  <a:pt x="183" y="152"/>
                  <a:pt x="185" y="150"/>
                  <a:pt x="185" y="148"/>
                </a:cubicBezTo>
                <a:cubicBezTo>
                  <a:pt x="185" y="4"/>
                  <a:pt x="185" y="4"/>
                  <a:pt x="185" y="4"/>
                </a:cubicBezTo>
                <a:cubicBezTo>
                  <a:pt x="185" y="2"/>
                  <a:pt x="183" y="0"/>
                  <a:pt x="181" y="0"/>
                </a:cubicBezTo>
                <a:close/>
                <a:moveTo>
                  <a:pt x="177" y="144"/>
                </a:moveTo>
                <a:cubicBezTo>
                  <a:pt x="160" y="144"/>
                  <a:pt x="160" y="144"/>
                  <a:pt x="160" y="144"/>
                </a:cubicBezTo>
                <a:cubicBezTo>
                  <a:pt x="160" y="9"/>
                  <a:pt x="160" y="9"/>
                  <a:pt x="160" y="9"/>
                </a:cubicBezTo>
                <a:cubicBezTo>
                  <a:pt x="177" y="9"/>
                  <a:pt x="177" y="9"/>
                  <a:pt x="177" y="9"/>
                </a:cubicBezTo>
                <a:lnTo>
                  <a:pt x="177" y="144"/>
                </a:lnTo>
                <a:close/>
                <a:moveTo>
                  <a:pt x="130" y="68"/>
                </a:moveTo>
                <a:cubicBezTo>
                  <a:pt x="105" y="68"/>
                  <a:pt x="105" y="68"/>
                  <a:pt x="105" y="68"/>
                </a:cubicBezTo>
                <a:cubicBezTo>
                  <a:pt x="103" y="68"/>
                  <a:pt x="101" y="70"/>
                  <a:pt x="101" y="72"/>
                </a:cubicBezTo>
                <a:cubicBezTo>
                  <a:pt x="101" y="148"/>
                  <a:pt x="101" y="148"/>
                  <a:pt x="101" y="148"/>
                </a:cubicBezTo>
                <a:cubicBezTo>
                  <a:pt x="101" y="150"/>
                  <a:pt x="103" y="152"/>
                  <a:pt x="105" y="152"/>
                </a:cubicBezTo>
                <a:cubicBezTo>
                  <a:pt x="130" y="152"/>
                  <a:pt x="130" y="152"/>
                  <a:pt x="130" y="152"/>
                </a:cubicBezTo>
                <a:cubicBezTo>
                  <a:pt x="133" y="152"/>
                  <a:pt x="135" y="150"/>
                  <a:pt x="135" y="148"/>
                </a:cubicBezTo>
                <a:cubicBezTo>
                  <a:pt x="135" y="72"/>
                  <a:pt x="135" y="72"/>
                  <a:pt x="135" y="72"/>
                </a:cubicBezTo>
                <a:cubicBezTo>
                  <a:pt x="135" y="70"/>
                  <a:pt x="133" y="68"/>
                  <a:pt x="130" y="68"/>
                </a:cubicBezTo>
                <a:close/>
                <a:moveTo>
                  <a:pt x="126" y="144"/>
                </a:moveTo>
                <a:cubicBezTo>
                  <a:pt x="109" y="144"/>
                  <a:pt x="109" y="144"/>
                  <a:pt x="109" y="144"/>
                </a:cubicBezTo>
                <a:cubicBezTo>
                  <a:pt x="109" y="76"/>
                  <a:pt x="109" y="76"/>
                  <a:pt x="109" y="76"/>
                </a:cubicBezTo>
                <a:cubicBezTo>
                  <a:pt x="126" y="76"/>
                  <a:pt x="126" y="76"/>
                  <a:pt x="126" y="76"/>
                </a:cubicBezTo>
                <a:lnTo>
                  <a:pt x="126" y="144"/>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400" dirty="0">
              <a:solidFill>
                <a:prstClr val="black"/>
              </a:solidFill>
            </a:endParaRPr>
          </a:p>
        </p:txBody>
      </p:sp>
      <p:sp>
        <p:nvSpPr>
          <p:cNvPr id="39" name="Oval 24"/>
          <p:cNvSpPr/>
          <p:nvPr/>
        </p:nvSpPr>
        <p:spPr>
          <a:xfrm>
            <a:off x="9161797" y="3799994"/>
            <a:ext cx="504000" cy="504000"/>
          </a:xfrm>
          <a:prstGeom prst="ellipse">
            <a:avLst/>
          </a:prstGeom>
          <a:solidFill>
            <a:srgbClr val="0097B7"/>
          </a:solidFill>
          <a:ln w="25400" cap="flat" cmpd="sng" algn="ctr">
            <a:noFill/>
            <a:prstDash val="solid"/>
          </a:ln>
          <a:effectLst/>
        </p:spPr>
        <p:txBody>
          <a:bodyPr rtlCol="0" anchor="ctr"/>
          <a:lstStyle/>
          <a:p>
            <a:pPr algn="ctr"/>
            <a:endParaRPr lang="en-US" sz="1600" kern="0" dirty="0">
              <a:solidFill>
                <a:schemeClr val="bg1"/>
              </a:solidFill>
              <a:latin typeface="Calibri"/>
            </a:endParaRPr>
          </a:p>
        </p:txBody>
      </p:sp>
      <p:grpSp>
        <p:nvGrpSpPr>
          <p:cNvPr id="43" name="42 Grupo"/>
          <p:cNvGrpSpPr/>
          <p:nvPr/>
        </p:nvGrpSpPr>
        <p:grpSpPr>
          <a:xfrm>
            <a:off x="9203629" y="3947580"/>
            <a:ext cx="440791" cy="271926"/>
            <a:chOff x="6052977" y="5562381"/>
            <a:chExt cx="580436" cy="392727"/>
          </a:xfrm>
        </p:grpSpPr>
        <p:pic>
          <p:nvPicPr>
            <p:cNvPr id="45" name="Picture 18" descr="https://d30y9cdsu7xlg0.cloudfront.net/png/53241-200.png"/>
            <p:cNvPicPr>
              <a:picLocks noChangeAspect="1" noChangeArrowheads="1"/>
            </p:cNvPicPr>
            <p:nvPr/>
          </p:nvPicPr>
          <p:blipFill>
            <a:blip r:embed="rId5" cstate="print">
              <a:lum bright="70000" contrast="-70000"/>
              <a:extLst>
                <a:ext uri="{BEBA8EAE-BF5A-486C-A8C5-ECC9F3942E4B}">
                  <a14:imgProps xmlns:a14="http://schemas.microsoft.com/office/drawing/2010/main">
                    <a14:imgLayer r:embed="rId6">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6321193" y="5562381"/>
              <a:ext cx="312220" cy="31222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https://cdn0.iconfinder.com/data/icons/shipping-icons/100/15-256.png"/>
            <p:cNvPicPr>
              <a:picLocks noChangeAspect="1" noChangeArrowheads="1"/>
            </p:cNvPicPr>
            <p:nvPr/>
          </p:nvPicPr>
          <p:blipFill>
            <a:blip r:embed="rId7" cstate="print">
              <a:biLevel thresh="25000"/>
              <a:extLst>
                <a:ext uri="{28A0092B-C50C-407E-A947-70E740481C1C}">
                  <a14:useLocalDpi xmlns:a14="http://schemas.microsoft.com/office/drawing/2010/main" val="0"/>
                </a:ext>
              </a:extLst>
            </a:blip>
            <a:srcRect/>
            <a:stretch>
              <a:fillRect/>
            </a:stretch>
          </p:blipFill>
          <p:spPr bwMode="auto">
            <a:xfrm>
              <a:off x="6052977" y="5580083"/>
              <a:ext cx="375025" cy="375025"/>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8" descr="https://d30y9cdsu7xlg0.cloudfront.net/png/53241-200.png"/>
            <p:cNvPicPr>
              <a:picLocks noChangeAspect="1" noChangeArrowheads="1"/>
            </p:cNvPicPr>
            <p:nvPr/>
          </p:nvPicPr>
          <p:blipFill rotWithShape="1">
            <a:blip r:embed="rId8" cstate="print">
              <a:lum bright="70000" contrast="-70000"/>
              <a:extLst>
                <a:ext uri="{BEBA8EAE-BF5A-486C-A8C5-ECC9F3942E4B}">
                  <a14:imgProps xmlns:a14="http://schemas.microsoft.com/office/drawing/2010/main">
                    <a14:imgLayer r:embed="rId9">
                      <a14:imgEffect>
                        <a14:artisticPhotocopy/>
                      </a14:imgEffect>
                    </a14:imgLayer>
                  </a14:imgProps>
                </a:ext>
                <a:ext uri="{28A0092B-C50C-407E-A947-70E740481C1C}">
                  <a14:useLocalDpi xmlns:a14="http://schemas.microsoft.com/office/drawing/2010/main" val="0"/>
                </a:ext>
              </a:extLst>
            </a:blip>
            <a:srcRect b="60311"/>
            <a:stretch/>
          </p:blipFill>
          <p:spPr bwMode="auto">
            <a:xfrm>
              <a:off x="6075925" y="5562385"/>
              <a:ext cx="304355" cy="120797"/>
            </a:xfrm>
            <a:prstGeom prst="rect">
              <a:avLst/>
            </a:prstGeom>
            <a:noFill/>
            <a:extLst>
              <a:ext uri="{909E8E84-426E-40DD-AFC4-6F175D3DCCD1}">
                <a14:hiddenFill xmlns:a14="http://schemas.microsoft.com/office/drawing/2010/main">
                  <a:solidFill>
                    <a:srgbClr val="FFFFFF"/>
                  </a:solidFill>
                </a14:hiddenFill>
              </a:ext>
            </a:extLst>
          </p:spPr>
        </p:pic>
      </p:grpSp>
      <p:sp>
        <p:nvSpPr>
          <p:cNvPr id="91" name="Oval 26"/>
          <p:cNvSpPr/>
          <p:nvPr/>
        </p:nvSpPr>
        <p:spPr>
          <a:xfrm>
            <a:off x="362503" y="2228969"/>
            <a:ext cx="504000" cy="504000"/>
          </a:xfrm>
          <a:prstGeom prst="ellipse">
            <a:avLst/>
          </a:prstGeom>
          <a:solidFill>
            <a:schemeClr val="tx1">
              <a:lumMod val="65000"/>
              <a:lumOff val="35000"/>
            </a:schemeClr>
          </a:solidFill>
          <a:ln w="12700" cap="flat" cmpd="sng" algn="ctr">
            <a:solidFill>
              <a:sysClr val="window" lastClr="FFFFFF"/>
            </a:solidFill>
            <a:prstDash val="solid"/>
            <a:miter lim="800000"/>
          </a:ln>
          <a:effectLst/>
        </p:spPr>
        <p:txBody>
          <a:bodyPr anchor="ctr"/>
          <a:lstStyle/>
          <a:p>
            <a:pPr algn="ctr">
              <a:defRPr/>
            </a:pPr>
            <a:endParaRPr lang="en-US" sz="2800" kern="0" dirty="0">
              <a:solidFill>
                <a:prstClr val="white"/>
              </a:solidFill>
              <a:latin typeface="Calibri Light"/>
            </a:endParaRPr>
          </a:p>
        </p:txBody>
      </p:sp>
      <p:sp>
        <p:nvSpPr>
          <p:cNvPr id="37" name="Oval 24"/>
          <p:cNvSpPr/>
          <p:nvPr/>
        </p:nvSpPr>
        <p:spPr>
          <a:xfrm>
            <a:off x="9131138" y="2733819"/>
            <a:ext cx="504000" cy="504000"/>
          </a:xfrm>
          <a:prstGeom prst="ellipse">
            <a:avLst/>
          </a:prstGeom>
          <a:solidFill>
            <a:srgbClr val="0097B7"/>
          </a:solidFill>
          <a:ln w="25400" cap="flat" cmpd="sng" algn="ctr">
            <a:noFill/>
            <a:prstDash val="solid"/>
          </a:ln>
          <a:effectLst/>
        </p:spPr>
        <p:txBody>
          <a:bodyPr rtlCol="0" anchor="ctr"/>
          <a:lstStyle/>
          <a:p>
            <a:pPr algn="ctr"/>
            <a:endParaRPr lang="en-US" sz="1600" kern="0" dirty="0">
              <a:solidFill>
                <a:schemeClr val="bg1"/>
              </a:solidFill>
              <a:latin typeface="Calibri"/>
            </a:endParaRPr>
          </a:p>
        </p:txBody>
      </p:sp>
      <p:sp>
        <p:nvSpPr>
          <p:cNvPr id="86" name="Oval 26"/>
          <p:cNvSpPr/>
          <p:nvPr/>
        </p:nvSpPr>
        <p:spPr>
          <a:xfrm>
            <a:off x="380527" y="4357985"/>
            <a:ext cx="504000" cy="504000"/>
          </a:xfrm>
          <a:prstGeom prst="ellipse">
            <a:avLst/>
          </a:prstGeom>
          <a:solidFill>
            <a:schemeClr val="tx1">
              <a:lumMod val="65000"/>
              <a:lumOff val="35000"/>
            </a:schemeClr>
          </a:solidFill>
          <a:ln w="12700" cap="flat" cmpd="sng" algn="ctr">
            <a:solidFill>
              <a:sysClr val="window" lastClr="FFFFFF"/>
            </a:solidFill>
            <a:prstDash val="solid"/>
            <a:miter lim="800000"/>
          </a:ln>
          <a:effectLst/>
        </p:spPr>
        <p:txBody>
          <a:bodyPr anchor="ctr"/>
          <a:lstStyle/>
          <a:p>
            <a:pPr algn="ctr">
              <a:defRPr/>
            </a:pPr>
            <a:endParaRPr lang="en-US" sz="2800" kern="0" dirty="0">
              <a:solidFill>
                <a:prstClr val="white"/>
              </a:solidFill>
              <a:latin typeface="Calibri Light"/>
            </a:endParaRPr>
          </a:p>
        </p:txBody>
      </p:sp>
      <p:sp>
        <p:nvSpPr>
          <p:cNvPr id="50" name="Freeform 165"/>
          <p:cNvSpPr>
            <a:spLocks noEditPoints="1"/>
          </p:cNvSpPr>
          <p:nvPr/>
        </p:nvSpPr>
        <p:spPr bwMode="auto">
          <a:xfrm>
            <a:off x="480338" y="4467651"/>
            <a:ext cx="284668" cy="284668"/>
          </a:xfrm>
          <a:custGeom>
            <a:avLst/>
            <a:gdLst>
              <a:gd name="T0" fmla="*/ 186 w 186"/>
              <a:gd name="T1" fmla="*/ 148 h 186"/>
              <a:gd name="T2" fmla="*/ 180 w 186"/>
              <a:gd name="T3" fmla="*/ 137 h 186"/>
              <a:gd name="T4" fmla="*/ 135 w 186"/>
              <a:gd name="T5" fmla="*/ 106 h 186"/>
              <a:gd name="T6" fmla="*/ 118 w 186"/>
              <a:gd name="T7" fmla="*/ 118 h 186"/>
              <a:gd name="T8" fmla="*/ 111 w 186"/>
              <a:gd name="T9" fmla="*/ 121 h 186"/>
              <a:gd name="T10" fmla="*/ 104 w 186"/>
              <a:gd name="T11" fmla="*/ 118 h 186"/>
              <a:gd name="T12" fmla="*/ 69 w 186"/>
              <a:gd name="T13" fmla="*/ 82 h 186"/>
              <a:gd name="T14" fmla="*/ 68 w 186"/>
              <a:gd name="T15" fmla="*/ 68 h 186"/>
              <a:gd name="T16" fmla="*/ 78 w 186"/>
              <a:gd name="T17" fmla="*/ 58 h 186"/>
              <a:gd name="T18" fmla="*/ 77 w 186"/>
              <a:gd name="T19" fmla="*/ 42 h 186"/>
              <a:gd name="T20" fmla="*/ 47 w 186"/>
              <a:gd name="T21" fmla="*/ 4 h 186"/>
              <a:gd name="T22" fmla="*/ 0 w 186"/>
              <a:gd name="T23" fmla="*/ 44 h 186"/>
              <a:gd name="T24" fmla="*/ 4 w 186"/>
              <a:gd name="T25" fmla="*/ 64 h 186"/>
              <a:gd name="T26" fmla="*/ 123 w 186"/>
              <a:gd name="T27" fmla="*/ 182 h 186"/>
              <a:gd name="T28" fmla="*/ 186 w 186"/>
              <a:gd name="T29" fmla="*/ 148 h 186"/>
              <a:gd name="T30" fmla="*/ 142 w 186"/>
              <a:gd name="T31" fmla="*/ 177 h 186"/>
              <a:gd name="T32" fmla="*/ 125 w 186"/>
              <a:gd name="T33" fmla="*/ 173 h 186"/>
              <a:gd name="T34" fmla="*/ 12 w 186"/>
              <a:gd name="T35" fmla="*/ 60 h 186"/>
              <a:gd name="T36" fmla="*/ 38 w 186"/>
              <a:gd name="T37" fmla="*/ 9 h 186"/>
              <a:gd name="T38" fmla="*/ 42 w 186"/>
              <a:gd name="T39" fmla="*/ 11 h 186"/>
              <a:gd name="T40" fmla="*/ 70 w 186"/>
              <a:gd name="T41" fmla="*/ 47 h 186"/>
              <a:gd name="T42" fmla="*/ 72 w 186"/>
              <a:gd name="T43" fmla="*/ 51 h 186"/>
              <a:gd name="T44" fmla="*/ 62 w 186"/>
              <a:gd name="T45" fmla="*/ 62 h 186"/>
              <a:gd name="T46" fmla="*/ 56 w 186"/>
              <a:gd name="T47" fmla="*/ 75 h 186"/>
              <a:gd name="T48" fmla="*/ 61 w 186"/>
              <a:gd name="T49" fmla="*/ 87 h 186"/>
              <a:gd name="T50" fmla="*/ 100 w 186"/>
              <a:gd name="T51" fmla="*/ 125 h 186"/>
              <a:gd name="T52" fmla="*/ 123 w 186"/>
              <a:gd name="T53" fmla="*/ 125 h 186"/>
              <a:gd name="T54" fmla="*/ 133 w 186"/>
              <a:gd name="T55" fmla="*/ 115 h 186"/>
              <a:gd name="T56" fmla="*/ 138 w 186"/>
              <a:gd name="T57" fmla="*/ 115 h 186"/>
              <a:gd name="T58" fmla="*/ 175 w 186"/>
              <a:gd name="T59" fmla="*/ 144 h 186"/>
              <a:gd name="T60" fmla="*/ 176 w 186"/>
              <a:gd name="T61" fmla="*/ 145 h 186"/>
              <a:gd name="T62" fmla="*/ 177 w 186"/>
              <a:gd name="T63" fmla="*/ 149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6" h="186">
                <a:moveTo>
                  <a:pt x="186" y="148"/>
                </a:moveTo>
                <a:cubicBezTo>
                  <a:pt x="186" y="148"/>
                  <a:pt x="186" y="148"/>
                  <a:pt x="186" y="148"/>
                </a:cubicBezTo>
                <a:cubicBezTo>
                  <a:pt x="186" y="144"/>
                  <a:pt x="184" y="141"/>
                  <a:pt x="182" y="139"/>
                </a:cubicBezTo>
                <a:cubicBezTo>
                  <a:pt x="181" y="138"/>
                  <a:pt x="181" y="138"/>
                  <a:pt x="180" y="137"/>
                </a:cubicBezTo>
                <a:cubicBezTo>
                  <a:pt x="144" y="109"/>
                  <a:pt x="144" y="109"/>
                  <a:pt x="144" y="109"/>
                </a:cubicBezTo>
                <a:cubicBezTo>
                  <a:pt x="142" y="107"/>
                  <a:pt x="139" y="106"/>
                  <a:pt x="135" y="106"/>
                </a:cubicBezTo>
                <a:cubicBezTo>
                  <a:pt x="132" y="106"/>
                  <a:pt x="130" y="107"/>
                  <a:pt x="128" y="108"/>
                </a:cubicBezTo>
                <a:cubicBezTo>
                  <a:pt x="118" y="118"/>
                  <a:pt x="118" y="118"/>
                  <a:pt x="118" y="118"/>
                </a:cubicBezTo>
                <a:cubicBezTo>
                  <a:pt x="118" y="118"/>
                  <a:pt x="118" y="118"/>
                  <a:pt x="118" y="118"/>
                </a:cubicBezTo>
                <a:cubicBezTo>
                  <a:pt x="116" y="120"/>
                  <a:pt x="114" y="121"/>
                  <a:pt x="111" y="121"/>
                </a:cubicBezTo>
                <a:cubicBezTo>
                  <a:pt x="108" y="121"/>
                  <a:pt x="106" y="120"/>
                  <a:pt x="104" y="117"/>
                </a:cubicBezTo>
                <a:cubicBezTo>
                  <a:pt x="104" y="118"/>
                  <a:pt x="104" y="118"/>
                  <a:pt x="104" y="118"/>
                </a:cubicBezTo>
                <a:cubicBezTo>
                  <a:pt x="90" y="108"/>
                  <a:pt x="78" y="96"/>
                  <a:pt x="68" y="82"/>
                </a:cubicBezTo>
                <a:cubicBezTo>
                  <a:pt x="68" y="82"/>
                  <a:pt x="68" y="82"/>
                  <a:pt x="69" y="82"/>
                </a:cubicBezTo>
                <a:cubicBezTo>
                  <a:pt x="66" y="80"/>
                  <a:pt x="65" y="78"/>
                  <a:pt x="65" y="75"/>
                </a:cubicBezTo>
                <a:cubicBezTo>
                  <a:pt x="65" y="72"/>
                  <a:pt x="66" y="70"/>
                  <a:pt x="68" y="68"/>
                </a:cubicBezTo>
                <a:cubicBezTo>
                  <a:pt x="68" y="68"/>
                  <a:pt x="68" y="68"/>
                  <a:pt x="68" y="68"/>
                </a:cubicBezTo>
                <a:cubicBezTo>
                  <a:pt x="78" y="58"/>
                  <a:pt x="78" y="58"/>
                  <a:pt x="78" y="58"/>
                </a:cubicBezTo>
                <a:cubicBezTo>
                  <a:pt x="79" y="56"/>
                  <a:pt x="80" y="54"/>
                  <a:pt x="80" y="51"/>
                </a:cubicBezTo>
                <a:cubicBezTo>
                  <a:pt x="80" y="47"/>
                  <a:pt x="79" y="44"/>
                  <a:pt x="77" y="42"/>
                </a:cubicBezTo>
                <a:cubicBezTo>
                  <a:pt x="49" y="6"/>
                  <a:pt x="49" y="6"/>
                  <a:pt x="49" y="6"/>
                </a:cubicBezTo>
                <a:cubicBezTo>
                  <a:pt x="48" y="5"/>
                  <a:pt x="48" y="5"/>
                  <a:pt x="47" y="4"/>
                </a:cubicBezTo>
                <a:cubicBezTo>
                  <a:pt x="45" y="2"/>
                  <a:pt x="42" y="0"/>
                  <a:pt x="38" y="0"/>
                </a:cubicBezTo>
                <a:cubicBezTo>
                  <a:pt x="21" y="0"/>
                  <a:pt x="0" y="20"/>
                  <a:pt x="0" y="44"/>
                </a:cubicBezTo>
                <a:cubicBezTo>
                  <a:pt x="0" y="51"/>
                  <a:pt x="2" y="58"/>
                  <a:pt x="5" y="63"/>
                </a:cubicBezTo>
                <a:cubicBezTo>
                  <a:pt x="4" y="64"/>
                  <a:pt x="4" y="64"/>
                  <a:pt x="4" y="64"/>
                </a:cubicBezTo>
                <a:cubicBezTo>
                  <a:pt x="30" y="114"/>
                  <a:pt x="72" y="156"/>
                  <a:pt x="123" y="182"/>
                </a:cubicBezTo>
                <a:cubicBezTo>
                  <a:pt x="123" y="182"/>
                  <a:pt x="123" y="182"/>
                  <a:pt x="123" y="182"/>
                </a:cubicBezTo>
                <a:cubicBezTo>
                  <a:pt x="128" y="184"/>
                  <a:pt x="135" y="186"/>
                  <a:pt x="142" y="186"/>
                </a:cubicBezTo>
                <a:cubicBezTo>
                  <a:pt x="166" y="186"/>
                  <a:pt x="186" y="165"/>
                  <a:pt x="186" y="148"/>
                </a:cubicBezTo>
                <a:cubicBezTo>
                  <a:pt x="186" y="148"/>
                  <a:pt x="186" y="148"/>
                  <a:pt x="186" y="148"/>
                </a:cubicBezTo>
                <a:close/>
                <a:moveTo>
                  <a:pt x="142" y="177"/>
                </a:moveTo>
                <a:cubicBezTo>
                  <a:pt x="136" y="177"/>
                  <a:pt x="131" y="176"/>
                  <a:pt x="126" y="174"/>
                </a:cubicBezTo>
                <a:cubicBezTo>
                  <a:pt x="126" y="174"/>
                  <a:pt x="125" y="174"/>
                  <a:pt x="125" y="173"/>
                </a:cubicBezTo>
                <a:cubicBezTo>
                  <a:pt x="77" y="149"/>
                  <a:pt x="37" y="109"/>
                  <a:pt x="13" y="61"/>
                </a:cubicBezTo>
                <a:cubicBezTo>
                  <a:pt x="13" y="61"/>
                  <a:pt x="12" y="60"/>
                  <a:pt x="12" y="60"/>
                </a:cubicBezTo>
                <a:cubicBezTo>
                  <a:pt x="10" y="55"/>
                  <a:pt x="9" y="50"/>
                  <a:pt x="9" y="44"/>
                </a:cubicBezTo>
                <a:cubicBezTo>
                  <a:pt x="9" y="24"/>
                  <a:pt x="27" y="9"/>
                  <a:pt x="38" y="9"/>
                </a:cubicBezTo>
                <a:cubicBezTo>
                  <a:pt x="40" y="9"/>
                  <a:pt x="41" y="9"/>
                  <a:pt x="41" y="10"/>
                </a:cubicBezTo>
                <a:cubicBezTo>
                  <a:pt x="41" y="10"/>
                  <a:pt x="41" y="10"/>
                  <a:pt x="42" y="11"/>
                </a:cubicBezTo>
                <a:cubicBezTo>
                  <a:pt x="42" y="11"/>
                  <a:pt x="42" y="11"/>
                  <a:pt x="42" y="11"/>
                </a:cubicBezTo>
                <a:cubicBezTo>
                  <a:pt x="70" y="47"/>
                  <a:pt x="70" y="47"/>
                  <a:pt x="70" y="47"/>
                </a:cubicBezTo>
                <a:cubicBezTo>
                  <a:pt x="70" y="47"/>
                  <a:pt x="70" y="48"/>
                  <a:pt x="71" y="48"/>
                </a:cubicBezTo>
                <a:cubicBezTo>
                  <a:pt x="71" y="48"/>
                  <a:pt x="72" y="49"/>
                  <a:pt x="72" y="51"/>
                </a:cubicBezTo>
                <a:cubicBezTo>
                  <a:pt x="72" y="52"/>
                  <a:pt x="72" y="52"/>
                  <a:pt x="71" y="53"/>
                </a:cubicBezTo>
                <a:cubicBezTo>
                  <a:pt x="62" y="62"/>
                  <a:pt x="62" y="62"/>
                  <a:pt x="62" y="62"/>
                </a:cubicBezTo>
                <a:cubicBezTo>
                  <a:pt x="62" y="62"/>
                  <a:pt x="62" y="62"/>
                  <a:pt x="62" y="62"/>
                </a:cubicBezTo>
                <a:cubicBezTo>
                  <a:pt x="58" y="66"/>
                  <a:pt x="56" y="70"/>
                  <a:pt x="56" y="75"/>
                </a:cubicBezTo>
                <a:cubicBezTo>
                  <a:pt x="56" y="79"/>
                  <a:pt x="58" y="83"/>
                  <a:pt x="61" y="86"/>
                </a:cubicBezTo>
                <a:cubicBezTo>
                  <a:pt x="61" y="86"/>
                  <a:pt x="61" y="87"/>
                  <a:pt x="61" y="87"/>
                </a:cubicBezTo>
                <a:cubicBezTo>
                  <a:pt x="72" y="101"/>
                  <a:pt x="85" y="114"/>
                  <a:pt x="99" y="125"/>
                </a:cubicBezTo>
                <a:cubicBezTo>
                  <a:pt x="99" y="125"/>
                  <a:pt x="100" y="125"/>
                  <a:pt x="100" y="125"/>
                </a:cubicBezTo>
                <a:cubicBezTo>
                  <a:pt x="103" y="128"/>
                  <a:pt x="107" y="129"/>
                  <a:pt x="111" y="129"/>
                </a:cubicBezTo>
                <a:cubicBezTo>
                  <a:pt x="116" y="129"/>
                  <a:pt x="120" y="128"/>
                  <a:pt x="123" y="125"/>
                </a:cubicBezTo>
                <a:cubicBezTo>
                  <a:pt x="123" y="124"/>
                  <a:pt x="123" y="124"/>
                  <a:pt x="124" y="124"/>
                </a:cubicBezTo>
                <a:cubicBezTo>
                  <a:pt x="133" y="115"/>
                  <a:pt x="133" y="115"/>
                  <a:pt x="133" y="115"/>
                </a:cubicBezTo>
                <a:cubicBezTo>
                  <a:pt x="134" y="114"/>
                  <a:pt x="134" y="114"/>
                  <a:pt x="135" y="114"/>
                </a:cubicBezTo>
                <a:cubicBezTo>
                  <a:pt x="137" y="114"/>
                  <a:pt x="138" y="115"/>
                  <a:pt x="138" y="115"/>
                </a:cubicBezTo>
                <a:cubicBezTo>
                  <a:pt x="138" y="116"/>
                  <a:pt x="139" y="116"/>
                  <a:pt x="139" y="116"/>
                </a:cubicBezTo>
                <a:cubicBezTo>
                  <a:pt x="175" y="144"/>
                  <a:pt x="175" y="144"/>
                  <a:pt x="175" y="144"/>
                </a:cubicBezTo>
                <a:cubicBezTo>
                  <a:pt x="175" y="144"/>
                  <a:pt x="175" y="144"/>
                  <a:pt x="175" y="144"/>
                </a:cubicBezTo>
                <a:cubicBezTo>
                  <a:pt x="176" y="145"/>
                  <a:pt x="176" y="145"/>
                  <a:pt x="176" y="145"/>
                </a:cubicBezTo>
                <a:cubicBezTo>
                  <a:pt x="177" y="145"/>
                  <a:pt x="177" y="146"/>
                  <a:pt x="177" y="148"/>
                </a:cubicBezTo>
                <a:cubicBezTo>
                  <a:pt x="177" y="148"/>
                  <a:pt x="177" y="148"/>
                  <a:pt x="177" y="149"/>
                </a:cubicBezTo>
                <a:cubicBezTo>
                  <a:pt x="177" y="160"/>
                  <a:pt x="162" y="177"/>
                  <a:pt x="142" y="177"/>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400" dirty="0">
              <a:solidFill>
                <a:prstClr val="black"/>
              </a:solidFill>
            </a:endParaRPr>
          </a:p>
        </p:txBody>
      </p:sp>
      <p:sp>
        <p:nvSpPr>
          <p:cNvPr id="3" name="AutoShape 4" descr="Resultado de imagen de car dealer network"/>
          <p:cNvSpPr>
            <a:spLocks noChangeAspect="1" noChangeArrowheads="1"/>
          </p:cNvSpPr>
          <p:nvPr/>
        </p:nvSpPr>
        <p:spPr bwMode="auto">
          <a:xfrm>
            <a:off x="155575" y="-13652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87" name="Oval 27"/>
          <p:cNvSpPr/>
          <p:nvPr/>
        </p:nvSpPr>
        <p:spPr>
          <a:xfrm>
            <a:off x="369374" y="3259728"/>
            <a:ext cx="504000" cy="504000"/>
          </a:xfrm>
          <a:prstGeom prst="ellipse">
            <a:avLst/>
          </a:prstGeom>
          <a:solidFill>
            <a:schemeClr val="tx1">
              <a:lumMod val="65000"/>
              <a:lumOff val="35000"/>
            </a:schemeClr>
          </a:solidFill>
          <a:ln w="12700" cap="flat" cmpd="sng" algn="ctr">
            <a:solidFill>
              <a:sysClr val="window" lastClr="FFFFFF"/>
            </a:solidFill>
            <a:prstDash val="solid"/>
            <a:miter lim="800000"/>
          </a:ln>
          <a:effectLst/>
        </p:spPr>
        <p:txBody>
          <a:bodyPr anchor="ctr"/>
          <a:lstStyle/>
          <a:p>
            <a:pPr algn="ctr">
              <a:defRPr/>
            </a:pPr>
            <a:endParaRPr lang="en-US" sz="2800" kern="0" dirty="0">
              <a:solidFill>
                <a:prstClr val="white"/>
              </a:solidFill>
              <a:latin typeface="Calibri Light"/>
            </a:endParaRPr>
          </a:p>
        </p:txBody>
      </p:sp>
      <p:sp>
        <p:nvSpPr>
          <p:cNvPr id="61" name="Content Placeholder 2"/>
          <p:cNvSpPr txBox="1">
            <a:spLocks/>
          </p:cNvSpPr>
          <p:nvPr/>
        </p:nvSpPr>
        <p:spPr bwMode="auto">
          <a:xfrm>
            <a:off x="6799580" y="3717032"/>
            <a:ext cx="21600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itchFamily="34" charset="0"/>
              <a:defRPr sz="2800">
                <a:solidFill>
                  <a:schemeClr val="tx1"/>
                </a:solidFill>
                <a:latin typeface="Calibri Light" pitchFamily="34" charset="0"/>
              </a:defRPr>
            </a:lvl1pPr>
            <a:lvl2pPr>
              <a:lnSpc>
                <a:spcPct val="90000"/>
              </a:lnSpc>
              <a:spcBef>
                <a:spcPts val="500"/>
              </a:spcBef>
              <a:buFont typeface="Arial" pitchFamily="34" charset="0"/>
              <a:defRPr sz="2400">
                <a:solidFill>
                  <a:schemeClr val="tx1"/>
                </a:solidFill>
                <a:latin typeface="Calibri Light" pitchFamily="34" charset="0"/>
              </a:defRPr>
            </a:lvl2pPr>
            <a:lvl3pPr>
              <a:lnSpc>
                <a:spcPct val="90000"/>
              </a:lnSpc>
              <a:spcBef>
                <a:spcPts val="500"/>
              </a:spcBef>
              <a:buFont typeface="Arial" pitchFamily="34" charset="0"/>
              <a:defRPr sz="2000">
                <a:solidFill>
                  <a:schemeClr val="tx1"/>
                </a:solidFill>
                <a:latin typeface="Calibri Light" pitchFamily="34" charset="0"/>
              </a:defRPr>
            </a:lvl3pPr>
            <a:lvl4pPr>
              <a:lnSpc>
                <a:spcPct val="90000"/>
              </a:lnSpc>
              <a:spcBef>
                <a:spcPts val="500"/>
              </a:spcBef>
              <a:buFont typeface="Arial" pitchFamily="34" charset="0"/>
              <a:defRPr>
                <a:solidFill>
                  <a:schemeClr val="tx1"/>
                </a:solidFill>
                <a:latin typeface="Calibri Light" pitchFamily="34" charset="0"/>
              </a:defRPr>
            </a:lvl4pPr>
            <a:lvl5pPr>
              <a:lnSpc>
                <a:spcPct val="90000"/>
              </a:lnSpc>
              <a:spcBef>
                <a:spcPts val="500"/>
              </a:spcBef>
              <a:buFont typeface="Arial" pitchFamily="34" charset="0"/>
              <a:defRPr>
                <a:solidFill>
                  <a:schemeClr val="tx1"/>
                </a:solidFill>
                <a:latin typeface="Calibri Light" pitchFamily="34" charset="0"/>
              </a:defRPr>
            </a:lvl5pPr>
            <a:lvl6pPr fontAlgn="base">
              <a:lnSpc>
                <a:spcPct val="90000"/>
              </a:lnSpc>
              <a:spcBef>
                <a:spcPts val="500"/>
              </a:spcBef>
              <a:spcAft>
                <a:spcPct val="0"/>
              </a:spcAft>
              <a:buFont typeface="Arial" pitchFamily="34" charset="0"/>
              <a:defRPr>
                <a:solidFill>
                  <a:schemeClr val="tx1"/>
                </a:solidFill>
                <a:latin typeface="Calibri Light" pitchFamily="34" charset="0"/>
              </a:defRPr>
            </a:lvl6pPr>
            <a:lvl7pPr fontAlgn="base">
              <a:lnSpc>
                <a:spcPct val="90000"/>
              </a:lnSpc>
              <a:spcBef>
                <a:spcPts val="500"/>
              </a:spcBef>
              <a:spcAft>
                <a:spcPct val="0"/>
              </a:spcAft>
              <a:buFont typeface="Arial" pitchFamily="34" charset="0"/>
              <a:defRPr>
                <a:solidFill>
                  <a:schemeClr val="tx1"/>
                </a:solidFill>
                <a:latin typeface="Calibri Light" pitchFamily="34" charset="0"/>
              </a:defRPr>
            </a:lvl7pPr>
            <a:lvl8pPr fontAlgn="base">
              <a:lnSpc>
                <a:spcPct val="90000"/>
              </a:lnSpc>
              <a:spcBef>
                <a:spcPts val="500"/>
              </a:spcBef>
              <a:spcAft>
                <a:spcPct val="0"/>
              </a:spcAft>
              <a:buFont typeface="Arial" pitchFamily="34" charset="0"/>
              <a:defRPr>
                <a:solidFill>
                  <a:schemeClr val="tx1"/>
                </a:solidFill>
                <a:latin typeface="Calibri Light" pitchFamily="34" charset="0"/>
              </a:defRPr>
            </a:lvl8pPr>
            <a:lvl9pPr fontAlgn="base">
              <a:lnSpc>
                <a:spcPct val="90000"/>
              </a:lnSpc>
              <a:spcBef>
                <a:spcPts val="500"/>
              </a:spcBef>
              <a:spcAft>
                <a:spcPct val="0"/>
              </a:spcAft>
              <a:buFont typeface="Arial" pitchFamily="34" charset="0"/>
              <a:defRPr>
                <a:solidFill>
                  <a:schemeClr val="tx1"/>
                </a:solidFill>
                <a:latin typeface="Calibri Light" pitchFamily="34" charset="0"/>
              </a:defRPr>
            </a:lvl9pPr>
          </a:lstStyle>
          <a:p>
            <a:pPr algn="r" fontAlgn="base">
              <a:lnSpc>
                <a:spcPct val="100000"/>
              </a:lnSpc>
              <a:spcAft>
                <a:spcPct val="0"/>
              </a:spcAft>
              <a:defRPr/>
            </a:pPr>
            <a:r>
              <a:rPr lang="es-ES" altLang="es-ES" sz="1000" kern="0" dirty="0">
                <a:solidFill>
                  <a:prstClr val="black"/>
                </a:solidFill>
                <a:latin typeface="Avenir 35" panose="00000400000000000000" pitchFamily="2" charset="0"/>
              </a:rPr>
              <a:t>Los datos provenientes del Connected Car marcaran un antes y un después en las industria y fuera de ella.</a:t>
            </a:r>
            <a:endParaRPr lang="en-AU" altLang="es-ES" sz="1000" kern="0" dirty="0">
              <a:solidFill>
                <a:prstClr val="black"/>
              </a:solidFill>
              <a:latin typeface="Avenir 35" panose="00000400000000000000" pitchFamily="2" charset="0"/>
            </a:endParaRPr>
          </a:p>
        </p:txBody>
      </p:sp>
      <p:sp>
        <p:nvSpPr>
          <p:cNvPr id="63" name="Content Placeholder 2"/>
          <p:cNvSpPr txBox="1">
            <a:spLocks/>
          </p:cNvSpPr>
          <p:nvPr/>
        </p:nvSpPr>
        <p:spPr bwMode="auto">
          <a:xfrm>
            <a:off x="992560" y="4275023"/>
            <a:ext cx="21600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es-ES"/>
            </a:defPPr>
            <a:lvl1pPr marR="0" lvl="0" indent="0" algn="ctr" fontAlgn="base">
              <a:lnSpc>
                <a:spcPct val="100000"/>
              </a:lnSpc>
              <a:spcBef>
                <a:spcPts val="1000"/>
              </a:spcBef>
              <a:spcAft>
                <a:spcPct val="0"/>
              </a:spcAft>
              <a:buClrTx/>
              <a:buSzTx/>
              <a:buFont typeface="Arial" pitchFamily="34" charset="0"/>
              <a:buNone/>
              <a:tabLst/>
              <a:defRPr kumimoji="0" sz="900" b="0" i="0" u="none" strike="noStrike" kern="0" cap="none" spc="0" normalizeH="0" baseline="0">
                <a:ln>
                  <a:noFill/>
                </a:ln>
                <a:solidFill>
                  <a:prstClr val="black"/>
                </a:solidFill>
                <a:effectLst/>
                <a:uLnTx/>
                <a:uFillTx/>
                <a:latin typeface="Calibri Light" pitchFamily="34" charset="0"/>
              </a:defRPr>
            </a:lvl1pPr>
            <a:lvl2pPr>
              <a:lnSpc>
                <a:spcPct val="90000"/>
              </a:lnSpc>
              <a:spcBef>
                <a:spcPts val="500"/>
              </a:spcBef>
              <a:buFont typeface="Arial" pitchFamily="34" charset="0"/>
              <a:defRPr sz="2400">
                <a:latin typeface="Calibri Light" pitchFamily="34" charset="0"/>
              </a:defRPr>
            </a:lvl2pPr>
            <a:lvl3pPr>
              <a:lnSpc>
                <a:spcPct val="90000"/>
              </a:lnSpc>
              <a:spcBef>
                <a:spcPts val="500"/>
              </a:spcBef>
              <a:buFont typeface="Arial" pitchFamily="34" charset="0"/>
              <a:defRPr sz="2000">
                <a:latin typeface="Calibri Light" pitchFamily="34" charset="0"/>
              </a:defRPr>
            </a:lvl3pPr>
            <a:lvl4pPr>
              <a:lnSpc>
                <a:spcPct val="90000"/>
              </a:lnSpc>
              <a:spcBef>
                <a:spcPts val="500"/>
              </a:spcBef>
              <a:buFont typeface="Arial" pitchFamily="34" charset="0"/>
              <a:defRPr>
                <a:latin typeface="Calibri Light" pitchFamily="34" charset="0"/>
              </a:defRPr>
            </a:lvl4pPr>
            <a:lvl5pPr>
              <a:lnSpc>
                <a:spcPct val="90000"/>
              </a:lnSpc>
              <a:spcBef>
                <a:spcPts val="500"/>
              </a:spcBef>
              <a:buFont typeface="Arial" pitchFamily="34" charset="0"/>
              <a:defRPr>
                <a:latin typeface="Calibri Light" pitchFamily="34" charset="0"/>
              </a:defRPr>
            </a:lvl5pPr>
            <a:lvl6pPr fontAlgn="base">
              <a:lnSpc>
                <a:spcPct val="90000"/>
              </a:lnSpc>
              <a:spcBef>
                <a:spcPts val="500"/>
              </a:spcBef>
              <a:spcAft>
                <a:spcPct val="0"/>
              </a:spcAft>
              <a:buFont typeface="Arial" pitchFamily="34" charset="0"/>
              <a:defRPr>
                <a:latin typeface="Calibri Light" pitchFamily="34" charset="0"/>
              </a:defRPr>
            </a:lvl6pPr>
            <a:lvl7pPr fontAlgn="base">
              <a:lnSpc>
                <a:spcPct val="90000"/>
              </a:lnSpc>
              <a:spcBef>
                <a:spcPts val="500"/>
              </a:spcBef>
              <a:spcAft>
                <a:spcPct val="0"/>
              </a:spcAft>
              <a:buFont typeface="Arial" pitchFamily="34" charset="0"/>
              <a:defRPr>
                <a:latin typeface="Calibri Light" pitchFamily="34" charset="0"/>
              </a:defRPr>
            </a:lvl7pPr>
            <a:lvl8pPr fontAlgn="base">
              <a:lnSpc>
                <a:spcPct val="90000"/>
              </a:lnSpc>
              <a:spcBef>
                <a:spcPts val="500"/>
              </a:spcBef>
              <a:spcAft>
                <a:spcPct val="0"/>
              </a:spcAft>
              <a:buFont typeface="Arial" pitchFamily="34" charset="0"/>
              <a:defRPr>
                <a:latin typeface="Calibri Light" pitchFamily="34" charset="0"/>
              </a:defRPr>
            </a:lvl8pPr>
            <a:lvl9pPr fontAlgn="base">
              <a:lnSpc>
                <a:spcPct val="90000"/>
              </a:lnSpc>
              <a:spcBef>
                <a:spcPts val="500"/>
              </a:spcBef>
              <a:spcAft>
                <a:spcPct val="0"/>
              </a:spcAft>
              <a:buFont typeface="Arial" pitchFamily="34" charset="0"/>
              <a:defRPr>
                <a:latin typeface="Calibri Light" pitchFamily="34" charset="0"/>
              </a:defRPr>
            </a:lvl9pPr>
          </a:lstStyle>
          <a:p>
            <a:pPr algn="l"/>
            <a:r>
              <a:rPr lang="es-ES" altLang="es-ES" sz="1000" dirty="0">
                <a:latin typeface="Avenir 35" panose="00000400000000000000" pitchFamily="2" charset="0"/>
              </a:rPr>
              <a:t>La integración tanto IN como OUT con el Call Center, será  un requerimiento en el corto  plazo.</a:t>
            </a:r>
            <a:endParaRPr lang="en-AU" altLang="es-ES" sz="1000" dirty="0">
              <a:latin typeface="Avenir 35" panose="00000400000000000000" pitchFamily="2" charset="0"/>
            </a:endParaRPr>
          </a:p>
        </p:txBody>
      </p:sp>
      <p:sp>
        <p:nvSpPr>
          <p:cNvPr id="64" name="Content Placeholder 2"/>
          <p:cNvSpPr txBox="1">
            <a:spLocks/>
          </p:cNvSpPr>
          <p:nvPr/>
        </p:nvSpPr>
        <p:spPr bwMode="auto">
          <a:xfrm>
            <a:off x="6753200" y="4760942"/>
            <a:ext cx="220638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itchFamily="34" charset="0"/>
              <a:defRPr sz="2800">
                <a:solidFill>
                  <a:schemeClr val="tx1"/>
                </a:solidFill>
                <a:latin typeface="Calibri Light" pitchFamily="34" charset="0"/>
              </a:defRPr>
            </a:lvl1pPr>
            <a:lvl2pPr>
              <a:lnSpc>
                <a:spcPct val="90000"/>
              </a:lnSpc>
              <a:spcBef>
                <a:spcPts val="500"/>
              </a:spcBef>
              <a:buFont typeface="Arial" pitchFamily="34" charset="0"/>
              <a:defRPr sz="2400">
                <a:solidFill>
                  <a:schemeClr val="tx1"/>
                </a:solidFill>
                <a:latin typeface="Calibri Light" pitchFamily="34" charset="0"/>
              </a:defRPr>
            </a:lvl2pPr>
            <a:lvl3pPr>
              <a:lnSpc>
                <a:spcPct val="90000"/>
              </a:lnSpc>
              <a:spcBef>
                <a:spcPts val="500"/>
              </a:spcBef>
              <a:buFont typeface="Arial" pitchFamily="34" charset="0"/>
              <a:defRPr sz="2000">
                <a:solidFill>
                  <a:schemeClr val="tx1"/>
                </a:solidFill>
                <a:latin typeface="Calibri Light" pitchFamily="34" charset="0"/>
              </a:defRPr>
            </a:lvl3pPr>
            <a:lvl4pPr>
              <a:lnSpc>
                <a:spcPct val="90000"/>
              </a:lnSpc>
              <a:spcBef>
                <a:spcPts val="500"/>
              </a:spcBef>
              <a:buFont typeface="Arial" pitchFamily="34" charset="0"/>
              <a:defRPr>
                <a:solidFill>
                  <a:schemeClr val="tx1"/>
                </a:solidFill>
                <a:latin typeface="Calibri Light" pitchFamily="34" charset="0"/>
              </a:defRPr>
            </a:lvl4pPr>
            <a:lvl5pPr>
              <a:lnSpc>
                <a:spcPct val="90000"/>
              </a:lnSpc>
              <a:spcBef>
                <a:spcPts val="500"/>
              </a:spcBef>
              <a:buFont typeface="Arial" pitchFamily="34" charset="0"/>
              <a:defRPr>
                <a:solidFill>
                  <a:schemeClr val="tx1"/>
                </a:solidFill>
                <a:latin typeface="Calibri Light" pitchFamily="34" charset="0"/>
              </a:defRPr>
            </a:lvl5pPr>
            <a:lvl6pPr fontAlgn="base">
              <a:lnSpc>
                <a:spcPct val="90000"/>
              </a:lnSpc>
              <a:spcBef>
                <a:spcPts val="500"/>
              </a:spcBef>
              <a:spcAft>
                <a:spcPct val="0"/>
              </a:spcAft>
              <a:buFont typeface="Arial" pitchFamily="34" charset="0"/>
              <a:defRPr>
                <a:solidFill>
                  <a:schemeClr val="tx1"/>
                </a:solidFill>
                <a:latin typeface="Calibri Light" pitchFamily="34" charset="0"/>
              </a:defRPr>
            </a:lvl6pPr>
            <a:lvl7pPr fontAlgn="base">
              <a:lnSpc>
                <a:spcPct val="90000"/>
              </a:lnSpc>
              <a:spcBef>
                <a:spcPts val="500"/>
              </a:spcBef>
              <a:spcAft>
                <a:spcPct val="0"/>
              </a:spcAft>
              <a:buFont typeface="Arial" pitchFamily="34" charset="0"/>
              <a:defRPr>
                <a:solidFill>
                  <a:schemeClr val="tx1"/>
                </a:solidFill>
                <a:latin typeface="Calibri Light" pitchFamily="34" charset="0"/>
              </a:defRPr>
            </a:lvl7pPr>
            <a:lvl8pPr fontAlgn="base">
              <a:lnSpc>
                <a:spcPct val="90000"/>
              </a:lnSpc>
              <a:spcBef>
                <a:spcPts val="500"/>
              </a:spcBef>
              <a:spcAft>
                <a:spcPct val="0"/>
              </a:spcAft>
              <a:buFont typeface="Arial" pitchFamily="34" charset="0"/>
              <a:defRPr>
                <a:solidFill>
                  <a:schemeClr val="tx1"/>
                </a:solidFill>
                <a:latin typeface="Calibri Light" pitchFamily="34" charset="0"/>
              </a:defRPr>
            </a:lvl8pPr>
            <a:lvl9pPr fontAlgn="base">
              <a:lnSpc>
                <a:spcPct val="90000"/>
              </a:lnSpc>
              <a:spcBef>
                <a:spcPts val="500"/>
              </a:spcBef>
              <a:spcAft>
                <a:spcPct val="0"/>
              </a:spcAft>
              <a:buFont typeface="Arial" pitchFamily="34" charset="0"/>
              <a:defRPr>
                <a:solidFill>
                  <a:schemeClr val="tx1"/>
                </a:solidFill>
                <a:latin typeface="Calibri Light" pitchFamily="34" charset="0"/>
              </a:defRPr>
            </a:lvl9pPr>
          </a:lstStyle>
          <a:p>
            <a:pPr algn="r" fontAlgn="base">
              <a:lnSpc>
                <a:spcPct val="100000"/>
              </a:lnSpc>
              <a:spcAft>
                <a:spcPct val="0"/>
              </a:spcAft>
              <a:defRPr/>
            </a:pPr>
            <a:r>
              <a:rPr lang="es-ES" altLang="es-ES" sz="1000" kern="0" dirty="0">
                <a:solidFill>
                  <a:prstClr val="black"/>
                </a:solidFill>
                <a:latin typeface="Avenir 35" panose="00000400000000000000" pitchFamily="2" charset="0"/>
              </a:rPr>
              <a:t>Herramienta BI, que permite trazar cuadros de mando para optimizar el desarrollo de los concesionarios y de los Gerentes de Zona de Easy Money.</a:t>
            </a:r>
            <a:endParaRPr lang="en-AU" altLang="es-ES" sz="1000" kern="0" dirty="0">
              <a:solidFill>
                <a:prstClr val="black"/>
              </a:solidFill>
              <a:latin typeface="Avenir 35" panose="00000400000000000000" pitchFamily="2" charset="0"/>
            </a:endParaRPr>
          </a:p>
        </p:txBody>
      </p:sp>
      <p:sp>
        <p:nvSpPr>
          <p:cNvPr id="66" name="Notched Right Arrow 11"/>
          <p:cNvSpPr/>
          <p:nvPr/>
        </p:nvSpPr>
        <p:spPr>
          <a:xfrm flipH="1">
            <a:off x="3138640" y="5547523"/>
            <a:ext cx="2174400" cy="349200"/>
          </a:xfrm>
          <a:prstGeom prst="notchedRightArrow">
            <a:avLst>
              <a:gd name="adj1" fmla="val 100000"/>
              <a:gd name="adj2" fmla="val 32381"/>
            </a:avLst>
          </a:prstGeom>
          <a:solidFill>
            <a:schemeClr val="tx1">
              <a:lumMod val="65000"/>
              <a:lumOff val="35000"/>
            </a:schemeClr>
          </a:solidFill>
          <a:ln w="12700" cap="flat" cmpd="sng" algn="ctr">
            <a:noFill/>
            <a:prstDash val="solid"/>
            <a:miter lim="800000"/>
          </a:ln>
          <a:effectLst/>
        </p:spPr>
        <p:txBody>
          <a:bodyPr anchor="ctr"/>
          <a:lstStyle/>
          <a:p>
            <a:pPr algn="ctr"/>
            <a:r>
              <a:rPr lang="es-ES" sz="1300" kern="0" cap="all" dirty="0">
                <a:solidFill>
                  <a:prstClr val="white"/>
                </a:solidFill>
                <a:latin typeface="Avenir 35" panose="00000400000000000000" pitchFamily="2" charset="0"/>
                <a:cs typeface="Clear Sans" panose="020B0503030202020304" pitchFamily="34" charset="0"/>
              </a:rPr>
              <a:t>Auditoría Sistemas</a:t>
            </a:r>
            <a:endParaRPr lang="en-GB" sz="1300" kern="0" cap="all" dirty="0">
              <a:solidFill>
                <a:prstClr val="white"/>
              </a:solidFill>
              <a:latin typeface="Avenir 35" panose="00000400000000000000" pitchFamily="2" charset="0"/>
              <a:cs typeface="Clear Sans" panose="020B0503030202020304" pitchFamily="34" charset="0"/>
            </a:endParaRPr>
          </a:p>
        </p:txBody>
      </p:sp>
      <p:sp>
        <p:nvSpPr>
          <p:cNvPr id="68" name="Oval 26"/>
          <p:cNvSpPr/>
          <p:nvPr/>
        </p:nvSpPr>
        <p:spPr>
          <a:xfrm>
            <a:off x="364159" y="5470123"/>
            <a:ext cx="504000" cy="504000"/>
          </a:xfrm>
          <a:prstGeom prst="ellipse">
            <a:avLst/>
          </a:prstGeom>
          <a:solidFill>
            <a:schemeClr val="tx1">
              <a:lumMod val="65000"/>
              <a:lumOff val="35000"/>
            </a:schemeClr>
          </a:solidFill>
          <a:ln w="12700" cap="flat" cmpd="sng" algn="ctr">
            <a:solidFill>
              <a:sysClr val="window" lastClr="FFFFFF"/>
            </a:solidFill>
            <a:prstDash val="solid"/>
            <a:miter lim="800000"/>
          </a:ln>
          <a:effectLst/>
        </p:spPr>
        <p:txBody>
          <a:bodyPr anchor="ctr"/>
          <a:lstStyle/>
          <a:p>
            <a:pPr algn="ctr">
              <a:defRPr/>
            </a:pPr>
            <a:endParaRPr lang="en-US" sz="2800" kern="0" dirty="0">
              <a:solidFill>
                <a:prstClr val="white"/>
              </a:solidFill>
              <a:latin typeface="Calibri Light"/>
            </a:endParaRPr>
          </a:p>
        </p:txBody>
      </p:sp>
      <p:sp>
        <p:nvSpPr>
          <p:cNvPr id="70" name="Content Placeholder 2"/>
          <p:cNvSpPr txBox="1">
            <a:spLocks/>
          </p:cNvSpPr>
          <p:nvPr/>
        </p:nvSpPr>
        <p:spPr bwMode="auto">
          <a:xfrm>
            <a:off x="976192" y="5387161"/>
            <a:ext cx="21600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es-ES"/>
            </a:defPPr>
            <a:lvl1pPr marR="0" lvl="0" indent="0" algn="ctr" fontAlgn="base">
              <a:lnSpc>
                <a:spcPct val="100000"/>
              </a:lnSpc>
              <a:spcBef>
                <a:spcPts val="1000"/>
              </a:spcBef>
              <a:spcAft>
                <a:spcPct val="0"/>
              </a:spcAft>
              <a:buClrTx/>
              <a:buSzTx/>
              <a:buFont typeface="Arial" pitchFamily="34" charset="0"/>
              <a:buNone/>
              <a:tabLst/>
              <a:defRPr kumimoji="0" sz="900" b="0" i="0" u="none" strike="noStrike" kern="0" cap="none" spc="0" normalizeH="0" baseline="0">
                <a:ln>
                  <a:noFill/>
                </a:ln>
                <a:solidFill>
                  <a:prstClr val="black"/>
                </a:solidFill>
                <a:effectLst/>
                <a:uLnTx/>
                <a:uFillTx/>
                <a:latin typeface="Calibri Light" pitchFamily="34" charset="0"/>
              </a:defRPr>
            </a:lvl1pPr>
            <a:lvl2pPr>
              <a:lnSpc>
                <a:spcPct val="90000"/>
              </a:lnSpc>
              <a:spcBef>
                <a:spcPts val="500"/>
              </a:spcBef>
              <a:buFont typeface="Arial" pitchFamily="34" charset="0"/>
              <a:defRPr sz="2400">
                <a:latin typeface="Calibri Light" pitchFamily="34" charset="0"/>
              </a:defRPr>
            </a:lvl2pPr>
            <a:lvl3pPr>
              <a:lnSpc>
                <a:spcPct val="90000"/>
              </a:lnSpc>
              <a:spcBef>
                <a:spcPts val="500"/>
              </a:spcBef>
              <a:buFont typeface="Arial" pitchFamily="34" charset="0"/>
              <a:defRPr sz="2000">
                <a:latin typeface="Calibri Light" pitchFamily="34" charset="0"/>
              </a:defRPr>
            </a:lvl3pPr>
            <a:lvl4pPr>
              <a:lnSpc>
                <a:spcPct val="90000"/>
              </a:lnSpc>
              <a:spcBef>
                <a:spcPts val="500"/>
              </a:spcBef>
              <a:buFont typeface="Arial" pitchFamily="34" charset="0"/>
              <a:defRPr>
                <a:latin typeface="Calibri Light" pitchFamily="34" charset="0"/>
              </a:defRPr>
            </a:lvl4pPr>
            <a:lvl5pPr>
              <a:lnSpc>
                <a:spcPct val="90000"/>
              </a:lnSpc>
              <a:spcBef>
                <a:spcPts val="500"/>
              </a:spcBef>
              <a:buFont typeface="Arial" pitchFamily="34" charset="0"/>
              <a:defRPr>
                <a:latin typeface="Calibri Light" pitchFamily="34" charset="0"/>
              </a:defRPr>
            </a:lvl5pPr>
            <a:lvl6pPr fontAlgn="base">
              <a:lnSpc>
                <a:spcPct val="90000"/>
              </a:lnSpc>
              <a:spcBef>
                <a:spcPts val="500"/>
              </a:spcBef>
              <a:spcAft>
                <a:spcPct val="0"/>
              </a:spcAft>
              <a:buFont typeface="Arial" pitchFamily="34" charset="0"/>
              <a:defRPr>
                <a:latin typeface="Calibri Light" pitchFamily="34" charset="0"/>
              </a:defRPr>
            </a:lvl6pPr>
            <a:lvl7pPr fontAlgn="base">
              <a:lnSpc>
                <a:spcPct val="90000"/>
              </a:lnSpc>
              <a:spcBef>
                <a:spcPts val="500"/>
              </a:spcBef>
              <a:spcAft>
                <a:spcPct val="0"/>
              </a:spcAft>
              <a:buFont typeface="Arial" pitchFamily="34" charset="0"/>
              <a:defRPr>
                <a:latin typeface="Calibri Light" pitchFamily="34" charset="0"/>
              </a:defRPr>
            </a:lvl7pPr>
            <a:lvl8pPr fontAlgn="base">
              <a:lnSpc>
                <a:spcPct val="90000"/>
              </a:lnSpc>
              <a:spcBef>
                <a:spcPts val="500"/>
              </a:spcBef>
              <a:spcAft>
                <a:spcPct val="0"/>
              </a:spcAft>
              <a:buFont typeface="Arial" pitchFamily="34" charset="0"/>
              <a:defRPr>
                <a:latin typeface="Calibri Light" pitchFamily="34" charset="0"/>
              </a:defRPr>
            </a:lvl8pPr>
            <a:lvl9pPr fontAlgn="base">
              <a:lnSpc>
                <a:spcPct val="90000"/>
              </a:lnSpc>
              <a:spcBef>
                <a:spcPts val="500"/>
              </a:spcBef>
              <a:spcAft>
                <a:spcPct val="0"/>
              </a:spcAft>
              <a:buFont typeface="Arial" pitchFamily="34" charset="0"/>
              <a:defRPr>
                <a:latin typeface="Calibri Light" pitchFamily="34" charset="0"/>
              </a:defRPr>
            </a:lvl9pPr>
          </a:lstStyle>
          <a:p>
            <a:pPr algn="l"/>
            <a:r>
              <a:rPr lang="es-ES" altLang="es-ES" sz="1000" dirty="0">
                <a:latin typeface="Avenir 35" panose="00000400000000000000" pitchFamily="2" charset="0"/>
              </a:rPr>
              <a:t>Auditoría de sistemas y archivos para aumentar la integración directa con la herramienta.</a:t>
            </a:r>
            <a:endParaRPr lang="en-AU" altLang="es-ES" sz="1000" dirty="0">
              <a:latin typeface="Avenir 35" panose="00000400000000000000" pitchFamily="2" charset="0"/>
            </a:endParaRPr>
          </a:p>
        </p:txBody>
      </p:sp>
      <p:sp>
        <p:nvSpPr>
          <p:cNvPr id="71" name="Freeform 306"/>
          <p:cNvSpPr>
            <a:spLocks noEditPoints="1"/>
          </p:cNvSpPr>
          <p:nvPr/>
        </p:nvSpPr>
        <p:spPr bwMode="auto">
          <a:xfrm>
            <a:off x="474007" y="5563276"/>
            <a:ext cx="284304" cy="282626"/>
          </a:xfrm>
          <a:custGeom>
            <a:avLst/>
            <a:gdLst>
              <a:gd name="T0" fmla="*/ 165 w 186"/>
              <a:gd name="T1" fmla="*/ 0 h 185"/>
              <a:gd name="T2" fmla="*/ 144 w 186"/>
              <a:gd name="T3" fmla="*/ 21 h 185"/>
              <a:gd name="T4" fmla="*/ 161 w 186"/>
              <a:gd name="T5" fmla="*/ 41 h 185"/>
              <a:gd name="T6" fmla="*/ 161 w 186"/>
              <a:gd name="T7" fmla="*/ 88 h 185"/>
              <a:gd name="T8" fmla="*/ 114 w 186"/>
              <a:gd name="T9" fmla="*/ 88 h 185"/>
              <a:gd name="T10" fmla="*/ 93 w 186"/>
              <a:gd name="T11" fmla="*/ 71 h 185"/>
              <a:gd name="T12" fmla="*/ 72 w 186"/>
              <a:gd name="T13" fmla="*/ 88 h 185"/>
              <a:gd name="T14" fmla="*/ 21 w 186"/>
              <a:gd name="T15" fmla="*/ 88 h 185"/>
              <a:gd name="T16" fmla="*/ 17 w 186"/>
              <a:gd name="T17" fmla="*/ 92 h 185"/>
              <a:gd name="T18" fmla="*/ 17 w 186"/>
              <a:gd name="T19" fmla="*/ 143 h 185"/>
              <a:gd name="T20" fmla="*/ 0 w 186"/>
              <a:gd name="T21" fmla="*/ 164 h 185"/>
              <a:gd name="T22" fmla="*/ 21 w 186"/>
              <a:gd name="T23" fmla="*/ 185 h 185"/>
              <a:gd name="T24" fmla="*/ 42 w 186"/>
              <a:gd name="T25" fmla="*/ 164 h 185"/>
              <a:gd name="T26" fmla="*/ 26 w 186"/>
              <a:gd name="T27" fmla="*/ 143 h 185"/>
              <a:gd name="T28" fmla="*/ 26 w 186"/>
              <a:gd name="T29" fmla="*/ 97 h 185"/>
              <a:gd name="T30" fmla="*/ 72 w 186"/>
              <a:gd name="T31" fmla="*/ 97 h 185"/>
              <a:gd name="T32" fmla="*/ 93 w 186"/>
              <a:gd name="T33" fmla="*/ 113 h 185"/>
              <a:gd name="T34" fmla="*/ 114 w 186"/>
              <a:gd name="T35" fmla="*/ 97 h 185"/>
              <a:gd name="T36" fmla="*/ 165 w 186"/>
              <a:gd name="T37" fmla="*/ 97 h 185"/>
              <a:gd name="T38" fmla="*/ 169 w 186"/>
              <a:gd name="T39" fmla="*/ 92 h 185"/>
              <a:gd name="T40" fmla="*/ 169 w 186"/>
              <a:gd name="T41" fmla="*/ 41 h 185"/>
              <a:gd name="T42" fmla="*/ 186 w 186"/>
              <a:gd name="T43" fmla="*/ 21 h 185"/>
              <a:gd name="T44" fmla="*/ 165 w 186"/>
              <a:gd name="T45" fmla="*/ 0 h 185"/>
              <a:gd name="T46" fmla="*/ 34 w 186"/>
              <a:gd name="T47" fmla="*/ 164 h 185"/>
              <a:gd name="T48" fmla="*/ 21 w 186"/>
              <a:gd name="T49" fmla="*/ 177 h 185"/>
              <a:gd name="T50" fmla="*/ 9 w 186"/>
              <a:gd name="T51" fmla="*/ 164 h 185"/>
              <a:gd name="T52" fmla="*/ 21 w 186"/>
              <a:gd name="T53" fmla="*/ 151 h 185"/>
              <a:gd name="T54" fmla="*/ 34 w 186"/>
              <a:gd name="T55" fmla="*/ 164 h 185"/>
              <a:gd name="T56" fmla="*/ 93 w 186"/>
              <a:gd name="T57" fmla="*/ 105 h 185"/>
              <a:gd name="T58" fmla="*/ 80 w 186"/>
              <a:gd name="T59" fmla="*/ 92 h 185"/>
              <a:gd name="T60" fmla="*/ 93 w 186"/>
              <a:gd name="T61" fmla="*/ 80 h 185"/>
              <a:gd name="T62" fmla="*/ 106 w 186"/>
              <a:gd name="T63" fmla="*/ 92 h 185"/>
              <a:gd name="T64" fmla="*/ 93 w 186"/>
              <a:gd name="T65" fmla="*/ 105 h 185"/>
              <a:gd name="T66" fmla="*/ 165 w 186"/>
              <a:gd name="T67" fmla="*/ 33 h 185"/>
              <a:gd name="T68" fmla="*/ 152 w 186"/>
              <a:gd name="T69" fmla="*/ 21 h 185"/>
              <a:gd name="T70" fmla="*/ 165 w 186"/>
              <a:gd name="T71" fmla="*/ 8 h 185"/>
              <a:gd name="T72" fmla="*/ 178 w 186"/>
              <a:gd name="T73" fmla="*/ 21 h 185"/>
              <a:gd name="T74" fmla="*/ 165 w 186"/>
              <a:gd name="T75" fmla="*/ 3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6" h="185">
                <a:moveTo>
                  <a:pt x="165" y="0"/>
                </a:moveTo>
                <a:cubicBezTo>
                  <a:pt x="153" y="0"/>
                  <a:pt x="144" y="9"/>
                  <a:pt x="144" y="21"/>
                </a:cubicBezTo>
                <a:cubicBezTo>
                  <a:pt x="144" y="31"/>
                  <a:pt x="151" y="39"/>
                  <a:pt x="161" y="41"/>
                </a:cubicBezTo>
                <a:cubicBezTo>
                  <a:pt x="161" y="88"/>
                  <a:pt x="161" y="88"/>
                  <a:pt x="161" y="88"/>
                </a:cubicBezTo>
                <a:cubicBezTo>
                  <a:pt x="114" y="88"/>
                  <a:pt x="114" y="88"/>
                  <a:pt x="114" y="88"/>
                </a:cubicBezTo>
                <a:cubicBezTo>
                  <a:pt x="112" y="79"/>
                  <a:pt x="103" y="71"/>
                  <a:pt x="93" y="71"/>
                </a:cubicBezTo>
                <a:cubicBezTo>
                  <a:pt x="83" y="71"/>
                  <a:pt x="74" y="79"/>
                  <a:pt x="72" y="88"/>
                </a:cubicBezTo>
                <a:cubicBezTo>
                  <a:pt x="21" y="88"/>
                  <a:pt x="21" y="88"/>
                  <a:pt x="21" y="88"/>
                </a:cubicBezTo>
                <a:cubicBezTo>
                  <a:pt x="19" y="88"/>
                  <a:pt x="17" y="90"/>
                  <a:pt x="17" y="92"/>
                </a:cubicBezTo>
                <a:cubicBezTo>
                  <a:pt x="17" y="143"/>
                  <a:pt x="17" y="143"/>
                  <a:pt x="17" y="143"/>
                </a:cubicBezTo>
                <a:cubicBezTo>
                  <a:pt x="8" y="145"/>
                  <a:pt x="0" y="154"/>
                  <a:pt x="0" y="164"/>
                </a:cubicBezTo>
                <a:cubicBezTo>
                  <a:pt x="0" y="176"/>
                  <a:pt x="10" y="185"/>
                  <a:pt x="21" y="185"/>
                </a:cubicBezTo>
                <a:cubicBezTo>
                  <a:pt x="33" y="185"/>
                  <a:pt x="42" y="176"/>
                  <a:pt x="42" y="164"/>
                </a:cubicBezTo>
                <a:cubicBezTo>
                  <a:pt x="42" y="154"/>
                  <a:pt x="35" y="145"/>
                  <a:pt x="26" y="143"/>
                </a:cubicBezTo>
                <a:cubicBezTo>
                  <a:pt x="26" y="97"/>
                  <a:pt x="26" y="97"/>
                  <a:pt x="26" y="97"/>
                </a:cubicBezTo>
                <a:cubicBezTo>
                  <a:pt x="72" y="97"/>
                  <a:pt x="72" y="97"/>
                  <a:pt x="72" y="97"/>
                </a:cubicBezTo>
                <a:cubicBezTo>
                  <a:pt x="74" y="106"/>
                  <a:pt x="83" y="113"/>
                  <a:pt x="93" y="113"/>
                </a:cubicBezTo>
                <a:cubicBezTo>
                  <a:pt x="103" y="113"/>
                  <a:pt x="112" y="106"/>
                  <a:pt x="114" y="97"/>
                </a:cubicBezTo>
                <a:cubicBezTo>
                  <a:pt x="165" y="97"/>
                  <a:pt x="165" y="97"/>
                  <a:pt x="165" y="97"/>
                </a:cubicBezTo>
                <a:cubicBezTo>
                  <a:pt x="167" y="97"/>
                  <a:pt x="169" y="95"/>
                  <a:pt x="169" y="92"/>
                </a:cubicBezTo>
                <a:cubicBezTo>
                  <a:pt x="169" y="41"/>
                  <a:pt x="169" y="41"/>
                  <a:pt x="169" y="41"/>
                </a:cubicBezTo>
                <a:cubicBezTo>
                  <a:pt x="179" y="39"/>
                  <a:pt x="186" y="31"/>
                  <a:pt x="186" y="21"/>
                </a:cubicBezTo>
                <a:cubicBezTo>
                  <a:pt x="186" y="9"/>
                  <a:pt x="176" y="0"/>
                  <a:pt x="165" y="0"/>
                </a:cubicBezTo>
                <a:close/>
                <a:moveTo>
                  <a:pt x="34" y="164"/>
                </a:moveTo>
                <a:cubicBezTo>
                  <a:pt x="34" y="171"/>
                  <a:pt x="28" y="177"/>
                  <a:pt x="21" y="177"/>
                </a:cubicBezTo>
                <a:cubicBezTo>
                  <a:pt x="14" y="177"/>
                  <a:pt x="9" y="171"/>
                  <a:pt x="9" y="164"/>
                </a:cubicBezTo>
                <a:cubicBezTo>
                  <a:pt x="9" y="157"/>
                  <a:pt x="14" y="151"/>
                  <a:pt x="21" y="151"/>
                </a:cubicBezTo>
                <a:cubicBezTo>
                  <a:pt x="28" y="151"/>
                  <a:pt x="34" y="157"/>
                  <a:pt x="34" y="164"/>
                </a:cubicBezTo>
                <a:close/>
                <a:moveTo>
                  <a:pt x="93" y="105"/>
                </a:moveTo>
                <a:cubicBezTo>
                  <a:pt x="86" y="105"/>
                  <a:pt x="80" y="99"/>
                  <a:pt x="80" y="92"/>
                </a:cubicBezTo>
                <a:cubicBezTo>
                  <a:pt x="80" y="85"/>
                  <a:pt x="86" y="80"/>
                  <a:pt x="93" y="80"/>
                </a:cubicBezTo>
                <a:cubicBezTo>
                  <a:pt x="100" y="80"/>
                  <a:pt x="106" y="85"/>
                  <a:pt x="106" y="92"/>
                </a:cubicBezTo>
                <a:cubicBezTo>
                  <a:pt x="106" y="99"/>
                  <a:pt x="100" y="105"/>
                  <a:pt x="93" y="105"/>
                </a:cubicBezTo>
                <a:close/>
                <a:moveTo>
                  <a:pt x="165" y="33"/>
                </a:moveTo>
                <a:cubicBezTo>
                  <a:pt x="158" y="33"/>
                  <a:pt x="152" y="28"/>
                  <a:pt x="152" y="21"/>
                </a:cubicBezTo>
                <a:cubicBezTo>
                  <a:pt x="152" y="14"/>
                  <a:pt x="158" y="8"/>
                  <a:pt x="165" y="8"/>
                </a:cubicBezTo>
                <a:cubicBezTo>
                  <a:pt x="172" y="8"/>
                  <a:pt x="178" y="14"/>
                  <a:pt x="178" y="21"/>
                </a:cubicBezTo>
                <a:cubicBezTo>
                  <a:pt x="178" y="28"/>
                  <a:pt x="172" y="33"/>
                  <a:pt x="165" y="33"/>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400" dirty="0">
              <a:solidFill>
                <a:schemeClr val="bg1">
                  <a:lumMod val="50000"/>
                </a:schemeClr>
              </a:solidFill>
            </a:endParaRPr>
          </a:p>
        </p:txBody>
      </p:sp>
      <p:sp>
        <p:nvSpPr>
          <p:cNvPr id="81" name="Rectangle 81"/>
          <p:cNvSpPr/>
          <p:nvPr>
            <p:custDataLst>
              <p:tags r:id="rId1"/>
            </p:custDataLst>
          </p:nvPr>
        </p:nvSpPr>
        <p:spPr>
          <a:xfrm>
            <a:off x="344488" y="1254328"/>
            <a:ext cx="4495542" cy="226244"/>
          </a:xfrm>
          <a:prstGeom prst="rect">
            <a:avLst/>
          </a:prstGeom>
          <a:solidFill>
            <a:schemeClr val="tx1">
              <a:lumMod val="65000"/>
              <a:lumOff val="35000"/>
            </a:schemeClr>
          </a:solidFill>
          <a:ln w="25400" cap="flat" cmpd="sng" algn="ctr">
            <a:noFill/>
            <a:prstDash val="solid"/>
          </a:ln>
          <a:effectLst/>
        </p:spPr>
        <p:txBody>
          <a:bodyPr rtlCol="0" anchor="ctr"/>
          <a:lstStyle/>
          <a:p>
            <a:pPr algn="ctr"/>
            <a:r>
              <a:rPr lang="es-ES" sz="1200" kern="0" cap="all" dirty="0">
                <a:solidFill>
                  <a:schemeClr val="bg1"/>
                </a:solidFill>
                <a:latin typeface="Avenir 65" panose="02000600000000000000" pitchFamily="2" charset="0"/>
              </a:rPr>
              <a:t>INTEGRACIONES</a:t>
            </a:r>
          </a:p>
        </p:txBody>
      </p:sp>
      <p:sp>
        <p:nvSpPr>
          <p:cNvPr id="88" name="Rectangle 81"/>
          <p:cNvSpPr/>
          <p:nvPr>
            <p:custDataLst>
              <p:tags r:id="rId2"/>
            </p:custDataLst>
          </p:nvPr>
        </p:nvSpPr>
        <p:spPr>
          <a:xfrm>
            <a:off x="5065972" y="1248581"/>
            <a:ext cx="4599826" cy="232537"/>
          </a:xfrm>
          <a:prstGeom prst="rect">
            <a:avLst/>
          </a:prstGeom>
          <a:solidFill>
            <a:srgbClr val="0097B7"/>
          </a:solidFill>
          <a:ln w="25400" cap="flat" cmpd="sng" algn="ctr">
            <a:noFill/>
            <a:prstDash val="solid"/>
          </a:ln>
          <a:effectLst/>
        </p:spPr>
        <p:txBody>
          <a:bodyPr rtlCol="0" anchor="ctr"/>
          <a:lstStyle/>
          <a:p>
            <a:pPr algn="ctr"/>
            <a:r>
              <a:rPr lang="es-ES" sz="1200" kern="0" cap="all" dirty="0">
                <a:solidFill>
                  <a:schemeClr val="bg1"/>
                </a:solidFill>
                <a:latin typeface="Avenir 65" panose="02000600000000000000" pitchFamily="2" charset="0"/>
              </a:rPr>
              <a:t>NUEVAS FUNCIONALDIADES</a:t>
            </a:r>
          </a:p>
        </p:txBody>
      </p:sp>
      <p:sp>
        <p:nvSpPr>
          <p:cNvPr id="89" name="Notched Right Arrow 12"/>
          <p:cNvSpPr>
            <a:spLocks noChangeArrowheads="1"/>
          </p:cNvSpPr>
          <p:nvPr/>
        </p:nvSpPr>
        <p:spPr bwMode="auto">
          <a:xfrm>
            <a:off x="4520952" y="6087789"/>
            <a:ext cx="2174400" cy="349200"/>
          </a:xfrm>
          <a:prstGeom prst="notchedRightArrow">
            <a:avLst>
              <a:gd name="adj1" fmla="val 100000"/>
              <a:gd name="adj2" fmla="val 32366"/>
            </a:avLst>
          </a:prstGeom>
          <a:solidFill>
            <a:srgbClr val="0097B7"/>
          </a:solidFill>
          <a:ln w="25400" cap="flat" cmpd="sng" algn="ctr">
            <a:noFill/>
            <a:prstDash val="solid"/>
          </a:ln>
          <a:effectLst/>
        </p:spPr>
        <p:txBody>
          <a:bodyPr rtlCol="0" anchor="ctr"/>
          <a:lstStyle/>
          <a:p>
            <a:pPr algn="ctr"/>
            <a:r>
              <a:rPr lang="en-US" altLang="es-ES" sz="1300" kern="0" cap="all" dirty="0">
                <a:solidFill>
                  <a:schemeClr val="bg1"/>
                </a:solidFill>
                <a:latin typeface="Avenir 35" panose="00000400000000000000" pitchFamily="2" charset="0"/>
              </a:rPr>
              <a:t>NEW BUSINESS</a:t>
            </a:r>
          </a:p>
        </p:txBody>
      </p:sp>
      <p:sp>
        <p:nvSpPr>
          <p:cNvPr id="99" name="Oval 24"/>
          <p:cNvSpPr/>
          <p:nvPr/>
        </p:nvSpPr>
        <p:spPr>
          <a:xfrm>
            <a:off x="9150112" y="6010389"/>
            <a:ext cx="504000" cy="504000"/>
          </a:xfrm>
          <a:prstGeom prst="ellipse">
            <a:avLst/>
          </a:prstGeom>
          <a:solidFill>
            <a:srgbClr val="0097B7"/>
          </a:solidFill>
          <a:ln w="25400" cap="flat" cmpd="sng" algn="ctr">
            <a:noFill/>
            <a:prstDash val="solid"/>
          </a:ln>
          <a:effectLst/>
        </p:spPr>
        <p:txBody>
          <a:bodyPr rtlCol="0" anchor="ctr"/>
          <a:lstStyle/>
          <a:p>
            <a:pPr algn="ctr"/>
            <a:endParaRPr lang="en-US" sz="1600" kern="0" dirty="0">
              <a:solidFill>
                <a:schemeClr val="bg1"/>
              </a:solidFill>
              <a:latin typeface="Calibri"/>
            </a:endParaRPr>
          </a:p>
        </p:txBody>
      </p:sp>
      <p:sp>
        <p:nvSpPr>
          <p:cNvPr id="101" name="Content Placeholder 2"/>
          <p:cNvSpPr txBox="1">
            <a:spLocks/>
          </p:cNvSpPr>
          <p:nvPr/>
        </p:nvSpPr>
        <p:spPr bwMode="auto">
          <a:xfrm>
            <a:off x="6741514" y="5855419"/>
            <a:ext cx="2218065" cy="813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itchFamily="34" charset="0"/>
              <a:defRPr sz="2800">
                <a:solidFill>
                  <a:schemeClr val="tx1"/>
                </a:solidFill>
                <a:latin typeface="Calibri Light" pitchFamily="34" charset="0"/>
              </a:defRPr>
            </a:lvl1pPr>
            <a:lvl2pPr>
              <a:lnSpc>
                <a:spcPct val="90000"/>
              </a:lnSpc>
              <a:spcBef>
                <a:spcPts val="500"/>
              </a:spcBef>
              <a:buFont typeface="Arial" pitchFamily="34" charset="0"/>
              <a:defRPr sz="2400">
                <a:solidFill>
                  <a:schemeClr val="tx1"/>
                </a:solidFill>
                <a:latin typeface="Calibri Light" pitchFamily="34" charset="0"/>
              </a:defRPr>
            </a:lvl2pPr>
            <a:lvl3pPr>
              <a:lnSpc>
                <a:spcPct val="90000"/>
              </a:lnSpc>
              <a:spcBef>
                <a:spcPts val="500"/>
              </a:spcBef>
              <a:buFont typeface="Arial" pitchFamily="34" charset="0"/>
              <a:defRPr sz="2000">
                <a:solidFill>
                  <a:schemeClr val="tx1"/>
                </a:solidFill>
                <a:latin typeface="Calibri Light" pitchFamily="34" charset="0"/>
              </a:defRPr>
            </a:lvl3pPr>
            <a:lvl4pPr>
              <a:lnSpc>
                <a:spcPct val="90000"/>
              </a:lnSpc>
              <a:spcBef>
                <a:spcPts val="500"/>
              </a:spcBef>
              <a:buFont typeface="Arial" pitchFamily="34" charset="0"/>
              <a:defRPr>
                <a:solidFill>
                  <a:schemeClr val="tx1"/>
                </a:solidFill>
                <a:latin typeface="Calibri Light" pitchFamily="34" charset="0"/>
              </a:defRPr>
            </a:lvl4pPr>
            <a:lvl5pPr>
              <a:lnSpc>
                <a:spcPct val="90000"/>
              </a:lnSpc>
              <a:spcBef>
                <a:spcPts val="500"/>
              </a:spcBef>
              <a:buFont typeface="Arial" pitchFamily="34" charset="0"/>
              <a:defRPr>
                <a:solidFill>
                  <a:schemeClr val="tx1"/>
                </a:solidFill>
                <a:latin typeface="Calibri Light" pitchFamily="34" charset="0"/>
              </a:defRPr>
            </a:lvl5pPr>
            <a:lvl6pPr fontAlgn="base">
              <a:lnSpc>
                <a:spcPct val="90000"/>
              </a:lnSpc>
              <a:spcBef>
                <a:spcPts val="500"/>
              </a:spcBef>
              <a:spcAft>
                <a:spcPct val="0"/>
              </a:spcAft>
              <a:buFont typeface="Arial" pitchFamily="34" charset="0"/>
              <a:defRPr>
                <a:solidFill>
                  <a:schemeClr val="tx1"/>
                </a:solidFill>
                <a:latin typeface="Calibri Light" pitchFamily="34" charset="0"/>
              </a:defRPr>
            </a:lvl6pPr>
            <a:lvl7pPr fontAlgn="base">
              <a:lnSpc>
                <a:spcPct val="90000"/>
              </a:lnSpc>
              <a:spcBef>
                <a:spcPts val="500"/>
              </a:spcBef>
              <a:spcAft>
                <a:spcPct val="0"/>
              </a:spcAft>
              <a:buFont typeface="Arial" pitchFamily="34" charset="0"/>
              <a:defRPr>
                <a:solidFill>
                  <a:schemeClr val="tx1"/>
                </a:solidFill>
                <a:latin typeface="Calibri Light" pitchFamily="34" charset="0"/>
              </a:defRPr>
            </a:lvl7pPr>
            <a:lvl8pPr fontAlgn="base">
              <a:lnSpc>
                <a:spcPct val="90000"/>
              </a:lnSpc>
              <a:spcBef>
                <a:spcPts val="500"/>
              </a:spcBef>
              <a:spcAft>
                <a:spcPct val="0"/>
              </a:spcAft>
              <a:buFont typeface="Arial" pitchFamily="34" charset="0"/>
              <a:defRPr>
                <a:solidFill>
                  <a:schemeClr val="tx1"/>
                </a:solidFill>
                <a:latin typeface="Calibri Light" pitchFamily="34" charset="0"/>
              </a:defRPr>
            </a:lvl8pPr>
            <a:lvl9pPr fontAlgn="base">
              <a:lnSpc>
                <a:spcPct val="90000"/>
              </a:lnSpc>
              <a:spcBef>
                <a:spcPts val="500"/>
              </a:spcBef>
              <a:spcAft>
                <a:spcPct val="0"/>
              </a:spcAft>
              <a:buFont typeface="Arial" pitchFamily="34" charset="0"/>
              <a:defRPr>
                <a:solidFill>
                  <a:schemeClr val="tx1"/>
                </a:solidFill>
                <a:latin typeface="Calibri Light" pitchFamily="34" charset="0"/>
              </a:defRPr>
            </a:lvl9pPr>
          </a:lstStyle>
          <a:p>
            <a:pPr algn="r" fontAlgn="base">
              <a:lnSpc>
                <a:spcPct val="100000"/>
              </a:lnSpc>
              <a:spcAft>
                <a:spcPct val="0"/>
              </a:spcAft>
              <a:defRPr/>
            </a:pPr>
            <a:r>
              <a:rPr lang="es-ES" altLang="es-ES" sz="1000" kern="0" dirty="0">
                <a:solidFill>
                  <a:prstClr val="black"/>
                </a:solidFill>
                <a:latin typeface="Avenir 35" panose="00000400000000000000" pitchFamily="2" charset="0"/>
              </a:rPr>
              <a:t>La transformación que se avecina en el sector debe ir acompañado de la creación, combinación o reformulación de nuevas líneas de negocio.</a:t>
            </a:r>
            <a:endParaRPr lang="en-AU" altLang="es-ES" sz="1000" kern="0" dirty="0">
              <a:solidFill>
                <a:prstClr val="black"/>
              </a:solidFill>
              <a:latin typeface="Avenir 35" panose="00000400000000000000" pitchFamily="2" charset="0"/>
            </a:endParaRPr>
          </a:p>
        </p:txBody>
      </p:sp>
      <p:sp>
        <p:nvSpPr>
          <p:cNvPr id="102" name="Freeform 402"/>
          <p:cNvSpPr>
            <a:spLocks noEditPoints="1"/>
          </p:cNvSpPr>
          <p:nvPr/>
        </p:nvSpPr>
        <p:spPr bwMode="auto">
          <a:xfrm>
            <a:off x="9246908" y="6134620"/>
            <a:ext cx="310889" cy="255538"/>
          </a:xfrm>
          <a:custGeom>
            <a:avLst/>
            <a:gdLst>
              <a:gd name="T0" fmla="*/ 184 w 185"/>
              <a:gd name="T1" fmla="*/ 73 h 152"/>
              <a:gd name="T2" fmla="*/ 159 w 185"/>
              <a:gd name="T3" fmla="*/ 48 h 152"/>
              <a:gd name="T4" fmla="*/ 156 w 185"/>
              <a:gd name="T5" fmla="*/ 47 h 152"/>
              <a:gd name="T6" fmla="*/ 151 w 185"/>
              <a:gd name="T7" fmla="*/ 51 h 152"/>
              <a:gd name="T8" fmla="*/ 153 w 185"/>
              <a:gd name="T9" fmla="*/ 54 h 152"/>
              <a:gd name="T10" fmla="*/ 171 w 185"/>
              <a:gd name="T11" fmla="*/ 72 h 152"/>
              <a:gd name="T12" fmla="*/ 69 w 185"/>
              <a:gd name="T13" fmla="*/ 72 h 152"/>
              <a:gd name="T14" fmla="*/ 126 w 185"/>
              <a:gd name="T15" fmla="*/ 15 h 152"/>
              <a:gd name="T16" fmla="*/ 126 w 185"/>
              <a:gd name="T17" fmla="*/ 38 h 152"/>
              <a:gd name="T18" fmla="*/ 130 w 185"/>
              <a:gd name="T19" fmla="*/ 42 h 152"/>
              <a:gd name="T20" fmla="*/ 135 w 185"/>
              <a:gd name="T21" fmla="*/ 38 h 152"/>
              <a:gd name="T22" fmla="*/ 135 w 185"/>
              <a:gd name="T23" fmla="*/ 4 h 152"/>
              <a:gd name="T24" fmla="*/ 130 w 185"/>
              <a:gd name="T25" fmla="*/ 0 h 152"/>
              <a:gd name="T26" fmla="*/ 97 w 185"/>
              <a:gd name="T27" fmla="*/ 0 h 152"/>
              <a:gd name="T28" fmla="*/ 92 w 185"/>
              <a:gd name="T29" fmla="*/ 4 h 152"/>
              <a:gd name="T30" fmla="*/ 97 w 185"/>
              <a:gd name="T31" fmla="*/ 9 h 152"/>
              <a:gd name="T32" fmla="*/ 120 w 185"/>
              <a:gd name="T33" fmla="*/ 9 h 152"/>
              <a:gd name="T34" fmla="*/ 57 w 185"/>
              <a:gd name="T35" fmla="*/ 72 h 152"/>
              <a:gd name="T36" fmla="*/ 33 w 185"/>
              <a:gd name="T37" fmla="*/ 72 h 152"/>
              <a:gd name="T38" fmla="*/ 16 w 185"/>
              <a:gd name="T39" fmla="*/ 59 h 152"/>
              <a:gd name="T40" fmla="*/ 0 w 185"/>
              <a:gd name="T41" fmla="*/ 76 h 152"/>
              <a:gd name="T42" fmla="*/ 16 w 185"/>
              <a:gd name="T43" fmla="*/ 93 h 152"/>
              <a:gd name="T44" fmla="*/ 33 w 185"/>
              <a:gd name="T45" fmla="*/ 80 h 152"/>
              <a:gd name="T46" fmla="*/ 57 w 185"/>
              <a:gd name="T47" fmla="*/ 80 h 152"/>
              <a:gd name="T48" fmla="*/ 120 w 185"/>
              <a:gd name="T49" fmla="*/ 144 h 152"/>
              <a:gd name="T50" fmla="*/ 97 w 185"/>
              <a:gd name="T51" fmla="*/ 144 h 152"/>
              <a:gd name="T52" fmla="*/ 92 w 185"/>
              <a:gd name="T53" fmla="*/ 148 h 152"/>
              <a:gd name="T54" fmla="*/ 97 w 185"/>
              <a:gd name="T55" fmla="*/ 152 h 152"/>
              <a:gd name="T56" fmla="*/ 130 w 185"/>
              <a:gd name="T57" fmla="*/ 152 h 152"/>
              <a:gd name="T58" fmla="*/ 135 w 185"/>
              <a:gd name="T59" fmla="*/ 148 h 152"/>
              <a:gd name="T60" fmla="*/ 135 w 185"/>
              <a:gd name="T61" fmla="*/ 114 h 152"/>
              <a:gd name="T62" fmla="*/ 130 w 185"/>
              <a:gd name="T63" fmla="*/ 110 h 152"/>
              <a:gd name="T64" fmla="*/ 126 w 185"/>
              <a:gd name="T65" fmla="*/ 114 h 152"/>
              <a:gd name="T66" fmla="*/ 126 w 185"/>
              <a:gd name="T67" fmla="*/ 138 h 152"/>
              <a:gd name="T68" fmla="*/ 69 w 185"/>
              <a:gd name="T69" fmla="*/ 80 h 152"/>
              <a:gd name="T70" fmla="*/ 171 w 185"/>
              <a:gd name="T71" fmla="*/ 80 h 152"/>
              <a:gd name="T72" fmla="*/ 153 w 185"/>
              <a:gd name="T73" fmla="*/ 98 h 152"/>
              <a:gd name="T74" fmla="*/ 151 w 185"/>
              <a:gd name="T75" fmla="*/ 101 h 152"/>
              <a:gd name="T76" fmla="*/ 156 w 185"/>
              <a:gd name="T77" fmla="*/ 106 h 152"/>
              <a:gd name="T78" fmla="*/ 159 w 185"/>
              <a:gd name="T79" fmla="*/ 104 h 152"/>
              <a:gd name="T80" fmla="*/ 184 w 185"/>
              <a:gd name="T81" fmla="*/ 79 h 152"/>
              <a:gd name="T82" fmla="*/ 185 w 185"/>
              <a:gd name="T83" fmla="*/ 76 h 152"/>
              <a:gd name="T84" fmla="*/ 184 w 185"/>
              <a:gd name="T85" fmla="*/ 73 h 152"/>
              <a:gd name="T86" fmla="*/ 16 w 185"/>
              <a:gd name="T87" fmla="*/ 85 h 152"/>
              <a:gd name="T88" fmla="*/ 8 w 185"/>
              <a:gd name="T89" fmla="*/ 76 h 152"/>
              <a:gd name="T90" fmla="*/ 16 w 185"/>
              <a:gd name="T91" fmla="*/ 68 h 152"/>
              <a:gd name="T92" fmla="*/ 25 w 185"/>
              <a:gd name="T93" fmla="*/ 76 h 152"/>
              <a:gd name="T94" fmla="*/ 16 w 185"/>
              <a:gd name="T95" fmla="*/ 85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5" h="152">
                <a:moveTo>
                  <a:pt x="184" y="73"/>
                </a:moveTo>
                <a:cubicBezTo>
                  <a:pt x="159" y="48"/>
                  <a:pt x="159" y="48"/>
                  <a:pt x="159" y="48"/>
                </a:cubicBezTo>
                <a:cubicBezTo>
                  <a:pt x="158" y="47"/>
                  <a:pt x="157" y="47"/>
                  <a:pt x="156" y="47"/>
                </a:cubicBezTo>
                <a:cubicBezTo>
                  <a:pt x="153" y="47"/>
                  <a:pt x="151" y="49"/>
                  <a:pt x="151" y="51"/>
                </a:cubicBezTo>
                <a:cubicBezTo>
                  <a:pt x="151" y="52"/>
                  <a:pt x="152" y="53"/>
                  <a:pt x="153" y="54"/>
                </a:cubicBezTo>
                <a:cubicBezTo>
                  <a:pt x="171" y="72"/>
                  <a:pt x="171" y="72"/>
                  <a:pt x="171" y="72"/>
                </a:cubicBezTo>
                <a:cubicBezTo>
                  <a:pt x="69" y="72"/>
                  <a:pt x="69" y="72"/>
                  <a:pt x="69" y="72"/>
                </a:cubicBezTo>
                <a:cubicBezTo>
                  <a:pt x="126" y="15"/>
                  <a:pt x="126" y="15"/>
                  <a:pt x="126" y="15"/>
                </a:cubicBezTo>
                <a:cubicBezTo>
                  <a:pt x="126" y="38"/>
                  <a:pt x="126" y="38"/>
                  <a:pt x="126" y="38"/>
                </a:cubicBezTo>
                <a:cubicBezTo>
                  <a:pt x="126" y="41"/>
                  <a:pt x="128" y="42"/>
                  <a:pt x="130" y="42"/>
                </a:cubicBezTo>
                <a:cubicBezTo>
                  <a:pt x="133" y="42"/>
                  <a:pt x="135" y="41"/>
                  <a:pt x="135" y="38"/>
                </a:cubicBezTo>
                <a:cubicBezTo>
                  <a:pt x="135" y="4"/>
                  <a:pt x="135" y="4"/>
                  <a:pt x="135" y="4"/>
                </a:cubicBezTo>
                <a:cubicBezTo>
                  <a:pt x="135" y="2"/>
                  <a:pt x="133" y="0"/>
                  <a:pt x="130" y="0"/>
                </a:cubicBezTo>
                <a:cubicBezTo>
                  <a:pt x="97" y="0"/>
                  <a:pt x="97" y="0"/>
                  <a:pt x="97" y="0"/>
                </a:cubicBezTo>
                <a:cubicBezTo>
                  <a:pt x="94" y="0"/>
                  <a:pt x="92" y="2"/>
                  <a:pt x="92" y="4"/>
                </a:cubicBezTo>
                <a:cubicBezTo>
                  <a:pt x="92" y="7"/>
                  <a:pt x="94" y="9"/>
                  <a:pt x="97" y="9"/>
                </a:cubicBezTo>
                <a:cubicBezTo>
                  <a:pt x="120" y="9"/>
                  <a:pt x="120" y="9"/>
                  <a:pt x="120" y="9"/>
                </a:cubicBezTo>
                <a:cubicBezTo>
                  <a:pt x="57" y="72"/>
                  <a:pt x="57" y="72"/>
                  <a:pt x="57" y="72"/>
                </a:cubicBezTo>
                <a:cubicBezTo>
                  <a:pt x="33" y="72"/>
                  <a:pt x="33" y="72"/>
                  <a:pt x="33" y="72"/>
                </a:cubicBezTo>
                <a:cubicBezTo>
                  <a:pt x="31" y="65"/>
                  <a:pt x="24" y="59"/>
                  <a:pt x="16" y="59"/>
                </a:cubicBezTo>
                <a:cubicBezTo>
                  <a:pt x="7" y="59"/>
                  <a:pt x="0" y="67"/>
                  <a:pt x="0" y="76"/>
                </a:cubicBezTo>
                <a:cubicBezTo>
                  <a:pt x="0" y="85"/>
                  <a:pt x="7" y="93"/>
                  <a:pt x="16" y="93"/>
                </a:cubicBezTo>
                <a:cubicBezTo>
                  <a:pt x="24" y="93"/>
                  <a:pt x="31" y="88"/>
                  <a:pt x="33" y="80"/>
                </a:cubicBezTo>
                <a:cubicBezTo>
                  <a:pt x="57" y="80"/>
                  <a:pt x="57" y="80"/>
                  <a:pt x="57" y="80"/>
                </a:cubicBezTo>
                <a:cubicBezTo>
                  <a:pt x="120" y="144"/>
                  <a:pt x="120" y="144"/>
                  <a:pt x="120" y="144"/>
                </a:cubicBezTo>
                <a:cubicBezTo>
                  <a:pt x="97" y="144"/>
                  <a:pt x="97" y="144"/>
                  <a:pt x="97" y="144"/>
                </a:cubicBezTo>
                <a:cubicBezTo>
                  <a:pt x="94" y="144"/>
                  <a:pt x="92" y="146"/>
                  <a:pt x="92" y="148"/>
                </a:cubicBezTo>
                <a:cubicBezTo>
                  <a:pt x="92" y="150"/>
                  <a:pt x="94" y="152"/>
                  <a:pt x="97" y="152"/>
                </a:cubicBezTo>
                <a:cubicBezTo>
                  <a:pt x="130" y="152"/>
                  <a:pt x="130" y="152"/>
                  <a:pt x="130" y="152"/>
                </a:cubicBezTo>
                <a:cubicBezTo>
                  <a:pt x="133" y="152"/>
                  <a:pt x="135" y="150"/>
                  <a:pt x="135" y="148"/>
                </a:cubicBezTo>
                <a:cubicBezTo>
                  <a:pt x="135" y="114"/>
                  <a:pt x="135" y="114"/>
                  <a:pt x="135" y="114"/>
                </a:cubicBezTo>
                <a:cubicBezTo>
                  <a:pt x="135" y="112"/>
                  <a:pt x="133" y="110"/>
                  <a:pt x="130" y="110"/>
                </a:cubicBezTo>
                <a:cubicBezTo>
                  <a:pt x="128" y="110"/>
                  <a:pt x="126" y="112"/>
                  <a:pt x="126" y="114"/>
                </a:cubicBezTo>
                <a:cubicBezTo>
                  <a:pt x="126" y="138"/>
                  <a:pt x="126" y="138"/>
                  <a:pt x="126" y="138"/>
                </a:cubicBezTo>
                <a:cubicBezTo>
                  <a:pt x="69" y="80"/>
                  <a:pt x="69" y="80"/>
                  <a:pt x="69" y="80"/>
                </a:cubicBezTo>
                <a:cubicBezTo>
                  <a:pt x="171" y="80"/>
                  <a:pt x="171" y="80"/>
                  <a:pt x="171" y="80"/>
                </a:cubicBezTo>
                <a:cubicBezTo>
                  <a:pt x="153" y="98"/>
                  <a:pt x="153" y="98"/>
                  <a:pt x="153" y="98"/>
                </a:cubicBezTo>
                <a:cubicBezTo>
                  <a:pt x="152" y="99"/>
                  <a:pt x="151" y="100"/>
                  <a:pt x="151" y="101"/>
                </a:cubicBezTo>
                <a:cubicBezTo>
                  <a:pt x="151" y="104"/>
                  <a:pt x="153" y="106"/>
                  <a:pt x="156" y="106"/>
                </a:cubicBezTo>
                <a:cubicBezTo>
                  <a:pt x="157" y="106"/>
                  <a:pt x="158" y="105"/>
                  <a:pt x="159" y="104"/>
                </a:cubicBezTo>
                <a:cubicBezTo>
                  <a:pt x="184" y="79"/>
                  <a:pt x="184" y="79"/>
                  <a:pt x="184" y="79"/>
                </a:cubicBezTo>
                <a:cubicBezTo>
                  <a:pt x="185" y="78"/>
                  <a:pt x="185" y="77"/>
                  <a:pt x="185" y="76"/>
                </a:cubicBezTo>
                <a:cubicBezTo>
                  <a:pt x="185" y="75"/>
                  <a:pt x="185" y="74"/>
                  <a:pt x="184" y="73"/>
                </a:cubicBezTo>
                <a:close/>
                <a:moveTo>
                  <a:pt x="16" y="85"/>
                </a:moveTo>
                <a:cubicBezTo>
                  <a:pt x="12" y="85"/>
                  <a:pt x="8" y="81"/>
                  <a:pt x="8" y="76"/>
                </a:cubicBezTo>
                <a:cubicBezTo>
                  <a:pt x="8" y="71"/>
                  <a:pt x="12" y="68"/>
                  <a:pt x="16" y="68"/>
                </a:cubicBezTo>
                <a:cubicBezTo>
                  <a:pt x="21" y="68"/>
                  <a:pt x="25" y="71"/>
                  <a:pt x="25" y="76"/>
                </a:cubicBezTo>
                <a:cubicBezTo>
                  <a:pt x="25" y="81"/>
                  <a:pt x="21" y="85"/>
                  <a:pt x="16" y="85"/>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solidFill>
                <a:schemeClr val="bg1">
                  <a:lumMod val="50000"/>
                </a:schemeClr>
              </a:solidFill>
            </a:endParaRPr>
          </a:p>
        </p:txBody>
      </p:sp>
      <p:sp>
        <p:nvSpPr>
          <p:cNvPr id="60" name="Freeform 33"/>
          <p:cNvSpPr>
            <a:spLocks noEditPoints="1"/>
          </p:cNvSpPr>
          <p:nvPr/>
        </p:nvSpPr>
        <p:spPr bwMode="auto">
          <a:xfrm>
            <a:off x="431299" y="3363485"/>
            <a:ext cx="382516" cy="260649"/>
          </a:xfrm>
          <a:custGeom>
            <a:avLst/>
            <a:gdLst>
              <a:gd name="T0" fmla="*/ 169 w 485"/>
              <a:gd name="T1" fmla="*/ 91 h 364"/>
              <a:gd name="T2" fmla="*/ 169 w 485"/>
              <a:gd name="T3" fmla="*/ 81 h 364"/>
              <a:gd name="T4" fmla="*/ 177 w 485"/>
              <a:gd name="T5" fmla="*/ 74 h 364"/>
              <a:gd name="T6" fmla="*/ 123 w 485"/>
              <a:gd name="T7" fmla="*/ 279 h 364"/>
              <a:gd name="T8" fmla="*/ 49 w 485"/>
              <a:gd name="T9" fmla="*/ 232 h 364"/>
              <a:gd name="T10" fmla="*/ 0 w 485"/>
              <a:gd name="T11" fmla="*/ 359 h 364"/>
              <a:gd name="T12" fmla="*/ 190 w 485"/>
              <a:gd name="T13" fmla="*/ 359 h 364"/>
              <a:gd name="T14" fmla="*/ 95 w 485"/>
              <a:gd name="T15" fmla="*/ 181 h 364"/>
              <a:gd name="T16" fmla="*/ 58 w 485"/>
              <a:gd name="T17" fmla="*/ 232 h 364"/>
              <a:gd name="T18" fmla="*/ 56 w 485"/>
              <a:gd name="T19" fmla="*/ 320 h 364"/>
              <a:gd name="T20" fmla="*/ 114 w 485"/>
              <a:gd name="T21" fmla="*/ 286 h 364"/>
              <a:gd name="T22" fmla="*/ 180 w 485"/>
              <a:gd name="T23" fmla="*/ 355 h 364"/>
              <a:gd name="T24" fmla="*/ 246 w 485"/>
              <a:gd name="T25" fmla="*/ 109 h 364"/>
              <a:gd name="T26" fmla="*/ 262 w 485"/>
              <a:gd name="T27" fmla="*/ 92 h 364"/>
              <a:gd name="T28" fmla="*/ 262 w 485"/>
              <a:gd name="T29" fmla="*/ 102 h 364"/>
              <a:gd name="T30" fmla="*/ 316 w 485"/>
              <a:gd name="T31" fmla="*/ 109 h 364"/>
              <a:gd name="T32" fmla="*/ 299 w 485"/>
              <a:gd name="T33" fmla="*/ 126 h 364"/>
              <a:gd name="T34" fmla="*/ 292 w 485"/>
              <a:gd name="T35" fmla="*/ 109 h 364"/>
              <a:gd name="T36" fmla="*/ 299 w 485"/>
              <a:gd name="T37" fmla="*/ 117 h 364"/>
              <a:gd name="T38" fmla="*/ 327 w 485"/>
              <a:gd name="T39" fmla="*/ 215 h 364"/>
              <a:gd name="T40" fmla="*/ 378 w 485"/>
              <a:gd name="T41" fmla="*/ 108 h 364"/>
              <a:gd name="T42" fmla="*/ 203 w 485"/>
              <a:gd name="T43" fmla="*/ 0 h 364"/>
              <a:gd name="T44" fmla="*/ 154 w 485"/>
              <a:gd name="T45" fmla="*/ 183 h 364"/>
              <a:gd name="T46" fmla="*/ 208 w 485"/>
              <a:gd name="T47" fmla="*/ 143 h 364"/>
              <a:gd name="T48" fmla="*/ 321 w 485"/>
              <a:gd name="T49" fmla="*/ 216 h 364"/>
              <a:gd name="T50" fmla="*/ 226 w 485"/>
              <a:gd name="T51" fmla="*/ 130 h 364"/>
              <a:gd name="T52" fmla="*/ 199 w 485"/>
              <a:gd name="T53" fmla="*/ 137 h 364"/>
              <a:gd name="T54" fmla="*/ 180 w 485"/>
              <a:gd name="T55" fmla="*/ 134 h 364"/>
              <a:gd name="T56" fmla="*/ 131 w 485"/>
              <a:gd name="T57" fmla="*/ 71 h 364"/>
              <a:gd name="T58" fmla="*/ 275 w 485"/>
              <a:gd name="T59" fmla="*/ 49 h 364"/>
              <a:gd name="T60" fmla="*/ 314 w 485"/>
              <a:gd name="T61" fmla="*/ 169 h 364"/>
              <a:gd name="T62" fmla="*/ 296 w 485"/>
              <a:gd name="T63" fmla="*/ 173 h 364"/>
              <a:gd name="T64" fmla="*/ 418 w 485"/>
              <a:gd name="T65" fmla="*/ 279 h 364"/>
              <a:gd name="T66" fmla="*/ 343 w 485"/>
              <a:gd name="T67" fmla="*/ 232 h 364"/>
              <a:gd name="T68" fmla="*/ 295 w 485"/>
              <a:gd name="T69" fmla="*/ 359 h 364"/>
              <a:gd name="T70" fmla="*/ 485 w 485"/>
              <a:gd name="T71" fmla="*/ 359 h 364"/>
              <a:gd name="T72" fmla="*/ 390 w 485"/>
              <a:gd name="T73" fmla="*/ 181 h 364"/>
              <a:gd name="T74" fmla="*/ 353 w 485"/>
              <a:gd name="T75" fmla="*/ 232 h 364"/>
              <a:gd name="T76" fmla="*/ 350 w 485"/>
              <a:gd name="T77" fmla="*/ 320 h 364"/>
              <a:gd name="T78" fmla="*/ 409 w 485"/>
              <a:gd name="T79" fmla="*/ 286 h 364"/>
              <a:gd name="T80" fmla="*/ 475 w 485"/>
              <a:gd name="T81" fmla="*/ 355 h 364"/>
              <a:gd name="T82" fmla="*/ 189 w 485"/>
              <a:gd name="T83" fmla="*/ 74 h 364"/>
              <a:gd name="T84" fmla="*/ 206 w 485"/>
              <a:gd name="T85" fmla="*/ 57 h 364"/>
              <a:gd name="T86" fmla="*/ 206 w 485"/>
              <a:gd name="T87" fmla="*/ 66 h 364"/>
              <a:gd name="T88" fmla="*/ 260 w 485"/>
              <a:gd name="T89" fmla="*/ 74 h 364"/>
              <a:gd name="T90" fmla="*/ 243 w 485"/>
              <a:gd name="T91" fmla="*/ 91 h 364"/>
              <a:gd name="T92" fmla="*/ 236 w 485"/>
              <a:gd name="T93" fmla="*/ 74 h 364"/>
              <a:gd name="T94" fmla="*/ 243 w 485"/>
              <a:gd name="T95" fmla="*/ 81 h 364"/>
              <a:gd name="T96" fmla="*/ 336 w 485"/>
              <a:gd name="T97" fmla="*/ 92 h 364"/>
              <a:gd name="T98" fmla="*/ 336 w 485"/>
              <a:gd name="T99" fmla="*/ 102 h 364"/>
              <a:gd name="T100" fmla="*/ 329 w 485"/>
              <a:gd name="T101" fmla="*/ 109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85" h="364">
                <a:moveTo>
                  <a:pt x="169" y="57"/>
                </a:moveTo>
                <a:cubicBezTo>
                  <a:pt x="160" y="57"/>
                  <a:pt x="153" y="65"/>
                  <a:pt x="153" y="74"/>
                </a:cubicBezTo>
                <a:cubicBezTo>
                  <a:pt x="153" y="83"/>
                  <a:pt x="160" y="91"/>
                  <a:pt x="169" y="91"/>
                </a:cubicBezTo>
                <a:cubicBezTo>
                  <a:pt x="179" y="91"/>
                  <a:pt x="186" y="83"/>
                  <a:pt x="186" y="74"/>
                </a:cubicBezTo>
                <a:cubicBezTo>
                  <a:pt x="186" y="65"/>
                  <a:pt x="179" y="57"/>
                  <a:pt x="169" y="57"/>
                </a:cubicBezTo>
                <a:close/>
                <a:moveTo>
                  <a:pt x="169" y="81"/>
                </a:moveTo>
                <a:cubicBezTo>
                  <a:pt x="165" y="81"/>
                  <a:pt x="162" y="78"/>
                  <a:pt x="162" y="74"/>
                </a:cubicBezTo>
                <a:cubicBezTo>
                  <a:pt x="162" y="70"/>
                  <a:pt x="165" y="66"/>
                  <a:pt x="169" y="66"/>
                </a:cubicBezTo>
                <a:cubicBezTo>
                  <a:pt x="173" y="66"/>
                  <a:pt x="177" y="70"/>
                  <a:pt x="177" y="74"/>
                </a:cubicBezTo>
                <a:cubicBezTo>
                  <a:pt x="177" y="78"/>
                  <a:pt x="173" y="81"/>
                  <a:pt x="169" y="81"/>
                </a:cubicBezTo>
                <a:close/>
                <a:moveTo>
                  <a:pt x="138" y="312"/>
                </a:moveTo>
                <a:cubicBezTo>
                  <a:pt x="127" y="309"/>
                  <a:pt x="124" y="290"/>
                  <a:pt x="123" y="279"/>
                </a:cubicBezTo>
                <a:cubicBezTo>
                  <a:pt x="134" y="267"/>
                  <a:pt x="141" y="250"/>
                  <a:pt x="141" y="232"/>
                </a:cubicBezTo>
                <a:cubicBezTo>
                  <a:pt x="141" y="195"/>
                  <a:pt x="123" y="171"/>
                  <a:pt x="95" y="171"/>
                </a:cubicBezTo>
                <a:cubicBezTo>
                  <a:pt x="66" y="171"/>
                  <a:pt x="49" y="195"/>
                  <a:pt x="49" y="232"/>
                </a:cubicBezTo>
                <a:cubicBezTo>
                  <a:pt x="49" y="251"/>
                  <a:pt x="56" y="268"/>
                  <a:pt x="67" y="279"/>
                </a:cubicBezTo>
                <a:cubicBezTo>
                  <a:pt x="67" y="293"/>
                  <a:pt x="62" y="308"/>
                  <a:pt x="53" y="311"/>
                </a:cubicBezTo>
                <a:cubicBezTo>
                  <a:pt x="9" y="320"/>
                  <a:pt x="0" y="342"/>
                  <a:pt x="0" y="359"/>
                </a:cubicBezTo>
                <a:cubicBezTo>
                  <a:pt x="0" y="362"/>
                  <a:pt x="2" y="364"/>
                  <a:pt x="4" y="364"/>
                </a:cubicBezTo>
                <a:cubicBezTo>
                  <a:pt x="185" y="364"/>
                  <a:pt x="185" y="364"/>
                  <a:pt x="185" y="364"/>
                </a:cubicBezTo>
                <a:cubicBezTo>
                  <a:pt x="188" y="364"/>
                  <a:pt x="190" y="362"/>
                  <a:pt x="190" y="359"/>
                </a:cubicBezTo>
                <a:cubicBezTo>
                  <a:pt x="190" y="343"/>
                  <a:pt x="181" y="321"/>
                  <a:pt x="138" y="312"/>
                </a:cubicBezTo>
                <a:close/>
                <a:moveTo>
                  <a:pt x="58" y="232"/>
                </a:moveTo>
                <a:cubicBezTo>
                  <a:pt x="58" y="185"/>
                  <a:pt x="86" y="181"/>
                  <a:pt x="95" y="181"/>
                </a:cubicBezTo>
                <a:cubicBezTo>
                  <a:pt x="104" y="181"/>
                  <a:pt x="132" y="185"/>
                  <a:pt x="132" y="232"/>
                </a:cubicBezTo>
                <a:cubicBezTo>
                  <a:pt x="132" y="261"/>
                  <a:pt x="112" y="283"/>
                  <a:pt x="95" y="283"/>
                </a:cubicBezTo>
                <a:cubicBezTo>
                  <a:pt x="77" y="283"/>
                  <a:pt x="58" y="261"/>
                  <a:pt x="58" y="232"/>
                </a:cubicBezTo>
                <a:close/>
                <a:moveTo>
                  <a:pt x="9" y="355"/>
                </a:moveTo>
                <a:cubicBezTo>
                  <a:pt x="12" y="338"/>
                  <a:pt x="27" y="326"/>
                  <a:pt x="55" y="320"/>
                </a:cubicBezTo>
                <a:cubicBezTo>
                  <a:pt x="55" y="320"/>
                  <a:pt x="55" y="320"/>
                  <a:pt x="56" y="320"/>
                </a:cubicBezTo>
                <a:cubicBezTo>
                  <a:pt x="68" y="316"/>
                  <a:pt x="74" y="301"/>
                  <a:pt x="76" y="286"/>
                </a:cubicBezTo>
                <a:cubicBezTo>
                  <a:pt x="82" y="290"/>
                  <a:pt x="88" y="292"/>
                  <a:pt x="95" y="292"/>
                </a:cubicBezTo>
                <a:cubicBezTo>
                  <a:pt x="102" y="292"/>
                  <a:pt x="108" y="290"/>
                  <a:pt x="114" y="286"/>
                </a:cubicBezTo>
                <a:cubicBezTo>
                  <a:pt x="116" y="302"/>
                  <a:pt x="122" y="317"/>
                  <a:pt x="136" y="321"/>
                </a:cubicBezTo>
                <a:cubicBezTo>
                  <a:pt x="136" y="321"/>
                  <a:pt x="136" y="321"/>
                  <a:pt x="136" y="321"/>
                </a:cubicBezTo>
                <a:cubicBezTo>
                  <a:pt x="163" y="326"/>
                  <a:pt x="178" y="338"/>
                  <a:pt x="180" y="355"/>
                </a:cubicBezTo>
                <a:lnTo>
                  <a:pt x="9" y="355"/>
                </a:lnTo>
                <a:close/>
                <a:moveTo>
                  <a:pt x="262" y="92"/>
                </a:moveTo>
                <a:cubicBezTo>
                  <a:pt x="253" y="92"/>
                  <a:pt x="246" y="100"/>
                  <a:pt x="246" y="109"/>
                </a:cubicBezTo>
                <a:cubicBezTo>
                  <a:pt x="246" y="118"/>
                  <a:pt x="253" y="126"/>
                  <a:pt x="262" y="126"/>
                </a:cubicBezTo>
                <a:cubicBezTo>
                  <a:pt x="272" y="126"/>
                  <a:pt x="279" y="118"/>
                  <a:pt x="279" y="109"/>
                </a:cubicBezTo>
                <a:cubicBezTo>
                  <a:pt x="279" y="100"/>
                  <a:pt x="272" y="92"/>
                  <a:pt x="262" y="92"/>
                </a:cubicBezTo>
                <a:close/>
                <a:moveTo>
                  <a:pt x="262" y="117"/>
                </a:moveTo>
                <a:cubicBezTo>
                  <a:pt x="258" y="117"/>
                  <a:pt x="255" y="113"/>
                  <a:pt x="255" y="109"/>
                </a:cubicBezTo>
                <a:cubicBezTo>
                  <a:pt x="255" y="105"/>
                  <a:pt x="258" y="102"/>
                  <a:pt x="262" y="102"/>
                </a:cubicBezTo>
                <a:cubicBezTo>
                  <a:pt x="267" y="102"/>
                  <a:pt x="270" y="105"/>
                  <a:pt x="270" y="109"/>
                </a:cubicBezTo>
                <a:cubicBezTo>
                  <a:pt x="270" y="113"/>
                  <a:pt x="267" y="117"/>
                  <a:pt x="262" y="117"/>
                </a:cubicBezTo>
                <a:close/>
                <a:moveTo>
                  <a:pt x="316" y="109"/>
                </a:moveTo>
                <a:cubicBezTo>
                  <a:pt x="316" y="100"/>
                  <a:pt x="308" y="92"/>
                  <a:pt x="299" y="92"/>
                </a:cubicBezTo>
                <a:cubicBezTo>
                  <a:pt x="290" y="92"/>
                  <a:pt x="282" y="100"/>
                  <a:pt x="282" y="109"/>
                </a:cubicBezTo>
                <a:cubicBezTo>
                  <a:pt x="282" y="118"/>
                  <a:pt x="290" y="126"/>
                  <a:pt x="299" y="126"/>
                </a:cubicBezTo>
                <a:cubicBezTo>
                  <a:pt x="308" y="126"/>
                  <a:pt x="316" y="118"/>
                  <a:pt x="316" y="109"/>
                </a:cubicBezTo>
                <a:close/>
                <a:moveTo>
                  <a:pt x="299" y="117"/>
                </a:moveTo>
                <a:cubicBezTo>
                  <a:pt x="295" y="117"/>
                  <a:pt x="292" y="113"/>
                  <a:pt x="292" y="109"/>
                </a:cubicBezTo>
                <a:cubicBezTo>
                  <a:pt x="292" y="105"/>
                  <a:pt x="295" y="102"/>
                  <a:pt x="299" y="102"/>
                </a:cubicBezTo>
                <a:cubicBezTo>
                  <a:pt x="303" y="102"/>
                  <a:pt x="307" y="105"/>
                  <a:pt x="307" y="109"/>
                </a:cubicBezTo>
                <a:cubicBezTo>
                  <a:pt x="307" y="113"/>
                  <a:pt x="303" y="117"/>
                  <a:pt x="299" y="117"/>
                </a:cubicBezTo>
                <a:close/>
                <a:moveTo>
                  <a:pt x="321" y="216"/>
                </a:moveTo>
                <a:cubicBezTo>
                  <a:pt x="322" y="216"/>
                  <a:pt x="323" y="216"/>
                  <a:pt x="324" y="216"/>
                </a:cubicBezTo>
                <a:cubicBezTo>
                  <a:pt x="325" y="216"/>
                  <a:pt x="326" y="216"/>
                  <a:pt x="327" y="215"/>
                </a:cubicBezTo>
                <a:cubicBezTo>
                  <a:pt x="328" y="214"/>
                  <a:pt x="329" y="212"/>
                  <a:pt x="328" y="210"/>
                </a:cubicBezTo>
                <a:cubicBezTo>
                  <a:pt x="328" y="210"/>
                  <a:pt x="321" y="195"/>
                  <a:pt x="320" y="177"/>
                </a:cubicBezTo>
                <a:cubicBezTo>
                  <a:pt x="354" y="168"/>
                  <a:pt x="378" y="140"/>
                  <a:pt x="378" y="108"/>
                </a:cubicBezTo>
                <a:cubicBezTo>
                  <a:pt x="378" y="69"/>
                  <a:pt x="341" y="37"/>
                  <a:pt x="296" y="37"/>
                </a:cubicBezTo>
                <a:cubicBezTo>
                  <a:pt x="289" y="37"/>
                  <a:pt x="283" y="37"/>
                  <a:pt x="276" y="39"/>
                </a:cubicBezTo>
                <a:cubicBezTo>
                  <a:pt x="262" y="15"/>
                  <a:pt x="234" y="0"/>
                  <a:pt x="203" y="0"/>
                </a:cubicBezTo>
                <a:cubicBezTo>
                  <a:pt x="158" y="0"/>
                  <a:pt x="122" y="32"/>
                  <a:pt x="122" y="71"/>
                </a:cubicBezTo>
                <a:cubicBezTo>
                  <a:pt x="122" y="100"/>
                  <a:pt x="141" y="125"/>
                  <a:pt x="171" y="137"/>
                </a:cubicBezTo>
                <a:cubicBezTo>
                  <a:pt x="169" y="163"/>
                  <a:pt x="154" y="183"/>
                  <a:pt x="154" y="183"/>
                </a:cubicBezTo>
                <a:cubicBezTo>
                  <a:pt x="152" y="185"/>
                  <a:pt x="152" y="188"/>
                  <a:pt x="154" y="189"/>
                </a:cubicBezTo>
                <a:cubicBezTo>
                  <a:pt x="155" y="191"/>
                  <a:pt x="157" y="191"/>
                  <a:pt x="159" y="191"/>
                </a:cubicBezTo>
                <a:cubicBezTo>
                  <a:pt x="184" y="179"/>
                  <a:pt x="200" y="164"/>
                  <a:pt x="208" y="143"/>
                </a:cubicBezTo>
                <a:cubicBezTo>
                  <a:pt x="213" y="142"/>
                  <a:pt x="218" y="142"/>
                  <a:pt x="224" y="141"/>
                </a:cubicBezTo>
                <a:cubicBezTo>
                  <a:pt x="236" y="163"/>
                  <a:pt x="261" y="177"/>
                  <a:pt x="289" y="179"/>
                </a:cubicBezTo>
                <a:cubicBezTo>
                  <a:pt x="295" y="193"/>
                  <a:pt x="306" y="205"/>
                  <a:pt x="321" y="216"/>
                </a:cubicBezTo>
                <a:close/>
                <a:moveTo>
                  <a:pt x="292" y="170"/>
                </a:moveTo>
                <a:cubicBezTo>
                  <a:pt x="265" y="169"/>
                  <a:pt x="241" y="155"/>
                  <a:pt x="230" y="133"/>
                </a:cubicBezTo>
                <a:cubicBezTo>
                  <a:pt x="229" y="131"/>
                  <a:pt x="228" y="130"/>
                  <a:pt x="226" y="130"/>
                </a:cubicBezTo>
                <a:cubicBezTo>
                  <a:pt x="226" y="130"/>
                  <a:pt x="225" y="130"/>
                  <a:pt x="225" y="131"/>
                </a:cubicBezTo>
                <a:cubicBezTo>
                  <a:pt x="218" y="132"/>
                  <a:pt x="211" y="133"/>
                  <a:pt x="204" y="133"/>
                </a:cubicBezTo>
                <a:cubicBezTo>
                  <a:pt x="202" y="133"/>
                  <a:pt x="200" y="135"/>
                  <a:pt x="199" y="137"/>
                </a:cubicBezTo>
                <a:cubicBezTo>
                  <a:pt x="199" y="138"/>
                  <a:pt x="199" y="138"/>
                  <a:pt x="199" y="139"/>
                </a:cubicBezTo>
                <a:cubicBezTo>
                  <a:pt x="194" y="154"/>
                  <a:pt x="185" y="165"/>
                  <a:pt x="170" y="175"/>
                </a:cubicBezTo>
                <a:cubicBezTo>
                  <a:pt x="175" y="165"/>
                  <a:pt x="180" y="150"/>
                  <a:pt x="180" y="134"/>
                </a:cubicBezTo>
                <a:cubicBezTo>
                  <a:pt x="180" y="134"/>
                  <a:pt x="180" y="134"/>
                  <a:pt x="180" y="134"/>
                </a:cubicBezTo>
                <a:cubicBezTo>
                  <a:pt x="180" y="132"/>
                  <a:pt x="179" y="130"/>
                  <a:pt x="177" y="129"/>
                </a:cubicBezTo>
                <a:cubicBezTo>
                  <a:pt x="149" y="120"/>
                  <a:pt x="131" y="97"/>
                  <a:pt x="131" y="71"/>
                </a:cubicBezTo>
                <a:cubicBezTo>
                  <a:pt x="131" y="37"/>
                  <a:pt x="164" y="9"/>
                  <a:pt x="203" y="9"/>
                </a:cubicBezTo>
                <a:cubicBezTo>
                  <a:pt x="232" y="9"/>
                  <a:pt x="258" y="24"/>
                  <a:pt x="269" y="47"/>
                </a:cubicBezTo>
                <a:cubicBezTo>
                  <a:pt x="270" y="48"/>
                  <a:pt x="273" y="49"/>
                  <a:pt x="275" y="49"/>
                </a:cubicBezTo>
                <a:cubicBezTo>
                  <a:pt x="282" y="47"/>
                  <a:pt x="289" y="46"/>
                  <a:pt x="296" y="46"/>
                </a:cubicBezTo>
                <a:cubicBezTo>
                  <a:pt x="336" y="46"/>
                  <a:pt x="368" y="74"/>
                  <a:pt x="368" y="108"/>
                </a:cubicBezTo>
                <a:cubicBezTo>
                  <a:pt x="368" y="137"/>
                  <a:pt x="346" y="162"/>
                  <a:pt x="314" y="169"/>
                </a:cubicBezTo>
                <a:cubicBezTo>
                  <a:pt x="312" y="169"/>
                  <a:pt x="310" y="171"/>
                  <a:pt x="310" y="173"/>
                </a:cubicBezTo>
                <a:cubicBezTo>
                  <a:pt x="311" y="183"/>
                  <a:pt x="312" y="191"/>
                  <a:pt x="314" y="198"/>
                </a:cubicBezTo>
                <a:cubicBezTo>
                  <a:pt x="306" y="190"/>
                  <a:pt x="300" y="182"/>
                  <a:pt x="296" y="173"/>
                </a:cubicBezTo>
                <a:cubicBezTo>
                  <a:pt x="296" y="171"/>
                  <a:pt x="294" y="170"/>
                  <a:pt x="292" y="170"/>
                </a:cubicBezTo>
                <a:close/>
                <a:moveTo>
                  <a:pt x="433" y="312"/>
                </a:moveTo>
                <a:cubicBezTo>
                  <a:pt x="422" y="309"/>
                  <a:pt x="418" y="290"/>
                  <a:pt x="418" y="279"/>
                </a:cubicBezTo>
                <a:cubicBezTo>
                  <a:pt x="429" y="267"/>
                  <a:pt x="436" y="250"/>
                  <a:pt x="436" y="232"/>
                </a:cubicBezTo>
                <a:cubicBezTo>
                  <a:pt x="436" y="195"/>
                  <a:pt x="418" y="171"/>
                  <a:pt x="390" y="171"/>
                </a:cubicBezTo>
                <a:cubicBezTo>
                  <a:pt x="361" y="171"/>
                  <a:pt x="343" y="195"/>
                  <a:pt x="343" y="232"/>
                </a:cubicBezTo>
                <a:cubicBezTo>
                  <a:pt x="343" y="251"/>
                  <a:pt x="351" y="268"/>
                  <a:pt x="362" y="279"/>
                </a:cubicBezTo>
                <a:cubicBezTo>
                  <a:pt x="362" y="293"/>
                  <a:pt x="357" y="308"/>
                  <a:pt x="348" y="311"/>
                </a:cubicBezTo>
                <a:cubicBezTo>
                  <a:pt x="304" y="320"/>
                  <a:pt x="295" y="342"/>
                  <a:pt x="295" y="359"/>
                </a:cubicBezTo>
                <a:cubicBezTo>
                  <a:pt x="295" y="362"/>
                  <a:pt x="297" y="364"/>
                  <a:pt x="299" y="364"/>
                </a:cubicBezTo>
                <a:cubicBezTo>
                  <a:pt x="480" y="364"/>
                  <a:pt x="480" y="364"/>
                  <a:pt x="480" y="364"/>
                </a:cubicBezTo>
                <a:cubicBezTo>
                  <a:pt x="483" y="364"/>
                  <a:pt x="485" y="362"/>
                  <a:pt x="485" y="359"/>
                </a:cubicBezTo>
                <a:cubicBezTo>
                  <a:pt x="485" y="343"/>
                  <a:pt x="476" y="321"/>
                  <a:pt x="433" y="312"/>
                </a:cubicBezTo>
                <a:close/>
                <a:moveTo>
                  <a:pt x="353" y="232"/>
                </a:moveTo>
                <a:cubicBezTo>
                  <a:pt x="353" y="185"/>
                  <a:pt x="381" y="181"/>
                  <a:pt x="390" y="181"/>
                </a:cubicBezTo>
                <a:cubicBezTo>
                  <a:pt x="398" y="181"/>
                  <a:pt x="427" y="185"/>
                  <a:pt x="427" y="232"/>
                </a:cubicBezTo>
                <a:cubicBezTo>
                  <a:pt x="427" y="261"/>
                  <a:pt x="407" y="283"/>
                  <a:pt x="390" y="283"/>
                </a:cubicBezTo>
                <a:cubicBezTo>
                  <a:pt x="372" y="283"/>
                  <a:pt x="353" y="261"/>
                  <a:pt x="353" y="232"/>
                </a:cubicBezTo>
                <a:close/>
                <a:moveTo>
                  <a:pt x="304" y="355"/>
                </a:moveTo>
                <a:cubicBezTo>
                  <a:pt x="307" y="338"/>
                  <a:pt x="322" y="326"/>
                  <a:pt x="350" y="320"/>
                </a:cubicBezTo>
                <a:cubicBezTo>
                  <a:pt x="350" y="320"/>
                  <a:pt x="350" y="320"/>
                  <a:pt x="350" y="320"/>
                </a:cubicBezTo>
                <a:cubicBezTo>
                  <a:pt x="363" y="316"/>
                  <a:pt x="369" y="301"/>
                  <a:pt x="371" y="286"/>
                </a:cubicBezTo>
                <a:cubicBezTo>
                  <a:pt x="377" y="290"/>
                  <a:pt x="383" y="292"/>
                  <a:pt x="390" y="292"/>
                </a:cubicBezTo>
                <a:cubicBezTo>
                  <a:pt x="397" y="292"/>
                  <a:pt x="403" y="290"/>
                  <a:pt x="409" y="286"/>
                </a:cubicBezTo>
                <a:cubicBezTo>
                  <a:pt x="411" y="302"/>
                  <a:pt x="417" y="317"/>
                  <a:pt x="431" y="321"/>
                </a:cubicBezTo>
                <a:cubicBezTo>
                  <a:pt x="431" y="321"/>
                  <a:pt x="431" y="321"/>
                  <a:pt x="431" y="321"/>
                </a:cubicBezTo>
                <a:cubicBezTo>
                  <a:pt x="458" y="326"/>
                  <a:pt x="473" y="338"/>
                  <a:pt x="475" y="355"/>
                </a:cubicBezTo>
                <a:lnTo>
                  <a:pt x="304" y="355"/>
                </a:lnTo>
                <a:close/>
                <a:moveTo>
                  <a:pt x="206" y="57"/>
                </a:moveTo>
                <a:cubicBezTo>
                  <a:pt x="197" y="57"/>
                  <a:pt x="189" y="65"/>
                  <a:pt x="189" y="74"/>
                </a:cubicBezTo>
                <a:cubicBezTo>
                  <a:pt x="189" y="83"/>
                  <a:pt x="197" y="91"/>
                  <a:pt x="206" y="91"/>
                </a:cubicBezTo>
                <a:cubicBezTo>
                  <a:pt x="215" y="91"/>
                  <a:pt x="223" y="83"/>
                  <a:pt x="223" y="74"/>
                </a:cubicBezTo>
                <a:cubicBezTo>
                  <a:pt x="223" y="65"/>
                  <a:pt x="215" y="57"/>
                  <a:pt x="206" y="57"/>
                </a:cubicBezTo>
                <a:close/>
                <a:moveTo>
                  <a:pt x="206" y="81"/>
                </a:moveTo>
                <a:cubicBezTo>
                  <a:pt x="202" y="81"/>
                  <a:pt x="199" y="78"/>
                  <a:pt x="199" y="74"/>
                </a:cubicBezTo>
                <a:cubicBezTo>
                  <a:pt x="199" y="70"/>
                  <a:pt x="202" y="66"/>
                  <a:pt x="206" y="66"/>
                </a:cubicBezTo>
                <a:cubicBezTo>
                  <a:pt x="210" y="66"/>
                  <a:pt x="214" y="70"/>
                  <a:pt x="214" y="74"/>
                </a:cubicBezTo>
                <a:cubicBezTo>
                  <a:pt x="214" y="78"/>
                  <a:pt x="210" y="81"/>
                  <a:pt x="206" y="81"/>
                </a:cubicBezTo>
                <a:close/>
                <a:moveTo>
                  <a:pt x="260" y="74"/>
                </a:moveTo>
                <a:cubicBezTo>
                  <a:pt x="260" y="65"/>
                  <a:pt x="252" y="57"/>
                  <a:pt x="243" y="57"/>
                </a:cubicBezTo>
                <a:cubicBezTo>
                  <a:pt x="234" y="57"/>
                  <a:pt x="226" y="65"/>
                  <a:pt x="226" y="74"/>
                </a:cubicBezTo>
                <a:cubicBezTo>
                  <a:pt x="226" y="83"/>
                  <a:pt x="234" y="91"/>
                  <a:pt x="243" y="91"/>
                </a:cubicBezTo>
                <a:cubicBezTo>
                  <a:pt x="252" y="91"/>
                  <a:pt x="260" y="83"/>
                  <a:pt x="260" y="74"/>
                </a:cubicBezTo>
                <a:close/>
                <a:moveTo>
                  <a:pt x="243" y="81"/>
                </a:moveTo>
                <a:cubicBezTo>
                  <a:pt x="239" y="81"/>
                  <a:pt x="236" y="78"/>
                  <a:pt x="236" y="74"/>
                </a:cubicBezTo>
                <a:cubicBezTo>
                  <a:pt x="236" y="70"/>
                  <a:pt x="239" y="66"/>
                  <a:pt x="243" y="66"/>
                </a:cubicBezTo>
                <a:cubicBezTo>
                  <a:pt x="247" y="66"/>
                  <a:pt x="250" y="70"/>
                  <a:pt x="250" y="74"/>
                </a:cubicBezTo>
                <a:cubicBezTo>
                  <a:pt x="250" y="78"/>
                  <a:pt x="247" y="81"/>
                  <a:pt x="243" y="81"/>
                </a:cubicBezTo>
                <a:close/>
                <a:moveTo>
                  <a:pt x="336" y="126"/>
                </a:moveTo>
                <a:cubicBezTo>
                  <a:pt x="345" y="126"/>
                  <a:pt x="353" y="118"/>
                  <a:pt x="353" y="109"/>
                </a:cubicBezTo>
                <a:cubicBezTo>
                  <a:pt x="353" y="100"/>
                  <a:pt x="345" y="92"/>
                  <a:pt x="336" y="92"/>
                </a:cubicBezTo>
                <a:cubicBezTo>
                  <a:pt x="327" y="92"/>
                  <a:pt x="319" y="100"/>
                  <a:pt x="319" y="109"/>
                </a:cubicBezTo>
                <a:cubicBezTo>
                  <a:pt x="319" y="118"/>
                  <a:pt x="327" y="126"/>
                  <a:pt x="336" y="126"/>
                </a:cubicBezTo>
                <a:close/>
                <a:moveTo>
                  <a:pt x="336" y="102"/>
                </a:moveTo>
                <a:cubicBezTo>
                  <a:pt x="340" y="102"/>
                  <a:pt x="343" y="105"/>
                  <a:pt x="343" y="109"/>
                </a:cubicBezTo>
                <a:cubicBezTo>
                  <a:pt x="343" y="113"/>
                  <a:pt x="340" y="117"/>
                  <a:pt x="336" y="117"/>
                </a:cubicBezTo>
                <a:cubicBezTo>
                  <a:pt x="332" y="117"/>
                  <a:pt x="329" y="113"/>
                  <a:pt x="329" y="109"/>
                </a:cubicBezTo>
                <a:cubicBezTo>
                  <a:pt x="329" y="105"/>
                  <a:pt x="332" y="102"/>
                  <a:pt x="336" y="10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65" name="Freeform 116"/>
          <p:cNvSpPr>
            <a:spLocks noEditPoints="1"/>
          </p:cNvSpPr>
          <p:nvPr/>
        </p:nvSpPr>
        <p:spPr bwMode="auto">
          <a:xfrm>
            <a:off x="9225193" y="1835795"/>
            <a:ext cx="278294" cy="283823"/>
          </a:xfrm>
          <a:custGeom>
            <a:avLst/>
            <a:gdLst>
              <a:gd name="T0" fmla="*/ 430 w 525"/>
              <a:gd name="T1" fmla="*/ 53 h 591"/>
              <a:gd name="T2" fmla="*/ 402 w 525"/>
              <a:gd name="T3" fmla="*/ 0 h 591"/>
              <a:gd name="T4" fmla="*/ 373 w 525"/>
              <a:gd name="T5" fmla="*/ 53 h 591"/>
              <a:gd name="T6" fmla="*/ 151 w 525"/>
              <a:gd name="T7" fmla="*/ 29 h 591"/>
              <a:gd name="T8" fmla="*/ 93 w 525"/>
              <a:gd name="T9" fmla="*/ 29 h 591"/>
              <a:gd name="T10" fmla="*/ 7 w 525"/>
              <a:gd name="T11" fmla="*/ 53 h 591"/>
              <a:gd name="T12" fmla="*/ 0 w 525"/>
              <a:gd name="T13" fmla="*/ 584 h 591"/>
              <a:gd name="T14" fmla="*/ 518 w 525"/>
              <a:gd name="T15" fmla="*/ 591 h 591"/>
              <a:gd name="T16" fmla="*/ 525 w 525"/>
              <a:gd name="T17" fmla="*/ 60 h 591"/>
              <a:gd name="T18" fmla="*/ 387 w 525"/>
              <a:gd name="T19" fmla="*/ 29 h 591"/>
              <a:gd name="T20" fmla="*/ 416 w 525"/>
              <a:gd name="T21" fmla="*/ 29 h 591"/>
              <a:gd name="T22" fmla="*/ 402 w 525"/>
              <a:gd name="T23" fmla="*/ 107 h 591"/>
              <a:gd name="T24" fmla="*/ 387 w 525"/>
              <a:gd name="T25" fmla="*/ 29 h 591"/>
              <a:gd name="T26" fmla="*/ 122 w 525"/>
              <a:gd name="T27" fmla="*/ 14 h 591"/>
              <a:gd name="T28" fmla="*/ 137 w 525"/>
              <a:gd name="T29" fmla="*/ 92 h 591"/>
              <a:gd name="T30" fmla="*/ 107 w 525"/>
              <a:gd name="T31" fmla="*/ 92 h 591"/>
              <a:gd name="T32" fmla="*/ 511 w 525"/>
              <a:gd name="T33" fmla="*/ 577 h 591"/>
              <a:gd name="T34" fmla="*/ 14 w 525"/>
              <a:gd name="T35" fmla="*/ 177 h 591"/>
              <a:gd name="T36" fmla="*/ 511 w 525"/>
              <a:gd name="T37" fmla="*/ 577 h 591"/>
              <a:gd name="T38" fmla="*/ 14 w 525"/>
              <a:gd name="T39" fmla="*/ 163 h 591"/>
              <a:gd name="T40" fmla="*/ 93 w 525"/>
              <a:gd name="T41" fmla="*/ 67 h 591"/>
              <a:gd name="T42" fmla="*/ 122 w 525"/>
              <a:gd name="T43" fmla="*/ 121 h 591"/>
              <a:gd name="T44" fmla="*/ 151 w 525"/>
              <a:gd name="T45" fmla="*/ 67 h 591"/>
              <a:gd name="T46" fmla="*/ 373 w 525"/>
              <a:gd name="T47" fmla="*/ 92 h 591"/>
              <a:gd name="T48" fmla="*/ 430 w 525"/>
              <a:gd name="T49" fmla="*/ 92 h 591"/>
              <a:gd name="T50" fmla="*/ 511 w 525"/>
              <a:gd name="T51" fmla="*/ 67 h 591"/>
              <a:gd name="T52" fmla="*/ 62 w 525"/>
              <a:gd name="T53" fmla="*/ 521 h 591"/>
              <a:gd name="T54" fmla="*/ 469 w 525"/>
              <a:gd name="T55" fmla="*/ 514 h 591"/>
              <a:gd name="T56" fmla="*/ 462 w 525"/>
              <a:gd name="T57" fmla="*/ 234 h 591"/>
              <a:gd name="T58" fmla="*/ 55 w 525"/>
              <a:gd name="T59" fmla="*/ 241 h 591"/>
              <a:gd name="T60" fmla="*/ 62 w 525"/>
              <a:gd name="T61" fmla="*/ 521 h 591"/>
              <a:gd name="T62" fmla="*/ 455 w 525"/>
              <a:gd name="T63" fmla="*/ 248 h 591"/>
              <a:gd name="T64" fmla="*/ 366 w 525"/>
              <a:gd name="T65" fmla="*/ 325 h 591"/>
              <a:gd name="T66" fmla="*/ 366 w 525"/>
              <a:gd name="T67" fmla="*/ 339 h 591"/>
              <a:gd name="T68" fmla="*/ 455 w 525"/>
              <a:gd name="T69" fmla="*/ 414 h 591"/>
              <a:gd name="T70" fmla="*/ 366 w 525"/>
              <a:gd name="T71" fmla="*/ 339 h 591"/>
              <a:gd name="T72" fmla="*/ 455 w 525"/>
              <a:gd name="T73" fmla="*/ 428 h 591"/>
              <a:gd name="T74" fmla="*/ 366 w 525"/>
              <a:gd name="T75" fmla="*/ 507 h 591"/>
              <a:gd name="T76" fmla="*/ 266 w 525"/>
              <a:gd name="T77" fmla="*/ 248 h 591"/>
              <a:gd name="T78" fmla="*/ 352 w 525"/>
              <a:gd name="T79" fmla="*/ 325 h 591"/>
              <a:gd name="T80" fmla="*/ 266 w 525"/>
              <a:gd name="T81" fmla="*/ 248 h 591"/>
              <a:gd name="T82" fmla="*/ 352 w 525"/>
              <a:gd name="T83" fmla="*/ 339 h 591"/>
              <a:gd name="T84" fmla="*/ 266 w 525"/>
              <a:gd name="T85" fmla="*/ 414 h 591"/>
              <a:gd name="T86" fmla="*/ 266 w 525"/>
              <a:gd name="T87" fmla="*/ 428 h 591"/>
              <a:gd name="T88" fmla="*/ 352 w 525"/>
              <a:gd name="T89" fmla="*/ 507 h 591"/>
              <a:gd name="T90" fmla="*/ 266 w 525"/>
              <a:gd name="T91" fmla="*/ 428 h 591"/>
              <a:gd name="T92" fmla="*/ 252 w 525"/>
              <a:gd name="T93" fmla="*/ 248 h 591"/>
              <a:gd name="T94" fmla="*/ 165 w 525"/>
              <a:gd name="T95" fmla="*/ 325 h 591"/>
              <a:gd name="T96" fmla="*/ 165 w 525"/>
              <a:gd name="T97" fmla="*/ 339 h 591"/>
              <a:gd name="T98" fmla="*/ 252 w 525"/>
              <a:gd name="T99" fmla="*/ 414 h 591"/>
              <a:gd name="T100" fmla="*/ 165 w 525"/>
              <a:gd name="T101" fmla="*/ 339 h 591"/>
              <a:gd name="T102" fmla="*/ 252 w 525"/>
              <a:gd name="T103" fmla="*/ 428 h 591"/>
              <a:gd name="T104" fmla="*/ 165 w 525"/>
              <a:gd name="T105" fmla="*/ 507 h 591"/>
              <a:gd name="T106" fmla="*/ 69 w 525"/>
              <a:gd name="T107" fmla="*/ 248 h 591"/>
              <a:gd name="T108" fmla="*/ 151 w 525"/>
              <a:gd name="T109" fmla="*/ 325 h 591"/>
              <a:gd name="T110" fmla="*/ 69 w 525"/>
              <a:gd name="T111" fmla="*/ 248 h 591"/>
              <a:gd name="T112" fmla="*/ 151 w 525"/>
              <a:gd name="T113" fmla="*/ 339 h 591"/>
              <a:gd name="T114" fmla="*/ 69 w 525"/>
              <a:gd name="T115" fmla="*/ 414 h 591"/>
              <a:gd name="T116" fmla="*/ 69 w 525"/>
              <a:gd name="T117" fmla="*/ 428 h 591"/>
              <a:gd name="T118" fmla="*/ 151 w 525"/>
              <a:gd name="T119" fmla="*/ 507 h 591"/>
              <a:gd name="T120" fmla="*/ 69 w 525"/>
              <a:gd name="T121" fmla="*/ 428 h 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25" h="591">
                <a:moveTo>
                  <a:pt x="518" y="53"/>
                </a:moveTo>
                <a:cubicBezTo>
                  <a:pt x="430" y="53"/>
                  <a:pt x="430" y="53"/>
                  <a:pt x="430" y="53"/>
                </a:cubicBezTo>
                <a:cubicBezTo>
                  <a:pt x="430" y="29"/>
                  <a:pt x="430" y="29"/>
                  <a:pt x="430" y="29"/>
                </a:cubicBezTo>
                <a:cubicBezTo>
                  <a:pt x="430" y="13"/>
                  <a:pt x="417" y="0"/>
                  <a:pt x="402" y="0"/>
                </a:cubicBezTo>
                <a:cubicBezTo>
                  <a:pt x="386" y="0"/>
                  <a:pt x="373" y="13"/>
                  <a:pt x="373" y="29"/>
                </a:cubicBezTo>
                <a:cubicBezTo>
                  <a:pt x="373" y="53"/>
                  <a:pt x="373" y="53"/>
                  <a:pt x="373" y="53"/>
                </a:cubicBezTo>
                <a:cubicBezTo>
                  <a:pt x="151" y="53"/>
                  <a:pt x="151" y="53"/>
                  <a:pt x="151" y="53"/>
                </a:cubicBezTo>
                <a:cubicBezTo>
                  <a:pt x="151" y="29"/>
                  <a:pt x="151" y="29"/>
                  <a:pt x="151" y="29"/>
                </a:cubicBezTo>
                <a:cubicBezTo>
                  <a:pt x="151" y="13"/>
                  <a:pt x="138" y="0"/>
                  <a:pt x="122" y="0"/>
                </a:cubicBezTo>
                <a:cubicBezTo>
                  <a:pt x="106" y="0"/>
                  <a:pt x="93" y="13"/>
                  <a:pt x="93" y="29"/>
                </a:cubicBezTo>
                <a:cubicBezTo>
                  <a:pt x="93" y="53"/>
                  <a:pt x="93" y="53"/>
                  <a:pt x="93" y="53"/>
                </a:cubicBezTo>
                <a:cubicBezTo>
                  <a:pt x="7" y="53"/>
                  <a:pt x="7" y="53"/>
                  <a:pt x="7" y="53"/>
                </a:cubicBezTo>
                <a:cubicBezTo>
                  <a:pt x="3" y="53"/>
                  <a:pt x="0" y="56"/>
                  <a:pt x="0" y="60"/>
                </a:cubicBezTo>
                <a:cubicBezTo>
                  <a:pt x="0" y="584"/>
                  <a:pt x="0" y="584"/>
                  <a:pt x="0" y="584"/>
                </a:cubicBezTo>
                <a:cubicBezTo>
                  <a:pt x="0" y="588"/>
                  <a:pt x="3" y="591"/>
                  <a:pt x="7" y="591"/>
                </a:cubicBezTo>
                <a:cubicBezTo>
                  <a:pt x="518" y="591"/>
                  <a:pt x="518" y="591"/>
                  <a:pt x="518" y="591"/>
                </a:cubicBezTo>
                <a:cubicBezTo>
                  <a:pt x="521" y="591"/>
                  <a:pt x="525" y="588"/>
                  <a:pt x="525" y="584"/>
                </a:cubicBezTo>
                <a:cubicBezTo>
                  <a:pt x="525" y="60"/>
                  <a:pt x="525" y="60"/>
                  <a:pt x="525" y="60"/>
                </a:cubicBezTo>
                <a:cubicBezTo>
                  <a:pt x="525" y="56"/>
                  <a:pt x="521" y="53"/>
                  <a:pt x="518" y="53"/>
                </a:cubicBezTo>
                <a:close/>
                <a:moveTo>
                  <a:pt x="387" y="29"/>
                </a:moveTo>
                <a:cubicBezTo>
                  <a:pt x="387" y="21"/>
                  <a:pt x="393" y="14"/>
                  <a:pt x="402" y="14"/>
                </a:cubicBezTo>
                <a:cubicBezTo>
                  <a:pt x="410" y="14"/>
                  <a:pt x="416" y="21"/>
                  <a:pt x="416" y="29"/>
                </a:cubicBezTo>
                <a:cubicBezTo>
                  <a:pt x="416" y="92"/>
                  <a:pt x="416" y="92"/>
                  <a:pt x="416" y="92"/>
                </a:cubicBezTo>
                <a:cubicBezTo>
                  <a:pt x="416" y="100"/>
                  <a:pt x="410" y="107"/>
                  <a:pt x="402" y="107"/>
                </a:cubicBezTo>
                <a:cubicBezTo>
                  <a:pt x="393" y="107"/>
                  <a:pt x="387" y="100"/>
                  <a:pt x="387" y="92"/>
                </a:cubicBezTo>
                <a:lnTo>
                  <a:pt x="387" y="29"/>
                </a:lnTo>
                <a:close/>
                <a:moveTo>
                  <a:pt x="107" y="29"/>
                </a:moveTo>
                <a:cubicBezTo>
                  <a:pt x="107" y="21"/>
                  <a:pt x="114" y="14"/>
                  <a:pt x="122" y="14"/>
                </a:cubicBezTo>
                <a:cubicBezTo>
                  <a:pt x="130" y="14"/>
                  <a:pt x="137" y="21"/>
                  <a:pt x="137" y="29"/>
                </a:cubicBezTo>
                <a:cubicBezTo>
                  <a:pt x="137" y="92"/>
                  <a:pt x="137" y="92"/>
                  <a:pt x="137" y="92"/>
                </a:cubicBezTo>
                <a:cubicBezTo>
                  <a:pt x="137" y="100"/>
                  <a:pt x="130" y="107"/>
                  <a:pt x="122" y="107"/>
                </a:cubicBezTo>
                <a:cubicBezTo>
                  <a:pt x="114" y="107"/>
                  <a:pt x="107" y="100"/>
                  <a:pt x="107" y="92"/>
                </a:cubicBezTo>
                <a:lnTo>
                  <a:pt x="107" y="29"/>
                </a:lnTo>
                <a:close/>
                <a:moveTo>
                  <a:pt x="511" y="577"/>
                </a:moveTo>
                <a:cubicBezTo>
                  <a:pt x="14" y="577"/>
                  <a:pt x="14" y="577"/>
                  <a:pt x="14" y="577"/>
                </a:cubicBezTo>
                <a:cubicBezTo>
                  <a:pt x="14" y="177"/>
                  <a:pt x="14" y="177"/>
                  <a:pt x="14" y="177"/>
                </a:cubicBezTo>
                <a:cubicBezTo>
                  <a:pt x="511" y="177"/>
                  <a:pt x="511" y="177"/>
                  <a:pt x="511" y="177"/>
                </a:cubicBezTo>
                <a:lnTo>
                  <a:pt x="511" y="577"/>
                </a:lnTo>
                <a:close/>
                <a:moveTo>
                  <a:pt x="511" y="163"/>
                </a:moveTo>
                <a:cubicBezTo>
                  <a:pt x="14" y="163"/>
                  <a:pt x="14" y="163"/>
                  <a:pt x="14" y="163"/>
                </a:cubicBezTo>
                <a:cubicBezTo>
                  <a:pt x="14" y="67"/>
                  <a:pt x="14" y="67"/>
                  <a:pt x="14" y="67"/>
                </a:cubicBezTo>
                <a:cubicBezTo>
                  <a:pt x="93" y="67"/>
                  <a:pt x="93" y="67"/>
                  <a:pt x="93" y="67"/>
                </a:cubicBezTo>
                <a:cubicBezTo>
                  <a:pt x="93" y="92"/>
                  <a:pt x="93" y="92"/>
                  <a:pt x="93" y="92"/>
                </a:cubicBezTo>
                <a:cubicBezTo>
                  <a:pt x="93" y="108"/>
                  <a:pt x="106" y="121"/>
                  <a:pt x="122" y="121"/>
                </a:cubicBezTo>
                <a:cubicBezTo>
                  <a:pt x="138" y="121"/>
                  <a:pt x="151" y="108"/>
                  <a:pt x="151" y="92"/>
                </a:cubicBezTo>
                <a:cubicBezTo>
                  <a:pt x="151" y="67"/>
                  <a:pt x="151" y="67"/>
                  <a:pt x="151" y="67"/>
                </a:cubicBezTo>
                <a:cubicBezTo>
                  <a:pt x="373" y="67"/>
                  <a:pt x="373" y="67"/>
                  <a:pt x="373" y="67"/>
                </a:cubicBezTo>
                <a:cubicBezTo>
                  <a:pt x="373" y="92"/>
                  <a:pt x="373" y="92"/>
                  <a:pt x="373" y="92"/>
                </a:cubicBezTo>
                <a:cubicBezTo>
                  <a:pt x="373" y="108"/>
                  <a:pt x="386" y="121"/>
                  <a:pt x="402" y="121"/>
                </a:cubicBezTo>
                <a:cubicBezTo>
                  <a:pt x="417" y="121"/>
                  <a:pt x="430" y="108"/>
                  <a:pt x="430" y="92"/>
                </a:cubicBezTo>
                <a:cubicBezTo>
                  <a:pt x="430" y="67"/>
                  <a:pt x="430" y="67"/>
                  <a:pt x="430" y="67"/>
                </a:cubicBezTo>
                <a:cubicBezTo>
                  <a:pt x="511" y="67"/>
                  <a:pt x="511" y="67"/>
                  <a:pt x="511" y="67"/>
                </a:cubicBezTo>
                <a:lnTo>
                  <a:pt x="511" y="163"/>
                </a:lnTo>
                <a:close/>
                <a:moveTo>
                  <a:pt x="62" y="521"/>
                </a:moveTo>
                <a:cubicBezTo>
                  <a:pt x="462" y="521"/>
                  <a:pt x="462" y="521"/>
                  <a:pt x="462" y="521"/>
                </a:cubicBezTo>
                <a:cubicBezTo>
                  <a:pt x="466" y="521"/>
                  <a:pt x="469" y="518"/>
                  <a:pt x="469" y="514"/>
                </a:cubicBezTo>
                <a:cubicBezTo>
                  <a:pt x="469" y="241"/>
                  <a:pt x="469" y="241"/>
                  <a:pt x="469" y="241"/>
                </a:cubicBezTo>
                <a:cubicBezTo>
                  <a:pt x="469" y="237"/>
                  <a:pt x="466" y="234"/>
                  <a:pt x="462" y="234"/>
                </a:cubicBezTo>
                <a:cubicBezTo>
                  <a:pt x="62" y="234"/>
                  <a:pt x="62" y="234"/>
                  <a:pt x="62" y="234"/>
                </a:cubicBezTo>
                <a:cubicBezTo>
                  <a:pt x="58" y="234"/>
                  <a:pt x="55" y="237"/>
                  <a:pt x="55" y="241"/>
                </a:cubicBezTo>
                <a:cubicBezTo>
                  <a:pt x="55" y="514"/>
                  <a:pt x="55" y="514"/>
                  <a:pt x="55" y="514"/>
                </a:cubicBezTo>
                <a:cubicBezTo>
                  <a:pt x="55" y="518"/>
                  <a:pt x="58" y="521"/>
                  <a:pt x="62" y="521"/>
                </a:cubicBezTo>
                <a:close/>
                <a:moveTo>
                  <a:pt x="366" y="248"/>
                </a:moveTo>
                <a:cubicBezTo>
                  <a:pt x="455" y="248"/>
                  <a:pt x="455" y="248"/>
                  <a:pt x="455" y="248"/>
                </a:cubicBezTo>
                <a:cubicBezTo>
                  <a:pt x="455" y="325"/>
                  <a:pt x="455" y="325"/>
                  <a:pt x="455" y="325"/>
                </a:cubicBezTo>
                <a:cubicBezTo>
                  <a:pt x="366" y="325"/>
                  <a:pt x="366" y="325"/>
                  <a:pt x="366" y="325"/>
                </a:cubicBezTo>
                <a:lnTo>
                  <a:pt x="366" y="248"/>
                </a:lnTo>
                <a:close/>
                <a:moveTo>
                  <a:pt x="366" y="339"/>
                </a:moveTo>
                <a:cubicBezTo>
                  <a:pt x="455" y="339"/>
                  <a:pt x="455" y="339"/>
                  <a:pt x="455" y="339"/>
                </a:cubicBezTo>
                <a:cubicBezTo>
                  <a:pt x="455" y="414"/>
                  <a:pt x="455" y="414"/>
                  <a:pt x="455" y="414"/>
                </a:cubicBezTo>
                <a:cubicBezTo>
                  <a:pt x="366" y="414"/>
                  <a:pt x="366" y="414"/>
                  <a:pt x="366" y="414"/>
                </a:cubicBezTo>
                <a:lnTo>
                  <a:pt x="366" y="339"/>
                </a:lnTo>
                <a:close/>
                <a:moveTo>
                  <a:pt x="366" y="428"/>
                </a:moveTo>
                <a:cubicBezTo>
                  <a:pt x="455" y="428"/>
                  <a:pt x="455" y="428"/>
                  <a:pt x="455" y="428"/>
                </a:cubicBezTo>
                <a:cubicBezTo>
                  <a:pt x="455" y="507"/>
                  <a:pt x="455" y="507"/>
                  <a:pt x="455" y="507"/>
                </a:cubicBezTo>
                <a:cubicBezTo>
                  <a:pt x="366" y="507"/>
                  <a:pt x="366" y="507"/>
                  <a:pt x="366" y="507"/>
                </a:cubicBezTo>
                <a:lnTo>
                  <a:pt x="366" y="428"/>
                </a:lnTo>
                <a:close/>
                <a:moveTo>
                  <a:pt x="266" y="248"/>
                </a:moveTo>
                <a:cubicBezTo>
                  <a:pt x="352" y="248"/>
                  <a:pt x="352" y="248"/>
                  <a:pt x="352" y="248"/>
                </a:cubicBezTo>
                <a:cubicBezTo>
                  <a:pt x="352" y="325"/>
                  <a:pt x="352" y="325"/>
                  <a:pt x="352" y="325"/>
                </a:cubicBezTo>
                <a:cubicBezTo>
                  <a:pt x="266" y="325"/>
                  <a:pt x="266" y="325"/>
                  <a:pt x="266" y="325"/>
                </a:cubicBezTo>
                <a:lnTo>
                  <a:pt x="266" y="248"/>
                </a:lnTo>
                <a:close/>
                <a:moveTo>
                  <a:pt x="266" y="339"/>
                </a:moveTo>
                <a:cubicBezTo>
                  <a:pt x="352" y="339"/>
                  <a:pt x="352" y="339"/>
                  <a:pt x="352" y="339"/>
                </a:cubicBezTo>
                <a:cubicBezTo>
                  <a:pt x="352" y="414"/>
                  <a:pt x="352" y="414"/>
                  <a:pt x="352" y="414"/>
                </a:cubicBezTo>
                <a:cubicBezTo>
                  <a:pt x="266" y="414"/>
                  <a:pt x="266" y="414"/>
                  <a:pt x="266" y="414"/>
                </a:cubicBezTo>
                <a:lnTo>
                  <a:pt x="266" y="339"/>
                </a:lnTo>
                <a:close/>
                <a:moveTo>
                  <a:pt x="266" y="428"/>
                </a:moveTo>
                <a:cubicBezTo>
                  <a:pt x="352" y="428"/>
                  <a:pt x="352" y="428"/>
                  <a:pt x="352" y="428"/>
                </a:cubicBezTo>
                <a:cubicBezTo>
                  <a:pt x="352" y="507"/>
                  <a:pt x="352" y="507"/>
                  <a:pt x="352" y="507"/>
                </a:cubicBezTo>
                <a:cubicBezTo>
                  <a:pt x="266" y="507"/>
                  <a:pt x="266" y="507"/>
                  <a:pt x="266" y="507"/>
                </a:cubicBezTo>
                <a:lnTo>
                  <a:pt x="266" y="428"/>
                </a:lnTo>
                <a:close/>
                <a:moveTo>
                  <a:pt x="165" y="248"/>
                </a:moveTo>
                <a:cubicBezTo>
                  <a:pt x="252" y="248"/>
                  <a:pt x="252" y="248"/>
                  <a:pt x="252" y="248"/>
                </a:cubicBezTo>
                <a:cubicBezTo>
                  <a:pt x="252" y="325"/>
                  <a:pt x="252" y="325"/>
                  <a:pt x="252" y="325"/>
                </a:cubicBezTo>
                <a:cubicBezTo>
                  <a:pt x="165" y="325"/>
                  <a:pt x="165" y="325"/>
                  <a:pt x="165" y="325"/>
                </a:cubicBezTo>
                <a:lnTo>
                  <a:pt x="165" y="248"/>
                </a:lnTo>
                <a:close/>
                <a:moveTo>
                  <a:pt x="165" y="339"/>
                </a:moveTo>
                <a:cubicBezTo>
                  <a:pt x="252" y="339"/>
                  <a:pt x="252" y="339"/>
                  <a:pt x="252" y="339"/>
                </a:cubicBezTo>
                <a:cubicBezTo>
                  <a:pt x="252" y="414"/>
                  <a:pt x="252" y="414"/>
                  <a:pt x="252" y="414"/>
                </a:cubicBezTo>
                <a:cubicBezTo>
                  <a:pt x="165" y="414"/>
                  <a:pt x="165" y="414"/>
                  <a:pt x="165" y="414"/>
                </a:cubicBezTo>
                <a:lnTo>
                  <a:pt x="165" y="339"/>
                </a:lnTo>
                <a:close/>
                <a:moveTo>
                  <a:pt x="165" y="428"/>
                </a:moveTo>
                <a:cubicBezTo>
                  <a:pt x="252" y="428"/>
                  <a:pt x="252" y="428"/>
                  <a:pt x="252" y="428"/>
                </a:cubicBezTo>
                <a:cubicBezTo>
                  <a:pt x="252" y="507"/>
                  <a:pt x="252" y="507"/>
                  <a:pt x="252" y="507"/>
                </a:cubicBezTo>
                <a:cubicBezTo>
                  <a:pt x="165" y="507"/>
                  <a:pt x="165" y="507"/>
                  <a:pt x="165" y="507"/>
                </a:cubicBezTo>
                <a:lnTo>
                  <a:pt x="165" y="428"/>
                </a:lnTo>
                <a:close/>
                <a:moveTo>
                  <a:pt x="69" y="248"/>
                </a:moveTo>
                <a:cubicBezTo>
                  <a:pt x="151" y="248"/>
                  <a:pt x="151" y="248"/>
                  <a:pt x="151" y="248"/>
                </a:cubicBezTo>
                <a:cubicBezTo>
                  <a:pt x="151" y="325"/>
                  <a:pt x="151" y="325"/>
                  <a:pt x="151" y="325"/>
                </a:cubicBezTo>
                <a:cubicBezTo>
                  <a:pt x="69" y="325"/>
                  <a:pt x="69" y="325"/>
                  <a:pt x="69" y="325"/>
                </a:cubicBezTo>
                <a:lnTo>
                  <a:pt x="69" y="248"/>
                </a:lnTo>
                <a:close/>
                <a:moveTo>
                  <a:pt x="69" y="339"/>
                </a:moveTo>
                <a:cubicBezTo>
                  <a:pt x="151" y="339"/>
                  <a:pt x="151" y="339"/>
                  <a:pt x="151" y="339"/>
                </a:cubicBezTo>
                <a:cubicBezTo>
                  <a:pt x="151" y="414"/>
                  <a:pt x="151" y="414"/>
                  <a:pt x="151" y="414"/>
                </a:cubicBezTo>
                <a:cubicBezTo>
                  <a:pt x="69" y="414"/>
                  <a:pt x="69" y="414"/>
                  <a:pt x="69" y="414"/>
                </a:cubicBezTo>
                <a:lnTo>
                  <a:pt x="69" y="339"/>
                </a:lnTo>
                <a:close/>
                <a:moveTo>
                  <a:pt x="69" y="428"/>
                </a:moveTo>
                <a:cubicBezTo>
                  <a:pt x="151" y="428"/>
                  <a:pt x="151" y="428"/>
                  <a:pt x="151" y="428"/>
                </a:cubicBezTo>
                <a:cubicBezTo>
                  <a:pt x="151" y="507"/>
                  <a:pt x="151" y="507"/>
                  <a:pt x="151" y="507"/>
                </a:cubicBezTo>
                <a:cubicBezTo>
                  <a:pt x="69" y="507"/>
                  <a:pt x="69" y="507"/>
                  <a:pt x="69" y="507"/>
                </a:cubicBezTo>
                <a:lnTo>
                  <a:pt x="69" y="428"/>
                </a:ln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67" name="Freeform 119"/>
          <p:cNvSpPr>
            <a:spLocks noEditPoints="1"/>
          </p:cNvSpPr>
          <p:nvPr/>
        </p:nvSpPr>
        <p:spPr bwMode="auto">
          <a:xfrm>
            <a:off x="9223322" y="2832670"/>
            <a:ext cx="325813" cy="332953"/>
          </a:xfrm>
          <a:custGeom>
            <a:avLst/>
            <a:gdLst>
              <a:gd name="T0" fmla="*/ 501 w 678"/>
              <a:gd name="T1" fmla="*/ 691 h 691"/>
              <a:gd name="T2" fmla="*/ 496 w 678"/>
              <a:gd name="T3" fmla="*/ 688 h 691"/>
              <a:gd name="T4" fmla="*/ 388 w 678"/>
              <a:gd name="T5" fmla="*/ 579 h 691"/>
              <a:gd name="T6" fmla="*/ 91 w 678"/>
              <a:gd name="T7" fmla="*/ 507 h 691"/>
              <a:gd name="T8" fmla="*/ 6 w 678"/>
              <a:gd name="T9" fmla="*/ 277 h 691"/>
              <a:gd name="T10" fmla="*/ 8 w 678"/>
              <a:gd name="T11" fmla="*/ 273 h 691"/>
              <a:gd name="T12" fmla="*/ 30 w 678"/>
              <a:gd name="T13" fmla="*/ 251 h 691"/>
              <a:gd name="T14" fmla="*/ 40 w 678"/>
              <a:gd name="T15" fmla="*/ 251 h 691"/>
              <a:gd name="T16" fmla="*/ 143 w 678"/>
              <a:gd name="T17" fmla="*/ 353 h 691"/>
              <a:gd name="T18" fmla="*/ 309 w 678"/>
              <a:gd name="T19" fmla="*/ 309 h 691"/>
              <a:gd name="T20" fmla="*/ 353 w 678"/>
              <a:gd name="T21" fmla="*/ 143 h 691"/>
              <a:gd name="T22" fmla="*/ 251 w 678"/>
              <a:gd name="T23" fmla="*/ 40 h 691"/>
              <a:gd name="T24" fmla="*/ 249 w 678"/>
              <a:gd name="T25" fmla="*/ 35 h 691"/>
              <a:gd name="T26" fmla="*/ 251 w 678"/>
              <a:gd name="T27" fmla="*/ 30 h 691"/>
              <a:gd name="T28" fmla="*/ 273 w 678"/>
              <a:gd name="T29" fmla="*/ 8 h 691"/>
              <a:gd name="T30" fmla="*/ 277 w 678"/>
              <a:gd name="T31" fmla="*/ 6 h 691"/>
              <a:gd name="T32" fmla="*/ 507 w 678"/>
              <a:gd name="T33" fmla="*/ 91 h 691"/>
              <a:gd name="T34" fmla="*/ 579 w 678"/>
              <a:gd name="T35" fmla="*/ 388 h 691"/>
              <a:gd name="T36" fmla="*/ 675 w 678"/>
              <a:gd name="T37" fmla="*/ 484 h 691"/>
              <a:gd name="T38" fmla="*/ 675 w 678"/>
              <a:gd name="T39" fmla="*/ 494 h 691"/>
              <a:gd name="T40" fmla="*/ 665 w 678"/>
              <a:gd name="T41" fmla="*/ 494 h 691"/>
              <a:gd name="T42" fmla="*/ 566 w 678"/>
              <a:gd name="T43" fmla="*/ 394 h 691"/>
              <a:gd name="T44" fmla="*/ 565 w 678"/>
              <a:gd name="T45" fmla="*/ 387 h 691"/>
              <a:gd name="T46" fmla="*/ 497 w 678"/>
              <a:gd name="T47" fmla="*/ 101 h 691"/>
              <a:gd name="T48" fmla="*/ 281 w 678"/>
              <a:gd name="T49" fmla="*/ 20 h 691"/>
              <a:gd name="T50" fmla="*/ 266 w 678"/>
              <a:gd name="T51" fmla="*/ 35 h 691"/>
              <a:gd name="T52" fmla="*/ 366 w 678"/>
              <a:gd name="T53" fmla="*/ 136 h 691"/>
              <a:gd name="T54" fmla="*/ 368 w 678"/>
              <a:gd name="T55" fmla="*/ 143 h 691"/>
              <a:gd name="T56" fmla="*/ 321 w 678"/>
              <a:gd name="T57" fmla="*/ 316 h 691"/>
              <a:gd name="T58" fmla="*/ 316 w 678"/>
              <a:gd name="T59" fmla="*/ 321 h 691"/>
              <a:gd name="T60" fmla="*/ 143 w 678"/>
              <a:gd name="T61" fmla="*/ 368 h 691"/>
              <a:gd name="T62" fmla="*/ 136 w 678"/>
              <a:gd name="T63" fmla="*/ 366 h 691"/>
              <a:gd name="T64" fmla="*/ 35 w 678"/>
              <a:gd name="T65" fmla="*/ 266 h 691"/>
              <a:gd name="T66" fmla="*/ 20 w 678"/>
              <a:gd name="T67" fmla="*/ 281 h 691"/>
              <a:gd name="T68" fmla="*/ 101 w 678"/>
              <a:gd name="T69" fmla="*/ 497 h 691"/>
              <a:gd name="T70" fmla="*/ 387 w 678"/>
              <a:gd name="T71" fmla="*/ 565 h 691"/>
              <a:gd name="T72" fmla="*/ 394 w 678"/>
              <a:gd name="T73" fmla="*/ 566 h 691"/>
              <a:gd name="T74" fmla="*/ 506 w 678"/>
              <a:gd name="T75" fmla="*/ 679 h 691"/>
              <a:gd name="T76" fmla="*/ 506 w 678"/>
              <a:gd name="T77" fmla="*/ 688 h 691"/>
              <a:gd name="T78" fmla="*/ 501 w 678"/>
              <a:gd name="T79" fmla="*/ 691 h 691"/>
              <a:gd name="T80" fmla="*/ 156 w 678"/>
              <a:gd name="T81" fmla="*/ 313 h 691"/>
              <a:gd name="T82" fmla="*/ 151 w 678"/>
              <a:gd name="T83" fmla="*/ 311 h 691"/>
              <a:gd name="T84" fmla="*/ 64 w 678"/>
              <a:gd name="T85" fmla="*/ 224 h 691"/>
              <a:gd name="T86" fmla="*/ 62 w 678"/>
              <a:gd name="T87" fmla="*/ 217 h 691"/>
              <a:gd name="T88" fmla="*/ 94 w 678"/>
              <a:gd name="T89" fmla="*/ 99 h 691"/>
              <a:gd name="T90" fmla="*/ 99 w 678"/>
              <a:gd name="T91" fmla="*/ 94 h 691"/>
              <a:gd name="T92" fmla="*/ 217 w 678"/>
              <a:gd name="T93" fmla="*/ 62 h 691"/>
              <a:gd name="T94" fmla="*/ 224 w 678"/>
              <a:gd name="T95" fmla="*/ 64 h 691"/>
              <a:gd name="T96" fmla="*/ 311 w 678"/>
              <a:gd name="T97" fmla="*/ 151 h 691"/>
              <a:gd name="T98" fmla="*/ 313 w 678"/>
              <a:gd name="T99" fmla="*/ 157 h 691"/>
              <a:gd name="T100" fmla="*/ 281 w 678"/>
              <a:gd name="T101" fmla="*/ 276 h 691"/>
              <a:gd name="T102" fmla="*/ 276 w 678"/>
              <a:gd name="T103" fmla="*/ 281 h 691"/>
              <a:gd name="T104" fmla="*/ 157 w 678"/>
              <a:gd name="T105" fmla="*/ 313 h 691"/>
              <a:gd name="T106" fmla="*/ 156 w 678"/>
              <a:gd name="T107" fmla="*/ 313 h 691"/>
              <a:gd name="T108" fmla="*/ 77 w 678"/>
              <a:gd name="T109" fmla="*/ 217 h 691"/>
              <a:gd name="T110" fmla="*/ 158 w 678"/>
              <a:gd name="T111" fmla="*/ 298 h 691"/>
              <a:gd name="T112" fmla="*/ 268 w 678"/>
              <a:gd name="T113" fmla="*/ 268 h 691"/>
              <a:gd name="T114" fmla="*/ 298 w 678"/>
              <a:gd name="T115" fmla="*/ 158 h 691"/>
              <a:gd name="T116" fmla="*/ 217 w 678"/>
              <a:gd name="T117" fmla="*/ 76 h 691"/>
              <a:gd name="T118" fmla="*/ 106 w 678"/>
              <a:gd name="T119" fmla="*/ 106 h 691"/>
              <a:gd name="T120" fmla="*/ 77 w 678"/>
              <a:gd name="T121" fmla="*/ 217 h 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78" h="691">
                <a:moveTo>
                  <a:pt x="501" y="691"/>
                </a:moveTo>
                <a:cubicBezTo>
                  <a:pt x="500" y="691"/>
                  <a:pt x="498" y="690"/>
                  <a:pt x="496" y="688"/>
                </a:cubicBezTo>
                <a:cubicBezTo>
                  <a:pt x="388" y="579"/>
                  <a:pt x="388" y="579"/>
                  <a:pt x="388" y="579"/>
                </a:cubicBezTo>
                <a:cubicBezTo>
                  <a:pt x="283" y="612"/>
                  <a:pt x="170" y="585"/>
                  <a:pt x="91" y="507"/>
                </a:cubicBezTo>
                <a:cubicBezTo>
                  <a:pt x="31" y="446"/>
                  <a:pt x="0" y="363"/>
                  <a:pt x="6" y="277"/>
                </a:cubicBezTo>
                <a:cubicBezTo>
                  <a:pt x="6" y="276"/>
                  <a:pt x="7" y="274"/>
                  <a:pt x="8" y="273"/>
                </a:cubicBezTo>
                <a:cubicBezTo>
                  <a:pt x="30" y="251"/>
                  <a:pt x="30" y="251"/>
                  <a:pt x="30" y="251"/>
                </a:cubicBezTo>
                <a:cubicBezTo>
                  <a:pt x="33" y="248"/>
                  <a:pt x="38" y="248"/>
                  <a:pt x="40" y="251"/>
                </a:cubicBezTo>
                <a:cubicBezTo>
                  <a:pt x="143" y="353"/>
                  <a:pt x="143" y="353"/>
                  <a:pt x="143" y="353"/>
                </a:cubicBezTo>
                <a:cubicBezTo>
                  <a:pt x="309" y="309"/>
                  <a:pt x="309" y="309"/>
                  <a:pt x="309" y="309"/>
                </a:cubicBezTo>
                <a:cubicBezTo>
                  <a:pt x="353" y="143"/>
                  <a:pt x="353" y="143"/>
                  <a:pt x="353" y="143"/>
                </a:cubicBezTo>
                <a:cubicBezTo>
                  <a:pt x="251" y="40"/>
                  <a:pt x="251" y="40"/>
                  <a:pt x="251" y="40"/>
                </a:cubicBezTo>
                <a:cubicBezTo>
                  <a:pt x="250" y="39"/>
                  <a:pt x="249" y="37"/>
                  <a:pt x="249" y="35"/>
                </a:cubicBezTo>
                <a:cubicBezTo>
                  <a:pt x="249" y="33"/>
                  <a:pt x="250" y="32"/>
                  <a:pt x="251" y="30"/>
                </a:cubicBezTo>
                <a:cubicBezTo>
                  <a:pt x="273" y="8"/>
                  <a:pt x="273" y="8"/>
                  <a:pt x="273" y="8"/>
                </a:cubicBezTo>
                <a:cubicBezTo>
                  <a:pt x="274" y="7"/>
                  <a:pt x="276" y="6"/>
                  <a:pt x="277" y="6"/>
                </a:cubicBezTo>
                <a:cubicBezTo>
                  <a:pt x="363" y="0"/>
                  <a:pt x="446" y="31"/>
                  <a:pt x="507" y="91"/>
                </a:cubicBezTo>
                <a:cubicBezTo>
                  <a:pt x="585" y="169"/>
                  <a:pt x="613" y="283"/>
                  <a:pt x="579" y="388"/>
                </a:cubicBezTo>
                <a:cubicBezTo>
                  <a:pt x="675" y="484"/>
                  <a:pt x="675" y="484"/>
                  <a:pt x="675" y="484"/>
                </a:cubicBezTo>
                <a:cubicBezTo>
                  <a:pt x="678" y="486"/>
                  <a:pt x="678" y="491"/>
                  <a:pt x="675" y="494"/>
                </a:cubicBezTo>
                <a:cubicBezTo>
                  <a:pt x="673" y="496"/>
                  <a:pt x="668" y="496"/>
                  <a:pt x="665" y="494"/>
                </a:cubicBezTo>
                <a:cubicBezTo>
                  <a:pt x="566" y="394"/>
                  <a:pt x="566" y="394"/>
                  <a:pt x="566" y="394"/>
                </a:cubicBezTo>
                <a:cubicBezTo>
                  <a:pt x="565" y="393"/>
                  <a:pt x="564" y="390"/>
                  <a:pt x="565" y="387"/>
                </a:cubicBezTo>
                <a:cubicBezTo>
                  <a:pt x="598" y="286"/>
                  <a:pt x="572" y="177"/>
                  <a:pt x="497" y="101"/>
                </a:cubicBezTo>
                <a:cubicBezTo>
                  <a:pt x="440" y="44"/>
                  <a:pt x="361" y="15"/>
                  <a:pt x="281" y="20"/>
                </a:cubicBezTo>
                <a:cubicBezTo>
                  <a:pt x="266" y="35"/>
                  <a:pt x="266" y="35"/>
                  <a:pt x="266" y="35"/>
                </a:cubicBezTo>
                <a:cubicBezTo>
                  <a:pt x="366" y="136"/>
                  <a:pt x="366" y="136"/>
                  <a:pt x="366" y="136"/>
                </a:cubicBezTo>
                <a:cubicBezTo>
                  <a:pt x="368" y="138"/>
                  <a:pt x="369" y="140"/>
                  <a:pt x="368" y="143"/>
                </a:cubicBezTo>
                <a:cubicBezTo>
                  <a:pt x="321" y="316"/>
                  <a:pt x="321" y="316"/>
                  <a:pt x="321" y="316"/>
                </a:cubicBezTo>
                <a:cubicBezTo>
                  <a:pt x="321" y="319"/>
                  <a:pt x="319" y="321"/>
                  <a:pt x="316" y="321"/>
                </a:cubicBezTo>
                <a:cubicBezTo>
                  <a:pt x="143" y="368"/>
                  <a:pt x="143" y="368"/>
                  <a:pt x="143" y="368"/>
                </a:cubicBezTo>
                <a:cubicBezTo>
                  <a:pt x="140" y="369"/>
                  <a:pt x="138" y="368"/>
                  <a:pt x="136" y="366"/>
                </a:cubicBezTo>
                <a:cubicBezTo>
                  <a:pt x="35" y="266"/>
                  <a:pt x="35" y="266"/>
                  <a:pt x="35" y="266"/>
                </a:cubicBezTo>
                <a:cubicBezTo>
                  <a:pt x="20" y="281"/>
                  <a:pt x="20" y="281"/>
                  <a:pt x="20" y="281"/>
                </a:cubicBezTo>
                <a:cubicBezTo>
                  <a:pt x="15" y="361"/>
                  <a:pt x="44" y="440"/>
                  <a:pt x="101" y="497"/>
                </a:cubicBezTo>
                <a:cubicBezTo>
                  <a:pt x="177" y="572"/>
                  <a:pt x="286" y="598"/>
                  <a:pt x="387" y="565"/>
                </a:cubicBezTo>
                <a:cubicBezTo>
                  <a:pt x="390" y="564"/>
                  <a:pt x="393" y="565"/>
                  <a:pt x="394" y="566"/>
                </a:cubicBezTo>
                <a:cubicBezTo>
                  <a:pt x="506" y="679"/>
                  <a:pt x="506" y="679"/>
                  <a:pt x="506" y="679"/>
                </a:cubicBezTo>
                <a:cubicBezTo>
                  <a:pt x="509" y="681"/>
                  <a:pt x="509" y="686"/>
                  <a:pt x="506" y="688"/>
                </a:cubicBezTo>
                <a:cubicBezTo>
                  <a:pt x="505" y="690"/>
                  <a:pt x="503" y="691"/>
                  <a:pt x="501" y="691"/>
                </a:cubicBezTo>
                <a:close/>
                <a:moveTo>
                  <a:pt x="156" y="313"/>
                </a:moveTo>
                <a:cubicBezTo>
                  <a:pt x="154" y="313"/>
                  <a:pt x="152" y="312"/>
                  <a:pt x="151" y="311"/>
                </a:cubicBezTo>
                <a:cubicBezTo>
                  <a:pt x="64" y="224"/>
                  <a:pt x="64" y="224"/>
                  <a:pt x="64" y="224"/>
                </a:cubicBezTo>
                <a:cubicBezTo>
                  <a:pt x="62" y="222"/>
                  <a:pt x="61" y="220"/>
                  <a:pt x="62" y="217"/>
                </a:cubicBezTo>
                <a:cubicBezTo>
                  <a:pt x="94" y="99"/>
                  <a:pt x="94" y="99"/>
                  <a:pt x="94" y="99"/>
                </a:cubicBezTo>
                <a:cubicBezTo>
                  <a:pt x="94" y="96"/>
                  <a:pt x="96" y="94"/>
                  <a:pt x="99" y="94"/>
                </a:cubicBezTo>
                <a:cubicBezTo>
                  <a:pt x="217" y="62"/>
                  <a:pt x="217" y="62"/>
                  <a:pt x="217" y="62"/>
                </a:cubicBezTo>
                <a:cubicBezTo>
                  <a:pt x="220" y="61"/>
                  <a:pt x="222" y="62"/>
                  <a:pt x="224" y="64"/>
                </a:cubicBezTo>
                <a:cubicBezTo>
                  <a:pt x="311" y="151"/>
                  <a:pt x="311" y="151"/>
                  <a:pt x="311" y="151"/>
                </a:cubicBezTo>
                <a:cubicBezTo>
                  <a:pt x="313" y="152"/>
                  <a:pt x="313" y="155"/>
                  <a:pt x="313" y="157"/>
                </a:cubicBezTo>
                <a:cubicBezTo>
                  <a:pt x="281" y="276"/>
                  <a:pt x="281" y="276"/>
                  <a:pt x="281" y="276"/>
                </a:cubicBezTo>
                <a:cubicBezTo>
                  <a:pt x="280" y="278"/>
                  <a:pt x="278" y="280"/>
                  <a:pt x="276" y="281"/>
                </a:cubicBezTo>
                <a:cubicBezTo>
                  <a:pt x="157" y="313"/>
                  <a:pt x="157" y="313"/>
                  <a:pt x="157" y="313"/>
                </a:cubicBezTo>
                <a:cubicBezTo>
                  <a:pt x="157" y="313"/>
                  <a:pt x="156" y="313"/>
                  <a:pt x="156" y="313"/>
                </a:cubicBezTo>
                <a:close/>
                <a:moveTo>
                  <a:pt x="77" y="217"/>
                </a:moveTo>
                <a:cubicBezTo>
                  <a:pt x="158" y="298"/>
                  <a:pt x="158" y="298"/>
                  <a:pt x="158" y="298"/>
                </a:cubicBezTo>
                <a:cubicBezTo>
                  <a:pt x="268" y="268"/>
                  <a:pt x="268" y="268"/>
                  <a:pt x="268" y="268"/>
                </a:cubicBezTo>
                <a:cubicBezTo>
                  <a:pt x="298" y="158"/>
                  <a:pt x="298" y="158"/>
                  <a:pt x="298" y="158"/>
                </a:cubicBezTo>
                <a:cubicBezTo>
                  <a:pt x="217" y="76"/>
                  <a:pt x="217" y="76"/>
                  <a:pt x="217" y="76"/>
                </a:cubicBezTo>
                <a:cubicBezTo>
                  <a:pt x="106" y="106"/>
                  <a:pt x="106" y="106"/>
                  <a:pt x="106" y="106"/>
                </a:cubicBezTo>
                <a:lnTo>
                  <a:pt x="77" y="217"/>
                </a:ln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53"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23</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749275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7" name="Picture 33" descr="Times New Roman, Regular - }"/>
          <p:cNvPicPr>
            <a:picLocks noChangeAspect="1" noChangeArrowheads="1"/>
          </p:cNvPicPr>
          <p:nvPr/>
        </p:nvPicPr>
        <p:blipFill>
          <a:blip r:embed="rId15">
            <a:duotone>
              <a:schemeClr val="accent5">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1302893" y="2066033"/>
            <a:ext cx="1397994" cy="2585751"/>
          </a:xfrm>
          <a:prstGeom prst="rect">
            <a:avLst/>
          </a:prstGeom>
          <a:solidFill>
            <a:srgbClr val="0086AC"/>
          </a:solidFill>
        </p:spPr>
      </p:pic>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Nuestra Visión</a:t>
            </a:r>
          </a:p>
          <a:p>
            <a:endParaRPr lang="en-US" dirty="0">
              <a:solidFill>
                <a:srgbClr val="323232"/>
              </a:solidFill>
              <a:latin typeface="Avenir 35" panose="00000400000000000000" pitchFamily="2" charset="0"/>
            </a:endParaRPr>
          </a:p>
        </p:txBody>
      </p:sp>
      <p:sp>
        <p:nvSpPr>
          <p:cNvPr id="9" name="6 CuadroTexto"/>
          <p:cNvSpPr txBox="1"/>
          <p:nvPr/>
        </p:nvSpPr>
        <p:spPr>
          <a:xfrm>
            <a:off x="614707" y="415681"/>
            <a:ext cx="8660261" cy="400110"/>
          </a:xfrm>
          <a:prstGeom prst="rect">
            <a:avLst/>
          </a:prstGeom>
          <a:noFill/>
        </p:spPr>
        <p:txBody>
          <a:bodyPr wrap="square" rtlCol="0">
            <a:spAutoFit/>
          </a:bodyPr>
          <a:lstStyle/>
          <a:p>
            <a:pPr algn="ctr"/>
            <a:r>
              <a:rPr lang="es-ES" sz="2000" dirty="0">
                <a:solidFill>
                  <a:srgbClr val="323232"/>
                </a:solidFill>
                <a:latin typeface="Avenir 65" panose="02000600000000000000" pitchFamily="2" charset="0"/>
              </a:rPr>
              <a:t>EVOLUCIONAR</a:t>
            </a:r>
            <a:endParaRPr lang="es-ES" sz="1400" dirty="0">
              <a:solidFill>
                <a:srgbClr val="323232"/>
              </a:solidFill>
              <a:latin typeface="Avenir 65" panose="02000600000000000000" pitchFamily="2" charset="0"/>
            </a:endParaRPr>
          </a:p>
        </p:txBody>
      </p:sp>
      <p:sp>
        <p:nvSpPr>
          <p:cNvPr id="3" name="AutoShape 4" descr="Resultado de imagen de car dealer network"/>
          <p:cNvSpPr>
            <a:spLocks noChangeAspect="1" noChangeArrowheads="1"/>
          </p:cNvSpPr>
          <p:nvPr/>
        </p:nvSpPr>
        <p:spPr bwMode="auto">
          <a:xfrm>
            <a:off x="155575" y="-13652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50" name="Rectangle 81"/>
          <p:cNvSpPr/>
          <p:nvPr>
            <p:custDataLst>
              <p:tags r:id="rId1"/>
            </p:custDataLst>
          </p:nvPr>
        </p:nvSpPr>
        <p:spPr>
          <a:xfrm>
            <a:off x="369284" y="1396263"/>
            <a:ext cx="9268468" cy="232537"/>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65" panose="02000600000000000000" pitchFamily="2" charset="0"/>
              </a:rPr>
              <a:t>Proceso de monitorización</a:t>
            </a:r>
          </a:p>
        </p:txBody>
      </p:sp>
      <p:grpSp>
        <p:nvGrpSpPr>
          <p:cNvPr id="46" name="45 Grupo"/>
          <p:cNvGrpSpPr>
            <a:grpSpLocks noChangeAspect="1"/>
          </p:cNvGrpSpPr>
          <p:nvPr/>
        </p:nvGrpSpPr>
        <p:grpSpPr>
          <a:xfrm>
            <a:off x="7705082" y="1200462"/>
            <a:ext cx="386280" cy="360000"/>
            <a:chOff x="460846" y="4293096"/>
            <a:chExt cx="638482" cy="627109"/>
          </a:xfrm>
        </p:grpSpPr>
        <p:sp>
          <p:nvSpPr>
            <p:cNvPr id="47" name="46 Elipse"/>
            <p:cNvSpPr/>
            <p:nvPr/>
          </p:nvSpPr>
          <p:spPr>
            <a:xfrm>
              <a:off x="460846" y="4293096"/>
              <a:ext cx="638482" cy="607226"/>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48" name="Picture 2" descr="https://cdn0.iconfinder.com/data/icons/shipping-icons/100/15-256.png"/>
            <p:cNvPicPr>
              <a:picLocks noChangeAspect="1" noChangeArrowheads="1"/>
            </p:cNvPicPr>
            <p:nvPr/>
          </p:nvPicPr>
          <p:blipFill>
            <a:blip r:embed="rId16" cstate="print">
              <a:biLevel thresh="25000"/>
              <a:extLst>
                <a:ext uri="{28A0092B-C50C-407E-A947-70E740481C1C}">
                  <a14:useLocalDpi xmlns:a14="http://schemas.microsoft.com/office/drawing/2010/main" val="0"/>
                </a:ext>
              </a:extLst>
            </a:blip>
            <a:srcRect/>
            <a:stretch>
              <a:fillRect/>
            </a:stretch>
          </p:blipFill>
          <p:spPr bwMode="auto">
            <a:xfrm>
              <a:off x="487202" y="4326160"/>
              <a:ext cx="594046" cy="5940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9" name="48 Grupo"/>
          <p:cNvGrpSpPr>
            <a:grpSpLocks noChangeAspect="1"/>
          </p:cNvGrpSpPr>
          <p:nvPr/>
        </p:nvGrpSpPr>
        <p:grpSpPr>
          <a:xfrm>
            <a:off x="8214277" y="1200458"/>
            <a:ext cx="398927" cy="360000"/>
            <a:chOff x="442620" y="4900973"/>
            <a:chExt cx="638481" cy="607227"/>
          </a:xfrm>
        </p:grpSpPr>
        <p:sp>
          <p:nvSpPr>
            <p:cNvPr id="51" name="50 Elipse"/>
            <p:cNvSpPr/>
            <p:nvPr/>
          </p:nvSpPr>
          <p:spPr>
            <a:xfrm>
              <a:off x="442620" y="4900973"/>
              <a:ext cx="638481"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52" name="Picture 27" descr="http://flaticons.net/icons/Transportation/Van.png"/>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546086" y="4979379"/>
              <a:ext cx="460901" cy="4609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3" name="52 Grupo"/>
          <p:cNvGrpSpPr>
            <a:grpSpLocks noChangeAspect="1"/>
          </p:cNvGrpSpPr>
          <p:nvPr/>
        </p:nvGrpSpPr>
        <p:grpSpPr>
          <a:xfrm>
            <a:off x="7187326" y="1200458"/>
            <a:ext cx="398926" cy="360000"/>
            <a:chOff x="442620" y="5518761"/>
            <a:chExt cx="638481" cy="607227"/>
          </a:xfrm>
        </p:grpSpPr>
        <p:sp>
          <p:nvSpPr>
            <p:cNvPr id="54" name="53 Elipse"/>
            <p:cNvSpPr/>
            <p:nvPr/>
          </p:nvSpPr>
          <p:spPr>
            <a:xfrm>
              <a:off x="442620" y="5518761"/>
              <a:ext cx="638481"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55" name="Picture 25" descr="http://www.iconsdb.com/icons/preview/white/car-xxl.png"/>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546086" y="5602320"/>
              <a:ext cx="418968" cy="4189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6" name="55 Grupo"/>
          <p:cNvGrpSpPr>
            <a:grpSpLocks noChangeAspect="1"/>
          </p:cNvGrpSpPr>
          <p:nvPr/>
        </p:nvGrpSpPr>
        <p:grpSpPr>
          <a:xfrm>
            <a:off x="8682376" y="1200458"/>
            <a:ext cx="531218" cy="360000"/>
            <a:chOff x="382713" y="5754222"/>
            <a:chExt cx="850214" cy="607227"/>
          </a:xfrm>
        </p:grpSpPr>
        <p:sp>
          <p:nvSpPr>
            <p:cNvPr id="57" name="56 Elipse"/>
            <p:cNvSpPr/>
            <p:nvPr/>
          </p:nvSpPr>
          <p:spPr>
            <a:xfrm>
              <a:off x="490759" y="5754222"/>
              <a:ext cx="638482"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00" dirty="0">
                <a:solidFill>
                  <a:prstClr val="white"/>
                </a:solidFill>
              </a:endParaRPr>
            </a:p>
          </p:txBody>
        </p:sp>
        <p:sp>
          <p:nvSpPr>
            <p:cNvPr id="58" name="57 CuadroTexto"/>
            <p:cNvSpPr txBox="1"/>
            <p:nvPr/>
          </p:nvSpPr>
          <p:spPr>
            <a:xfrm>
              <a:off x="382713" y="5892865"/>
              <a:ext cx="850214" cy="361418"/>
            </a:xfrm>
            <a:prstGeom prst="rect">
              <a:avLst/>
            </a:prstGeom>
            <a:noFill/>
          </p:spPr>
          <p:txBody>
            <a:bodyPr wrap="square" lIns="90281" tIns="45139" rIns="90281" bIns="45139" rtlCol="0">
              <a:spAutoFit/>
            </a:bodyPr>
            <a:lstStyle/>
            <a:p>
              <a:pPr algn="ctr" defTabSz="902813"/>
              <a:r>
                <a:rPr lang="en-GB" sz="800" spc="-49" dirty="0">
                  <a:solidFill>
                    <a:schemeClr val="bg1"/>
                  </a:solidFill>
                  <a:latin typeface="Avenir 65" panose="02000600000000000000" pitchFamily="2" charset="0"/>
                  <a:cs typeface="Arial" pitchFamily="34" charset="0"/>
                </a:rPr>
                <a:t>MBFN</a:t>
              </a:r>
            </a:p>
          </p:txBody>
        </p:sp>
      </p:grpSp>
      <p:sp>
        <p:nvSpPr>
          <p:cNvPr id="59" name="AutoShape 4"/>
          <p:cNvSpPr>
            <a:spLocks noChangeArrowheads="1"/>
          </p:cNvSpPr>
          <p:nvPr/>
        </p:nvSpPr>
        <p:spPr bwMode="auto">
          <a:xfrm>
            <a:off x="632527" y="832079"/>
            <a:ext cx="8660261" cy="432048"/>
          </a:xfrm>
          <a:prstGeom prst="roundRect">
            <a:avLst>
              <a:gd name="adj" fmla="val 12500"/>
            </a:avLst>
          </a:prstGeom>
        </p:spPr>
        <p:txBody>
          <a:bodyPr lIns="92583" tIns="46292" rIns="92583" bIns="46292" anchor="ctr">
            <a:noAutofit/>
          </a:bodyPr>
          <a:lstStyle/>
          <a:p>
            <a:pPr algn="ctr"/>
            <a:r>
              <a:rPr lang="es-ES" sz="1000" dirty="0">
                <a:solidFill>
                  <a:srgbClr val="505050"/>
                </a:solidFill>
                <a:latin typeface="Avenir 35" panose="00000400000000000000" pitchFamily="2" charset="0"/>
                <a:cs typeface="Arial" panose="020B0604020202020204" pitchFamily="34" charset="0"/>
              </a:rPr>
              <a:t>Para poder evolucionar debemos medir el impacto de las acciones que conforman nuestra Estrategia CRM. Analizamos la monitorización desde 5 perspectivas: Canales Digitales, Analítica WEB, Social CRM, Negocio y potencial de la Herramienta.</a:t>
            </a:r>
          </a:p>
        </p:txBody>
      </p:sp>
      <p:grpSp>
        <p:nvGrpSpPr>
          <p:cNvPr id="8" name="7 Grupo"/>
          <p:cNvGrpSpPr/>
          <p:nvPr/>
        </p:nvGrpSpPr>
        <p:grpSpPr>
          <a:xfrm>
            <a:off x="296131" y="2426069"/>
            <a:ext cx="1315511" cy="360000"/>
            <a:chOff x="296131" y="1988840"/>
            <a:chExt cx="1315511" cy="187031"/>
          </a:xfrm>
        </p:grpSpPr>
        <p:sp>
          <p:nvSpPr>
            <p:cNvPr id="75" name="74 Pentágono"/>
            <p:cNvSpPr/>
            <p:nvPr/>
          </p:nvSpPr>
          <p:spPr>
            <a:xfrm>
              <a:off x="296131" y="1988840"/>
              <a:ext cx="1315511" cy="187031"/>
            </a:xfrm>
            <a:prstGeom prst="homePlate">
              <a:avLst>
                <a:gd name="adj" fmla="val 24655"/>
              </a:avLst>
            </a:prstGeom>
            <a:solidFill>
              <a:srgbClr val="3CB2C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en-GB" sz="1100" spc="-50" dirty="0">
                <a:solidFill>
                  <a:prstClr val="white"/>
                </a:solidFill>
                <a:latin typeface="Avenir 35" panose="00000400000000000000" pitchFamily="2" charset="0"/>
              </a:endParaRPr>
            </a:p>
          </p:txBody>
        </p:sp>
        <p:sp>
          <p:nvSpPr>
            <p:cNvPr id="88" name="87 Rectángulo redondeado"/>
            <p:cNvSpPr/>
            <p:nvPr/>
          </p:nvSpPr>
          <p:spPr>
            <a:xfrm>
              <a:off x="296131" y="2004426"/>
              <a:ext cx="1214115" cy="155859"/>
            </a:xfrm>
            <a:prstGeom prst="roundRect">
              <a:avLst/>
            </a:prstGeom>
            <a:solidFill>
              <a:srgbClr val="3CB2C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36000" rtlCol="0" anchor="ctr"/>
            <a:lstStyle/>
            <a:p>
              <a:pPr algn="ctr"/>
              <a:r>
                <a:rPr lang="es-ES" sz="1100" spc="-100" dirty="0">
                  <a:solidFill>
                    <a:prstClr val="white"/>
                  </a:solidFill>
                  <a:latin typeface="Avenir 35" panose="00000400000000000000" pitchFamily="2" charset="0"/>
                  <a:cs typeface="Arial" pitchFamily="34" charset="0"/>
                </a:rPr>
                <a:t>Resultados Analítica Web</a:t>
              </a:r>
            </a:p>
          </p:txBody>
        </p:sp>
      </p:grpSp>
      <p:grpSp>
        <p:nvGrpSpPr>
          <p:cNvPr id="7" name="6 Grupo"/>
          <p:cNvGrpSpPr/>
          <p:nvPr/>
        </p:nvGrpSpPr>
        <p:grpSpPr>
          <a:xfrm>
            <a:off x="296131" y="2888821"/>
            <a:ext cx="1315511" cy="360000"/>
            <a:chOff x="296131" y="2231050"/>
            <a:chExt cx="1315511" cy="187031"/>
          </a:xfrm>
        </p:grpSpPr>
        <p:sp>
          <p:nvSpPr>
            <p:cNvPr id="76" name="75 Pentágono"/>
            <p:cNvSpPr/>
            <p:nvPr/>
          </p:nvSpPr>
          <p:spPr>
            <a:xfrm>
              <a:off x="296131" y="2231050"/>
              <a:ext cx="1315511" cy="187031"/>
            </a:xfrm>
            <a:prstGeom prst="homePlate">
              <a:avLst>
                <a:gd name="adj" fmla="val 24655"/>
              </a:avLst>
            </a:prstGeom>
            <a:solidFill>
              <a:srgbClr val="3CB2C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en-GB" sz="1100" spc="-100" dirty="0">
                <a:solidFill>
                  <a:prstClr val="white"/>
                </a:solidFill>
                <a:latin typeface="Avenir 35" panose="00000400000000000000" pitchFamily="2" charset="0"/>
              </a:endParaRPr>
            </a:p>
          </p:txBody>
        </p:sp>
        <p:sp>
          <p:nvSpPr>
            <p:cNvPr id="85" name="84 Rectángulo redondeado"/>
            <p:cNvSpPr/>
            <p:nvPr/>
          </p:nvSpPr>
          <p:spPr>
            <a:xfrm>
              <a:off x="296131" y="2248265"/>
              <a:ext cx="1214115" cy="155859"/>
            </a:xfrm>
            <a:prstGeom prst="roundRect">
              <a:avLst/>
            </a:prstGeom>
            <a:solidFill>
              <a:srgbClr val="3CB2C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36000" rtlCol="0" anchor="ctr"/>
            <a:lstStyle/>
            <a:p>
              <a:pPr algn="ctr"/>
              <a:r>
                <a:rPr lang="es-ES" sz="1100" spc="-100" dirty="0">
                  <a:solidFill>
                    <a:prstClr val="white"/>
                  </a:solidFill>
                  <a:latin typeface="Avenir 35" panose="00000400000000000000" pitchFamily="2" charset="0"/>
                  <a:cs typeface="Arial" pitchFamily="34" charset="0"/>
                </a:rPr>
                <a:t>Resultados  SF</a:t>
              </a:r>
            </a:p>
          </p:txBody>
        </p:sp>
      </p:grpSp>
      <p:grpSp>
        <p:nvGrpSpPr>
          <p:cNvPr id="6" name="5 Grupo"/>
          <p:cNvGrpSpPr/>
          <p:nvPr/>
        </p:nvGrpSpPr>
        <p:grpSpPr>
          <a:xfrm>
            <a:off x="296131" y="3377460"/>
            <a:ext cx="1315511" cy="334115"/>
            <a:chOff x="296131" y="2473260"/>
            <a:chExt cx="1315511" cy="187031"/>
          </a:xfrm>
        </p:grpSpPr>
        <p:sp>
          <p:nvSpPr>
            <p:cNvPr id="79" name="78 Pentágono"/>
            <p:cNvSpPr/>
            <p:nvPr/>
          </p:nvSpPr>
          <p:spPr>
            <a:xfrm>
              <a:off x="296131" y="2473260"/>
              <a:ext cx="1315511" cy="187031"/>
            </a:xfrm>
            <a:prstGeom prst="homePlate">
              <a:avLst>
                <a:gd name="adj" fmla="val 24655"/>
              </a:avLst>
            </a:prstGeom>
            <a:solidFill>
              <a:srgbClr val="3CB2C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es-ES" sz="1100" spc="-100" dirty="0">
                <a:solidFill>
                  <a:prstClr val="white"/>
                </a:solidFill>
                <a:latin typeface="Avenir 35" panose="00000400000000000000" pitchFamily="2" charset="0"/>
              </a:endParaRPr>
            </a:p>
          </p:txBody>
        </p:sp>
        <p:sp>
          <p:nvSpPr>
            <p:cNvPr id="83" name="82 Rectángulo redondeado"/>
            <p:cNvSpPr/>
            <p:nvPr/>
          </p:nvSpPr>
          <p:spPr>
            <a:xfrm>
              <a:off x="296131" y="2492103"/>
              <a:ext cx="1214115" cy="155859"/>
            </a:xfrm>
            <a:prstGeom prst="roundRect">
              <a:avLst/>
            </a:prstGeom>
            <a:solidFill>
              <a:srgbClr val="3CB2C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36000" rtlCol="0" anchor="ctr"/>
            <a:lstStyle/>
            <a:p>
              <a:pPr algn="ctr"/>
              <a:r>
                <a:rPr lang="es-ES" sz="1100" spc="-100" dirty="0">
                  <a:solidFill>
                    <a:prstClr val="white"/>
                  </a:solidFill>
                  <a:latin typeface="Avenir 35" panose="00000400000000000000" pitchFamily="2" charset="0"/>
                  <a:cs typeface="Arial" pitchFamily="34" charset="0"/>
                </a:rPr>
                <a:t>Resultados DMS</a:t>
              </a:r>
            </a:p>
          </p:txBody>
        </p:sp>
      </p:grpSp>
      <p:grpSp>
        <p:nvGrpSpPr>
          <p:cNvPr id="4" name="3 Grupo"/>
          <p:cNvGrpSpPr/>
          <p:nvPr/>
        </p:nvGrpSpPr>
        <p:grpSpPr>
          <a:xfrm>
            <a:off x="296131" y="4293136"/>
            <a:ext cx="1315511" cy="360000"/>
            <a:chOff x="296131" y="3855907"/>
            <a:chExt cx="1315511" cy="187031"/>
          </a:xfrm>
        </p:grpSpPr>
        <p:sp>
          <p:nvSpPr>
            <p:cNvPr id="80" name="79 Pentágono"/>
            <p:cNvSpPr/>
            <p:nvPr/>
          </p:nvSpPr>
          <p:spPr>
            <a:xfrm>
              <a:off x="296131" y="3855907"/>
              <a:ext cx="1315511" cy="187031"/>
            </a:xfrm>
            <a:prstGeom prst="homePlate">
              <a:avLst>
                <a:gd name="adj" fmla="val 24655"/>
              </a:avLst>
            </a:prstGeom>
            <a:solidFill>
              <a:srgbClr val="3CB2C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es-ES" sz="1100" spc="-100" dirty="0">
                <a:solidFill>
                  <a:prstClr val="white"/>
                </a:solidFill>
                <a:latin typeface="Avenir 35" panose="00000400000000000000" pitchFamily="2" charset="0"/>
              </a:endParaRPr>
            </a:p>
          </p:txBody>
        </p:sp>
        <p:sp>
          <p:nvSpPr>
            <p:cNvPr id="87" name="86 Rectángulo redondeado"/>
            <p:cNvSpPr/>
            <p:nvPr/>
          </p:nvSpPr>
          <p:spPr>
            <a:xfrm>
              <a:off x="296131" y="3878008"/>
              <a:ext cx="1214115" cy="155859"/>
            </a:xfrm>
            <a:prstGeom prst="roundRect">
              <a:avLst/>
            </a:prstGeom>
            <a:solidFill>
              <a:srgbClr val="3CB2C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36000" rtlCol="0" anchor="ctr"/>
            <a:lstStyle/>
            <a:p>
              <a:pPr algn="ctr"/>
              <a:r>
                <a:rPr lang="es-ES" sz="1100" spc="-100" dirty="0">
                  <a:solidFill>
                    <a:prstClr val="white"/>
                  </a:solidFill>
                  <a:latin typeface="Avenir 35" panose="00000400000000000000" pitchFamily="2" charset="0"/>
                  <a:cs typeface="Arial" pitchFamily="34" charset="0"/>
                </a:rPr>
                <a:t>Resultados AG*</a:t>
              </a:r>
            </a:p>
          </p:txBody>
        </p:sp>
      </p:grpSp>
      <p:grpSp>
        <p:nvGrpSpPr>
          <p:cNvPr id="5" name="4 Grupo"/>
          <p:cNvGrpSpPr/>
          <p:nvPr/>
        </p:nvGrpSpPr>
        <p:grpSpPr>
          <a:xfrm>
            <a:off x="296131" y="3828812"/>
            <a:ext cx="1315511" cy="357003"/>
            <a:chOff x="296131" y="2715470"/>
            <a:chExt cx="1315511" cy="187031"/>
          </a:xfrm>
        </p:grpSpPr>
        <p:sp>
          <p:nvSpPr>
            <p:cNvPr id="77" name="76 Pentágono"/>
            <p:cNvSpPr/>
            <p:nvPr/>
          </p:nvSpPr>
          <p:spPr>
            <a:xfrm>
              <a:off x="296131" y="2715470"/>
              <a:ext cx="1315511" cy="187031"/>
            </a:xfrm>
            <a:prstGeom prst="homePlate">
              <a:avLst>
                <a:gd name="adj" fmla="val 24655"/>
              </a:avLst>
            </a:prstGeom>
            <a:solidFill>
              <a:srgbClr val="3CB2C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es-ES" sz="1100" spc="-100" dirty="0">
                <a:solidFill>
                  <a:prstClr val="white"/>
                </a:solidFill>
                <a:latin typeface="Avenir 35" panose="00000400000000000000" pitchFamily="2" charset="0"/>
              </a:endParaRPr>
            </a:p>
          </p:txBody>
        </p:sp>
        <p:sp>
          <p:nvSpPr>
            <p:cNvPr id="82" name="81 Rectángulo redondeado"/>
            <p:cNvSpPr/>
            <p:nvPr/>
          </p:nvSpPr>
          <p:spPr>
            <a:xfrm>
              <a:off x="296131" y="2735942"/>
              <a:ext cx="1214115" cy="155859"/>
            </a:xfrm>
            <a:prstGeom prst="roundRect">
              <a:avLst/>
            </a:prstGeom>
            <a:solidFill>
              <a:srgbClr val="3CB2C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36000" rtlCol="0" anchor="ctr"/>
            <a:lstStyle/>
            <a:p>
              <a:pPr algn="ctr"/>
              <a:r>
                <a:rPr lang="es-ES" sz="1100" spc="-100" dirty="0">
                  <a:solidFill>
                    <a:prstClr val="white"/>
                  </a:solidFill>
                  <a:latin typeface="Avenir 35" panose="00000400000000000000" pitchFamily="2" charset="0"/>
                  <a:cs typeface="Arial" pitchFamily="34" charset="0"/>
                </a:rPr>
                <a:t>Resultados IMS</a:t>
              </a:r>
            </a:p>
          </p:txBody>
        </p:sp>
      </p:grpSp>
      <p:sp>
        <p:nvSpPr>
          <p:cNvPr id="124" name="123 CuadroTexto"/>
          <p:cNvSpPr txBox="1"/>
          <p:nvPr/>
        </p:nvSpPr>
        <p:spPr>
          <a:xfrm>
            <a:off x="369284" y="1652664"/>
            <a:ext cx="3937049" cy="192160"/>
          </a:xfrm>
          <a:prstGeom prst="rect">
            <a:avLst/>
          </a:prstGeom>
          <a:solidFill>
            <a:schemeClr val="tx1">
              <a:lumMod val="65000"/>
              <a:lumOff val="35000"/>
            </a:schemeClr>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600" kern="0">
                <a:solidFill>
                  <a:srgbClr val="FFFFFF"/>
                </a:solidFill>
                <a:latin typeface="Century Gothic" panose="020B0502020202020204" pitchFamily="34" charset="0"/>
              </a:defRPr>
            </a:lvl1pPr>
          </a:lstStyle>
          <a:p>
            <a:r>
              <a:rPr lang="es-ES" sz="1200" dirty="0">
                <a:latin typeface="Avenir 35 Light" panose="00000400000000000000" pitchFamily="2" charset="0"/>
              </a:rPr>
              <a:t>Integrar</a:t>
            </a:r>
            <a:endParaRPr lang="es-ES" dirty="0">
              <a:latin typeface="Avenir 35 Light" panose="00000400000000000000" pitchFamily="2" charset="0"/>
            </a:endParaRPr>
          </a:p>
        </p:txBody>
      </p:sp>
      <p:sp>
        <p:nvSpPr>
          <p:cNvPr id="125" name="124 CuadroTexto"/>
          <p:cNvSpPr txBox="1"/>
          <p:nvPr/>
        </p:nvSpPr>
        <p:spPr>
          <a:xfrm>
            <a:off x="4324937" y="1652664"/>
            <a:ext cx="2716295" cy="192160"/>
          </a:xfrm>
          <a:prstGeom prst="rect">
            <a:avLst/>
          </a:prstGeom>
          <a:solidFill>
            <a:schemeClr val="tx1">
              <a:lumMod val="65000"/>
              <a:lumOff val="35000"/>
            </a:schemeClr>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600" kern="0">
                <a:solidFill>
                  <a:srgbClr val="FFFFFF"/>
                </a:solidFill>
                <a:latin typeface="Century Gothic" panose="020B0502020202020204" pitchFamily="34" charset="0"/>
              </a:defRPr>
            </a:lvl1pPr>
          </a:lstStyle>
          <a:p>
            <a:r>
              <a:rPr lang="es-ES" sz="1200" dirty="0">
                <a:latin typeface="Avenir 35 Light" panose="00000400000000000000" pitchFamily="2" charset="0"/>
              </a:rPr>
              <a:t>Depurar</a:t>
            </a:r>
            <a:endParaRPr lang="es-ES" dirty="0">
              <a:latin typeface="Avenir 35 Light" panose="00000400000000000000" pitchFamily="2" charset="0"/>
            </a:endParaRPr>
          </a:p>
        </p:txBody>
      </p:sp>
      <p:sp>
        <p:nvSpPr>
          <p:cNvPr id="126" name="125 CuadroTexto"/>
          <p:cNvSpPr txBox="1"/>
          <p:nvPr/>
        </p:nvSpPr>
        <p:spPr>
          <a:xfrm>
            <a:off x="7074615" y="1652664"/>
            <a:ext cx="2563137" cy="192160"/>
          </a:xfrm>
          <a:prstGeom prst="rect">
            <a:avLst/>
          </a:prstGeom>
          <a:solidFill>
            <a:schemeClr val="tx1">
              <a:lumMod val="65000"/>
              <a:lumOff val="35000"/>
            </a:schemeClr>
          </a:solidFill>
          <a:ln w="25400" cap="flat" cmpd="sng" algn="ctr">
            <a:noFill/>
            <a:prstDash val="solid"/>
          </a:ln>
          <a:effectLst/>
        </p:spPr>
        <p:txBody>
          <a:bodyPr lIns="36000" tIns="36000" rIns="36000" bIns="36000" rtlCol="0" anchor="ctr"/>
          <a:lstStyle>
            <a:defPPr>
              <a:defRPr lang="es-ES"/>
            </a:defPPr>
            <a:lvl1pPr algn="ctr" fontAlgn="base">
              <a:spcBef>
                <a:spcPct val="0"/>
              </a:spcBef>
              <a:spcAft>
                <a:spcPct val="0"/>
              </a:spcAft>
              <a:defRPr sz="1600" kern="0">
                <a:solidFill>
                  <a:srgbClr val="FFFFFF"/>
                </a:solidFill>
                <a:latin typeface="Century Gothic" panose="020B0502020202020204" pitchFamily="34" charset="0"/>
              </a:defRPr>
            </a:lvl1pPr>
          </a:lstStyle>
          <a:p>
            <a:r>
              <a:rPr lang="es-ES" sz="1200" dirty="0">
                <a:latin typeface="Avenir 35 Light" panose="00000400000000000000" pitchFamily="2" charset="0"/>
              </a:rPr>
              <a:t>Conocer  &amp; Explotar</a:t>
            </a:r>
            <a:endParaRPr lang="es-ES" dirty="0">
              <a:latin typeface="Avenir 35 Light" panose="00000400000000000000" pitchFamily="2" charset="0"/>
            </a:endParaRPr>
          </a:p>
        </p:txBody>
      </p:sp>
      <p:sp>
        <p:nvSpPr>
          <p:cNvPr id="128" name="Content Placeholder 2"/>
          <p:cNvSpPr txBox="1">
            <a:spLocks/>
          </p:cNvSpPr>
          <p:nvPr/>
        </p:nvSpPr>
        <p:spPr bwMode="auto">
          <a:xfrm>
            <a:off x="5889104" y="3908872"/>
            <a:ext cx="4068801" cy="72548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defRPr/>
            </a:pPr>
            <a:r>
              <a:rPr lang="es-ES" sz="1000" dirty="0">
                <a:solidFill>
                  <a:prstClr val="white">
                    <a:lumMod val="50000"/>
                  </a:prstClr>
                </a:solidFill>
                <a:latin typeface="Avenir 35" panose="00000400000000000000" pitchFamily="2" charset="0"/>
              </a:rPr>
              <a:t>sales cloud</a:t>
            </a:r>
          </a:p>
          <a:p>
            <a:pPr algn="ctr">
              <a:lnSpc>
                <a:spcPct val="100000"/>
              </a:lnSpc>
              <a:spcBef>
                <a:spcPts val="0"/>
              </a:spcBef>
              <a:defRPr/>
            </a:pPr>
            <a:r>
              <a:rPr lang="es-ES" sz="1000" dirty="0">
                <a:solidFill>
                  <a:prstClr val="white">
                    <a:lumMod val="50000"/>
                  </a:prstClr>
                </a:solidFill>
                <a:latin typeface="Avenir 35" panose="00000400000000000000" pitchFamily="2" charset="0"/>
              </a:rPr>
              <a:t>marketing cloud</a:t>
            </a:r>
          </a:p>
          <a:p>
            <a:pPr algn="ctr">
              <a:lnSpc>
                <a:spcPct val="100000"/>
              </a:lnSpc>
              <a:spcBef>
                <a:spcPts val="0"/>
              </a:spcBef>
              <a:defRPr/>
            </a:pPr>
            <a:r>
              <a:rPr lang="es-ES" sz="1000" dirty="0">
                <a:solidFill>
                  <a:prstClr val="white">
                    <a:lumMod val="50000"/>
                  </a:prstClr>
                </a:solidFill>
                <a:latin typeface="Avenir 35" panose="00000400000000000000" pitchFamily="2" charset="0"/>
              </a:rPr>
              <a:t>radian6</a:t>
            </a:r>
            <a:endParaRPr lang="en-AU" sz="1000" dirty="0">
              <a:solidFill>
                <a:prstClr val="white">
                  <a:lumMod val="50000"/>
                </a:prstClr>
              </a:solidFill>
              <a:latin typeface="Avenir 35" panose="00000400000000000000" pitchFamily="2" charset="0"/>
            </a:endParaRPr>
          </a:p>
        </p:txBody>
      </p:sp>
      <p:sp>
        <p:nvSpPr>
          <p:cNvPr id="130" name="129 CuadroTexto"/>
          <p:cNvSpPr txBox="1"/>
          <p:nvPr/>
        </p:nvSpPr>
        <p:spPr>
          <a:xfrm>
            <a:off x="2968068" y="2765310"/>
            <a:ext cx="517102" cy="205040"/>
          </a:xfrm>
          <a:prstGeom prst="rect">
            <a:avLst/>
          </a:prstGeom>
          <a:noFill/>
        </p:spPr>
        <p:txBody>
          <a:bodyPr wrap="none" rtlCol="0">
            <a:spAutoFit/>
          </a:bodyPr>
          <a:lstStyle/>
          <a:p>
            <a:r>
              <a:rPr lang="es-ES" sz="900" dirty="0">
                <a:solidFill>
                  <a:prstClr val="white"/>
                </a:solidFill>
              </a:rPr>
              <a:t>Turismos</a:t>
            </a:r>
          </a:p>
        </p:txBody>
      </p:sp>
      <p:sp>
        <p:nvSpPr>
          <p:cNvPr id="131" name="130 CuadroTexto"/>
          <p:cNvSpPr txBox="1"/>
          <p:nvPr/>
        </p:nvSpPr>
        <p:spPr>
          <a:xfrm>
            <a:off x="6500944" y="3315884"/>
            <a:ext cx="544161" cy="205040"/>
          </a:xfrm>
          <a:prstGeom prst="rect">
            <a:avLst/>
          </a:prstGeom>
          <a:noFill/>
        </p:spPr>
        <p:txBody>
          <a:bodyPr wrap="none" rtlCol="0">
            <a:spAutoFit/>
          </a:bodyPr>
          <a:lstStyle/>
          <a:p>
            <a:r>
              <a:rPr lang="es-ES" sz="900" dirty="0">
                <a:solidFill>
                  <a:prstClr val="white"/>
                </a:solidFill>
              </a:rPr>
              <a:t>Camiones</a:t>
            </a:r>
          </a:p>
        </p:txBody>
      </p:sp>
      <p:sp>
        <p:nvSpPr>
          <p:cNvPr id="132" name="131 CuadroTexto"/>
          <p:cNvSpPr txBox="1"/>
          <p:nvPr/>
        </p:nvSpPr>
        <p:spPr>
          <a:xfrm>
            <a:off x="7108705" y="3847750"/>
            <a:ext cx="434571" cy="205040"/>
          </a:xfrm>
          <a:prstGeom prst="rect">
            <a:avLst/>
          </a:prstGeom>
          <a:noFill/>
        </p:spPr>
        <p:txBody>
          <a:bodyPr wrap="none" rtlCol="0">
            <a:spAutoFit/>
          </a:bodyPr>
          <a:lstStyle/>
          <a:p>
            <a:r>
              <a:rPr lang="es-ES" sz="900" dirty="0">
                <a:solidFill>
                  <a:prstClr val="white"/>
                </a:solidFill>
              </a:rPr>
              <a:t>Cliente</a:t>
            </a:r>
          </a:p>
        </p:txBody>
      </p:sp>
      <p:pic>
        <p:nvPicPr>
          <p:cNvPr id="133" name="Picture 2" descr="http://programacion.net/files/article/20160105010142_sql-server.png"/>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3554054" y="3938237"/>
            <a:ext cx="501664" cy="133538"/>
          </a:xfrm>
          <a:prstGeom prst="rect">
            <a:avLst/>
          </a:prstGeom>
          <a:noFill/>
          <a:extLst>
            <a:ext uri="{909E8E84-426E-40DD-AFC4-6F175D3DCCD1}">
              <a14:hiddenFill xmlns:a14="http://schemas.microsoft.com/office/drawing/2010/main">
                <a:solidFill>
                  <a:srgbClr val="FFFFFF"/>
                </a:solidFill>
              </a14:hiddenFill>
            </a:ext>
          </a:extLst>
        </p:spPr>
      </p:pic>
      <p:sp>
        <p:nvSpPr>
          <p:cNvPr id="134" name="133 Flecha derecha"/>
          <p:cNvSpPr/>
          <p:nvPr/>
        </p:nvSpPr>
        <p:spPr>
          <a:xfrm>
            <a:off x="3150396" y="3525641"/>
            <a:ext cx="240227" cy="219123"/>
          </a:xfrm>
          <a:prstGeom prst="rightArrow">
            <a:avLst>
              <a:gd name="adj1" fmla="val 67933"/>
              <a:gd name="adj2" fmla="val 50000"/>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sp>
        <p:nvSpPr>
          <p:cNvPr id="135" name="134 Flecha derecha"/>
          <p:cNvSpPr/>
          <p:nvPr/>
        </p:nvSpPr>
        <p:spPr>
          <a:xfrm>
            <a:off x="4186220" y="3512180"/>
            <a:ext cx="240227" cy="219123"/>
          </a:xfrm>
          <a:prstGeom prst="rightArrow">
            <a:avLst>
              <a:gd name="adj1" fmla="val 67933"/>
              <a:gd name="adj2" fmla="val 50000"/>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sp>
        <p:nvSpPr>
          <p:cNvPr id="136" name="135 Rectángulo"/>
          <p:cNvSpPr/>
          <p:nvPr>
            <p:custDataLst>
              <p:tags r:id="rId2"/>
            </p:custDataLst>
          </p:nvPr>
        </p:nvSpPr>
        <p:spPr>
          <a:xfrm>
            <a:off x="4462123" y="3271982"/>
            <a:ext cx="732882" cy="699510"/>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1200" kern="0" dirty="0">
                <a:solidFill>
                  <a:srgbClr val="FFFFFF"/>
                </a:solidFill>
                <a:latin typeface="Avenir 35" panose="00000400000000000000" pitchFamily="2" charset="0"/>
              </a:rPr>
              <a:t>Data Quality</a:t>
            </a:r>
          </a:p>
        </p:txBody>
      </p:sp>
      <p:sp>
        <p:nvSpPr>
          <p:cNvPr id="137" name="136 Flecha derecha"/>
          <p:cNvSpPr/>
          <p:nvPr/>
        </p:nvSpPr>
        <p:spPr>
          <a:xfrm>
            <a:off x="5255779" y="3534197"/>
            <a:ext cx="240227" cy="219123"/>
          </a:xfrm>
          <a:prstGeom prst="rightArrow">
            <a:avLst>
              <a:gd name="adj1" fmla="val 67933"/>
              <a:gd name="adj2" fmla="val 50000"/>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sp>
        <p:nvSpPr>
          <p:cNvPr id="138" name="137 Flecha derecha"/>
          <p:cNvSpPr/>
          <p:nvPr/>
        </p:nvSpPr>
        <p:spPr>
          <a:xfrm>
            <a:off x="7136878" y="3512180"/>
            <a:ext cx="240227" cy="219123"/>
          </a:xfrm>
          <a:prstGeom prst="rightArrow">
            <a:avLst>
              <a:gd name="adj1" fmla="val 67933"/>
              <a:gd name="adj2" fmla="val 50000"/>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pic>
        <p:nvPicPr>
          <p:cNvPr id="139" name="Picture 6" descr="https://trust.salesforce.com/images/TrustLogoWhite.png"/>
          <p:cNvPicPr>
            <a:picLocks noChangeAspect="1" noChangeArrowheads="1"/>
          </p:cNvPicPr>
          <p:nvPr/>
        </p:nvPicPr>
        <p:blipFill rotWithShape="1">
          <a:blip r:embed="rId20" cstate="print">
            <a:extLst>
              <a:ext uri="{28A0092B-C50C-407E-A947-70E740481C1C}">
                <a14:useLocalDpi xmlns:a14="http://schemas.microsoft.com/office/drawing/2010/main" val="0"/>
              </a:ext>
            </a:extLst>
          </a:blip>
          <a:srcRect r="32059"/>
          <a:stretch/>
        </p:blipFill>
        <p:spPr bwMode="auto">
          <a:xfrm>
            <a:off x="7473359" y="3294122"/>
            <a:ext cx="947116" cy="655240"/>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 descr="http://programacion.net/files/article/20160105010142_sql-server.png"/>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6572951" y="3938237"/>
            <a:ext cx="501664" cy="133538"/>
          </a:xfrm>
          <a:prstGeom prst="rect">
            <a:avLst/>
          </a:prstGeom>
          <a:noFill/>
          <a:extLst>
            <a:ext uri="{909E8E84-426E-40DD-AFC4-6F175D3DCCD1}">
              <a14:hiddenFill xmlns:a14="http://schemas.microsoft.com/office/drawing/2010/main">
                <a:solidFill>
                  <a:srgbClr val="FFFFFF"/>
                </a:solidFill>
              </a14:hiddenFill>
            </a:ext>
          </a:extLst>
        </p:spPr>
      </p:pic>
      <p:sp>
        <p:nvSpPr>
          <p:cNvPr id="141" name="140 Flecha derecha"/>
          <p:cNvSpPr/>
          <p:nvPr/>
        </p:nvSpPr>
        <p:spPr>
          <a:xfrm>
            <a:off x="8406770" y="3489996"/>
            <a:ext cx="240227" cy="219123"/>
          </a:xfrm>
          <a:prstGeom prst="rightArrow">
            <a:avLst>
              <a:gd name="adj1" fmla="val 67933"/>
              <a:gd name="adj2" fmla="val 50000"/>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sp>
        <p:nvSpPr>
          <p:cNvPr id="143" name="142 Rectángulo"/>
          <p:cNvSpPr/>
          <p:nvPr>
            <p:custDataLst>
              <p:tags r:id="rId3"/>
            </p:custDataLst>
          </p:nvPr>
        </p:nvSpPr>
        <p:spPr>
          <a:xfrm>
            <a:off x="8770706" y="2858117"/>
            <a:ext cx="790087" cy="240292"/>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900" kern="0" dirty="0">
                <a:solidFill>
                  <a:srgbClr val="FFFFFF"/>
                </a:solidFill>
                <a:latin typeface="Avenir 35" panose="00000400000000000000" pitchFamily="2" charset="0"/>
              </a:rPr>
              <a:t>Turismo BU</a:t>
            </a:r>
          </a:p>
        </p:txBody>
      </p:sp>
      <p:sp>
        <p:nvSpPr>
          <p:cNvPr id="146" name="Freeform 148"/>
          <p:cNvSpPr>
            <a:spLocks noEditPoints="1"/>
          </p:cNvSpPr>
          <p:nvPr/>
        </p:nvSpPr>
        <p:spPr bwMode="auto">
          <a:xfrm>
            <a:off x="2358128" y="3374627"/>
            <a:ext cx="615242" cy="559024"/>
          </a:xfrm>
          <a:custGeom>
            <a:avLst/>
            <a:gdLst>
              <a:gd name="T0" fmla="*/ 135 w 186"/>
              <a:gd name="T1" fmla="*/ 51 h 169"/>
              <a:gd name="T2" fmla="*/ 85 w 186"/>
              <a:gd name="T3" fmla="*/ 51 h 169"/>
              <a:gd name="T4" fmla="*/ 51 w 186"/>
              <a:gd name="T5" fmla="*/ 34 h 169"/>
              <a:gd name="T6" fmla="*/ 17 w 186"/>
              <a:gd name="T7" fmla="*/ 34 h 169"/>
              <a:gd name="T8" fmla="*/ 0 w 186"/>
              <a:gd name="T9" fmla="*/ 51 h 169"/>
              <a:gd name="T10" fmla="*/ 0 w 186"/>
              <a:gd name="T11" fmla="*/ 152 h 169"/>
              <a:gd name="T12" fmla="*/ 17 w 186"/>
              <a:gd name="T13" fmla="*/ 169 h 169"/>
              <a:gd name="T14" fmla="*/ 135 w 186"/>
              <a:gd name="T15" fmla="*/ 169 h 169"/>
              <a:gd name="T16" fmla="*/ 152 w 186"/>
              <a:gd name="T17" fmla="*/ 152 h 169"/>
              <a:gd name="T18" fmla="*/ 152 w 186"/>
              <a:gd name="T19" fmla="*/ 67 h 169"/>
              <a:gd name="T20" fmla="*/ 135 w 186"/>
              <a:gd name="T21" fmla="*/ 51 h 169"/>
              <a:gd name="T22" fmla="*/ 144 w 186"/>
              <a:gd name="T23" fmla="*/ 152 h 169"/>
              <a:gd name="T24" fmla="*/ 135 w 186"/>
              <a:gd name="T25" fmla="*/ 160 h 169"/>
              <a:gd name="T26" fmla="*/ 17 w 186"/>
              <a:gd name="T27" fmla="*/ 160 h 169"/>
              <a:gd name="T28" fmla="*/ 9 w 186"/>
              <a:gd name="T29" fmla="*/ 152 h 169"/>
              <a:gd name="T30" fmla="*/ 9 w 186"/>
              <a:gd name="T31" fmla="*/ 84 h 169"/>
              <a:gd name="T32" fmla="*/ 144 w 186"/>
              <a:gd name="T33" fmla="*/ 84 h 169"/>
              <a:gd name="T34" fmla="*/ 144 w 186"/>
              <a:gd name="T35" fmla="*/ 152 h 169"/>
              <a:gd name="T36" fmla="*/ 144 w 186"/>
              <a:gd name="T37" fmla="*/ 76 h 169"/>
              <a:gd name="T38" fmla="*/ 9 w 186"/>
              <a:gd name="T39" fmla="*/ 76 h 169"/>
              <a:gd name="T40" fmla="*/ 9 w 186"/>
              <a:gd name="T41" fmla="*/ 51 h 169"/>
              <a:gd name="T42" fmla="*/ 17 w 186"/>
              <a:gd name="T43" fmla="*/ 42 h 169"/>
              <a:gd name="T44" fmla="*/ 51 w 186"/>
              <a:gd name="T45" fmla="*/ 42 h 169"/>
              <a:gd name="T46" fmla="*/ 85 w 186"/>
              <a:gd name="T47" fmla="*/ 59 h 169"/>
              <a:gd name="T48" fmla="*/ 135 w 186"/>
              <a:gd name="T49" fmla="*/ 59 h 169"/>
              <a:gd name="T50" fmla="*/ 144 w 186"/>
              <a:gd name="T51" fmla="*/ 67 h 169"/>
              <a:gd name="T52" fmla="*/ 144 w 186"/>
              <a:gd name="T53" fmla="*/ 76 h 169"/>
              <a:gd name="T54" fmla="*/ 169 w 186"/>
              <a:gd name="T55" fmla="*/ 17 h 169"/>
              <a:gd name="T56" fmla="*/ 119 w 186"/>
              <a:gd name="T57" fmla="*/ 17 h 169"/>
              <a:gd name="T58" fmla="*/ 85 w 186"/>
              <a:gd name="T59" fmla="*/ 0 h 169"/>
              <a:gd name="T60" fmla="*/ 51 w 186"/>
              <a:gd name="T61" fmla="*/ 0 h 169"/>
              <a:gd name="T62" fmla="*/ 34 w 186"/>
              <a:gd name="T63" fmla="*/ 17 h 169"/>
              <a:gd name="T64" fmla="*/ 34 w 186"/>
              <a:gd name="T65" fmla="*/ 21 h 169"/>
              <a:gd name="T66" fmla="*/ 38 w 186"/>
              <a:gd name="T67" fmla="*/ 25 h 169"/>
              <a:gd name="T68" fmla="*/ 43 w 186"/>
              <a:gd name="T69" fmla="*/ 21 h 169"/>
              <a:gd name="T70" fmla="*/ 43 w 186"/>
              <a:gd name="T71" fmla="*/ 17 h 169"/>
              <a:gd name="T72" fmla="*/ 51 w 186"/>
              <a:gd name="T73" fmla="*/ 8 h 169"/>
              <a:gd name="T74" fmla="*/ 85 w 186"/>
              <a:gd name="T75" fmla="*/ 8 h 169"/>
              <a:gd name="T76" fmla="*/ 119 w 186"/>
              <a:gd name="T77" fmla="*/ 25 h 169"/>
              <a:gd name="T78" fmla="*/ 169 w 186"/>
              <a:gd name="T79" fmla="*/ 25 h 169"/>
              <a:gd name="T80" fmla="*/ 178 w 186"/>
              <a:gd name="T81" fmla="*/ 34 h 169"/>
              <a:gd name="T82" fmla="*/ 178 w 186"/>
              <a:gd name="T83" fmla="*/ 118 h 169"/>
              <a:gd name="T84" fmla="*/ 169 w 186"/>
              <a:gd name="T85" fmla="*/ 126 h 169"/>
              <a:gd name="T86" fmla="*/ 165 w 186"/>
              <a:gd name="T87" fmla="*/ 126 h 169"/>
              <a:gd name="T88" fmla="*/ 161 w 186"/>
              <a:gd name="T89" fmla="*/ 131 h 169"/>
              <a:gd name="T90" fmla="*/ 165 w 186"/>
              <a:gd name="T91" fmla="*/ 135 h 169"/>
              <a:gd name="T92" fmla="*/ 169 w 186"/>
              <a:gd name="T93" fmla="*/ 135 h 169"/>
              <a:gd name="T94" fmla="*/ 186 w 186"/>
              <a:gd name="T95" fmla="*/ 118 h 169"/>
              <a:gd name="T96" fmla="*/ 186 w 186"/>
              <a:gd name="T97" fmla="*/ 34 h 169"/>
              <a:gd name="T98" fmla="*/ 169 w 186"/>
              <a:gd name="T99" fmla="*/ 17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6" h="169">
                <a:moveTo>
                  <a:pt x="135" y="51"/>
                </a:moveTo>
                <a:cubicBezTo>
                  <a:pt x="85" y="51"/>
                  <a:pt x="85" y="51"/>
                  <a:pt x="85" y="51"/>
                </a:cubicBezTo>
                <a:cubicBezTo>
                  <a:pt x="68" y="51"/>
                  <a:pt x="68" y="34"/>
                  <a:pt x="51" y="34"/>
                </a:cubicBezTo>
                <a:cubicBezTo>
                  <a:pt x="17" y="34"/>
                  <a:pt x="17" y="34"/>
                  <a:pt x="17" y="34"/>
                </a:cubicBezTo>
                <a:cubicBezTo>
                  <a:pt x="8" y="34"/>
                  <a:pt x="0" y="41"/>
                  <a:pt x="0" y="51"/>
                </a:cubicBezTo>
                <a:cubicBezTo>
                  <a:pt x="0" y="152"/>
                  <a:pt x="0" y="152"/>
                  <a:pt x="0" y="152"/>
                </a:cubicBezTo>
                <a:cubicBezTo>
                  <a:pt x="0" y="161"/>
                  <a:pt x="8" y="169"/>
                  <a:pt x="17" y="169"/>
                </a:cubicBezTo>
                <a:cubicBezTo>
                  <a:pt x="135" y="169"/>
                  <a:pt x="135" y="169"/>
                  <a:pt x="135" y="169"/>
                </a:cubicBezTo>
                <a:cubicBezTo>
                  <a:pt x="145" y="169"/>
                  <a:pt x="152" y="161"/>
                  <a:pt x="152" y="152"/>
                </a:cubicBezTo>
                <a:cubicBezTo>
                  <a:pt x="152" y="67"/>
                  <a:pt x="152" y="67"/>
                  <a:pt x="152" y="67"/>
                </a:cubicBezTo>
                <a:cubicBezTo>
                  <a:pt x="152" y="58"/>
                  <a:pt x="145" y="51"/>
                  <a:pt x="135" y="51"/>
                </a:cubicBezTo>
                <a:close/>
                <a:moveTo>
                  <a:pt x="144" y="152"/>
                </a:moveTo>
                <a:cubicBezTo>
                  <a:pt x="144" y="156"/>
                  <a:pt x="140" y="160"/>
                  <a:pt x="135" y="160"/>
                </a:cubicBezTo>
                <a:cubicBezTo>
                  <a:pt x="17" y="160"/>
                  <a:pt x="17" y="160"/>
                  <a:pt x="17" y="160"/>
                </a:cubicBezTo>
                <a:cubicBezTo>
                  <a:pt x="13" y="160"/>
                  <a:pt x="9" y="156"/>
                  <a:pt x="9" y="152"/>
                </a:cubicBezTo>
                <a:cubicBezTo>
                  <a:pt x="9" y="84"/>
                  <a:pt x="9" y="84"/>
                  <a:pt x="9" y="84"/>
                </a:cubicBezTo>
                <a:cubicBezTo>
                  <a:pt x="144" y="84"/>
                  <a:pt x="144" y="84"/>
                  <a:pt x="144" y="84"/>
                </a:cubicBezTo>
                <a:lnTo>
                  <a:pt x="144" y="152"/>
                </a:lnTo>
                <a:close/>
                <a:moveTo>
                  <a:pt x="144" y="76"/>
                </a:moveTo>
                <a:cubicBezTo>
                  <a:pt x="9" y="76"/>
                  <a:pt x="9" y="76"/>
                  <a:pt x="9" y="76"/>
                </a:cubicBezTo>
                <a:cubicBezTo>
                  <a:pt x="9" y="51"/>
                  <a:pt x="9" y="51"/>
                  <a:pt x="9" y="51"/>
                </a:cubicBezTo>
                <a:cubicBezTo>
                  <a:pt x="9" y="46"/>
                  <a:pt x="13" y="42"/>
                  <a:pt x="17" y="42"/>
                </a:cubicBezTo>
                <a:cubicBezTo>
                  <a:pt x="51" y="42"/>
                  <a:pt x="51" y="42"/>
                  <a:pt x="51" y="42"/>
                </a:cubicBezTo>
                <a:cubicBezTo>
                  <a:pt x="64" y="42"/>
                  <a:pt x="64" y="59"/>
                  <a:pt x="85" y="59"/>
                </a:cubicBezTo>
                <a:cubicBezTo>
                  <a:pt x="135" y="59"/>
                  <a:pt x="135" y="59"/>
                  <a:pt x="135" y="59"/>
                </a:cubicBezTo>
                <a:cubicBezTo>
                  <a:pt x="140" y="59"/>
                  <a:pt x="144" y="63"/>
                  <a:pt x="144" y="67"/>
                </a:cubicBezTo>
                <a:lnTo>
                  <a:pt x="144" y="76"/>
                </a:lnTo>
                <a:close/>
                <a:moveTo>
                  <a:pt x="169" y="17"/>
                </a:moveTo>
                <a:cubicBezTo>
                  <a:pt x="119" y="17"/>
                  <a:pt x="119" y="17"/>
                  <a:pt x="119" y="17"/>
                </a:cubicBezTo>
                <a:cubicBezTo>
                  <a:pt x="102" y="17"/>
                  <a:pt x="102" y="0"/>
                  <a:pt x="85" y="0"/>
                </a:cubicBezTo>
                <a:cubicBezTo>
                  <a:pt x="51" y="0"/>
                  <a:pt x="51" y="0"/>
                  <a:pt x="51" y="0"/>
                </a:cubicBezTo>
                <a:cubicBezTo>
                  <a:pt x="42" y="0"/>
                  <a:pt x="34" y="7"/>
                  <a:pt x="34" y="17"/>
                </a:cubicBezTo>
                <a:cubicBezTo>
                  <a:pt x="34" y="21"/>
                  <a:pt x="34" y="21"/>
                  <a:pt x="34" y="21"/>
                </a:cubicBezTo>
                <a:cubicBezTo>
                  <a:pt x="34" y="23"/>
                  <a:pt x="36" y="25"/>
                  <a:pt x="38" y="25"/>
                </a:cubicBezTo>
                <a:cubicBezTo>
                  <a:pt x="41" y="25"/>
                  <a:pt x="43" y="23"/>
                  <a:pt x="43" y="21"/>
                </a:cubicBezTo>
                <a:cubicBezTo>
                  <a:pt x="43" y="17"/>
                  <a:pt x="43" y="17"/>
                  <a:pt x="43" y="17"/>
                </a:cubicBezTo>
                <a:cubicBezTo>
                  <a:pt x="43" y="12"/>
                  <a:pt x="46" y="8"/>
                  <a:pt x="51" y="8"/>
                </a:cubicBezTo>
                <a:cubicBezTo>
                  <a:pt x="85" y="8"/>
                  <a:pt x="85" y="8"/>
                  <a:pt x="85" y="8"/>
                </a:cubicBezTo>
                <a:cubicBezTo>
                  <a:pt x="97" y="8"/>
                  <a:pt x="97" y="25"/>
                  <a:pt x="119" y="25"/>
                </a:cubicBezTo>
                <a:cubicBezTo>
                  <a:pt x="169" y="25"/>
                  <a:pt x="169" y="25"/>
                  <a:pt x="169" y="25"/>
                </a:cubicBezTo>
                <a:cubicBezTo>
                  <a:pt x="174" y="25"/>
                  <a:pt x="178" y="29"/>
                  <a:pt x="178" y="34"/>
                </a:cubicBezTo>
                <a:cubicBezTo>
                  <a:pt x="178" y="118"/>
                  <a:pt x="178" y="118"/>
                  <a:pt x="178" y="118"/>
                </a:cubicBezTo>
                <a:cubicBezTo>
                  <a:pt x="178" y="123"/>
                  <a:pt x="174" y="126"/>
                  <a:pt x="169" y="126"/>
                </a:cubicBezTo>
                <a:cubicBezTo>
                  <a:pt x="165" y="126"/>
                  <a:pt x="165" y="126"/>
                  <a:pt x="165" y="126"/>
                </a:cubicBezTo>
                <a:cubicBezTo>
                  <a:pt x="163" y="126"/>
                  <a:pt x="161" y="128"/>
                  <a:pt x="161" y="131"/>
                </a:cubicBezTo>
                <a:cubicBezTo>
                  <a:pt x="161" y="133"/>
                  <a:pt x="163" y="135"/>
                  <a:pt x="165" y="135"/>
                </a:cubicBezTo>
                <a:cubicBezTo>
                  <a:pt x="169" y="135"/>
                  <a:pt x="169" y="135"/>
                  <a:pt x="169" y="135"/>
                </a:cubicBezTo>
                <a:cubicBezTo>
                  <a:pt x="178" y="135"/>
                  <a:pt x="186" y="127"/>
                  <a:pt x="186" y="118"/>
                </a:cubicBezTo>
                <a:cubicBezTo>
                  <a:pt x="186" y="34"/>
                  <a:pt x="186" y="34"/>
                  <a:pt x="186" y="34"/>
                </a:cubicBezTo>
                <a:cubicBezTo>
                  <a:pt x="186" y="24"/>
                  <a:pt x="178" y="17"/>
                  <a:pt x="169" y="17"/>
                </a:cubicBezTo>
                <a:close/>
              </a:path>
            </a:pathLst>
          </a:custGeom>
          <a:solidFill>
            <a:srgbClr val="3CB2C3"/>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149" name="Freeform 40"/>
          <p:cNvSpPr>
            <a:spLocks noEditPoints="1"/>
          </p:cNvSpPr>
          <p:nvPr/>
        </p:nvSpPr>
        <p:spPr bwMode="auto">
          <a:xfrm>
            <a:off x="3540603" y="3264651"/>
            <a:ext cx="444139" cy="669813"/>
          </a:xfrm>
          <a:custGeom>
            <a:avLst/>
            <a:gdLst>
              <a:gd name="T0" fmla="*/ 283 w 283"/>
              <a:gd name="T1" fmla="*/ 46 h 369"/>
              <a:gd name="T2" fmla="*/ 0 w 283"/>
              <a:gd name="T3" fmla="*/ 46 h 369"/>
              <a:gd name="T4" fmla="*/ 10 w 283"/>
              <a:gd name="T5" fmla="*/ 133 h 369"/>
              <a:gd name="T6" fmla="*/ 0 w 283"/>
              <a:gd name="T7" fmla="*/ 219 h 369"/>
              <a:gd name="T8" fmla="*/ 0 w 283"/>
              <a:gd name="T9" fmla="*/ 253 h 369"/>
              <a:gd name="T10" fmla="*/ 142 w 283"/>
              <a:gd name="T11" fmla="*/ 369 h 369"/>
              <a:gd name="T12" fmla="*/ 283 w 283"/>
              <a:gd name="T13" fmla="*/ 253 h 369"/>
              <a:gd name="T14" fmla="*/ 283 w 283"/>
              <a:gd name="T15" fmla="*/ 219 h 369"/>
              <a:gd name="T16" fmla="*/ 274 w 283"/>
              <a:gd name="T17" fmla="*/ 133 h 369"/>
              <a:gd name="T18" fmla="*/ 274 w 283"/>
              <a:gd name="T19" fmla="*/ 323 h 369"/>
              <a:gd name="T20" fmla="*/ 10 w 283"/>
              <a:gd name="T21" fmla="*/ 323 h 369"/>
              <a:gd name="T22" fmla="*/ 142 w 283"/>
              <a:gd name="T23" fmla="*/ 299 h 369"/>
              <a:gd name="T24" fmla="*/ 274 w 283"/>
              <a:gd name="T25" fmla="*/ 323 h 369"/>
              <a:gd name="T26" fmla="*/ 10 w 283"/>
              <a:gd name="T27" fmla="*/ 253 h 369"/>
              <a:gd name="T28" fmla="*/ 142 w 283"/>
              <a:gd name="T29" fmla="*/ 265 h 369"/>
              <a:gd name="T30" fmla="*/ 274 w 283"/>
              <a:gd name="T31" fmla="*/ 253 h 369"/>
              <a:gd name="T32" fmla="*/ 274 w 283"/>
              <a:gd name="T33" fmla="*/ 219 h 369"/>
              <a:gd name="T34" fmla="*/ 263 w 283"/>
              <a:gd name="T35" fmla="*/ 233 h 369"/>
              <a:gd name="T36" fmla="*/ 20 w 283"/>
              <a:gd name="T37" fmla="*/ 233 h 369"/>
              <a:gd name="T38" fmla="*/ 10 w 283"/>
              <a:gd name="T39" fmla="*/ 219 h 369"/>
              <a:gd name="T40" fmla="*/ 142 w 283"/>
              <a:gd name="T41" fmla="*/ 195 h 369"/>
              <a:gd name="T42" fmla="*/ 274 w 283"/>
              <a:gd name="T43" fmla="*/ 219 h 369"/>
              <a:gd name="T44" fmla="*/ 10 w 283"/>
              <a:gd name="T45" fmla="*/ 150 h 369"/>
              <a:gd name="T46" fmla="*/ 142 w 283"/>
              <a:gd name="T47" fmla="*/ 161 h 369"/>
              <a:gd name="T48" fmla="*/ 274 w 283"/>
              <a:gd name="T49" fmla="*/ 150 h 369"/>
              <a:gd name="T50" fmla="*/ 274 w 283"/>
              <a:gd name="T51" fmla="*/ 115 h 369"/>
              <a:gd name="T52" fmla="*/ 263 w 283"/>
              <a:gd name="T53" fmla="*/ 129 h 369"/>
              <a:gd name="T54" fmla="*/ 21 w 283"/>
              <a:gd name="T55" fmla="*/ 129 h 369"/>
              <a:gd name="T56" fmla="*/ 10 w 283"/>
              <a:gd name="T57" fmla="*/ 115 h 369"/>
              <a:gd name="T58" fmla="*/ 142 w 283"/>
              <a:gd name="T59" fmla="*/ 92 h 369"/>
              <a:gd name="T60" fmla="*/ 274 w 283"/>
              <a:gd name="T61" fmla="*/ 115 h 369"/>
              <a:gd name="T62" fmla="*/ 10 w 283"/>
              <a:gd name="T63" fmla="*/ 46 h 369"/>
              <a:gd name="T64" fmla="*/ 274 w 283"/>
              <a:gd name="T65" fmla="*/ 46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3" h="369">
                <a:moveTo>
                  <a:pt x="283" y="115"/>
                </a:moveTo>
                <a:cubicBezTo>
                  <a:pt x="283" y="46"/>
                  <a:pt x="283" y="46"/>
                  <a:pt x="283" y="46"/>
                </a:cubicBezTo>
                <a:cubicBezTo>
                  <a:pt x="283" y="16"/>
                  <a:pt x="210" y="0"/>
                  <a:pt x="142" y="0"/>
                </a:cubicBezTo>
                <a:cubicBezTo>
                  <a:pt x="73" y="0"/>
                  <a:pt x="0" y="16"/>
                  <a:pt x="0" y="46"/>
                </a:cubicBezTo>
                <a:cubicBezTo>
                  <a:pt x="0" y="115"/>
                  <a:pt x="0" y="115"/>
                  <a:pt x="0" y="115"/>
                </a:cubicBezTo>
                <a:cubicBezTo>
                  <a:pt x="0" y="122"/>
                  <a:pt x="4" y="128"/>
                  <a:pt x="10" y="133"/>
                </a:cubicBezTo>
                <a:cubicBezTo>
                  <a:pt x="3" y="138"/>
                  <a:pt x="0" y="144"/>
                  <a:pt x="0" y="150"/>
                </a:cubicBezTo>
                <a:cubicBezTo>
                  <a:pt x="0" y="219"/>
                  <a:pt x="0" y="219"/>
                  <a:pt x="0" y="219"/>
                </a:cubicBezTo>
                <a:cubicBezTo>
                  <a:pt x="0" y="226"/>
                  <a:pt x="4" y="231"/>
                  <a:pt x="10" y="236"/>
                </a:cubicBezTo>
                <a:cubicBezTo>
                  <a:pt x="3" y="242"/>
                  <a:pt x="0" y="247"/>
                  <a:pt x="0" y="253"/>
                </a:cubicBezTo>
                <a:cubicBezTo>
                  <a:pt x="0" y="323"/>
                  <a:pt x="0" y="323"/>
                  <a:pt x="0" y="323"/>
                </a:cubicBezTo>
                <a:cubicBezTo>
                  <a:pt x="0" y="353"/>
                  <a:pt x="73" y="369"/>
                  <a:pt x="142" y="369"/>
                </a:cubicBezTo>
                <a:cubicBezTo>
                  <a:pt x="210" y="369"/>
                  <a:pt x="283" y="353"/>
                  <a:pt x="283" y="323"/>
                </a:cubicBezTo>
                <a:cubicBezTo>
                  <a:pt x="283" y="253"/>
                  <a:pt x="283" y="253"/>
                  <a:pt x="283" y="253"/>
                </a:cubicBezTo>
                <a:cubicBezTo>
                  <a:pt x="283" y="247"/>
                  <a:pt x="280" y="242"/>
                  <a:pt x="274" y="236"/>
                </a:cubicBezTo>
                <a:cubicBezTo>
                  <a:pt x="280" y="231"/>
                  <a:pt x="283" y="226"/>
                  <a:pt x="283" y="219"/>
                </a:cubicBezTo>
                <a:cubicBezTo>
                  <a:pt x="283" y="150"/>
                  <a:pt x="283" y="150"/>
                  <a:pt x="283" y="150"/>
                </a:cubicBezTo>
                <a:cubicBezTo>
                  <a:pt x="283" y="144"/>
                  <a:pt x="280" y="138"/>
                  <a:pt x="274" y="133"/>
                </a:cubicBezTo>
                <a:cubicBezTo>
                  <a:pt x="280" y="128"/>
                  <a:pt x="283" y="122"/>
                  <a:pt x="283" y="115"/>
                </a:cubicBezTo>
                <a:close/>
                <a:moveTo>
                  <a:pt x="274" y="323"/>
                </a:moveTo>
                <a:cubicBezTo>
                  <a:pt x="274" y="340"/>
                  <a:pt x="220" y="359"/>
                  <a:pt x="142" y="359"/>
                </a:cubicBezTo>
                <a:cubicBezTo>
                  <a:pt x="64" y="359"/>
                  <a:pt x="10" y="340"/>
                  <a:pt x="10" y="323"/>
                </a:cubicBezTo>
                <a:cubicBezTo>
                  <a:pt x="10" y="271"/>
                  <a:pt x="10" y="271"/>
                  <a:pt x="10" y="271"/>
                </a:cubicBezTo>
                <a:cubicBezTo>
                  <a:pt x="31" y="289"/>
                  <a:pt x="88" y="299"/>
                  <a:pt x="142" y="299"/>
                </a:cubicBezTo>
                <a:cubicBezTo>
                  <a:pt x="196" y="299"/>
                  <a:pt x="252" y="289"/>
                  <a:pt x="274" y="271"/>
                </a:cubicBezTo>
                <a:lnTo>
                  <a:pt x="274" y="323"/>
                </a:lnTo>
                <a:close/>
                <a:moveTo>
                  <a:pt x="142" y="290"/>
                </a:moveTo>
                <a:cubicBezTo>
                  <a:pt x="64" y="290"/>
                  <a:pt x="10" y="271"/>
                  <a:pt x="10" y="253"/>
                </a:cubicBezTo>
                <a:cubicBezTo>
                  <a:pt x="10" y="249"/>
                  <a:pt x="14" y="245"/>
                  <a:pt x="18" y="242"/>
                </a:cubicBezTo>
                <a:cubicBezTo>
                  <a:pt x="43" y="257"/>
                  <a:pt x="94" y="265"/>
                  <a:pt x="142" y="265"/>
                </a:cubicBezTo>
                <a:cubicBezTo>
                  <a:pt x="190" y="265"/>
                  <a:pt x="240" y="257"/>
                  <a:pt x="266" y="242"/>
                </a:cubicBezTo>
                <a:cubicBezTo>
                  <a:pt x="270" y="245"/>
                  <a:pt x="274" y="249"/>
                  <a:pt x="274" y="253"/>
                </a:cubicBezTo>
                <a:cubicBezTo>
                  <a:pt x="274" y="271"/>
                  <a:pt x="220" y="290"/>
                  <a:pt x="142" y="290"/>
                </a:cubicBezTo>
                <a:close/>
                <a:moveTo>
                  <a:pt x="274" y="219"/>
                </a:moveTo>
                <a:cubicBezTo>
                  <a:pt x="274" y="223"/>
                  <a:pt x="271" y="228"/>
                  <a:pt x="264" y="232"/>
                </a:cubicBezTo>
                <a:cubicBezTo>
                  <a:pt x="264" y="232"/>
                  <a:pt x="264" y="232"/>
                  <a:pt x="263" y="233"/>
                </a:cubicBezTo>
                <a:cubicBezTo>
                  <a:pt x="244" y="245"/>
                  <a:pt x="199" y="255"/>
                  <a:pt x="142" y="255"/>
                </a:cubicBezTo>
                <a:cubicBezTo>
                  <a:pt x="84" y="255"/>
                  <a:pt x="40" y="245"/>
                  <a:pt x="20" y="233"/>
                </a:cubicBezTo>
                <a:cubicBezTo>
                  <a:pt x="20" y="232"/>
                  <a:pt x="20" y="232"/>
                  <a:pt x="19" y="232"/>
                </a:cubicBezTo>
                <a:cubicBezTo>
                  <a:pt x="13" y="228"/>
                  <a:pt x="10" y="223"/>
                  <a:pt x="10" y="219"/>
                </a:cubicBezTo>
                <a:cubicBezTo>
                  <a:pt x="10" y="167"/>
                  <a:pt x="10" y="167"/>
                  <a:pt x="10" y="167"/>
                </a:cubicBezTo>
                <a:cubicBezTo>
                  <a:pt x="31" y="186"/>
                  <a:pt x="88" y="195"/>
                  <a:pt x="142" y="195"/>
                </a:cubicBezTo>
                <a:cubicBezTo>
                  <a:pt x="196" y="195"/>
                  <a:pt x="252" y="186"/>
                  <a:pt x="274" y="167"/>
                </a:cubicBezTo>
                <a:lnTo>
                  <a:pt x="274" y="219"/>
                </a:lnTo>
                <a:close/>
                <a:moveTo>
                  <a:pt x="142" y="186"/>
                </a:moveTo>
                <a:cubicBezTo>
                  <a:pt x="64" y="186"/>
                  <a:pt x="10" y="167"/>
                  <a:pt x="10" y="150"/>
                </a:cubicBezTo>
                <a:cubicBezTo>
                  <a:pt x="10" y="145"/>
                  <a:pt x="14" y="141"/>
                  <a:pt x="18" y="138"/>
                </a:cubicBezTo>
                <a:cubicBezTo>
                  <a:pt x="43" y="153"/>
                  <a:pt x="94" y="161"/>
                  <a:pt x="142" y="161"/>
                </a:cubicBezTo>
                <a:cubicBezTo>
                  <a:pt x="190" y="161"/>
                  <a:pt x="240" y="153"/>
                  <a:pt x="266" y="138"/>
                </a:cubicBezTo>
                <a:cubicBezTo>
                  <a:pt x="270" y="141"/>
                  <a:pt x="274" y="145"/>
                  <a:pt x="274" y="150"/>
                </a:cubicBezTo>
                <a:cubicBezTo>
                  <a:pt x="274" y="167"/>
                  <a:pt x="220" y="186"/>
                  <a:pt x="142" y="186"/>
                </a:cubicBezTo>
                <a:close/>
                <a:moveTo>
                  <a:pt x="274" y="115"/>
                </a:moveTo>
                <a:cubicBezTo>
                  <a:pt x="274" y="120"/>
                  <a:pt x="271" y="124"/>
                  <a:pt x="264" y="128"/>
                </a:cubicBezTo>
                <a:cubicBezTo>
                  <a:pt x="264" y="128"/>
                  <a:pt x="263" y="129"/>
                  <a:pt x="263" y="129"/>
                </a:cubicBezTo>
                <a:cubicBezTo>
                  <a:pt x="243" y="142"/>
                  <a:pt x="199" y="152"/>
                  <a:pt x="142" y="152"/>
                </a:cubicBezTo>
                <a:cubicBezTo>
                  <a:pt x="85" y="152"/>
                  <a:pt x="40" y="142"/>
                  <a:pt x="21" y="129"/>
                </a:cubicBezTo>
                <a:cubicBezTo>
                  <a:pt x="20" y="129"/>
                  <a:pt x="20" y="128"/>
                  <a:pt x="19" y="128"/>
                </a:cubicBezTo>
                <a:cubicBezTo>
                  <a:pt x="13" y="124"/>
                  <a:pt x="10" y="120"/>
                  <a:pt x="10" y="115"/>
                </a:cubicBezTo>
                <a:cubicBezTo>
                  <a:pt x="10" y="63"/>
                  <a:pt x="10" y="63"/>
                  <a:pt x="10" y="63"/>
                </a:cubicBezTo>
                <a:cubicBezTo>
                  <a:pt x="31" y="82"/>
                  <a:pt x="88" y="92"/>
                  <a:pt x="142" y="92"/>
                </a:cubicBezTo>
                <a:cubicBezTo>
                  <a:pt x="196" y="92"/>
                  <a:pt x="252" y="82"/>
                  <a:pt x="274" y="63"/>
                </a:cubicBezTo>
                <a:lnTo>
                  <a:pt x="274" y="115"/>
                </a:lnTo>
                <a:close/>
                <a:moveTo>
                  <a:pt x="142" y="82"/>
                </a:moveTo>
                <a:cubicBezTo>
                  <a:pt x="64" y="82"/>
                  <a:pt x="10" y="63"/>
                  <a:pt x="10" y="46"/>
                </a:cubicBezTo>
                <a:cubicBezTo>
                  <a:pt x="10" y="29"/>
                  <a:pt x="64" y="10"/>
                  <a:pt x="142" y="10"/>
                </a:cubicBezTo>
                <a:cubicBezTo>
                  <a:pt x="220" y="10"/>
                  <a:pt x="274" y="29"/>
                  <a:pt x="274" y="46"/>
                </a:cubicBezTo>
                <a:cubicBezTo>
                  <a:pt x="274" y="63"/>
                  <a:pt x="220" y="82"/>
                  <a:pt x="142" y="82"/>
                </a:cubicBezTo>
                <a:close/>
              </a:path>
            </a:pathLst>
          </a:custGeom>
          <a:solidFill>
            <a:srgbClr val="3CB2C3"/>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150" name="Freeform 40"/>
          <p:cNvSpPr>
            <a:spLocks noEditPoints="1"/>
          </p:cNvSpPr>
          <p:nvPr/>
        </p:nvSpPr>
        <p:spPr bwMode="auto">
          <a:xfrm>
            <a:off x="6609184" y="3270704"/>
            <a:ext cx="444139" cy="669813"/>
          </a:xfrm>
          <a:custGeom>
            <a:avLst/>
            <a:gdLst>
              <a:gd name="T0" fmla="*/ 283 w 283"/>
              <a:gd name="T1" fmla="*/ 46 h 369"/>
              <a:gd name="T2" fmla="*/ 0 w 283"/>
              <a:gd name="T3" fmla="*/ 46 h 369"/>
              <a:gd name="T4" fmla="*/ 10 w 283"/>
              <a:gd name="T5" fmla="*/ 133 h 369"/>
              <a:gd name="T6" fmla="*/ 0 w 283"/>
              <a:gd name="T7" fmla="*/ 219 h 369"/>
              <a:gd name="T8" fmla="*/ 0 w 283"/>
              <a:gd name="T9" fmla="*/ 253 h 369"/>
              <a:gd name="T10" fmla="*/ 142 w 283"/>
              <a:gd name="T11" fmla="*/ 369 h 369"/>
              <a:gd name="T12" fmla="*/ 283 w 283"/>
              <a:gd name="T13" fmla="*/ 253 h 369"/>
              <a:gd name="T14" fmla="*/ 283 w 283"/>
              <a:gd name="T15" fmla="*/ 219 h 369"/>
              <a:gd name="T16" fmla="*/ 274 w 283"/>
              <a:gd name="T17" fmla="*/ 133 h 369"/>
              <a:gd name="T18" fmla="*/ 274 w 283"/>
              <a:gd name="T19" fmla="*/ 323 h 369"/>
              <a:gd name="T20" fmla="*/ 10 w 283"/>
              <a:gd name="T21" fmla="*/ 323 h 369"/>
              <a:gd name="T22" fmla="*/ 142 w 283"/>
              <a:gd name="T23" fmla="*/ 299 h 369"/>
              <a:gd name="T24" fmla="*/ 274 w 283"/>
              <a:gd name="T25" fmla="*/ 323 h 369"/>
              <a:gd name="T26" fmla="*/ 10 w 283"/>
              <a:gd name="T27" fmla="*/ 253 h 369"/>
              <a:gd name="T28" fmla="*/ 142 w 283"/>
              <a:gd name="T29" fmla="*/ 265 h 369"/>
              <a:gd name="T30" fmla="*/ 274 w 283"/>
              <a:gd name="T31" fmla="*/ 253 h 369"/>
              <a:gd name="T32" fmla="*/ 274 w 283"/>
              <a:gd name="T33" fmla="*/ 219 h 369"/>
              <a:gd name="T34" fmla="*/ 263 w 283"/>
              <a:gd name="T35" fmla="*/ 233 h 369"/>
              <a:gd name="T36" fmla="*/ 20 w 283"/>
              <a:gd name="T37" fmla="*/ 233 h 369"/>
              <a:gd name="T38" fmla="*/ 10 w 283"/>
              <a:gd name="T39" fmla="*/ 219 h 369"/>
              <a:gd name="T40" fmla="*/ 142 w 283"/>
              <a:gd name="T41" fmla="*/ 195 h 369"/>
              <a:gd name="T42" fmla="*/ 274 w 283"/>
              <a:gd name="T43" fmla="*/ 219 h 369"/>
              <a:gd name="T44" fmla="*/ 10 w 283"/>
              <a:gd name="T45" fmla="*/ 150 h 369"/>
              <a:gd name="T46" fmla="*/ 142 w 283"/>
              <a:gd name="T47" fmla="*/ 161 h 369"/>
              <a:gd name="T48" fmla="*/ 274 w 283"/>
              <a:gd name="T49" fmla="*/ 150 h 369"/>
              <a:gd name="T50" fmla="*/ 274 w 283"/>
              <a:gd name="T51" fmla="*/ 115 h 369"/>
              <a:gd name="T52" fmla="*/ 263 w 283"/>
              <a:gd name="T53" fmla="*/ 129 h 369"/>
              <a:gd name="T54" fmla="*/ 21 w 283"/>
              <a:gd name="T55" fmla="*/ 129 h 369"/>
              <a:gd name="T56" fmla="*/ 10 w 283"/>
              <a:gd name="T57" fmla="*/ 115 h 369"/>
              <a:gd name="T58" fmla="*/ 142 w 283"/>
              <a:gd name="T59" fmla="*/ 92 h 369"/>
              <a:gd name="T60" fmla="*/ 274 w 283"/>
              <a:gd name="T61" fmla="*/ 115 h 369"/>
              <a:gd name="T62" fmla="*/ 10 w 283"/>
              <a:gd name="T63" fmla="*/ 46 h 369"/>
              <a:gd name="T64" fmla="*/ 274 w 283"/>
              <a:gd name="T65" fmla="*/ 46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3" h="369">
                <a:moveTo>
                  <a:pt x="283" y="115"/>
                </a:moveTo>
                <a:cubicBezTo>
                  <a:pt x="283" y="46"/>
                  <a:pt x="283" y="46"/>
                  <a:pt x="283" y="46"/>
                </a:cubicBezTo>
                <a:cubicBezTo>
                  <a:pt x="283" y="16"/>
                  <a:pt x="210" y="0"/>
                  <a:pt x="142" y="0"/>
                </a:cubicBezTo>
                <a:cubicBezTo>
                  <a:pt x="73" y="0"/>
                  <a:pt x="0" y="16"/>
                  <a:pt x="0" y="46"/>
                </a:cubicBezTo>
                <a:cubicBezTo>
                  <a:pt x="0" y="115"/>
                  <a:pt x="0" y="115"/>
                  <a:pt x="0" y="115"/>
                </a:cubicBezTo>
                <a:cubicBezTo>
                  <a:pt x="0" y="122"/>
                  <a:pt x="4" y="128"/>
                  <a:pt x="10" y="133"/>
                </a:cubicBezTo>
                <a:cubicBezTo>
                  <a:pt x="3" y="138"/>
                  <a:pt x="0" y="144"/>
                  <a:pt x="0" y="150"/>
                </a:cubicBezTo>
                <a:cubicBezTo>
                  <a:pt x="0" y="219"/>
                  <a:pt x="0" y="219"/>
                  <a:pt x="0" y="219"/>
                </a:cubicBezTo>
                <a:cubicBezTo>
                  <a:pt x="0" y="226"/>
                  <a:pt x="4" y="231"/>
                  <a:pt x="10" y="236"/>
                </a:cubicBezTo>
                <a:cubicBezTo>
                  <a:pt x="3" y="242"/>
                  <a:pt x="0" y="247"/>
                  <a:pt x="0" y="253"/>
                </a:cubicBezTo>
                <a:cubicBezTo>
                  <a:pt x="0" y="323"/>
                  <a:pt x="0" y="323"/>
                  <a:pt x="0" y="323"/>
                </a:cubicBezTo>
                <a:cubicBezTo>
                  <a:pt x="0" y="353"/>
                  <a:pt x="73" y="369"/>
                  <a:pt x="142" y="369"/>
                </a:cubicBezTo>
                <a:cubicBezTo>
                  <a:pt x="210" y="369"/>
                  <a:pt x="283" y="353"/>
                  <a:pt x="283" y="323"/>
                </a:cubicBezTo>
                <a:cubicBezTo>
                  <a:pt x="283" y="253"/>
                  <a:pt x="283" y="253"/>
                  <a:pt x="283" y="253"/>
                </a:cubicBezTo>
                <a:cubicBezTo>
                  <a:pt x="283" y="247"/>
                  <a:pt x="280" y="242"/>
                  <a:pt x="274" y="236"/>
                </a:cubicBezTo>
                <a:cubicBezTo>
                  <a:pt x="280" y="231"/>
                  <a:pt x="283" y="226"/>
                  <a:pt x="283" y="219"/>
                </a:cubicBezTo>
                <a:cubicBezTo>
                  <a:pt x="283" y="150"/>
                  <a:pt x="283" y="150"/>
                  <a:pt x="283" y="150"/>
                </a:cubicBezTo>
                <a:cubicBezTo>
                  <a:pt x="283" y="144"/>
                  <a:pt x="280" y="138"/>
                  <a:pt x="274" y="133"/>
                </a:cubicBezTo>
                <a:cubicBezTo>
                  <a:pt x="280" y="128"/>
                  <a:pt x="283" y="122"/>
                  <a:pt x="283" y="115"/>
                </a:cubicBezTo>
                <a:close/>
                <a:moveTo>
                  <a:pt x="274" y="323"/>
                </a:moveTo>
                <a:cubicBezTo>
                  <a:pt x="274" y="340"/>
                  <a:pt x="220" y="359"/>
                  <a:pt x="142" y="359"/>
                </a:cubicBezTo>
                <a:cubicBezTo>
                  <a:pt x="64" y="359"/>
                  <a:pt x="10" y="340"/>
                  <a:pt x="10" y="323"/>
                </a:cubicBezTo>
                <a:cubicBezTo>
                  <a:pt x="10" y="271"/>
                  <a:pt x="10" y="271"/>
                  <a:pt x="10" y="271"/>
                </a:cubicBezTo>
                <a:cubicBezTo>
                  <a:pt x="31" y="289"/>
                  <a:pt x="88" y="299"/>
                  <a:pt x="142" y="299"/>
                </a:cubicBezTo>
                <a:cubicBezTo>
                  <a:pt x="196" y="299"/>
                  <a:pt x="252" y="289"/>
                  <a:pt x="274" y="271"/>
                </a:cubicBezTo>
                <a:lnTo>
                  <a:pt x="274" y="323"/>
                </a:lnTo>
                <a:close/>
                <a:moveTo>
                  <a:pt x="142" y="290"/>
                </a:moveTo>
                <a:cubicBezTo>
                  <a:pt x="64" y="290"/>
                  <a:pt x="10" y="271"/>
                  <a:pt x="10" y="253"/>
                </a:cubicBezTo>
                <a:cubicBezTo>
                  <a:pt x="10" y="249"/>
                  <a:pt x="14" y="245"/>
                  <a:pt x="18" y="242"/>
                </a:cubicBezTo>
                <a:cubicBezTo>
                  <a:pt x="43" y="257"/>
                  <a:pt x="94" y="265"/>
                  <a:pt x="142" y="265"/>
                </a:cubicBezTo>
                <a:cubicBezTo>
                  <a:pt x="190" y="265"/>
                  <a:pt x="240" y="257"/>
                  <a:pt x="266" y="242"/>
                </a:cubicBezTo>
                <a:cubicBezTo>
                  <a:pt x="270" y="245"/>
                  <a:pt x="274" y="249"/>
                  <a:pt x="274" y="253"/>
                </a:cubicBezTo>
                <a:cubicBezTo>
                  <a:pt x="274" y="271"/>
                  <a:pt x="220" y="290"/>
                  <a:pt x="142" y="290"/>
                </a:cubicBezTo>
                <a:close/>
                <a:moveTo>
                  <a:pt x="274" y="219"/>
                </a:moveTo>
                <a:cubicBezTo>
                  <a:pt x="274" y="223"/>
                  <a:pt x="271" y="228"/>
                  <a:pt x="264" y="232"/>
                </a:cubicBezTo>
                <a:cubicBezTo>
                  <a:pt x="264" y="232"/>
                  <a:pt x="264" y="232"/>
                  <a:pt x="263" y="233"/>
                </a:cubicBezTo>
                <a:cubicBezTo>
                  <a:pt x="244" y="245"/>
                  <a:pt x="199" y="255"/>
                  <a:pt x="142" y="255"/>
                </a:cubicBezTo>
                <a:cubicBezTo>
                  <a:pt x="84" y="255"/>
                  <a:pt x="40" y="245"/>
                  <a:pt x="20" y="233"/>
                </a:cubicBezTo>
                <a:cubicBezTo>
                  <a:pt x="20" y="232"/>
                  <a:pt x="20" y="232"/>
                  <a:pt x="19" y="232"/>
                </a:cubicBezTo>
                <a:cubicBezTo>
                  <a:pt x="13" y="228"/>
                  <a:pt x="10" y="223"/>
                  <a:pt x="10" y="219"/>
                </a:cubicBezTo>
                <a:cubicBezTo>
                  <a:pt x="10" y="167"/>
                  <a:pt x="10" y="167"/>
                  <a:pt x="10" y="167"/>
                </a:cubicBezTo>
                <a:cubicBezTo>
                  <a:pt x="31" y="186"/>
                  <a:pt x="88" y="195"/>
                  <a:pt x="142" y="195"/>
                </a:cubicBezTo>
                <a:cubicBezTo>
                  <a:pt x="196" y="195"/>
                  <a:pt x="252" y="186"/>
                  <a:pt x="274" y="167"/>
                </a:cubicBezTo>
                <a:lnTo>
                  <a:pt x="274" y="219"/>
                </a:lnTo>
                <a:close/>
                <a:moveTo>
                  <a:pt x="142" y="186"/>
                </a:moveTo>
                <a:cubicBezTo>
                  <a:pt x="64" y="186"/>
                  <a:pt x="10" y="167"/>
                  <a:pt x="10" y="150"/>
                </a:cubicBezTo>
                <a:cubicBezTo>
                  <a:pt x="10" y="145"/>
                  <a:pt x="14" y="141"/>
                  <a:pt x="18" y="138"/>
                </a:cubicBezTo>
                <a:cubicBezTo>
                  <a:pt x="43" y="153"/>
                  <a:pt x="94" y="161"/>
                  <a:pt x="142" y="161"/>
                </a:cubicBezTo>
                <a:cubicBezTo>
                  <a:pt x="190" y="161"/>
                  <a:pt x="240" y="153"/>
                  <a:pt x="266" y="138"/>
                </a:cubicBezTo>
                <a:cubicBezTo>
                  <a:pt x="270" y="141"/>
                  <a:pt x="274" y="145"/>
                  <a:pt x="274" y="150"/>
                </a:cubicBezTo>
                <a:cubicBezTo>
                  <a:pt x="274" y="167"/>
                  <a:pt x="220" y="186"/>
                  <a:pt x="142" y="186"/>
                </a:cubicBezTo>
                <a:close/>
                <a:moveTo>
                  <a:pt x="274" y="115"/>
                </a:moveTo>
                <a:cubicBezTo>
                  <a:pt x="274" y="120"/>
                  <a:pt x="271" y="124"/>
                  <a:pt x="264" y="128"/>
                </a:cubicBezTo>
                <a:cubicBezTo>
                  <a:pt x="264" y="128"/>
                  <a:pt x="263" y="129"/>
                  <a:pt x="263" y="129"/>
                </a:cubicBezTo>
                <a:cubicBezTo>
                  <a:pt x="243" y="142"/>
                  <a:pt x="199" y="152"/>
                  <a:pt x="142" y="152"/>
                </a:cubicBezTo>
                <a:cubicBezTo>
                  <a:pt x="85" y="152"/>
                  <a:pt x="40" y="142"/>
                  <a:pt x="21" y="129"/>
                </a:cubicBezTo>
                <a:cubicBezTo>
                  <a:pt x="20" y="129"/>
                  <a:pt x="20" y="128"/>
                  <a:pt x="19" y="128"/>
                </a:cubicBezTo>
                <a:cubicBezTo>
                  <a:pt x="13" y="124"/>
                  <a:pt x="10" y="120"/>
                  <a:pt x="10" y="115"/>
                </a:cubicBezTo>
                <a:cubicBezTo>
                  <a:pt x="10" y="63"/>
                  <a:pt x="10" y="63"/>
                  <a:pt x="10" y="63"/>
                </a:cubicBezTo>
                <a:cubicBezTo>
                  <a:pt x="31" y="82"/>
                  <a:pt x="88" y="92"/>
                  <a:pt x="142" y="92"/>
                </a:cubicBezTo>
                <a:cubicBezTo>
                  <a:pt x="196" y="92"/>
                  <a:pt x="252" y="82"/>
                  <a:pt x="274" y="63"/>
                </a:cubicBezTo>
                <a:lnTo>
                  <a:pt x="274" y="115"/>
                </a:lnTo>
                <a:close/>
                <a:moveTo>
                  <a:pt x="142" y="82"/>
                </a:moveTo>
                <a:cubicBezTo>
                  <a:pt x="64" y="82"/>
                  <a:pt x="10" y="63"/>
                  <a:pt x="10" y="46"/>
                </a:cubicBezTo>
                <a:cubicBezTo>
                  <a:pt x="10" y="29"/>
                  <a:pt x="64" y="10"/>
                  <a:pt x="142" y="10"/>
                </a:cubicBezTo>
                <a:cubicBezTo>
                  <a:pt x="220" y="10"/>
                  <a:pt x="274" y="29"/>
                  <a:pt x="274" y="46"/>
                </a:cubicBezTo>
                <a:cubicBezTo>
                  <a:pt x="274" y="63"/>
                  <a:pt x="220" y="82"/>
                  <a:pt x="142" y="82"/>
                </a:cubicBezTo>
                <a:close/>
              </a:path>
            </a:pathLst>
          </a:custGeom>
          <a:solidFill>
            <a:srgbClr val="3CB2C3"/>
          </a:solidFill>
          <a:ln>
            <a:noFill/>
          </a:ln>
        </p:spPr>
        <p:txBody>
          <a:bodyPr vert="horz" wrap="square" lIns="68580" tIns="34290" rIns="68580" bIns="34290" numCol="1" anchor="t" anchorCtr="0" compatLnSpc="1">
            <a:prstTxWarp prst="textNoShape">
              <a:avLst/>
            </a:prstTxWarp>
          </a:bodyPr>
          <a:lstStyle/>
          <a:p>
            <a:endParaRPr lang="en-US" sz="1800" dirty="0"/>
          </a:p>
        </p:txBody>
      </p:sp>
      <p:sp>
        <p:nvSpPr>
          <p:cNvPr id="151" name="150 Rectángulo"/>
          <p:cNvSpPr/>
          <p:nvPr>
            <p:custDataLst>
              <p:tags r:id="rId4"/>
            </p:custDataLst>
          </p:nvPr>
        </p:nvSpPr>
        <p:spPr>
          <a:xfrm>
            <a:off x="5557673" y="3515504"/>
            <a:ext cx="732882" cy="136800"/>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700" kern="0" dirty="0">
                <a:solidFill>
                  <a:srgbClr val="FFFFFF"/>
                </a:solidFill>
                <a:latin typeface="Avenir 35" panose="00000400000000000000" pitchFamily="2" charset="0"/>
              </a:rPr>
              <a:t>Procesos</a:t>
            </a:r>
          </a:p>
        </p:txBody>
      </p:sp>
      <p:sp>
        <p:nvSpPr>
          <p:cNvPr id="152" name="151 Flecha derecha"/>
          <p:cNvSpPr/>
          <p:nvPr/>
        </p:nvSpPr>
        <p:spPr>
          <a:xfrm>
            <a:off x="6351329" y="3526667"/>
            <a:ext cx="240227" cy="219123"/>
          </a:xfrm>
          <a:prstGeom prst="rightArrow">
            <a:avLst>
              <a:gd name="adj1" fmla="val 67933"/>
              <a:gd name="adj2" fmla="val 50000"/>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sp>
        <p:nvSpPr>
          <p:cNvPr id="153" name="Content Placeholder 2"/>
          <p:cNvSpPr txBox="1">
            <a:spLocks/>
          </p:cNvSpPr>
          <p:nvPr/>
        </p:nvSpPr>
        <p:spPr bwMode="auto">
          <a:xfrm>
            <a:off x="6320046" y="2911631"/>
            <a:ext cx="1002193" cy="72548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defRPr/>
            </a:pPr>
            <a:r>
              <a:rPr lang="es-ES" sz="1000" dirty="0">
                <a:solidFill>
                  <a:prstClr val="white">
                    <a:lumMod val="50000"/>
                  </a:prstClr>
                </a:solidFill>
                <a:latin typeface="Avenir 35" panose="00000400000000000000" pitchFamily="2" charset="0"/>
              </a:rPr>
              <a:t>Golden Record</a:t>
            </a:r>
            <a:endParaRPr lang="en-AU" sz="1000" dirty="0">
              <a:solidFill>
                <a:prstClr val="white">
                  <a:lumMod val="50000"/>
                </a:prstClr>
              </a:solidFill>
              <a:latin typeface="Avenir 35" panose="00000400000000000000" pitchFamily="2" charset="0"/>
            </a:endParaRPr>
          </a:p>
        </p:txBody>
      </p:sp>
      <p:sp>
        <p:nvSpPr>
          <p:cNvPr id="154" name="Content Placeholder 2"/>
          <p:cNvSpPr txBox="1">
            <a:spLocks/>
          </p:cNvSpPr>
          <p:nvPr/>
        </p:nvSpPr>
        <p:spPr bwMode="auto">
          <a:xfrm>
            <a:off x="3303789" y="3001932"/>
            <a:ext cx="1002193" cy="72548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0"/>
              </a:spcBef>
              <a:defRPr/>
            </a:pPr>
            <a:r>
              <a:rPr lang="es-ES" sz="1000" dirty="0">
                <a:solidFill>
                  <a:prstClr val="white">
                    <a:lumMod val="50000"/>
                  </a:prstClr>
                </a:solidFill>
                <a:latin typeface="Avenir 35" panose="00000400000000000000" pitchFamily="2" charset="0"/>
              </a:rPr>
              <a:t>SQL Server</a:t>
            </a:r>
          </a:p>
          <a:p>
            <a:pPr algn="ctr">
              <a:lnSpc>
                <a:spcPct val="100000"/>
              </a:lnSpc>
              <a:spcBef>
                <a:spcPts val="0"/>
              </a:spcBef>
              <a:defRPr/>
            </a:pPr>
            <a:endParaRPr lang="en-AU" sz="1000" dirty="0">
              <a:solidFill>
                <a:prstClr val="white">
                  <a:lumMod val="50000"/>
                </a:prstClr>
              </a:solidFill>
              <a:latin typeface="Avenir 35" panose="00000400000000000000" pitchFamily="2" charset="0"/>
            </a:endParaRPr>
          </a:p>
        </p:txBody>
      </p:sp>
      <p:sp>
        <p:nvSpPr>
          <p:cNvPr id="155" name="154 Rectángulo"/>
          <p:cNvSpPr/>
          <p:nvPr>
            <p:custDataLst>
              <p:tags r:id="rId5"/>
            </p:custDataLst>
          </p:nvPr>
        </p:nvSpPr>
        <p:spPr>
          <a:xfrm>
            <a:off x="5557673" y="3677116"/>
            <a:ext cx="732882" cy="135295"/>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700" kern="0" dirty="0">
                <a:solidFill>
                  <a:srgbClr val="FFFFFF"/>
                </a:solidFill>
                <a:latin typeface="Avenir 35" panose="00000400000000000000" pitchFamily="2" charset="0"/>
              </a:rPr>
              <a:t>Enriquecimiento</a:t>
            </a:r>
          </a:p>
        </p:txBody>
      </p:sp>
      <p:sp>
        <p:nvSpPr>
          <p:cNvPr id="156" name="155 Rectángulo"/>
          <p:cNvSpPr/>
          <p:nvPr>
            <p:custDataLst>
              <p:tags r:id="rId6"/>
            </p:custDataLst>
          </p:nvPr>
        </p:nvSpPr>
        <p:spPr>
          <a:xfrm>
            <a:off x="5557673" y="3847749"/>
            <a:ext cx="732882" cy="134865"/>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700" kern="0" dirty="0">
                <a:solidFill>
                  <a:srgbClr val="FFFFFF"/>
                </a:solidFill>
                <a:latin typeface="Avenir 35" panose="00000400000000000000" pitchFamily="2" charset="0"/>
              </a:rPr>
              <a:t>Scoring</a:t>
            </a:r>
          </a:p>
        </p:txBody>
      </p:sp>
      <p:sp>
        <p:nvSpPr>
          <p:cNvPr id="157" name="156 Rectángulo"/>
          <p:cNvSpPr/>
          <p:nvPr>
            <p:custDataLst>
              <p:tags r:id="rId7"/>
            </p:custDataLst>
          </p:nvPr>
        </p:nvSpPr>
        <p:spPr>
          <a:xfrm>
            <a:off x="5557673" y="3221957"/>
            <a:ext cx="732882" cy="257564"/>
          </a:xfrm>
          <a:prstGeom prst="rect">
            <a:avLst/>
          </a:prstGeom>
          <a:solidFill>
            <a:srgbClr val="0086AC"/>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700" kern="0" dirty="0">
                <a:solidFill>
                  <a:srgbClr val="FFFFFF"/>
                </a:solidFill>
                <a:latin typeface="Avenir 65" panose="02000600000000000000" pitchFamily="2" charset="0"/>
              </a:rPr>
              <a:t>Monitorización</a:t>
            </a:r>
          </a:p>
        </p:txBody>
      </p:sp>
      <p:grpSp>
        <p:nvGrpSpPr>
          <p:cNvPr id="12" name="11 Grupo"/>
          <p:cNvGrpSpPr/>
          <p:nvPr/>
        </p:nvGrpSpPr>
        <p:grpSpPr>
          <a:xfrm>
            <a:off x="200472" y="5085184"/>
            <a:ext cx="1728000" cy="984838"/>
            <a:chOff x="200472" y="5395907"/>
            <a:chExt cx="1728000" cy="984838"/>
          </a:xfrm>
        </p:grpSpPr>
        <p:grpSp>
          <p:nvGrpSpPr>
            <p:cNvPr id="158" name="157 Grupo"/>
            <p:cNvGrpSpPr/>
            <p:nvPr/>
          </p:nvGrpSpPr>
          <p:grpSpPr>
            <a:xfrm>
              <a:off x="200472" y="5395907"/>
              <a:ext cx="1728000" cy="984838"/>
              <a:chOff x="1786980" y="5308760"/>
              <a:chExt cx="1728000" cy="984838"/>
            </a:xfrm>
          </p:grpSpPr>
          <p:sp>
            <p:nvSpPr>
              <p:cNvPr id="159" name="9 Rectángulo redondeado"/>
              <p:cNvSpPr/>
              <p:nvPr/>
            </p:nvSpPr>
            <p:spPr>
              <a:xfrm>
                <a:off x="1786980" y="5631198"/>
                <a:ext cx="1728000" cy="662400"/>
              </a:xfrm>
              <a:prstGeom prst="roundRect">
                <a:avLst>
                  <a:gd name="adj" fmla="val 0"/>
                </a:avLst>
              </a:prstGeom>
              <a:solidFill>
                <a:srgbClr val="323232"/>
              </a:solidFill>
              <a:ln>
                <a:noFill/>
              </a:ln>
            </p:spPr>
            <p:style>
              <a:lnRef idx="2">
                <a:schemeClr val="accent2">
                  <a:shade val="50000"/>
                </a:schemeClr>
              </a:lnRef>
              <a:fillRef idx="1">
                <a:schemeClr val="accent2"/>
              </a:fillRef>
              <a:effectRef idx="0">
                <a:schemeClr val="accent2"/>
              </a:effectRef>
              <a:fontRef idx="minor">
                <a:schemeClr val="lt1"/>
              </a:fontRef>
            </p:style>
            <p:txBody>
              <a:bodyPr lIns="36000" tIns="252000" rIns="36000" rtlCol="0" anchor="ctr"/>
              <a:lstStyle/>
              <a:p>
                <a:pPr algn="ctr"/>
                <a:r>
                  <a:rPr lang="es-ES" sz="1400" dirty="0">
                    <a:solidFill>
                      <a:prstClr val="white"/>
                    </a:solidFill>
                    <a:latin typeface="Avenir 35" panose="00000400000000000000" pitchFamily="2" charset="0"/>
                    <a:cs typeface="Arial" pitchFamily="34" charset="0"/>
                  </a:rPr>
                  <a:t>Analítica</a:t>
                </a:r>
                <a:r>
                  <a:rPr lang="en-US" sz="1400" dirty="0">
                    <a:solidFill>
                      <a:prstClr val="white"/>
                    </a:solidFill>
                    <a:latin typeface="Avenir 35" panose="00000400000000000000" pitchFamily="2" charset="0"/>
                    <a:cs typeface="Arial" pitchFamily="34" charset="0"/>
                  </a:rPr>
                  <a:t> Web</a:t>
                </a:r>
              </a:p>
            </p:txBody>
          </p:sp>
          <p:sp>
            <p:nvSpPr>
              <p:cNvPr id="160" name="159 Elipse"/>
              <p:cNvSpPr/>
              <p:nvPr/>
            </p:nvSpPr>
            <p:spPr>
              <a:xfrm>
                <a:off x="2333766" y="5308760"/>
                <a:ext cx="580437" cy="552025"/>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latin typeface="Avenir 35" panose="00000400000000000000" pitchFamily="2" charset="0"/>
                </a:endParaRPr>
              </a:p>
            </p:txBody>
          </p:sp>
        </p:grpSp>
        <p:sp>
          <p:nvSpPr>
            <p:cNvPr id="172" name="Freeform 83"/>
            <p:cNvSpPr>
              <a:spLocks noEditPoints="1"/>
            </p:cNvSpPr>
            <p:nvPr/>
          </p:nvSpPr>
          <p:spPr bwMode="auto">
            <a:xfrm>
              <a:off x="893668" y="5527919"/>
              <a:ext cx="288000" cy="288000"/>
            </a:xfrm>
            <a:custGeom>
              <a:avLst/>
              <a:gdLst>
                <a:gd name="T0" fmla="*/ 29 w 185"/>
                <a:gd name="T1" fmla="*/ 93 h 152"/>
                <a:gd name="T2" fmla="*/ 4 w 185"/>
                <a:gd name="T3" fmla="*/ 93 h 152"/>
                <a:gd name="T4" fmla="*/ 0 w 185"/>
                <a:gd name="T5" fmla="*/ 97 h 152"/>
                <a:gd name="T6" fmla="*/ 0 w 185"/>
                <a:gd name="T7" fmla="*/ 148 h 152"/>
                <a:gd name="T8" fmla="*/ 4 w 185"/>
                <a:gd name="T9" fmla="*/ 152 h 152"/>
                <a:gd name="T10" fmla="*/ 29 w 185"/>
                <a:gd name="T11" fmla="*/ 152 h 152"/>
                <a:gd name="T12" fmla="*/ 33 w 185"/>
                <a:gd name="T13" fmla="*/ 148 h 152"/>
                <a:gd name="T14" fmla="*/ 33 w 185"/>
                <a:gd name="T15" fmla="*/ 97 h 152"/>
                <a:gd name="T16" fmla="*/ 29 w 185"/>
                <a:gd name="T17" fmla="*/ 93 h 152"/>
                <a:gd name="T18" fmla="*/ 25 w 185"/>
                <a:gd name="T19" fmla="*/ 144 h 152"/>
                <a:gd name="T20" fmla="*/ 8 w 185"/>
                <a:gd name="T21" fmla="*/ 144 h 152"/>
                <a:gd name="T22" fmla="*/ 8 w 185"/>
                <a:gd name="T23" fmla="*/ 101 h 152"/>
                <a:gd name="T24" fmla="*/ 25 w 185"/>
                <a:gd name="T25" fmla="*/ 101 h 152"/>
                <a:gd name="T26" fmla="*/ 25 w 185"/>
                <a:gd name="T27" fmla="*/ 144 h 152"/>
                <a:gd name="T28" fmla="*/ 80 w 185"/>
                <a:gd name="T29" fmla="*/ 17 h 152"/>
                <a:gd name="T30" fmla="*/ 54 w 185"/>
                <a:gd name="T31" fmla="*/ 17 h 152"/>
                <a:gd name="T32" fmla="*/ 50 w 185"/>
                <a:gd name="T33" fmla="*/ 21 h 152"/>
                <a:gd name="T34" fmla="*/ 50 w 185"/>
                <a:gd name="T35" fmla="*/ 148 h 152"/>
                <a:gd name="T36" fmla="*/ 54 w 185"/>
                <a:gd name="T37" fmla="*/ 152 h 152"/>
                <a:gd name="T38" fmla="*/ 80 w 185"/>
                <a:gd name="T39" fmla="*/ 152 h 152"/>
                <a:gd name="T40" fmla="*/ 84 w 185"/>
                <a:gd name="T41" fmla="*/ 148 h 152"/>
                <a:gd name="T42" fmla="*/ 84 w 185"/>
                <a:gd name="T43" fmla="*/ 21 h 152"/>
                <a:gd name="T44" fmla="*/ 80 w 185"/>
                <a:gd name="T45" fmla="*/ 17 h 152"/>
                <a:gd name="T46" fmla="*/ 76 w 185"/>
                <a:gd name="T47" fmla="*/ 144 h 152"/>
                <a:gd name="T48" fmla="*/ 59 w 185"/>
                <a:gd name="T49" fmla="*/ 144 h 152"/>
                <a:gd name="T50" fmla="*/ 59 w 185"/>
                <a:gd name="T51" fmla="*/ 25 h 152"/>
                <a:gd name="T52" fmla="*/ 76 w 185"/>
                <a:gd name="T53" fmla="*/ 25 h 152"/>
                <a:gd name="T54" fmla="*/ 76 w 185"/>
                <a:gd name="T55" fmla="*/ 144 h 152"/>
                <a:gd name="T56" fmla="*/ 181 w 185"/>
                <a:gd name="T57" fmla="*/ 0 h 152"/>
                <a:gd name="T58" fmla="*/ 156 w 185"/>
                <a:gd name="T59" fmla="*/ 0 h 152"/>
                <a:gd name="T60" fmla="*/ 151 w 185"/>
                <a:gd name="T61" fmla="*/ 4 h 152"/>
                <a:gd name="T62" fmla="*/ 151 w 185"/>
                <a:gd name="T63" fmla="*/ 148 h 152"/>
                <a:gd name="T64" fmla="*/ 156 w 185"/>
                <a:gd name="T65" fmla="*/ 152 h 152"/>
                <a:gd name="T66" fmla="*/ 181 w 185"/>
                <a:gd name="T67" fmla="*/ 152 h 152"/>
                <a:gd name="T68" fmla="*/ 185 w 185"/>
                <a:gd name="T69" fmla="*/ 148 h 152"/>
                <a:gd name="T70" fmla="*/ 185 w 185"/>
                <a:gd name="T71" fmla="*/ 4 h 152"/>
                <a:gd name="T72" fmla="*/ 181 w 185"/>
                <a:gd name="T73" fmla="*/ 0 h 152"/>
                <a:gd name="T74" fmla="*/ 177 w 185"/>
                <a:gd name="T75" fmla="*/ 144 h 152"/>
                <a:gd name="T76" fmla="*/ 160 w 185"/>
                <a:gd name="T77" fmla="*/ 144 h 152"/>
                <a:gd name="T78" fmla="*/ 160 w 185"/>
                <a:gd name="T79" fmla="*/ 9 h 152"/>
                <a:gd name="T80" fmla="*/ 177 w 185"/>
                <a:gd name="T81" fmla="*/ 9 h 152"/>
                <a:gd name="T82" fmla="*/ 177 w 185"/>
                <a:gd name="T83" fmla="*/ 144 h 152"/>
                <a:gd name="T84" fmla="*/ 130 w 185"/>
                <a:gd name="T85" fmla="*/ 68 h 152"/>
                <a:gd name="T86" fmla="*/ 105 w 185"/>
                <a:gd name="T87" fmla="*/ 68 h 152"/>
                <a:gd name="T88" fmla="*/ 101 w 185"/>
                <a:gd name="T89" fmla="*/ 72 h 152"/>
                <a:gd name="T90" fmla="*/ 101 w 185"/>
                <a:gd name="T91" fmla="*/ 148 h 152"/>
                <a:gd name="T92" fmla="*/ 105 w 185"/>
                <a:gd name="T93" fmla="*/ 152 h 152"/>
                <a:gd name="T94" fmla="*/ 130 w 185"/>
                <a:gd name="T95" fmla="*/ 152 h 152"/>
                <a:gd name="T96" fmla="*/ 135 w 185"/>
                <a:gd name="T97" fmla="*/ 148 h 152"/>
                <a:gd name="T98" fmla="*/ 135 w 185"/>
                <a:gd name="T99" fmla="*/ 72 h 152"/>
                <a:gd name="T100" fmla="*/ 130 w 185"/>
                <a:gd name="T101" fmla="*/ 68 h 152"/>
                <a:gd name="T102" fmla="*/ 126 w 185"/>
                <a:gd name="T103" fmla="*/ 144 h 152"/>
                <a:gd name="T104" fmla="*/ 109 w 185"/>
                <a:gd name="T105" fmla="*/ 144 h 152"/>
                <a:gd name="T106" fmla="*/ 109 w 185"/>
                <a:gd name="T107" fmla="*/ 76 h 152"/>
                <a:gd name="T108" fmla="*/ 126 w 185"/>
                <a:gd name="T109" fmla="*/ 76 h 152"/>
                <a:gd name="T110" fmla="*/ 126 w 185"/>
                <a:gd name="T111" fmla="*/ 14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5" h="152">
                  <a:moveTo>
                    <a:pt x="29" y="93"/>
                  </a:moveTo>
                  <a:cubicBezTo>
                    <a:pt x="4" y="93"/>
                    <a:pt x="4" y="93"/>
                    <a:pt x="4" y="93"/>
                  </a:cubicBezTo>
                  <a:cubicBezTo>
                    <a:pt x="1" y="93"/>
                    <a:pt x="0" y="95"/>
                    <a:pt x="0" y="97"/>
                  </a:cubicBezTo>
                  <a:cubicBezTo>
                    <a:pt x="0" y="148"/>
                    <a:pt x="0" y="148"/>
                    <a:pt x="0" y="148"/>
                  </a:cubicBezTo>
                  <a:cubicBezTo>
                    <a:pt x="0" y="150"/>
                    <a:pt x="1" y="152"/>
                    <a:pt x="4" y="152"/>
                  </a:cubicBezTo>
                  <a:cubicBezTo>
                    <a:pt x="29" y="152"/>
                    <a:pt x="29" y="152"/>
                    <a:pt x="29" y="152"/>
                  </a:cubicBezTo>
                  <a:cubicBezTo>
                    <a:pt x="31" y="152"/>
                    <a:pt x="33" y="150"/>
                    <a:pt x="33" y="148"/>
                  </a:cubicBezTo>
                  <a:cubicBezTo>
                    <a:pt x="33" y="97"/>
                    <a:pt x="33" y="97"/>
                    <a:pt x="33" y="97"/>
                  </a:cubicBezTo>
                  <a:cubicBezTo>
                    <a:pt x="33" y="95"/>
                    <a:pt x="31" y="93"/>
                    <a:pt x="29" y="93"/>
                  </a:cubicBezTo>
                  <a:close/>
                  <a:moveTo>
                    <a:pt x="25" y="144"/>
                  </a:moveTo>
                  <a:cubicBezTo>
                    <a:pt x="8" y="144"/>
                    <a:pt x="8" y="144"/>
                    <a:pt x="8" y="144"/>
                  </a:cubicBezTo>
                  <a:cubicBezTo>
                    <a:pt x="8" y="101"/>
                    <a:pt x="8" y="101"/>
                    <a:pt x="8" y="101"/>
                  </a:cubicBezTo>
                  <a:cubicBezTo>
                    <a:pt x="25" y="101"/>
                    <a:pt x="25" y="101"/>
                    <a:pt x="25" y="101"/>
                  </a:cubicBezTo>
                  <a:lnTo>
                    <a:pt x="25" y="144"/>
                  </a:lnTo>
                  <a:close/>
                  <a:moveTo>
                    <a:pt x="80" y="17"/>
                  </a:moveTo>
                  <a:cubicBezTo>
                    <a:pt x="54" y="17"/>
                    <a:pt x="54" y="17"/>
                    <a:pt x="54" y="17"/>
                  </a:cubicBezTo>
                  <a:cubicBezTo>
                    <a:pt x="52" y="17"/>
                    <a:pt x="50" y="19"/>
                    <a:pt x="50" y="21"/>
                  </a:cubicBezTo>
                  <a:cubicBezTo>
                    <a:pt x="50" y="148"/>
                    <a:pt x="50" y="148"/>
                    <a:pt x="50" y="148"/>
                  </a:cubicBezTo>
                  <a:cubicBezTo>
                    <a:pt x="50" y="150"/>
                    <a:pt x="52" y="152"/>
                    <a:pt x="54" y="152"/>
                  </a:cubicBezTo>
                  <a:cubicBezTo>
                    <a:pt x="80" y="152"/>
                    <a:pt x="80" y="152"/>
                    <a:pt x="80" y="152"/>
                  </a:cubicBezTo>
                  <a:cubicBezTo>
                    <a:pt x="82" y="152"/>
                    <a:pt x="84" y="150"/>
                    <a:pt x="84" y="148"/>
                  </a:cubicBezTo>
                  <a:cubicBezTo>
                    <a:pt x="84" y="21"/>
                    <a:pt x="84" y="21"/>
                    <a:pt x="84" y="21"/>
                  </a:cubicBezTo>
                  <a:cubicBezTo>
                    <a:pt x="84" y="19"/>
                    <a:pt x="82" y="17"/>
                    <a:pt x="80" y="17"/>
                  </a:cubicBezTo>
                  <a:close/>
                  <a:moveTo>
                    <a:pt x="76" y="144"/>
                  </a:moveTo>
                  <a:cubicBezTo>
                    <a:pt x="59" y="144"/>
                    <a:pt x="59" y="144"/>
                    <a:pt x="59" y="144"/>
                  </a:cubicBezTo>
                  <a:cubicBezTo>
                    <a:pt x="59" y="25"/>
                    <a:pt x="59" y="25"/>
                    <a:pt x="59" y="25"/>
                  </a:cubicBezTo>
                  <a:cubicBezTo>
                    <a:pt x="76" y="25"/>
                    <a:pt x="76" y="25"/>
                    <a:pt x="76" y="25"/>
                  </a:cubicBezTo>
                  <a:lnTo>
                    <a:pt x="76" y="144"/>
                  </a:lnTo>
                  <a:close/>
                  <a:moveTo>
                    <a:pt x="181" y="0"/>
                  </a:moveTo>
                  <a:cubicBezTo>
                    <a:pt x="156" y="0"/>
                    <a:pt x="156" y="0"/>
                    <a:pt x="156" y="0"/>
                  </a:cubicBezTo>
                  <a:cubicBezTo>
                    <a:pt x="153" y="0"/>
                    <a:pt x="151" y="2"/>
                    <a:pt x="151" y="4"/>
                  </a:cubicBezTo>
                  <a:cubicBezTo>
                    <a:pt x="151" y="148"/>
                    <a:pt x="151" y="148"/>
                    <a:pt x="151" y="148"/>
                  </a:cubicBezTo>
                  <a:cubicBezTo>
                    <a:pt x="151" y="150"/>
                    <a:pt x="153" y="152"/>
                    <a:pt x="156" y="152"/>
                  </a:cubicBezTo>
                  <a:cubicBezTo>
                    <a:pt x="181" y="152"/>
                    <a:pt x="181" y="152"/>
                    <a:pt x="181" y="152"/>
                  </a:cubicBezTo>
                  <a:cubicBezTo>
                    <a:pt x="183" y="152"/>
                    <a:pt x="185" y="150"/>
                    <a:pt x="185" y="148"/>
                  </a:cubicBezTo>
                  <a:cubicBezTo>
                    <a:pt x="185" y="4"/>
                    <a:pt x="185" y="4"/>
                    <a:pt x="185" y="4"/>
                  </a:cubicBezTo>
                  <a:cubicBezTo>
                    <a:pt x="185" y="2"/>
                    <a:pt x="183" y="0"/>
                    <a:pt x="181" y="0"/>
                  </a:cubicBezTo>
                  <a:close/>
                  <a:moveTo>
                    <a:pt x="177" y="144"/>
                  </a:moveTo>
                  <a:cubicBezTo>
                    <a:pt x="160" y="144"/>
                    <a:pt x="160" y="144"/>
                    <a:pt x="160" y="144"/>
                  </a:cubicBezTo>
                  <a:cubicBezTo>
                    <a:pt x="160" y="9"/>
                    <a:pt x="160" y="9"/>
                    <a:pt x="160" y="9"/>
                  </a:cubicBezTo>
                  <a:cubicBezTo>
                    <a:pt x="177" y="9"/>
                    <a:pt x="177" y="9"/>
                    <a:pt x="177" y="9"/>
                  </a:cubicBezTo>
                  <a:lnTo>
                    <a:pt x="177" y="144"/>
                  </a:lnTo>
                  <a:close/>
                  <a:moveTo>
                    <a:pt x="130" y="68"/>
                  </a:moveTo>
                  <a:cubicBezTo>
                    <a:pt x="105" y="68"/>
                    <a:pt x="105" y="68"/>
                    <a:pt x="105" y="68"/>
                  </a:cubicBezTo>
                  <a:cubicBezTo>
                    <a:pt x="103" y="68"/>
                    <a:pt x="101" y="70"/>
                    <a:pt x="101" y="72"/>
                  </a:cubicBezTo>
                  <a:cubicBezTo>
                    <a:pt x="101" y="148"/>
                    <a:pt x="101" y="148"/>
                    <a:pt x="101" y="148"/>
                  </a:cubicBezTo>
                  <a:cubicBezTo>
                    <a:pt x="101" y="150"/>
                    <a:pt x="103" y="152"/>
                    <a:pt x="105" y="152"/>
                  </a:cubicBezTo>
                  <a:cubicBezTo>
                    <a:pt x="130" y="152"/>
                    <a:pt x="130" y="152"/>
                    <a:pt x="130" y="152"/>
                  </a:cubicBezTo>
                  <a:cubicBezTo>
                    <a:pt x="133" y="152"/>
                    <a:pt x="135" y="150"/>
                    <a:pt x="135" y="148"/>
                  </a:cubicBezTo>
                  <a:cubicBezTo>
                    <a:pt x="135" y="72"/>
                    <a:pt x="135" y="72"/>
                    <a:pt x="135" y="72"/>
                  </a:cubicBezTo>
                  <a:cubicBezTo>
                    <a:pt x="135" y="70"/>
                    <a:pt x="133" y="68"/>
                    <a:pt x="130" y="68"/>
                  </a:cubicBezTo>
                  <a:close/>
                  <a:moveTo>
                    <a:pt x="126" y="144"/>
                  </a:moveTo>
                  <a:cubicBezTo>
                    <a:pt x="109" y="144"/>
                    <a:pt x="109" y="144"/>
                    <a:pt x="109" y="144"/>
                  </a:cubicBezTo>
                  <a:cubicBezTo>
                    <a:pt x="109" y="76"/>
                    <a:pt x="109" y="76"/>
                    <a:pt x="109" y="76"/>
                  </a:cubicBezTo>
                  <a:cubicBezTo>
                    <a:pt x="126" y="76"/>
                    <a:pt x="126" y="76"/>
                    <a:pt x="126" y="76"/>
                  </a:cubicBezTo>
                  <a:lnTo>
                    <a:pt x="126" y="144"/>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solidFill>
                  <a:prstClr val="black"/>
                </a:solidFill>
                <a:latin typeface="Avenir 35" panose="00000400000000000000" pitchFamily="2" charset="0"/>
              </a:endParaRPr>
            </a:p>
          </p:txBody>
        </p:sp>
      </p:grpSp>
      <p:sp>
        <p:nvSpPr>
          <p:cNvPr id="187" name="186 Rectángulo"/>
          <p:cNvSpPr/>
          <p:nvPr>
            <p:custDataLst>
              <p:tags r:id="rId8"/>
            </p:custDataLst>
          </p:nvPr>
        </p:nvSpPr>
        <p:spPr>
          <a:xfrm>
            <a:off x="8770706" y="3117346"/>
            <a:ext cx="790087" cy="240292"/>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900" kern="0" dirty="0">
                <a:solidFill>
                  <a:srgbClr val="FFFFFF"/>
                </a:solidFill>
                <a:latin typeface="Avenir 35" panose="00000400000000000000" pitchFamily="2" charset="0"/>
              </a:rPr>
              <a:t>Furgoneta BU</a:t>
            </a:r>
          </a:p>
        </p:txBody>
      </p:sp>
      <p:sp>
        <p:nvSpPr>
          <p:cNvPr id="189" name="188 Rectángulo"/>
          <p:cNvSpPr/>
          <p:nvPr>
            <p:custDataLst>
              <p:tags r:id="rId9"/>
            </p:custDataLst>
          </p:nvPr>
        </p:nvSpPr>
        <p:spPr>
          <a:xfrm>
            <a:off x="8770706" y="3376575"/>
            <a:ext cx="790087" cy="240292"/>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900" kern="0" dirty="0">
                <a:solidFill>
                  <a:srgbClr val="FFFFFF"/>
                </a:solidFill>
                <a:latin typeface="Avenir 35" panose="00000400000000000000" pitchFamily="2" charset="0"/>
              </a:rPr>
              <a:t>Camión BU</a:t>
            </a:r>
          </a:p>
        </p:txBody>
      </p:sp>
      <p:sp>
        <p:nvSpPr>
          <p:cNvPr id="190" name="189 Rectángulo"/>
          <p:cNvSpPr/>
          <p:nvPr>
            <p:custDataLst>
              <p:tags r:id="rId10"/>
            </p:custDataLst>
          </p:nvPr>
        </p:nvSpPr>
        <p:spPr>
          <a:xfrm>
            <a:off x="8770706" y="3635804"/>
            <a:ext cx="790087" cy="240292"/>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900" kern="0" dirty="0">
                <a:solidFill>
                  <a:srgbClr val="FFFFFF"/>
                </a:solidFill>
                <a:latin typeface="Avenir 35" panose="00000400000000000000" pitchFamily="2" charset="0"/>
              </a:rPr>
              <a:t>MBFS</a:t>
            </a:r>
          </a:p>
        </p:txBody>
      </p:sp>
      <p:sp>
        <p:nvSpPr>
          <p:cNvPr id="191" name="190 Rectángulo"/>
          <p:cNvSpPr/>
          <p:nvPr>
            <p:custDataLst>
              <p:tags r:id="rId11"/>
            </p:custDataLst>
          </p:nvPr>
        </p:nvSpPr>
        <p:spPr>
          <a:xfrm>
            <a:off x="8770706" y="3895033"/>
            <a:ext cx="790087" cy="240292"/>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900" kern="0" dirty="0">
                <a:solidFill>
                  <a:srgbClr val="FFFFFF"/>
                </a:solidFill>
                <a:latin typeface="Avenir 35" panose="00000400000000000000" pitchFamily="2" charset="0"/>
              </a:rPr>
              <a:t>BANCO</a:t>
            </a:r>
          </a:p>
        </p:txBody>
      </p:sp>
      <p:sp>
        <p:nvSpPr>
          <p:cNvPr id="192" name="191 Rectángulo"/>
          <p:cNvSpPr/>
          <p:nvPr>
            <p:custDataLst>
              <p:tags r:id="rId12"/>
            </p:custDataLst>
          </p:nvPr>
        </p:nvSpPr>
        <p:spPr>
          <a:xfrm>
            <a:off x="8770706" y="4154261"/>
            <a:ext cx="790087" cy="240292"/>
          </a:xfrm>
          <a:prstGeom prst="rect">
            <a:avLst/>
          </a:prstGeom>
          <a:solidFill>
            <a:srgbClr val="3CB2C3"/>
          </a:solidFill>
          <a:ln w="25400" cap="flat" cmpd="sng" algn="ctr">
            <a:noFill/>
            <a:prstDash val="solid"/>
          </a:ln>
          <a:effectLst/>
        </p:spPr>
        <p:txBody>
          <a:bodyPr lIns="36000" tIns="36000" rIns="36000" bIns="36000" rtlCol="0" anchor="ctr"/>
          <a:lstStyle/>
          <a:p>
            <a:pPr algn="ctr" fontAlgn="base">
              <a:spcBef>
                <a:spcPct val="0"/>
              </a:spcBef>
              <a:spcAft>
                <a:spcPct val="0"/>
              </a:spcAft>
            </a:pPr>
            <a:r>
              <a:rPr lang="es-ES" sz="800" kern="0" dirty="0">
                <a:solidFill>
                  <a:srgbClr val="FFFFFF"/>
                </a:solidFill>
                <a:latin typeface="Avenir 35" panose="00000400000000000000" pitchFamily="2" charset="0"/>
              </a:rPr>
              <a:t>Easy Money AG*</a:t>
            </a:r>
          </a:p>
        </p:txBody>
      </p:sp>
      <p:grpSp>
        <p:nvGrpSpPr>
          <p:cNvPr id="2" name="1 Grupo"/>
          <p:cNvGrpSpPr/>
          <p:nvPr/>
        </p:nvGrpSpPr>
        <p:grpSpPr>
          <a:xfrm>
            <a:off x="5385048" y="5131755"/>
            <a:ext cx="1728000" cy="938854"/>
            <a:chOff x="6033120" y="5442478"/>
            <a:chExt cx="1728000" cy="938854"/>
          </a:xfrm>
        </p:grpSpPr>
        <p:sp>
          <p:nvSpPr>
            <p:cNvPr id="163" name="9 Rectángulo redondeado"/>
            <p:cNvSpPr/>
            <p:nvPr/>
          </p:nvSpPr>
          <p:spPr>
            <a:xfrm>
              <a:off x="6033120" y="5694605"/>
              <a:ext cx="1728000" cy="686727"/>
            </a:xfrm>
            <a:prstGeom prst="roundRect">
              <a:avLst>
                <a:gd name="adj" fmla="val 0"/>
              </a:avLst>
            </a:prstGeom>
            <a:solidFill>
              <a:srgbClr val="323232"/>
            </a:solidFill>
            <a:ln>
              <a:noFill/>
            </a:ln>
          </p:spPr>
          <p:style>
            <a:lnRef idx="2">
              <a:schemeClr val="accent2">
                <a:shade val="50000"/>
              </a:schemeClr>
            </a:lnRef>
            <a:fillRef idx="1">
              <a:schemeClr val="accent2"/>
            </a:fillRef>
            <a:effectRef idx="0">
              <a:schemeClr val="accent2"/>
            </a:effectRef>
            <a:fontRef idx="minor">
              <a:schemeClr val="lt1"/>
            </a:fontRef>
          </p:style>
          <p:txBody>
            <a:bodyPr lIns="36000" tIns="252000" rIns="36000" rtlCol="0" anchor="ctr"/>
            <a:lstStyle/>
            <a:p>
              <a:pPr algn="ctr"/>
              <a:r>
                <a:rPr lang="en-US" sz="1400" dirty="0">
                  <a:solidFill>
                    <a:prstClr val="white"/>
                  </a:solidFill>
                  <a:latin typeface="Avenir 35" panose="00000400000000000000" pitchFamily="2" charset="0"/>
                  <a:cs typeface="Arial" pitchFamily="34" charset="0"/>
                </a:rPr>
                <a:t>Social Media</a:t>
              </a:r>
              <a:endParaRPr lang="en-US" dirty="0">
                <a:solidFill>
                  <a:prstClr val="white"/>
                </a:solidFill>
                <a:latin typeface="Avenir 35" panose="00000400000000000000" pitchFamily="2" charset="0"/>
                <a:cs typeface="Arial" pitchFamily="34" charset="0"/>
              </a:endParaRPr>
            </a:p>
          </p:txBody>
        </p:sp>
        <p:sp>
          <p:nvSpPr>
            <p:cNvPr id="171" name="170 Elipse"/>
            <p:cNvSpPr/>
            <p:nvPr/>
          </p:nvSpPr>
          <p:spPr>
            <a:xfrm>
              <a:off x="6719131" y="5442478"/>
              <a:ext cx="580437" cy="552025"/>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latin typeface="Avenir 35" panose="00000400000000000000" pitchFamily="2" charset="0"/>
              </a:endParaRPr>
            </a:p>
          </p:txBody>
        </p:sp>
        <p:sp>
          <p:nvSpPr>
            <p:cNvPr id="193" name="Freeform 309"/>
            <p:cNvSpPr>
              <a:spLocks noEditPoints="1"/>
            </p:cNvSpPr>
            <p:nvPr/>
          </p:nvSpPr>
          <p:spPr bwMode="auto">
            <a:xfrm>
              <a:off x="6867197" y="5587475"/>
              <a:ext cx="284303" cy="282626"/>
            </a:xfrm>
            <a:custGeom>
              <a:avLst/>
              <a:gdLst>
                <a:gd name="T0" fmla="*/ 0 w 186"/>
                <a:gd name="T1" fmla="*/ 92 h 185"/>
                <a:gd name="T2" fmla="*/ 186 w 186"/>
                <a:gd name="T3" fmla="*/ 92 h 185"/>
                <a:gd name="T4" fmla="*/ 140 w 186"/>
                <a:gd name="T5" fmla="*/ 22 h 185"/>
                <a:gd name="T6" fmla="*/ 137 w 186"/>
                <a:gd name="T7" fmla="*/ 50 h 185"/>
                <a:gd name="T8" fmla="*/ 131 w 186"/>
                <a:gd name="T9" fmla="*/ 72 h 185"/>
                <a:gd name="T10" fmla="*/ 90 w 186"/>
                <a:gd name="T11" fmla="*/ 27 h 185"/>
                <a:gd name="T12" fmla="*/ 140 w 186"/>
                <a:gd name="T13" fmla="*/ 22 h 185"/>
                <a:gd name="T14" fmla="*/ 146 w 186"/>
                <a:gd name="T15" fmla="*/ 124 h 185"/>
                <a:gd name="T16" fmla="*/ 106 w 186"/>
                <a:gd name="T17" fmla="*/ 126 h 185"/>
                <a:gd name="T18" fmla="*/ 122 w 186"/>
                <a:gd name="T19" fmla="*/ 105 h 185"/>
                <a:gd name="T20" fmla="*/ 107 w 186"/>
                <a:gd name="T21" fmla="*/ 9 h 185"/>
                <a:gd name="T22" fmla="*/ 89 w 186"/>
                <a:gd name="T23" fmla="*/ 8 h 185"/>
                <a:gd name="T24" fmla="*/ 116 w 186"/>
                <a:gd name="T25" fmla="*/ 99 h 185"/>
                <a:gd name="T26" fmla="*/ 93 w 186"/>
                <a:gd name="T27" fmla="*/ 113 h 185"/>
                <a:gd name="T28" fmla="*/ 34 w 186"/>
                <a:gd name="T29" fmla="*/ 102 h 185"/>
                <a:gd name="T30" fmla="*/ 55 w 186"/>
                <a:gd name="T31" fmla="*/ 63 h 185"/>
                <a:gd name="T32" fmla="*/ 67 w 186"/>
                <a:gd name="T33" fmla="*/ 45 h 185"/>
                <a:gd name="T34" fmla="*/ 116 w 186"/>
                <a:gd name="T35" fmla="*/ 99 h 185"/>
                <a:gd name="T36" fmla="*/ 9 w 186"/>
                <a:gd name="T37" fmla="*/ 94 h 185"/>
                <a:gd name="T38" fmla="*/ 22 w 186"/>
                <a:gd name="T39" fmla="*/ 135 h 185"/>
                <a:gd name="T40" fmla="*/ 27 w 186"/>
                <a:gd name="T41" fmla="*/ 97 h 185"/>
                <a:gd name="T42" fmla="*/ 81 w 186"/>
                <a:gd name="T43" fmla="*/ 9 h 185"/>
                <a:gd name="T44" fmla="*/ 61 w 186"/>
                <a:gd name="T45" fmla="*/ 39 h 185"/>
                <a:gd name="T46" fmla="*/ 43 w 186"/>
                <a:gd name="T47" fmla="*/ 50 h 185"/>
                <a:gd name="T48" fmla="*/ 27 w 186"/>
                <a:gd name="T49" fmla="*/ 97 h 185"/>
                <a:gd name="T50" fmla="*/ 30 w 186"/>
                <a:gd name="T51" fmla="*/ 135 h 185"/>
                <a:gd name="T52" fmla="*/ 81 w 186"/>
                <a:gd name="T53" fmla="*/ 130 h 185"/>
                <a:gd name="T54" fmla="*/ 32 w 186"/>
                <a:gd name="T55" fmla="*/ 150 h 185"/>
                <a:gd name="T56" fmla="*/ 93 w 186"/>
                <a:gd name="T57" fmla="*/ 177 h 185"/>
                <a:gd name="T58" fmla="*/ 87 w 186"/>
                <a:gd name="T59" fmla="*/ 137 h 185"/>
                <a:gd name="T60" fmla="*/ 103 w 186"/>
                <a:gd name="T61" fmla="*/ 134 h 185"/>
                <a:gd name="T62" fmla="*/ 158 w 186"/>
                <a:gd name="T63" fmla="*/ 130 h 185"/>
                <a:gd name="T64" fmla="*/ 93 w 186"/>
                <a:gd name="T65" fmla="*/ 177 h 185"/>
                <a:gd name="T66" fmla="*/ 127 w 186"/>
                <a:gd name="T67" fmla="*/ 98 h 185"/>
                <a:gd name="T68" fmla="*/ 140 w 186"/>
                <a:gd name="T69" fmla="*/ 75 h 185"/>
                <a:gd name="T70" fmla="*/ 145 w 186"/>
                <a:gd name="T71" fmla="*/ 52 h 185"/>
                <a:gd name="T72" fmla="*/ 178 w 186"/>
                <a:gd name="T73" fmla="*/ 92 h 185"/>
                <a:gd name="T74" fmla="*/ 159 w 186"/>
                <a:gd name="T75" fmla="*/ 12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6" h="185">
                  <a:moveTo>
                    <a:pt x="93" y="0"/>
                  </a:moveTo>
                  <a:cubicBezTo>
                    <a:pt x="42" y="0"/>
                    <a:pt x="0" y="41"/>
                    <a:pt x="0" y="92"/>
                  </a:cubicBezTo>
                  <a:cubicBezTo>
                    <a:pt x="0" y="144"/>
                    <a:pt x="42" y="185"/>
                    <a:pt x="93" y="185"/>
                  </a:cubicBezTo>
                  <a:cubicBezTo>
                    <a:pt x="144" y="185"/>
                    <a:pt x="186" y="144"/>
                    <a:pt x="186" y="92"/>
                  </a:cubicBezTo>
                  <a:cubicBezTo>
                    <a:pt x="186" y="41"/>
                    <a:pt x="144" y="0"/>
                    <a:pt x="93" y="0"/>
                  </a:cubicBezTo>
                  <a:close/>
                  <a:moveTo>
                    <a:pt x="140" y="22"/>
                  </a:moveTo>
                  <a:cubicBezTo>
                    <a:pt x="140" y="23"/>
                    <a:pt x="140" y="24"/>
                    <a:pt x="140" y="25"/>
                  </a:cubicBezTo>
                  <a:cubicBezTo>
                    <a:pt x="140" y="34"/>
                    <a:pt x="139" y="42"/>
                    <a:pt x="137" y="50"/>
                  </a:cubicBezTo>
                  <a:cubicBezTo>
                    <a:pt x="131" y="52"/>
                    <a:pt x="127" y="57"/>
                    <a:pt x="127" y="63"/>
                  </a:cubicBezTo>
                  <a:cubicBezTo>
                    <a:pt x="127" y="66"/>
                    <a:pt x="128" y="69"/>
                    <a:pt x="131" y="72"/>
                  </a:cubicBezTo>
                  <a:cubicBezTo>
                    <a:pt x="128" y="79"/>
                    <a:pt x="125" y="85"/>
                    <a:pt x="121" y="92"/>
                  </a:cubicBezTo>
                  <a:cubicBezTo>
                    <a:pt x="105" y="74"/>
                    <a:pt x="94" y="51"/>
                    <a:pt x="90" y="27"/>
                  </a:cubicBezTo>
                  <a:cubicBezTo>
                    <a:pt x="100" y="21"/>
                    <a:pt x="111" y="16"/>
                    <a:pt x="122" y="13"/>
                  </a:cubicBezTo>
                  <a:cubicBezTo>
                    <a:pt x="128" y="15"/>
                    <a:pt x="134" y="18"/>
                    <a:pt x="140" y="22"/>
                  </a:cubicBezTo>
                  <a:close/>
                  <a:moveTo>
                    <a:pt x="122" y="105"/>
                  </a:moveTo>
                  <a:cubicBezTo>
                    <a:pt x="129" y="112"/>
                    <a:pt x="137" y="118"/>
                    <a:pt x="146" y="124"/>
                  </a:cubicBezTo>
                  <a:cubicBezTo>
                    <a:pt x="137" y="125"/>
                    <a:pt x="128" y="126"/>
                    <a:pt x="119" y="126"/>
                  </a:cubicBezTo>
                  <a:cubicBezTo>
                    <a:pt x="114" y="126"/>
                    <a:pt x="110" y="126"/>
                    <a:pt x="106" y="126"/>
                  </a:cubicBezTo>
                  <a:cubicBezTo>
                    <a:pt x="106" y="125"/>
                    <a:pt x="106" y="124"/>
                    <a:pt x="105" y="123"/>
                  </a:cubicBezTo>
                  <a:cubicBezTo>
                    <a:pt x="111" y="118"/>
                    <a:pt x="117" y="112"/>
                    <a:pt x="122" y="105"/>
                  </a:cubicBezTo>
                  <a:close/>
                  <a:moveTo>
                    <a:pt x="93" y="8"/>
                  </a:moveTo>
                  <a:cubicBezTo>
                    <a:pt x="98" y="8"/>
                    <a:pt x="103" y="8"/>
                    <a:pt x="107" y="9"/>
                  </a:cubicBezTo>
                  <a:cubicBezTo>
                    <a:pt x="101" y="12"/>
                    <a:pt x="95" y="14"/>
                    <a:pt x="89" y="17"/>
                  </a:cubicBezTo>
                  <a:cubicBezTo>
                    <a:pt x="89" y="14"/>
                    <a:pt x="89" y="11"/>
                    <a:pt x="89" y="8"/>
                  </a:cubicBezTo>
                  <a:cubicBezTo>
                    <a:pt x="90" y="8"/>
                    <a:pt x="92" y="8"/>
                    <a:pt x="93" y="8"/>
                  </a:cubicBezTo>
                  <a:close/>
                  <a:moveTo>
                    <a:pt x="116" y="99"/>
                  </a:moveTo>
                  <a:cubicBezTo>
                    <a:pt x="111" y="105"/>
                    <a:pt x="106" y="111"/>
                    <a:pt x="101" y="116"/>
                  </a:cubicBezTo>
                  <a:cubicBezTo>
                    <a:pt x="99" y="114"/>
                    <a:pt x="96" y="113"/>
                    <a:pt x="93" y="113"/>
                  </a:cubicBezTo>
                  <a:cubicBezTo>
                    <a:pt x="88" y="113"/>
                    <a:pt x="83" y="117"/>
                    <a:pt x="81" y="122"/>
                  </a:cubicBezTo>
                  <a:cubicBezTo>
                    <a:pt x="64" y="118"/>
                    <a:pt x="49" y="111"/>
                    <a:pt x="34" y="102"/>
                  </a:cubicBezTo>
                  <a:cubicBezTo>
                    <a:pt x="38" y="88"/>
                    <a:pt x="44" y="74"/>
                    <a:pt x="52" y="63"/>
                  </a:cubicBezTo>
                  <a:cubicBezTo>
                    <a:pt x="53" y="63"/>
                    <a:pt x="54" y="63"/>
                    <a:pt x="55" y="63"/>
                  </a:cubicBezTo>
                  <a:cubicBezTo>
                    <a:pt x="62" y="63"/>
                    <a:pt x="68" y="57"/>
                    <a:pt x="68" y="50"/>
                  </a:cubicBezTo>
                  <a:cubicBezTo>
                    <a:pt x="68" y="48"/>
                    <a:pt x="68" y="47"/>
                    <a:pt x="67" y="45"/>
                  </a:cubicBezTo>
                  <a:cubicBezTo>
                    <a:pt x="72" y="40"/>
                    <a:pt x="77" y="36"/>
                    <a:pt x="83" y="32"/>
                  </a:cubicBezTo>
                  <a:cubicBezTo>
                    <a:pt x="87" y="57"/>
                    <a:pt x="99" y="80"/>
                    <a:pt x="116" y="99"/>
                  </a:cubicBezTo>
                  <a:close/>
                  <a:moveTo>
                    <a:pt x="22" y="137"/>
                  </a:moveTo>
                  <a:cubicBezTo>
                    <a:pt x="14" y="124"/>
                    <a:pt x="9" y="110"/>
                    <a:pt x="9" y="94"/>
                  </a:cubicBezTo>
                  <a:cubicBezTo>
                    <a:pt x="14" y="98"/>
                    <a:pt x="19" y="102"/>
                    <a:pt x="25" y="106"/>
                  </a:cubicBezTo>
                  <a:cubicBezTo>
                    <a:pt x="23" y="115"/>
                    <a:pt x="22" y="125"/>
                    <a:pt x="22" y="135"/>
                  </a:cubicBezTo>
                  <a:cubicBezTo>
                    <a:pt x="22" y="135"/>
                    <a:pt x="22" y="136"/>
                    <a:pt x="22" y="137"/>
                  </a:cubicBezTo>
                  <a:close/>
                  <a:moveTo>
                    <a:pt x="27" y="97"/>
                  </a:moveTo>
                  <a:cubicBezTo>
                    <a:pt x="21" y="93"/>
                    <a:pt x="15" y="88"/>
                    <a:pt x="9" y="83"/>
                  </a:cubicBezTo>
                  <a:cubicBezTo>
                    <a:pt x="14" y="45"/>
                    <a:pt x="43" y="15"/>
                    <a:pt x="81" y="9"/>
                  </a:cubicBezTo>
                  <a:cubicBezTo>
                    <a:pt x="81" y="14"/>
                    <a:pt x="81" y="18"/>
                    <a:pt x="81" y="22"/>
                  </a:cubicBezTo>
                  <a:cubicBezTo>
                    <a:pt x="74" y="27"/>
                    <a:pt x="67" y="33"/>
                    <a:pt x="61" y="39"/>
                  </a:cubicBezTo>
                  <a:cubicBezTo>
                    <a:pt x="59" y="38"/>
                    <a:pt x="57" y="38"/>
                    <a:pt x="55" y="38"/>
                  </a:cubicBezTo>
                  <a:cubicBezTo>
                    <a:pt x="48" y="38"/>
                    <a:pt x="43" y="43"/>
                    <a:pt x="43" y="50"/>
                  </a:cubicBezTo>
                  <a:cubicBezTo>
                    <a:pt x="43" y="53"/>
                    <a:pt x="44" y="56"/>
                    <a:pt x="45" y="58"/>
                  </a:cubicBezTo>
                  <a:cubicBezTo>
                    <a:pt x="37" y="70"/>
                    <a:pt x="31" y="83"/>
                    <a:pt x="27" y="97"/>
                  </a:cubicBezTo>
                  <a:close/>
                  <a:moveTo>
                    <a:pt x="31" y="149"/>
                  </a:moveTo>
                  <a:cubicBezTo>
                    <a:pt x="30" y="144"/>
                    <a:pt x="30" y="139"/>
                    <a:pt x="30" y="135"/>
                  </a:cubicBezTo>
                  <a:cubicBezTo>
                    <a:pt x="30" y="126"/>
                    <a:pt x="31" y="119"/>
                    <a:pt x="32" y="111"/>
                  </a:cubicBezTo>
                  <a:cubicBezTo>
                    <a:pt x="47" y="120"/>
                    <a:pt x="64" y="126"/>
                    <a:pt x="81" y="130"/>
                  </a:cubicBezTo>
                  <a:cubicBezTo>
                    <a:pt x="81" y="131"/>
                    <a:pt x="81" y="131"/>
                    <a:pt x="82" y="131"/>
                  </a:cubicBezTo>
                  <a:cubicBezTo>
                    <a:pt x="67" y="141"/>
                    <a:pt x="50" y="147"/>
                    <a:pt x="32" y="150"/>
                  </a:cubicBezTo>
                  <a:cubicBezTo>
                    <a:pt x="31" y="150"/>
                    <a:pt x="31" y="149"/>
                    <a:pt x="31" y="149"/>
                  </a:cubicBezTo>
                  <a:close/>
                  <a:moveTo>
                    <a:pt x="93" y="177"/>
                  </a:moveTo>
                  <a:cubicBezTo>
                    <a:pt x="73" y="177"/>
                    <a:pt x="54" y="169"/>
                    <a:pt x="39" y="157"/>
                  </a:cubicBezTo>
                  <a:cubicBezTo>
                    <a:pt x="57" y="154"/>
                    <a:pt x="73" y="147"/>
                    <a:pt x="87" y="137"/>
                  </a:cubicBezTo>
                  <a:cubicBezTo>
                    <a:pt x="89" y="138"/>
                    <a:pt x="91" y="139"/>
                    <a:pt x="93" y="139"/>
                  </a:cubicBezTo>
                  <a:cubicBezTo>
                    <a:pt x="97" y="139"/>
                    <a:pt x="101" y="137"/>
                    <a:pt x="103" y="134"/>
                  </a:cubicBezTo>
                  <a:cubicBezTo>
                    <a:pt x="108" y="134"/>
                    <a:pt x="113" y="135"/>
                    <a:pt x="119" y="135"/>
                  </a:cubicBezTo>
                  <a:cubicBezTo>
                    <a:pt x="132" y="135"/>
                    <a:pt x="145" y="133"/>
                    <a:pt x="158" y="130"/>
                  </a:cubicBezTo>
                  <a:cubicBezTo>
                    <a:pt x="161" y="131"/>
                    <a:pt x="164" y="133"/>
                    <a:pt x="167" y="134"/>
                  </a:cubicBezTo>
                  <a:cubicBezTo>
                    <a:pt x="152" y="159"/>
                    <a:pt x="125" y="177"/>
                    <a:pt x="93" y="177"/>
                  </a:cubicBezTo>
                  <a:close/>
                  <a:moveTo>
                    <a:pt x="159" y="121"/>
                  </a:moveTo>
                  <a:cubicBezTo>
                    <a:pt x="147" y="115"/>
                    <a:pt x="136" y="107"/>
                    <a:pt x="127" y="98"/>
                  </a:cubicBezTo>
                  <a:cubicBezTo>
                    <a:pt x="131" y="91"/>
                    <a:pt x="135" y="83"/>
                    <a:pt x="138" y="75"/>
                  </a:cubicBezTo>
                  <a:cubicBezTo>
                    <a:pt x="139" y="75"/>
                    <a:pt x="139" y="75"/>
                    <a:pt x="140" y="75"/>
                  </a:cubicBezTo>
                  <a:cubicBezTo>
                    <a:pt x="147" y="75"/>
                    <a:pt x="152" y="70"/>
                    <a:pt x="152" y="63"/>
                  </a:cubicBezTo>
                  <a:cubicBezTo>
                    <a:pt x="152" y="58"/>
                    <a:pt x="149" y="54"/>
                    <a:pt x="145" y="52"/>
                  </a:cubicBezTo>
                  <a:cubicBezTo>
                    <a:pt x="147" y="44"/>
                    <a:pt x="148" y="36"/>
                    <a:pt x="148" y="28"/>
                  </a:cubicBezTo>
                  <a:cubicBezTo>
                    <a:pt x="166" y="44"/>
                    <a:pt x="178" y="67"/>
                    <a:pt x="178" y="92"/>
                  </a:cubicBezTo>
                  <a:cubicBezTo>
                    <a:pt x="178" y="101"/>
                    <a:pt x="176" y="109"/>
                    <a:pt x="174" y="116"/>
                  </a:cubicBezTo>
                  <a:cubicBezTo>
                    <a:pt x="169" y="118"/>
                    <a:pt x="164" y="120"/>
                    <a:pt x="159" y="121"/>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n-US" sz="1350" dirty="0"/>
            </a:p>
          </p:txBody>
        </p:sp>
      </p:grpSp>
      <p:grpSp>
        <p:nvGrpSpPr>
          <p:cNvPr id="15" name="14 Grupo"/>
          <p:cNvGrpSpPr/>
          <p:nvPr/>
        </p:nvGrpSpPr>
        <p:grpSpPr>
          <a:xfrm>
            <a:off x="7977336" y="5131755"/>
            <a:ext cx="1728000" cy="938854"/>
            <a:chOff x="7977336" y="5442478"/>
            <a:chExt cx="1728000" cy="938854"/>
          </a:xfrm>
        </p:grpSpPr>
        <p:grpSp>
          <p:nvGrpSpPr>
            <p:cNvPr id="13" name="12 Grupo"/>
            <p:cNvGrpSpPr/>
            <p:nvPr/>
          </p:nvGrpSpPr>
          <p:grpSpPr>
            <a:xfrm>
              <a:off x="7977336" y="5442478"/>
              <a:ext cx="1728000" cy="938854"/>
              <a:chOff x="8121352" y="5409121"/>
              <a:chExt cx="1728000" cy="938854"/>
            </a:xfrm>
          </p:grpSpPr>
          <p:sp>
            <p:nvSpPr>
              <p:cNvPr id="173" name="9 Rectángulo redondeado"/>
              <p:cNvSpPr/>
              <p:nvPr/>
            </p:nvSpPr>
            <p:spPr>
              <a:xfrm>
                <a:off x="8121352" y="5661248"/>
                <a:ext cx="1728000" cy="686727"/>
              </a:xfrm>
              <a:prstGeom prst="roundRect">
                <a:avLst>
                  <a:gd name="adj" fmla="val 0"/>
                </a:avLst>
              </a:prstGeom>
              <a:solidFill>
                <a:srgbClr val="323232"/>
              </a:solidFill>
              <a:ln>
                <a:noFill/>
              </a:ln>
            </p:spPr>
            <p:style>
              <a:lnRef idx="2">
                <a:schemeClr val="accent2">
                  <a:shade val="50000"/>
                </a:schemeClr>
              </a:lnRef>
              <a:fillRef idx="1">
                <a:schemeClr val="accent2"/>
              </a:fillRef>
              <a:effectRef idx="0">
                <a:schemeClr val="accent2"/>
              </a:effectRef>
              <a:fontRef idx="minor">
                <a:schemeClr val="lt1"/>
              </a:fontRef>
            </p:style>
            <p:txBody>
              <a:bodyPr lIns="36000" tIns="252000" rIns="36000" rtlCol="0" anchor="ctr"/>
              <a:lstStyle/>
              <a:p>
                <a:pPr algn="ctr"/>
                <a:r>
                  <a:rPr lang="en-US" sz="1400" dirty="0">
                    <a:solidFill>
                      <a:prstClr val="white"/>
                    </a:solidFill>
                    <a:latin typeface="Avenir 35" panose="00000400000000000000" pitchFamily="2" charset="0"/>
                    <a:cs typeface="Arial" pitchFamily="34" charset="0"/>
                  </a:rPr>
                  <a:t>Data Quality</a:t>
                </a:r>
                <a:endParaRPr lang="en-US" dirty="0">
                  <a:solidFill>
                    <a:prstClr val="white"/>
                  </a:solidFill>
                  <a:latin typeface="Avenir 35" panose="00000400000000000000" pitchFamily="2" charset="0"/>
                  <a:cs typeface="Arial" pitchFamily="34" charset="0"/>
                </a:endParaRPr>
              </a:p>
            </p:txBody>
          </p:sp>
          <p:sp>
            <p:nvSpPr>
              <p:cNvPr id="174" name="173 Elipse"/>
              <p:cNvSpPr/>
              <p:nvPr/>
            </p:nvSpPr>
            <p:spPr>
              <a:xfrm>
                <a:off x="8697416" y="5409121"/>
                <a:ext cx="580437" cy="552025"/>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latin typeface="Avenir 35" panose="00000400000000000000" pitchFamily="2" charset="0"/>
                </a:endParaRPr>
              </a:p>
            </p:txBody>
          </p:sp>
        </p:grpSp>
        <p:sp>
          <p:nvSpPr>
            <p:cNvPr id="194" name="Freeform 503"/>
            <p:cNvSpPr>
              <a:spLocks noEditPoints="1"/>
            </p:cNvSpPr>
            <p:nvPr/>
          </p:nvSpPr>
          <p:spPr bwMode="auto">
            <a:xfrm>
              <a:off x="8738435" y="5616551"/>
              <a:ext cx="205802" cy="284763"/>
            </a:xfrm>
            <a:custGeom>
              <a:avLst/>
              <a:gdLst>
                <a:gd name="T0" fmla="*/ 36 w 135"/>
                <a:gd name="T1" fmla="*/ 119 h 186"/>
                <a:gd name="T2" fmla="*/ 67 w 135"/>
                <a:gd name="T3" fmla="*/ 95 h 186"/>
                <a:gd name="T4" fmla="*/ 99 w 135"/>
                <a:gd name="T5" fmla="*/ 119 h 186"/>
                <a:gd name="T6" fmla="*/ 86 w 135"/>
                <a:gd name="T7" fmla="*/ 81 h 186"/>
                <a:gd name="T8" fmla="*/ 114 w 135"/>
                <a:gd name="T9" fmla="*/ 60 h 186"/>
                <a:gd name="T10" fmla="*/ 80 w 135"/>
                <a:gd name="T11" fmla="*/ 60 h 186"/>
                <a:gd name="T12" fmla="*/ 67 w 135"/>
                <a:gd name="T13" fmla="*/ 26 h 186"/>
                <a:gd name="T14" fmla="*/ 55 w 135"/>
                <a:gd name="T15" fmla="*/ 60 h 186"/>
                <a:gd name="T16" fmla="*/ 21 w 135"/>
                <a:gd name="T17" fmla="*/ 60 h 186"/>
                <a:gd name="T18" fmla="*/ 48 w 135"/>
                <a:gd name="T19" fmla="*/ 81 h 186"/>
                <a:gd name="T20" fmla="*/ 36 w 135"/>
                <a:gd name="T21" fmla="*/ 119 h 186"/>
                <a:gd name="T22" fmla="*/ 46 w 135"/>
                <a:gd name="T23" fmla="*/ 68 h 186"/>
                <a:gd name="T24" fmla="*/ 61 w 135"/>
                <a:gd name="T25" fmla="*/ 68 h 186"/>
                <a:gd name="T26" fmla="*/ 63 w 135"/>
                <a:gd name="T27" fmla="*/ 62 h 186"/>
                <a:gd name="T28" fmla="*/ 67 w 135"/>
                <a:gd name="T29" fmla="*/ 50 h 186"/>
                <a:gd name="T30" fmla="*/ 72 w 135"/>
                <a:gd name="T31" fmla="*/ 62 h 186"/>
                <a:gd name="T32" fmla="*/ 74 w 135"/>
                <a:gd name="T33" fmla="*/ 68 h 186"/>
                <a:gd name="T34" fmla="*/ 89 w 135"/>
                <a:gd name="T35" fmla="*/ 68 h 186"/>
                <a:gd name="T36" fmla="*/ 81 w 135"/>
                <a:gd name="T37" fmla="*/ 74 h 186"/>
                <a:gd name="T38" fmla="*/ 76 w 135"/>
                <a:gd name="T39" fmla="*/ 78 h 186"/>
                <a:gd name="T40" fmla="*/ 78 w 135"/>
                <a:gd name="T41" fmla="*/ 83 h 186"/>
                <a:gd name="T42" fmla="*/ 83 w 135"/>
                <a:gd name="T43" fmla="*/ 96 h 186"/>
                <a:gd name="T44" fmla="*/ 72 w 135"/>
                <a:gd name="T45" fmla="*/ 89 h 186"/>
                <a:gd name="T46" fmla="*/ 67 w 135"/>
                <a:gd name="T47" fmla="*/ 85 h 186"/>
                <a:gd name="T48" fmla="*/ 62 w 135"/>
                <a:gd name="T49" fmla="*/ 89 h 186"/>
                <a:gd name="T50" fmla="*/ 52 w 135"/>
                <a:gd name="T51" fmla="*/ 96 h 186"/>
                <a:gd name="T52" fmla="*/ 56 w 135"/>
                <a:gd name="T53" fmla="*/ 83 h 186"/>
                <a:gd name="T54" fmla="*/ 58 w 135"/>
                <a:gd name="T55" fmla="*/ 78 h 186"/>
                <a:gd name="T56" fmla="*/ 53 w 135"/>
                <a:gd name="T57" fmla="*/ 74 h 186"/>
                <a:gd name="T58" fmla="*/ 46 w 135"/>
                <a:gd name="T59" fmla="*/ 68 h 186"/>
                <a:gd name="T60" fmla="*/ 131 w 135"/>
                <a:gd name="T61" fmla="*/ 0 h 186"/>
                <a:gd name="T62" fmla="*/ 4 w 135"/>
                <a:gd name="T63" fmla="*/ 0 h 186"/>
                <a:gd name="T64" fmla="*/ 0 w 135"/>
                <a:gd name="T65" fmla="*/ 5 h 186"/>
                <a:gd name="T66" fmla="*/ 0 w 135"/>
                <a:gd name="T67" fmla="*/ 182 h 186"/>
                <a:gd name="T68" fmla="*/ 4 w 135"/>
                <a:gd name="T69" fmla="*/ 186 h 186"/>
                <a:gd name="T70" fmla="*/ 7 w 135"/>
                <a:gd name="T71" fmla="*/ 185 h 186"/>
                <a:gd name="T72" fmla="*/ 7 w 135"/>
                <a:gd name="T73" fmla="*/ 185 h 186"/>
                <a:gd name="T74" fmla="*/ 67 w 135"/>
                <a:gd name="T75" fmla="*/ 137 h 186"/>
                <a:gd name="T76" fmla="*/ 127 w 135"/>
                <a:gd name="T77" fmla="*/ 185 h 186"/>
                <a:gd name="T78" fmla="*/ 128 w 135"/>
                <a:gd name="T79" fmla="*/ 185 h 186"/>
                <a:gd name="T80" fmla="*/ 131 w 135"/>
                <a:gd name="T81" fmla="*/ 186 h 186"/>
                <a:gd name="T82" fmla="*/ 135 w 135"/>
                <a:gd name="T83" fmla="*/ 182 h 186"/>
                <a:gd name="T84" fmla="*/ 135 w 135"/>
                <a:gd name="T85" fmla="*/ 5 h 186"/>
                <a:gd name="T86" fmla="*/ 131 w 135"/>
                <a:gd name="T87" fmla="*/ 0 h 186"/>
                <a:gd name="T88" fmla="*/ 126 w 135"/>
                <a:gd name="T89" fmla="*/ 173 h 186"/>
                <a:gd name="T90" fmla="*/ 70 w 135"/>
                <a:gd name="T91" fmla="*/ 128 h 186"/>
                <a:gd name="T92" fmla="*/ 70 w 135"/>
                <a:gd name="T93" fmla="*/ 128 h 186"/>
                <a:gd name="T94" fmla="*/ 67 w 135"/>
                <a:gd name="T95" fmla="*/ 127 h 186"/>
                <a:gd name="T96" fmla="*/ 64 w 135"/>
                <a:gd name="T97" fmla="*/ 128 h 186"/>
                <a:gd name="T98" fmla="*/ 64 w 135"/>
                <a:gd name="T99" fmla="*/ 128 h 186"/>
                <a:gd name="T100" fmla="*/ 8 w 135"/>
                <a:gd name="T101" fmla="*/ 173 h 186"/>
                <a:gd name="T102" fmla="*/ 8 w 135"/>
                <a:gd name="T103" fmla="*/ 9 h 186"/>
                <a:gd name="T104" fmla="*/ 126 w 135"/>
                <a:gd name="T105" fmla="*/ 9 h 186"/>
                <a:gd name="T106" fmla="*/ 126 w 135"/>
                <a:gd name="T107" fmla="*/ 17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186">
                  <a:moveTo>
                    <a:pt x="36" y="119"/>
                  </a:moveTo>
                  <a:cubicBezTo>
                    <a:pt x="67" y="95"/>
                    <a:pt x="67" y="95"/>
                    <a:pt x="67" y="95"/>
                  </a:cubicBezTo>
                  <a:cubicBezTo>
                    <a:pt x="99" y="119"/>
                    <a:pt x="99" y="119"/>
                    <a:pt x="99" y="119"/>
                  </a:cubicBezTo>
                  <a:cubicBezTo>
                    <a:pt x="86" y="81"/>
                    <a:pt x="86" y="81"/>
                    <a:pt x="86" y="81"/>
                  </a:cubicBezTo>
                  <a:cubicBezTo>
                    <a:pt x="114" y="60"/>
                    <a:pt x="114" y="60"/>
                    <a:pt x="114" y="60"/>
                  </a:cubicBezTo>
                  <a:cubicBezTo>
                    <a:pt x="80" y="60"/>
                    <a:pt x="80" y="60"/>
                    <a:pt x="80" y="60"/>
                  </a:cubicBezTo>
                  <a:cubicBezTo>
                    <a:pt x="67" y="26"/>
                    <a:pt x="67" y="26"/>
                    <a:pt x="67" y="26"/>
                  </a:cubicBezTo>
                  <a:cubicBezTo>
                    <a:pt x="55" y="60"/>
                    <a:pt x="55" y="60"/>
                    <a:pt x="55" y="60"/>
                  </a:cubicBezTo>
                  <a:cubicBezTo>
                    <a:pt x="21" y="60"/>
                    <a:pt x="21" y="60"/>
                    <a:pt x="21" y="60"/>
                  </a:cubicBezTo>
                  <a:cubicBezTo>
                    <a:pt x="48" y="81"/>
                    <a:pt x="48" y="81"/>
                    <a:pt x="48" y="81"/>
                  </a:cubicBezTo>
                  <a:lnTo>
                    <a:pt x="36" y="119"/>
                  </a:lnTo>
                  <a:close/>
                  <a:moveTo>
                    <a:pt x="46" y="68"/>
                  </a:moveTo>
                  <a:cubicBezTo>
                    <a:pt x="61" y="68"/>
                    <a:pt x="61" y="68"/>
                    <a:pt x="61" y="68"/>
                  </a:cubicBezTo>
                  <a:cubicBezTo>
                    <a:pt x="63" y="62"/>
                    <a:pt x="63" y="62"/>
                    <a:pt x="63" y="62"/>
                  </a:cubicBezTo>
                  <a:cubicBezTo>
                    <a:pt x="67" y="50"/>
                    <a:pt x="67" y="50"/>
                    <a:pt x="67" y="50"/>
                  </a:cubicBezTo>
                  <a:cubicBezTo>
                    <a:pt x="72" y="62"/>
                    <a:pt x="72" y="62"/>
                    <a:pt x="72" y="62"/>
                  </a:cubicBezTo>
                  <a:cubicBezTo>
                    <a:pt x="74" y="68"/>
                    <a:pt x="74" y="68"/>
                    <a:pt x="74" y="68"/>
                  </a:cubicBezTo>
                  <a:cubicBezTo>
                    <a:pt x="89" y="68"/>
                    <a:pt x="89" y="68"/>
                    <a:pt x="89" y="68"/>
                  </a:cubicBezTo>
                  <a:cubicBezTo>
                    <a:pt x="81" y="74"/>
                    <a:pt x="81" y="74"/>
                    <a:pt x="81" y="74"/>
                  </a:cubicBezTo>
                  <a:cubicBezTo>
                    <a:pt x="76" y="78"/>
                    <a:pt x="76" y="78"/>
                    <a:pt x="76" y="78"/>
                  </a:cubicBezTo>
                  <a:cubicBezTo>
                    <a:pt x="78" y="83"/>
                    <a:pt x="78" y="83"/>
                    <a:pt x="78" y="83"/>
                  </a:cubicBezTo>
                  <a:cubicBezTo>
                    <a:pt x="83" y="96"/>
                    <a:pt x="83" y="96"/>
                    <a:pt x="83" y="96"/>
                  </a:cubicBezTo>
                  <a:cubicBezTo>
                    <a:pt x="72" y="89"/>
                    <a:pt x="72" y="89"/>
                    <a:pt x="72" y="89"/>
                  </a:cubicBezTo>
                  <a:cubicBezTo>
                    <a:pt x="67" y="85"/>
                    <a:pt x="67" y="85"/>
                    <a:pt x="67" y="85"/>
                  </a:cubicBezTo>
                  <a:cubicBezTo>
                    <a:pt x="62" y="89"/>
                    <a:pt x="62" y="89"/>
                    <a:pt x="62" y="89"/>
                  </a:cubicBezTo>
                  <a:cubicBezTo>
                    <a:pt x="52" y="96"/>
                    <a:pt x="52" y="96"/>
                    <a:pt x="52" y="96"/>
                  </a:cubicBezTo>
                  <a:cubicBezTo>
                    <a:pt x="56" y="83"/>
                    <a:pt x="56" y="83"/>
                    <a:pt x="56" y="83"/>
                  </a:cubicBezTo>
                  <a:cubicBezTo>
                    <a:pt x="58" y="78"/>
                    <a:pt x="58" y="78"/>
                    <a:pt x="58" y="78"/>
                  </a:cubicBezTo>
                  <a:cubicBezTo>
                    <a:pt x="53" y="74"/>
                    <a:pt x="53" y="74"/>
                    <a:pt x="53" y="74"/>
                  </a:cubicBezTo>
                  <a:lnTo>
                    <a:pt x="46" y="68"/>
                  </a:lnTo>
                  <a:close/>
                  <a:moveTo>
                    <a:pt x="131" y="0"/>
                  </a:moveTo>
                  <a:cubicBezTo>
                    <a:pt x="4" y="0"/>
                    <a:pt x="4" y="0"/>
                    <a:pt x="4" y="0"/>
                  </a:cubicBezTo>
                  <a:cubicBezTo>
                    <a:pt x="2" y="0"/>
                    <a:pt x="0" y="2"/>
                    <a:pt x="0" y="5"/>
                  </a:cubicBezTo>
                  <a:cubicBezTo>
                    <a:pt x="0" y="182"/>
                    <a:pt x="0" y="182"/>
                    <a:pt x="0" y="182"/>
                  </a:cubicBezTo>
                  <a:cubicBezTo>
                    <a:pt x="0" y="184"/>
                    <a:pt x="2" y="186"/>
                    <a:pt x="4" y="186"/>
                  </a:cubicBezTo>
                  <a:cubicBezTo>
                    <a:pt x="5" y="186"/>
                    <a:pt x="6" y="186"/>
                    <a:pt x="7" y="185"/>
                  </a:cubicBezTo>
                  <a:cubicBezTo>
                    <a:pt x="7" y="185"/>
                    <a:pt x="7" y="185"/>
                    <a:pt x="7" y="185"/>
                  </a:cubicBezTo>
                  <a:cubicBezTo>
                    <a:pt x="67" y="137"/>
                    <a:pt x="67" y="137"/>
                    <a:pt x="67" y="137"/>
                  </a:cubicBezTo>
                  <a:cubicBezTo>
                    <a:pt x="127" y="185"/>
                    <a:pt x="127" y="185"/>
                    <a:pt x="127" y="185"/>
                  </a:cubicBezTo>
                  <a:cubicBezTo>
                    <a:pt x="128" y="185"/>
                    <a:pt x="128" y="185"/>
                    <a:pt x="128" y="185"/>
                  </a:cubicBezTo>
                  <a:cubicBezTo>
                    <a:pt x="128" y="186"/>
                    <a:pt x="129" y="186"/>
                    <a:pt x="131" y="186"/>
                  </a:cubicBezTo>
                  <a:cubicBezTo>
                    <a:pt x="133" y="186"/>
                    <a:pt x="135" y="184"/>
                    <a:pt x="135" y="182"/>
                  </a:cubicBezTo>
                  <a:cubicBezTo>
                    <a:pt x="135" y="5"/>
                    <a:pt x="135" y="5"/>
                    <a:pt x="135" y="5"/>
                  </a:cubicBezTo>
                  <a:cubicBezTo>
                    <a:pt x="135" y="2"/>
                    <a:pt x="133" y="0"/>
                    <a:pt x="131" y="0"/>
                  </a:cubicBezTo>
                  <a:close/>
                  <a:moveTo>
                    <a:pt x="126" y="173"/>
                  </a:moveTo>
                  <a:cubicBezTo>
                    <a:pt x="70" y="128"/>
                    <a:pt x="70" y="128"/>
                    <a:pt x="70" y="128"/>
                  </a:cubicBezTo>
                  <a:cubicBezTo>
                    <a:pt x="70" y="128"/>
                    <a:pt x="70" y="128"/>
                    <a:pt x="70" y="128"/>
                  </a:cubicBezTo>
                  <a:cubicBezTo>
                    <a:pt x="70" y="128"/>
                    <a:pt x="69" y="127"/>
                    <a:pt x="67" y="127"/>
                  </a:cubicBezTo>
                  <a:cubicBezTo>
                    <a:pt x="66" y="127"/>
                    <a:pt x="65" y="128"/>
                    <a:pt x="64" y="128"/>
                  </a:cubicBezTo>
                  <a:cubicBezTo>
                    <a:pt x="64" y="128"/>
                    <a:pt x="64" y="128"/>
                    <a:pt x="64" y="128"/>
                  </a:cubicBezTo>
                  <a:cubicBezTo>
                    <a:pt x="8" y="173"/>
                    <a:pt x="8" y="173"/>
                    <a:pt x="8" y="173"/>
                  </a:cubicBezTo>
                  <a:cubicBezTo>
                    <a:pt x="8" y="9"/>
                    <a:pt x="8" y="9"/>
                    <a:pt x="8" y="9"/>
                  </a:cubicBezTo>
                  <a:cubicBezTo>
                    <a:pt x="126" y="9"/>
                    <a:pt x="126" y="9"/>
                    <a:pt x="126" y="9"/>
                  </a:cubicBezTo>
                  <a:lnTo>
                    <a:pt x="126" y="173"/>
                  </a:ln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endParaRPr lang="en-US" sz="1350" dirty="0"/>
            </a:p>
          </p:txBody>
        </p:sp>
      </p:grpSp>
      <p:grpSp>
        <p:nvGrpSpPr>
          <p:cNvPr id="14" name="13 Grupo"/>
          <p:cNvGrpSpPr/>
          <p:nvPr/>
        </p:nvGrpSpPr>
        <p:grpSpPr>
          <a:xfrm>
            <a:off x="2792760" y="5142053"/>
            <a:ext cx="1728000" cy="928556"/>
            <a:chOff x="4089096" y="5452776"/>
            <a:chExt cx="1728000" cy="928556"/>
          </a:xfrm>
        </p:grpSpPr>
        <p:grpSp>
          <p:nvGrpSpPr>
            <p:cNvPr id="11" name="10 Grupo"/>
            <p:cNvGrpSpPr/>
            <p:nvPr/>
          </p:nvGrpSpPr>
          <p:grpSpPr>
            <a:xfrm>
              <a:off x="4089096" y="5452776"/>
              <a:ext cx="1728000" cy="928556"/>
              <a:chOff x="4448944" y="5452776"/>
              <a:chExt cx="1728000" cy="928556"/>
            </a:xfrm>
          </p:grpSpPr>
          <p:sp>
            <p:nvSpPr>
              <p:cNvPr id="162" name="9 Rectángulo redondeado"/>
              <p:cNvSpPr/>
              <p:nvPr/>
            </p:nvSpPr>
            <p:spPr>
              <a:xfrm>
                <a:off x="4448944" y="5694605"/>
                <a:ext cx="1728000" cy="686727"/>
              </a:xfrm>
              <a:prstGeom prst="roundRect">
                <a:avLst>
                  <a:gd name="adj" fmla="val 0"/>
                </a:avLst>
              </a:prstGeom>
              <a:solidFill>
                <a:srgbClr val="323232"/>
              </a:solidFill>
              <a:ln>
                <a:noFill/>
              </a:ln>
            </p:spPr>
            <p:style>
              <a:lnRef idx="2">
                <a:schemeClr val="accent2">
                  <a:shade val="50000"/>
                </a:schemeClr>
              </a:lnRef>
              <a:fillRef idx="1">
                <a:schemeClr val="accent2"/>
              </a:fillRef>
              <a:effectRef idx="0">
                <a:schemeClr val="accent2"/>
              </a:effectRef>
              <a:fontRef idx="minor">
                <a:schemeClr val="lt1"/>
              </a:fontRef>
            </p:style>
            <p:txBody>
              <a:bodyPr lIns="36000" tIns="252000" rIns="36000" rtlCol="0" anchor="ctr"/>
              <a:lstStyle/>
              <a:p>
                <a:pPr algn="ctr"/>
                <a:r>
                  <a:rPr lang="es-ES" sz="1400" dirty="0">
                    <a:solidFill>
                      <a:prstClr val="white"/>
                    </a:solidFill>
                    <a:latin typeface="Avenir 35" panose="00000400000000000000" pitchFamily="2" charset="0"/>
                    <a:cs typeface="Arial" pitchFamily="34" charset="0"/>
                  </a:rPr>
                  <a:t>Análisis de Negocio</a:t>
                </a:r>
                <a:endParaRPr lang="es-ES" dirty="0">
                  <a:solidFill>
                    <a:prstClr val="white"/>
                  </a:solidFill>
                  <a:latin typeface="Avenir 35" panose="00000400000000000000" pitchFamily="2" charset="0"/>
                  <a:cs typeface="Arial" pitchFamily="34" charset="0"/>
                </a:endParaRPr>
              </a:p>
            </p:txBody>
          </p:sp>
          <p:sp>
            <p:nvSpPr>
              <p:cNvPr id="167" name="166 Elipse"/>
              <p:cNvSpPr/>
              <p:nvPr/>
            </p:nvSpPr>
            <p:spPr>
              <a:xfrm>
                <a:off x="5022726" y="5452776"/>
                <a:ext cx="580437" cy="552025"/>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latin typeface="Avenir 35" panose="00000400000000000000" pitchFamily="2" charset="0"/>
                </a:endParaRPr>
              </a:p>
            </p:txBody>
          </p:sp>
        </p:grpSp>
        <p:sp>
          <p:nvSpPr>
            <p:cNvPr id="195" name="Freeform 140"/>
            <p:cNvSpPr>
              <a:spLocks noEditPoints="1"/>
            </p:cNvSpPr>
            <p:nvPr/>
          </p:nvSpPr>
          <p:spPr bwMode="auto">
            <a:xfrm>
              <a:off x="4810989" y="5606937"/>
              <a:ext cx="283829" cy="256957"/>
            </a:xfrm>
            <a:custGeom>
              <a:avLst/>
              <a:gdLst>
                <a:gd name="T0" fmla="*/ 135 w 186"/>
                <a:gd name="T1" fmla="*/ 16 h 168"/>
                <a:gd name="T2" fmla="*/ 101 w 186"/>
                <a:gd name="T3" fmla="*/ 0 h 168"/>
                <a:gd name="T4" fmla="*/ 42 w 186"/>
                <a:gd name="T5" fmla="*/ 16 h 168"/>
                <a:gd name="T6" fmla="*/ 34 w 186"/>
                <a:gd name="T7" fmla="*/ 37 h 168"/>
                <a:gd name="T8" fmla="*/ 42 w 186"/>
                <a:gd name="T9" fmla="*/ 37 h 168"/>
                <a:gd name="T10" fmla="*/ 177 w 186"/>
                <a:gd name="T11" fmla="*/ 25 h 168"/>
                <a:gd name="T12" fmla="*/ 165 w 186"/>
                <a:gd name="T13" fmla="*/ 126 h 168"/>
                <a:gd name="T14" fmla="*/ 165 w 186"/>
                <a:gd name="T15" fmla="*/ 135 h 168"/>
                <a:gd name="T16" fmla="*/ 186 w 186"/>
                <a:gd name="T17" fmla="*/ 126 h 168"/>
                <a:gd name="T18" fmla="*/ 177 w 186"/>
                <a:gd name="T19" fmla="*/ 16 h 168"/>
                <a:gd name="T20" fmla="*/ 101 w 186"/>
                <a:gd name="T21" fmla="*/ 8 h 168"/>
                <a:gd name="T22" fmla="*/ 127 w 186"/>
                <a:gd name="T23" fmla="*/ 16 h 168"/>
                <a:gd name="T24" fmla="*/ 47 w 186"/>
                <a:gd name="T25" fmla="*/ 92 h 168"/>
                <a:gd name="T26" fmla="*/ 59 w 186"/>
                <a:gd name="T27" fmla="*/ 88 h 168"/>
                <a:gd name="T28" fmla="*/ 47 w 186"/>
                <a:gd name="T29" fmla="*/ 84 h 168"/>
                <a:gd name="T30" fmla="*/ 47 w 186"/>
                <a:gd name="T31" fmla="*/ 92 h 168"/>
                <a:gd name="T32" fmla="*/ 72 w 186"/>
                <a:gd name="T33" fmla="*/ 75 h 168"/>
                <a:gd name="T34" fmla="*/ 72 w 186"/>
                <a:gd name="T35" fmla="*/ 67 h 168"/>
                <a:gd name="T36" fmla="*/ 42 w 186"/>
                <a:gd name="T37" fmla="*/ 71 h 168"/>
                <a:gd name="T38" fmla="*/ 144 w 186"/>
                <a:gd name="T39" fmla="*/ 50 h 168"/>
                <a:gd name="T40" fmla="*/ 85 w 186"/>
                <a:gd name="T41" fmla="*/ 33 h 168"/>
                <a:gd name="T42" fmla="*/ 51 w 186"/>
                <a:gd name="T43" fmla="*/ 50 h 168"/>
                <a:gd name="T44" fmla="*/ 0 w 186"/>
                <a:gd name="T45" fmla="*/ 59 h 168"/>
                <a:gd name="T46" fmla="*/ 9 w 186"/>
                <a:gd name="T47" fmla="*/ 168 h 168"/>
                <a:gd name="T48" fmla="*/ 152 w 186"/>
                <a:gd name="T49" fmla="*/ 160 h 168"/>
                <a:gd name="T50" fmla="*/ 144 w 186"/>
                <a:gd name="T51" fmla="*/ 50 h 168"/>
                <a:gd name="T52" fmla="*/ 85 w 186"/>
                <a:gd name="T53" fmla="*/ 42 h 168"/>
                <a:gd name="T54" fmla="*/ 59 w 186"/>
                <a:gd name="T55" fmla="*/ 50 h 168"/>
                <a:gd name="T56" fmla="*/ 25 w 186"/>
                <a:gd name="T57" fmla="*/ 135 h 168"/>
                <a:gd name="T58" fmla="*/ 25 w 186"/>
                <a:gd name="T59" fmla="*/ 143 h 168"/>
                <a:gd name="T60" fmla="*/ 9 w 186"/>
                <a:gd name="T61" fmla="*/ 160 h 168"/>
                <a:gd name="T62" fmla="*/ 25 w 186"/>
                <a:gd name="T63" fmla="*/ 59 h 168"/>
                <a:gd name="T64" fmla="*/ 118 w 186"/>
                <a:gd name="T65" fmla="*/ 135 h 168"/>
                <a:gd name="T66" fmla="*/ 118 w 186"/>
                <a:gd name="T67" fmla="*/ 143 h 168"/>
                <a:gd name="T68" fmla="*/ 34 w 186"/>
                <a:gd name="T69" fmla="*/ 160 h 168"/>
                <a:gd name="T70" fmla="*/ 38 w 186"/>
                <a:gd name="T71" fmla="*/ 139 h 168"/>
                <a:gd name="T72" fmla="*/ 34 w 186"/>
                <a:gd name="T73" fmla="*/ 59 h 168"/>
                <a:gd name="T74" fmla="*/ 118 w 186"/>
                <a:gd name="T75" fmla="*/ 135 h 168"/>
                <a:gd name="T76" fmla="*/ 127 w 186"/>
                <a:gd name="T77" fmla="*/ 160 h 168"/>
                <a:gd name="T78" fmla="*/ 131 w 186"/>
                <a:gd name="T79" fmla="*/ 139 h 168"/>
                <a:gd name="T80" fmla="*/ 127 w 186"/>
                <a:gd name="T81" fmla="*/ 59 h 168"/>
                <a:gd name="T82" fmla="*/ 144 w 186"/>
                <a:gd name="T83" fmla="*/ 16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6" h="168">
                  <a:moveTo>
                    <a:pt x="177" y="16"/>
                  </a:moveTo>
                  <a:cubicBezTo>
                    <a:pt x="135" y="16"/>
                    <a:pt x="135" y="16"/>
                    <a:pt x="135" y="16"/>
                  </a:cubicBezTo>
                  <a:cubicBezTo>
                    <a:pt x="135" y="7"/>
                    <a:pt x="128" y="0"/>
                    <a:pt x="118" y="0"/>
                  </a:cubicBezTo>
                  <a:cubicBezTo>
                    <a:pt x="101" y="0"/>
                    <a:pt x="101" y="0"/>
                    <a:pt x="101" y="0"/>
                  </a:cubicBezTo>
                  <a:cubicBezTo>
                    <a:pt x="92" y="0"/>
                    <a:pt x="85" y="7"/>
                    <a:pt x="85" y="16"/>
                  </a:cubicBezTo>
                  <a:cubicBezTo>
                    <a:pt x="42" y="16"/>
                    <a:pt x="42" y="16"/>
                    <a:pt x="42" y="16"/>
                  </a:cubicBezTo>
                  <a:cubicBezTo>
                    <a:pt x="38" y="16"/>
                    <a:pt x="34" y="20"/>
                    <a:pt x="34" y="25"/>
                  </a:cubicBezTo>
                  <a:cubicBezTo>
                    <a:pt x="34" y="37"/>
                    <a:pt x="34" y="37"/>
                    <a:pt x="34" y="37"/>
                  </a:cubicBezTo>
                  <a:cubicBezTo>
                    <a:pt x="34" y="40"/>
                    <a:pt x="36" y="42"/>
                    <a:pt x="38" y="42"/>
                  </a:cubicBezTo>
                  <a:cubicBezTo>
                    <a:pt x="40" y="42"/>
                    <a:pt x="42" y="40"/>
                    <a:pt x="42" y="37"/>
                  </a:cubicBezTo>
                  <a:cubicBezTo>
                    <a:pt x="42" y="25"/>
                    <a:pt x="42" y="25"/>
                    <a:pt x="42" y="25"/>
                  </a:cubicBezTo>
                  <a:cubicBezTo>
                    <a:pt x="177" y="25"/>
                    <a:pt x="177" y="25"/>
                    <a:pt x="177" y="25"/>
                  </a:cubicBezTo>
                  <a:cubicBezTo>
                    <a:pt x="177" y="126"/>
                    <a:pt x="177" y="126"/>
                    <a:pt x="177" y="126"/>
                  </a:cubicBezTo>
                  <a:cubicBezTo>
                    <a:pt x="165" y="126"/>
                    <a:pt x="165" y="126"/>
                    <a:pt x="165" y="126"/>
                  </a:cubicBezTo>
                  <a:cubicBezTo>
                    <a:pt x="162" y="126"/>
                    <a:pt x="160" y="128"/>
                    <a:pt x="160" y="130"/>
                  </a:cubicBezTo>
                  <a:cubicBezTo>
                    <a:pt x="160" y="133"/>
                    <a:pt x="162" y="135"/>
                    <a:pt x="165" y="135"/>
                  </a:cubicBezTo>
                  <a:cubicBezTo>
                    <a:pt x="177" y="135"/>
                    <a:pt x="177" y="135"/>
                    <a:pt x="177" y="135"/>
                  </a:cubicBezTo>
                  <a:cubicBezTo>
                    <a:pt x="182" y="135"/>
                    <a:pt x="186" y="131"/>
                    <a:pt x="186" y="126"/>
                  </a:cubicBezTo>
                  <a:cubicBezTo>
                    <a:pt x="186" y="25"/>
                    <a:pt x="186" y="25"/>
                    <a:pt x="186" y="25"/>
                  </a:cubicBezTo>
                  <a:cubicBezTo>
                    <a:pt x="186" y="20"/>
                    <a:pt x="182" y="16"/>
                    <a:pt x="177" y="16"/>
                  </a:cubicBezTo>
                  <a:close/>
                  <a:moveTo>
                    <a:pt x="93" y="16"/>
                  </a:moveTo>
                  <a:cubicBezTo>
                    <a:pt x="93" y="12"/>
                    <a:pt x="97" y="8"/>
                    <a:pt x="101" y="8"/>
                  </a:cubicBezTo>
                  <a:cubicBezTo>
                    <a:pt x="118" y="8"/>
                    <a:pt x="118" y="8"/>
                    <a:pt x="118" y="8"/>
                  </a:cubicBezTo>
                  <a:cubicBezTo>
                    <a:pt x="123" y="8"/>
                    <a:pt x="127" y="12"/>
                    <a:pt x="127" y="16"/>
                  </a:cubicBezTo>
                  <a:lnTo>
                    <a:pt x="93" y="16"/>
                  </a:lnTo>
                  <a:close/>
                  <a:moveTo>
                    <a:pt x="47" y="92"/>
                  </a:moveTo>
                  <a:cubicBezTo>
                    <a:pt x="55" y="92"/>
                    <a:pt x="55" y="92"/>
                    <a:pt x="55" y="92"/>
                  </a:cubicBezTo>
                  <a:cubicBezTo>
                    <a:pt x="57" y="92"/>
                    <a:pt x="59" y="90"/>
                    <a:pt x="59" y="88"/>
                  </a:cubicBezTo>
                  <a:cubicBezTo>
                    <a:pt x="59" y="86"/>
                    <a:pt x="57" y="84"/>
                    <a:pt x="55" y="84"/>
                  </a:cubicBezTo>
                  <a:cubicBezTo>
                    <a:pt x="47" y="84"/>
                    <a:pt x="47" y="84"/>
                    <a:pt x="47" y="84"/>
                  </a:cubicBezTo>
                  <a:cubicBezTo>
                    <a:pt x="44" y="84"/>
                    <a:pt x="42" y="86"/>
                    <a:pt x="42" y="88"/>
                  </a:cubicBezTo>
                  <a:cubicBezTo>
                    <a:pt x="42" y="90"/>
                    <a:pt x="44" y="92"/>
                    <a:pt x="47" y="92"/>
                  </a:cubicBezTo>
                  <a:close/>
                  <a:moveTo>
                    <a:pt x="47" y="75"/>
                  </a:moveTo>
                  <a:cubicBezTo>
                    <a:pt x="72" y="75"/>
                    <a:pt x="72" y="75"/>
                    <a:pt x="72" y="75"/>
                  </a:cubicBezTo>
                  <a:cubicBezTo>
                    <a:pt x="74" y="75"/>
                    <a:pt x="76" y="74"/>
                    <a:pt x="76" y="71"/>
                  </a:cubicBezTo>
                  <a:cubicBezTo>
                    <a:pt x="76" y="69"/>
                    <a:pt x="74" y="67"/>
                    <a:pt x="72" y="67"/>
                  </a:cubicBezTo>
                  <a:cubicBezTo>
                    <a:pt x="47" y="67"/>
                    <a:pt x="47" y="67"/>
                    <a:pt x="47" y="67"/>
                  </a:cubicBezTo>
                  <a:cubicBezTo>
                    <a:pt x="44" y="67"/>
                    <a:pt x="42" y="69"/>
                    <a:pt x="42" y="71"/>
                  </a:cubicBezTo>
                  <a:cubicBezTo>
                    <a:pt x="42" y="74"/>
                    <a:pt x="44" y="75"/>
                    <a:pt x="47" y="75"/>
                  </a:cubicBezTo>
                  <a:close/>
                  <a:moveTo>
                    <a:pt x="144" y="50"/>
                  </a:moveTo>
                  <a:cubicBezTo>
                    <a:pt x="101" y="50"/>
                    <a:pt x="101" y="50"/>
                    <a:pt x="101" y="50"/>
                  </a:cubicBezTo>
                  <a:cubicBezTo>
                    <a:pt x="101" y="41"/>
                    <a:pt x="94" y="33"/>
                    <a:pt x="85" y="33"/>
                  </a:cubicBezTo>
                  <a:cubicBezTo>
                    <a:pt x="68" y="33"/>
                    <a:pt x="68" y="33"/>
                    <a:pt x="68" y="33"/>
                  </a:cubicBezTo>
                  <a:cubicBezTo>
                    <a:pt x="58" y="33"/>
                    <a:pt x="51" y="41"/>
                    <a:pt x="51" y="50"/>
                  </a:cubicBezTo>
                  <a:cubicBezTo>
                    <a:pt x="9" y="50"/>
                    <a:pt x="9" y="50"/>
                    <a:pt x="9" y="50"/>
                  </a:cubicBezTo>
                  <a:cubicBezTo>
                    <a:pt x="4" y="50"/>
                    <a:pt x="0" y="54"/>
                    <a:pt x="0" y="59"/>
                  </a:cubicBezTo>
                  <a:cubicBezTo>
                    <a:pt x="0" y="160"/>
                    <a:pt x="0" y="160"/>
                    <a:pt x="0" y="160"/>
                  </a:cubicBezTo>
                  <a:cubicBezTo>
                    <a:pt x="0" y="164"/>
                    <a:pt x="4" y="168"/>
                    <a:pt x="9" y="168"/>
                  </a:cubicBezTo>
                  <a:cubicBezTo>
                    <a:pt x="144" y="168"/>
                    <a:pt x="144" y="168"/>
                    <a:pt x="144" y="168"/>
                  </a:cubicBezTo>
                  <a:cubicBezTo>
                    <a:pt x="148" y="168"/>
                    <a:pt x="152" y="164"/>
                    <a:pt x="152" y="160"/>
                  </a:cubicBezTo>
                  <a:cubicBezTo>
                    <a:pt x="152" y="59"/>
                    <a:pt x="152" y="59"/>
                    <a:pt x="152" y="59"/>
                  </a:cubicBezTo>
                  <a:cubicBezTo>
                    <a:pt x="152" y="54"/>
                    <a:pt x="148" y="50"/>
                    <a:pt x="144" y="50"/>
                  </a:cubicBezTo>
                  <a:close/>
                  <a:moveTo>
                    <a:pt x="68" y="42"/>
                  </a:moveTo>
                  <a:cubicBezTo>
                    <a:pt x="85" y="42"/>
                    <a:pt x="85" y="42"/>
                    <a:pt x="85" y="42"/>
                  </a:cubicBezTo>
                  <a:cubicBezTo>
                    <a:pt x="89" y="42"/>
                    <a:pt x="93" y="45"/>
                    <a:pt x="93" y="50"/>
                  </a:cubicBezTo>
                  <a:cubicBezTo>
                    <a:pt x="59" y="50"/>
                    <a:pt x="59" y="50"/>
                    <a:pt x="59" y="50"/>
                  </a:cubicBezTo>
                  <a:cubicBezTo>
                    <a:pt x="59" y="45"/>
                    <a:pt x="63" y="42"/>
                    <a:pt x="68" y="42"/>
                  </a:cubicBezTo>
                  <a:close/>
                  <a:moveTo>
                    <a:pt x="25" y="135"/>
                  </a:moveTo>
                  <a:cubicBezTo>
                    <a:pt x="23" y="135"/>
                    <a:pt x="21" y="136"/>
                    <a:pt x="21" y="139"/>
                  </a:cubicBezTo>
                  <a:cubicBezTo>
                    <a:pt x="21" y="141"/>
                    <a:pt x="23" y="143"/>
                    <a:pt x="25" y="143"/>
                  </a:cubicBezTo>
                  <a:cubicBezTo>
                    <a:pt x="25" y="160"/>
                    <a:pt x="25" y="160"/>
                    <a:pt x="25" y="160"/>
                  </a:cubicBezTo>
                  <a:cubicBezTo>
                    <a:pt x="9" y="160"/>
                    <a:pt x="9" y="160"/>
                    <a:pt x="9" y="160"/>
                  </a:cubicBezTo>
                  <a:cubicBezTo>
                    <a:pt x="9" y="59"/>
                    <a:pt x="9" y="59"/>
                    <a:pt x="9" y="59"/>
                  </a:cubicBezTo>
                  <a:cubicBezTo>
                    <a:pt x="25" y="59"/>
                    <a:pt x="25" y="59"/>
                    <a:pt x="25" y="59"/>
                  </a:cubicBezTo>
                  <a:lnTo>
                    <a:pt x="25" y="135"/>
                  </a:lnTo>
                  <a:close/>
                  <a:moveTo>
                    <a:pt x="118" y="135"/>
                  </a:moveTo>
                  <a:cubicBezTo>
                    <a:pt x="116" y="135"/>
                    <a:pt x="114" y="136"/>
                    <a:pt x="114" y="139"/>
                  </a:cubicBezTo>
                  <a:cubicBezTo>
                    <a:pt x="114" y="141"/>
                    <a:pt x="116" y="143"/>
                    <a:pt x="118" y="143"/>
                  </a:cubicBezTo>
                  <a:cubicBezTo>
                    <a:pt x="118" y="160"/>
                    <a:pt x="118" y="160"/>
                    <a:pt x="118" y="160"/>
                  </a:cubicBezTo>
                  <a:cubicBezTo>
                    <a:pt x="34" y="160"/>
                    <a:pt x="34" y="160"/>
                    <a:pt x="34" y="160"/>
                  </a:cubicBezTo>
                  <a:cubicBezTo>
                    <a:pt x="34" y="143"/>
                    <a:pt x="34" y="143"/>
                    <a:pt x="34" y="143"/>
                  </a:cubicBezTo>
                  <a:cubicBezTo>
                    <a:pt x="36" y="143"/>
                    <a:pt x="38" y="141"/>
                    <a:pt x="38" y="139"/>
                  </a:cubicBezTo>
                  <a:cubicBezTo>
                    <a:pt x="38" y="136"/>
                    <a:pt x="36" y="135"/>
                    <a:pt x="34" y="135"/>
                  </a:cubicBezTo>
                  <a:cubicBezTo>
                    <a:pt x="34" y="59"/>
                    <a:pt x="34" y="59"/>
                    <a:pt x="34" y="59"/>
                  </a:cubicBezTo>
                  <a:cubicBezTo>
                    <a:pt x="118" y="59"/>
                    <a:pt x="118" y="59"/>
                    <a:pt x="118" y="59"/>
                  </a:cubicBezTo>
                  <a:lnTo>
                    <a:pt x="118" y="135"/>
                  </a:lnTo>
                  <a:close/>
                  <a:moveTo>
                    <a:pt x="144" y="160"/>
                  </a:moveTo>
                  <a:cubicBezTo>
                    <a:pt x="127" y="160"/>
                    <a:pt x="127" y="160"/>
                    <a:pt x="127" y="160"/>
                  </a:cubicBezTo>
                  <a:cubicBezTo>
                    <a:pt x="127" y="143"/>
                    <a:pt x="127" y="143"/>
                    <a:pt x="127" y="143"/>
                  </a:cubicBezTo>
                  <a:cubicBezTo>
                    <a:pt x="129" y="143"/>
                    <a:pt x="131" y="141"/>
                    <a:pt x="131" y="139"/>
                  </a:cubicBezTo>
                  <a:cubicBezTo>
                    <a:pt x="131" y="136"/>
                    <a:pt x="129" y="135"/>
                    <a:pt x="127" y="135"/>
                  </a:cubicBezTo>
                  <a:cubicBezTo>
                    <a:pt x="127" y="59"/>
                    <a:pt x="127" y="59"/>
                    <a:pt x="127" y="59"/>
                  </a:cubicBezTo>
                  <a:cubicBezTo>
                    <a:pt x="144" y="59"/>
                    <a:pt x="144" y="59"/>
                    <a:pt x="144" y="59"/>
                  </a:cubicBezTo>
                  <a:lnTo>
                    <a:pt x="144" y="160"/>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p>
          </p:txBody>
        </p:sp>
      </p:grpSp>
      <p:sp>
        <p:nvSpPr>
          <p:cNvPr id="89"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24</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3008942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74 Rectángulo"/>
          <p:cNvSpPr/>
          <p:nvPr/>
        </p:nvSpPr>
        <p:spPr>
          <a:xfrm>
            <a:off x="633034" y="2114186"/>
            <a:ext cx="8568439" cy="1440160"/>
          </a:xfrm>
          <a:prstGeom prst="rect">
            <a:avLst/>
          </a:prstGeom>
          <a:solidFill>
            <a:schemeClr val="bg1">
              <a:lumMod val="75000"/>
              <a:alpha val="2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latin typeface="Avenir 35" panose="00000400000000000000" pitchFamily="2" charset="0"/>
            </a:endParaRPr>
          </a:p>
        </p:txBody>
      </p:sp>
      <p:sp>
        <p:nvSpPr>
          <p:cNvPr id="74" name="73 Rectángulo"/>
          <p:cNvSpPr/>
          <p:nvPr/>
        </p:nvSpPr>
        <p:spPr>
          <a:xfrm>
            <a:off x="633034" y="5078213"/>
            <a:ext cx="8568439" cy="1318516"/>
          </a:xfrm>
          <a:prstGeom prst="rect">
            <a:avLst/>
          </a:prstGeom>
          <a:solidFill>
            <a:schemeClr val="bg1">
              <a:lumMod val="75000"/>
              <a:alpha val="2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latin typeface="Avenir 35" panose="00000400000000000000" pitchFamily="2" charset="0"/>
            </a:endParaRPr>
          </a:p>
        </p:txBody>
      </p:sp>
      <p:sp>
        <p:nvSpPr>
          <p:cNvPr id="73" name="72 Rectángulo"/>
          <p:cNvSpPr/>
          <p:nvPr/>
        </p:nvSpPr>
        <p:spPr>
          <a:xfrm>
            <a:off x="632531" y="3909591"/>
            <a:ext cx="8568439" cy="1074378"/>
          </a:xfrm>
          <a:prstGeom prst="rect">
            <a:avLst/>
          </a:prstGeom>
          <a:solidFill>
            <a:schemeClr val="bg1">
              <a:lumMod val="75000"/>
              <a:alpha val="2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latin typeface="Avenir 35" panose="00000400000000000000" pitchFamily="2" charset="0"/>
            </a:endParaRPr>
          </a:p>
        </p:txBody>
      </p:sp>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Nuestra Visión</a:t>
            </a:r>
          </a:p>
          <a:p>
            <a:endParaRPr lang="en-US" dirty="0">
              <a:solidFill>
                <a:srgbClr val="323232"/>
              </a:solidFill>
              <a:latin typeface="Avenir 35" panose="00000400000000000000" pitchFamily="2" charset="0"/>
            </a:endParaRPr>
          </a:p>
        </p:txBody>
      </p:sp>
      <p:sp>
        <p:nvSpPr>
          <p:cNvPr id="9" name="6 CuadroTexto"/>
          <p:cNvSpPr txBox="1"/>
          <p:nvPr/>
        </p:nvSpPr>
        <p:spPr>
          <a:xfrm>
            <a:off x="632527" y="414018"/>
            <a:ext cx="8660261" cy="400110"/>
          </a:xfrm>
          <a:prstGeom prst="rect">
            <a:avLst/>
          </a:prstGeom>
          <a:noFill/>
        </p:spPr>
        <p:txBody>
          <a:bodyPr wrap="square" rtlCol="0">
            <a:spAutoFit/>
          </a:bodyPr>
          <a:lstStyle>
            <a:defPPr>
              <a:defRPr lang="es-ES"/>
            </a:defPPr>
            <a:lvl1pPr algn="ctr">
              <a:defRPr sz="2000" b="1">
                <a:solidFill>
                  <a:srgbClr val="323232"/>
                </a:solidFill>
                <a:latin typeface="Avenir 35" panose="00000400000000000000" pitchFamily="2" charset="0"/>
              </a:defRPr>
            </a:lvl1pPr>
          </a:lstStyle>
          <a:p>
            <a:r>
              <a:rPr lang="es-ES" dirty="0"/>
              <a:t>EVOLUCIONAR</a:t>
            </a:r>
          </a:p>
        </p:txBody>
      </p:sp>
      <p:sp>
        <p:nvSpPr>
          <p:cNvPr id="3" name="AutoShape 4" descr="Resultado de imagen de car dealer network"/>
          <p:cNvSpPr>
            <a:spLocks noChangeAspect="1" noChangeArrowheads="1"/>
          </p:cNvSpPr>
          <p:nvPr/>
        </p:nvSpPr>
        <p:spPr bwMode="auto">
          <a:xfrm>
            <a:off x="155575" y="-13652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50" name="Rectangle 81"/>
          <p:cNvSpPr/>
          <p:nvPr>
            <p:custDataLst>
              <p:tags r:id="rId1"/>
            </p:custDataLst>
          </p:nvPr>
        </p:nvSpPr>
        <p:spPr>
          <a:xfrm>
            <a:off x="622941" y="1533973"/>
            <a:ext cx="8578532" cy="232537"/>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65" panose="02000600000000000000" pitchFamily="2" charset="0"/>
              </a:rPr>
              <a:t>WEB</a:t>
            </a:r>
          </a:p>
        </p:txBody>
      </p:sp>
      <p:sp>
        <p:nvSpPr>
          <p:cNvPr id="77" name="Rectangle 14"/>
          <p:cNvSpPr/>
          <p:nvPr/>
        </p:nvSpPr>
        <p:spPr>
          <a:xfrm>
            <a:off x="2360711" y="3646881"/>
            <a:ext cx="1656000" cy="222496"/>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35" panose="00000400000000000000" pitchFamily="2" charset="0"/>
              </a:rPr>
              <a:t>SEO </a:t>
            </a:r>
          </a:p>
        </p:txBody>
      </p:sp>
      <p:sp>
        <p:nvSpPr>
          <p:cNvPr id="86" name="Rectangle 17"/>
          <p:cNvSpPr/>
          <p:nvPr/>
        </p:nvSpPr>
        <p:spPr>
          <a:xfrm>
            <a:off x="2360711" y="3887620"/>
            <a:ext cx="1656000" cy="1020406"/>
          </a:xfrm>
          <a:prstGeom prst="rect">
            <a:avLst/>
          </a:prstGeom>
          <a:noFill/>
          <a:ln w="3175" cap="sq" cmpd="sng" algn="ctr">
            <a:noFill/>
            <a:prstDash val="solid"/>
          </a:ln>
          <a:effectLst/>
        </p:spPr>
        <p:txBody>
          <a:bodyPr rtlCol="0" anchor="ctr"/>
          <a:lstStyle/>
          <a:p>
            <a:pPr algn="just" defTabSz="457184" fontAlgn="base">
              <a:spcBef>
                <a:spcPct val="0"/>
              </a:spcBef>
              <a:spcAft>
                <a:spcPct val="0"/>
              </a:spcAft>
              <a:defRPr/>
            </a:pPr>
            <a:r>
              <a:rPr lang="es-ES" sz="800" b="1" dirty="0">
                <a:solidFill>
                  <a:srgbClr val="323232"/>
                </a:solidFill>
                <a:latin typeface="Avenir 35" panose="00000400000000000000" pitchFamily="2" charset="0"/>
              </a:rPr>
              <a:t>NAVEGACIÓN</a:t>
            </a:r>
          </a:p>
          <a:p>
            <a:pPr marL="0" marR="0" lvl="0" indent="0" defTabSz="457184"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Tráfico (brand vs no brand)</a:t>
            </a:r>
          </a:p>
          <a:p>
            <a:pPr marL="0" marR="0" lvl="0" indent="0" defTabSz="457184"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Tráfico por línea de negocio</a:t>
            </a:r>
          </a:p>
        </p:txBody>
      </p:sp>
      <p:sp>
        <p:nvSpPr>
          <p:cNvPr id="100" name="Rectangle 41"/>
          <p:cNvSpPr/>
          <p:nvPr/>
        </p:nvSpPr>
        <p:spPr>
          <a:xfrm>
            <a:off x="2360711" y="5151925"/>
            <a:ext cx="1656000" cy="1187239"/>
          </a:xfrm>
          <a:prstGeom prst="rect">
            <a:avLst/>
          </a:prstGeom>
          <a:noFill/>
          <a:ln w="3175" cap="sq" cmpd="sng" algn="ctr">
            <a:noFill/>
            <a:prstDash val="solid"/>
          </a:ln>
          <a:effectLst/>
        </p:spPr>
        <p:txBody>
          <a:bodyPr rtlCol="0" anchor="ctr"/>
          <a:lstStyle/>
          <a:p>
            <a:pPr defTabSz="457184" fontAlgn="base">
              <a:spcBef>
                <a:spcPct val="0"/>
              </a:spcBef>
              <a:spcAft>
                <a:spcPct val="0"/>
              </a:spcAft>
              <a:defRPr/>
            </a:pPr>
            <a:r>
              <a:rPr lang="es-ES" sz="800" b="1" dirty="0">
                <a:solidFill>
                  <a:srgbClr val="323232"/>
                </a:solidFill>
                <a:latin typeface="Avenir 35" panose="00000400000000000000" pitchFamily="2" charset="0"/>
              </a:rPr>
              <a:t>CAPTACIÓN /REACTIVACIÓN</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Conversiones</a:t>
            </a:r>
          </a:p>
        </p:txBody>
      </p:sp>
      <p:sp>
        <p:nvSpPr>
          <p:cNvPr id="84" name="Rectangle 15"/>
          <p:cNvSpPr/>
          <p:nvPr/>
        </p:nvSpPr>
        <p:spPr>
          <a:xfrm>
            <a:off x="4088903" y="3646881"/>
            <a:ext cx="1656000" cy="222497"/>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35" panose="00000400000000000000" pitchFamily="2" charset="0"/>
              </a:rPr>
              <a:t>SEM </a:t>
            </a:r>
          </a:p>
        </p:txBody>
      </p:sp>
      <p:sp>
        <p:nvSpPr>
          <p:cNvPr id="87" name="Rectangle 18"/>
          <p:cNvSpPr/>
          <p:nvPr/>
        </p:nvSpPr>
        <p:spPr>
          <a:xfrm>
            <a:off x="4088903" y="3967435"/>
            <a:ext cx="1656000" cy="1010075"/>
          </a:xfrm>
          <a:prstGeom prst="rect">
            <a:avLst/>
          </a:prstGeom>
          <a:noFill/>
          <a:ln w="3175" cap="sq" cmpd="sng" algn="ctr">
            <a:noFill/>
            <a:prstDash val="solid"/>
          </a:ln>
          <a:effectLst/>
        </p:spPr>
        <p:txBody>
          <a:bodyPr rtlCol="0" anchor="ctr"/>
          <a:lstStyle/>
          <a:p>
            <a:pPr algn="just" defTabSz="457184" fontAlgn="base">
              <a:spcBef>
                <a:spcPct val="0"/>
              </a:spcBef>
              <a:spcAft>
                <a:spcPct val="0"/>
              </a:spcAft>
              <a:defRPr/>
            </a:pPr>
            <a:r>
              <a:rPr lang="en-US" sz="800" b="1" dirty="0">
                <a:solidFill>
                  <a:srgbClr val="323232"/>
                </a:solidFill>
                <a:latin typeface="Avenir 35" panose="00000400000000000000" pitchFamily="2" charset="0"/>
              </a:rPr>
              <a:t>NAVEGACIÓN</a:t>
            </a:r>
            <a:endParaRPr lang="es-ES" sz="800" b="1" dirty="0">
              <a:solidFill>
                <a:srgbClr val="323232"/>
              </a:solidFill>
              <a:latin typeface="Avenir 35" panose="00000400000000000000" pitchFamily="2" charset="0"/>
            </a:endParaRP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Tráfico</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%CTR</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Inversión</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CPA, CPC, % Rebote</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Impresiones</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Clics, Páginas sesión</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CPC</a:t>
            </a:r>
          </a:p>
        </p:txBody>
      </p:sp>
      <p:sp>
        <p:nvSpPr>
          <p:cNvPr id="101" name="Rectangle 42"/>
          <p:cNvSpPr/>
          <p:nvPr/>
        </p:nvSpPr>
        <p:spPr>
          <a:xfrm>
            <a:off x="4088903" y="5198581"/>
            <a:ext cx="1656000" cy="1187239"/>
          </a:xfrm>
          <a:prstGeom prst="rect">
            <a:avLst/>
          </a:prstGeom>
          <a:noFill/>
          <a:ln w="3175" cap="sq" cmpd="sng" algn="ctr">
            <a:noFill/>
            <a:prstDash val="solid"/>
          </a:ln>
          <a:effectLst/>
        </p:spPr>
        <p:txBody>
          <a:bodyPr rtlCol="0" anchor="ctr"/>
          <a:lstStyle/>
          <a:p>
            <a:pPr marR="0" lvl="0" indent="0" algn="just" defTabSz="457184" fontAlgn="base">
              <a:lnSpc>
                <a:spcPct val="100000"/>
              </a:lnSpc>
              <a:spcBef>
                <a:spcPct val="0"/>
              </a:spcBef>
              <a:spcAft>
                <a:spcPct val="0"/>
              </a:spcAft>
              <a:buClrTx/>
              <a:buSzTx/>
              <a:buFontTx/>
              <a:buNone/>
              <a:tabLst/>
              <a:defRPr/>
            </a:pPr>
            <a:r>
              <a:rPr lang="es-ES" sz="800" b="1" dirty="0">
                <a:solidFill>
                  <a:srgbClr val="323232"/>
                </a:solidFill>
                <a:latin typeface="Avenir 35" panose="00000400000000000000" pitchFamily="2" charset="0"/>
              </a:rPr>
              <a:t>CAPTACIÓN /REACTIVACIÓN</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Conversiones</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Coste de Conversión por línea de negocio</a:t>
            </a:r>
          </a:p>
          <a:p>
            <a:pPr marL="0" marR="0" lvl="0" indent="0" defTabSz="455613" eaLnBrk="1" fontAlgn="base" latinLnBrk="0" hangingPunct="1">
              <a:lnSpc>
                <a:spcPct val="100000"/>
              </a:lnSpc>
              <a:spcBef>
                <a:spcPct val="0"/>
              </a:spcBef>
              <a:spcAft>
                <a:spcPct val="0"/>
              </a:spcAft>
              <a:buClrTx/>
              <a:buSzTx/>
              <a:buFontTx/>
              <a:buNone/>
              <a:tabLst/>
              <a:defRPr/>
            </a:pPr>
            <a:endParaRPr kumimoji="0" lang="es-ES" sz="800" b="0" i="0" u="none" strike="noStrike" kern="0" cap="none" spc="0" normalizeH="0" baseline="0" noProof="0" dirty="0">
              <a:ln>
                <a:noFill/>
              </a:ln>
              <a:solidFill>
                <a:srgbClr val="323232"/>
              </a:solidFill>
              <a:effectLst/>
              <a:uLnTx/>
              <a:uFillTx/>
              <a:latin typeface="Avenir 35" panose="00000400000000000000" pitchFamily="2" charset="0"/>
            </a:endParaRPr>
          </a:p>
        </p:txBody>
      </p:sp>
      <p:sp>
        <p:nvSpPr>
          <p:cNvPr id="76" name="Rectangle 13"/>
          <p:cNvSpPr/>
          <p:nvPr/>
        </p:nvSpPr>
        <p:spPr>
          <a:xfrm>
            <a:off x="632519" y="3646881"/>
            <a:ext cx="1656000" cy="222496"/>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35" panose="00000400000000000000" pitchFamily="2" charset="0"/>
              </a:rPr>
              <a:t>CONTENIDOS</a:t>
            </a:r>
            <a:endParaRPr lang="en-US" sz="1200" kern="0" cap="all" dirty="0">
              <a:solidFill>
                <a:prstClr val="white"/>
              </a:solidFill>
              <a:latin typeface="Avenir 35" panose="00000400000000000000" pitchFamily="2" charset="0"/>
            </a:endParaRPr>
          </a:p>
        </p:txBody>
      </p:sp>
      <p:sp>
        <p:nvSpPr>
          <p:cNvPr id="85" name="Rectangle 16"/>
          <p:cNvSpPr/>
          <p:nvPr/>
        </p:nvSpPr>
        <p:spPr>
          <a:xfrm>
            <a:off x="632531" y="5150075"/>
            <a:ext cx="1655975" cy="1187238"/>
          </a:xfrm>
          <a:prstGeom prst="rect">
            <a:avLst/>
          </a:prstGeom>
          <a:noFill/>
          <a:ln w="3175" cap="sq" cmpd="sng" algn="ctr">
            <a:noFill/>
            <a:prstDash val="solid"/>
          </a:ln>
          <a:effectLst/>
        </p:spPr>
        <p:txBody>
          <a:bodyPr rtlCol="0" anchor="ctr"/>
          <a:lstStyle/>
          <a:p>
            <a:pPr marR="0" lvl="0" indent="0" algn="just" defTabSz="457184" fontAlgn="base">
              <a:lnSpc>
                <a:spcPct val="100000"/>
              </a:lnSpc>
              <a:spcBef>
                <a:spcPct val="0"/>
              </a:spcBef>
              <a:spcAft>
                <a:spcPct val="0"/>
              </a:spcAft>
              <a:buClrTx/>
              <a:buSzTx/>
              <a:buFontTx/>
              <a:buNone/>
              <a:tabLst/>
              <a:defRPr/>
            </a:pPr>
            <a:r>
              <a:rPr lang="en-US" sz="800" b="1" dirty="0">
                <a:solidFill>
                  <a:srgbClr val="323232"/>
                </a:solidFill>
                <a:latin typeface="Avenir 35" panose="00000400000000000000" pitchFamily="2" charset="0"/>
              </a:rPr>
              <a:t>FIDELIZACIÓN</a:t>
            </a:r>
          </a:p>
          <a:p>
            <a:pPr marL="0" marR="0" lvl="0" indent="0" defTabSz="457184"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Contenidos vistos y </a:t>
            </a:r>
            <a:r>
              <a:rPr kumimoji="0" lang="es-ES" sz="800" b="0" i="0" u="none" strike="noStrike" kern="0" cap="none" spc="0" normalizeH="0" baseline="0" noProof="0" dirty="0">
                <a:ln>
                  <a:noFill/>
                </a:ln>
                <a:solidFill>
                  <a:srgbClr val="323232"/>
                </a:solidFill>
                <a:effectLst/>
                <a:uLnTx/>
                <a:uFillTx/>
                <a:latin typeface="Avenir 35" panose="00000400000000000000" pitchFamily="2" charset="0"/>
                <a:sym typeface="Wingdings" panose="05000000000000000000" pitchFamily="2" charset="2"/>
              </a:rPr>
              <a:t>descargados</a:t>
            </a:r>
            <a:endParaRPr kumimoji="0" lang="es-ES" sz="800" b="0" i="0" u="none" strike="noStrike" kern="0" cap="none" spc="0" normalizeH="0" baseline="0" noProof="0" dirty="0">
              <a:ln>
                <a:noFill/>
              </a:ln>
              <a:solidFill>
                <a:srgbClr val="323232"/>
              </a:solidFill>
              <a:effectLst/>
              <a:uLnTx/>
              <a:uFillTx/>
              <a:latin typeface="Avenir 35" panose="00000400000000000000" pitchFamily="2" charset="0"/>
            </a:endParaRPr>
          </a:p>
          <a:p>
            <a:pPr marL="0" marR="0" lvl="0" indent="0" defTabSz="457184"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Consejos de Utilización</a:t>
            </a:r>
          </a:p>
          <a:p>
            <a:pPr marL="0" marR="0" lvl="0" indent="0" defTabSz="457184" eaLnBrk="1" fontAlgn="base" latinLnBrk="0" hangingPunct="1">
              <a:lnSpc>
                <a:spcPct val="100000"/>
              </a:lnSpc>
              <a:spcBef>
                <a:spcPct val="0"/>
              </a:spcBef>
              <a:spcAft>
                <a:spcPct val="0"/>
              </a:spcAft>
              <a:buClrTx/>
              <a:buSzTx/>
              <a:buFontTx/>
              <a:buNone/>
              <a:tabLst/>
              <a:defRPr/>
            </a:pPr>
            <a:r>
              <a:rPr lang="es-ES" sz="800" kern="0" dirty="0">
                <a:solidFill>
                  <a:srgbClr val="323232"/>
                </a:solidFill>
                <a:latin typeface="Avenir 35" panose="00000400000000000000" pitchFamily="2" charset="0"/>
              </a:rPr>
              <a:t>Nuevas Funcionalidades Vehículos</a:t>
            </a:r>
          </a:p>
          <a:p>
            <a:pPr marL="0" marR="0" lvl="0" indent="0" defTabSz="457184"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Actualización de Software </a:t>
            </a:r>
          </a:p>
        </p:txBody>
      </p:sp>
      <p:sp>
        <p:nvSpPr>
          <p:cNvPr id="102" name="Rectangle 46"/>
          <p:cNvSpPr/>
          <p:nvPr/>
        </p:nvSpPr>
        <p:spPr>
          <a:xfrm>
            <a:off x="632531" y="3968345"/>
            <a:ext cx="1655975" cy="1008253"/>
          </a:xfrm>
          <a:prstGeom prst="rect">
            <a:avLst/>
          </a:prstGeom>
          <a:noFill/>
          <a:ln w="3175" cap="sq" cmpd="sng" algn="ctr">
            <a:noFill/>
            <a:prstDash val="solid"/>
          </a:ln>
          <a:effectLst/>
        </p:spPr>
        <p:txBody>
          <a:bodyPr rtlCol="0" anchor="ctr"/>
          <a:lstStyle/>
          <a:p>
            <a:pPr marR="0" lvl="0" indent="0" algn="just" defTabSz="457184" fontAlgn="base">
              <a:lnSpc>
                <a:spcPct val="100000"/>
              </a:lnSpc>
              <a:spcBef>
                <a:spcPct val="0"/>
              </a:spcBef>
              <a:spcAft>
                <a:spcPct val="0"/>
              </a:spcAft>
              <a:buClrTx/>
              <a:buSzTx/>
              <a:buFontTx/>
              <a:buNone/>
              <a:tabLst/>
              <a:defRPr/>
            </a:pPr>
            <a:r>
              <a:rPr lang="es-ES" sz="800" b="1" dirty="0">
                <a:solidFill>
                  <a:srgbClr val="323232"/>
                </a:solidFill>
                <a:latin typeface="Avenir 35" panose="00000400000000000000" pitchFamily="2" charset="0"/>
              </a:rPr>
              <a:t>NAVEGACIÓN</a:t>
            </a:r>
          </a:p>
          <a:p>
            <a:pPr marL="0" marR="0" lvl="0" indent="0" defTabSz="457184"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Tráfico (brand vs no brand)</a:t>
            </a:r>
          </a:p>
          <a:p>
            <a:pPr marL="0" marR="0" lvl="0" indent="0" defTabSz="457184"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Tráfico por línea de negocio</a:t>
            </a:r>
          </a:p>
          <a:p>
            <a:pPr marL="0" marR="0" lvl="0" indent="0" defTabSz="457184"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Sesiones tendencias</a:t>
            </a:r>
          </a:p>
          <a:p>
            <a:pPr marL="0" marR="0" lvl="0" indent="0" defTabSz="457184"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 rebote social Tendencias</a:t>
            </a:r>
          </a:p>
          <a:p>
            <a:pPr marL="0" marR="0" lvl="0" indent="0" defTabSz="457184"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Páginas vistas</a:t>
            </a:r>
          </a:p>
          <a:p>
            <a:pPr marL="0" marR="0" lvl="0" indent="0" defTabSz="457184"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Tiempo en página social </a:t>
            </a:r>
          </a:p>
          <a:p>
            <a:pPr marL="0" marR="0" lvl="0" indent="0" defTabSz="455613" eaLnBrk="1" fontAlgn="base" latinLnBrk="0" hangingPunct="1">
              <a:lnSpc>
                <a:spcPct val="100000"/>
              </a:lnSpc>
              <a:spcBef>
                <a:spcPct val="0"/>
              </a:spcBef>
              <a:spcAft>
                <a:spcPct val="0"/>
              </a:spcAft>
              <a:buClrTx/>
              <a:buSzTx/>
              <a:buFontTx/>
              <a:buNone/>
              <a:tabLst/>
              <a:defRPr/>
            </a:pPr>
            <a:endParaRPr kumimoji="0" lang="es-ES" sz="800" b="0" i="0" u="none" strike="noStrike" kern="0" cap="none" spc="0" normalizeH="0" baseline="0" noProof="0" dirty="0">
              <a:ln>
                <a:noFill/>
              </a:ln>
              <a:solidFill>
                <a:srgbClr val="323232"/>
              </a:solidFill>
              <a:effectLst/>
              <a:uLnTx/>
              <a:uFillTx/>
              <a:latin typeface="Avenir 35" panose="00000400000000000000" pitchFamily="2" charset="0"/>
            </a:endParaRPr>
          </a:p>
        </p:txBody>
      </p:sp>
      <p:sp>
        <p:nvSpPr>
          <p:cNvPr id="51" name="Rectangle 45"/>
          <p:cNvSpPr/>
          <p:nvPr/>
        </p:nvSpPr>
        <p:spPr>
          <a:xfrm>
            <a:off x="5817095" y="3968988"/>
            <a:ext cx="1656000" cy="1003253"/>
          </a:xfrm>
          <a:prstGeom prst="rect">
            <a:avLst/>
          </a:prstGeom>
          <a:noFill/>
          <a:ln w="3175" cap="sq" cmpd="sng" algn="ctr">
            <a:noFill/>
            <a:prstDash val="solid"/>
          </a:ln>
          <a:effectLst/>
        </p:spPr>
        <p:txBody>
          <a:bodyPr rtlCol="0" anchor="ctr"/>
          <a:lstStyle/>
          <a:p>
            <a:pPr marR="0" lvl="0" indent="0" algn="just" defTabSz="457184" fontAlgn="base">
              <a:lnSpc>
                <a:spcPct val="100000"/>
              </a:lnSpc>
              <a:spcBef>
                <a:spcPct val="0"/>
              </a:spcBef>
              <a:spcAft>
                <a:spcPct val="0"/>
              </a:spcAft>
              <a:buClrTx/>
              <a:buSzTx/>
              <a:buFontTx/>
              <a:buNone/>
              <a:tabLst/>
              <a:defRPr/>
            </a:pPr>
            <a:r>
              <a:rPr lang="en-US" sz="800" b="1" dirty="0">
                <a:solidFill>
                  <a:srgbClr val="323232"/>
                </a:solidFill>
                <a:latin typeface="Avenir 35" panose="00000400000000000000" pitchFamily="2" charset="0"/>
              </a:rPr>
              <a:t>NAVEGACIÓN </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Páginas/sesión</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Duración media de la sesión</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Tráfico</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Envíos, Bajas</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Aperturas</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Clics, % Rebote</a:t>
            </a:r>
            <a:endParaRPr kumimoji="0" lang="en-US" sz="800" b="0" i="0" u="none" strike="noStrike" kern="0" cap="none" spc="0" normalizeH="0" baseline="0" noProof="0" dirty="0">
              <a:ln>
                <a:noFill/>
              </a:ln>
              <a:solidFill>
                <a:srgbClr val="323232"/>
              </a:solidFill>
              <a:effectLst/>
              <a:uLnTx/>
              <a:uFillTx/>
              <a:latin typeface="Avenir 35" panose="00000400000000000000" pitchFamily="2" charset="0"/>
            </a:endParaRPr>
          </a:p>
          <a:p>
            <a:pPr marL="0" marR="0" lvl="0" indent="0" algn="just" defTabSz="457184" eaLnBrk="1" fontAlgn="base" latinLnBrk="0" hangingPunct="1">
              <a:lnSpc>
                <a:spcPct val="100000"/>
              </a:lnSpc>
              <a:spcBef>
                <a:spcPct val="0"/>
              </a:spcBef>
              <a:spcAft>
                <a:spcPct val="0"/>
              </a:spcAft>
              <a:buClrTx/>
              <a:buSzTx/>
              <a:buFontTx/>
              <a:buNone/>
              <a:tabLst/>
              <a:defRPr/>
            </a:pPr>
            <a:endParaRPr kumimoji="0" lang="es-ES" sz="800" b="0" i="0" u="none" strike="noStrike" kern="0" cap="none" spc="0" normalizeH="0" baseline="0" noProof="0" dirty="0">
              <a:ln>
                <a:noFill/>
              </a:ln>
              <a:solidFill>
                <a:srgbClr val="323232"/>
              </a:solidFill>
              <a:effectLst/>
              <a:uLnTx/>
              <a:uFillTx/>
              <a:latin typeface="Avenir 35" panose="00000400000000000000" pitchFamily="2" charset="0"/>
            </a:endParaRPr>
          </a:p>
        </p:txBody>
      </p:sp>
      <p:sp>
        <p:nvSpPr>
          <p:cNvPr id="88" name="Rectangle 19"/>
          <p:cNvSpPr/>
          <p:nvPr/>
        </p:nvSpPr>
        <p:spPr>
          <a:xfrm>
            <a:off x="5817095" y="3645024"/>
            <a:ext cx="1656000" cy="222497"/>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35" panose="00000400000000000000" pitchFamily="2" charset="0"/>
              </a:rPr>
              <a:t>EMAIL MK</a:t>
            </a:r>
            <a:endParaRPr lang="en-US" sz="1200" kern="0" cap="all" dirty="0">
              <a:solidFill>
                <a:prstClr val="white"/>
              </a:solidFill>
              <a:latin typeface="Avenir 35" panose="00000400000000000000" pitchFamily="2" charset="0"/>
            </a:endParaRPr>
          </a:p>
        </p:txBody>
      </p:sp>
      <p:sp>
        <p:nvSpPr>
          <p:cNvPr id="89" name="Rectangle 20"/>
          <p:cNvSpPr/>
          <p:nvPr/>
        </p:nvSpPr>
        <p:spPr>
          <a:xfrm>
            <a:off x="5817095" y="5099029"/>
            <a:ext cx="1656000" cy="859881"/>
          </a:xfrm>
          <a:prstGeom prst="rect">
            <a:avLst/>
          </a:prstGeom>
          <a:noFill/>
          <a:ln w="3175" cap="sq" cmpd="sng" algn="ctr">
            <a:noFill/>
            <a:prstDash val="solid"/>
          </a:ln>
          <a:effectLst/>
        </p:spPr>
        <p:txBody>
          <a:bodyPr rtlCol="0" anchor="ctr"/>
          <a:lstStyle/>
          <a:p>
            <a:pPr marL="0" marR="0" lvl="0" indent="0" defTabSz="455613" eaLnBrk="1" fontAlgn="base" latinLnBrk="0" hangingPunct="1">
              <a:lnSpc>
                <a:spcPct val="100000"/>
              </a:lnSpc>
              <a:spcBef>
                <a:spcPct val="0"/>
              </a:spcBef>
              <a:spcAft>
                <a:spcPct val="0"/>
              </a:spcAft>
              <a:buClrTx/>
              <a:buSzTx/>
              <a:buFontTx/>
              <a:buNone/>
              <a:tabLst/>
              <a:defRPr/>
            </a:pPr>
            <a:r>
              <a:rPr lang="es-ES" sz="800" b="1" dirty="0">
                <a:solidFill>
                  <a:srgbClr val="323232"/>
                </a:solidFill>
                <a:latin typeface="Avenir 35" panose="00000400000000000000" pitchFamily="2" charset="0"/>
              </a:rPr>
              <a:t>CAPTACIÓN  / REACTIVACIÓN</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Conversiones</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Nuevos usuarios</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Formulario empresas</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Suscripción newsletter</a:t>
            </a:r>
          </a:p>
        </p:txBody>
      </p:sp>
      <p:sp>
        <p:nvSpPr>
          <p:cNvPr id="103" name="Rectangle 47"/>
          <p:cNvSpPr/>
          <p:nvPr/>
        </p:nvSpPr>
        <p:spPr>
          <a:xfrm>
            <a:off x="5817095" y="6005295"/>
            <a:ext cx="1656000" cy="280972"/>
          </a:xfrm>
          <a:prstGeom prst="rect">
            <a:avLst/>
          </a:prstGeom>
          <a:noFill/>
          <a:ln w="3175" cap="sq" cmpd="sng" algn="ctr">
            <a:noFill/>
            <a:prstDash val="solid"/>
          </a:ln>
          <a:effectLst/>
        </p:spPr>
        <p:txBody>
          <a:bodyPr rtlCol="0" anchor="ctr"/>
          <a:lstStyle/>
          <a:p>
            <a:pPr marL="0" marR="0" lvl="0" indent="0" defTabSz="455613" eaLnBrk="1" fontAlgn="base" latinLnBrk="0" hangingPunct="1">
              <a:lnSpc>
                <a:spcPct val="100000"/>
              </a:lnSpc>
              <a:spcBef>
                <a:spcPct val="0"/>
              </a:spcBef>
              <a:spcAft>
                <a:spcPct val="0"/>
              </a:spcAft>
              <a:buClrTx/>
              <a:buSzTx/>
              <a:buFontTx/>
              <a:buNone/>
              <a:tabLst/>
              <a:defRPr/>
            </a:pPr>
            <a:r>
              <a:rPr lang="es-ES" sz="800" b="1" dirty="0">
                <a:solidFill>
                  <a:srgbClr val="323232"/>
                </a:solidFill>
                <a:latin typeface="Avenir 35" panose="00000400000000000000" pitchFamily="2" charset="0"/>
              </a:rPr>
              <a:t>FIDELIZACIÓN</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Compartido en RRSS</a:t>
            </a:r>
            <a:endParaRPr kumimoji="0" lang="en-US" sz="800" b="0" i="0" u="none" strike="noStrike" kern="0" cap="none" spc="0" normalizeH="0" baseline="0" noProof="0" dirty="0">
              <a:ln>
                <a:noFill/>
              </a:ln>
              <a:solidFill>
                <a:srgbClr val="323232"/>
              </a:solidFill>
              <a:effectLst/>
              <a:uLnTx/>
              <a:uFillTx/>
              <a:latin typeface="Avenir 35" panose="00000400000000000000" pitchFamily="2" charset="0"/>
            </a:endParaRPr>
          </a:p>
        </p:txBody>
      </p:sp>
      <p:grpSp>
        <p:nvGrpSpPr>
          <p:cNvPr id="12" name="11 Grupo"/>
          <p:cNvGrpSpPr/>
          <p:nvPr/>
        </p:nvGrpSpPr>
        <p:grpSpPr>
          <a:xfrm>
            <a:off x="1907367" y="6424722"/>
            <a:ext cx="6136892" cy="400304"/>
            <a:chOff x="2426293" y="5689241"/>
            <a:chExt cx="6136892" cy="400304"/>
          </a:xfrm>
        </p:grpSpPr>
        <p:sp>
          <p:nvSpPr>
            <p:cNvPr id="95" name="Rectangle 25"/>
            <p:cNvSpPr/>
            <p:nvPr/>
          </p:nvSpPr>
          <p:spPr>
            <a:xfrm>
              <a:off x="2862148" y="5736309"/>
              <a:ext cx="1212191" cy="307777"/>
            </a:xfrm>
            <a:prstGeom prst="rect">
              <a:avLst/>
            </a:prstGeom>
          </p:spPr>
          <p:txBody>
            <a:bodyPr wrap="none">
              <a:spAutoFit/>
            </a:bodyPr>
            <a:lstStyle/>
            <a:p>
              <a:pPr defTabSz="455613" fontAlgn="base">
                <a:spcBef>
                  <a:spcPct val="0"/>
                </a:spcBef>
                <a:spcAft>
                  <a:spcPct val="0"/>
                </a:spcAft>
              </a:pPr>
              <a:r>
                <a:rPr lang="en-US" sz="1100" b="1" dirty="0">
                  <a:solidFill>
                    <a:srgbClr val="323232"/>
                  </a:solidFill>
                  <a:latin typeface="Avenir 35" panose="00000400000000000000" pitchFamily="2" charset="0"/>
                  <a:ea typeface="ＭＳ Ｐゴシック" pitchFamily="34" charset="-128"/>
                </a:rPr>
                <a:t>NAVEGACIÓN</a:t>
              </a:r>
              <a:r>
                <a:rPr lang="en-US" sz="1400" b="1" dirty="0">
                  <a:solidFill>
                    <a:srgbClr val="323232"/>
                  </a:solidFill>
                  <a:latin typeface="Avenir 35" panose="00000400000000000000" pitchFamily="2" charset="0"/>
                  <a:ea typeface="ＭＳ Ｐゴシック" pitchFamily="34" charset="-128"/>
                </a:rPr>
                <a:t> </a:t>
              </a:r>
              <a:endParaRPr lang="en-US" sz="1400" dirty="0">
                <a:solidFill>
                  <a:srgbClr val="323232"/>
                </a:solidFill>
                <a:latin typeface="Avenir 35" panose="00000400000000000000" pitchFamily="2" charset="0"/>
                <a:ea typeface="ＭＳ Ｐゴシック" pitchFamily="34" charset="-128"/>
              </a:endParaRPr>
            </a:p>
          </p:txBody>
        </p:sp>
        <p:sp>
          <p:nvSpPr>
            <p:cNvPr id="96" name="Rectangle 34"/>
            <p:cNvSpPr/>
            <p:nvPr/>
          </p:nvSpPr>
          <p:spPr>
            <a:xfrm>
              <a:off x="4743944" y="5770165"/>
              <a:ext cx="2165978" cy="261610"/>
            </a:xfrm>
            <a:prstGeom prst="rect">
              <a:avLst/>
            </a:prstGeom>
          </p:spPr>
          <p:txBody>
            <a:bodyPr wrap="none">
              <a:spAutoFit/>
            </a:bodyPr>
            <a:lstStyle/>
            <a:p>
              <a:pPr defTabSz="455613" fontAlgn="base">
                <a:spcBef>
                  <a:spcPct val="0"/>
                </a:spcBef>
                <a:spcAft>
                  <a:spcPct val="0"/>
                </a:spcAft>
              </a:pPr>
              <a:r>
                <a:rPr lang="es-ES" sz="1100" b="1" dirty="0">
                  <a:solidFill>
                    <a:srgbClr val="323232"/>
                  </a:solidFill>
                  <a:latin typeface="Avenir 35" panose="00000400000000000000" pitchFamily="2" charset="0"/>
                  <a:ea typeface="ＭＳ Ｐゴシック" pitchFamily="34" charset="-128"/>
                </a:rPr>
                <a:t>CAPTACIÓN/ REACTIVACIÓN</a:t>
              </a:r>
              <a:endParaRPr lang="en-US" sz="1100" b="1" dirty="0">
                <a:solidFill>
                  <a:srgbClr val="323232"/>
                </a:solidFill>
                <a:latin typeface="Avenir 35" panose="00000400000000000000" pitchFamily="2" charset="0"/>
                <a:ea typeface="ＭＳ Ｐゴシック" pitchFamily="34" charset="-128"/>
              </a:endParaRPr>
            </a:p>
          </p:txBody>
        </p:sp>
        <p:sp>
          <p:nvSpPr>
            <p:cNvPr id="97" name="Rectangle 35"/>
            <p:cNvSpPr/>
            <p:nvPr/>
          </p:nvSpPr>
          <p:spPr>
            <a:xfrm>
              <a:off x="7429541" y="5767307"/>
              <a:ext cx="1133644" cy="261610"/>
            </a:xfrm>
            <a:prstGeom prst="rect">
              <a:avLst/>
            </a:prstGeom>
          </p:spPr>
          <p:txBody>
            <a:bodyPr wrap="none">
              <a:spAutoFit/>
            </a:bodyPr>
            <a:lstStyle/>
            <a:p>
              <a:pPr defTabSz="455613" fontAlgn="base">
                <a:spcBef>
                  <a:spcPct val="0"/>
                </a:spcBef>
                <a:spcAft>
                  <a:spcPct val="0"/>
                </a:spcAft>
              </a:pPr>
              <a:r>
                <a:rPr lang="en-US" sz="1100" b="1" dirty="0">
                  <a:solidFill>
                    <a:srgbClr val="323232"/>
                  </a:solidFill>
                  <a:latin typeface="Avenir 35" panose="00000400000000000000" pitchFamily="2" charset="0"/>
                  <a:ea typeface="ＭＳ Ｐゴシック" pitchFamily="34" charset="-128"/>
                </a:rPr>
                <a:t>FIDELIZACIÓN</a:t>
              </a:r>
            </a:p>
          </p:txBody>
        </p:sp>
        <p:sp>
          <p:nvSpPr>
            <p:cNvPr id="98" name="Right Arrow 36"/>
            <p:cNvSpPr/>
            <p:nvPr/>
          </p:nvSpPr>
          <p:spPr>
            <a:xfrm>
              <a:off x="4057514" y="5813309"/>
              <a:ext cx="234648" cy="153889"/>
            </a:xfrm>
            <a:prstGeom prst="rightArrow">
              <a:avLst/>
            </a:prstGeom>
            <a:solidFill>
              <a:srgbClr val="323232"/>
            </a:solidFill>
            <a:ln w="9525" cap="flat" cmpd="sng" algn="ctr">
              <a:solidFill>
                <a:schemeClr val="tx1">
                  <a:lumMod val="50000"/>
                  <a:lumOff val="50000"/>
                </a:schemeClr>
              </a:solidFill>
              <a:prstDash val="solid"/>
            </a:ln>
            <a:effectLst/>
          </p:spPr>
          <p:txBody>
            <a:bodyPr rtlCol="0" anchor="ctr"/>
            <a:lstStyle/>
            <a:p>
              <a:pPr marL="0" marR="0" lvl="0" indent="0" algn="ctr" defTabSz="455613"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23232"/>
                </a:solidFill>
                <a:effectLst/>
                <a:uLnTx/>
                <a:uFillTx/>
                <a:latin typeface="Avenir 35" panose="00000400000000000000" pitchFamily="2" charset="0"/>
              </a:endParaRPr>
            </a:p>
          </p:txBody>
        </p:sp>
        <p:sp>
          <p:nvSpPr>
            <p:cNvPr id="99" name="Right Arrow 37"/>
            <p:cNvSpPr/>
            <p:nvPr/>
          </p:nvSpPr>
          <p:spPr>
            <a:xfrm>
              <a:off x="6874435" y="5826896"/>
              <a:ext cx="234648" cy="153889"/>
            </a:xfrm>
            <a:prstGeom prst="rightArrow">
              <a:avLst/>
            </a:prstGeom>
            <a:solidFill>
              <a:srgbClr val="323232"/>
            </a:solidFill>
            <a:ln w="9525" cap="flat" cmpd="sng" algn="ctr">
              <a:solidFill>
                <a:schemeClr val="tx1">
                  <a:lumMod val="50000"/>
                  <a:lumOff val="50000"/>
                </a:schemeClr>
              </a:solidFill>
              <a:prstDash val="solid"/>
            </a:ln>
            <a:effectLst/>
          </p:spPr>
          <p:txBody>
            <a:bodyPr rtlCol="0" anchor="ctr"/>
            <a:lstStyle/>
            <a:p>
              <a:pPr marL="0" marR="0" lvl="0" indent="0" algn="ctr" defTabSz="455613"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323232"/>
                </a:solidFill>
                <a:effectLst/>
                <a:uLnTx/>
                <a:uFillTx/>
                <a:latin typeface="Avenir 35" panose="00000400000000000000" pitchFamily="2" charset="0"/>
              </a:endParaRPr>
            </a:p>
          </p:txBody>
        </p:sp>
        <p:pic>
          <p:nvPicPr>
            <p:cNvPr id="105" name="Picture 49"/>
            <p:cNvPicPr>
              <a:picLocks noChangeAspect="1"/>
            </p:cNvPicPr>
            <p:nvPr/>
          </p:nvPicPr>
          <p:blipFill rotWithShape="1">
            <a:blip r:embed="rId4" cstate="print">
              <a:duotone>
                <a:schemeClr val="bg2">
                  <a:shade val="45000"/>
                  <a:satMod val="135000"/>
                </a:schemeClr>
                <a:prstClr val="white"/>
              </a:duotone>
              <a:extLst>
                <a:ext uri="{28A0092B-C50C-407E-A947-70E740481C1C}">
                  <a14:useLocalDpi xmlns:a14="http://schemas.microsoft.com/office/drawing/2010/main" val="0"/>
                </a:ext>
              </a:extLst>
            </a:blip>
            <a:srcRect b="21902"/>
            <a:stretch/>
          </p:blipFill>
          <p:spPr>
            <a:xfrm>
              <a:off x="2426293" y="5711830"/>
              <a:ext cx="480673" cy="375396"/>
            </a:xfrm>
            <a:prstGeom prst="rect">
              <a:avLst/>
            </a:prstGeom>
          </p:spPr>
        </p:pic>
        <p:pic>
          <p:nvPicPr>
            <p:cNvPr id="106" name="Picture 50"/>
            <p:cNvPicPr>
              <a:picLocks noChangeAspect="1"/>
            </p:cNvPicPr>
            <p:nvPr/>
          </p:nvPicPr>
          <p:blipFill rotWithShape="1">
            <a:blip r:embed="rId5" cstate="print">
              <a:duotone>
                <a:schemeClr val="bg2">
                  <a:shade val="45000"/>
                  <a:satMod val="135000"/>
                </a:schemeClr>
                <a:prstClr val="white"/>
              </a:duotone>
              <a:extLst>
                <a:ext uri="{28A0092B-C50C-407E-A947-70E740481C1C}">
                  <a14:useLocalDpi xmlns:a14="http://schemas.microsoft.com/office/drawing/2010/main" val="0"/>
                </a:ext>
              </a:extLst>
            </a:blip>
            <a:srcRect b="17537"/>
            <a:stretch/>
          </p:blipFill>
          <p:spPr>
            <a:xfrm>
              <a:off x="4303330" y="5689241"/>
              <a:ext cx="485432" cy="400304"/>
            </a:xfrm>
            <a:prstGeom prst="rect">
              <a:avLst/>
            </a:prstGeom>
          </p:spPr>
        </p:pic>
        <p:pic>
          <p:nvPicPr>
            <p:cNvPr id="107" name="Picture 51"/>
            <p:cNvPicPr>
              <a:picLocks noChangeAspect="1"/>
            </p:cNvPicPr>
            <p:nvPr/>
          </p:nvPicPr>
          <p:blipFill rotWithShape="1">
            <a:blip r:embed="rId6" cstate="print">
              <a:duotone>
                <a:schemeClr val="bg2">
                  <a:shade val="45000"/>
                  <a:satMod val="135000"/>
                </a:schemeClr>
                <a:prstClr val="white"/>
              </a:duotone>
              <a:extLst>
                <a:ext uri="{28A0092B-C50C-407E-A947-70E740481C1C}">
                  <a14:useLocalDpi xmlns:a14="http://schemas.microsoft.com/office/drawing/2010/main" val="0"/>
                </a:ext>
              </a:extLst>
            </a:blip>
            <a:srcRect b="13547"/>
            <a:stretch/>
          </p:blipFill>
          <p:spPr>
            <a:xfrm>
              <a:off x="7138913" y="5757976"/>
              <a:ext cx="335448" cy="290006"/>
            </a:xfrm>
            <a:prstGeom prst="rect">
              <a:avLst/>
            </a:prstGeom>
          </p:spPr>
        </p:pic>
      </p:grpSp>
      <p:sp>
        <p:nvSpPr>
          <p:cNvPr id="37" name="Rectangle 21"/>
          <p:cNvSpPr/>
          <p:nvPr/>
        </p:nvSpPr>
        <p:spPr>
          <a:xfrm>
            <a:off x="7545288" y="3648739"/>
            <a:ext cx="1656000" cy="222497"/>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35" panose="00000400000000000000" pitchFamily="2" charset="0"/>
              </a:rPr>
              <a:t>SOCIAL MEDIA</a:t>
            </a:r>
            <a:endParaRPr lang="en-US" sz="1200" kern="0" cap="all" dirty="0">
              <a:solidFill>
                <a:prstClr val="white"/>
              </a:solidFill>
              <a:latin typeface="Avenir 35" panose="00000400000000000000" pitchFamily="2" charset="0"/>
            </a:endParaRPr>
          </a:p>
        </p:txBody>
      </p:sp>
      <p:sp>
        <p:nvSpPr>
          <p:cNvPr id="38" name="Rectangle 22"/>
          <p:cNvSpPr/>
          <p:nvPr/>
        </p:nvSpPr>
        <p:spPr>
          <a:xfrm>
            <a:off x="7545289" y="3898055"/>
            <a:ext cx="1656000" cy="1003253"/>
          </a:xfrm>
          <a:prstGeom prst="rect">
            <a:avLst/>
          </a:prstGeom>
          <a:noFill/>
          <a:ln w="3175" cap="sq" cmpd="sng" algn="ctr">
            <a:noFill/>
            <a:prstDash val="solid"/>
          </a:ln>
          <a:effectLst/>
        </p:spPr>
        <p:txBody>
          <a:bodyPr rtlCol="0" anchor="ctr"/>
          <a:lstStyle/>
          <a:p>
            <a:pPr algn="just" defTabSz="457184" fontAlgn="base">
              <a:spcBef>
                <a:spcPct val="0"/>
              </a:spcBef>
              <a:spcAft>
                <a:spcPct val="0"/>
              </a:spcAft>
              <a:defRPr/>
            </a:pPr>
            <a:r>
              <a:rPr lang="en-US" sz="800" b="1" dirty="0">
                <a:solidFill>
                  <a:srgbClr val="323232"/>
                </a:solidFill>
                <a:latin typeface="Avenir 35" panose="00000400000000000000" pitchFamily="2" charset="0"/>
              </a:rPr>
              <a:t>NAVEGACIÓN </a:t>
            </a:r>
          </a:p>
          <a:p>
            <a:pPr marL="0" marR="0" lvl="0" indent="0" defTabSz="455613"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Sesiones Web</a:t>
            </a:r>
          </a:p>
          <a:p>
            <a:pPr marL="0" marR="0" lvl="0" indent="0" defTabSz="455613"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Sesiones sociales</a:t>
            </a:r>
          </a:p>
          <a:p>
            <a:pPr marL="0" marR="0" lvl="0" indent="0" defTabSz="455613"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 rebote social</a:t>
            </a:r>
          </a:p>
          <a:p>
            <a:pPr marL="0" marR="0" lvl="0" indent="0" defTabSz="455613"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Tiempo en página social</a:t>
            </a:r>
          </a:p>
          <a:p>
            <a:pPr marL="0" marR="0" lvl="0" indent="0" defTabSz="455613"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Páginas vistas</a:t>
            </a:r>
          </a:p>
          <a:p>
            <a:pPr marL="0" marR="0" lvl="0" indent="0" defTabSz="455613"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Impresiones</a:t>
            </a:r>
          </a:p>
        </p:txBody>
      </p:sp>
      <p:sp>
        <p:nvSpPr>
          <p:cNvPr id="39" name="Rectangle 48"/>
          <p:cNvSpPr/>
          <p:nvPr/>
        </p:nvSpPr>
        <p:spPr>
          <a:xfrm>
            <a:off x="7545288" y="5084081"/>
            <a:ext cx="1656000" cy="1196011"/>
          </a:xfrm>
          <a:prstGeom prst="rect">
            <a:avLst/>
          </a:prstGeom>
          <a:noFill/>
          <a:ln w="3175" cap="sq" cmpd="sng" algn="ctr">
            <a:noFill/>
            <a:prstDash val="solid"/>
          </a:ln>
          <a:effectLst/>
        </p:spPr>
        <p:txBody>
          <a:bodyPr rtlCol="0" anchor="ctr"/>
          <a:lstStyle/>
          <a:p>
            <a:pPr marL="0" marR="0" lvl="0" indent="0" defTabSz="455613" eaLnBrk="1" fontAlgn="base" latinLnBrk="0" hangingPunct="1">
              <a:lnSpc>
                <a:spcPct val="100000"/>
              </a:lnSpc>
              <a:spcBef>
                <a:spcPct val="0"/>
              </a:spcBef>
              <a:spcAft>
                <a:spcPct val="0"/>
              </a:spcAft>
              <a:buClrTx/>
              <a:buSzTx/>
              <a:buFontTx/>
              <a:buNone/>
              <a:tabLst/>
              <a:defRPr/>
            </a:pPr>
            <a:r>
              <a:rPr lang="es-ES" sz="800" b="1" dirty="0">
                <a:solidFill>
                  <a:srgbClr val="323232"/>
                </a:solidFill>
                <a:latin typeface="Avenir 35" panose="00000400000000000000" pitchFamily="2" charset="0"/>
              </a:rPr>
              <a:t>CAPTACIÓN</a:t>
            </a:r>
            <a:r>
              <a:rPr kumimoji="0" lang="es-ES" sz="1100" b="1" i="0" u="none" strike="noStrike" kern="0" cap="none" spc="0" normalizeH="0" baseline="0" noProof="0" dirty="0">
                <a:ln>
                  <a:noFill/>
                </a:ln>
                <a:solidFill>
                  <a:srgbClr val="323232"/>
                </a:solidFill>
                <a:effectLst/>
                <a:uLnTx/>
                <a:uFillTx/>
                <a:latin typeface="Avenir 35" panose="00000400000000000000" pitchFamily="2" charset="0"/>
              </a:rPr>
              <a:t> </a:t>
            </a:r>
          </a:p>
          <a:p>
            <a:pPr marL="0" marR="0" lvl="0" indent="0" defTabSz="455613"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Nuevos usuarios</a:t>
            </a:r>
          </a:p>
          <a:p>
            <a:pPr marL="0" marR="0" lvl="0" indent="0" defTabSz="455613" eaLnBrk="1" fontAlgn="base" latinLnBrk="0" hangingPunct="1">
              <a:lnSpc>
                <a:spcPct val="100000"/>
              </a:lnSpc>
              <a:spcBef>
                <a:spcPct val="0"/>
              </a:spcBef>
              <a:spcAft>
                <a:spcPct val="0"/>
              </a:spcAft>
              <a:buClrTx/>
              <a:buSzTx/>
              <a:buFontTx/>
              <a:buNone/>
              <a:tabLst/>
              <a:defRPr/>
            </a:pPr>
            <a:r>
              <a:rPr kumimoji="0" lang="es-ES" sz="800" b="0" i="0" u="none" strike="noStrike" kern="0" cap="none" spc="0" normalizeH="0" baseline="0" noProof="0" dirty="0">
                <a:ln>
                  <a:noFill/>
                </a:ln>
                <a:solidFill>
                  <a:srgbClr val="323232"/>
                </a:solidFill>
                <a:effectLst/>
                <a:uLnTx/>
                <a:uFillTx/>
                <a:latin typeface="Avenir 35" panose="00000400000000000000" pitchFamily="2" charset="0"/>
              </a:rPr>
              <a:t>Conversiones</a:t>
            </a:r>
          </a:p>
          <a:p>
            <a:pPr marL="0" marR="0" lvl="0" indent="0" defTabSz="455613"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Clics, CTR, CPA</a:t>
            </a:r>
          </a:p>
          <a:p>
            <a:pPr marL="0" marR="0" lvl="0" indent="0" defTabSz="455613"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Followers del canal: Facebook, Twitter, Linkedin</a:t>
            </a:r>
          </a:p>
          <a:p>
            <a:pPr marL="0" marR="0" lvl="0" indent="0" defTabSz="455613"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Aplicación en oferta Easy Money Me</a:t>
            </a:r>
          </a:p>
          <a:p>
            <a:pPr marL="0" marR="0" lvl="0" indent="0" defTabSz="455613" eaLnBrk="1" fontAlgn="base" latinLnBrk="0" hangingPunct="1">
              <a:lnSpc>
                <a:spcPct val="100000"/>
              </a:lnSpc>
              <a:spcBef>
                <a:spcPct val="0"/>
              </a:spcBef>
              <a:spcAft>
                <a:spcPct val="0"/>
              </a:spcAft>
              <a:buClrTx/>
              <a:buSzTx/>
              <a:buFontTx/>
              <a:buNone/>
              <a:tabLst/>
              <a:defRPr/>
            </a:pPr>
            <a:r>
              <a:rPr kumimoji="0" lang="es-ES" altLang="es-ES" sz="800" b="0" i="0" u="none" strike="noStrike" kern="0" cap="none" spc="0" normalizeH="0" baseline="0" noProof="0" dirty="0">
                <a:ln>
                  <a:noFill/>
                </a:ln>
                <a:solidFill>
                  <a:srgbClr val="323232"/>
                </a:solidFill>
                <a:effectLst/>
                <a:uLnTx/>
                <a:uFillTx/>
                <a:latin typeface="Avenir 35" panose="00000400000000000000" pitchFamily="2" charset="0"/>
              </a:rPr>
              <a:t>Interacciones</a:t>
            </a:r>
          </a:p>
        </p:txBody>
      </p:sp>
      <p:sp>
        <p:nvSpPr>
          <p:cNvPr id="54" name="Rectangle 5"/>
          <p:cNvSpPr/>
          <p:nvPr/>
        </p:nvSpPr>
        <p:spPr>
          <a:xfrm>
            <a:off x="622941" y="1844826"/>
            <a:ext cx="4068000" cy="192387"/>
          </a:xfrm>
          <a:prstGeom prst="rect">
            <a:avLst/>
          </a:prstGeom>
          <a:solidFill>
            <a:srgbClr val="32323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s-ES" sz="1100" b="1" dirty="0">
                <a:solidFill>
                  <a:schemeClr val="bg1"/>
                </a:solidFill>
                <a:latin typeface="Avenir 65" panose="02000600000000000000" pitchFamily="2" charset="0"/>
                <a:cs typeface="Avenir 35 Light"/>
              </a:rPr>
              <a:t>POTENCIAL</a:t>
            </a:r>
            <a:r>
              <a:rPr lang="es-ES" sz="1100" b="1" dirty="0">
                <a:solidFill>
                  <a:schemeClr val="bg1"/>
                </a:solidFill>
                <a:latin typeface="Avenir 65" panose="02000600000000000000" pitchFamily="2" charset="0"/>
              </a:rPr>
              <a:t> / REACTIVO</a:t>
            </a:r>
            <a:endParaRPr lang="es-ES" sz="1400" b="1" dirty="0">
              <a:solidFill>
                <a:schemeClr val="bg1"/>
              </a:solidFill>
              <a:latin typeface="Avenir 65" panose="02000600000000000000" pitchFamily="2" charset="0"/>
            </a:endParaRPr>
          </a:p>
        </p:txBody>
      </p:sp>
      <p:sp>
        <p:nvSpPr>
          <p:cNvPr id="55" name="Rectangle 6"/>
          <p:cNvSpPr/>
          <p:nvPr/>
        </p:nvSpPr>
        <p:spPr>
          <a:xfrm>
            <a:off x="5133480" y="1844824"/>
            <a:ext cx="4067808" cy="192390"/>
          </a:xfrm>
          <a:prstGeom prst="rect">
            <a:avLst/>
          </a:prstGeom>
          <a:solidFill>
            <a:srgbClr val="32323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b="1" dirty="0">
                <a:solidFill>
                  <a:schemeClr val="bg1"/>
                </a:solidFill>
                <a:latin typeface="Avenir 65" panose="02000600000000000000" pitchFamily="2" charset="0"/>
                <a:cs typeface="Avenir 35 Light"/>
              </a:rPr>
              <a:t>CLIENTE</a:t>
            </a:r>
            <a:endParaRPr lang="en-US" sz="1100" b="1" dirty="0">
              <a:solidFill>
                <a:schemeClr val="bg1"/>
              </a:solidFill>
              <a:latin typeface="Avenir 65" panose="02000600000000000000" pitchFamily="2" charset="0"/>
              <a:cs typeface="Avenir 35 Light"/>
            </a:endParaRPr>
          </a:p>
        </p:txBody>
      </p:sp>
      <p:sp>
        <p:nvSpPr>
          <p:cNvPr id="56" name="Rectangle 8"/>
          <p:cNvSpPr/>
          <p:nvPr/>
        </p:nvSpPr>
        <p:spPr>
          <a:xfrm>
            <a:off x="632530" y="2123517"/>
            <a:ext cx="2052000" cy="1440000"/>
          </a:xfrm>
          <a:prstGeom prst="rect">
            <a:avLst/>
          </a:prstGeom>
          <a:noFill/>
          <a:ln w="12700" cap="sq">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457184"/>
            <a:r>
              <a:rPr lang="en-US" sz="800" b="1" dirty="0">
                <a:solidFill>
                  <a:srgbClr val="323232"/>
                </a:solidFill>
                <a:latin typeface="Avenir 35" panose="00000400000000000000" pitchFamily="2" charset="0"/>
              </a:rPr>
              <a:t>NAVEGACIÓN </a:t>
            </a:r>
          </a:p>
          <a:p>
            <a:pPr algn="just" defTabSz="457184"/>
            <a:r>
              <a:rPr lang="es-ES" sz="800" dirty="0">
                <a:solidFill>
                  <a:srgbClr val="323232"/>
                </a:solidFill>
                <a:latin typeface="Avenir 35" panose="00000400000000000000" pitchFamily="2" charset="0"/>
              </a:rPr>
              <a:t>Nº de visitantes</a:t>
            </a:r>
          </a:p>
          <a:p>
            <a:pPr algn="just" defTabSz="457184"/>
            <a:r>
              <a:rPr lang="es-ES" sz="800" dirty="0">
                <a:solidFill>
                  <a:srgbClr val="323232"/>
                </a:solidFill>
                <a:latin typeface="Avenir 35" panose="00000400000000000000" pitchFamily="2" charset="0"/>
              </a:rPr>
              <a:t>Nº de visitas</a:t>
            </a:r>
          </a:p>
          <a:p>
            <a:pPr algn="just" defTabSz="457184"/>
            <a:r>
              <a:rPr lang="es-ES" sz="800" dirty="0">
                <a:solidFill>
                  <a:srgbClr val="323232"/>
                </a:solidFill>
                <a:latin typeface="Avenir 35" panose="00000400000000000000" pitchFamily="2" charset="0"/>
              </a:rPr>
              <a:t>% Visitantes nuevos </a:t>
            </a:r>
          </a:p>
          <a:p>
            <a:pPr algn="just" defTabSz="457184"/>
            <a:r>
              <a:rPr lang="es-ES" sz="800" dirty="0">
                <a:solidFill>
                  <a:srgbClr val="323232"/>
                </a:solidFill>
                <a:latin typeface="Avenir 35" panose="00000400000000000000" pitchFamily="2" charset="0"/>
              </a:rPr>
              <a:t>Fuente de visitas: SEO (marca, no marca), tráfico directo, SEM, E-mail Marketing, etc..</a:t>
            </a:r>
          </a:p>
          <a:p>
            <a:pPr defTabSz="457184"/>
            <a:r>
              <a:rPr lang="es-ES" sz="800" dirty="0">
                <a:solidFill>
                  <a:srgbClr val="323232"/>
                </a:solidFill>
                <a:latin typeface="Avenir 35" panose="00000400000000000000" pitchFamily="2" charset="0"/>
              </a:rPr>
              <a:t>Categoría de visitantes (B2C, B2B, Easy Money Me)</a:t>
            </a:r>
          </a:p>
          <a:p>
            <a:pPr algn="just" defTabSz="457184"/>
            <a:r>
              <a:rPr lang="es-ES" sz="800" dirty="0">
                <a:solidFill>
                  <a:srgbClr val="323232"/>
                </a:solidFill>
                <a:latin typeface="Avenir 35" panose="00000400000000000000" pitchFamily="2" charset="0"/>
              </a:rPr>
              <a:t>% Rebotes</a:t>
            </a:r>
          </a:p>
          <a:p>
            <a:pPr algn="just" defTabSz="457184"/>
            <a:r>
              <a:rPr lang="es-ES" sz="800" dirty="0">
                <a:solidFill>
                  <a:srgbClr val="323232"/>
                </a:solidFill>
                <a:latin typeface="Avenir 35" panose="00000400000000000000" pitchFamily="2" charset="0"/>
              </a:rPr>
              <a:t>Páginas/ visitas</a:t>
            </a:r>
          </a:p>
        </p:txBody>
      </p:sp>
      <p:sp>
        <p:nvSpPr>
          <p:cNvPr id="57" name="Rectangle 11"/>
          <p:cNvSpPr/>
          <p:nvPr/>
        </p:nvSpPr>
        <p:spPr>
          <a:xfrm>
            <a:off x="5133248" y="2067531"/>
            <a:ext cx="2052000" cy="1440000"/>
          </a:xfrm>
          <a:prstGeom prst="rect">
            <a:avLst/>
          </a:prstGeom>
          <a:noFill/>
          <a:ln w="12700" cap="sq">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457184"/>
            <a:r>
              <a:rPr lang="es-ES" sz="800" b="1" dirty="0">
                <a:solidFill>
                  <a:srgbClr val="323232"/>
                </a:solidFill>
                <a:latin typeface="Avenir 35" panose="00000400000000000000" pitchFamily="2" charset="0"/>
              </a:rPr>
              <a:t>CAPTACIÓN  (Cross </a:t>
            </a:r>
            <a:r>
              <a:rPr lang="en-US" sz="800" b="1" dirty="0">
                <a:solidFill>
                  <a:srgbClr val="323232"/>
                </a:solidFill>
                <a:latin typeface="Avenir 35" panose="00000400000000000000" pitchFamily="2" charset="0"/>
              </a:rPr>
              <a:t>Selling)</a:t>
            </a:r>
          </a:p>
          <a:p>
            <a:pPr algn="just" defTabSz="457184"/>
            <a:r>
              <a:rPr lang="es-ES" sz="800" dirty="0">
                <a:solidFill>
                  <a:srgbClr val="323232"/>
                </a:solidFill>
                <a:latin typeface="Avenir 35" panose="00000400000000000000" pitchFamily="2" charset="0"/>
              </a:rPr>
              <a:t>Perfil creado</a:t>
            </a:r>
          </a:p>
          <a:p>
            <a:pPr algn="just" defTabSz="457184"/>
            <a:r>
              <a:rPr lang="es-ES" sz="800" dirty="0">
                <a:solidFill>
                  <a:srgbClr val="323232"/>
                </a:solidFill>
                <a:latin typeface="Avenir 35" panose="00000400000000000000" pitchFamily="2" charset="0"/>
              </a:rPr>
              <a:t>Login</a:t>
            </a:r>
          </a:p>
          <a:p>
            <a:pPr algn="just" defTabSz="457184"/>
            <a:r>
              <a:rPr lang="es-ES" sz="800" dirty="0">
                <a:solidFill>
                  <a:srgbClr val="323232"/>
                </a:solidFill>
                <a:latin typeface="Avenir 35" panose="00000400000000000000" pitchFamily="2" charset="0"/>
              </a:rPr>
              <a:t>Call me back</a:t>
            </a:r>
          </a:p>
        </p:txBody>
      </p:sp>
      <p:sp>
        <p:nvSpPr>
          <p:cNvPr id="58" name="Rectangle 27"/>
          <p:cNvSpPr/>
          <p:nvPr/>
        </p:nvSpPr>
        <p:spPr>
          <a:xfrm>
            <a:off x="2720752" y="2126297"/>
            <a:ext cx="1970189" cy="1424766"/>
          </a:xfrm>
          <a:prstGeom prst="rect">
            <a:avLst/>
          </a:prstGeom>
          <a:noFill/>
          <a:ln w="12700" cap="sq">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457184"/>
            <a:r>
              <a:rPr lang="es-ES" sz="800" b="1" dirty="0">
                <a:solidFill>
                  <a:srgbClr val="323232"/>
                </a:solidFill>
                <a:latin typeface="Avenir 35" panose="00000400000000000000" pitchFamily="2" charset="0"/>
              </a:rPr>
              <a:t>CAPTACIÓN &amp; REACTIVACIÓN</a:t>
            </a:r>
          </a:p>
          <a:p>
            <a:pPr lvl="0" algn="just" defTabSz="457184"/>
            <a:r>
              <a:rPr lang="es-ES" sz="800" dirty="0">
                <a:solidFill>
                  <a:srgbClr val="323232"/>
                </a:solidFill>
                <a:latin typeface="Avenir 35" panose="00000400000000000000" pitchFamily="2" charset="0"/>
              </a:rPr>
              <a:t>Conversiones totales</a:t>
            </a:r>
          </a:p>
          <a:p>
            <a:pPr lvl="0" algn="just" defTabSz="457184"/>
            <a:r>
              <a:rPr lang="es-ES" sz="800" dirty="0">
                <a:solidFill>
                  <a:srgbClr val="323232"/>
                </a:solidFill>
                <a:latin typeface="Avenir 35" panose="00000400000000000000" pitchFamily="2" charset="0"/>
              </a:rPr>
              <a:t>Ratio de Conversión</a:t>
            </a:r>
            <a:endParaRPr lang="en-US" sz="800" dirty="0">
              <a:solidFill>
                <a:srgbClr val="323232"/>
              </a:solidFill>
              <a:latin typeface="Avenir 35" panose="00000400000000000000" pitchFamily="2" charset="0"/>
            </a:endParaRPr>
          </a:p>
          <a:p>
            <a:pPr lvl="0" defTabSz="457184"/>
            <a:r>
              <a:rPr lang="es-ES" sz="800" dirty="0">
                <a:solidFill>
                  <a:srgbClr val="323232"/>
                </a:solidFill>
                <a:latin typeface="Avenir 35" panose="00000400000000000000" pitchFamily="2" charset="0"/>
              </a:rPr>
              <a:t>Formulario de contacto</a:t>
            </a:r>
            <a:endParaRPr lang="en-US" sz="800" dirty="0">
              <a:solidFill>
                <a:srgbClr val="323232"/>
              </a:solidFill>
              <a:latin typeface="Avenir 35" panose="00000400000000000000" pitchFamily="2" charset="0"/>
            </a:endParaRPr>
          </a:p>
          <a:p>
            <a:pPr algn="just" defTabSz="457184"/>
            <a:endParaRPr lang="es-ES" sz="800" dirty="0">
              <a:solidFill>
                <a:srgbClr val="323232"/>
              </a:solidFill>
              <a:latin typeface="Avenir 35" panose="00000400000000000000" pitchFamily="2" charset="0"/>
            </a:endParaRPr>
          </a:p>
        </p:txBody>
      </p:sp>
      <p:sp>
        <p:nvSpPr>
          <p:cNvPr id="59" name="Rectangle 30"/>
          <p:cNvSpPr/>
          <p:nvPr/>
        </p:nvSpPr>
        <p:spPr>
          <a:xfrm>
            <a:off x="7041232" y="2138911"/>
            <a:ext cx="2160056" cy="1424766"/>
          </a:xfrm>
          <a:prstGeom prst="rect">
            <a:avLst/>
          </a:prstGeom>
          <a:noFill/>
          <a:ln w="12700" cap="sq">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184"/>
            <a:r>
              <a:rPr lang="en-US" sz="800" b="1" dirty="0">
                <a:solidFill>
                  <a:srgbClr val="323232"/>
                </a:solidFill>
                <a:latin typeface="Avenir 35" panose="00000400000000000000" pitchFamily="2" charset="0"/>
              </a:rPr>
              <a:t>FIDELIZACIÓN</a:t>
            </a:r>
          </a:p>
          <a:p>
            <a:pPr lvl="0" defTabSz="457184"/>
            <a:r>
              <a:rPr lang="es-ES" sz="800" dirty="0">
                <a:solidFill>
                  <a:srgbClr val="323232"/>
                </a:solidFill>
                <a:latin typeface="Avenir 35" panose="00000400000000000000" pitchFamily="2" charset="0"/>
              </a:rPr>
              <a:t>Aplicación directa: Visita o descarga Aplicación Easy Money Me or Sales Easy Money</a:t>
            </a:r>
          </a:p>
          <a:p>
            <a:pPr lvl="0" defTabSz="457184"/>
            <a:r>
              <a:rPr lang="es-ES" sz="800" dirty="0">
                <a:solidFill>
                  <a:srgbClr val="323232"/>
                </a:solidFill>
                <a:latin typeface="Avenir 35" panose="00000400000000000000" pitchFamily="2" charset="0"/>
              </a:rPr>
              <a:t>Configuraciones/ Cita</a:t>
            </a:r>
          </a:p>
          <a:p>
            <a:pPr lvl="0" defTabSz="457184">
              <a:defRPr/>
            </a:pPr>
            <a:r>
              <a:rPr lang="es-ES" sz="800" dirty="0">
                <a:solidFill>
                  <a:srgbClr val="323232"/>
                </a:solidFill>
                <a:latin typeface="Avenir 35" panose="00000400000000000000" pitchFamily="2" charset="0"/>
              </a:rPr>
              <a:t>Aplicación directa a ofertas (por línea de negocio)</a:t>
            </a:r>
          </a:p>
          <a:p>
            <a:pPr lvl="0" defTabSz="457184">
              <a:defRPr/>
            </a:pPr>
            <a:r>
              <a:rPr lang="es-ES" sz="800" dirty="0">
                <a:solidFill>
                  <a:srgbClr val="323232"/>
                </a:solidFill>
                <a:latin typeface="Avenir 35" panose="00000400000000000000" pitchFamily="2" charset="0"/>
              </a:rPr>
              <a:t>Envíos de datos de vehículo</a:t>
            </a:r>
          </a:p>
          <a:p>
            <a:pPr lvl="0" defTabSz="457184">
              <a:defRPr/>
            </a:pPr>
            <a:r>
              <a:rPr lang="es-ES" sz="800" dirty="0">
                <a:solidFill>
                  <a:srgbClr val="323232"/>
                </a:solidFill>
                <a:latin typeface="Avenir 35" panose="00000400000000000000" pitchFamily="2" charset="0"/>
              </a:rPr>
              <a:t>Suscripción a la newsletter</a:t>
            </a:r>
          </a:p>
        </p:txBody>
      </p:sp>
      <p:sp>
        <p:nvSpPr>
          <p:cNvPr id="60" name="AutoShape 4"/>
          <p:cNvSpPr>
            <a:spLocks noChangeArrowheads="1"/>
          </p:cNvSpPr>
          <p:nvPr/>
        </p:nvSpPr>
        <p:spPr bwMode="auto">
          <a:xfrm>
            <a:off x="632527" y="832079"/>
            <a:ext cx="8660261" cy="432048"/>
          </a:xfrm>
          <a:prstGeom prst="roundRect">
            <a:avLst>
              <a:gd name="adj" fmla="val 12500"/>
            </a:avLst>
          </a:prstGeom>
        </p:spPr>
        <p:txBody>
          <a:bodyPr lIns="92583" tIns="46292" rIns="92583" bIns="46292" anchor="ctr">
            <a:noAutofit/>
          </a:bodyPr>
          <a:lstStyle/>
          <a:p>
            <a:pPr algn="ctr"/>
            <a:r>
              <a:rPr lang="es-ES" sz="1000" dirty="0">
                <a:solidFill>
                  <a:srgbClr val="505050"/>
                </a:solidFill>
                <a:latin typeface="Avenir 35" panose="00000400000000000000" pitchFamily="2" charset="0"/>
                <a:cs typeface="Arial" panose="020B0604020202020204" pitchFamily="34" charset="0"/>
              </a:rPr>
              <a:t>Para poder evolucionar debemos medir el impacto de las acciones que conforman nuestra Estrategia CRM. Una vez definido el proceso de monitorización, analizamos el contenido desde tres puntos de vista: Analítica Web, Social CRM y Negocio.</a:t>
            </a:r>
          </a:p>
        </p:txBody>
      </p:sp>
      <p:grpSp>
        <p:nvGrpSpPr>
          <p:cNvPr id="61" name="60 Grupo"/>
          <p:cNvGrpSpPr>
            <a:grpSpLocks noChangeAspect="1"/>
          </p:cNvGrpSpPr>
          <p:nvPr/>
        </p:nvGrpSpPr>
        <p:grpSpPr>
          <a:xfrm>
            <a:off x="7715654" y="1347503"/>
            <a:ext cx="366528" cy="360000"/>
            <a:chOff x="460846" y="4293096"/>
            <a:chExt cx="638482" cy="627109"/>
          </a:xfrm>
        </p:grpSpPr>
        <p:sp>
          <p:nvSpPr>
            <p:cNvPr id="62" name="61 Elipse"/>
            <p:cNvSpPr/>
            <p:nvPr/>
          </p:nvSpPr>
          <p:spPr>
            <a:xfrm>
              <a:off x="460846" y="4293096"/>
              <a:ext cx="638482" cy="607226"/>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63" name="Picture 2" descr="https://cdn0.iconfinder.com/data/icons/shipping-icons/100/15-256.png"/>
            <p:cNvPicPr>
              <a:picLocks noChangeAspect="1" noChangeArrowheads="1"/>
            </p:cNvPicPr>
            <p:nvPr/>
          </p:nvPicPr>
          <p:blipFill>
            <a:blip r:embed="rId7" cstate="print">
              <a:biLevel thresh="25000"/>
              <a:extLst>
                <a:ext uri="{28A0092B-C50C-407E-A947-70E740481C1C}">
                  <a14:useLocalDpi xmlns:a14="http://schemas.microsoft.com/office/drawing/2010/main" val="0"/>
                </a:ext>
              </a:extLst>
            </a:blip>
            <a:srcRect/>
            <a:stretch>
              <a:fillRect/>
            </a:stretch>
          </p:blipFill>
          <p:spPr bwMode="auto">
            <a:xfrm>
              <a:off x="487202" y="4326160"/>
              <a:ext cx="594046" cy="5940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4" name="63 Grupo"/>
          <p:cNvGrpSpPr>
            <a:grpSpLocks noChangeAspect="1"/>
          </p:cNvGrpSpPr>
          <p:nvPr/>
        </p:nvGrpSpPr>
        <p:grpSpPr>
          <a:xfrm>
            <a:off x="8225195" y="1347499"/>
            <a:ext cx="378529" cy="360000"/>
            <a:chOff x="442620" y="4900973"/>
            <a:chExt cx="638481" cy="607227"/>
          </a:xfrm>
        </p:grpSpPr>
        <p:sp>
          <p:nvSpPr>
            <p:cNvPr id="65" name="64 Elipse"/>
            <p:cNvSpPr/>
            <p:nvPr/>
          </p:nvSpPr>
          <p:spPr>
            <a:xfrm>
              <a:off x="442620" y="4900973"/>
              <a:ext cx="638481"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66" name="Picture 27" descr="http://flaticons.net/icons/Transportation/Van.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46086" y="4979379"/>
              <a:ext cx="460901" cy="4609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7" name="66 Grupo"/>
          <p:cNvGrpSpPr>
            <a:grpSpLocks noChangeAspect="1"/>
          </p:cNvGrpSpPr>
          <p:nvPr/>
        </p:nvGrpSpPr>
        <p:grpSpPr>
          <a:xfrm>
            <a:off x="7198244" y="1347499"/>
            <a:ext cx="378528" cy="360000"/>
            <a:chOff x="442620" y="5518761"/>
            <a:chExt cx="638481" cy="607227"/>
          </a:xfrm>
        </p:grpSpPr>
        <p:sp>
          <p:nvSpPr>
            <p:cNvPr id="68" name="67 Elipse"/>
            <p:cNvSpPr/>
            <p:nvPr/>
          </p:nvSpPr>
          <p:spPr>
            <a:xfrm>
              <a:off x="442620" y="5518761"/>
              <a:ext cx="638481"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69" name="Picture 25" descr="http://www.iconsdb.com/icons/preview/white/car-xxl.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46086" y="5602320"/>
              <a:ext cx="418968" cy="4189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0" name="69 Grupo"/>
          <p:cNvGrpSpPr>
            <a:grpSpLocks noChangeAspect="1"/>
          </p:cNvGrpSpPr>
          <p:nvPr/>
        </p:nvGrpSpPr>
        <p:grpSpPr>
          <a:xfrm>
            <a:off x="8696914" y="1347499"/>
            <a:ext cx="504056" cy="360000"/>
            <a:chOff x="382713" y="5754222"/>
            <a:chExt cx="850214" cy="607227"/>
          </a:xfrm>
        </p:grpSpPr>
        <p:sp>
          <p:nvSpPr>
            <p:cNvPr id="71" name="70 Elipse"/>
            <p:cNvSpPr/>
            <p:nvPr/>
          </p:nvSpPr>
          <p:spPr>
            <a:xfrm>
              <a:off x="490759" y="5754222"/>
              <a:ext cx="638482"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00" dirty="0">
                <a:solidFill>
                  <a:prstClr val="white"/>
                </a:solidFill>
              </a:endParaRPr>
            </a:p>
          </p:txBody>
        </p:sp>
        <p:sp>
          <p:nvSpPr>
            <p:cNvPr id="72" name="71 CuadroTexto"/>
            <p:cNvSpPr txBox="1"/>
            <p:nvPr/>
          </p:nvSpPr>
          <p:spPr>
            <a:xfrm>
              <a:off x="382713" y="5892865"/>
              <a:ext cx="850214" cy="361418"/>
            </a:xfrm>
            <a:prstGeom prst="rect">
              <a:avLst/>
            </a:prstGeom>
            <a:noFill/>
          </p:spPr>
          <p:txBody>
            <a:bodyPr wrap="square" lIns="90281" tIns="45139" rIns="90281" bIns="45139" rtlCol="0">
              <a:spAutoFit/>
            </a:bodyPr>
            <a:lstStyle/>
            <a:p>
              <a:pPr algn="ctr" defTabSz="902813"/>
              <a:r>
                <a:rPr lang="en-GB" sz="800" spc="-49" dirty="0">
                  <a:solidFill>
                    <a:schemeClr val="bg1"/>
                  </a:solidFill>
                  <a:latin typeface="Avenir 65" panose="02000600000000000000" pitchFamily="2" charset="0"/>
                  <a:cs typeface="Arial" pitchFamily="34" charset="0"/>
                </a:rPr>
                <a:t>MBFN</a:t>
              </a:r>
            </a:p>
          </p:txBody>
        </p:sp>
      </p:grpSp>
      <p:sp>
        <p:nvSpPr>
          <p:cNvPr id="78"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25</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1114957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Nuestra Visión</a:t>
            </a:r>
          </a:p>
          <a:p>
            <a:endParaRPr lang="en-US" dirty="0">
              <a:solidFill>
                <a:srgbClr val="323232"/>
              </a:solidFill>
              <a:latin typeface="Avenir 35" panose="00000400000000000000" pitchFamily="2" charset="0"/>
            </a:endParaRP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EVOLUCIONAR</a:t>
            </a:r>
            <a:endParaRPr lang="es-ES" sz="1400" b="1" dirty="0">
              <a:solidFill>
                <a:srgbClr val="323232"/>
              </a:solidFill>
              <a:latin typeface="Avenir 35" panose="00000400000000000000" pitchFamily="2" charset="0"/>
            </a:endParaRPr>
          </a:p>
        </p:txBody>
      </p:sp>
      <p:sp>
        <p:nvSpPr>
          <p:cNvPr id="3" name="AutoShape 4" descr="Resultado de imagen de car dealer network"/>
          <p:cNvSpPr>
            <a:spLocks noChangeAspect="1" noChangeArrowheads="1"/>
          </p:cNvSpPr>
          <p:nvPr/>
        </p:nvSpPr>
        <p:spPr bwMode="auto">
          <a:xfrm>
            <a:off x="155575" y="-13652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28" name="34 Pentágono"/>
          <p:cNvSpPr/>
          <p:nvPr>
            <p:custDataLst>
              <p:tags r:id="rId1"/>
            </p:custDataLst>
          </p:nvPr>
        </p:nvSpPr>
        <p:spPr>
          <a:xfrm>
            <a:off x="2666352" y="1898412"/>
            <a:ext cx="3304282" cy="474662"/>
          </a:xfrm>
          <a:prstGeom prst="homePlate">
            <a:avLst/>
          </a:prstGeom>
          <a:solidFill>
            <a:srgbClr val="3CB2C3"/>
          </a:solidFill>
          <a:ln w="25400" cap="flat" cmpd="sng" algn="ctr">
            <a:noFill/>
            <a:prstDash val="solid"/>
          </a:ln>
          <a:effectLst/>
        </p:spPr>
        <p:txBody>
          <a:bodyPr rtlCol="0" anchor="ctr"/>
          <a:lstStyle/>
          <a:p>
            <a:pPr algn="ctr"/>
            <a:r>
              <a:rPr lang="es-ES" sz="1400" kern="0" dirty="0">
                <a:solidFill>
                  <a:schemeClr val="bg1"/>
                </a:solidFill>
                <a:latin typeface="Avenir 35" panose="00000400000000000000" pitchFamily="2" charset="0"/>
              </a:rPr>
              <a:t>Oportunidad</a:t>
            </a:r>
          </a:p>
        </p:txBody>
      </p:sp>
      <p:sp>
        <p:nvSpPr>
          <p:cNvPr id="29" name="39 Cheurón"/>
          <p:cNvSpPr/>
          <p:nvPr>
            <p:custDataLst>
              <p:tags r:id="rId2"/>
            </p:custDataLst>
          </p:nvPr>
        </p:nvSpPr>
        <p:spPr>
          <a:xfrm>
            <a:off x="6078368" y="1898412"/>
            <a:ext cx="3337126" cy="474662"/>
          </a:xfrm>
          <a:prstGeom prst="chevron">
            <a:avLst/>
          </a:prstGeom>
          <a:solidFill>
            <a:srgbClr val="3CB2C3"/>
          </a:solidFill>
          <a:ln w="25400" cap="flat" cmpd="sng" algn="ctr">
            <a:noFill/>
            <a:prstDash val="solid"/>
          </a:ln>
          <a:effectLst/>
        </p:spPr>
        <p:txBody>
          <a:bodyPr rtlCol="0" anchor="ctr"/>
          <a:lstStyle/>
          <a:p>
            <a:pPr algn="ctr"/>
            <a:r>
              <a:rPr lang="es-ES" sz="1400" kern="0" dirty="0">
                <a:solidFill>
                  <a:schemeClr val="bg1"/>
                </a:solidFill>
                <a:latin typeface="Avenir 35" panose="00000400000000000000" pitchFamily="2" charset="0"/>
              </a:rPr>
              <a:t>Retorno</a:t>
            </a:r>
          </a:p>
        </p:txBody>
      </p:sp>
      <p:sp>
        <p:nvSpPr>
          <p:cNvPr id="30" name="41 Pentágono"/>
          <p:cNvSpPr/>
          <p:nvPr/>
        </p:nvSpPr>
        <p:spPr>
          <a:xfrm>
            <a:off x="632522" y="1898412"/>
            <a:ext cx="1728185" cy="474662"/>
          </a:xfrm>
          <a:prstGeom prst="homePlate">
            <a:avLst>
              <a:gd name="adj" fmla="val 27954"/>
            </a:avLst>
          </a:prstGeom>
          <a:solidFill>
            <a:srgbClr val="3CB2C3"/>
          </a:solidFill>
          <a:ln w="25400" cap="flat" cmpd="sng" algn="ctr">
            <a:noFill/>
            <a:prstDash val="solid"/>
          </a:ln>
          <a:effectLst/>
        </p:spPr>
        <p:txBody>
          <a:bodyPr rtlCol="0" anchor="ctr"/>
          <a:lstStyle/>
          <a:p>
            <a:pPr algn="ctr"/>
            <a:r>
              <a:rPr lang="es-ES_tradnl" sz="1400" kern="0" dirty="0">
                <a:solidFill>
                  <a:schemeClr val="bg1"/>
                </a:solidFill>
                <a:latin typeface="Avenir 35" panose="00000400000000000000" pitchFamily="2" charset="0"/>
              </a:rPr>
              <a:t>Objetivo</a:t>
            </a:r>
            <a:endParaRPr lang="es-ES" sz="1400" kern="0" dirty="0">
              <a:solidFill>
                <a:schemeClr val="bg1"/>
              </a:solidFill>
              <a:latin typeface="Avenir 35" panose="00000400000000000000" pitchFamily="2" charset="0"/>
            </a:endParaRPr>
          </a:p>
        </p:txBody>
      </p:sp>
      <p:sp>
        <p:nvSpPr>
          <p:cNvPr id="32" name="31 Rectángulo"/>
          <p:cNvSpPr/>
          <p:nvPr/>
        </p:nvSpPr>
        <p:spPr>
          <a:xfrm>
            <a:off x="2666353" y="2533538"/>
            <a:ext cx="3304280" cy="843236"/>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s-ES" sz="1000" dirty="0">
                <a:solidFill>
                  <a:schemeClr val="bg1">
                    <a:lumMod val="50000"/>
                  </a:schemeClr>
                </a:solidFill>
                <a:latin typeface="Avenir 35" panose="00000400000000000000" pitchFamily="2" charset="0"/>
              </a:rPr>
              <a:t>% Depuración = Contactados / Segmentación</a:t>
            </a:r>
          </a:p>
          <a:p>
            <a:r>
              <a:rPr lang="es-ES" sz="1000" dirty="0">
                <a:solidFill>
                  <a:schemeClr val="bg1">
                    <a:lumMod val="50000"/>
                  </a:schemeClr>
                </a:solidFill>
                <a:latin typeface="Avenir 35" panose="00000400000000000000" pitchFamily="2" charset="0"/>
              </a:rPr>
              <a:t>% Oportunidades = Ofertas / Contactados</a:t>
            </a:r>
          </a:p>
          <a:p>
            <a:r>
              <a:rPr lang="es-ES" sz="1000" dirty="0">
                <a:solidFill>
                  <a:schemeClr val="bg1">
                    <a:lumMod val="50000"/>
                  </a:schemeClr>
                </a:solidFill>
                <a:latin typeface="Avenir 35" panose="00000400000000000000" pitchFamily="2" charset="0"/>
              </a:rPr>
              <a:t>% Contactos Directos = Test Drive / Ofertas</a:t>
            </a:r>
          </a:p>
          <a:p>
            <a:r>
              <a:rPr lang="es-ES" sz="1000" dirty="0">
                <a:solidFill>
                  <a:schemeClr val="bg1">
                    <a:lumMod val="50000"/>
                  </a:schemeClr>
                </a:solidFill>
                <a:latin typeface="Avenir 35" panose="00000400000000000000" pitchFamily="2" charset="0"/>
              </a:rPr>
              <a:t>% Cierre = Pedidos / Ofertas</a:t>
            </a:r>
          </a:p>
          <a:p>
            <a:r>
              <a:rPr lang="es-ES" sz="1000" dirty="0">
                <a:solidFill>
                  <a:schemeClr val="bg1">
                    <a:lumMod val="50000"/>
                  </a:schemeClr>
                </a:solidFill>
                <a:latin typeface="Avenir 35" panose="00000400000000000000" pitchFamily="2" charset="0"/>
              </a:rPr>
              <a:t>Fuga = Vta. Pérdidas / Ofertas</a:t>
            </a:r>
          </a:p>
        </p:txBody>
      </p:sp>
      <p:sp>
        <p:nvSpPr>
          <p:cNvPr id="37" name="41 Pentágono"/>
          <p:cNvSpPr/>
          <p:nvPr/>
        </p:nvSpPr>
        <p:spPr>
          <a:xfrm>
            <a:off x="632521" y="2533538"/>
            <a:ext cx="1728185" cy="843235"/>
          </a:xfrm>
          <a:prstGeom prst="rect">
            <a:avLst/>
          </a:prstGeom>
          <a:solidFill>
            <a:srgbClr val="3CB2C3"/>
          </a:solidFill>
          <a:ln w="25400" cap="flat" cmpd="sng" algn="ctr">
            <a:noFill/>
            <a:prstDash val="solid"/>
          </a:ln>
          <a:effectLst/>
        </p:spPr>
        <p:txBody>
          <a:bodyPr rtlCol="0" anchor="ctr"/>
          <a:lstStyle/>
          <a:p>
            <a:pPr algn="ctr"/>
            <a:r>
              <a:rPr lang="es-ES_tradnl" sz="1400" kern="0" dirty="0">
                <a:solidFill>
                  <a:schemeClr val="bg1"/>
                </a:solidFill>
                <a:latin typeface="Avenir 35" panose="00000400000000000000" pitchFamily="2" charset="0"/>
              </a:rPr>
              <a:t>Ventas</a:t>
            </a:r>
            <a:endParaRPr lang="es-ES" sz="1400" kern="0" dirty="0">
              <a:solidFill>
                <a:schemeClr val="bg1"/>
              </a:solidFill>
              <a:latin typeface="Avenir 35" panose="00000400000000000000" pitchFamily="2" charset="0"/>
            </a:endParaRPr>
          </a:p>
        </p:txBody>
      </p:sp>
      <p:sp>
        <p:nvSpPr>
          <p:cNvPr id="50" name="Rectangle 81"/>
          <p:cNvSpPr/>
          <p:nvPr>
            <p:custDataLst>
              <p:tags r:id="rId3"/>
            </p:custDataLst>
          </p:nvPr>
        </p:nvSpPr>
        <p:spPr>
          <a:xfrm>
            <a:off x="622940" y="1522346"/>
            <a:ext cx="8794557" cy="255791"/>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65" panose="02000600000000000000" pitchFamily="2" charset="0"/>
              </a:rPr>
              <a:t>ANÁLISIS  DE negocio</a:t>
            </a:r>
          </a:p>
        </p:txBody>
      </p:sp>
      <p:sp>
        <p:nvSpPr>
          <p:cNvPr id="84" name="83 Rectángulo"/>
          <p:cNvSpPr/>
          <p:nvPr/>
        </p:nvSpPr>
        <p:spPr>
          <a:xfrm>
            <a:off x="6105128" y="2483526"/>
            <a:ext cx="3349143" cy="893247"/>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s-ES_tradnl" sz="1000" dirty="0">
                <a:solidFill>
                  <a:schemeClr val="bg1">
                    <a:lumMod val="50000"/>
                  </a:schemeClr>
                </a:solidFill>
                <a:latin typeface="Avenir 35" panose="00000400000000000000" pitchFamily="2" charset="0"/>
              </a:rPr>
              <a:t>Pedidos Generados</a:t>
            </a:r>
          </a:p>
          <a:p>
            <a:r>
              <a:rPr lang="es-ES_tradnl" sz="1000" dirty="0">
                <a:solidFill>
                  <a:schemeClr val="bg1">
                    <a:lumMod val="50000"/>
                  </a:schemeClr>
                </a:solidFill>
                <a:latin typeface="Avenir 35" panose="00000400000000000000" pitchFamily="2" charset="0"/>
              </a:rPr>
              <a:t>Facturación de modelos obtenidos por la campaña</a:t>
            </a:r>
          </a:p>
          <a:p>
            <a:r>
              <a:rPr lang="es-ES_tradnl" sz="1000" dirty="0">
                <a:solidFill>
                  <a:schemeClr val="bg1">
                    <a:lumMod val="50000"/>
                  </a:schemeClr>
                </a:solidFill>
                <a:latin typeface="Avenir 35" panose="00000400000000000000" pitchFamily="2" charset="0"/>
              </a:rPr>
              <a:t>Facturación de Equipamientos &amp; Accesorios</a:t>
            </a:r>
          </a:p>
          <a:p>
            <a:r>
              <a:rPr lang="es-ES_tradnl" sz="1000" dirty="0">
                <a:solidFill>
                  <a:schemeClr val="bg1">
                    <a:lumMod val="50000"/>
                  </a:schemeClr>
                </a:solidFill>
                <a:latin typeface="Avenir 35" panose="00000400000000000000" pitchFamily="2" charset="0"/>
              </a:rPr>
              <a:t>Pedidos clientes Reactivados por Campaña</a:t>
            </a:r>
          </a:p>
          <a:p>
            <a:r>
              <a:rPr lang="es-ES_tradnl" sz="1000" dirty="0">
                <a:solidFill>
                  <a:schemeClr val="bg1">
                    <a:lumMod val="50000"/>
                  </a:schemeClr>
                </a:solidFill>
                <a:latin typeface="Avenir 35" panose="00000400000000000000" pitchFamily="2" charset="0"/>
              </a:rPr>
              <a:t>Obtención de rapeles de Calidad</a:t>
            </a:r>
          </a:p>
        </p:txBody>
      </p:sp>
      <p:sp>
        <p:nvSpPr>
          <p:cNvPr id="87" name="86 Rectángulo"/>
          <p:cNvSpPr/>
          <p:nvPr/>
        </p:nvSpPr>
        <p:spPr>
          <a:xfrm>
            <a:off x="2666359" y="3529174"/>
            <a:ext cx="3304280" cy="843236"/>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s-ES" sz="1000" dirty="0">
                <a:solidFill>
                  <a:schemeClr val="bg1">
                    <a:lumMod val="50000"/>
                  </a:schemeClr>
                </a:solidFill>
                <a:latin typeface="Avenir 35" panose="00000400000000000000" pitchFamily="2" charset="0"/>
              </a:rPr>
              <a:t>% Depuración = Contactados / Segmentación</a:t>
            </a:r>
          </a:p>
          <a:p>
            <a:r>
              <a:rPr lang="es-ES" sz="1000" dirty="0">
                <a:solidFill>
                  <a:schemeClr val="bg1">
                    <a:lumMod val="50000"/>
                  </a:schemeClr>
                </a:solidFill>
                <a:latin typeface="Avenir 35" panose="00000400000000000000" pitchFamily="2" charset="0"/>
              </a:rPr>
              <a:t>% Oportunidades = Citas / Contactados</a:t>
            </a:r>
          </a:p>
          <a:p>
            <a:r>
              <a:rPr lang="es-ES" sz="1000" dirty="0">
                <a:solidFill>
                  <a:schemeClr val="bg1">
                    <a:lumMod val="50000"/>
                  </a:schemeClr>
                </a:solidFill>
                <a:latin typeface="Avenir 35" panose="00000400000000000000" pitchFamily="2" charset="0"/>
              </a:rPr>
              <a:t>% Oportunidades = Presupuestos / Contactados</a:t>
            </a:r>
          </a:p>
          <a:p>
            <a:r>
              <a:rPr lang="es-ES" sz="1000" dirty="0">
                <a:solidFill>
                  <a:schemeClr val="bg1">
                    <a:lumMod val="50000"/>
                  </a:schemeClr>
                </a:solidFill>
                <a:latin typeface="Avenir 35" panose="00000400000000000000" pitchFamily="2" charset="0"/>
              </a:rPr>
              <a:t>% Cierre = OR Generadas / Contactados</a:t>
            </a:r>
          </a:p>
          <a:p>
            <a:r>
              <a:rPr lang="es-ES" sz="1000" dirty="0">
                <a:solidFill>
                  <a:schemeClr val="bg1">
                    <a:lumMod val="50000"/>
                  </a:schemeClr>
                </a:solidFill>
                <a:latin typeface="Avenir 35" panose="00000400000000000000" pitchFamily="2" charset="0"/>
              </a:rPr>
              <a:t>% Satisfacción Clientes = Valoración clientes / Contact </a:t>
            </a:r>
          </a:p>
        </p:txBody>
      </p:sp>
      <p:sp>
        <p:nvSpPr>
          <p:cNvPr id="88" name="41 Pentágono"/>
          <p:cNvSpPr/>
          <p:nvPr/>
        </p:nvSpPr>
        <p:spPr>
          <a:xfrm>
            <a:off x="632527" y="3529174"/>
            <a:ext cx="1728185" cy="843235"/>
          </a:xfrm>
          <a:prstGeom prst="rect">
            <a:avLst/>
          </a:prstGeom>
          <a:solidFill>
            <a:srgbClr val="3CB2C3"/>
          </a:solidFill>
          <a:ln w="25400" cap="flat" cmpd="sng" algn="ctr">
            <a:noFill/>
            <a:prstDash val="solid"/>
          </a:ln>
          <a:effectLst/>
        </p:spPr>
        <p:txBody>
          <a:bodyPr rtlCol="0" anchor="ctr"/>
          <a:lstStyle/>
          <a:p>
            <a:pPr algn="ctr"/>
            <a:r>
              <a:rPr lang="es-ES_tradnl" sz="1400" kern="0" dirty="0">
                <a:solidFill>
                  <a:schemeClr val="bg1"/>
                </a:solidFill>
                <a:latin typeface="Avenir 35" panose="00000400000000000000" pitchFamily="2" charset="0"/>
              </a:rPr>
              <a:t>Posventa</a:t>
            </a:r>
            <a:endParaRPr lang="es-ES" sz="1400" kern="0" dirty="0">
              <a:solidFill>
                <a:schemeClr val="bg1"/>
              </a:solidFill>
              <a:latin typeface="Avenir 35" panose="00000400000000000000" pitchFamily="2" charset="0"/>
            </a:endParaRPr>
          </a:p>
        </p:txBody>
      </p:sp>
      <p:sp>
        <p:nvSpPr>
          <p:cNvPr id="89" name="88 Rectángulo"/>
          <p:cNvSpPr/>
          <p:nvPr/>
        </p:nvSpPr>
        <p:spPr>
          <a:xfrm>
            <a:off x="6105134" y="3479162"/>
            <a:ext cx="3349143" cy="893247"/>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s-ES_tradnl" sz="1000" dirty="0">
                <a:solidFill>
                  <a:schemeClr val="bg1">
                    <a:lumMod val="50000"/>
                  </a:schemeClr>
                </a:solidFill>
                <a:latin typeface="Avenir 35" panose="00000400000000000000" pitchFamily="2" charset="0"/>
              </a:rPr>
              <a:t>Facturación asociada a Recambios</a:t>
            </a:r>
          </a:p>
          <a:p>
            <a:r>
              <a:rPr lang="es-ES_tradnl" sz="1000" dirty="0">
                <a:solidFill>
                  <a:schemeClr val="bg1">
                    <a:lumMod val="50000"/>
                  </a:schemeClr>
                </a:solidFill>
                <a:latin typeface="Avenir 35" panose="00000400000000000000" pitchFamily="2" charset="0"/>
              </a:rPr>
              <a:t>Facturación asociada a MO</a:t>
            </a:r>
          </a:p>
          <a:p>
            <a:r>
              <a:rPr lang="es-ES_tradnl" sz="1000" dirty="0">
                <a:solidFill>
                  <a:schemeClr val="bg1">
                    <a:lumMod val="50000"/>
                  </a:schemeClr>
                </a:solidFill>
                <a:latin typeface="Avenir 35" panose="00000400000000000000" pitchFamily="2" charset="0"/>
              </a:rPr>
              <a:t>Facturación atribuible a la campaña</a:t>
            </a:r>
          </a:p>
          <a:p>
            <a:r>
              <a:rPr lang="es-ES_tradnl" sz="1000" dirty="0">
                <a:solidFill>
                  <a:schemeClr val="bg1">
                    <a:lumMod val="50000"/>
                  </a:schemeClr>
                </a:solidFill>
                <a:latin typeface="Avenir 35" panose="00000400000000000000" pitchFamily="2" charset="0"/>
              </a:rPr>
              <a:t>Cross </a:t>
            </a:r>
            <a:r>
              <a:rPr lang="en-US" sz="1000" dirty="0">
                <a:solidFill>
                  <a:schemeClr val="bg1">
                    <a:lumMod val="50000"/>
                  </a:schemeClr>
                </a:solidFill>
                <a:latin typeface="Avenir 35" panose="00000400000000000000" pitchFamily="2" charset="0"/>
              </a:rPr>
              <a:t>Selling </a:t>
            </a:r>
            <a:endParaRPr lang="es-ES_tradnl" sz="1000" dirty="0">
              <a:solidFill>
                <a:schemeClr val="bg1">
                  <a:lumMod val="50000"/>
                </a:schemeClr>
              </a:solidFill>
              <a:latin typeface="Avenir 35" panose="00000400000000000000" pitchFamily="2" charset="0"/>
            </a:endParaRPr>
          </a:p>
          <a:p>
            <a:r>
              <a:rPr lang="es-ES_tradnl" sz="1000" dirty="0">
                <a:solidFill>
                  <a:schemeClr val="bg1">
                    <a:lumMod val="50000"/>
                  </a:schemeClr>
                </a:solidFill>
                <a:latin typeface="Avenir 35" panose="00000400000000000000" pitchFamily="2" charset="0"/>
              </a:rPr>
              <a:t>Obtención de rapeles de Calidad</a:t>
            </a:r>
          </a:p>
        </p:txBody>
      </p:sp>
      <p:sp>
        <p:nvSpPr>
          <p:cNvPr id="90" name="89 Rectángulo"/>
          <p:cNvSpPr/>
          <p:nvPr/>
        </p:nvSpPr>
        <p:spPr>
          <a:xfrm>
            <a:off x="2653526" y="4524810"/>
            <a:ext cx="3304280" cy="843236"/>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s-ES" sz="1000" dirty="0">
                <a:solidFill>
                  <a:schemeClr val="bg1">
                    <a:lumMod val="50000"/>
                  </a:schemeClr>
                </a:solidFill>
                <a:latin typeface="Avenir 35" panose="00000400000000000000" pitchFamily="2" charset="0"/>
              </a:rPr>
              <a:t>% Ampliaciones de Garantía = Contratos / Pedidos</a:t>
            </a:r>
          </a:p>
          <a:p>
            <a:r>
              <a:rPr lang="es-ES" sz="1000" dirty="0">
                <a:solidFill>
                  <a:schemeClr val="bg1">
                    <a:lumMod val="50000"/>
                  </a:schemeClr>
                </a:solidFill>
                <a:latin typeface="Avenir 35" panose="00000400000000000000" pitchFamily="2" charset="0"/>
              </a:rPr>
              <a:t>% Contratos de Mantenimiento = Contratos / Pedidos</a:t>
            </a:r>
          </a:p>
          <a:p>
            <a:r>
              <a:rPr lang="es-ES" sz="1000" dirty="0">
                <a:solidFill>
                  <a:schemeClr val="bg1">
                    <a:lumMod val="50000"/>
                  </a:schemeClr>
                </a:solidFill>
                <a:latin typeface="Avenir 35" panose="00000400000000000000" pitchFamily="2" charset="0"/>
              </a:rPr>
              <a:t>% Financiación propia = Financiación Tradicional / Ped</a:t>
            </a:r>
          </a:p>
          <a:p>
            <a:r>
              <a:rPr lang="es-ES" sz="1000" dirty="0">
                <a:solidFill>
                  <a:schemeClr val="bg1">
                    <a:lumMod val="50000"/>
                  </a:schemeClr>
                </a:solidFill>
                <a:latin typeface="Avenir 35" panose="00000400000000000000" pitchFamily="2" charset="0"/>
              </a:rPr>
              <a:t>% Renting  propio = Operaciones renting / V. Empresa</a:t>
            </a:r>
          </a:p>
          <a:p>
            <a:r>
              <a:rPr lang="es-ES" sz="1000" dirty="0">
                <a:solidFill>
                  <a:schemeClr val="bg1">
                    <a:lumMod val="50000"/>
                  </a:schemeClr>
                </a:solidFill>
                <a:latin typeface="Avenir 35" panose="00000400000000000000" pitchFamily="2" charset="0"/>
              </a:rPr>
              <a:t>% Renting Flexible =  Operación R. Flex  / V. Empresa</a:t>
            </a:r>
          </a:p>
        </p:txBody>
      </p:sp>
      <p:sp>
        <p:nvSpPr>
          <p:cNvPr id="91" name="41 Pentágono"/>
          <p:cNvSpPr/>
          <p:nvPr/>
        </p:nvSpPr>
        <p:spPr>
          <a:xfrm>
            <a:off x="619694" y="4524810"/>
            <a:ext cx="1728185" cy="843235"/>
          </a:xfrm>
          <a:prstGeom prst="rect">
            <a:avLst/>
          </a:prstGeom>
          <a:solidFill>
            <a:srgbClr val="3CB2C3"/>
          </a:solidFill>
          <a:ln w="25400" cap="flat" cmpd="sng" algn="ctr">
            <a:noFill/>
            <a:prstDash val="solid"/>
          </a:ln>
          <a:effectLst/>
        </p:spPr>
        <p:txBody>
          <a:bodyPr rtlCol="0" anchor="ctr"/>
          <a:lstStyle/>
          <a:p>
            <a:pPr algn="ctr"/>
            <a:r>
              <a:rPr lang="es-ES_tradnl" sz="1400" kern="0" dirty="0">
                <a:solidFill>
                  <a:schemeClr val="bg1"/>
                </a:solidFill>
                <a:latin typeface="Avenir 35" panose="00000400000000000000" pitchFamily="2" charset="0"/>
              </a:rPr>
              <a:t>Financiera</a:t>
            </a:r>
            <a:endParaRPr lang="es-ES" sz="1400" kern="0" dirty="0">
              <a:solidFill>
                <a:schemeClr val="bg1"/>
              </a:solidFill>
              <a:latin typeface="Avenir 35" panose="00000400000000000000" pitchFamily="2" charset="0"/>
            </a:endParaRPr>
          </a:p>
        </p:txBody>
      </p:sp>
      <p:sp>
        <p:nvSpPr>
          <p:cNvPr id="92" name="91 Rectángulo"/>
          <p:cNvSpPr/>
          <p:nvPr/>
        </p:nvSpPr>
        <p:spPr>
          <a:xfrm>
            <a:off x="6092301" y="4474798"/>
            <a:ext cx="3349143" cy="893247"/>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s-ES" sz="1000" dirty="0">
                <a:solidFill>
                  <a:schemeClr val="bg1">
                    <a:lumMod val="50000"/>
                  </a:schemeClr>
                </a:solidFill>
                <a:latin typeface="Avenir 35" panose="00000400000000000000" pitchFamily="2" charset="0"/>
              </a:rPr>
              <a:t>Facturación Ampliaciones de Garantía o Mantenimiento</a:t>
            </a:r>
          </a:p>
          <a:p>
            <a:r>
              <a:rPr lang="es-ES" sz="1000" dirty="0">
                <a:solidFill>
                  <a:schemeClr val="bg1">
                    <a:lumMod val="50000"/>
                  </a:schemeClr>
                </a:solidFill>
                <a:latin typeface="Avenir 35" panose="00000400000000000000" pitchFamily="2" charset="0"/>
              </a:rPr>
              <a:t>Facturación resultante seguros</a:t>
            </a:r>
          </a:p>
          <a:p>
            <a:r>
              <a:rPr lang="es-ES" sz="1000" dirty="0">
                <a:solidFill>
                  <a:schemeClr val="bg1">
                    <a:lumMod val="50000"/>
                  </a:schemeClr>
                </a:solidFill>
                <a:latin typeface="Avenir 35" panose="00000400000000000000" pitchFamily="2" charset="0"/>
              </a:rPr>
              <a:t>Facturación operaciones Renting</a:t>
            </a:r>
          </a:p>
          <a:p>
            <a:r>
              <a:rPr lang="es-ES" sz="1000" dirty="0">
                <a:solidFill>
                  <a:schemeClr val="bg1">
                    <a:lumMod val="50000"/>
                  </a:schemeClr>
                </a:solidFill>
                <a:latin typeface="Avenir 35" panose="00000400000000000000" pitchFamily="2" charset="0"/>
              </a:rPr>
              <a:t>Facturación operaciones Leasing</a:t>
            </a:r>
          </a:p>
          <a:p>
            <a:r>
              <a:rPr lang="es-ES" sz="1000" dirty="0">
                <a:solidFill>
                  <a:schemeClr val="bg1">
                    <a:lumMod val="50000"/>
                  </a:schemeClr>
                </a:solidFill>
                <a:latin typeface="Avenir 35" panose="00000400000000000000" pitchFamily="2" charset="0"/>
              </a:rPr>
              <a:t>Incremento de Cuota de Servicios</a:t>
            </a:r>
            <a:endParaRPr lang="es-ES_tradnl" sz="1000" dirty="0">
              <a:solidFill>
                <a:schemeClr val="bg1">
                  <a:lumMod val="50000"/>
                </a:schemeClr>
              </a:solidFill>
              <a:latin typeface="Avenir 35" panose="00000400000000000000" pitchFamily="2" charset="0"/>
            </a:endParaRPr>
          </a:p>
        </p:txBody>
      </p:sp>
      <p:sp>
        <p:nvSpPr>
          <p:cNvPr id="93" name="41 Pentágono"/>
          <p:cNvSpPr/>
          <p:nvPr/>
        </p:nvSpPr>
        <p:spPr>
          <a:xfrm rot="2505501">
            <a:off x="5475200" y="2542155"/>
            <a:ext cx="648000" cy="24422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800" b="1" kern="0" dirty="0">
                <a:solidFill>
                  <a:schemeClr val="bg1">
                    <a:lumMod val="50000"/>
                  </a:schemeClr>
                </a:solidFill>
                <a:latin typeface="Avenir 35" panose="00000400000000000000" pitchFamily="2" charset="0"/>
              </a:rPr>
              <a:t>Ilustrativo</a:t>
            </a:r>
            <a:endParaRPr lang="es-ES" sz="800" b="1" kern="0" dirty="0">
              <a:solidFill>
                <a:schemeClr val="bg1">
                  <a:lumMod val="50000"/>
                </a:schemeClr>
              </a:solidFill>
              <a:latin typeface="Avenir 35" panose="00000400000000000000" pitchFamily="2" charset="0"/>
            </a:endParaRPr>
          </a:p>
        </p:txBody>
      </p:sp>
      <p:sp>
        <p:nvSpPr>
          <p:cNvPr id="94" name="41 Pentágono"/>
          <p:cNvSpPr/>
          <p:nvPr/>
        </p:nvSpPr>
        <p:spPr>
          <a:xfrm rot="2505501">
            <a:off x="8968787" y="2542155"/>
            <a:ext cx="648000" cy="24422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800" b="1" kern="0" dirty="0">
                <a:solidFill>
                  <a:schemeClr val="bg1">
                    <a:lumMod val="50000"/>
                  </a:schemeClr>
                </a:solidFill>
                <a:latin typeface="Avenir 35" panose="00000400000000000000" pitchFamily="2" charset="0"/>
              </a:rPr>
              <a:t>Ilustrativo</a:t>
            </a:r>
            <a:endParaRPr lang="es-ES" sz="800" b="1" kern="0" dirty="0">
              <a:solidFill>
                <a:schemeClr val="bg1">
                  <a:lumMod val="50000"/>
                </a:schemeClr>
              </a:solidFill>
              <a:latin typeface="Avenir 35" panose="00000400000000000000" pitchFamily="2" charset="0"/>
            </a:endParaRPr>
          </a:p>
        </p:txBody>
      </p:sp>
      <p:sp>
        <p:nvSpPr>
          <p:cNvPr id="95" name="41 Pentágono"/>
          <p:cNvSpPr/>
          <p:nvPr/>
        </p:nvSpPr>
        <p:spPr>
          <a:xfrm rot="2505501">
            <a:off x="5529651" y="3561534"/>
            <a:ext cx="648000" cy="24422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800" b="1" kern="0" dirty="0">
                <a:solidFill>
                  <a:schemeClr val="bg1">
                    <a:lumMod val="50000"/>
                  </a:schemeClr>
                </a:solidFill>
                <a:latin typeface="Avenir 35" panose="00000400000000000000" pitchFamily="2" charset="0"/>
              </a:rPr>
              <a:t>Ilustrativo</a:t>
            </a:r>
            <a:endParaRPr lang="es-ES" sz="800" b="1" kern="0" dirty="0">
              <a:solidFill>
                <a:schemeClr val="bg1">
                  <a:lumMod val="50000"/>
                </a:schemeClr>
              </a:solidFill>
              <a:latin typeface="Avenir 35" panose="00000400000000000000" pitchFamily="2" charset="0"/>
            </a:endParaRPr>
          </a:p>
        </p:txBody>
      </p:sp>
      <p:sp>
        <p:nvSpPr>
          <p:cNvPr id="96" name="41 Pentágono"/>
          <p:cNvSpPr/>
          <p:nvPr/>
        </p:nvSpPr>
        <p:spPr>
          <a:xfrm rot="2505501">
            <a:off x="9023238" y="3561534"/>
            <a:ext cx="648000" cy="24422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800" b="1" kern="0" dirty="0">
                <a:solidFill>
                  <a:schemeClr val="bg1">
                    <a:lumMod val="50000"/>
                  </a:schemeClr>
                </a:solidFill>
                <a:latin typeface="Avenir 35" panose="00000400000000000000" pitchFamily="2" charset="0"/>
              </a:rPr>
              <a:t>Ilustrativo</a:t>
            </a:r>
            <a:endParaRPr lang="es-ES" sz="800" b="1" kern="0" dirty="0">
              <a:solidFill>
                <a:schemeClr val="bg1">
                  <a:lumMod val="50000"/>
                </a:schemeClr>
              </a:solidFill>
              <a:latin typeface="Avenir 35" panose="00000400000000000000" pitchFamily="2" charset="0"/>
            </a:endParaRPr>
          </a:p>
        </p:txBody>
      </p:sp>
      <p:sp>
        <p:nvSpPr>
          <p:cNvPr id="99" name="41 Pentágono"/>
          <p:cNvSpPr/>
          <p:nvPr/>
        </p:nvSpPr>
        <p:spPr>
          <a:xfrm rot="2505501">
            <a:off x="5556661" y="4584195"/>
            <a:ext cx="648000" cy="24422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800" b="1" kern="0" dirty="0">
                <a:solidFill>
                  <a:schemeClr val="bg1">
                    <a:lumMod val="50000"/>
                  </a:schemeClr>
                </a:solidFill>
                <a:latin typeface="Avenir 35" panose="00000400000000000000" pitchFamily="2" charset="0"/>
              </a:rPr>
              <a:t>Ilustrativo</a:t>
            </a:r>
            <a:endParaRPr lang="es-ES" sz="800" b="1" kern="0" dirty="0">
              <a:solidFill>
                <a:schemeClr val="bg1">
                  <a:lumMod val="50000"/>
                </a:schemeClr>
              </a:solidFill>
              <a:latin typeface="Avenir 35" panose="00000400000000000000" pitchFamily="2" charset="0"/>
            </a:endParaRPr>
          </a:p>
        </p:txBody>
      </p:sp>
      <p:sp>
        <p:nvSpPr>
          <p:cNvPr id="100" name="41 Pentágono"/>
          <p:cNvSpPr/>
          <p:nvPr/>
        </p:nvSpPr>
        <p:spPr>
          <a:xfrm rot="2505501">
            <a:off x="9050248" y="4564448"/>
            <a:ext cx="648000" cy="24422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800" b="1" kern="0" dirty="0">
                <a:solidFill>
                  <a:schemeClr val="bg1">
                    <a:lumMod val="50000"/>
                  </a:schemeClr>
                </a:solidFill>
                <a:latin typeface="Avenir 35" panose="00000400000000000000" pitchFamily="2" charset="0"/>
              </a:rPr>
              <a:t>Ilustrativo</a:t>
            </a:r>
            <a:endParaRPr lang="es-ES" sz="800" b="1" kern="0" dirty="0">
              <a:solidFill>
                <a:schemeClr val="bg1">
                  <a:lumMod val="50000"/>
                </a:schemeClr>
              </a:solidFill>
              <a:latin typeface="Avenir 35" panose="00000400000000000000" pitchFamily="2" charset="0"/>
            </a:endParaRPr>
          </a:p>
        </p:txBody>
      </p:sp>
      <p:sp>
        <p:nvSpPr>
          <p:cNvPr id="113" name="41 Pentágono"/>
          <p:cNvSpPr/>
          <p:nvPr/>
        </p:nvSpPr>
        <p:spPr>
          <a:xfrm>
            <a:off x="632527" y="5520445"/>
            <a:ext cx="1728185" cy="1076907"/>
          </a:xfrm>
          <a:prstGeom prst="rect">
            <a:avLst/>
          </a:prstGeom>
          <a:solidFill>
            <a:srgbClr val="3CB2C3"/>
          </a:solidFill>
          <a:ln w="25400" cap="flat" cmpd="sng" algn="ctr">
            <a:noFill/>
            <a:prstDash val="solid"/>
          </a:ln>
          <a:effectLst/>
        </p:spPr>
        <p:txBody>
          <a:bodyPr rtlCol="0" anchor="ctr"/>
          <a:lstStyle/>
          <a:p>
            <a:pPr algn="ctr"/>
            <a:r>
              <a:rPr lang="es-ES_tradnl" sz="1400" kern="0" dirty="0">
                <a:solidFill>
                  <a:schemeClr val="bg1"/>
                </a:solidFill>
                <a:latin typeface="Avenir 35" panose="00000400000000000000" pitchFamily="2" charset="0"/>
              </a:rPr>
              <a:t>Ilustrativos</a:t>
            </a:r>
            <a:endParaRPr lang="es-ES" sz="1400" kern="0" dirty="0">
              <a:solidFill>
                <a:schemeClr val="bg1"/>
              </a:solidFill>
              <a:latin typeface="Avenir 35" panose="00000400000000000000" pitchFamily="2" charset="0"/>
            </a:endParaRPr>
          </a:p>
        </p:txBody>
      </p:sp>
      <p:pic>
        <p:nvPicPr>
          <p:cNvPr id="114" name="113 Imagen"/>
          <p:cNvPicPr/>
          <p:nvPr/>
        </p:nvPicPr>
        <p:blipFill>
          <a:blip r:embed="rId6" cstate="print"/>
          <a:srcRect t="2667"/>
          <a:stretch>
            <a:fillRect/>
          </a:stretch>
        </p:blipFill>
        <p:spPr bwMode="auto">
          <a:xfrm>
            <a:off x="2739079" y="5520444"/>
            <a:ext cx="1980000" cy="1076907"/>
          </a:xfrm>
          <a:prstGeom prst="rect">
            <a:avLst/>
          </a:prstGeom>
          <a:noFill/>
          <a:ln w="9525">
            <a:solidFill>
              <a:schemeClr val="bg1">
                <a:lumMod val="50000"/>
              </a:schemeClr>
            </a:solidFill>
            <a:miter lim="800000"/>
            <a:headEnd/>
            <a:tailEnd/>
          </a:ln>
        </p:spPr>
      </p:pic>
      <p:pic>
        <p:nvPicPr>
          <p:cNvPr id="115" name="114 Imagen"/>
          <p:cNvPicPr/>
          <p:nvPr/>
        </p:nvPicPr>
        <p:blipFill>
          <a:blip r:embed="rId7" cstate="print"/>
          <a:srcRect t="2722"/>
          <a:stretch>
            <a:fillRect/>
          </a:stretch>
        </p:blipFill>
        <p:spPr bwMode="auto">
          <a:xfrm>
            <a:off x="5106678" y="5520446"/>
            <a:ext cx="1980000" cy="1076906"/>
          </a:xfrm>
          <a:prstGeom prst="rect">
            <a:avLst/>
          </a:prstGeom>
          <a:noFill/>
          <a:ln w="9525">
            <a:solidFill>
              <a:schemeClr val="bg1">
                <a:lumMod val="50000"/>
              </a:schemeClr>
            </a:solidFill>
            <a:miter lim="800000"/>
            <a:headEnd/>
            <a:tailEnd/>
          </a:ln>
        </p:spPr>
      </p:pic>
      <p:pic>
        <p:nvPicPr>
          <p:cNvPr id="116" name="115 Imagen"/>
          <p:cNvPicPr/>
          <p:nvPr/>
        </p:nvPicPr>
        <p:blipFill>
          <a:blip r:embed="rId8" cstate="print"/>
          <a:srcRect t="2292"/>
          <a:stretch>
            <a:fillRect/>
          </a:stretch>
        </p:blipFill>
        <p:spPr bwMode="auto">
          <a:xfrm>
            <a:off x="7474277" y="5520442"/>
            <a:ext cx="1980000" cy="1076907"/>
          </a:xfrm>
          <a:prstGeom prst="rect">
            <a:avLst/>
          </a:prstGeom>
          <a:noFill/>
          <a:ln w="9525">
            <a:solidFill>
              <a:schemeClr val="bg1">
                <a:lumMod val="50000"/>
              </a:schemeClr>
            </a:solidFill>
            <a:miter lim="800000"/>
            <a:headEnd/>
            <a:tailEnd/>
          </a:ln>
        </p:spPr>
      </p:pic>
      <p:sp>
        <p:nvSpPr>
          <p:cNvPr id="117" name="41 Pentágono"/>
          <p:cNvSpPr/>
          <p:nvPr/>
        </p:nvSpPr>
        <p:spPr>
          <a:xfrm rot="2505501">
            <a:off x="4376776" y="5592936"/>
            <a:ext cx="648000" cy="24422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800" b="1" kern="0" dirty="0">
                <a:solidFill>
                  <a:schemeClr val="bg1">
                    <a:lumMod val="50000"/>
                  </a:schemeClr>
                </a:solidFill>
                <a:latin typeface="Avenir 35" panose="00000400000000000000" pitchFamily="2" charset="0"/>
              </a:rPr>
              <a:t>Ilustrativo</a:t>
            </a:r>
            <a:endParaRPr lang="es-ES" sz="800" b="1" kern="0" dirty="0">
              <a:solidFill>
                <a:schemeClr val="bg1">
                  <a:lumMod val="50000"/>
                </a:schemeClr>
              </a:solidFill>
              <a:latin typeface="Avenir 35" panose="00000400000000000000" pitchFamily="2" charset="0"/>
            </a:endParaRPr>
          </a:p>
        </p:txBody>
      </p:sp>
      <p:sp>
        <p:nvSpPr>
          <p:cNvPr id="118" name="41 Pentágono"/>
          <p:cNvSpPr/>
          <p:nvPr/>
        </p:nvSpPr>
        <p:spPr>
          <a:xfrm rot="2505501">
            <a:off x="6680207" y="5629985"/>
            <a:ext cx="648000" cy="24422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800" b="1" kern="0" dirty="0">
                <a:solidFill>
                  <a:schemeClr val="bg1">
                    <a:lumMod val="50000"/>
                  </a:schemeClr>
                </a:solidFill>
                <a:latin typeface="Avenir 35" panose="00000400000000000000" pitchFamily="2" charset="0"/>
              </a:rPr>
              <a:t>Ilustrativo</a:t>
            </a:r>
            <a:endParaRPr lang="es-ES" sz="800" b="1" kern="0" dirty="0">
              <a:solidFill>
                <a:schemeClr val="bg1">
                  <a:lumMod val="50000"/>
                </a:schemeClr>
              </a:solidFill>
              <a:latin typeface="Avenir 35" panose="00000400000000000000" pitchFamily="2" charset="0"/>
            </a:endParaRPr>
          </a:p>
        </p:txBody>
      </p:sp>
      <p:sp>
        <p:nvSpPr>
          <p:cNvPr id="119" name="41 Pentágono"/>
          <p:cNvSpPr/>
          <p:nvPr/>
        </p:nvSpPr>
        <p:spPr>
          <a:xfrm rot="2505501">
            <a:off x="9130278" y="5552805"/>
            <a:ext cx="648000" cy="244220"/>
          </a:xfrm>
          <a:prstGeom prst="rect">
            <a:avLst/>
          </a:prstGeom>
          <a:solidFill>
            <a:schemeClr val="bg1"/>
          </a:solidFill>
          <a:ln w="25400" cap="flat" cmpd="sng" algn="ctr">
            <a:solidFill>
              <a:schemeClr val="bg1">
                <a:lumMod val="95000"/>
              </a:schemeClr>
            </a:solidFill>
            <a:prstDash val="solid"/>
          </a:ln>
          <a:effectLst/>
        </p:spPr>
        <p:txBody>
          <a:bodyPr rtlCol="0" anchor="ctr"/>
          <a:lstStyle/>
          <a:p>
            <a:pPr algn="ctr"/>
            <a:r>
              <a:rPr lang="es-ES_tradnl" sz="800" b="1" kern="0" dirty="0">
                <a:solidFill>
                  <a:schemeClr val="bg1">
                    <a:lumMod val="50000"/>
                  </a:schemeClr>
                </a:solidFill>
                <a:latin typeface="Avenir 35" panose="00000400000000000000" pitchFamily="2" charset="0"/>
              </a:rPr>
              <a:t>Ilustrativo</a:t>
            </a:r>
            <a:endParaRPr lang="es-ES" sz="800" b="1" kern="0" dirty="0">
              <a:solidFill>
                <a:schemeClr val="bg1">
                  <a:lumMod val="50000"/>
                </a:schemeClr>
              </a:solidFill>
              <a:latin typeface="Avenir 35" panose="00000400000000000000" pitchFamily="2" charset="0"/>
            </a:endParaRPr>
          </a:p>
        </p:txBody>
      </p:sp>
      <p:sp>
        <p:nvSpPr>
          <p:cNvPr id="59" name="AutoShape 4"/>
          <p:cNvSpPr>
            <a:spLocks noChangeArrowheads="1"/>
          </p:cNvSpPr>
          <p:nvPr/>
        </p:nvSpPr>
        <p:spPr bwMode="auto">
          <a:xfrm>
            <a:off x="632527" y="832079"/>
            <a:ext cx="8660261" cy="432048"/>
          </a:xfrm>
          <a:prstGeom prst="roundRect">
            <a:avLst>
              <a:gd name="adj" fmla="val 12500"/>
            </a:avLst>
          </a:prstGeom>
        </p:spPr>
        <p:txBody>
          <a:bodyPr lIns="92583" tIns="46292" rIns="92583" bIns="46292" anchor="ctr">
            <a:noAutofit/>
          </a:bodyPr>
          <a:lstStyle/>
          <a:p>
            <a:pPr algn="ctr"/>
            <a:r>
              <a:rPr lang="es-ES" sz="1000" dirty="0">
                <a:solidFill>
                  <a:srgbClr val="505050"/>
                </a:solidFill>
                <a:latin typeface="Avenir 35" panose="00000400000000000000" pitchFamily="2" charset="0"/>
                <a:cs typeface="Arial" panose="020B0604020202020204" pitchFamily="34" charset="0"/>
              </a:rPr>
              <a:t>Para poder evolucionar debemos medir el impacto de las acciones que conforman nuestra Estrategia CRM. Una vez definido el proceso de monitorización, analizamos el contenido desde tres puntos de vista: Analítica Web, Social CRM y Negocio.</a:t>
            </a:r>
          </a:p>
        </p:txBody>
      </p:sp>
      <p:grpSp>
        <p:nvGrpSpPr>
          <p:cNvPr id="60" name="59 Grupo"/>
          <p:cNvGrpSpPr>
            <a:grpSpLocks noChangeAspect="1"/>
          </p:cNvGrpSpPr>
          <p:nvPr/>
        </p:nvGrpSpPr>
        <p:grpSpPr>
          <a:xfrm>
            <a:off x="7715654" y="1347503"/>
            <a:ext cx="366528" cy="360000"/>
            <a:chOff x="460846" y="4293096"/>
            <a:chExt cx="638482" cy="627109"/>
          </a:xfrm>
        </p:grpSpPr>
        <p:sp>
          <p:nvSpPr>
            <p:cNvPr id="61" name="60 Elipse"/>
            <p:cNvSpPr/>
            <p:nvPr/>
          </p:nvSpPr>
          <p:spPr>
            <a:xfrm>
              <a:off x="460846" y="4293096"/>
              <a:ext cx="638482" cy="607226"/>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62" name="Picture 2" descr="https://cdn0.iconfinder.com/data/icons/shipping-icons/100/15-256.png"/>
            <p:cNvPicPr>
              <a:picLocks noChangeAspect="1" noChangeArrowheads="1"/>
            </p:cNvPicPr>
            <p:nvPr/>
          </p:nvPicPr>
          <p:blipFill>
            <a:blip r:embed="rId9" cstate="print">
              <a:biLevel thresh="25000"/>
              <a:extLst>
                <a:ext uri="{28A0092B-C50C-407E-A947-70E740481C1C}">
                  <a14:useLocalDpi xmlns:a14="http://schemas.microsoft.com/office/drawing/2010/main" val="0"/>
                </a:ext>
              </a:extLst>
            </a:blip>
            <a:srcRect/>
            <a:stretch>
              <a:fillRect/>
            </a:stretch>
          </p:blipFill>
          <p:spPr bwMode="auto">
            <a:xfrm>
              <a:off x="487202" y="4326160"/>
              <a:ext cx="594046" cy="5940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3" name="62 Grupo"/>
          <p:cNvGrpSpPr>
            <a:grpSpLocks noChangeAspect="1"/>
          </p:cNvGrpSpPr>
          <p:nvPr/>
        </p:nvGrpSpPr>
        <p:grpSpPr>
          <a:xfrm>
            <a:off x="8225195" y="1347499"/>
            <a:ext cx="378529" cy="360000"/>
            <a:chOff x="442620" y="4900973"/>
            <a:chExt cx="638481" cy="607227"/>
          </a:xfrm>
        </p:grpSpPr>
        <p:sp>
          <p:nvSpPr>
            <p:cNvPr id="64" name="63 Elipse"/>
            <p:cNvSpPr/>
            <p:nvPr/>
          </p:nvSpPr>
          <p:spPr>
            <a:xfrm>
              <a:off x="442620" y="4900973"/>
              <a:ext cx="638481"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65" name="Picture 27" descr="http://flaticons.net/icons/Transportation/Van.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46086" y="4979379"/>
              <a:ext cx="460901" cy="4609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6" name="65 Grupo"/>
          <p:cNvGrpSpPr>
            <a:grpSpLocks noChangeAspect="1"/>
          </p:cNvGrpSpPr>
          <p:nvPr/>
        </p:nvGrpSpPr>
        <p:grpSpPr>
          <a:xfrm>
            <a:off x="7198244" y="1347499"/>
            <a:ext cx="378528" cy="360000"/>
            <a:chOff x="442620" y="5518761"/>
            <a:chExt cx="638481" cy="607227"/>
          </a:xfrm>
        </p:grpSpPr>
        <p:sp>
          <p:nvSpPr>
            <p:cNvPr id="67" name="66 Elipse"/>
            <p:cNvSpPr/>
            <p:nvPr/>
          </p:nvSpPr>
          <p:spPr>
            <a:xfrm>
              <a:off x="442620" y="5518761"/>
              <a:ext cx="638481"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68" name="Picture 25" descr="http://www.iconsdb.com/icons/preview/white/car-xxl.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46086" y="5602320"/>
              <a:ext cx="418968" cy="4189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9" name="68 Grupo"/>
          <p:cNvGrpSpPr>
            <a:grpSpLocks noChangeAspect="1"/>
          </p:cNvGrpSpPr>
          <p:nvPr/>
        </p:nvGrpSpPr>
        <p:grpSpPr>
          <a:xfrm>
            <a:off x="8696914" y="1347499"/>
            <a:ext cx="504056" cy="360000"/>
            <a:chOff x="382713" y="5754222"/>
            <a:chExt cx="850214" cy="607227"/>
          </a:xfrm>
        </p:grpSpPr>
        <p:sp>
          <p:nvSpPr>
            <p:cNvPr id="70" name="69 Elipse"/>
            <p:cNvSpPr/>
            <p:nvPr/>
          </p:nvSpPr>
          <p:spPr>
            <a:xfrm>
              <a:off x="490759" y="5754222"/>
              <a:ext cx="638482"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00" dirty="0">
                <a:solidFill>
                  <a:prstClr val="white"/>
                </a:solidFill>
              </a:endParaRPr>
            </a:p>
          </p:txBody>
        </p:sp>
        <p:sp>
          <p:nvSpPr>
            <p:cNvPr id="71" name="70 CuadroTexto"/>
            <p:cNvSpPr txBox="1"/>
            <p:nvPr/>
          </p:nvSpPr>
          <p:spPr>
            <a:xfrm>
              <a:off x="382713" y="5892865"/>
              <a:ext cx="850214" cy="361418"/>
            </a:xfrm>
            <a:prstGeom prst="rect">
              <a:avLst/>
            </a:prstGeom>
            <a:noFill/>
          </p:spPr>
          <p:txBody>
            <a:bodyPr wrap="square" lIns="90281" tIns="45139" rIns="90281" bIns="45139" rtlCol="0">
              <a:spAutoFit/>
            </a:bodyPr>
            <a:lstStyle/>
            <a:p>
              <a:pPr algn="ctr" defTabSz="902813"/>
              <a:r>
                <a:rPr lang="en-GB" sz="800" spc="-49" dirty="0">
                  <a:solidFill>
                    <a:schemeClr val="bg1"/>
                  </a:solidFill>
                  <a:latin typeface="Avenir 65" panose="02000600000000000000" pitchFamily="2" charset="0"/>
                  <a:cs typeface="Arial" pitchFamily="34" charset="0"/>
                </a:rPr>
                <a:t>MBFN</a:t>
              </a:r>
            </a:p>
          </p:txBody>
        </p:sp>
      </p:grpSp>
      <p:sp>
        <p:nvSpPr>
          <p:cNvPr id="46"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26</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910893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Nuestra Visión</a:t>
            </a:r>
          </a:p>
          <a:p>
            <a:endParaRPr lang="en-US" dirty="0">
              <a:solidFill>
                <a:srgbClr val="323232"/>
              </a:solidFill>
              <a:latin typeface="Avenir 35" panose="00000400000000000000" pitchFamily="2" charset="0"/>
            </a:endParaRP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EVOLUCIONAR</a:t>
            </a:r>
            <a:endParaRPr lang="es-ES" sz="1400" b="1" dirty="0">
              <a:solidFill>
                <a:srgbClr val="323232"/>
              </a:solidFill>
              <a:latin typeface="Avenir 35" panose="00000400000000000000" pitchFamily="2" charset="0"/>
            </a:endParaRPr>
          </a:p>
        </p:txBody>
      </p:sp>
      <p:sp>
        <p:nvSpPr>
          <p:cNvPr id="3" name="AutoShape 4" descr="Resultado de imagen de car dealer network"/>
          <p:cNvSpPr>
            <a:spLocks noChangeAspect="1" noChangeArrowheads="1"/>
          </p:cNvSpPr>
          <p:nvPr/>
        </p:nvSpPr>
        <p:spPr bwMode="auto">
          <a:xfrm>
            <a:off x="155575" y="-13652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solidFill>
                <a:prstClr val="black"/>
              </a:solidFill>
            </a:endParaRPr>
          </a:p>
        </p:txBody>
      </p:sp>
      <p:sp>
        <p:nvSpPr>
          <p:cNvPr id="50" name="Rectangle 81"/>
          <p:cNvSpPr/>
          <p:nvPr>
            <p:custDataLst>
              <p:tags r:id="rId1"/>
            </p:custDataLst>
          </p:nvPr>
        </p:nvSpPr>
        <p:spPr>
          <a:xfrm>
            <a:off x="622940" y="1507694"/>
            <a:ext cx="8669841" cy="255791"/>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65" panose="02000600000000000000" pitchFamily="2" charset="0"/>
              </a:rPr>
              <a:t>SOCIAL MEDIA</a:t>
            </a:r>
          </a:p>
        </p:txBody>
      </p:sp>
      <p:sp>
        <p:nvSpPr>
          <p:cNvPr id="55" name="54 Flecha derecha"/>
          <p:cNvSpPr/>
          <p:nvPr/>
        </p:nvSpPr>
        <p:spPr>
          <a:xfrm>
            <a:off x="3699992" y="3978552"/>
            <a:ext cx="486593" cy="1135713"/>
          </a:xfrm>
          <a:prstGeom prst="rightArrow">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latin typeface="Avenir 35" panose="00000400000000000000" pitchFamily="2" charset="0"/>
            </a:endParaRPr>
          </a:p>
        </p:txBody>
      </p:sp>
      <p:pic>
        <p:nvPicPr>
          <p:cNvPr id="63" name="Picture 2"/>
          <p:cNvPicPr>
            <a:picLocks noChangeAspect="1" noChangeArrowheads="1"/>
          </p:cNvPicPr>
          <p:nvPr/>
        </p:nvPicPr>
        <p:blipFill>
          <a:blip r:embed="rId4">
            <a:extLst>
              <a:ext uri="{BEBA8EAE-BF5A-486C-A8C5-ECC9F3942E4B}">
                <a14:imgProps xmlns:a14="http://schemas.microsoft.com/office/drawing/2010/main">
                  <a14:imgLayer r:embed="rId5">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2824242" y="2204864"/>
            <a:ext cx="3708697" cy="3544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 name="63 Llamada con línea 2 (barra de énfasis)"/>
          <p:cNvSpPr/>
          <p:nvPr/>
        </p:nvSpPr>
        <p:spPr bwMode="auto">
          <a:xfrm>
            <a:off x="622940" y="2456428"/>
            <a:ext cx="2154562" cy="3277820"/>
          </a:xfrm>
          <a:prstGeom prst="accentCallout2">
            <a:avLst>
              <a:gd name="adj1" fmla="val 22072"/>
              <a:gd name="adj2" fmla="val 99954"/>
              <a:gd name="adj3" fmla="val 22071"/>
              <a:gd name="adj4" fmla="val 123053"/>
              <a:gd name="adj5" fmla="val 34056"/>
              <a:gd name="adj6" fmla="val 134783"/>
            </a:avLst>
          </a:prstGeom>
          <a:noFill/>
          <a:ln w="9525" cap="flat" cmpd="sng" algn="ctr">
            <a:solidFill>
              <a:srgbClr val="3CB2C3"/>
            </a:solidFill>
            <a:prstDash val="solid"/>
            <a:round/>
            <a:headEnd type="none" w="med" len="med"/>
            <a:tailEnd type="none" w="med" len="med"/>
          </a:ln>
          <a:effectLst/>
        </p:spPr>
        <p:txBody>
          <a:bodyPr vert="horz" wrap="square" lIns="108118" tIns="0" rIns="108118" bIns="0" numCol="1" rtlCol="0" anchor="ctr" anchorCtr="0" compatLnSpc="1">
            <a:prstTxWarp prst="textNoShape">
              <a:avLst/>
            </a:prstTxWarp>
            <a:spAutoFit/>
          </a:bodyPr>
          <a:lstStyle/>
          <a:p>
            <a:pPr defTabSz="915400">
              <a:spcBef>
                <a:spcPts val="300"/>
              </a:spcBef>
            </a:pPr>
            <a:r>
              <a:rPr lang="es-ES" sz="1000" dirty="0">
                <a:latin typeface="Avenir 35" panose="00000400000000000000" pitchFamily="2" charset="0"/>
                <a:cs typeface="Arial" pitchFamily="34" charset="0"/>
              </a:rPr>
              <a:t>Monitorizar y evaluar nuestra reputación y posicionamiento en la red</a:t>
            </a:r>
          </a:p>
          <a:p>
            <a:pPr defTabSz="915400">
              <a:spcBef>
                <a:spcPts val="300"/>
              </a:spcBef>
            </a:pPr>
            <a:endParaRPr lang="es-ES" sz="1000" dirty="0">
              <a:latin typeface="Avenir 35" panose="00000400000000000000" pitchFamily="2" charset="0"/>
              <a:cs typeface="Arial" pitchFamily="34" charset="0"/>
            </a:endParaRPr>
          </a:p>
          <a:p>
            <a:pPr marL="171450" indent="-171450" defTabSz="915400">
              <a:spcBef>
                <a:spcPts val="300"/>
              </a:spcBef>
              <a:buFont typeface="Wingdings" panose="05000000000000000000" pitchFamily="2" charset="2"/>
              <a:buChar char="§"/>
            </a:pPr>
            <a:r>
              <a:rPr lang="es-ES" sz="1000" b="1" dirty="0">
                <a:latin typeface="Avenir 35" panose="00000400000000000000" pitchFamily="2" charset="0"/>
                <a:cs typeface="Arial" pitchFamily="34" charset="0"/>
              </a:rPr>
              <a:t>Monitorizar conversaciones </a:t>
            </a:r>
            <a:r>
              <a:rPr lang="es-ES" sz="1050" dirty="0">
                <a:latin typeface="Avenir 35" panose="00000400000000000000" pitchFamily="2" charset="0"/>
              </a:rPr>
              <a:t>sobre Easy Money Benz</a:t>
            </a:r>
          </a:p>
          <a:p>
            <a:pPr marL="85818" indent="-85818" defTabSz="915400">
              <a:spcBef>
                <a:spcPts val="300"/>
              </a:spcBef>
              <a:buFont typeface="Wingdings" pitchFamily="2" charset="2"/>
              <a:buChar char="§"/>
            </a:pPr>
            <a:r>
              <a:rPr lang="es-ES" sz="1000" b="1" dirty="0">
                <a:latin typeface="Avenir 35" panose="00000400000000000000" pitchFamily="2" charset="0"/>
                <a:cs typeface="Arial" pitchFamily="34" charset="0"/>
              </a:rPr>
              <a:t>   Reputación social online: </a:t>
            </a:r>
          </a:p>
          <a:p>
            <a:pPr marL="181171" lvl="1" indent="-95353">
              <a:spcBef>
                <a:spcPts val="300"/>
              </a:spcBef>
              <a:buClr>
                <a:schemeClr val="bg1">
                  <a:lumMod val="85000"/>
                </a:schemeClr>
              </a:buClr>
              <a:buFont typeface="Wingdings" pitchFamily="2" charset="2"/>
              <a:buChar char="§"/>
            </a:pPr>
            <a:r>
              <a:rPr lang="es-ES" sz="1050" dirty="0">
                <a:latin typeface="Avenir 35" panose="00000400000000000000" pitchFamily="2" charset="0"/>
              </a:rPr>
              <a:t>marca digital: valores asociados</a:t>
            </a:r>
          </a:p>
          <a:p>
            <a:pPr marL="181171" lvl="1" indent="-95353">
              <a:spcBef>
                <a:spcPts val="300"/>
              </a:spcBef>
              <a:buClr>
                <a:schemeClr val="bg1">
                  <a:lumMod val="85000"/>
                </a:schemeClr>
              </a:buClr>
              <a:buFont typeface="Wingdings" pitchFamily="2" charset="2"/>
              <a:buChar char="§"/>
            </a:pPr>
            <a:r>
              <a:rPr lang="es-ES" sz="1050" dirty="0">
                <a:latin typeface="Avenir 35" panose="00000400000000000000" pitchFamily="2" charset="0"/>
              </a:rPr>
              <a:t>sentiment analisys  de las conversaciones</a:t>
            </a:r>
          </a:p>
          <a:p>
            <a:pPr marL="171450" indent="-171450">
              <a:spcBef>
                <a:spcPts val="300"/>
              </a:spcBef>
              <a:buFont typeface="Wingdings" panose="05000000000000000000" pitchFamily="2" charset="2"/>
              <a:buChar char="§"/>
            </a:pPr>
            <a:r>
              <a:rPr lang="es-ES" sz="1000" b="1" dirty="0">
                <a:latin typeface="Avenir 35" panose="00000400000000000000" pitchFamily="2" charset="0"/>
                <a:cs typeface="Arial" pitchFamily="34" charset="0"/>
              </a:rPr>
              <a:t>Elaboración de informes:</a:t>
            </a:r>
          </a:p>
          <a:p>
            <a:pPr marL="181171" lvl="1" indent="-95353">
              <a:spcBef>
                <a:spcPts val="300"/>
              </a:spcBef>
              <a:buClr>
                <a:schemeClr val="bg1">
                  <a:lumMod val="85000"/>
                </a:schemeClr>
              </a:buClr>
              <a:buFont typeface="Wingdings" pitchFamily="2" charset="2"/>
              <a:buChar char="§"/>
            </a:pPr>
            <a:r>
              <a:rPr lang="es-ES" sz="1050" dirty="0">
                <a:latin typeface="Avenir 35" panose="00000400000000000000" pitchFamily="2" charset="0"/>
              </a:rPr>
              <a:t>agrupación de datos </a:t>
            </a:r>
          </a:p>
          <a:p>
            <a:pPr marL="181171" lvl="1" indent="-95353">
              <a:spcBef>
                <a:spcPts val="300"/>
              </a:spcBef>
              <a:buClr>
                <a:schemeClr val="bg1">
                  <a:lumMod val="85000"/>
                </a:schemeClr>
              </a:buClr>
              <a:buFont typeface="Wingdings" pitchFamily="2" charset="2"/>
              <a:buChar char="§"/>
            </a:pPr>
            <a:r>
              <a:rPr lang="es-ES" sz="1050" dirty="0">
                <a:latin typeface="Avenir 35" panose="00000400000000000000" pitchFamily="2" charset="0"/>
              </a:rPr>
              <a:t>objetivos de negocio</a:t>
            </a:r>
          </a:p>
          <a:p>
            <a:pPr marL="181171" lvl="1" indent="-95353">
              <a:spcBef>
                <a:spcPts val="300"/>
              </a:spcBef>
              <a:buClr>
                <a:schemeClr val="bg1">
                  <a:lumMod val="85000"/>
                </a:schemeClr>
              </a:buClr>
              <a:buFont typeface="Wingdings" pitchFamily="2" charset="2"/>
              <a:buChar char="§"/>
            </a:pPr>
            <a:r>
              <a:rPr lang="es-ES" sz="1050" dirty="0">
                <a:latin typeface="Avenir 35" panose="00000400000000000000" pitchFamily="2" charset="0"/>
              </a:rPr>
              <a:t>espacios corporativos</a:t>
            </a:r>
          </a:p>
          <a:p>
            <a:pPr marL="181171" lvl="1" indent="-95353">
              <a:spcBef>
                <a:spcPts val="300"/>
              </a:spcBef>
              <a:buClr>
                <a:schemeClr val="bg1">
                  <a:lumMod val="85000"/>
                </a:schemeClr>
              </a:buClr>
              <a:buFont typeface="Wingdings" pitchFamily="2" charset="2"/>
              <a:buChar char="§"/>
            </a:pPr>
            <a:r>
              <a:rPr lang="es-ES" sz="1050" dirty="0">
                <a:latin typeface="Avenir 35" panose="00000400000000000000" pitchFamily="2" charset="0"/>
              </a:rPr>
              <a:t>información por medios online (reputación)</a:t>
            </a:r>
          </a:p>
          <a:p>
            <a:pPr marL="181171" lvl="1" indent="-95353">
              <a:spcBef>
                <a:spcPts val="300"/>
              </a:spcBef>
              <a:buClr>
                <a:schemeClr val="bg1">
                  <a:lumMod val="85000"/>
                </a:schemeClr>
              </a:buClr>
              <a:buFont typeface="Wingdings" pitchFamily="2" charset="2"/>
              <a:buChar char="§"/>
            </a:pPr>
            <a:r>
              <a:rPr lang="es-ES" sz="1050" dirty="0">
                <a:latin typeface="Avenir 35" panose="00000400000000000000" pitchFamily="2" charset="0"/>
              </a:rPr>
              <a:t>información de valor segmentada</a:t>
            </a:r>
          </a:p>
        </p:txBody>
      </p:sp>
      <p:sp>
        <p:nvSpPr>
          <p:cNvPr id="65" name="64 Llamada con línea 2 (barra de énfasis)"/>
          <p:cNvSpPr/>
          <p:nvPr/>
        </p:nvSpPr>
        <p:spPr bwMode="auto">
          <a:xfrm>
            <a:off x="6322813" y="2422134"/>
            <a:ext cx="2512105" cy="1231106"/>
          </a:xfrm>
          <a:prstGeom prst="accentCallout2">
            <a:avLst>
              <a:gd name="adj1" fmla="val 38513"/>
              <a:gd name="adj2" fmla="val -747"/>
              <a:gd name="adj3" fmla="val 38511"/>
              <a:gd name="adj4" fmla="val -23757"/>
              <a:gd name="adj5" fmla="val 47472"/>
              <a:gd name="adj6" fmla="val -24337"/>
            </a:avLst>
          </a:prstGeom>
          <a:noFill/>
          <a:ln w="9525" cap="flat" cmpd="sng" algn="ctr">
            <a:solidFill>
              <a:srgbClr val="3CB2C3"/>
            </a:solidFill>
            <a:prstDash val="solid"/>
            <a:round/>
            <a:headEnd type="none" w="med" len="med"/>
            <a:tailEnd type="none" w="med" len="med"/>
          </a:ln>
          <a:effectLst/>
        </p:spPr>
        <p:txBody>
          <a:bodyPr vert="horz" wrap="square" lIns="108118" tIns="0" rIns="108118" bIns="0" numCol="1" rtlCol="0" anchor="ctr" anchorCtr="0" compatLnSpc="1">
            <a:prstTxWarp prst="textNoShape">
              <a:avLst/>
            </a:prstTxWarp>
            <a:spAutoFit/>
          </a:bodyPr>
          <a:lstStyle/>
          <a:p>
            <a:pPr defTabSz="915400">
              <a:spcBef>
                <a:spcPts val="300"/>
              </a:spcBef>
            </a:pPr>
            <a:r>
              <a:rPr lang="es-ES" sz="1000" dirty="0">
                <a:latin typeface="Avenir 35" panose="00000400000000000000" pitchFamily="2" charset="0"/>
                <a:cs typeface="Arial" pitchFamily="34" charset="0"/>
              </a:rPr>
              <a:t>Escuchar tendencias</a:t>
            </a:r>
          </a:p>
          <a:p>
            <a:pPr marL="85818" indent="-85818" defTabSz="915400">
              <a:spcBef>
                <a:spcPts val="300"/>
              </a:spcBef>
              <a:buFont typeface="Wingdings" pitchFamily="2" charset="2"/>
              <a:buChar char="§"/>
            </a:pPr>
            <a:r>
              <a:rPr lang="es-ES" sz="1000" b="1" dirty="0">
                <a:latin typeface="Avenir 35" panose="00000400000000000000" pitchFamily="2" charset="0"/>
                <a:cs typeface="Arial" pitchFamily="34" charset="0"/>
              </a:rPr>
              <a:t>Seleccionar  trend topics</a:t>
            </a:r>
          </a:p>
          <a:p>
            <a:pPr marL="181171" lvl="1" indent="-95353">
              <a:spcBef>
                <a:spcPts val="300"/>
              </a:spcBef>
              <a:buClr>
                <a:schemeClr val="bg1">
                  <a:lumMod val="85000"/>
                </a:schemeClr>
              </a:buClr>
              <a:buFont typeface="Wingdings" pitchFamily="2" charset="2"/>
              <a:buChar char="§"/>
            </a:pPr>
            <a:r>
              <a:rPr lang="es-ES" sz="1000" dirty="0">
                <a:latin typeface="Avenir 35" panose="00000400000000000000" pitchFamily="2" charset="0"/>
                <a:cs typeface="Arial" pitchFamily="34" charset="0"/>
              </a:rPr>
              <a:t>análisis segmentado desde  objetivos corporativos</a:t>
            </a:r>
          </a:p>
          <a:p>
            <a:pPr marL="85818" lvl="1" indent="-85818" defTabSz="915400">
              <a:spcBef>
                <a:spcPts val="300"/>
              </a:spcBef>
              <a:buClr>
                <a:schemeClr val="tx1"/>
              </a:buClr>
              <a:buFont typeface="Wingdings" pitchFamily="2" charset="2"/>
              <a:buChar char="§"/>
            </a:pPr>
            <a:r>
              <a:rPr lang="es-ES" sz="1000" b="1" dirty="0">
                <a:latin typeface="Avenir 35" panose="00000400000000000000" pitchFamily="2" charset="0"/>
                <a:cs typeface="Arial" pitchFamily="34" charset="0"/>
              </a:rPr>
              <a:t>Elementos exógenos</a:t>
            </a:r>
          </a:p>
          <a:p>
            <a:pPr marL="85818" indent="-85818" defTabSz="915400">
              <a:spcBef>
                <a:spcPts val="300"/>
              </a:spcBef>
              <a:buFont typeface="Wingdings" pitchFamily="2" charset="2"/>
              <a:buChar char="§"/>
            </a:pPr>
            <a:r>
              <a:rPr lang="es-ES" sz="1000" b="1" dirty="0">
                <a:latin typeface="Avenir 35" panose="00000400000000000000" pitchFamily="2" charset="0"/>
                <a:cs typeface="Arial" pitchFamily="34" charset="0"/>
              </a:rPr>
              <a:t>Análisis de resultados desde elementos externos </a:t>
            </a:r>
          </a:p>
        </p:txBody>
      </p:sp>
      <p:sp>
        <p:nvSpPr>
          <p:cNvPr id="66" name="65 Llamada con línea 2 (barra de énfasis)"/>
          <p:cNvSpPr/>
          <p:nvPr/>
        </p:nvSpPr>
        <p:spPr bwMode="auto">
          <a:xfrm>
            <a:off x="6286463" y="4088023"/>
            <a:ext cx="3006325" cy="2000548"/>
          </a:xfrm>
          <a:prstGeom prst="accentCallout2">
            <a:avLst>
              <a:gd name="adj1" fmla="val 38513"/>
              <a:gd name="adj2" fmla="val -747"/>
              <a:gd name="adj3" fmla="val 38511"/>
              <a:gd name="adj4" fmla="val -23757"/>
              <a:gd name="adj5" fmla="val 24552"/>
              <a:gd name="adj6" fmla="val -39884"/>
            </a:avLst>
          </a:prstGeom>
          <a:noFill/>
          <a:ln w="9525" cap="flat" cmpd="sng" algn="ctr">
            <a:solidFill>
              <a:srgbClr val="3CB2C3"/>
            </a:solidFill>
            <a:prstDash val="solid"/>
            <a:round/>
            <a:headEnd type="none" w="med" len="med"/>
            <a:tailEnd type="none" w="med" len="med"/>
          </a:ln>
          <a:effectLst/>
        </p:spPr>
        <p:txBody>
          <a:bodyPr vert="horz" wrap="square" lIns="108118" tIns="0" rIns="108118" bIns="0" numCol="1" rtlCol="0" anchor="ctr" anchorCtr="0" compatLnSpc="1">
            <a:prstTxWarp prst="textNoShape">
              <a:avLst/>
            </a:prstTxWarp>
            <a:spAutoFit/>
          </a:bodyPr>
          <a:lstStyle/>
          <a:p>
            <a:pPr defTabSz="915400">
              <a:spcBef>
                <a:spcPts val="300"/>
              </a:spcBef>
            </a:pPr>
            <a:r>
              <a:rPr lang="es-ES" sz="1000" dirty="0">
                <a:latin typeface="Avenir 35" panose="00000400000000000000" pitchFamily="2" charset="0"/>
                <a:cs typeface="Arial" pitchFamily="34" charset="0"/>
              </a:rPr>
              <a:t>Analizar la competencia</a:t>
            </a:r>
          </a:p>
          <a:p>
            <a:pPr marL="85818" indent="-85818" defTabSz="915400">
              <a:spcBef>
                <a:spcPts val="300"/>
              </a:spcBef>
              <a:buFont typeface="Wingdings" pitchFamily="2" charset="2"/>
              <a:buChar char="§"/>
            </a:pPr>
            <a:r>
              <a:rPr lang="es-ES" sz="1000" b="1" dirty="0">
                <a:latin typeface="Avenir 35" panose="00000400000000000000" pitchFamily="2" charset="0"/>
                <a:cs typeface="Arial" pitchFamily="34" charset="0"/>
              </a:rPr>
              <a:t>Monitorizar conversaciones </a:t>
            </a:r>
            <a:r>
              <a:rPr lang="es-ES" sz="1000" dirty="0">
                <a:latin typeface="Avenir 35" panose="00000400000000000000" pitchFamily="2" charset="0"/>
                <a:cs typeface="Arial" pitchFamily="34" charset="0"/>
              </a:rPr>
              <a:t>en las que aparece la competencia</a:t>
            </a:r>
          </a:p>
          <a:p>
            <a:pPr marL="85818" indent="-85818" defTabSz="915400">
              <a:spcBef>
                <a:spcPts val="300"/>
              </a:spcBef>
              <a:buFont typeface="Wingdings" pitchFamily="2" charset="2"/>
              <a:buChar char="§"/>
            </a:pPr>
            <a:r>
              <a:rPr lang="es-ES" sz="1000" b="1" dirty="0">
                <a:latin typeface="Avenir 35" panose="00000400000000000000" pitchFamily="2" charset="0"/>
                <a:cs typeface="Arial" pitchFamily="34" charset="0"/>
              </a:rPr>
              <a:t>Análisis de conversaciones comunes </a:t>
            </a:r>
          </a:p>
          <a:p>
            <a:pPr marL="181171" lvl="1" indent="-95353">
              <a:spcBef>
                <a:spcPts val="300"/>
              </a:spcBef>
              <a:buClr>
                <a:schemeClr val="bg1">
                  <a:lumMod val="85000"/>
                </a:schemeClr>
              </a:buClr>
              <a:buFont typeface="Wingdings" pitchFamily="2" charset="2"/>
              <a:buChar char="§"/>
            </a:pPr>
            <a:r>
              <a:rPr lang="es-ES" sz="1000" dirty="0">
                <a:latin typeface="Avenir 35" panose="00000400000000000000" pitchFamily="2" charset="0"/>
                <a:cs typeface="Arial" pitchFamily="34" charset="0"/>
              </a:rPr>
              <a:t>posicionamiento de marca comparado</a:t>
            </a:r>
          </a:p>
          <a:p>
            <a:pPr marL="181171" lvl="1" indent="-95353">
              <a:spcBef>
                <a:spcPts val="300"/>
              </a:spcBef>
              <a:buClr>
                <a:schemeClr val="bg1">
                  <a:lumMod val="85000"/>
                </a:schemeClr>
              </a:buClr>
              <a:buFont typeface="Wingdings" pitchFamily="2" charset="2"/>
              <a:buChar char="§"/>
            </a:pPr>
            <a:r>
              <a:rPr lang="es-ES" sz="1000" dirty="0">
                <a:latin typeface="Avenir 35" panose="00000400000000000000" pitchFamily="2" charset="0"/>
                <a:cs typeface="Arial" pitchFamily="34" charset="0"/>
              </a:rPr>
              <a:t>sentiment analisys  comparado</a:t>
            </a:r>
          </a:p>
          <a:p>
            <a:pPr marL="85818" indent="-85818" defTabSz="915400">
              <a:spcBef>
                <a:spcPts val="300"/>
              </a:spcBef>
              <a:buClr>
                <a:schemeClr val="tx1"/>
              </a:buClr>
              <a:buFont typeface="Wingdings" pitchFamily="2" charset="2"/>
              <a:buChar char="§"/>
            </a:pPr>
            <a:r>
              <a:rPr lang="es-ES" sz="1000" b="1" dirty="0">
                <a:latin typeface="Avenir 35" panose="00000400000000000000" pitchFamily="2" charset="0"/>
                <a:cs typeface="Arial" pitchFamily="34" charset="0"/>
              </a:rPr>
              <a:t>Informes y mapas comparativos:</a:t>
            </a:r>
          </a:p>
          <a:p>
            <a:pPr marL="181171" lvl="1" indent="-95353">
              <a:spcBef>
                <a:spcPts val="300"/>
              </a:spcBef>
              <a:buClr>
                <a:schemeClr val="bg1">
                  <a:lumMod val="85000"/>
                </a:schemeClr>
              </a:buClr>
              <a:buFont typeface="Wingdings" pitchFamily="2" charset="2"/>
              <a:buChar char="§"/>
            </a:pPr>
            <a:r>
              <a:rPr lang="es-ES" sz="1000" dirty="0">
                <a:latin typeface="Avenir 35" panose="00000400000000000000" pitchFamily="2" charset="0"/>
                <a:cs typeface="Arial" pitchFamily="34" charset="0"/>
              </a:rPr>
              <a:t>posicionamiento comparativo de Easy Money Benz</a:t>
            </a:r>
          </a:p>
          <a:p>
            <a:pPr marL="181171" lvl="1" indent="-95353">
              <a:spcBef>
                <a:spcPts val="300"/>
              </a:spcBef>
              <a:buClr>
                <a:schemeClr val="bg1">
                  <a:lumMod val="85000"/>
                </a:schemeClr>
              </a:buClr>
              <a:buFont typeface="Wingdings" pitchFamily="2" charset="2"/>
              <a:buChar char="§"/>
            </a:pPr>
            <a:r>
              <a:rPr lang="es-ES" sz="1000" dirty="0">
                <a:latin typeface="Avenir 35" panose="00000400000000000000" pitchFamily="2" charset="0"/>
                <a:cs typeface="Arial" pitchFamily="34" charset="0"/>
              </a:rPr>
              <a:t>análisis segmentado por áreas</a:t>
            </a:r>
          </a:p>
          <a:p>
            <a:pPr marL="181171" lvl="1" indent="-95353">
              <a:spcBef>
                <a:spcPts val="300"/>
              </a:spcBef>
              <a:buClr>
                <a:schemeClr val="bg1">
                  <a:lumMod val="85000"/>
                </a:schemeClr>
              </a:buClr>
              <a:buFont typeface="Wingdings" pitchFamily="2" charset="2"/>
              <a:buChar char="§"/>
            </a:pPr>
            <a:r>
              <a:rPr lang="es-ES" sz="1000" dirty="0">
                <a:latin typeface="Avenir 35" panose="00000400000000000000" pitchFamily="2" charset="0"/>
                <a:cs typeface="Arial" pitchFamily="34" charset="0"/>
              </a:rPr>
              <a:t>comparativa por medios (reputación social online)</a:t>
            </a:r>
          </a:p>
        </p:txBody>
      </p:sp>
      <p:sp>
        <p:nvSpPr>
          <p:cNvPr id="67" name="66 Elipse"/>
          <p:cNvSpPr/>
          <p:nvPr/>
        </p:nvSpPr>
        <p:spPr bwMode="auto">
          <a:xfrm>
            <a:off x="3775574" y="3167683"/>
            <a:ext cx="348493" cy="355777"/>
          </a:xfrm>
          <a:prstGeom prst="ellipse">
            <a:avLst/>
          </a:prstGeom>
          <a:solidFill>
            <a:srgbClr val="009999"/>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none" lIns="108118" tIns="0" rIns="108118" bIns="0" numCol="1" rtlCol="0" anchor="ctr" anchorCtr="0" compatLnSpc="1">
            <a:prstTxWarp prst="textNoShape">
              <a:avLst/>
            </a:prstTxWarp>
          </a:bodyPr>
          <a:lstStyle/>
          <a:p>
            <a:pPr algn="ctr" defTabSz="915400"/>
            <a:r>
              <a:rPr lang="es-ES" sz="1400" b="1" dirty="0">
                <a:solidFill>
                  <a:schemeClr val="bg1"/>
                </a:solidFill>
                <a:latin typeface="Avenir 65" panose="02000600000000000000" pitchFamily="2" charset="0"/>
                <a:cs typeface="Arial" pitchFamily="34" charset="0"/>
              </a:rPr>
              <a:t>1</a:t>
            </a:r>
          </a:p>
        </p:txBody>
      </p:sp>
      <p:sp>
        <p:nvSpPr>
          <p:cNvPr id="68" name="67 Elipse"/>
          <p:cNvSpPr/>
          <p:nvPr/>
        </p:nvSpPr>
        <p:spPr bwMode="auto">
          <a:xfrm>
            <a:off x="4616145" y="4210991"/>
            <a:ext cx="348493" cy="355777"/>
          </a:xfrm>
          <a:prstGeom prst="ellipse">
            <a:avLst/>
          </a:prstGeom>
          <a:solidFill>
            <a:srgbClr val="009999"/>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none" lIns="108118" tIns="0" rIns="108118" bIns="0" numCol="1" rtlCol="0" anchor="ctr" anchorCtr="0" compatLnSpc="1">
            <a:prstTxWarp prst="textNoShape">
              <a:avLst/>
            </a:prstTxWarp>
          </a:bodyPr>
          <a:lstStyle/>
          <a:p>
            <a:pPr algn="ctr" defTabSz="915400"/>
            <a:r>
              <a:rPr lang="es-ES" sz="1400" b="1" dirty="0">
                <a:solidFill>
                  <a:schemeClr val="bg1"/>
                </a:solidFill>
                <a:latin typeface="Avenir 65" panose="02000600000000000000" pitchFamily="2" charset="0"/>
                <a:cs typeface="Arial" pitchFamily="34" charset="0"/>
              </a:rPr>
              <a:t>2</a:t>
            </a:r>
          </a:p>
        </p:txBody>
      </p:sp>
      <p:sp>
        <p:nvSpPr>
          <p:cNvPr id="37" name="AutoShape 4"/>
          <p:cNvSpPr>
            <a:spLocks noChangeArrowheads="1"/>
          </p:cNvSpPr>
          <p:nvPr/>
        </p:nvSpPr>
        <p:spPr bwMode="auto">
          <a:xfrm>
            <a:off x="632527" y="832079"/>
            <a:ext cx="8660261" cy="432048"/>
          </a:xfrm>
          <a:prstGeom prst="roundRect">
            <a:avLst>
              <a:gd name="adj" fmla="val 12500"/>
            </a:avLst>
          </a:prstGeom>
        </p:spPr>
        <p:txBody>
          <a:bodyPr lIns="92583" tIns="46292" rIns="92583" bIns="46292" anchor="ctr">
            <a:noAutofit/>
          </a:bodyPr>
          <a:lstStyle/>
          <a:p>
            <a:pPr algn="ctr"/>
            <a:r>
              <a:rPr lang="es-ES" sz="1000" dirty="0">
                <a:solidFill>
                  <a:srgbClr val="505050"/>
                </a:solidFill>
                <a:latin typeface="Avenir 35" panose="00000400000000000000" pitchFamily="2" charset="0"/>
                <a:cs typeface="Arial" panose="020B0604020202020204" pitchFamily="34" charset="0"/>
              </a:rPr>
              <a:t>Para poder evolucionar debemos medir el impacto de las acciones que conforman nuestra Estrategia CRM. Una vez definido el proceso de monitorización, analizamos el contenido desde tres puntos de vista: Analítica Web, Social CRM y Negocio.</a:t>
            </a:r>
          </a:p>
        </p:txBody>
      </p:sp>
      <p:grpSp>
        <p:nvGrpSpPr>
          <p:cNvPr id="35" name="34 Grupo"/>
          <p:cNvGrpSpPr>
            <a:grpSpLocks noChangeAspect="1"/>
          </p:cNvGrpSpPr>
          <p:nvPr/>
        </p:nvGrpSpPr>
        <p:grpSpPr>
          <a:xfrm>
            <a:off x="7715654" y="1347503"/>
            <a:ext cx="366528" cy="360000"/>
            <a:chOff x="460846" y="4293096"/>
            <a:chExt cx="638482" cy="627109"/>
          </a:xfrm>
        </p:grpSpPr>
        <p:sp>
          <p:nvSpPr>
            <p:cNvPr id="38" name="37 Elipse"/>
            <p:cNvSpPr/>
            <p:nvPr/>
          </p:nvSpPr>
          <p:spPr>
            <a:xfrm>
              <a:off x="460846" y="4293096"/>
              <a:ext cx="638482" cy="607226"/>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39" name="Picture 2" descr="https://cdn0.iconfinder.com/data/icons/shipping-icons/100/15-256.png"/>
            <p:cNvPicPr>
              <a:picLocks noChangeAspect="1" noChangeArrowheads="1"/>
            </p:cNvPicPr>
            <p:nvPr/>
          </p:nvPicPr>
          <p:blipFill>
            <a:blip r:embed="rId6" cstate="print">
              <a:biLevel thresh="25000"/>
              <a:extLst>
                <a:ext uri="{28A0092B-C50C-407E-A947-70E740481C1C}">
                  <a14:useLocalDpi xmlns:a14="http://schemas.microsoft.com/office/drawing/2010/main" val="0"/>
                </a:ext>
              </a:extLst>
            </a:blip>
            <a:srcRect/>
            <a:stretch>
              <a:fillRect/>
            </a:stretch>
          </p:blipFill>
          <p:spPr bwMode="auto">
            <a:xfrm>
              <a:off x="487202" y="4326160"/>
              <a:ext cx="594046" cy="5940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 name="39 Grupo"/>
          <p:cNvGrpSpPr>
            <a:grpSpLocks noChangeAspect="1"/>
          </p:cNvGrpSpPr>
          <p:nvPr/>
        </p:nvGrpSpPr>
        <p:grpSpPr>
          <a:xfrm>
            <a:off x="8225195" y="1347499"/>
            <a:ext cx="378529" cy="360000"/>
            <a:chOff x="442620" y="4900973"/>
            <a:chExt cx="638481" cy="607227"/>
          </a:xfrm>
        </p:grpSpPr>
        <p:sp>
          <p:nvSpPr>
            <p:cNvPr id="41" name="40 Elipse"/>
            <p:cNvSpPr/>
            <p:nvPr/>
          </p:nvSpPr>
          <p:spPr>
            <a:xfrm>
              <a:off x="442620" y="4900973"/>
              <a:ext cx="638481"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42" name="Picture 27" descr="http://flaticons.net/icons/Transportation/Van.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6086" y="4979379"/>
              <a:ext cx="460901" cy="4609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3" name="42 Grupo"/>
          <p:cNvGrpSpPr>
            <a:grpSpLocks noChangeAspect="1"/>
          </p:cNvGrpSpPr>
          <p:nvPr/>
        </p:nvGrpSpPr>
        <p:grpSpPr>
          <a:xfrm>
            <a:off x="7198244" y="1347499"/>
            <a:ext cx="378528" cy="360000"/>
            <a:chOff x="442620" y="5518761"/>
            <a:chExt cx="638481" cy="607227"/>
          </a:xfrm>
        </p:grpSpPr>
        <p:sp>
          <p:nvSpPr>
            <p:cNvPr id="44" name="43 Elipse"/>
            <p:cNvSpPr/>
            <p:nvPr/>
          </p:nvSpPr>
          <p:spPr>
            <a:xfrm>
              <a:off x="442620" y="5518761"/>
              <a:ext cx="638481"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solidFill>
                  <a:prstClr val="white"/>
                </a:solidFill>
              </a:endParaRPr>
            </a:p>
          </p:txBody>
        </p:sp>
        <p:pic>
          <p:nvPicPr>
            <p:cNvPr id="45" name="Picture 25" descr="http://www.iconsdb.com/icons/preview/white/car-xxl.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46086" y="5602320"/>
              <a:ext cx="418968" cy="4189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6" name="45 Grupo"/>
          <p:cNvGrpSpPr>
            <a:grpSpLocks noChangeAspect="1"/>
          </p:cNvGrpSpPr>
          <p:nvPr/>
        </p:nvGrpSpPr>
        <p:grpSpPr>
          <a:xfrm>
            <a:off x="8696914" y="1347499"/>
            <a:ext cx="504056" cy="360000"/>
            <a:chOff x="382713" y="5754222"/>
            <a:chExt cx="850214" cy="607227"/>
          </a:xfrm>
        </p:grpSpPr>
        <p:sp>
          <p:nvSpPr>
            <p:cNvPr id="47" name="46 Elipse"/>
            <p:cNvSpPr/>
            <p:nvPr/>
          </p:nvSpPr>
          <p:spPr>
            <a:xfrm>
              <a:off x="490759" y="5754222"/>
              <a:ext cx="638482" cy="607227"/>
            </a:xfrm>
            <a:prstGeom prst="ellipse">
              <a:avLst/>
            </a:prstGeom>
            <a:solidFill>
              <a:srgbClr val="3CB2C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00" dirty="0">
                <a:solidFill>
                  <a:prstClr val="white"/>
                </a:solidFill>
              </a:endParaRPr>
            </a:p>
          </p:txBody>
        </p:sp>
        <p:sp>
          <p:nvSpPr>
            <p:cNvPr id="48" name="47 CuadroTexto"/>
            <p:cNvSpPr txBox="1"/>
            <p:nvPr/>
          </p:nvSpPr>
          <p:spPr>
            <a:xfrm>
              <a:off x="382713" y="5892865"/>
              <a:ext cx="850214" cy="361418"/>
            </a:xfrm>
            <a:prstGeom prst="rect">
              <a:avLst/>
            </a:prstGeom>
            <a:noFill/>
          </p:spPr>
          <p:txBody>
            <a:bodyPr wrap="square" lIns="90281" tIns="45139" rIns="90281" bIns="45139" rtlCol="0">
              <a:spAutoFit/>
            </a:bodyPr>
            <a:lstStyle/>
            <a:p>
              <a:pPr algn="ctr" defTabSz="902813"/>
              <a:r>
                <a:rPr lang="en-GB" sz="800" spc="-49" dirty="0">
                  <a:solidFill>
                    <a:schemeClr val="bg1"/>
                  </a:solidFill>
                  <a:latin typeface="Avenir 65" panose="02000600000000000000" pitchFamily="2" charset="0"/>
                  <a:cs typeface="Arial" pitchFamily="34" charset="0"/>
                </a:rPr>
                <a:t>MBFN</a:t>
              </a:r>
            </a:p>
          </p:txBody>
        </p:sp>
      </p:grpSp>
      <p:sp>
        <p:nvSpPr>
          <p:cNvPr id="28"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27</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2215859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Usersad.everis.int\enterprise_files\Spain\Madrid\Proyectos\Social and Connected Business\02.- PROYECTOS\INTERNOS\WEB EVERIS - 03112016\WEB EVERIS 03112016\02 RECURSOS WEB\FOTOS UNSPLASH\photo-1455849318743-b2233052fcff.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4763"/>
            <a:ext cx="10287000" cy="686752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p:cNvSpPr/>
          <p:nvPr/>
        </p:nvSpPr>
        <p:spPr>
          <a:xfrm rot="2700000">
            <a:off x="3208413" y="2964164"/>
            <a:ext cx="3489172" cy="3489172"/>
          </a:xfrm>
          <a:prstGeom prst="rect">
            <a:avLst/>
          </a:prstGeom>
          <a:solidFill>
            <a:srgbClr val="323232">
              <a:alpha val="69804"/>
            </a:srgbClr>
          </a:solidFill>
          <a:ln w="1016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3"/>
          <p:cNvSpPr/>
          <p:nvPr/>
        </p:nvSpPr>
        <p:spPr>
          <a:xfrm rot="2700000">
            <a:off x="3767257" y="322606"/>
            <a:ext cx="2371484" cy="2371484"/>
          </a:xfrm>
          <a:prstGeom prst="rect">
            <a:avLst/>
          </a:prstGeom>
          <a:solidFill>
            <a:srgbClr val="323232">
              <a:alpha val="40000"/>
            </a:srgb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5"/>
          <p:cNvCxnSpPr/>
          <p:nvPr/>
        </p:nvCxnSpPr>
        <p:spPr>
          <a:xfrm>
            <a:off x="4668511" y="5163935"/>
            <a:ext cx="56454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8 Rectángulo"/>
          <p:cNvSpPr/>
          <p:nvPr/>
        </p:nvSpPr>
        <p:spPr>
          <a:xfrm>
            <a:off x="3787010" y="4524095"/>
            <a:ext cx="2311851" cy="461665"/>
          </a:xfrm>
          <a:prstGeom prst="rect">
            <a:avLst/>
          </a:prstGeom>
        </p:spPr>
        <p:txBody>
          <a:bodyPr wrap="none">
            <a:spAutoFit/>
          </a:bodyPr>
          <a:lstStyle/>
          <a:p>
            <a:pPr>
              <a:spcBef>
                <a:spcPts val="1200"/>
              </a:spcBef>
              <a:buClr>
                <a:srgbClr val="323232"/>
              </a:buClr>
            </a:pPr>
            <a:r>
              <a:rPr lang="es-ES" sz="2400" dirty="0">
                <a:solidFill>
                  <a:schemeClr val="bg1"/>
                </a:solidFill>
                <a:latin typeface="Avenir 35" panose="00000400000000000000" pitchFamily="2" charset="0"/>
                <a:cs typeface="Arial" panose="020B0604020202020204" pitchFamily="34" charset="0"/>
              </a:rPr>
              <a:t>Casos Prácticos</a:t>
            </a:r>
          </a:p>
        </p:txBody>
      </p:sp>
      <p:sp>
        <p:nvSpPr>
          <p:cNvPr id="5" name="Rectangle 2"/>
          <p:cNvSpPr/>
          <p:nvPr/>
        </p:nvSpPr>
        <p:spPr>
          <a:xfrm rot="2700000">
            <a:off x="4356670" y="2050713"/>
            <a:ext cx="1192658" cy="1192658"/>
          </a:xfrm>
          <a:prstGeom prst="rect">
            <a:avLst/>
          </a:prstGeom>
          <a:noFill/>
          <a:ln w="1016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12 Rectángulo"/>
          <p:cNvSpPr/>
          <p:nvPr/>
        </p:nvSpPr>
        <p:spPr>
          <a:xfrm>
            <a:off x="4728767" y="2429412"/>
            <a:ext cx="428322" cy="584775"/>
          </a:xfrm>
          <a:prstGeom prst="rect">
            <a:avLst/>
          </a:prstGeom>
        </p:spPr>
        <p:txBody>
          <a:bodyPr wrap="none">
            <a:spAutoFit/>
          </a:bodyPr>
          <a:lstStyle/>
          <a:p>
            <a:pPr>
              <a:spcBef>
                <a:spcPts val="1200"/>
              </a:spcBef>
              <a:buClr>
                <a:srgbClr val="323232"/>
              </a:buClr>
            </a:pPr>
            <a:r>
              <a:rPr lang="es-ES" sz="3200" b="1" dirty="0">
                <a:solidFill>
                  <a:schemeClr val="bg1"/>
                </a:solidFill>
                <a:latin typeface="Avenir 65" panose="02000600000000000000" pitchFamily="2" charset="0"/>
                <a:cs typeface="Arial" panose="020B0604020202020204" pitchFamily="34" charset="0"/>
              </a:rPr>
              <a:t>3</a:t>
            </a:r>
          </a:p>
        </p:txBody>
      </p:sp>
      <p:sp>
        <p:nvSpPr>
          <p:cNvPr id="11" name="Title 1"/>
          <p:cNvSpPr txBox="1">
            <a:spLocks/>
          </p:cNvSpPr>
          <p:nvPr/>
        </p:nvSpPr>
        <p:spPr>
          <a:xfrm>
            <a:off x="7297440" y="6381328"/>
            <a:ext cx="2608560" cy="369515"/>
          </a:xfrm>
          <a:prstGeom prst="rect">
            <a:avLst/>
          </a:prstGeom>
        </p:spPr>
        <p:txBody>
          <a:bodyPr vert="horz" lIns="91440" tIns="45720" rIns="91440" bIns="45720" rtlCol="0">
            <a:noAutofit/>
          </a:bodyPr>
          <a:lstStyle>
            <a:lvl1pPr indent="0" algn="ctr">
              <a:spcBef>
                <a:spcPct val="20000"/>
              </a:spcBef>
              <a:buFont typeface="Arial" panose="020B0604020202020204" pitchFamily="34" charset="0"/>
              <a:buNone/>
              <a:defRPr>
                <a:solidFill>
                  <a:schemeClr val="bg1"/>
                </a:solidFill>
                <a:latin typeface="HelveticaNeueLT Std Lt" pitchFamily="34" charset="0"/>
              </a:defRPr>
            </a:lvl1pPr>
            <a:lvl2pPr indent="0" algn="ctr">
              <a:spcBef>
                <a:spcPct val="20000"/>
              </a:spcBef>
              <a:buFont typeface="Arial" panose="020B0604020202020204" pitchFamily="34" charset="0"/>
              <a:buNone/>
              <a:defRPr sz="2800">
                <a:solidFill>
                  <a:schemeClr val="tx1">
                    <a:tint val="75000"/>
                  </a:schemeClr>
                </a:solidFill>
              </a:defRPr>
            </a:lvl2pPr>
            <a:lvl3pPr indent="0" algn="ctr">
              <a:spcBef>
                <a:spcPct val="20000"/>
              </a:spcBef>
              <a:buFont typeface="Arial" panose="020B0604020202020204" pitchFamily="34" charset="0"/>
              <a:buNone/>
              <a:defRPr sz="2400">
                <a:solidFill>
                  <a:schemeClr val="tx1">
                    <a:tint val="75000"/>
                  </a:schemeClr>
                </a:solidFill>
              </a:defRPr>
            </a:lvl3pPr>
            <a:lvl4pPr indent="0" algn="ctr">
              <a:spcBef>
                <a:spcPct val="20000"/>
              </a:spcBef>
              <a:buFont typeface="Arial" panose="020B0604020202020204" pitchFamily="34" charset="0"/>
              <a:buNone/>
              <a:defRPr sz="2000">
                <a:solidFill>
                  <a:schemeClr val="tx1">
                    <a:tint val="75000"/>
                  </a:schemeClr>
                </a:solidFill>
              </a:defRPr>
            </a:lvl4pPr>
            <a:lvl5pPr indent="0" algn="ctr">
              <a:spcBef>
                <a:spcPct val="20000"/>
              </a:spcBef>
              <a:buFont typeface="Arial" panose="020B0604020202020204" pitchFamily="34" charset="0"/>
              <a:buNone/>
              <a:defRPr sz="2000">
                <a:solidFill>
                  <a:schemeClr val="tx1">
                    <a:tint val="75000"/>
                  </a:schemeClr>
                </a:solidFill>
              </a:defRPr>
            </a:lvl5pPr>
            <a:lvl6pPr indent="0" algn="ctr">
              <a:spcBef>
                <a:spcPct val="20000"/>
              </a:spcBef>
              <a:buFont typeface="Arial" panose="020B0604020202020204" pitchFamily="34" charset="0"/>
              <a:buNone/>
              <a:defRPr sz="2000">
                <a:solidFill>
                  <a:schemeClr val="tx1">
                    <a:tint val="75000"/>
                  </a:schemeClr>
                </a:solidFill>
              </a:defRPr>
            </a:lvl6pPr>
            <a:lvl7pPr indent="0" algn="ctr">
              <a:spcBef>
                <a:spcPct val="20000"/>
              </a:spcBef>
              <a:buFont typeface="Arial" panose="020B0604020202020204" pitchFamily="34" charset="0"/>
              <a:buNone/>
              <a:defRPr sz="2000">
                <a:solidFill>
                  <a:schemeClr val="tx1">
                    <a:tint val="75000"/>
                  </a:schemeClr>
                </a:solidFill>
              </a:defRPr>
            </a:lvl7pPr>
            <a:lvl8pPr indent="0" algn="ctr">
              <a:spcBef>
                <a:spcPct val="20000"/>
              </a:spcBef>
              <a:buFont typeface="Arial" panose="020B0604020202020204" pitchFamily="34" charset="0"/>
              <a:buNone/>
              <a:defRPr sz="2000">
                <a:solidFill>
                  <a:schemeClr val="tx1">
                    <a:tint val="75000"/>
                  </a:schemeClr>
                </a:solidFill>
              </a:defRPr>
            </a:lvl8pPr>
            <a:lvl9pPr indent="0" algn="ctr">
              <a:spcBef>
                <a:spcPct val="20000"/>
              </a:spcBef>
              <a:buFont typeface="Arial" panose="020B0604020202020204" pitchFamily="34" charset="0"/>
              <a:buNone/>
              <a:defRPr sz="2000">
                <a:solidFill>
                  <a:schemeClr val="tx1">
                    <a:tint val="75000"/>
                  </a:schemeClr>
                </a:solidFill>
              </a:defRPr>
            </a:lvl9pPr>
          </a:lstStyle>
          <a:p>
            <a:r>
              <a:rPr lang="es-ES" sz="2000" dirty="0">
                <a:latin typeface="Master Of Break" pitchFamily="2" charset="0"/>
              </a:rPr>
              <a:t>the key is always you</a:t>
            </a:r>
            <a:endParaRPr lang="en-US" sz="2000" dirty="0">
              <a:latin typeface="Master Of Break" pitchFamily="2" charset="0"/>
            </a:endParaRPr>
          </a:p>
        </p:txBody>
      </p:sp>
      <p:sp>
        <p:nvSpPr>
          <p:cNvPr id="10"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28</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19150818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93 CuadroTexto"/>
          <p:cNvSpPr txBox="1"/>
          <p:nvPr/>
        </p:nvSpPr>
        <p:spPr>
          <a:xfrm>
            <a:off x="116463" y="116634"/>
            <a:ext cx="9673075" cy="584775"/>
          </a:xfrm>
          <a:prstGeom prst="rect">
            <a:avLst/>
          </a:prstGeom>
          <a:noFill/>
        </p:spPr>
        <p:txBody>
          <a:bodyPr wrap="square" rtlCol="0">
            <a:spAutoFit/>
          </a:bodyPr>
          <a:lstStyle/>
          <a:p>
            <a:pPr algn="ctr"/>
            <a:r>
              <a:rPr lang="es-ES" sz="1200" dirty="0">
                <a:solidFill>
                  <a:srgbClr val="323232"/>
                </a:solidFill>
                <a:latin typeface="Avenir 35" panose="00000400000000000000" pitchFamily="2" charset="0"/>
              </a:rPr>
              <a:t>Caso 1: programa de renovación de clientes</a:t>
            </a:r>
          </a:p>
          <a:p>
            <a:pPr algn="ctr"/>
            <a:r>
              <a:rPr lang="es-ES" sz="2000" b="1" dirty="0">
                <a:solidFill>
                  <a:srgbClr val="323232"/>
                </a:solidFill>
                <a:latin typeface="Avenir 35" panose="00000400000000000000" pitchFamily="2" charset="0"/>
              </a:rPr>
              <a:t>PROBLEMÁTICA</a:t>
            </a:r>
          </a:p>
        </p:txBody>
      </p:sp>
      <p:sp>
        <p:nvSpPr>
          <p:cNvPr id="46" name="AutoShape 4"/>
          <p:cNvSpPr>
            <a:spLocks noChangeArrowheads="1"/>
          </p:cNvSpPr>
          <p:nvPr/>
        </p:nvSpPr>
        <p:spPr bwMode="auto">
          <a:xfrm>
            <a:off x="632527" y="832079"/>
            <a:ext cx="8660261" cy="432048"/>
          </a:xfrm>
          <a:prstGeom prst="roundRect">
            <a:avLst>
              <a:gd name="adj" fmla="val 12500"/>
            </a:avLst>
          </a:prstGeom>
        </p:spPr>
        <p:txBody>
          <a:bodyPr lIns="92583" tIns="46292" rIns="92583" bIns="46292" anchor="ctr">
            <a:noAutofit/>
          </a:bodyPr>
          <a:lstStyle/>
          <a:p>
            <a:pPr algn="ctr"/>
            <a:r>
              <a:rPr lang="es-ES" sz="1000" dirty="0">
                <a:solidFill>
                  <a:prstClr val="black"/>
                </a:solidFill>
                <a:latin typeface="Avenir 35" panose="00000400000000000000" pitchFamily="2" charset="0"/>
                <a:cs typeface="Arial" panose="020B0604020202020204" pitchFamily="34" charset="0"/>
              </a:rPr>
              <a:t>Con el objetivo de evaluar el valor añadido que puede aportar Grupo VI, BANCO nos plantea dos casos prácticos de gestión de campañas, para que el proveedor desarrolle una propuesta de mejora. </a:t>
            </a:r>
          </a:p>
        </p:txBody>
      </p:sp>
      <p:grpSp>
        <p:nvGrpSpPr>
          <p:cNvPr id="125" name="Group 79"/>
          <p:cNvGrpSpPr>
            <a:grpSpLocks noChangeAspect="1"/>
          </p:cNvGrpSpPr>
          <p:nvPr/>
        </p:nvGrpSpPr>
        <p:grpSpPr>
          <a:xfrm>
            <a:off x="2195737" y="1528819"/>
            <a:ext cx="4841711" cy="5252982"/>
            <a:chOff x="3506788" y="1241425"/>
            <a:chExt cx="5176838" cy="5616576"/>
          </a:xfrm>
        </p:grpSpPr>
        <p:sp>
          <p:nvSpPr>
            <p:cNvPr id="126" name="Freeform 5"/>
            <p:cNvSpPr>
              <a:spLocks/>
            </p:cNvSpPr>
            <p:nvPr/>
          </p:nvSpPr>
          <p:spPr bwMode="auto">
            <a:xfrm>
              <a:off x="4200526" y="5394325"/>
              <a:ext cx="1524000" cy="1463675"/>
            </a:xfrm>
            <a:custGeom>
              <a:avLst/>
              <a:gdLst>
                <a:gd name="T0" fmla="*/ 0 w 688"/>
                <a:gd name="T1" fmla="*/ 0 h 661"/>
                <a:gd name="T2" fmla="*/ 0 w 688"/>
                <a:gd name="T3" fmla="*/ 246 h 661"/>
                <a:gd name="T4" fmla="*/ 82 w 688"/>
                <a:gd name="T5" fmla="*/ 328 h 661"/>
                <a:gd name="T6" fmla="*/ 606 w 688"/>
                <a:gd name="T7" fmla="*/ 328 h 661"/>
                <a:gd name="T8" fmla="*/ 688 w 688"/>
                <a:gd name="T9" fmla="*/ 409 h 661"/>
                <a:gd name="T10" fmla="*/ 688 w 688"/>
                <a:gd name="T11" fmla="*/ 661 h 661"/>
              </a:gdLst>
              <a:ahLst/>
              <a:cxnLst>
                <a:cxn ang="0">
                  <a:pos x="T0" y="T1"/>
                </a:cxn>
                <a:cxn ang="0">
                  <a:pos x="T2" y="T3"/>
                </a:cxn>
                <a:cxn ang="0">
                  <a:pos x="T4" y="T5"/>
                </a:cxn>
                <a:cxn ang="0">
                  <a:pos x="T6" y="T7"/>
                </a:cxn>
                <a:cxn ang="0">
                  <a:pos x="T8" y="T9"/>
                </a:cxn>
                <a:cxn ang="0">
                  <a:pos x="T10" y="T11"/>
                </a:cxn>
              </a:cxnLst>
              <a:rect l="0" t="0" r="r" b="b"/>
              <a:pathLst>
                <a:path w="688" h="661">
                  <a:moveTo>
                    <a:pt x="0" y="0"/>
                  </a:moveTo>
                  <a:cubicBezTo>
                    <a:pt x="0" y="246"/>
                    <a:pt x="0" y="246"/>
                    <a:pt x="0" y="246"/>
                  </a:cubicBezTo>
                  <a:cubicBezTo>
                    <a:pt x="0" y="291"/>
                    <a:pt x="37" y="328"/>
                    <a:pt x="82" y="328"/>
                  </a:cubicBezTo>
                  <a:cubicBezTo>
                    <a:pt x="606" y="328"/>
                    <a:pt x="606" y="328"/>
                    <a:pt x="606" y="328"/>
                  </a:cubicBezTo>
                  <a:cubicBezTo>
                    <a:pt x="651" y="328"/>
                    <a:pt x="688" y="364"/>
                    <a:pt x="688" y="409"/>
                  </a:cubicBezTo>
                  <a:cubicBezTo>
                    <a:pt x="688" y="661"/>
                    <a:pt x="688" y="661"/>
                    <a:pt x="688" y="661"/>
                  </a:cubicBezTo>
                </a:path>
              </a:pathLst>
            </a:custGeom>
            <a:noFill/>
            <a:ln w="79375" cap="flat">
              <a:solidFill>
                <a:srgbClr val="E13A6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27" name="Freeform 6"/>
            <p:cNvSpPr>
              <a:spLocks/>
            </p:cNvSpPr>
            <p:nvPr/>
          </p:nvSpPr>
          <p:spPr bwMode="auto">
            <a:xfrm>
              <a:off x="4165601" y="4892675"/>
              <a:ext cx="69850" cy="300038"/>
            </a:xfrm>
            <a:custGeom>
              <a:avLst/>
              <a:gdLst>
                <a:gd name="T0" fmla="*/ 32 w 32"/>
                <a:gd name="T1" fmla="*/ 0 h 136"/>
                <a:gd name="T2" fmla="*/ 0 w 32"/>
                <a:gd name="T3" fmla="*/ 0 h 136"/>
                <a:gd name="T4" fmla="*/ 1 w 32"/>
                <a:gd name="T5" fmla="*/ 25 h 136"/>
                <a:gd name="T6" fmla="*/ 1 w 32"/>
                <a:gd name="T7" fmla="*/ 136 h 136"/>
                <a:gd name="T8" fmla="*/ 30 w 32"/>
                <a:gd name="T9" fmla="*/ 136 h 136"/>
                <a:gd name="T10" fmla="*/ 30 w 32"/>
                <a:gd name="T11" fmla="*/ 25 h 136"/>
                <a:gd name="T12" fmla="*/ 32 w 32"/>
                <a:gd name="T13" fmla="*/ 0 h 136"/>
              </a:gdLst>
              <a:ahLst/>
              <a:cxnLst>
                <a:cxn ang="0">
                  <a:pos x="T0" y="T1"/>
                </a:cxn>
                <a:cxn ang="0">
                  <a:pos x="T2" y="T3"/>
                </a:cxn>
                <a:cxn ang="0">
                  <a:pos x="T4" y="T5"/>
                </a:cxn>
                <a:cxn ang="0">
                  <a:pos x="T6" y="T7"/>
                </a:cxn>
                <a:cxn ang="0">
                  <a:pos x="T8" y="T9"/>
                </a:cxn>
                <a:cxn ang="0">
                  <a:pos x="T10" y="T11"/>
                </a:cxn>
                <a:cxn ang="0">
                  <a:pos x="T12" y="T13"/>
                </a:cxn>
              </a:cxnLst>
              <a:rect l="0" t="0" r="r" b="b"/>
              <a:pathLst>
                <a:path w="32" h="136">
                  <a:moveTo>
                    <a:pt x="32" y="0"/>
                  </a:moveTo>
                  <a:cubicBezTo>
                    <a:pt x="0" y="0"/>
                    <a:pt x="0" y="0"/>
                    <a:pt x="0" y="0"/>
                  </a:cubicBezTo>
                  <a:cubicBezTo>
                    <a:pt x="2" y="14"/>
                    <a:pt x="1" y="25"/>
                    <a:pt x="1" y="25"/>
                  </a:cubicBezTo>
                  <a:cubicBezTo>
                    <a:pt x="1" y="136"/>
                    <a:pt x="1" y="136"/>
                    <a:pt x="1" y="136"/>
                  </a:cubicBezTo>
                  <a:cubicBezTo>
                    <a:pt x="30" y="136"/>
                    <a:pt x="30" y="136"/>
                    <a:pt x="30" y="136"/>
                  </a:cubicBezTo>
                  <a:cubicBezTo>
                    <a:pt x="30" y="25"/>
                    <a:pt x="30" y="25"/>
                    <a:pt x="30" y="25"/>
                  </a:cubicBezTo>
                  <a:cubicBezTo>
                    <a:pt x="30" y="25"/>
                    <a:pt x="30" y="14"/>
                    <a:pt x="32" y="0"/>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28" name="Freeform 7"/>
            <p:cNvSpPr>
              <a:spLocks/>
            </p:cNvSpPr>
            <p:nvPr/>
          </p:nvSpPr>
          <p:spPr bwMode="auto">
            <a:xfrm>
              <a:off x="4260851" y="4781550"/>
              <a:ext cx="120650" cy="88900"/>
            </a:xfrm>
            <a:custGeom>
              <a:avLst/>
              <a:gdLst>
                <a:gd name="T0" fmla="*/ 41 w 55"/>
                <a:gd name="T1" fmla="*/ 4 h 40"/>
                <a:gd name="T2" fmla="*/ 26 w 55"/>
                <a:gd name="T3" fmla="*/ 0 h 40"/>
                <a:gd name="T4" fmla="*/ 0 w 55"/>
                <a:gd name="T5" fmla="*/ 40 h 40"/>
                <a:gd name="T6" fmla="*/ 36 w 55"/>
                <a:gd name="T7" fmla="*/ 40 h 40"/>
                <a:gd name="T8" fmla="*/ 54 w 55"/>
                <a:gd name="T9" fmla="*/ 28 h 40"/>
                <a:gd name="T10" fmla="*/ 41 w 55"/>
                <a:gd name="T11" fmla="*/ 4 h 40"/>
              </a:gdLst>
              <a:ahLst/>
              <a:cxnLst>
                <a:cxn ang="0">
                  <a:pos x="T0" y="T1"/>
                </a:cxn>
                <a:cxn ang="0">
                  <a:pos x="T2" y="T3"/>
                </a:cxn>
                <a:cxn ang="0">
                  <a:pos x="T4" y="T5"/>
                </a:cxn>
                <a:cxn ang="0">
                  <a:pos x="T6" y="T7"/>
                </a:cxn>
                <a:cxn ang="0">
                  <a:pos x="T8" y="T9"/>
                </a:cxn>
                <a:cxn ang="0">
                  <a:pos x="T10" y="T11"/>
                </a:cxn>
              </a:cxnLst>
              <a:rect l="0" t="0" r="r" b="b"/>
              <a:pathLst>
                <a:path w="55" h="40">
                  <a:moveTo>
                    <a:pt x="41" y="4"/>
                  </a:moveTo>
                  <a:cubicBezTo>
                    <a:pt x="35" y="1"/>
                    <a:pt x="31" y="0"/>
                    <a:pt x="26" y="0"/>
                  </a:cubicBezTo>
                  <a:cubicBezTo>
                    <a:pt x="10" y="0"/>
                    <a:pt x="3" y="23"/>
                    <a:pt x="0" y="40"/>
                  </a:cubicBezTo>
                  <a:cubicBezTo>
                    <a:pt x="36" y="40"/>
                    <a:pt x="36" y="40"/>
                    <a:pt x="36" y="40"/>
                  </a:cubicBezTo>
                  <a:cubicBezTo>
                    <a:pt x="45" y="40"/>
                    <a:pt x="52" y="35"/>
                    <a:pt x="54" y="28"/>
                  </a:cubicBezTo>
                  <a:cubicBezTo>
                    <a:pt x="55" y="21"/>
                    <a:pt x="53" y="11"/>
                    <a:pt x="41" y="4"/>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29" name="Freeform 8"/>
            <p:cNvSpPr>
              <a:spLocks/>
            </p:cNvSpPr>
            <p:nvPr/>
          </p:nvSpPr>
          <p:spPr bwMode="auto">
            <a:xfrm>
              <a:off x="4016376" y="4781550"/>
              <a:ext cx="123825" cy="88900"/>
            </a:xfrm>
            <a:custGeom>
              <a:avLst/>
              <a:gdLst>
                <a:gd name="T0" fmla="*/ 30 w 56"/>
                <a:gd name="T1" fmla="*/ 0 h 40"/>
                <a:gd name="T2" fmla="*/ 15 w 56"/>
                <a:gd name="T3" fmla="*/ 4 h 40"/>
                <a:gd name="T4" fmla="*/ 2 w 56"/>
                <a:gd name="T5" fmla="*/ 28 h 40"/>
                <a:gd name="T6" fmla="*/ 20 w 56"/>
                <a:gd name="T7" fmla="*/ 40 h 40"/>
                <a:gd name="T8" fmla="*/ 56 w 56"/>
                <a:gd name="T9" fmla="*/ 40 h 40"/>
                <a:gd name="T10" fmla="*/ 30 w 56"/>
                <a:gd name="T11" fmla="*/ 0 h 40"/>
              </a:gdLst>
              <a:ahLst/>
              <a:cxnLst>
                <a:cxn ang="0">
                  <a:pos x="T0" y="T1"/>
                </a:cxn>
                <a:cxn ang="0">
                  <a:pos x="T2" y="T3"/>
                </a:cxn>
                <a:cxn ang="0">
                  <a:pos x="T4" y="T5"/>
                </a:cxn>
                <a:cxn ang="0">
                  <a:pos x="T6" y="T7"/>
                </a:cxn>
                <a:cxn ang="0">
                  <a:pos x="T8" y="T9"/>
                </a:cxn>
                <a:cxn ang="0">
                  <a:pos x="T10" y="T11"/>
                </a:cxn>
              </a:cxnLst>
              <a:rect l="0" t="0" r="r" b="b"/>
              <a:pathLst>
                <a:path w="56" h="40">
                  <a:moveTo>
                    <a:pt x="30" y="0"/>
                  </a:moveTo>
                  <a:cubicBezTo>
                    <a:pt x="25" y="0"/>
                    <a:pt x="21" y="1"/>
                    <a:pt x="15" y="4"/>
                  </a:cubicBezTo>
                  <a:cubicBezTo>
                    <a:pt x="3" y="11"/>
                    <a:pt x="0" y="21"/>
                    <a:pt x="2" y="28"/>
                  </a:cubicBezTo>
                  <a:cubicBezTo>
                    <a:pt x="4" y="35"/>
                    <a:pt x="11" y="40"/>
                    <a:pt x="20" y="40"/>
                  </a:cubicBezTo>
                  <a:cubicBezTo>
                    <a:pt x="56" y="40"/>
                    <a:pt x="56" y="40"/>
                    <a:pt x="56" y="40"/>
                  </a:cubicBezTo>
                  <a:cubicBezTo>
                    <a:pt x="53" y="23"/>
                    <a:pt x="46" y="0"/>
                    <a:pt x="30" y="0"/>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0" name="Freeform 9"/>
            <p:cNvSpPr>
              <a:spLocks noEditPoints="1"/>
            </p:cNvSpPr>
            <p:nvPr/>
          </p:nvSpPr>
          <p:spPr bwMode="auto">
            <a:xfrm>
              <a:off x="3867151" y="4454525"/>
              <a:ext cx="658813" cy="968375"/>
            </a:xfrm>
            <a:custGeom>
              <a:avLst/>
              <a:gdLst>
                <a:gd name="T0" fmla="*/ 139 w 297"/>
                <a:gd name="T1" fmla="*/ 6 h 438"/>
                <a:gd name="T2" fmla="*/ 3 w 297"/>
                <a:gd name="T3" fmla="*/ 142 h 438"/>
                <a:gd name="T4" fmla="*/ 50 w 297"/>
                <a:gd name="T5" fmla="*/ 261 h 438"/>
                <a:gd name="T6" fmla="*/ 86 w 297"/>
                <a:gd name="T7" fmla="*/ 342 h 438"/>
                <a:gd name="T8" fmla="*/ 86 w 297"/>
                <a:gd name="T9" fmla="*/ 394 h 438"/>
                <a:gd name="T10" fmla="*/ 105 w 297"/>
                <a:gd name="T11" fmla="*/ 414 h 438"/>
                <a:gd name="T12" fmla="*/ 116 w 297"/>
                <a:gd name="T13" fmla="*/ 414 h 438"/>
                <a:gd name="T14" fmla="*/ 150 w 297"/>
                <a:gd name="T15" fmla="*/ 438 h 438"/>
                <a:gd name="T16" fmla="*/ 184 w 297"/>
                <a:gd name="T17" fmla="*/ 414 h 438"/>
                <a:gd name="T18" fmla="*/ 195 w 297"/>
                <a:gd name="T19" fmla="*/ 414 h 438"/>
                <a:gd name="T20" fmla="*/ 214 w 297"/>
                <a:gd name="T21" fmla="*/ 394 h 438"/>
                <a:gd name="T22" fmla="*/ 214 w 297"/>
                <a:gd name="T23" fmla="*/ 342 h 438"/>
                <a:gd name="T24" fmla="*/ 249 w 297"/>
                <a:gd name="T25" fmla="*/ 261 h 438"/>
                <a:gd name="T26" fmla="*/ 297 w 297"/>
                <a:gd name="T27" fmla="*/ 153 h 438"/>
                <a:gd name="T28" fmla="*/ 139 w 297"/>
                <a:gd name="T29" fmla="*/ 6 h 438"/>
                <a:gd name="T30" fmla="*/ 240 w 297"/>
                <a:gd name="T31" fmla="*/ 178 h 438"/>
                <a:gd name="T32" fmla="*/ 213 w 297"/>
                <a:gd name="T33" fmla="*/ 198 h 438"/>
                <a:gd name="T34" fmla="*/ 176 w 297"/>
                <a:gd name="T35" fmla="*/ 198 h 438"/>
                <a:gd name="T36" fmla="*/ 174 w 297"/>
                <a:gd name="T37" fmla="*/ 223 h 438"/>
                <a:gd name="T38" fmla="*/ 174 w 297"/>
                <a:gd name="T39" fmla="*/ 334 h 438"/>
                <a:gd name="T40" fmla="*/ 197 w 297"/>
                <a:gd name="T41" fmla="*/ 334 h 438"/>
                <a:gd name="T42" fmla="*/ 202 w 297"/>
                <a:gd name="T43" fmla="*/ 338 h 438"/>
                <a:gd name="T44" fmla="*/ 197 w 297"/>
                <a:gd name="T45" fmla="*/ 343 h 438"/>
                <a:gd name="T46" fmla="*/ 141 w 297"/>
                <a:gd name="T47" fmla="*/ 343 h 438"/>
                <a:gd name="T48" fmla="*/ 199 w 297"/>
                <a:gd name="T49" fmla="*/ 358 h 438"/>
                <a:gd name="T50" fmla="*/ 202 w 297"/>
                <a:gd name="T51" fmla="*/ 363 h 438"/>
                <a:gd name="T52" fmla="*/ 198 w 297"/>
                <a:gd name="T53" fmla="*/ 368 h 438"/>
                <a:gd name="T54" fmla="*/ 141 w 297"/>
                <a:gd name="T55" fmla="*/ 370 h 438"/>
                <a:gd name="T56" fmla="*/ 198 w 297"/>
                <a:gd name="T57" fmla="*/ 383 h 438"/>
                <a:gd name="T58" fmla="*/ 202 w 297"/>
                <a:gd name="T59" fmla="*/ 388 h 438"/>
                <a:gd name="T60" fmla="*/ 197 w 297"/>
                <a:gd name="T61" fmla="*/ 392 h 438"/>
                <a:gd name="T62" fmla="*/ 102 w 297"/>
                <a:gd name="T63" fmla="*/ 392 h 438"/>
                <a:gd name="T64" fmla="*/ 98 w 297"/>
                <a:gd name="T65" fmla="*/ 387 h 438"/>
                <a:gd name="T66" fmla="*/ 102 w 297"/>
                <a:gd name="T67" fmla="*/ 383 h 438"/>
                <a:gd name="T68" fmla="*/ 151 w 297"/>
                <a:gd name="T69" fmla="*/ 383 h 438"/>
                <a:gd name="T70" fmla="*/ 101 w 297"/>
                <a:gd name="T71" fmla="*/ 372 h 438"/>
                <a:gd name="T72" fmla="*/ 98 w 297"/>
                <a:gd name="T73" fmla="*/ 367 h 438"/>
                <a:gd name="T74" fmla="*/ 102 w 297"/>
                <a:gd name="T75" fmla="*/ 362 h 438"/>
                <a:gd name="T76" fmla="*/ 165 w 297"/>
                <a:gd name="T77" fmla="*/ 360 h 438"/>
                <a:gd name="T78" fmla="*/ 101 w 297"/>
                <a:gd name="T79" fmla="*/ 343 h 438"/>
                <a:gd name="T80" fmla="*/ 98 w 297"/>
                <a:gd name="T81" fmla="*/ 338 h 438"/>
                <a:gd name="T82" fmla="*/ 102 w 297"/>
                <a:gd name="T83" fmla="*/ 334 h 438"/>
                <a:gd name="T84" fmla="*/ 126 w 297"/>
                <a:gd name="T85" fmla="*/ 334 h 438"/>
                <a:gd name="T86" fmla="*/ 126 w 297"/>
                <a:gd name="T87" fmla="*/ 223 h 438"/>
                <a:gd name="T88" fmla="*/ 124 w 297"/>
                <a:gd name="T89" fmla="*/ 198 h 438"/>
                <a:gd name="T90" fmla="*/ 87 w 297"/>
                <a:gd name="T91" fmla="*/ 198 h 438"/>
                <a:gd name="T92" fmla="*/ 60 w 297"/>
                <a:gd name="T93" fmla="*/ 178 h 438"/>
                <a:gd name="T94" fmla="*/ 78 w 297"/>
                <a:gd name="T95" fmla="*/ 144 h 438"/>
                <a:gd name="T96" fmla="*/ 97 w 297"/>
                <a:gd name="T97" fmla="*/ 138 h 438"/>
                <a:gd name="T98" fmla="*/ 133 w 297"/>
                <a:gd name="T99" fmla="*/ 188 h 438"/>
                <a:gd name="T100" fmla="*/ 167 w 297"/>
                <a:gd name="T101" fmla="*/ 188 h 438"/>
                <a:gd name="T102" fmla="*/ 203 w 297"/>
                <a:gd name="T103" fmla="*/ 138 h 438"/>
                <a:gd name="T104" fmla="*/ 222 w 297"/>
                <a:gd name="T105" fmla="*/ 144 h 438"/>
                <a:gd name="T106" fmla="*/ 240 w 297"/>
                <a:gd name="T107" fmla="*/ 17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7" h="438">
                  <a:moveTo>
                    <a:pt x="139" y="6"/>
                  </a:moveTo>
                  <a:cubicBezTo>
                    <a:pt x="67" y="11"/>
                    <a:pt x="8" y="70"/>
                    <a:pt x="3" y="142"/>
                  </a:cubicBezTo>
                  <a:cubicBezTo>
                    <a:pt x="0" y="189"/>
                    <a:pt x="18" y="232"/>
                    <a:pt x="50" y="261"/>
                  </a:cubicBezTo>
                  <a:cubicBezTo>
                    <a:pt x="72" y="282"/>
                    <a:pt x="86" y="311"/>
                    <a:pt x="86" y="342"/>
                  </a:cubicBezTo>
                  <a:cubicBezTo>
                    <a:pt x="86" y="394"/>
                    <a:pt x="86" y="394"/>
                    <a:pt x="86" y="394"/>
                  </a:cubicBezTo>
                  <a:cubicBezTo>
                    <a:pt x="86" y="405"/>
                    <a:pt x="94" y="414"/>
                    <a:pt x="105" y="414"/>
                  </a:cubicBezTo>
                  <a:cubicBezTo>
                    <a:pt x="116" y="414"/>
                    <a:pt x="116" y="414"/>
                    <a:pt x="116" y="414"/>
                  </a:cubicBezTo>
                  <a:cubicBezTo>
                    <a:pt x="121" y="428"/>
                    <a:pt x="134" y="438"/>
                    <a:pt x="150" y="438"/>
                  </a:cubicBezTo>
                  <a:cubicBezTo>
                    <a:pt x="166" y="438"/>
                    <a:pt x="179" y="428"/>
                    <a:pt x="184" y="414"/>
                  </a:cubicBezTo>
                  <a:cubicBezTo>
                    <a:pt x="195" y="414"/>
                    <a:pt x="195" y="414"/>
                    <a:pt x="195" y="414"/>
                  </a:cubicBezTo>
                  <a:cubicBezTo>
                    <a:pt x="205" y="414"/>
                    <a:pt x="214" y="405"/>
                    <a:pt x="214" y="394"/>
                  </a:cubicBezTo>
                  <a:cubicBezTo>
                    <a:pt x="214" y="342"/>
                    <a:pt x="214" y="342"/>
                    <a:pt x="214" y="342"/>
                  </a:cubicBezTo>
                  <a:cubicBezTo>
                    <a:pt x="214" y="311"/>
                    <a:pt x="227" y="282"/>
                    <a:pt x="249" y="261"/>
                  </a:cubicBezTo>
                  <a:cubicBezTo>
                    <a:pt x="279" y="235"/>
                    <a:pt x="297" y="196"/>
                    <a:pt x="297" y="153"/>
                  </a:cubicBezTo>
                  <a:cubicBezTo>
                    <a:pt x="297" y="68"/>
                    <a:pt x="225" y="0"/>
                    <a:pt x="139" y="6"/>
                  </a:cubicBezTo>
                  <a:close/>
                  <a:moveTo>
                    <a:pt x="240" y="178"/>
                  </a:moveTo>
                  <a:cubicBezTo>
                    <a:pt x="237" y="190"/>
                    <a:pt x="226" y="198"/>
                    <a:pt x="213" y="198"/>
                  </a:cubicBezTo>
                  <a:cubicBezTo>
                    <a:pt x="176" y="198"/>
                    <a:pt x="176" y="198"/>
                    <a:pt x="176" y="198"/>
                  </a:cubicBezTo>
                  <a:cubicBezTo>
                    <a:pt x="174" y="212"/>
                    <a:pt x="174" y="223"/>
                    <a:pt x="174" y="223"/>
                  </a:cubicBezTo>
                  <a:cubicBezTo>
                    <a:pt x="174" y="334"/>
                    <a:pt x="174" y="334"/>
                    <a:pt x="174" y="334"/>
                  </a:cubicBezTo>
                  <a:cubicBezTo>
                    <a:pt x="197" y="334"/>
                    <a:pt x="197" y="334"/>
                    <a:pt x="197" y="334"/>
                  </a:cubicBezTo>
                  <a:cubicBezTo>
                    <a:pt x="200" y="334"/>
                    <a:pt x="202" y="336"/>
                    <a:pt x="202" y="338"/>
                  </a:cubicBezTo>
                  <a:cubicBezTo>
                    <a:pt x="202" y="341"/>
                    <a:pt x="200" y="343"/>
                    <a:pt x="197" y="343"/>
                  </a:cubicBezTo>
                  <a:cubicBezTo>
                    <a:pt x="141" y="343"/>
                    <a:pt x="141" y="343"/>
                    <a:pt x="141" y="343"/>
                  </a:cubicBezTo>
                  <a:cubicBezTo>
                    <a:pt x="199" y="358"/>
                    <a:pt x="199" y="358"/>
                    <a:pt x="199" y="358"/>
                  </a:cubicBezTo>
                  <a:cubicBezTo>
                    <a:pt x="201" y="359"/>
                    <a:pt x="203" y="361"/>
                    <a:pt x="202" y="363"/>
                  </a:cubicBezTo>
                  <a:cubicBezTo>
                    <a:pt x="202" y="366"/>
                    <a:pt x="200" y="368"/>
                    <a:pt x="198" y="368"/>
                  </a:cubicBezTo>
                  <a:cubicBezTo>
                    <a:pt x="141" y="370"/>
                    <a:pt x="141" y="370"/>
                    <a:pt x="141" y="370"/>
                  </a:cubicBezTo>
                  <a:cubicBezTo>
                    <a:pt x="198" y="383"/>
                    <a:pt x="198" y="383"/>
                    <a:pt x="198" y="383"/>
                  </a:cubicBezTo>
                  <a:cubicBezTo>
                    <a:pt x="201" y="383"/>
                    <a:pt x="203" y="385"/>
                    <a:pt x="202" y="388"/>
                  </a:cubicBezTo>
                  <a:cubicBezTo>
                    <a:pt x="202" y="390"/>
                    <a:pt x="200" y="392"/>
                    <a:pt x="197" y="392"/>
                  </a:cubicBezTo>
                  <a:cubicBezTo>
                    <a:pt x="102" y="392"/>
                    <a:pt x="102" y="392"/>
                    <a:pt x="102" y="392"/>
                  </a:cubicBezTo>
                  <a:cubicBezTo>
                    <a:pt x="100" y="392"/>
                    <a:pt x="98" y="390"/>
                    <a:pt x="98" y="387"/>
                  </a:cubicBezTo>
                  <a:cubicBezTo>
                    <a:pt x="98" y="385"/>
                    <a:pt x="100" y="383"/>
                    <a:pt x="102" y="383"/>
                  </a:cubicBezTo>
                  <a:cubicBezTo>
                    <a:pt x="151" y="383"/>
                    <a:pt x="151" y="383"/>
                    <a:pt x="151" y="383"/>
                  </a:cubicBezTo>
                  <a:cubicBezTo>
                    <a:pt x="101" y="372"/>
                    <a:pt x="101" y="372"/>
                    <a:pt x="101" y="372"/>
                  </a:cubicBezTo>
                  <a:cubicBezTo>
                    <a:pt x="99" y="372"/>
                    <a:pt x="97" y="369"/>
                    <a:pt x="98" y="367"/>
                  </a:cubicBezTo>
                  <a:cubicBezTo>
                    <a:pt x="98" y="365"/>
                    <a:pt x="100" y="363"/>
                    <a:pt x="102" y="362"/>
                  </a:cubicBezTo>
                  <a:cubicBezTo>
                    <a:pt x="165" y="360"/>
                    <a:pt x="165" y="360"/>
                    <a:pt x="165" y="360"/>
                  </a:cubicBezTo>
                  <a:cubicBezTo>
                    <a:pt x="101" y="343"/>
                    <a:pt x="101" y="343"/>
                    <a:pt x="101" y="343"/>
                  </a:cubicBezTo>
                  <a:cubicBezTo>
                    <a:pt x="99" y="343"/>
                    <a:pt x="97" y="340"/>
                    <a:pt x="98" y="338"/>
                  </a:cubicBezTo>
                  <a:cubicBezTo>
                    <a:pt x="98" y="335"/>
                    <a:pt x="100" y="334"/>
                    <a:pt x="102" y="334"/>
                  </a:cubicBezTo>
                  <a:cubicBezTo>
                    <a:pt x="126" y="334"/>
                    <a:pt x="126" y="334"/>
                    <a:pt x="126" y="334"/>
                  </a:cubicBezTo>
                  <a:cubicBezTo>
                    <a:pt x="126" y="223"/>
                    <a:pt x="126" y="223"/>
                    <a:pt x="126" y="223"/>
                  </a:cubicBezTo>
                  <a:cubicBezTo>
                    <a:pt x="126" y="223"/>
                    <a:pt x="126" y="212"/>
                    <a:pt x="124" y="198"/>
                  </a:cubicBezTo>
                  <a:cubicBezTo>
                    <a:pt x="87" y="198"/>
                    <a:pt x="87" y="198"/>
                    <a:pt x="87" y="198"/>
                  </a:cubicBezTo>
                  <a:cubicBezTo>
                    <a:pt x="74" y="198"/>
                    <a:pt x="63" y="190"/>
                    <a:pt x="60" y="178"/>
                  </a:cubicBezTo>
                  <a:cubicBezTo>
                    <a:pt x="56" y="165"/>
                    <a:pt x="63" y="151"/>
                    <a:pt x="78" y="144"/>
                  </a:cubicBezTo>
                  <a:cubicBezTo>
                    <a:pt x="84" y="140"/>
                    <a:pt x="91" y="138"/>
                    <a:pt x="97" y="138"/>
                  </a:cubicBezTo>
                  <a:cubicBezTo>
                    <a:pt x="109" y="138"/>
                    <a:pt x="126" y="147"/>
                    <a:pt x="133" y="188"/>
                  </a:cubicBezTo>
                  <a:cubicBezTo>
                    <a:pt x="167" y="188"/>
                    <a:pt x="167" y="188"/>
                    <a:pt x="167" y="188"/>
                  </a:cubicBezTo>
                  <a:cubicBezTo>
                    <a:pt x="174" y="147"/>
                    <a:pt x="191" y="138"/>
                    <a:pt x="203" y="138"/>
                  </a:cubicBezTo>
                  <a:cubicBezTo>
                    <a:pt x="209" y="138"/>
                    <a:pt x="216" y="140"/>
                    <a:pt x="222" y="144"/>
                  </a:cubicBezTo>
                  <a:cubicBezTo>
                    <a:pt x="236" y="151"/>
                    <a:pt x="243" y="165"/>
                    <a:pt x="240" y="178"/>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1" name="Freeform 10"/>
            <p:cNvSpPr>
              <a:spLocks noEditPoints="1"/>
            </p:cNvSpPr>
            <p:nvPr/>
          </p:nvSpPr>
          <p:spPr bwMode="auto">
            <a:xfrm>
              <a:off x="8056563" y="3081338"/>
              <a:ext cx="627063" cy="730250"/>
            </a:xfrm>
            <a:custGeom>
              <a:avLst/>
              <a:gdLst>
                <a:gd name="T0" fmla="*/ 194 w 283"/>
                <a:gd name="T1" fmla="*/ 330 h 330"/>
                <a:gd name="T2" fmla="*/ 89 w 283"/>
                <a:gd name="T3" fmla="*/ 330 h 330"/>
                <a:gd name="T4" fmla="*/ 85 w 283"/>
                <a:gd name="T5" fmla="*/ 325 h 330"/>
                <a:gd name="T6" fmla="*/ 86 w 283"/>
                <a:gd name="T7" fmla="*/ 322 h 330"/>
                <a:gd name="T8" fmla="*/ 43 w 283"/>
                <a:gd name="T9" fmla="*/ 229 h 330"/>
                <a:gd name="T10" fmla="*/ 0 w 283"/>
                <a:gd name="T11" fmla="*/ 132 h 330"/>
                <a:gd name="T12" fmla="*/ 142 w 283"/>
                <a:gd name="T13" fmla="*/ 0 h 330"/>
                <a:gd name="T14" fmla="*/ 240 w 283"/>
                <a:gd name="T15" fmla="*/ 40 h 330"/>
                <a:gd name="T16" fmla="*/ 283 w 283"/>
                <a:gd name="T17" fmla="*/ 132 h 330"/>
                <a:gd name="T18" fmla="*/ 240 w 283"/>
                <a:gd name="T19" fmla="*/ 229 h 330"/>
                <a:gd name="T20" fmla="*/ 197 w 283"/>
                <a:gd name="T21" fmla="*/ 322 h 330"/>
                <a:gd name="T22" fmla="*/ 199 w 283"/>
                <a:gd name="T23" fmla="*/ 325 h 330"/>
                <a:gd name="T24" fmla="*/ 194 w 283"/>
                <a:gd name="T25" fmla="*/ 330 h 330"/>
                <a:gd name="T26" fmla="*/ 95 w 283"/>
                <a:gd name="T27" fmla="*/ 320 h 330"/>
                <a:gd name="T28" fmla="*/ 188 w 283"/>
                <a:gd name="T29" fmla="*/ 320 h 330"/>
                <a:gd name="T30" fmla="*/ 232 w 283"/>
                <a:gd name="T31" fmla="*/ 224 h 330"/>
                <a:gd name="T32" fmla="*/ 274 w 283"/>
                <a:gd name="T33" fmla="*/ 132 h 330"/>
                <a:gd name="T34" fmla="*/ 142 w 283"/>
                <a:gd name="T35" fmla="*/ 9 h 330"/>
                <a:gd name="T36" fmla="*/ 9 w 283"/>
                <a:gd name="T37" fmla="*/ 132 h 330"/>
                <a:gd name="T38" fmla="*/ 51 w 283"/>
                <a:gd name="T39" fmla="*/ 224 h 330"/>
                <a:gd name="T40" fmla="*/ 95 w 283"/>
                <a:gd name="T41" fmla="*/ 32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3" h="330">
                  <a:moveTo>
                    <a:pt x="194" y="330"/>
                  </a:moveTo>
                  <a:cubicBezTo>
                    <a:pt x="89" y="330"/>
                    <a:pt x="89" y="330"/>
                    <a:pt x="89" y="330"/>
                  </a:cubicBezTo>
                  <a:cubicBezTo>
                    <a:pt x="87" y="330"/>
                    <a:pt x="85" y="328"/>
                    <a:pt x="85" y="325"/>
                  </a:cubicBezTo>
                  <a:cubicBezTo>
                    <a:pt x="85" y="324"/>
                    <a:pt x="85" y="323"/>
                    <a:pt x="86" y="322"/>
                  </a:cubicBezTo>
                  <a:cubicBezTo>
                    <a:pt x="85" y="287"/>
                    <a:pt x="64" y="258"/>
                    <a:pt x="43" y="229"/>
                  </a:cubicBezTo>
                  <a:cubicBezTo>
                    <a:pt x="22" y="200"/>
                    <a:pt x="0" y="169"/>
                    <a:pt x="0" y="132"/>
                  </a:cubicBezTo>
                  <a:cubicBezTo>
                    <a:pt x="0" y="68"/>
                    <a:pt x="54" y="0"/>
                    <a:pt x="142" y="0"/>
                  </a:cubicBezTo>
                  <a:cubicBezTo>
                    <a:pt x="177" y="0"/>
                    <a:pt x="213" y="14"/>
                    <a:pt x="240" y="40"/>
                  </a:cubicBezTo>
                  <a:cubicBezTo>
                    <a:pt x="267" y="65"/>
                    <a:pt x="283" y="99"/>
                    <a:pt x="283" y="132"/>
                  </a:cubicBezTo>
                  <a:cubicBezTo>
                    <a:pt x="283" y="169"/>
                    <a:pt x="261" y="200"/>
                    <a:pt x="240" y="229"/>
                  </a:cubicBezTo>
                  <a:cubicBezTo>
                    <a:pt x="219" y="258"/>
                    <a:pt x="199" y="287"/>
                    <a:pt x="197" y="322"/>
                  </a:cubicBezTo>
                  <a:cubicBezTo>
                    <a:pt x="198" y="323"/>
                    <a:pt x="199" y="324"/>
                    <a:pt x="199" y="325"/>
                  </a:cubicBezTo>
                  <a:cubicBezTo>
                    <a:pt x="199" y="328"/>
                    <a:pt x="197" y="330"/>
                    <a:pt x="194" y="330"/>
                  </a:cubicBezTo>
                  <a:close/>
                  <a:moveTo>
                    <a:pt x="95" y="320"/>
                  </a:moveTo>
                  <a:cubicBezTo>
                    <a:pt x="188" y="320"/>
                    <a:pt x="188" y="320"/>
                    <a:pt x="188" y="320"/>
                  </a:cubicBezTo>
                  <a:cubicBezTo>
                    <a:pt x="190" y="283"/>
                    <a:pt x="212" y="253"/>
                    <a:pt x="232" y="224"/>
                  </a:cubicBezTo>
                  <a:cubicBezTo>
                    <a:pt x="254" y="194"/>
                    <a:pt x="274" y="166"/>
                    <a:pt x="274" y="132"/>
                  </a:cubicBezTo>
                  <a:cubicBezTo>
                    <a:pt x="274" y="67"/>
                    <a:pt x="211" y="9"/>
                    <a:pt x="142" y="9"/>
                  </a:cubicBezTo>
                  <a:cubicBezTo>
                    <a:pt x="60" y="9"/>
                    <a:pt x="9" y="73"/>
                    <a:pt x="9" y="132"/>
                  </a:cubicBezTo>
                  <a:cubicBezTo>
                    <a:pt x="9" y="166"/>
                    <a:pt x="30" y="194"/>
                    <a:pt x="51" y="224"/>
                  </a:cubicBezTo>
                  <a:cubicBezTo>
                    <a:pt x="72" y="253"/>
                    <a:pt x="93" y="283"/>
                    <a:pt x="95" y="320"/>
                  </a:cubicBezTo>
                  <a:close/>
                </a:path>
              </a:pathLst>
            </a:custGeom>
            <a:solidFill>
              <a:srgbClr val="16A1CA"/>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2" name="Freeform 11"/>
            <p:cNvSpPr>
              <a:spLocks/>
            </p:cNvSpPr>
            <p:nvPr/>
          </p:nvSpPr>
          <p:spPr bwMode="auto">
            <a:xfrm>
              <a:off x="8242301" y="3836988"/>
              <a:ext cx="257175" cy="96838"/>
            </a:xfrm>
            <a:custGeom>
              <a:avLst/>
              <a:gdLst>
                <a:gd name="T0" fmla="*/ 111 w 116"/>
                <a:gd name="T1" fmla="*/ 44 h 44"/>
                <a:gd name="T2" fmla="*/ 4 w 116"/>
                <a:gd name="T3" fmla="*/ 44 h 44"/>
                <a:gd name="T4" fmla="*/ 0 w 116"/>
                <a:gd name="T5" fmla="*/ 40 h 44"/>
                <a:gd name="T6" fmla="*/ 3 w 116"/>
                <a:gd name="T7" fmla="*/ 35 h 44"/>
                <a:gd name="T8" fmla="*/ 82 w 116"/>
                <a:gd name="T9" fmla="*/ 9 h 44"/>
                <a:gd name="T10" fmla="*/ 4 w 116"/>
                <a:gd name="T11" fmla="*/ 9 h 44"/>
                <a:gd name="T12" fmla="*/ 0 w 116"/>
                <a:gd name="T13" fmla="*/ 4 h 44"/>
                <a:gd name="T14" fmla="*/ 4 w 116"/>
                <a:gd name="T15" fmla="*/ 0 h 44"/>
                <a:gd name="T16" fmla="*/ 111 w 116"/>
                <a:gd name="T17" fmla="*/ 0 h 44"/>
                <a:gd name="T18" fmla="*/ 115 w 116"/>
                <a:gd name="T19" fmla="*/ 4 h 44"/>
                <a:gd name="T20" fmla="*/ 112 w 116"/>
                <a:gd name="T21" fmla="*/ 9 h 44"/>
                <a:gd name="T22" fmla="*/ 33 w 116"/>
                <a:gd name="T23" fmla="*/ 35 h 44"/>
                <a:gd name="T24" fmla="*/ 111 w 116"/>
                <a:gd name="T25" fmla="*/ 35 h 44"/>
                <a:gd name="T26" fmla="*/ 115 w 116"/>
                <a:gd name="T27" fmla="*/ 39 h 44"/>
                <a:gd name="T28" fmla="*/ 111 w 116"/>
                <a:gd name="T29"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6" h="44">
                  <a:moveTo>
                    <a:pt x="111" y="44"/>
                  </a:moveTo>
                  <a:cubicBezTo>
                    <a:pt x="4" y="44"/>
                    <a:pt x="4" y="44"/>
                    <a:pt x="4" y="44"/>
                  </a:cubicBezTo>
                  <a:cubicBezTo>
                    <a:pt x="2" y="44"/>
                    <a:pt x="0" y="42"/>
                    <a:pt x="0" y="40"/>
                  </a:cubicBezTo>
                  <a:cubicBezTo>
                    <a:pt x="0" y="38"/>
                    <a:pt x="1" y="36"/>
                    <a:pt x="3" y="35"/>
                  </a:cubicBezTo>
                  <a:cubicBezTo>
                    <a:pt x="82" y="9"/>
                    <a:pt x="82" y="9"/>
                    <a:pt x="82" y="9"/>
                  </a:cubicBezTo>
                  <a:cubicBezTo>
                    <a:pt x="4" y="9"/>
                    <a:pt x="4" y="9"/>
                    <a:pt x="4" y="9"/>
                  </a:cubicBezTo>
                  <a:cubicBezTo>
                    <a:pt x="2" y="9"/>
                    <a:pt x="0" y="7"/>
                    <a:pt x="0" y="4"/>
                  </a:cubicBezTo>
                  <a:cubicBezTo>
                    <a:pt x="0" y="2"/>
                    <a:pt x="2" y="0"/>
                    <a:pt x="4" y="0"/>
                  </a:cubicBezTo>
                  <a:cubicBezTo>
                    <a:pt x="111" y="0"/>
                    <a:pt x="111" y="0"/>
                    <a:pt x="111" y="0"/>
                  </a:cubicBezTo>
                  <a:cubicBezTo>
                    <a:pt x="113" y="0"/>
                    <a:pt x="115" y="1"/>
                    <a:pt x="115" y="4"/>
                  </a:cubicBezTo>
                  <a:cubicBezTo>
                    <a:pt x="116" y="6"/>
                    <a:pt x="114" y="8"/>
                    <a:pt x="112" y="9"/>
                  </a:cubicBezTo>
                  <a:cubicBezTo>
                    <a:pt x="33" y="35"/>
                    <a:pt x="33" y="35"/>
                    <a:pt x="33" y="35"/>
                  </a:cubicBezTo>
                  <a:cubicBezTo>
                    <a:pt x="111" y="35"/>
                    <a:pt x="111" y="35"/>
                    <a:pt x="111" y="35"/>
                  </a:cubicBezTo>
                  <a:cubicBezTo>
                    <a:pt x="113" y="35"/>
                    <a:pt x="115" y="37"/>
                    <a:pt x="115" y="39"/>
                  </a:cubicBezTo>
                  <a:cubicBezTo>
                    <a:pt x="115" y="42"/>
                    <a:pt x="113" y="44"/>
                    <a:pt x="111" y="44"/>
                  </a:cubicBezTo>
                  <a:close/>
                </a:path>
              </a:pathLst>
            </a:custGeom>
            <a:solidFill>
              <a:srgbClr val="16A1CA"/>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3" name="Freeform 12"/>
            <p:cNvSpPr>
              <a:spLocks/>
            </p:cNvSpPr>
            <p:nvPr/>
          </p:nvSpPr>
          <p:spPr bwMode="auto">
            <a:xfrm>
              <a:off x="8242301" y="3960813"/>
              <a:ext cx="254000" cy="19050"/>
            </a:xfrm>
            <a:custGeom>
              <a:avLst/>
              <a:gdLst>
                <a:gd name="T0" fmla="*/ 111 w 115"/>
                <a:gd name="T1" fmla="*/ 9 h 9"/>
                <a:gd name="T2" fmla="*/ 4 w 115"/>
                <a:gd name="T3" fmla="*/ 9 h 9"/>
                <a:gd name="T4" fmla="*/ 0 w 115"/>
                <a:gd name="T5" fmla="*/ 4 h 9"/>
                <a:gd name="T6" fmla="*/ 4 w 115"/>
                <a:gd name="T7" fmla="*/ 0 h 9"/>
                <a:gd name="T8" fmla="*/ 111 w 115"/>
                <a:gd name="T9" fmla="*/ 0 h 9"/>
                <a:gd name="T10" fmla="*/ 115 w 115"/>
                <a:gd name="T11" fmla="*/ 4 h 9"/>
                <a:gd name="T12" fmla="*/ 111 w 115"/>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15" h="9">
                  <a:moveTo>
                    <a:pt x="111" y="9"/>
                  </a:moveTo>
                  <a:cubicBezTo>
                    <a:pt x="4" y="9"/>
                    <a:pt x="4" y="9"/>
                    <a:pt x="4" y="9"/>
                  </a:cubicBezTo>
                  <a:cubicBezTo>
                    <a:pt x="2" y="9"/>
                    <a:pt x="0" y="7"/>
                    <a:pt x="0" y="4"/>
                  </a:cubicBezTo>
                  <a:cubicBezTo>
                    <a:pt x="0" y="2"/>
                    <a:pt x="2" y="0"/>
                    <a:pt x="4" y="0"/>
                  </a:cubicBezTo>
                  <a:cubicBezTo>
                    <a:pt x="111" y="0"/>
                    <a:pt x="111" y="0"/>
                    <a:pt x="111" y="0"/>
                  </a:cubicBezTo>
                  <a:cubicBezTo>
                    <a:pt x="113" y="0"/>
                    <a:pt x="115" y="2"/>
                    <a:pt x="115" y="4"/>
                  </a:cubicBezTo>
                  <a:cubicBezTo>
                    <a:pt x="115" y="7"/>
                    <a:pt x="113" y="9"/>
                    <a:pt x="111" y="9"/>
                  </a:cubicBezTo>
                  <a:close/>
                </a:path>
              </a:pathLst>
            </a:custGeom>
            <a:solidFill>
              <a:srgbClr val="16A1CA"/>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4" name="Freeform 13"/>
            <p:cNvSpPr>
              <a:spLocks noEditPoints="1"/>
            </p:cNvSpPr>
            <p:nvPr/>
          </p:nvSpPr>
          <p:spPr bwMode="auto">
            <a:xfrm>
              <a:off x="8399463" y="3402013"/>
              <a:ext cx="147638" cy="112713"/>
            </a:xfrm>
            <a:custGeom>
              <a:avLst/>
              <a:gdLst>
                <a:gd name="T0" fmla="*/ 40 w 67"/>
                <a:gd name="T1" fmla="*/ 51 h 51"/>
                <a:gd name="T2" fmla="*/ 5 w 67"/>
                <a:gd name="T3" fmla="*/ 51 h 51"/>
                <a:gd name="T4" fmla="*/ 1 w 67"/>
                <a:gd name="T5" fmla="*/ 50 h 51"/>
                <a:gd name="T6" fmla="*/ 0 w 67"/>
                <a:gd name="T7" fmla="*/ 46 h 51"/>
                <a:gd name="T8" fmla="*/ 32 w 67"/>
                <a:gd name="T9" fmla="*/ 0 h 51"/>
                <a:gd name="T10" fmla="*/ 48 w 67"/>
                <a:gd name="T11" fmla="*/ 4 h 51"/>
                <a:gd name="T12" fmla="*/ 64 w 67"/>
                <a:gd name="T13" fmla="*/ 34 h 51"/>
                <a:gd name="T14" fmla="*/ 40 w 67"/>
                <a:gd name="T15" fmla="*/ 51 h 51"/>
                <a:gd name="T16" fmla="*/ 10 w 67"/>
                <a:gd name="T17" fmla="*/ 42 h 51"/>
                <a:gd name="T18" fmla="*/ 40 w 67"/>
                <a:gd name="T19" fmla="*/ 42 h 51"/>
                <a:gd name="T20" fmla="*/ 55 w 67"/>
                <a:gd name="T21" fmla="*/ 32 h 51"/>
                <a:gd name="T22" fmla="*/ 44 w 67"/>
                <a:gd name="T23" fmla="*/ 12 h 51"/>
                <a:gd name="T24" fmla="*/ 32 w 67"/>
                <a:gd name="T25" fmla="*/ 9 h 51"/>
                <a:gd name="T26" fmla="*/ 10 w 67"/>
                <a:gd name="T27"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51">
                  <a:moveTo>
                    <a:pt x="40" y="51"/>
                  </a:moveTo>
                  <a:cubicBezTo>
                    <a:pt x="5" y="51"/>
                    <a:pt x="5" y="51"/>
                    <a:pt x="5" y="51"/>
                  </a:cubicBezTo>
                  <a:cubicBezTo>
                    <a:pt x="4" y="51"/>
                    <a:pt x="2" y="51"/>
                    <a:pt x="1" y="50"/>
                  </a:cubicBezTo>
                  <a:cubicBezTo>
                    <a:pt x="1" y="49"/>
                    <a:pt x="0" y="47"/>
                    <a:pt x="0" y="46"/>
                  </a:cubicBezTo>
                  <a:cubicBezTo>
                    <a:pt x="6" y="8"/>
                    <a:pt x="21" y="0"/>
                    <a:pt x="32" y="0"/>
                  </a:cubicBezTo>
                  <a:cubicBezTo>
                    <a:pt x="37" y="0"/>
                    <a:pt x="42" y="1"/>
                    <a:pt x="48" y="4"/>
                  </a:cubicBezTo>
                  <a:cubicBezTo>
                    <a:pt x="60" y="11"/>
                    <a:pt x="67" y="23"/>
                    <a:pt x="64" y="34"/>
                  </a:cubicBezTo>
                  <a:cubicBezTo>
                    <a:pt x="61" y="44"/>
                    <a:pt x="52" y="51"/>
                    <a:pt x="40" y="51"/>
                  </a:cubicBezTo>
                  <a:close/>
                  <a:moveTo>
                    <a:pt x="10" y="42"/>
                  </a:moveTo>
                  <a:cubicBezTo>
                    <a:pt x="40" y="42"/>
                    <a:pt x="40" y="42"/>
                    <a:pt x="40" y="42"/>
                  </a:cubicBezTo>
                  <a:cubicBezTo>
                    <a:pt x="48" y="42"/>
                    <a:pt x="53" y="38"/>
                    <a:pt x="55" y="32"/>
                  </a:cubicBezTo>
                  <a:cubicBezTo>
                    <a:pt x="56" y="26"/>
                    <a:pt x="54" y="18"/>
                    <a:pt x="44" y="12"/>
                  </a:cubicBezTo>
                  <a:cubicBezTo>
                    <a:pt x="39" y="10"/>
                    <a:pt x="35" y="9"/>
                    <a:pt x="32" y="9"/>
                  </a:cubicBezTo>
                  <a:cubicBezTo>
                    <a:pt x="19" y="9"/>
                    <a:pt x="13" y="28"/>
                    <a:pt x="10" y="42"/>
                  </a:cubicBezTo>
                  <a:close/>
                </a:path>
              </a:pathLst>
            </a:custGeom>
            <a:solidFill>
              <a:srgbClr val="16A1CA"/>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5" name="Freeform 14"/>
            <p:cNvSpPr>
              <a:spLocks noEditPoints="1"/>
            </p:cNvSpPr>
            <p:nvPr/>
          </p:nvSpPr>
          <p:spPr bwMode="auto">
            <a:xfrm>
              <a:off x="8193088" y="3402013"/>
              <a:ext cx="146050" cy="112713"/>
            </a:xfrm>
            <a:custGeom>
              <a:avLst/>
              <a:gdLst>
                <a:gd name="T0" fmla="*/ 61 w 66"/>
                <a:gd name="T1" fmla="*/ 51 h 51"/>
                <a:gd name="T2" fmla="*/ 26 w 66"/>
                <a:gd name="T3" fmla="*/ 51 h 51"/>
                <a:gd name="T4" fmla="*/ 3 w 66"/>
                <a:gd name="T5" fmla="*/ 34 h 51"/>
                <a:gd name="T6" fmla="*/ 18 w 66"/>
                <a:gd name="T7" fmla="*/ 4 h 51"/>
                <a:gd name="T8" fmla="*/ 34 w 66"/>
                <a:gd name="T9" fmla="*/ 0 h 51"/>
                <a:gd name="T10" fmla="*/ 66 w 66"/>
                <a:gd name="T11" fmla="*/ 46 h 51"/>
                <a:gd name="T12" fmla="*/ 65 w 66"/>
                <a:gd name="T13" fmla="*/ 50 h 51"/>
                <a:gd name="T14" fmla="*/ 61 w 66"/>
                <a:gd name="T15" fmla="*/ 51 h 51"/>
                <a:gd name="T16" fmla="*/ 34 w 66"/>
                <a:gd name="T17" fmla="*/ 9 h 51"/>
                <a:gd name="T18" fmla="*/ 22 w 66"/>
                <a:gd name="T19" fmla="*/ 12 h 51"/>
                <a:gd name="T20" fmla="*/ 11 w 66"/>
                <a:gd name="T21" fmla="*/ 32 h 51"/>
                <a:gd name="T22" fmla="*/ 26 w 66"/>
                <a:gd name="T23" fmla="*/ 42 h 51"/>
                <a:gd name="T24" fmla="*/ 56 w 66"/>
                <a:gd name="T25" fmla="*/ 42 h 51"/>
                <a:gd name="T26" fmla="*/ 34 w 66"/>
                <a:gd name="T27" fmla="*/ 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6" h="51">
                  <a:moveTo>
                    <a:pt x="61" y="51"/>
                  </a:moveTo>
                  <a:cubicBezTo>
                    <a:pt x="26" y="51"/>
                    <a:pt x="26" y="51"/>
                    <a:pt x="26" y="51"/>
                  </a:cubicBezTo>
                  <a:cubicBezTo>
                    <a:pt x="15" y="51"/>
                    <a:pt x="5" y="44"/>
                    <a:pt x="3" y="34"/>
                  </a:cubicBezTo>
                  <a:cubicBezTo>
                    <a:pt x="0" y="23"/>
                    <a:pt x="6" y="11"/>
                    <a:pt x="18" y="4"/>
                  </a:cubicBezTo>
                  <a:cubicBezTo>
                    <a:pt x="24" y="1"/>
                    <a:pt x="29" y="0"/>
                    <a:pt x="34" y="0"/>
                  </a:cubicBezTo>
                  <a:cubicBezTo>
                    <a:pt x="46" y="0"/>
                    <a:pt x="60" y="8"/>
                    <a:pt x="66" y="46"/>
                  </a:cubicBezTo>
                  <a:cubicBezTo>
                    <a:pt x="66" y="47"/>
                    <a:pt x="66" y="49"/>
                    <a:pt x="65" y="50"/>
                  </a:cubicBezTo>
                  <a:cubicBezTo>
                    <a:pt x="64" y="51"/>
                    <a:pt x="63" y="51"/>
                    <a:pt x="61" y="51"/>
                  </a:cubicBezTo>
                  <a:close/>
                  <a:moveTo>
                    <a:pt x="34" y="9"/>
                  </a:moveTo>
                  <a:cubicBezTo>
                    <a:pt x="31" y="9"/>
                    <a:pt x="27" y="10"/>
                    <a:pt x="22" y="12"/>
                  </a:cubicBezTo>
                  <a:cubicBezTo>
                    <a:pt x="12" y="18"/>
                    <a:pt x="10" y="26"/>
                    <a:pt x="11" y="32"/>
                  </a:cubicBezTo>
                  <a:cubicBezTo>
                    <a:pt x="13" y="38"/>
                    <a:pt x="19" y="42"/>
                    <a:pt x="26" y="42"/>
                  </a:cubicBezTo>
                  <a:cubicBezTo>
                    <a:pt x="56" y="42"/>
                    <a:pt x="56" y="42"/>
                    <a:pt x="56" y="42"/>
                  </a:cubicBezTo>
                  <a:cubicBezTo>
                    <a:pt x="53" y="28"/>
                    <a:pt x="47" y="9"/>
                    <a:pt x="34" y="9"/>
                  </a:cubicBezTo>
                  <a:close/>
                </a:path>
              </a:pathLst>
            </a:custGeom>
            <a:solidFill>
              <a:srgbClr val="16A1CA"/>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6" name="Freeform 15"/>
            <p:cNvSpPr>
              <a:spLocks noEditPoints="1"/>
            </p:cNvSpPr>
            <p:nvPr/>
          </p:nvSpPr>
          <p:spPr bwMode="auto">
            <a:xfrm>
              <a:off x="8320088" y="3495675"/>
              <a:ext cx="101600" cy="314325"/>
            </a:xfrm>
            <a:custGeom>
              <a:avLst/>
              <a:gdLst>
                <a:gd name="T0" fmla="*/ 39 w 46"/>
                <a:gd name="T1" fmla="*/ 142 h 142"/>
                <a:gd name="T2" fmla="*/ 6 w 46"/>
                <a:gd name="T3" fmla="*/ 142 h 142"/>
                <a:gd name="T4" fmla="*/ 2 w 46"/>
                <a:gd name="T5" fmla="*/ 137 h 142"/>
                <a:gd name="T6" fmla="*/ 2 w 46"/>
                <a:gd name="T7" fmla="*/ 30 h 142"/>
                <a:gd name="T8" fmla="*/ 0 w 46"/>
                <a:gd name="T9" fmla="*/ 5 h 142"/>
                <a:gd name="T10" fmla="*/ 1 w 46"/>
                <a:gd name="T11" fmla="*/ 2 h 142"/>
                <a:gd name="T12" fmla="*/ 4 w 46"/>
                <a:gd name="T13" fmla="*/ 0 h 142"/>
                <a:gd name="T14" fmla="*/ 41 w 46"/>
                <a:gd name="T15" fmla="*/ 0 h 142"/>
                <a:gd name="T16" fmla="*/ 44 w 46"/>
                <a:gd name="T17" fmla="*/ 2 h 142"/>
                <a:gd name="T18" fmla="*/ 45 w 46"/>
                <a:gd name="T19" fmla="*/ 5 h 142"/>
                <a:gd name="T20" fmla="*/ 44 w 46"/>
                <a:gd name="T21" fmla="*/ 30 h 142"/>
                <a:gd name="T22" fmla="*/ 44 w 46"/>
                <a:gd name="T23" fmla="*/ 137 h 142"/>
                <a:gd name="T24" fmla="*/ 39 w 46"/>
                <a:gd name="T25" fmla="*/ 142 h 142"/>
                <a:gd name="T26" fmla="*/ 11 w 46"/>
                <a:gd name="T27" fmla="*/ 133 h 142"/>
                <a:gd name="T28" fmla="*/ 35 w 46"/>
                <a:gd name="T29" fmla="*/ 133 h 142"/>
                <a:gd name="T30" fmla="*/ 35 w 46"/>
                <a:gd name="T31" fmla="*/ 30 h 142"/>
                <a:gd name="T32" fmla="*/ 36 w 46"/>
                <a:gd name="T33" fmla="*/ 9 h 142"/>
                <a:gd name="T34" fmla="*/ 10 w 46"/>
                <a:gd name="T35" fmla="*/ 9 h 142"/>
                <a:gd name="T36" fmla="*/ 11 w 46"/>
                <a:gd name="T37" fmla="*/ 31 h 142"/>
                <a:gd name="T38" fmla="*/ 11 w 46"/>
                <a:gd name="T39" fmla="*/ 1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 h="142">
                  <a:moveTo>
                    <a:pt x="39" y="142"/>
                  </a:moveTo>
                  <a:cubicBezTo>
                    <a:pt x="6" y="142"/>
                    <a:pt x="6" y="142"/>
                    <a:pt x="6" y="142"/>
                  </a:cubicBezTo>
                  <a:cubicBezTo>
                    <a:pt x="4" y="142"/>
                    <a:pt x="2" y="140"/>
                    <a:pt x="2" y="137"/>
                  </a:cubicBezTo>
                  <a:cubicBezTo>
                    <a:pt x="2" y="30"/>
                    <a:pt x="2" y="30"/>
                    <a:pt x="2" y="30"/>
                  </a:cubicBezTo>
                  <a:cubicBezTo>
                    <a:pt x="2" y="30"/>
                    <a:pt x="2" y="19"/>
                    <a:pt x="0" y="5"/>
                  </a:cubicBezTo>
                  <a:cubicBezTo>
                    <a:pt x="0" y="4"/>
                    <a:pt x="0" y="3"/>
                    <a:pt x="1" y="2"/>
                  </a:cubicBezTo>
                  <a:cubicBezTo>
                    <a:pt x="2" y="1"/>
                    <a:pt x="3" y="0"/>
                    <a:pt x="4" y="0"/>
                  </a:cubicBezTo>
                  <a:cubicBezTo>
                    <a:pt x="41" y="0"/>
                    <a:pt x="41" y="0"/>
                    <a:pt x="41" y="0"/>
                  </a:cubicBezTo>
                  <a:cubicBezTo>
                    <a:pt x="42" y="0"/>
                    <a:pt x="43" y="1"/>
                    <a:pt x="44" y="2"/>
                  </a:cubicBezTo>
                  <a:cubicBezTo>
                    <a:pt x="45" y="3"/>
                    <a:pt x="46" y="4"/>
                    <a:pt x="45" y="5"/>
                  </a:cubicBezTo>
                  <a:cubicBezTo>
                    <a:pt x="43" y="19"/>
                    <a:pt x="44" y="30"/>
                    <a:pt x="44" y="30"/>
                  </a:cubicBezTo>
                  <a:cubicBezTo>
                    <a:pt x="44" y="137"/>
                    <a:pt x="44" y="137"/>
                    <a:pt x="44" y="137"/>
                  </a:cubicBezTo>
                  <a:cubicBezTo>
                    <a:pt x="44" y="140"/>
                    <a:pt x="42" y="142"/>
                    <a:pt x="39" y="142"/>
                  </a:cubicBezTo>
                  <a:close/>
                  <a:moveTo>
                    <a:pt x="11" y="133"/>
                  </a:moveTo>
                  <a:cubicBezTo>
                    <a:pt x="35" y="133"/>
                    <a:pt x="35" y="133"/>
                    <a:pt x="35" y="133"/>
                  </a:cubicBezTo>
                  <a:cubicBezTo>
                    <a:pt x="35" y="30"/>
                    <a:pt x="35" y="30"/>
                    <a:pt x="35" y="30"/>
                  </a:cubicBezTo>
                  <a:cubicBezTo>
                    <a:pt x="35" y="30"/>
                    <a:pt x="34" y="21"/>
                    <a:pt x="36" y="9"/>
                  </a:cubicBezTo>
                  <a:cubicBezTo>
                    <a:pt x="10" y="9"/>
                    <a:pt x="10" y="9"/>
                    <a:pt x="10" y="9"/>
                  </a:cubicBezTo>
                  <a:cubicBezTo>
                    <a:pt x="11" y="21"/>
                    <a:pt x="11" y="30"/>
                    <a:pt x="11" y="31"/>
                  </a:cubicBezTo>
                  <a:lnTo>
                    <a:pt x="11" y="133"/>
                  </a:lnTo>
                  <a:close/>
                </a:path>
              </a:pathLst>
            </a:custGeom>
            <a:solidFill>
              <a:srgbClr val="16A1CA"/>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7" name="Freeform 16"/>
            <p:cNvSpPr>
              <a:spLocks/>
            </p:cNvSpPr>
            <p:nvPr/>
          </p:nvSpPr>
          <p:spPr bwMode="auto">
            <a:xfrm>
              <a:off x="5411788" y="3960813"/>
              <a:ext cx="2959100" cy="2897188"/>
            </a:xfrm>
            <a:custGeom>
              <a:avLst/>
              <a:gdLst>
                <a:gd name="T0" fmla="*/ 1335 w 1335"/>
                <a:gd name="T1" fmla="*/ 0 h 1309"/>
                <a:gd name="T2" fmla="*/ 1335 w 1335"/>
                <a:gd name="T3" fmla="*/ 578 h 1309"/>
                <a:gd name="T4" fmla="*/ 1215 w 1335"/>
                <a:gd name="T5" fmla="*/ 697 h 1309"/>
                <a:gd name="T6" fmla="*/ 119 w 1335"/>
                <a:gd name="T7" fmla="*/ 697 h 1309"/>
                <a:gd name="T8" fmla="*/ 0 w 1335"/>
                <a:gd name="T9" fmla="*/ 817 h 1309"/>
                <a:gd name="T10" fmla="*/ 0 w 1335"/>
                <a:gd name="T11" fmla="*/ 1309 h 1309"/>
              </a:gdLst>
              <a:ahLst/>
              <a:cxnLst>
                <a:cxn ang="0">
                  <a:pos x="T0" y="T1"/>
                </a:cxn>
                <a:cxn ang="0">
                  <a:pos x="T2" y="T3"/>
                </a:cxn>
                <a:cxn ang="0">
                  <a:pos x="T4" y="T5"/>
                </a:cxn>
                <a:cxn ang="0">
                  <a:pos x="T6" y="T7"/>
                </a:cxn>
                <a:cxn ang="0">
                  <a:pos x="T8" y="T9"/>
                </a:cxn>
                <a:cxn ang="0">
                  <a:pos x="T10" y="T11"/>
                </a:cxn>
              </a:cxnLst>
              <a:rect l="0" t="0" r="r" b="b"/>
              <a:pathLst>
                <a:path w="1335" h="1309">
                  <a:moveTo>
                    <a:pt x="1335" y="0"/>
                  </a:moveTo>
                  <a:cubicBezTo>
                    <a:pt x="1335" y="578"/>
                    <a:pt x="1335" y="578"/>
                    <a:pt x="1335" y="578"/>
                  </a:cubicBezTo>
                  <a:cubicBezTo>
                    <a:pt x="1335" y="644"/>
                    <a:pt x="1281" y="697"/>
                    <a:pt x="1215" y="697"/>
                  </a:cubicBezTo>
                  <a:cubicBezTo>
                    <a:pt x="119" y="697"/>
                    <a:pt x="119" y="697"/>
                    <a:pt x="119" y="697"/>
                  </a:cubicBezTo>
                  <a:cubicBezTo>
                    <a:pt x="53" y="697"/>
                    <a:pt x="0" y="751"/>
                    <a:pt x="0" y="817"/>
                  </a:cubicBezTo>
                  <a:cubicBezTo>
                    <a:pt x="0" y="1309"/>
                    <a:pt x="0" y="1309"/>
                    <a:pt x="0" y="1309"/>
                  </a:cubicBezTo>
                </a:path>
              </a:pathLst>
            </a:custGeom>
            <a:noFill/>
            <a:ln w="34925" cap="flat">
              <a:solidFill>
                <a:srgbClr val="16A1CA"/>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8" name="Freeform 17"/>
            <p:cNvSpPr>
              <a:spLocks/>
            </p:cNvSpPr>
            <p:nvPr/>
          </p:nvSpPr>
          <p:spPr bwMode="auto">
            <a:xfrm>
              <a:off x="6429376" y="2733675"/>
              <a:ext cx="1182688" cy="4124325"/>
            </a:xfrm>
            <a:custGeom>
              <a:avLst/>
              <a:gdLst>
                <a:gd name="T0" fmla="*/ 534 w 534"/>
                <a:gd name="T1" fmla="*/ 0 h 1863"/>
                <a:gd name="T2" fmla="*/ 534 w 534"/>
                <a:gd name="T3" fmla="*/ 275 h 1863"/>
                <a:gd name="T4" fmla="*/ 413 w 534"/>
                <a:gd name="T5" fmla="*/ 395 h 1863"/>
                <a:gd name="T6" fmla="*/ 134 w 534"/>
                <a:gd name="T7" fmla="*/ 395 h 1863"/>
                <a:gd name="T8" fmla="*/ 0 w 534"/>
                <a:gd name="T9" fmla="*/ 530 h 1863"/>
                <a:gd name="T10" fmla="*/ 0 w 534"/>
                <a:gd name="T11" fmla="*/ 1863 h 1863"/>
              </a:gdLst>
              <a:ahLst/>
              <a:cxnLst>
                <a:cxn ang="0">
                  <a:pos x="T0" y="T1"/>
                </a:cxn>
                <a:cxn ang="0">
                  <a:pos x="T2" y="T3"/>
                </a:cxn>
                <a:cxn ang="0">
                  <a:pos x="T4" y="T5"/>
                </a:cxn>
                <a:cxn ang="0">
                  <a:pos x="T6" y="T7"/>
                </a:cxn>
                <a:cxn ang="0">
                  <a:pos x="T8" y="T9"/>
                </a:cxn>
                <a:cxn ang="0">
                  <a:pos x="T10" y="T11"/>
                </a:cxn>
              </a:cxnLst>
              <a:rect l="0" t="0" r="r" b="b"/>
              <a:pathLst>
                <a:path w="534" h="1863">
                  <a:moveTo>
                    <a:pt x="534" y="0"/>
                  </a:moveTo>
                  <a:cubicBezTo>
                    <a:pt x="534" y="275"/>
                    <a:pt x="534" y="275"/>
                    <a:pt x="534" y="275"/>
                  </a:cubicBezTo>
                  <a:cubicBezTo>
                    <a:pt x="534" y="341"/>
                    <a:pt x="480" y="395"/>
                    <a:pt x="413" y="395"/>
                  </a:cubicBezTo>
                  <a:cubicBezTo>
                    <a:pt x="134" y="395"/>
                    <a:pt x="134" y="395"/>
                    <a:pt x="134" y="395"/>
                  </a:cubicBezTo>
                  <a:cubicBezTo>
                    <a:pt x="60" y="395"/>
                    <a:pt x="0" y="455"/>
                    <a:pt x="0" y="530"/>
                  </a:cubicBezTo>
                  <a:cubicBezTo>
                    <a:pt x="0" y="1863"/>
                    <a:pt x="0" y="1863"/>
                    <a:pt x="0" y="1863"/>
                  </a:cubicBezTo>
                </a:path>
              </a:pathLst>
            </a:custGeom>
            <a:noFill/>
            <a:ln w="61913" cap="flat">
              <a:solidFill>
                <a:srgbClr val="EEA720"/>
              </a:solidFill>
              <a:prstDash val="solid"/>
              <a:miter lim="800000"/>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9" name="Freeform 18"/>
            <p:cNvSpPr>
              <a:spLocks noEditPoints="1"/>
            </p:cNvSpPr>
            <p:nvPr/>
          </p:nvSpPr>
          <p:spPr bwMode="auto">
            <a:xfrm>
              <a:off x="7477126" y="2546350"/>
              <a:ext cx="260350" cy="157163"/>
            </a:xfrm>
            <a:custGeom>
              <a:avLst/>
              <a:gdLst>
                <a:gd name="T0" fmla="*/ 107 w 117"/>
                <a:gd name="T1" fmla="*/ 0 h 71"/>
                <a:gd name="T2" fmla="*/ 10 w 117"/>
                <a:gd name="T3" fmla="*/ 0 h 71"/>
                <a:gd name="T4" fmla="*/ 0 w 117"/>
                <a:gd name="T5" fmla="*/ 10 h 71"/>
                <a:gd name="T6" fmla="*/ 0 w 117"/>
                <a:gd name="T7" fmla="*/ 61 h 71"/>
                <a:gd name="T8" fmla="*/ 10 w 117"/>
                <a:gd name="T9" fmla="*/ 71 h 71"/>
                <a:gd name="T10" fmla="*/ 107 w 117"/>
                <a:gd name="T11" fmla="*/ 71 h 71"/>
                <a:gd name="T12" fmla="*/ 117 w 117"/>
                <a:gd name="T13" fmla="*/ 61 h 71"/>
                <a:gd name="T14" fmla="*/ 117 w 117"/>
                <a:gd name="T15" fmla="*/ 10 h 71"/>
                <a:gd name="T16" fmla="*/ 107 w 117"/>
                <a:gd name="T17" fmla="*/ 0 h 71"/>
                <a:gd name="T18" fmla="*/ 102 w 117"/>
                <a:gd name="T19" fmla="*/ 49 h 71"/>
                <a:gd name="T20" fmla="*/ 105 w 117"/>
                <a:gd name="T21" fmla="*/ 55 h 71"/>
                <a:gd name="T22" fmla="*/ 100 w 117"/>
                <a:gd name="T23" fmla="*/ 59 h 71"/>
                <a:gd name="T24" fmla="*/ 17 w 117"/>
                <a:gd name="T25" fmla="*/ 59 h 71"/>
                <a:gd name="T26" fmla="*/ 12 w 117"/>
                <a:gd name="T27" fmla="*/ 54 h 71"/>
                <a:gd name="T28" fmla="*/ 17 w 117"/>
                <a:gd name="T29" fmla="*/ 49 h 71"/>
                <a:gd name="T30" fmla="*/ 74 w 117"/>
                <a:gd name="T31" fmla="*/ 49 h 71"/>
                <a:gd name="T32" fmla="*/ 15 w 117"/>
                <a:gd name="T33" fmla="*/ 24 h 71"/>
                <a:gd name="T34" fmla="*/ 12 w 117"/>
                <a:gd name="T35" fmla="*/ 18 h 71"/>
                <a:gd name="T36" fmla="*/ 17 w 117"/>
                <a:gd name="T37" fmla="*/ 14 h 71"/>
                <a:gd name="T38" fmla="*/ 100 w 117"/>
                <a:gd name="T39" fmla="*/ 14 h 71"/>
                <a:gd name="T40" fmla="*/ 105 w 117"/>
                <a:gd name="T41" fmla="*/ 19 h 71"/>
                <a:gd name="T42" fmla="*/ 100 w 117"/>
                <a:gd name="T43" fmla="*/ 24 h 71"/>
                <a:gd name="T44" fmla="*/ 43 w 117"/>
                <a:gd name="T45" fmla="*/ 24 h 71"/>
                <a:gd name="T46" fmla="*/ 102 w 117"/>
                <a:gd name="T47" fmla="*/ 4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71">
                  <a:moveTo>
                    <a:pt x="107" y="0"/>
                  </a:moveTo>
                  <a:cubicBezTo>
                    <a:pt x="10" y="0"/>
                    <a:pt x="10" y="0"/>
                    <a:pt x="10" y="0"/>
                  </a:cubicBezTo>
                  <a:cubicBezTo>
                    <a:pt x="5" y="0"/>
                    <a:pt x="0" y="5"/>
                    <a:pt x="0" y="10"/>
                  </a:cubicBezTo>
                  <a:cubicBezTo>
                    <a:pt x="0" y="61"/>
                    <a:pt x="0" y="61"/>
                    <a:pt x="0" y="61"/>
                  </a:cubicBezTo>
                  <a:cubicBezTo>
                    <a:pt x="0" y="67"/>
                    <a:pt x="5" y="71"/>
                    <a:pt x="10" y="71"/>
                  </a:cubicBezTo>
                  <a:cubicBezTo>
                    <a:pt x="107" y="71"/>
                    <a:pt x="107" y="71"/>
                    <a:pt x="107" y="71"/>
                  </a:cubicBezTo>
                  <a:cubicBezTo>
                    <a:pt x="112" y="71"/>
                    <a:pt x="117" y="67"/>
                    <a:pt x="117" y="61"/>
                  </a:cubicBezTo>
                  <a:cubicBezTo>
                    <a:pt x="117" y="10"/>
                    <a:pt x="117" y="10"/>
                    <a:pt x="117" y="10"/>
                  </a:cubicBezTo>
                  <a:cubicBezTo>
                    <a:pt x="117" y="5"/>
                    <a:pt x="112" y="0"/>
                    <a:pt x="107" y="0"/>
                  </a:cubicBezTo>
                  <a:close/>
                  <a:moveTo>
                    <a:pt x="102" y="49"/>
                  </a:moveTo>
                  <a:cubicBezTo>
                    <a:pt x="104" y="50"/>
                    <a:pt x="106" y="53"/>
                    <a:pt x="105" y="55"/>
                  </a:cubicBezTo>
                  <a:cubicBezTo>
                    <a:pt x="105" y="58"/>
                    <a:pt x="102" y="59"/>
                    <a:pt x="100" y="59"/>
                  </a:cubicBezTo>
                  <a:cubicBezTo>
                    <a:pt x="17" y="59"/>
                    <a:pt x="17" y="59"/>
                    <a:pt x="17" y="59"/>
                  </a:cubicBezTo>
                  <a:cubicBezTo>
                    <a:pt x="14" y="59"/>
                    <a:pt x="12" y="57"/>
                    <a:pt x="12" y="54"/>
                  </a:cubicBezTo>
                  <a:cubicBezTo>
                    <a:pt x="12" y="51"/>
                    <a:pt x="14" y="49"/>
                    <a:pt x="17" y="49"/>
                  </a:cubicBezTo>
                  <a:cubicBezTo>
                    <a:pt x="74" y="49"/>
                    <a:pt x="74" y="49"/>
                    <a:pt x="74" y="49"/>
                  </a:cubicBezTo>
                  <a:cubicBezTo>
                    <a:pt x="15" y="24"/>
                    <a:pt x="15" y="24"/>
                    <a:pt x="15" y="24"/>
                  </a:cubicBezTo>
                  <a:cubicBezTo>
                    <a:pt x="13" y="23"/>
                    <a:pt x="11" y="20"/>
                    <a:pt x="12" y="18"/>
                  </a:cubicBezTo>
                  <a:cubicBezTo>
                    <a:pt x="12" y="16"/>
                    <a:pt x="15" y="14"/>
                    <a:pt x="17" y="14"/>
                  </a:cubicBezTo>
                  <a:cubicBezTo>
                    <a:pt x="100" y="14"/>
                    <a:pt x="100" y="14"/>
                    <a:pt x="100" y="14"/>
                  </a:cubicBezTo>
                  <a:cubicBezTo>
                    <a:pt x="103" y="14"/>
                    <a:pt x="105" y="16"/>
                    <a:pt x="105" y="19"/>
                  </a:cubicBezTo>
                  <a:cubicBezTo>
                    <a:pt x="105" y="22"/>
                    <a:pt x="103" y="24"/>
                    <a:pt x="100" y="24"/>
                  </a:cubicBezTo>
                  <a:cubicBezTo>
                    <a:pt x="43" y="24"/>
                    <a:pt x="43" y="24"/>
                    <a:pt x="43" y="24"/>
                  </a:cubicBezTo>
                  <a:lnTo>
                    <a:pt x="102" y="49"/>
                  </a:lnTo>
                  <a:close/>
                </a:path>
              </a:pathLst>
            </a:custGeom>
            <a:solidFill>
              <a:srgbClr val="EEA720"/>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0" name="Freeform 19"/>
            <p:cNvSpPr>
              <a:spLocks/>
            </p:cNvSpPr>
            <p:nvPr/>
          </p:nvSpPr>
          <p:spPr bwMode="auto">
            <a:xfrm>
              <a:off x="7543801" y="2722563"/>
              <a:ext cx="127000" cy="28575"/>
            </a:xfrm>
            <a:custGeom>
              <a:avLst/>
              <a:gdLst>
                <a:gd name="T0" fmla="*/ 0 w 57"/>
                <a:gd name="T1" fmla="*/ 0 h 13"/>
                <a:gd name="T2" fmla="*/ 29 w 57"/>
                <a:gd name="T3" fmla="*/ 13 h 13"/>
                <a:gd name="T4" fmla="*/ 57 w 57"/>
                <a:gd name="T5" fmla="*/ 0 h 13"/>
                <a:gd name="T6" fmla="*/ 0 w 57"/>
                <a:gd name="T7" fmla="*/ 0 h 13"/>
              </a:gdLst>
              <a:ahLst/>
              <a:cxnLst>
                <a:cxn ang="0">
                  <a:pos x="T0" y="T1"/>
                </a:cxn>
                <a:cxn ang="0">
                  <a:pos x="T2" y="T3"/>
                </a:cxn>
                <a:cxn ang="0">
                  <a:pos x="T4" y="T5"/>
                </a:cxn>
                <a:cxn ang="0">
                  <a:pos x="T6" y="T7"/>
                </a:cxn>
              </a:cxnLst>
              <a:rect l="0" t="0" r="r" b="b"/>
              <a:pathLst>
                <a:path w="57" h="13">
                  <a:moveTo>
                    <a:pt x="0" y="0"/>
                  </a:moveTo>
                  <a:cubicBezTo>
                    <a:pt x="7" y="8"/>
                    <a:pt x="17" y="13"/>
                    <a:pt x="29" y="13"/>
                  </a:cubicBezTo>
                  <a:cubicBezTo>
                    <a:pt x="40" y="13"/>
                    <a:pt x="50" y="8"/>
                    <a:pt x="57" y="0"/>
                  </a:cubicBezTo>
                  <a:lnTo>
                    <a:pt x="0" y="0"/>
                  </a:lnTo>
                  <a:close/>
                </a:path>
              </a:pathLst>
            </a:custGeom>
            <a:solidFill>
              <a:srgbClr val="EEA720"/>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1" name="Freeform 20"/>
            <p:cNvSpPr>
              <a:spLocks noEditPoints="1"/>
            </p:cNvSpPr>
            <p:nvPr/>
          </p:nvSpPr>
          <p:spPr bwMode="auto">
            <a:xfrm>
              <a:off x="7258051" y="1735138"/>
              <a:ext cx="698500" cy="788988"/>
            </a:xfrm>
            <a:custGeom>
              <a:avLst/>
              <a:gdLst>
                <a:gd name="T0" fmla="*/ 158 w 315"/>
                <a:gd name="T1" fmla="*/ 0 h 356"/>
                <a:gd name="T2" fmla="*/ 0 w 315"/>
                <a:gd name="T3" fmla="*/ 158 h 356"/>
                <a:gd name="T4" fmla="*/ 99 w 315"/>
                <a:gd name="T5" fmla="*/ 305 h 356"/>
                <a:gd name="T6" fmla="*/ 99 w 315"/>
                <a:gd name="T7" fmla="*/ 346 h 356"/>
                <a:gd name="T8" fmla="*/ 109 w 315"/>
                <a:gd name="T9" fmla="*/ 356 h 356"/>
                <a:gd name="T10" fmla="*/ 206 w 315"/>
                <a:gd name="T11" fmla="*/ 356 h 356"/>
                <a:gd name="T12" fmla="*/ 216 w 315"/>
                <a:gd name="T13" fmla="*/ 346 h 356"/>
                <a:gd name="T14" fmla="*/ 216 w 315"/>
                <a:gd name="T15" fmla="*/ 305 h 356"/>
                <a:gd name="T16" fmla="*/ 315 w 315"/>
                <a:gd name="T17" fmla="*/ 158 h 356"/>
                <a:gd name="T18" fmla="*/ 158 w 315"/>
                <a:gd name="T19" fmla="*/ 0 h 356"/>
                <a:gd name="T20" fmla="*/ 149 w 315"/>
                <a:gd name="T21" fmla="*/ 250 h 356"/>
                <a:gd name="T22" fmla="*/ 149 w 315"/>
                <a:gd name="T23" fmla="*/ 182 h 356"/>
                <a:gd name="T24" fmla="*/ 128 w 315"/>
                <a:gd name="T25" fmla="*/ 182 h 356"/>
                <a:gd name="T26" fmla="*/ 166 w 315"/>
                <a:gd name="T27" fmla="*/ 91 h 356"/>
                <a:gd name="T28" fmla="*/ 166 w 315"/>
                <a:gd name="T29" fmla="*/ 159 h 356"/>
                <a:gd name="T30" fmla="*/ 187 w 315"/>
                <a:gd name="T31" fmla="*/ 159 h 356"/>
                <a:gd name="T32" fmla="*/ 149 w 315"/>
                <a:gd name="T33" fmla="*/ 25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5" h="356">
                  <a:moveTo>
                    <a:pt x="158" y="0"/>
                  </a:moveTo>
                  <a:cubicBezTo>
                    <a:pt x="70" y="0"/>
                    <a:pt x="0" y="70"/>
                    <a:pt x="0" y="158"/>
                  </a:cubicBezTo>
                  <a:cubicBezTo>
                    <a:pt x="0" y="224"/>
                    <a:pt x="41" y="281"/>
                    <a:pt x="99" y="305"/>
                  </a:cubicBezTo>
                  <a:cubicBezTo>
                    <a:pt x="99" y="346"/>
                    <a:pt x="99" y="346"/>
                    <a:pt x="99" y="346"/>
                  </a:cubicBezTo>
                  <a:cubicBezTo>
                    <a:pt x="99" y="352"/>
                    <a:pt x="104" y="356"/>
                    <a:pt x="109" y="356"/>
                  </a:cubicBezTo>
                  <a:cubicBezTo>
                    <a:pt x="206" y="356"/>
                    <a:pt x="206" y="356"/>
                    <a:pt x="206" y="356"/>
                  </a:cubicBezTo>
                  <a:cubicBezTo>
                    <a:pt x="212" y="356"/>
                    <a:pt x="216" y="352"/>
                    <a:pt x="216" y="346"/>
                  </a:cubicBezTo>
                  <a:cubicBezTo>
                    <a:pt x="216" y="305"/>
                    <a:pt x="216" y="305"/>
                    <a:pt x="216" y="305"/>
                  </a:cubicBezTo>
                  <a:cubicBezTo>
                    <a:pt x="274" y="281"/>
                    <a:pt x="315" y="224"/>
                    <a:pt x="315" y="158"/>
                  </a:cubicBezTo>
                  <a:cubicBezTo>
                    <a:pt x="315" y="70"/>
                    <a:pt x="245" y="0"/>
                    <a:pt x="158" y="0"/>
                  </a:cubicBezTo>
                  <a:close/>
                  <a:moveTo>
                    <a:pt x="149" y="250"/>
                  </a:moveTo>
                  <a:cubicBezTo>
                    <a:pt x="149" y="182"/>
                    <a:pt x="149" y="182"/>
                    <a:pt x="149" y="182"/>
                  </a:cubicBezTo>
                  <a:cubicBezTo>
                    <a:pt x="128" y="182"/>
                    <a:pt x="128" y="182"/>
                    <a:pt x="128" y="182"/>
                  </a:cubicBezTo>
                  <a:cubicBezTo>
                    <a:pt x="166" y="91"/>
                    <a:pt x="166" y="91"/>
                    <a:pt x="166" y="91"/>
                  </a:cubicBezTo>
                  <a:cubicBezTo>
                    <a:pt x="166" y="159"/>
                    <a:pt x="166" y="159"/>
                    <a:pt x="166" y="159"/>
                  </a:cubicBezTo>
                  <a:cubicBezTo>
                    <a:pt x="187" y="159"/>
                    <a:pt x="187" y="159"/>
                    <a:pt x="187" y="159"/>
                  </a:cubicBezTo>
                  <a:lnTo>
                    <a:pt x="149" y="250"/>
                  </a:lnTo>
                  <a:close/>
                </a:path>
              </a:pathLst>
            </a:custGeom>
            <a:solidFill>
              <a:srgbClr val="EEA720"/>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2" name="Line 21"/>
            <p:cNvSpPr>
              <a:spLocks noChangeShapeType="1"/>
            </p:cNvSpPr>
            <p:nvPr/>
          </p:nvSpPr>
          <p:spPr bwMode="auto">
            <a:xfrm>
              <a:off x="6724651" y="6858000"/>
              <a:ext cx="0" cy="0"/>
            </a:xfrm>
            <a:prstGeom prst="line">
              <a:avLst/>
            </a:prstGeom>
            <a:noFill/>
            <a:ln w="46038" cap="flat">
              <a:solidFill>
                <a:srgbClr val="00BCD4"/>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3" name="Freeform 22"/>
            <p:cNvSpPr>
              <a:spLocks/>
            </p:cNvSpPr>
            <p:nvPr/>
          </p:nvSpPr>
          <p:spPr bwMode="auto">
            <a:xfrm>
              <a:off x="3665538" y="3743325"/>
              <a:ext cx="228600" cy="31750"/>
            </a:xfrm>
            <a:custGeom>
              <a:avLst/>
              <a:gdLst>
                <a:gd name="T0" fmla="*/ 97 w 103"/>
                <a:gd name="T1" fmla="*/ 14 h 14"/>
                <a:gd name="T2" fmla="*/ 7 w 103"/>
                <a:gd name="T3" fmla="*/ 14 h 14"/>
                <a:gd name="T4" fmla="*/ 0 w 103"/>
                <a:gd name="T5" fmla="*/ 7 h 14"/>
                <a:gd name="T6" fmla="*/ 0 w 103"/>
                <a:gd name="T7" fmla="*/ 7 h 14"/>
                <a:gd name="T8" fmla="*/ 7 w 103"/>
                <a:gd name="T9" fmla="*/ 0 h 14"/>
                <a:gd name="T10" fmla="*/ 97 w 103"/>
                <a:gd name="T11" fmla="*/ 0 h 14"/>
                <a:gd name="T12" fmla="*/ 103 w 103"/>
                <a:gd name="T13" fmla="*/ 7 h 14"/>
                <a:gd name="T14" fmla="*/ 103 w 103"/>
                <a:gd name="T15" fmla="*/ 7 h 14"/>
                <a:gd name="T16" fmla="*/ 97 w 103"/>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
                  <a:moveTo>
                    <a:pt x="97" y="14"/>
                  </a:moveTo>
                  <a:cubicBezTo>
                    <a:pt x="7" y="14"/>
                    <a:pt x="7" y="14"/>
                    <a:pt x="7" y="14"/>
                  </a:cubicBezTo>
                  <a:cubicBezTo>
                    <a:pt x="3" y="14"/>
                    <a:pt x="0" y="11"/>
                    <a:pt x="0" y="7"/>
                  </a:cubicBezTo>
                  <a:cubicBezTo>
                    <a:pt x="0" y="7"/>
                    <a:pt x="0" y="7"/>
                    <a:pt x="0" y="7"/>
                  </a:cubicBezTo>
                  <a:cubicBezTo>
                    <a:pt x="0" y="3"/>
                    <a:pt x="3" y="0"/>
                    <a:pt x="7" y="0"/>
                  </a:cubicBezTo>
                  <a:cubicBezTo>
                    <a:pt x="97" y="0"/>
                    <a:pt x="97" y="0"/>
                    <a:pt x="97" y="0"/>
                  </a:cubicBezTo>
                  <a:cubicBezTo>
                    <a:pt x="100" y="0"/>
                    <a:pt x="103" y="3"/>
                    <a:pt x="103" y="7"/>
                  </a:cubicBezTo>
                  <a:cubicBezTo>
                    <a:pt x="103" y="7"/>
                    <a:pt x="103" y="7"/>
                    <a:pt x="103" y="7"/>
                  </a:cubicBezTo>
                  <a:cubicBezTo>
                    <a:pt x="103" y="11"/>
                    <a:pt x="100" y="14"/>
                    <a:pt x="97" y="14"/>
                  </a:cubicBezTo>
                  <a:close/>
                </a:path>
              </a:pathLst>
            </a:custGeom>
            <a:solidFill>
              <a:srgbClr val="EEA720"/>
            </a:solidFill>
            <a:ln w="9525">
              <a:no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4" name="Freeform 23"/>
            <p:cNvSpPr>
              <a:spLocks/>
            </p:cNvSpPr>
            <p:nvPr/>
          </p:nvSpPr>
          <p:spPr bwMode="auto">
            <a:xfrm>
              <a:off x="3703638" y="3786188"/>
              <a:ext cx="153988" cy="28575"/>
            </a:xfrm>
            <a:custGeom>
              <a:avLst/>
              <a:gdLst>
                <a:gd name="T0" fmla="*/ 63 w 69"/>
                <a:gd name="T1" fmla="*/ 13 h 13"/>
                <a:gd name="T2" fmla="*/ 6 w 69"/>
                <a:gd name="T3" fmla="*/ 13 h 13"/>
                <a:gd name="T4" fmla="*/ 0 w 69"/>
                <a:gd name="T5" fmla="*/ 8 h 13"/>
                <a:gd name="T6" fmla="*/ 0 w 69"/>
                <a:gd name="T7" fmla="*/ 5 h 13"/>
                <a:gd name="T8" fmla="*/ 6 w 69"/>
                <a:gd name="T9" fmla="*/ 0 h 13"/>
                <a:gd name="T10" fmla="*/ 63 w 69"/>
                <a:gd name="T11" fmla="*/ 0 h 13"/>
                <a:gd name="T12" fmla="*/ 69 w 69"/>
                <a:gd name="T13" fmla="*/ 5 h 13"/>
                <a:gd name="T14" fmla="*/ 69 w 69"/>
                <a:gd name="T15" fmla="*/ 8 h 13"/>
                <a:gd name="T16" fmla="*/ 63 w 69"/>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13">
                  <a:moveTo>
                    <a:pt x="63" y="13"/>
                  </a:moveTo>
                  <a:cubicBezTo>
                    <a:pt x="6" y="13"/>
                    <a:pt x="6" y="13"/>
                    <a:pt x="6" y="13"/>
                  </a:cubicBezTo>
                  <a:cubicBezTo>
                    <a:pt x="3" y="13"/>
                    <a:pt x="0" y="11"/>
                    <a:pt x="0" y="8"/>
                  </a:cubicBezTo>
                  <a:cubicBezTo>
                    <a:pt x="0" y="5"/>
                    <a:pt x="0" y="5"/>
                    <a:pt x="0" y="5"/>
                  </a:cubicBezTo>
                  <a:cubicBezTo>
                    <a:pt x="0" y="2"/>
                    <a:pt x="3" y="0"/>
                    <a:pt x="6" y="0"/>
                  </a:cubicBezTo>
                  <a:cubicBezTo>
                    <a:pt x="63" y="0"/>
                    <a:pt x="63" y="0"/>
                    <a:pt x="63" y="0"/>
                  </a:cubicBezTo>
                  <a:cubicBezTo>
                    <a:pt x="67" y="0"/>
                    <a:pt x="69" y="2"/>
                    <a:pt x="69" y="5"/>
                  </a:cubicBezTo>
                  <a:cubicBezTo>
                    <a:pt x="69" y="8"/>
                    <a:pt x="69" y="8"/>
                    <a:pt x="69" y="8"/>
                  </a:cubicBezTo>
                  <a:cubicBezTo>
                    <a:pt x="69" y="11"/>
                    <a:pt x="67" y="13"/>
                    <a:pt x="63" y="13"/>
                  </a:cubicBezTo>
                  <a:close/>
                </a:path>
              </a:pathLst>
            </a:custGeom>
            <a:solidFill>
              <a:srgbClr val="EEA720"/>
            </a:solidFill>
            <a:ln w="9525">
              <a:no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5" name="Freeform 24"/>
            <p:cNvSpPr>
              <a:spLocks/>
            </p:cNvSpPr>
            <p:nvPr/>
          </p:nvSpPr>
          <p:spPr bwMode="auto">
            <a:xfrm>
              <a:off x="3665538" y="3702050"/>
              <a:ext cx="228600" cy="30163"/>
            </a:xfrm>
            <a:custGeom>
              <a:avLst/>
              <a:gdLst>
                <a:gd name="T0" fmla="*/ 97 w 103"/>
                <a:gd name="T1" fmla="*/ 14 h 14"/>
                <a:gd name="T2" fmla="*/ 7 w 103"/>
                <a:gd name="T3" fmla="*/ 14 h 14"/>
                <a:gd name="T4" fmla="*/ 0 w 103"/>
                <a:gd name="T5" fmla="*/ 7 h 14"/>
                <a:gd name="T6" fmla="*/ 0 w 103"/>
                <a:gd name="T7" fmla="*/ 7 h 14"/>
                <a:gd name="T8" fmla="*/ 7 w 103"/>
                <a:gd name="T9" fmla="*/ 0 h 14"/>
                <a:gd name="T10" fmla="*/ 97 w 103"/>
                <a:gd name="T11" fmla="*/ 0 h 14"/>
                <a:gd name="T12" fmla="*/ 103 w 103"/>
                <a:gd name="T13" fmla="*/ 7 h 14"/>
                <a:gd name="T14" fmla="*/ 103 w 103"/>
                <a:gd name="T15" fmla="*/ 7 h 14"/>
                <a:gd name="T16" fmla="*/ 97 w 103"/>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
                  <a:moveTo>
                    <a:pt x="97" y="14"/>
                  </a:moveTo>
                  <a:cubicBezTo>
                    <a:pt x="7" y="14"/>
                    <a:pt x="7" y="14"/>
                    <a:pt x="7" y="14"/>
                  </a:cubicBezTo>
                  <a:cubicBezTo>
                    <a:pt x="3" y="14"/>
                    <a:pt x="0" y="11"/>
                    <a:pt x="0" y="7"/>
                  </a:cubicBezTo>
                  <a:cubicBezTo>
                    <a:pt x="0" y="7"/>
                    <a:pt x="0" y="7"/>
                    <a:pt x="0" y="7"/>
                  </a:cubicBezTo>
                  <a:cubicBezTo>
                    <a:pt x="0" y="3"/>
                    <a:pt x="3" y="0"/>
                    <a:pt x="7" y="0"/>
                  </a:cubicBezTo>
                  <a:cubicBezTo>
                    <a:pt x="97" y="0"/>
                    <a:pt x="97" y="0"/>
                    <a:pt x="97" y="0"/>
                  </a:cubicBezTo>
                  <a:cubicBezTo>
                    <a:pt x="100" y="0"/>
                    <a:pt x="103" y="3"/>
                    <a:pt x="103" y="7"/>
                  </a:cubicBezTo>
                  <a:cubicBezTo>
                    <a:pt x="103" y="7"/>
                    <a:pt x="103" y="7"/>
                    <a:pt x="103" y="7"/>
                  </a:cubicBezTo>
                  <a:cubicBezTo>
                    <a:pt x="103" y="11"/>
                    <a:pt x="100" y="14"/>
                    <a:pt x="97" y="14"/>
                  </a:cubicBezTo>
                  <a:close/>
                </a:path>
              </a:pathLst>
            </a:custGeom>
            <a:solidFill>
              <a:srgbClr val="EEA720"/>
            </a:solidFill>
            <a:ln w="9525">
              <a:no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6" name="Freeform 25"/>
            <p:cNvSpPr>
              <a:spLocks/>
            </p:cNvSpPr>
            <p:nvPr/>
          </p:nvSpPr>
          <p:spPr bwMode="auto">
            <a:xfrm>
              <a:off x="3692526" y="3433763"/>
              <a:ext cx="177800" cy="247650"/>
            </a:xfrm>
            <a:custGeom>
              <a:avLst/>
              <a:gdLst>
                <a:gd name="T0" fmla="*/ 50 w 80"/>
                <a:gd name="T1" fmla="*/ 112 h 112"/>
                <a:gd name="T2" fmla="*/ 46 w 80"/>
                <a:gd name="T3" fmla="*/ 108 h 112"/>
                <a:gd name="T4" fmla="*/ 46 w 80"/>
                <a:gd name="T5" fmla="*/ 53 h 112"/>
                <a:gd name="T6" fmla="*/ 46 w 80"/>
                <a:gd name="T7" fmla="*/ 51 h 112"/>
                <a:gd name="T8" fmla="*/ 69 w 80"/>
                <a:gd name="T9" fmla="*/ 8 h 112"/>
                <a:gd name="T10" fmla="*/ 11 w 80"/>
                <a:gd name="T11" fmla="*/ 8 h 112"/>
                <a:gd name="T12" fmla="*/ 33 w 80"/>
                <a:gd name="T13" fmla="*/ 51 h 112"/>
                <a:gd name="T14" fmla="*/ 34 w 80"/>
                <a:gd name="T15" fmla="*/ 53 h 112"/>
                <a:gd name="T16" fmla="*/ 34 w 80"/>
                <a:gd name="T17" fmla="*/ 108 h 112"/>
                <a:gd name="T18" fmla="*/ 29 w 80"/>
                <a:gd name="T19" fmla="*/ 112 h 112"/>
                <a:gd name="T20" fmla="*/ 25 w 80"/>
                <a:gd name="T21" fmla="*/ 108 h 112"/>
                <a:gd name="T22" fmla="*/ 25 w 80"/>
                <a:gd name="T23" fmla="*/ 54 h 112"/>
                <a:gd name="T24" fmla="*/ 0 w 80"/>
                <a:gd name="T25" fmla="*/ 6 h 112"/>
                <a:gd name="T26" fmla="*/ 0 w 80"/>
                <a:gd name="T27" fmla="*/ 2 h 112"/>
                <a:gd name="T28" fmla="*/ 4 w 80"/>
                <a:gd name="T29" fmla="*/ 0 h 112"/>
                <a:gd name="T30" fmla="*/ 75 w 80"/>
                <a:gd name="T31" fmla="*/ 0 h 112"/>
                <a:gd name="T32" fmla="*/ 79 w 80"/>
                <a:gd name="T33" fmla="*/ 2 h 112"/>
                <a:gd name="T34" fmla="*/ 79 w 80"/>
                <a:gd name="T35" fmla="*/ 6 h 112"/>
                <a:gd name="T36" fmla="*/ 54 w 80"/>
                <a:gd name="T37" fmla="*/ 54 h 112"/>
                <a:gd name="T38" fmla="*/ 54 w 80"/>
                <a:gd name="T39" fmla="*/ 108 h 112"/>
                <a:gd name="T40" fmla="*/ 50 w 80"/>
                <a:gd name="T41" fmla="*/ 1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0" h="112">
                  <a:moveTo>
                    <a:pt x="50" y="112"/>
                  </a:moveTo>
                  <a:cubicBezTo>
                    <a:pt x="48" y="112"/>
                    <a:pt x="46" y="110"/>
                    <a:pt x="46" y="108"/>
                  </a:cubicBezTo>
                  <a:cubicBezTo>
                    <a:pt x="46" y="53"/>
                    <a:pt x="46" y="53"/>
                    <a:pt x="46" y="53"/>
                  </a:cubicBezTo>
                  <a:cubicBezTo>
                    <a:pt x="46" y="52"/>
                    <a:pt x="46" y="51"/>
                    <a:pt x="46" y="51"/>
                  </a:cubicBezTo>
                  <a:cubicBezTo>
                    <a:pt x="69" y="8"/>
                    <a:pt x="69" y="8"/>
                    <a:pt x="69" y="8"/>
                  </a:cubicBezTo>
                  <a:cubicBezTo>
                    <a:pt x="11" y="8"/>
                    <a:pt x="11" y="8"/>
                    <a:pt x="11" y="8"/>
                  </a:cubicBezTo>
                  <a:cubicBezTo>
                    <a:pt x="33" y="51"/>
                    <a:pt x="33" y="51"/>
                    <a:pt x="33" y="51"/>
                  </a:cubicBezTo>
                  <a:cubicBezTo>
                    <a:pt x="33" y="51"/>
                    <a:pt x="34" y="52"/>
                    <a:pt x="34" y="53"/>
                  </a:cubicBezTo>
                  <a:cubicBezTo>
                    <a:pt x="34" y="108"/>
                    <a:pt x="34" y="108"/>
                    <a:pt x="34" y="108"/>
                  </a:cubicBezTo>
                  <a:cubicBezTo>
                    <a:pt x="34" y="110"/>
                    <a:pt x="32" y="112"/>
                    <a:pt x="29" y="112"/>
                  </a:cubicBezTo>
                  <a:cubicBezTo>
                    <a:pt x="27" y="112"/>
                    <a:pt x="25" y="110"/>
                    <a:pt x="25" y="108"/>
                  </a:cubicBezTo>
                  <a:cubicBezTo>
                    <a:pt x="25" y="54"/>
                    <a:pt x="25" y="54"/>
                    <a:pt x="25" y="54"/>
                  </a:cubicBezTo>
                  <a:cubicBezTo>
                    <a:pt x="0" y="6"/>
                    <a:pt x="0" y="6"/>
                    <a:pt x="0" y="6"/>
                  </a:cubicBezTo>
                  <a:cubicBezTo>
                    <a:pt x="0" y="5"/>
                    <a:pt x="0" y="3"/>
                    <a:pt x="0" y="2"/>
                  </a:cubicBezTo>
                  <a:cubicBezTo>
                    <a:pt x="1" y="1"/>
                    <a:pt x="3" y="0"/>
                    <a:pt x="4" y="0"/>
                  </a:cubicBezTo>
                  <a:cubicBezTo>
                    <a:pt x="75" y="0"/>
                    <a:pt x="75" y="0"/>
                    <a:pt x="75" y="0"/>
                  </a:cubicBezTo>
                  <a:cubicBezTo>
                    <a:pt x="77" y="0"/>
                    <a:pt x="78" y="1"/>
                    <a:pt x="79" y="2"/>
                  </a:cubicBezTo>
                  <a:cubicBezTo>
                    <a:pt x="80" y="3"/>
                    <a:pt x="80" y="5"/>
                    <a:pt x="79" y="6"/>
                  </a:cubicBezTo>
                  <a:cubicBezTo>
                    <a:pt x="54" y="54"/>
                    <a:pt x="54" y="54"/>
                    <a:pt x="54" y="54"/>
                  </a:cubicBezTo>
                  <a:cubicBezTo>
                    <a:pt x="54" y="108"/>
                    <a:pt x="54" y="108"/>
                    <a:pt x="54" y="108"/>
                  </a:cubicBezTo>
                  <a:cubicBezTo>
                    <a:pt x="54" y="110"/>
                    <a:pt x="52" y="112"/>
                    <a:pt x="50" y="112"/>
                  </a:cubicBezTo>
                  <a:close/>
                </a:path>
              </a:pathLst>
            </a:custGeom>
            <a:solidFill>
              <a:srgbClr val="EEA720"/>
            </a:solidFill>
            <a:ln w="9525">
              <a:no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7" name="Freeform 26"/>
            <p:cNvSpPr>
              <a:spLocks noEditPoints="1"/>
            </p:cNvSpPr>
            <p:nvPr/>
          </p:nvSpPr>
          <p:spPr bwMode="auto">
            <a:xfrm>
              <a:off x="3506788" y="3014663"/>
              <a:ext cx="547688" cy="666750"/>
            </a:xfrm>
            <a:custGeom>
              <a:avLst/>
              <a:gdLst>
                <a:gd name="T0" fmla="*/ 166 w 247"/>
                <a:gd name="T1" fmla="*/ 301 h 301"/>
                <a:gd name="T2" fmla="*/ 81 w 247"/>
                <a:gd name="T3" fmla="*/ 301 h 301"/>
                <a:gd name="T4" fmla="*/ 70 w 247"/>
                <a:gd name="T5" fmla="*/ 290 h 301"/>
                <a:gd name="T6" fmla="*/ 35 w 247"/>
                <a:gd name="T7" fmla="*/ 205 h 301"/>
                <a:gd name="T8" fmla="*/ 0 w 247"/>
                <a:gd name="T9" fmla="*/ 112 h 301"/>
                <a:gd name="T10" fmla="*/ 124 w 247"/>
                <a:gd name="T11" fmla="*/ 0 h 301"/>
                <a:gd name="T12" fmla="*/ 247 w 247"/>
                <a:gd name="T13" fmla="*/ 112 h 301"/>
                <a:gd name="T14" fmla="*/ 212 w 247"/>
                <a:gd name="T15" fmla="*/ 205 h 301"/>
                <a:gd name="T16" fmla="*/ 178 w 247"/>
                <a:gd name="T17" fmla="*/ 290 h 301"/>
                <a:gd name="T18" fmla="*/ 166 w 247"/>
                <a:gd name="T19" fmla="*/ 301 h 301"/>
                <a:gd name="T20" fmla="*/ 124 w 247"/>
                <a:gd name="T21" fmla="*/ 8 h 301"/>
                <a:gd name="T22" fmla="*/ 9 w 247"/>
                <a:gd name="T23" fmla="*/ 112 h 301"/>
                <a:gd name="T24" fmla="*/ 42 w 247"/>
                <a:gd name="T25" fmla="*/ 201 h 301"/>
                <a:gd name="T26" fmla="*/ 78 w 247"/>
                <a:gd name="T27" fmla="*/ 290 h 301"/>
                <a:gd name="T28" fmla="*/ 81 w 247"/>
                <a:gd name="T29" fmla="*/ 293 h 301"/>
                <a:gd name="T30" fmla="*/ 166 w 247"/>
                <a:gd name="T31" fmla="*/ 293 h 301"/>
                <a:gd name="T32" fmla="*/ 170 w 247"/>
                <a:gd name="T33" fmla="*/ 290 h 301"/>
                <a:gd name="T34" fmla="*/ 205 w 247"/>
                <a:gd name="T35" fmla="*/ 201 h 301"/>
                <a:gd name="T36" fmla="*/ 239 w 247"/>
                <a:gd name="T37" fmla="*/ 112 h 301"/>
                <a:gd name="T38" fmla="*/ 124 w 247"/>
                <a:gd name="T39" fmla="*/ 8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47" h="301">
                  <a:moveTo>
                    <a:pt x="166" y="301"/>
                  </a:moveTo>
                  <a:cubicBezTo>
                    <a:pt x="81" y="301"/>
                    <a:pt x="81" y="301"/>
                    <a:pt x="81" y="301"/>
                  </a:cubicBezTo>
                  <a:cubicBezTo>
                    <a:pt x="75" y="301"/>
                    <a:pt x="70" y="296"/>
                    <a:pt x="70" y="290"/>
                  </a:cubicBezTo>
                  <a:cubicBezTo>
                    <a:pt x="68" y="258"/>
                    <a:pt x="51" y="231"/>
                    <a:pt x="35" y="205"/>
                  </a:cubicBezTo>
                  <a:cubicBezTo>
                    <a:pt x="18" y="177"/>
                    <a:pt x="0" y="148"/>
                    <a:pt x="0" y="112"/>
                  </a:cubicBezTo>
                  <a:cubicBezTo>
                    <a:pt x="0" y="58"/>
                    <a:pt x="43" y="0"/>
                    <a:pt x="124" y="0"/>
                  </a:cubicBezTo>
                  <a:cubicBezTo>
                    <a:pt x="194" y="0"/>
                    <a:pt x="247" y="59"/>
                    <a:pt x="247" y="112"/>
                  </a:cubicBezTo>
                  <a:cubicBezTo>
                    <a:pt x="247" y="148"/>
                    <a:pt x="230" y="177"/>
                    <a:pt x="212" y="205"/>
                  </a:cubicBezTo>
                  <a:cubicBezTo>
                    <a:pt x="196" y="231"/>
                    <a:pt x="180" y="258"/>
                    <a:pt x="178" y="290"/>
                  </a:cubicBezTo>
                  <a:cubicBezTo>
                    <a:pt x="177" y="296"/>
                    <a:pt x="172" y="301"/>
                    <a:pt x="166" y="301"/>
                  </a:cubicBezTo>
                  <a:close/>
                  <a:moveTo>
                    <a:pt x="124" y="8"/>
                  </a:moveTo>
                  <a:cubicBezTo>
                    <a:pt x="49" y="8"/>
                    <a:pt x="9" y="62"/>
                    <a:pt x="9" y="112"/>
                  </a:cubicBezTo>
                  <a:cubicBezTo>
                    <a:pt x="9" y="145"/>
                    <a:pt x="25" y="172"/>
                    <a:pt x="42" y="201"/>
                  </a:cubicBezTo>
                  <a:cubicBezTo>
                    <a:pt x="59" y="228"/>
                    <a:pt x="76" y="256"/>
                    <a:pt x="78" y="290"/>
                  </a:cubicBezTo>
                  <a:cubicBezTo>
                    <a:pt x="78" y="292"/>
                    <a:pt x="80" y="293"/>
                    <a:pt x="81" y="293"/>
                  </a:cubicBezTo>
                  <a:cubicBezTo>
                    <a:pt x="166" y="293"/>
                    <a:pt x="166" y="293"/>
                    <a:pt x="166" y="293"/>
                  </a:cubicBezTo>
                  <a:cubicBezTo>
                    <a:pt x="168" y="293"/>
                    <a:pt x="169" y="292"/>
                    <a:pt x="170" y="290"/>
                  </a:cubicBezTo>
                  <a:cubicBezTo>
                    <a:pt x="172" y="256"/>
                    <a:pt x="189" y="228"/>
                    <a:pt x="205" y="201"/>
                  </a:cubicBezTo>
                  <a:cubicBezTo>
                    <a:pt x="223" y="172"/>
                    <a:pt x="239" y="145"/>
                    <a:pt x="239" y="112"/>
                  </a:cubicBezTo>
                  <a:cubicBezTo>
                    <a:pt x="239" y="63"/>
                    <a:pt x="190" y="8"/>
                    <a:pt x="124" y="8"/>
                  </a:cubicBezTo>
                  <a:close/>
                </a:path>
              </a:pathLst>
            </a:custGeom>
            <a:solidFill>
              <a:srgbClr val="EEA720"/>
            </a:solidFill>
            <a:ln w="9525">
              <a:solidFill>
                <a:srgbClr val="EEA720"/>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8" name="Freeform 27"/>
            <p:cNvSpPr>
              <a:spLocks/>
            </p:cNvSpPr>
            <p:nvPr/>
          </p:nvSpPr>
          <p:spPr bwMode="auto">
            <a:xfrm>
              <a:off x="3781426" y="3803650"/>
              <a:ext cx="2071688" cy="3054350"/>
            </a:xfrm>
            <a:custGeom>
              <a:avLst/>
              <a:gdLst>
                <a:gd name="T0" fmla="*/ 0 w 935"/>
                <a:gd name="T1" fmla="*/ 0 h 1380"/>
                <a:gd name="T2" fmla="*/ 0 w 935"/>
                <a:gd name="T3" fmla="*/ 104 h 1380"/>
                <a:gd name="T4" fmla="*/ 80 w 935"/>
                <a:gd name="T5" fmla="*/ 183 h 1380"/>
                <a:gd name="T6" fmla="*/ 855 w 935"/>
                <a:gd name="T7" fmla="*/ 183 h 1380"/>
                <a:gd name="T8" fmla="*/ 935 w 935"/>
                <a:gd name="T9" fmla="*/ 263 h 1380"/>
                <a:gd name="T10" fmla="*/ 935 w 935"/>
                <a:gd name="T11" fmla="*/ 1380 h 1380"/>
              </a:gdLst>
              <a:ahLst/>
              <a:cxnLst>
                <a:cxn ang="0">
                  <a:pos x="T0" y="T1"/>
                </a:cxn>
                <a:cxn ang="0">
                  <a:pos x="T2" y="T3"/>
                </a:cxn>
                <a:cxn ang="0">
                  <a:pos x="T4" y="T5"/>
                </a:cxn>
                <a:cxn ang="0">
                  <a:pos x="T6" y="T7"/>
                </a:cxn>
                <a:cxn ang="0">
                  <a:pos x="T8" y="T9"/>
                </a:cxn>
                <a:cxn ang="0">
                  <a:pos x="T10" y="T11"/>
                </a:cxn>
              </a:cxnLst>
              <a:rect l="0" t="0" r="r" b="b"/>
              <a:pathLst>
                <a:path w="935" h="1380">
                  <a:moveTo>
                    <a:pt x="0" y="0"/>
                  </a:moveTo>
                  <a:cubicBezTo>
                    <a:pt x="0" y="104"/>
                    <a:pt x="0" y="104"/>
                    <a:pt x="0" y="104"/>
                  </a:cubicBezTo>
                  <a:cubicBezTo>
                    <a:pt x="0" y="148"/>
                    <a:pt x="35" y="183"/>
                    <a:pt x="80" y="183"/>
                  </a:cubicBezTo>
                  <a:cubicBezTo>
                    <a:pt x="855" y="183"/>
                    <a:pt x="855" y="183"/>
                    <a:pt x="855" y="183"/>
                  </a:cubicBezTo>
                  <a:cubicBezTo>
                    <a:pt x="899" y="183"/>
                    <a:pt x="935" y="219"/>
                    <a:pt x="935" y="263"/>
                  </a:cubicBezTo>
                  <a:cubicBezTo>
                    <a:pt x="935" y="1380"/>
                    <a:pt x="935" y="1380"/>
                    <a:pt x="935" y="1380"/>
                  </a:cubicBezTo>
                </a:path>
              </a:pathLst>
            </a:custGeom>
            <a:noFill/>
            <a:ln w="34925" cap="flat">
              <a:solidFill>
                <a:srgbClr val="EEA7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9" name="Freeform 28"/>
            <p:cNvSpPr>
              <a:spLocks/>
            </p:cNvSpPr>
            <p:nvPr/>
          </p:nvSpPr>
          <p:spPr bwMode="auto">
            <a:xfrm>
              <a:off x="5218113" y="3910013"/>
              <a:ext cx="219075" cy="44450"/>
            </a:xfrm>
            <a:custGeom>
              <a:avLst/>
              <a:gdLst>
                <a:gd name="T0" fmla="*/ 99 w 99"/>
                <a:gd name="T1" fmla="*/ 20 h 20"/>
                <a:gd name="T2" fmla="*/ 99 w 99"/>
                <a:gd name="T3" fmla="*/ 8 h 20"/>
                <a:gd name="T4" fmla="*/ 91 w 99"/>
                <a:gd name="T5" fmla="*/ 0 h 20"/>
                <a:gd name="T6" fmla="*/ 8 w 99"/>
                <a:gd name="T7" fmla="*/ 0 h 20"/>
                <a:gd name="T8" fmla="*/ 0 w 99"/>
                <a:gd name="T9" fmla="*/ 8 h 20"/>
                <a:gd name="T10" fmla="*/ 0 w 99"/>
                <a:gd name="T11" fmla="*/ 20 h 20"/>
                <a:gd name="T12" fmla="*/ 99 w 99"/>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99" h="20">
                  <a:moveTo>
                    <a:pt x="99" y="20"/>
                  </a:moveTo>
                  <a:cubicBezTo>
                    <a:pt x="99" y="8"/>
                    <a:pt x="99" y="8"/>
                    <a:pt x="99" y="8"/>
                  </a:cubicBezTo>
                  <a:cubicBezTo>
                    <a:pt x="99" y="4"/>
                    <a:pt x="95" y="0"/>
                    <a:pt x="91" y="0"/>
                  </a:cubicBezTo>
                  <a:cubicBezTo>
                    <a:pt x="8" y="0"/>
                    <a:pt x="8" y="0"/>
                    <a:pt x="8" y="0"/>
                  </a:cubicBezTo>
                  <a:cubicBezTo>
                    <a:pt x="3" y="0"/>
                    <a:pt x="0" y="4"/>
                    <a:pt x="0" y="8"/>
                  </a:cubicBezTo>
                  <a:cubicBezTo>
                    <a:pt x="0" y="20"/>
                    <a:pt x="0" y="20"/>
                    <a:pt x="0" y="20"/>
                  </a:cubicBezTo>
                  <a:lnTo>
                    <a:pt x="99" y="20"/>
                  </a:ln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0" name="Rectangle 29"/>
            <p:cNvSpPr>
              <a:spLocks noChangeArrowheads="1"/>
            </p:cNvSpPr>
            <p:nvPr/>
          </p:nvSpPr>
          <p:spPr bwMode="auto">
            <a:xfrm>
              <a:off x="5218113" y="3973513"/>
              <a:ext cx="219075" cy="28575"/>
            </a:xfrm>
            <a:prstGeom prst="rect">
              <a:avLst/>
            </a:pr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1" name="Freeform 30"/>
            <p:cNvSpPr>
              <a:spLocks/>
            </p:cNvSpPr>
            <p:nvPr/>
          </p:nvSpPr>
          <p:spPr bwMode="auto">
            <a:xfrm>
              <a:off x="5218113" y="4022725"/>
              <a:ext cx="219075" cy="44450"/>
            </a:xfrm>
            <a:custGeom>
              <a:avLst/>
              <a:gdLst>
                <a:gd name="T0" fmla="*/ 0 w 99"/>
                <a:gd name="T1" fmla="*/ 0 h 20"/>
                <a:gd name="T2" fmla="*/ 0 w 99"/>
                <a:gd name="T3" fmla="*/ 12 h 20"/>
                <a:gd name="T4" fmla="*/ 8 w 99"/>
                <a:gd name="T5" fmla="*/ 20 h 20"/>
                <a:gd name="T6" fmla="*/ 91 w 99"/>
                <a:gd name="T7" fmla="*/ 20 h 20"/>
                <a:gd name="T8" fmla="*/ 99 w 99"/>
                <a:gd name="T9" fmla="*/ 12 h 20"/>
                <a:gd name="T10" fmla="*/ 99 w 99"/>
                <a:gd name="T11" fmla="*/ 0 h 20"/>
                <a:gd name="T12" fmla="*/ 0 w 99"/>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99" h="20">
                  <a:moveTo>
                    <a:pt x="0" y="0"/>
                  </a:moveTo>
                  <a:cubicBezTo>
                    <a:pt x="0" y="12"/>
                    <a:pt x="0" y="12"/>
                    <a:pt x="0" y="12"/>
                  </a:cubicBezTo>
                  <a:cubicBezTo>
                    <a:pt x="0" y="16"/>
                    <a:pt x="3" y="20"/>
                    <a:pt x="8" y="20"/>
                  </a:cubicBezTo>
                  <a:cubicBezTo>
                    <a:pt x="91" y="20"/>
                    <a:pt x="91" y="20"/>
                    <a:pt x="91" y="20"/>
                  </a:cubicBezTo>
                  <a:cubicBezTo>
                    <a:pt x="95" y="20"/>
                    <a:pt x="99" y="16"/>
                    <a:pt x="99" y="12"/>
                  </a:cubicBezTo>
                  <a:cubicBezTo>
                    <a:pt x="99" y="0"/>
                    <a:pt x="99" y="0"/>
                    <a:pt x="99" y="0"/>
                  </a:cubicBezTo>
                  <a:lnTo>
                    <a:pt x="0" y="0"/>
                  </a:ln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2" name="Freeform 31"/>
            <p:cNvSpPr>
              <a:spLocks noEditPoints="1"/>
            </p:cNvSpPr>
            <p:nvPr/>
          </p:nvSpPr>
          <p:spPr bwMode="auto">
            <a:xfrm>
              <a:off x="5046663" y="3181350"/>
              <a:ext cx="560388" cy="700088"/>
            </a:xfrm>
            <a:custGeom>
              <a:avLst/>
              <a:gdLst>
                <a:gd name="T0" fmla="*/ 126 w 253"/>
                <a:gd name="T1" fmla="*/ 0 h 316"/>
                <a:gd name="T2" fmla="*/ 0 w 253"/>
                <a:gd name="T3" fmla="*/ 111 h 316"/>
                <a:gd name="T4" fmla="*/ 70 w 253"/>
                <a:gd name="T5" fmla="*/ 305 h 316"/>
                <a:gd name="T6" fmla="*/ 83 w 253"/>
                <a:gd name="T7" fmla="*/ 316 h 316"/>
                <a:gd name="T8" fmla="*/ 169 w 253"/>
                <a:gd name="T9" fmla="*/ 316 h 316"/>
                <a:gd name="T10" fmla="*/ 182 w 253"/>
                <a:gd name="T11" fmla="*/ 305 h 316"/>
                <a:gd name="T12" fmla="*/ 253 w 253"/>
                <a:gd name="T13" fmla="*/ 111 h 316"/>
                <a:gd name="T14" fmla="*/ 126 w 253"/>
                <a:gd name="T15" fmla="*/ 0 h 316"/>
                <a:gd name="T16" fmla="*/ 113 w 253"/>
                <a:gd name="T17" fmla="*/ 285 h 316"/>
                <a:gd name="T18" fmla="*/ 111 w 253"/>
                <a:gd name="T19" fmla="*/ 285 h 316"/>
                <a:gd name="T20" fmla="*/ 107 w 253"/>
                <a:gd name="T21" fmla="*/ 283 h 316"/>
                <a:gd name="T22" fmla="*/ 66 w 253"/>
                <a:gd name="T23" fmla="*/ 176 h 316"/>
                <a:gd name="T24" fmla="*/ 65 w 253"/>
                <a:gd name="T25" fmla="*/ 176 h 316"/>
                <a:gd name="T26" fmla="*/ 49 w 253"/>
                <a:gd name="T27" fmla="*/ 160 h 316"/>
                <a:gd name="T28" fmla="*/ 65 w 253"/>
                <a:gd name="T29" fmla="*/ 144 h 316"/>
                <a:gd name="T30" fmla="*/ 80 w 253"/>
                <a:gd name="T31" fmla="*/ 160 h 316"/>
                <a:gd name="T32" fmla="*/ 74 w 253"/>
                <a:gd name="T33" fmla="*/ 173 h 316"/>
                <a:gd name="T34" fmla="*/ 115 w 253"/>
                <a:gd name="T35" fmla="*/ 279 h 316"/>
                <a:gd name="T36" fmla="*/ 113 w 253"/>
                <a:gd name="T37" fmla="*/ 285 h 316"/>
                <a:gd name="T38" fmla="*/ 188 w 253"/>
                <a:gd name="T39" fmla="*/ 176 h 316"/>
                <a:gd name="T40" fmla="*/ 187 w 253"/>
                <a:gd name="T41" fmla="*/ 176 h 316"/>
                <a:gd name="T42" fmla="*/ 145 w 253"/>
                <a:gd name="T43" fmla="*/ 283 h 316"/>
                <a:gd name="T44" fmla="*/ 141 w 253"/>
                <a:gd name="T45" fmla="*/ 285 h 316"/>
                <a:gd name="T46" fmla="*/ 140 w 253"/>
                <a:gd name="T47" fmla="*/ 285 h 316"/>
                <a:gd name="T48" fmla="*/ 137 w 253"/>
                <a:gd name="T49" fmla="*/ 279 h 316"/>
                <a:gd name="T50" fmla="*/ 178 w 253"/>
                <a:gd name="T51" fmla="*/ 173 h 316"/>
                <a:gd name="T52" fmla="*/ 172 w 253"/>
                <a:gd name="T53" fmla="*/ 160 h 316"/>
                <a:gd name="T54" fmla="*/ 188 w 253"/>
                <a:gd name="T55" fmla="*/ 144 h 316"/>
                <a:gd name="T56" fmla="*/ 204 w 253"/>
                <a:gd name="T57" fmla="*/ 160 h 316"/>
                <a:gd name="T58" fmla="*/ 188 w 253"/>
                <a:gd name="T59" fmla="*/ 176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3" h="316">
                  <a:moveTo>
                    <a:pt x="126" y="0"/>
                  </a:moveTo>
                  <a:cubicBezTo>
                    <a:pt x="41" y="0"/>
                    <a:pt x="0" y="51"/>
                    <a:pt x="0" y="111"/>
                  </a:cubicBezTo>
                  <a:cubicBezTo>
                    <a:pt x="0" y="184"/>
                    <a:pt x="55" y="235"/>
                    <a:pt x="70" y="305"/>
                  </a:cubicBezTo>
                  <a:cubicBezTo>
                    <a:pt x="71" y="311"/>
                    <a:pt x="77" y="316"/>
                    <a:pt x="83" y="316"/>
                  </a:cubicBezTo>
                  <a:cubicBezTo>
                    <a:pt x="169" y="316"/>
                    <a:pt x="169" y="316"/>
                    <a:pt x="169" y="316"/>
                  </a:cubicBezTo>
                  <a:cubicBezTo>
                    <a:pt x="176" y="316"/>
                    <a:pt x="181" y="311"/>
                    <a:pt x="182" y="305"/>
                  </a:cubicBezTo>
                  <a:cubicBezTo>
                    <a:pt x="197" y="235"/>
                    <a:pt x="253" y="184"/>
                    <a:pt x="253" y="111"/>
                  </a:cubicBezTo>
                  <a:cubicBezTo>
                    <a:pt x="253" y="51"/>
                    <a:pt x="201" y="0"/>
                    <a:pt x="126" y="0"/>
                  </a:cubicBezTo>
                  <a:close/>
                  <a:moveTo>
                    <a:pt x="113" y="285"/>
                  </a:moveTo>
                  <a:cubicBezTo>
                    <a:pt x="112" y="285"/>
                    <a:pt x="112" y="285"/>
                    <a:pt x="111" y="285"/>
                  </a:cubicBezTo>
                  <a:cubicBezTo>
                    <a:pt x="109" y="285"/>
                    <a:pt x="108" y="284"/>
                    <a:pt x="107" y="283"/>
                  </a:cubicBezTo>
                  <a:cubicBezTo>
                    <a:pt x="66" y="176"/>
                    <a:pt x="66" y="176"/>
                    <a:pt x="66" y="176"/>
                  </a:cubicBezTo>
                  <a:cubicBezTo>
                    <a:pt x="65" y="176"/>
                    <a:pt x="65" y="176"/>
                    <a:pt x="65" y="176"/>
                  </a:cubicBezTo>
                  <a:cubicBezTo>
                    <a:pt x="56" y="176"/>
                    <a:pt x="49" y="169"/>
                    <a:pt x="49" y="160"/>
                  </a:cubicBezTo>
                  <a:cubicBezTo>
                    <a:pt x="49" y="151"/>
                    <a:pt x="56" y="144"/>
                    <a:pt x="65" y="144"/>
                  </a:cubicBezTo>
                  <a:cubicBezTo>
                    <a:pt x="73" y="144"/>
                    <a:pt x="80" y="151"/>
                    <a:pt x="80" y="160"/>
                  </a:cubicBezTo>
                  <a:cubicBezTo>
                    <a:pt x="80" y="165"/>
                    <a:pt x="78" y="170"/>
                    <a:pt x="74" y="173"/>
                  </a:cubicBezTo>
                  <a:cubicBezTo>
                    <a:pt x="115" y="279"/>
                    <a:pt x="115" y="279"/>
                    <a:pt x="115" y="279"/>
                  </a:cubicBezTo>
                  <a:cubicBezTo>
                    <a:pt x="116" y="282"/>
                    <a:pt x="115" y="284"/>
                    <a:pt x="113" y="285"/>
                  </a:cubicBezTo>
                  <a:close/>
                  <a:moveTo>
                    <a:pt x="188" y="176"/>
                  </a:moveTo>
                  <a:cubicBezTo>
                    <a:pt x="187" y="176"/>
                    <a:pt x="187" y="176"/>
                    <a:pt x="187" y="176"/>
                  </a:cubicBezTo>
                  <a:cubicBezTo>
                    <a:pt x="145" y="283"/>
                    <a:pt x="145" y="283"/>
                    <a:pt x="145" y="283"/>
                  </a:cubicBezTo>
                  <a:cubicBezTo>
                    <a:pt x="145" y="284"/>
                    <a:pt x="143" y="285"/>
                    <a:pt x="141" y="285"/>
                  </a:cubicBezTo>
                  <a:cubicBezTo>
                    <a:pt x="141" y="285"/>
                    <a:pt x="140" y="285"/>
                    <a:pt x="140" y="285"/>
                  </a:cubicBezTo>
                  <a:cubicBezTo>
                    <a:pt x="137" y="284"/>
                    <a:pt x="136" y="282"/>
                    <a:pt x="137" y="279"/>
                  </a:cubicBezTo>
                  <a:cubicBezTo>
                    <a:pt x="178" y="173"/>
                    <a:pt x="178" y="173"/>
                    <a:pt x="178" y="173"/>
                  </a:cubicBezTo>
                  <a:cubicBezTo>
                    <a:pt x="174" y="170"/>
                    <a:pt x="172" y="165"/>
                    <a:pt x="172" y="160"/>
                  </a:cubicBezTo>
                  <a:cubicBezTo>
                    <a:pt x="172" y="151"/>
                    <a:pt x="179" y="144"/>
                    <a:pt x="188" y="144"/>
                  </a:cubicBezTo>
                  <a:cubicBezTo>
                    <a:pt x="197" y="144"/>
                    <a:pt x="204" y="151"/>
                    <a:pt x="204" y="160"/>
                  </a:cubicBezTo>
                  <a:cubicBezTo>
                    <a:pt x="204" y="169"/>
                    <a:pt x="197" y="176"/>
                    <a:pt x="188" y="176"/>
                  </a:cubicBez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3" name="Freeform 32"/>
            <p:cNvSpPr>
              <a:spLocks/>
            </p:cNvSpPr>
            <p:nvPr/>
          </p:nvSpPr>
          <p:spPr bwMode="auto">
            <a:xfrm>
              <a:off x="5327651" y="4040188"/>
              <a:ext cx="230188" cy="2817813"/>
            </a:xfrm>
            <a:custGeom>
              <a:avLst/>
              <a:gdLst>
                <a:gd name="T0" fmla="*/ 0 w 104"/>
                <a:gd name="T1" fmla="*/ 0 h 1273"/>
                <a:gd name="T2" fmla="*/ 0 w 104"/>
                <a:gd name="T3" fmla="*/ 408 h 1273"/>
                <a:gd name="T4" fmla="*/ 52 w 104"/>
                <a:gd name="T5" fmla="*/ 460 h 1273"/>
                <a:gd name="T6" fmla="*/ 52 w 104"/>
                <a:gd name="T7" fmla="*/ 460 h 1273"/>
                <a:gd name="T8" fmla="*/ 104 w 104"/>
                <a:gd name="T9" fmla="*/ 512 h 1273"/>
                <a:gd name="T10" fmla="*/ 104 w 104"/>
                <a:gd name="T11" fmla="*/ 1273 h 1273"/>
              </a:gdLst>
              <a:ahLst/>
              <a:cxnLst>
                <a:cxn ang="0">
                  <a:pos x="T0" y="T1"/>
                </a:cxn>
                <a:cxn ang="0">
                  <a:pos x="T2" y="T3"/>
                </a:cxn>
                <a:cxn ang="0">
                  <a:pos x="T4" y="T5"/>
                </a:cxn>
                <a:cxn ang="0">
                  <a:pos x="T6" y="T7"/>
                </a:cxn>
                <a:cxn ang="0">
                  <a:pos x="T8" y="T9"/>
                </a:cxn>
                <a:cxn ang="0">
                  <a:pos x="T10" y="T11"/>
                </a:cxn>
              </a:cxnLst>
              <a:rect l="0" t="0" r="r" b="b"/>
              <a:pathLst>
                <a:path w="104" h="1273">
                  <a:moveTo>
                    <a:pt x="0" y="0"/>
                  </a:moveTo>
                  <a:cubicBezTo>
                    <a:pt x="0" y="408"/>
                    <a:pt x="0" y="408"/>
                    <a:pt x="0" y="408"/>
                  </a:cubicBezTo>
                  <a:cubicBezTo>
                    <a:pt x="0" y="437"/>
                    <a:pt x="23" y="460"/>
                    <a:pt x="52" y="460"/>
                  </a:cubicBezTo>
                  <a:cubicBezTo>
                    <a:pt x="52" y="460"/>
                    <a:pt x="52" y="460"/>
                    <a:pt x="52" y="460"/>
                  </a:cubicBezTo>
                  <a:cubicBezTo>
                    <a:pt x="81" y="460"/>
                    <a:pt x="104" y="483"/>
                    <a:pt x="104" y="512"/>
                  </a:cubicBezTo>
                  <a:cubicBezTo>
                    <a:pt x="104" y="1273"/>
                    <a:pt x="104" y="1273"/>
                    <a:pt x="104" y="1273"/>
                  </a:cubicBezTo>
                </a:path>
              </a:pathLst>
            </a:custGeom>
            <a:noFill/>
            <a:ln w="106363" cap="flat">
              <a:solidFill>
                <a:srgbClr val="9132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4" name="Freeform 33"/>
            <p:cNvSpPr>
              <a:spLocks/>
            </p:cNvSpPr>
            <p:nvPr/>
          </p:nvSpPr>
          <p:spPr bwMode="auto">
            <a:xfrm>
              <a:off x="4681538" y="3109913"/>
              <a:ext cx="2043113" cy="3748088"/>
            </a:xfrm>
            <a:custGeom>
              <a:avLst/>
              <a:gdLst>
                <a:gd name="T0" fmla="*/ 0 w 922"/>
                <a:gd name="T1" fmla="*/ 0 h 1693"/>
                <a:gd name="T2" fmla="*/ 0 w 922"/>
                <a:gd name="T3" fmla="*/ 587 h 1693"/>
                <a:gd name="T4" fmla="*/ 77 w 922"/>
                <a:gd name="T5" fmla="*/ 663 h 1693"/>
                <a:gd name="T6" fmla="*/ 845 w 922"/>
                <a:gd name="T7" fmla="*/ 663 h 1693"/>
                <a:gd name="T8" fmla="*/ 922 w 922"/>
                <a:gd name="T9" fmla="*/ 740 h 1693"/>
                <a:gd name="T10" fmla="*/ 922 w 922"/>
                <a:gd name="T11" fmla="*/ 1693 h 1693"/>
              </a:gdLst>
              <a:ahLst/>
              <a:cxnLst>
                <a:cxn ang="0">
                  <a:pos x="T0" y="T1"/>
                </a:cxn>
                <a:cxn ang="0">
                  <a:pos x="T2" y="T3"/>
                </a:cxn>
                <a:cxn ang="0">
                  <a:pos x="T4" y="T5"/>
                </a:cxn>
                <a:cxn ang="0">
                  <a:pos x="T6" y="T7"/>
                </a:cxn>
                <a:cxn ang="0">
                  <a:pos x="T8" y="T9"/>
                </a:cxn>
                <a:cxn ang="0">
                  <a:pos x="T10" y="T11"/>
                </a:cxn>
              </a:cxnLst>
              <a:rect l="0" t="0" r="r" b="b"/>
              <a:pathLst>
                <a:path w="922" h="1693">
                  <a:moveTo>
                    <a:pt x="0" y="0"/>
                  </a:moveTo>
                  <a:cubicBezTo>
                    <a:pt x="0" y="587"/>
                    <a:pt x="0" y="587"/>
                    <a:pt x="0" y="587"/>
                  </a:cubicBezTo>
                  <a:cubicBezTo>
                    <a:pt x="0" y="629"/>
                    <a:pt x="35" y="663"/>
                    <a:pt x="77" y="663"/>
                  </a:cubicBezTo>
                  <a:cubicBezTo>
                    <a:pt x="845" y="663"/>
                    <a:pt x="845" y="663"/>
                    <a:pt x="845" y="663"/>
                  </a:cubicBezTo>
                  <a:cubicBezTo>
                    <a:pt x="887" y="663"/>
                    <a:pt x="922" y="698"/>
                    <a:pt x="922" y="740"/>
                  </a:cubicBezTo>
                  <a:cubicBezTo>
                    <a:pt x="922" y="1693"/>
                    <a:pt x="922" y="1693"/>
                    <a:pt x="922" y="1693"/>
                  </a:cubicBezTo>
                </a:path>
              </a:pathLst>
            </a:custGeom>
            <a:noFill/>
            <a:ln w="46038" cap="flat">
              <a:solidFill>
                <a:srgbClr val="09948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5" name="Freeform 34"/>
            <p:cNvSpPr>
              <a:spLocks noEditPoints="1"/>
            </p:cNvSpPr>
            <p:nvPr/>
          </p:nvSpPr>
          <p:spPr bwMode="auto">
            <a:xfrm>
              <a:off x="4437063" y="2339975"/>
              <a:ext cx="492125" cy="606425"/>
            </a:xfrm>
            <a:custGeom>
              <a:avLst/>
              <a:gdLst>
                <a:gd name="T0" fmla="*/ 147 w 222"/>
                <a:gd name="T1" fmla="*/ 274 h 274"/>
                <a:gd name="T2" fmla="*/ 74 w 222"/>
                <a:gd name="T3" fmla="*/ 274 h 274"/>
                <a:gd name="T4" fmla="*/ 60 w 222"/>
                <a:gd name="T5" fmla="*/ 262 h 274"/>
                <a:gd name="T6" fmla="*/ 31 w 222"/>
                <a:gd name="T7" fmla="*/ 193 h 274"/>
                <a:gd name="T8" fmla="*/ 0 w 222"/>
                <a:gd name="T9" fmla="*/ 97 h 274"/>
                <a:gd name="T10" fmla="*/ 111 w 222"/>
                <a:gd name="T11" fmla="*/ 0 h 274"/>
                <a:gd name="T12" fmla="*/ 222 w 222"/>
                <a:gd name="T13" fmla="*/ 97 h 274"/>
                <a:gd name="T14" fmla="*/ 191 w 222"/>
                <a:gd name="T15" fmla="*/ 193 h 274"/>
                <a:gd name="T16" fmla="*/ 162 w 222"/>
                <a:gd name="T17" fmla="*/ 262 h 274"/>
                <a:gd name="T18" fmla="*/ 147 w 222"/>
                <a:gd name="T19" fmla="*/ 274 h 274"/>
                <a:gd name="T20" fmla="*/ 111 w 222"/>
                <a:gd name="T21" fmla="*/ 8 h 274"/>
                <a:gd name="T22" fmla="*/ 8 w 222"/>
                <a:gd name="T23" fmla="*/ 97 h 274"/>
                <a:gd name="T24" fmla="*/ 38 w 222"/>
                <a:gd name="T25" fmla="*/ 189 h 274"/>
                <a:gd name="T26" fmla="*/ 67 w 222"/>
                <a:gd name="T27" fmla="*/ 260 h 274"/>
                <a:gd name="T28" fmla="*/ 74 w 222"/>
                <a:gd name="T29" fmla="*/ 266 h 274"/>
                <a:gd name="T30" fmla="*/ 147 w 222"/>
                <a:gd name="T31" fmla="*/ 266 h 274"/>
                <a:gd name="T32" fmla="*/ 154 w 222"/>
                <a:gd name="T33" fmla="*/ 260 h 274"/>
                <a:gd name="T34" fmla="*/ 184 w 222"/>
                <a:gd name="T35" fmla="*/ 189 h 274"/>
                <a:gd name="T36" fmla="*/ 214 w 222"/>
                <a:gd name="T37" fmla="*/ 97 h 274"/>
                <a:gd name="T38" fmla="*/ 111 w 222"/>
                <a:gd name="T39" fmla="*/ 8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2" h="274">
                  <a:moveTo>
                    <a:pt x="147" y="274"/>
                  </a:moveTo>
                  <a:cubicBezTo>
                    <a:pt x="74" y="274"/>
                    <a:pt x="74" y="274"/>
                    <a:pt x="74" y="274"/>
                  </a:cubicBezTo>
                  <a:cubicBezTo>
                    <a:pt x="67" y="274"/>
                    <a:pt x="61" y="269"/>
                    <a:pt x="60" y="262"/>
                  </a:cubicBezTo>
                  <a:cubicBezTo>
                    <a:pt x="54" y="237"/>
                    <a:pt x="43" y="215"/>
                    <a:pt x="31" y="193"/>
                  </a:cubicBezTo>
                  <a:cubicBezTo>
                    <a:pt x="16" y="164"/>
                    <a:pt x="0" y="133"/>
                    <a:pt x="0" y="97"/>
                  </a:cubicBezTo>
                  <a:cubicBezTo>
                    <a:pt x="0" y="38"/>
                    <a:pt x="44" y="0"/>
                    <a:pt x="111" y="0"/>
                  </a:cubicBezTo>
                  <a:cubicBezTo>
                    <a:pt x="174" y="0"/>
                    <a:pt x="222" y="41"/>
                    <a:pt x="222" y="97"/>
                  </a:cubicBezTo>
                  <a:cubicBezTo>
                    <a:pt x="222" y="133"/>
                    <a:pt x="206" y="164"/>
                    <a:pt x="191" y="193"/>
                  </a:cubicBezTo>
                  <a:cubicBezTo>
                    <a:pt x="179" y="215"/>
                    <a:pt x="167" y="237"/>
                    <a:pt x="162" y="262"/>
                  </a:cubicBezTo>
                  <a:cubicBezTo>
                    <a:pt x="161" y="269"/>
                    <a:pt x="155" y="274"/>
                    <a:pt x="147" y="274"/>
                  </a:cubicBezTo>
                  <a:close/>
                  <a:moveTo>
                    <a:pt x="111" y="8"/>
                  </a:moveTo>
                  <a:cubicBezTo>
                    <a:pt x="35" y="8"/>
                    <a:pt x="8" y="54"/>
                    <a:pt x="8" y="97"/>
                  </a:cubicBezTo>
                  <a:cubicBezTo>
                    <a:pt x="8" y="131"/>
                    <a:pt x="23" y="159"/>
                    <a:pt x="38" y="189"/>
                  </a:cubicBezTo>
                  <a:cubicBezTo>
                    <a:pt x="50" y="211"/>
                    <a:pt x="62" y="234"/>
                    <a:pt x="67" y="260"/>
                  </a:cubicBezTo>
                  <a:cubicBezTo>
                    <a:pt x="68" y="264"/>
                    <a:pt x="71" y="266"/>
                    <a:pt x="74" y="266"/>
                  </a:cubicBezTo>
                  <a:cubicBezTo>
                    <a:pt x="147" y="266"/>
                    <a:pt x="147" y="266"/>
                    <a:pt x="147" y="266"/>
                  </a:cubicBezTo>
                  <a:cubicBezTo>
                    <a:pt x="151" y="266"/>
                    <a:pt x="154" y="264"/>
                    <a:pt x="154" y="260"/>
                  </a:cubicBezTo>
                  <a:cubicBezTo>
                    <a:pt x="160" y="234"/>
                    <a:pt x="172" y="211"/>
                    <a:pt x="184" y="189"/>
                  </a:cubicBezTo>
                  <a:cubicBezTo>
                    <a:pt x="199" y="159"/>
                    <a:pt x="214" y="131"/>
                    <a:pt x="214" y="97"/>
                  </a:cubicBezTo>
                  <a:cubicBezTo>
                    <a:pt x="214" y="46"/>
                    <a:pt x="170" y="8"/>
                    <a:pt x="111" y="8"/>
                  </a:cubicBezTo>
                  <a:close/>
                </a:path>
              </a:pathLst>
            </a:custGeom>
            <a:solidFill>
              <a:srgbClr val="099481"/>
            </a:solidFill>
            <a:ln w="9525">
              <a:no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6" name="Freeform 35"/>
            <p:cNvSpPr>
              <a:spLocks/>
            </p:cNvSpPr>
            <p:nvPr/>
          </p:nvSpPr>
          <p:spPr bwMode="auto">
            <a:xfrm>
              <a:off x="4581526" y="2967038"/>
              <a:ext cx="203200" cy="61913"/>
            </a:xfrm>
            <a:custGeom>
              <a:avLst/>
              <a:gdLst>
                <a:gd name="T0" fmla="*/ 88 w 92"/>
                <a:gd name="T1" fmla="*/ 28 h 28"/>
                <a:gd name="T2" fmla="*/ 84 w 92"/>
                <a:gd name="T3" fmla="*/ 24 h 28"/>
                <a:gd name="T4" fmla="*/ 84 w 92"/>
                <a:gd name="T5" fmla="*/ 13 h 28"/>
                <a:gd name="T6" fmla="*/ 78 w 92"/>
                <a:gd name="T7" fmla="*/ 8 h 28"/>
                <a:gd name="T8" fmla="*/ 14 w 92"/>
                <a:gd name="T9" fmla="*/ 8 h 28"/>
                <a:gd name="T10" fmla="*/ 8 w 92"/>
                <a:gd name="T11" fmla="*/ 13 h 28"/>
                <a:gd name="T12" fmla="*/ 8 w 92"/>
                <a:gd name="T13" fmla="*/ 24 h 28"/>
                <a:gd name="T14" fmla="*/ 4 w 92"/>
                <a:gd name="T15" fmla="*/ 28 h 28"/>
                <a:gd name="T16" fmla="*/ 0 w 92"/>
                <a:gd name="T17" fmla="*/ 24 h 28"/>
                <a:gd name="T18" fmla="*/ 0 w 92"/>
                <a:gd name="T19" fmla="*/ 13 h 28"/>
                <a:gd name="T20" fmla="*/ 14 w 92"/>
                <a:gd name="T21" fmla="*/ 0 h 28"/>
                <a:gd name="T22" fmla="*/ 78 w 92"/>
                <a:gd name="T23" fmla="*/ 0 h 28"/>
                <a:gd name="T24" fmla="*/ 92 w 92"/>
                <a:gd name="T25" fmla="*/ 13 h 28"/>
                <a:gd name="T26" fmla="*/ 92 w 92"/>
                <a:gd name="T27" fmla="*/ 24 h 28"/>
                <a:gd name="T28" fmla="*/ 88 w 92"/>
                <a:gd name="T29"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2" h="28">
                  <a:moveTo>
                    <a:pt x="88" y="28"/>
                  </a:moveTo>
                  <a:cubicBezTo>
                    <a:pt x="86" y="28"/>
                    <a:pt x="84" y="26"/>
                    <a:pt x="84" y="24"/>
                  </a:cubicBezTo>
                  <a:cubicBezTo>
                    <a:pt x="84" y="13"/>
                    <a:pt x="84" y="13"/>
                    <a:pt x="84" y="13"/>
                  </a:cubicBezTo>
                  <a:cubicBezTo>
                    <a:pt x="84" y="10"/>
                    <a:pt x="81" y="8"/>
                    <a:pt x="78" y="8"/>
                  </a:cubicBezTo>
                  <a:cubicBezTo>
                    <a:pt x="14" y="8"/>
                    <a:pt x="14" y="8"/>
                    <a:pt x="14" y="8"/>
                  </a:cubicBezTo>
                  <a:cubicBezTo>
                    <a:pt x="10" y="8"/>
                    <a:pt x="8" y="10"/>
                    <a:pt x="8" y="13"/>
                  </a:cubicBezTo>
                  <a:cubicBezTo>
                    <a:pt x="8" y="24"/>
                    <a:pt x="8" y="24"/>
                    <a:pt x="8" y="24"/>
                  </a:cubicBezTo>
                  <a:cubicBezTo>
                    <a:pt x="8" y="26"/>
                    <a:pt x="6" y="28"/>
                    <a:pt x="4" y="28"/>
                  </a:cubicBezTo>
                  <a:cubicBezTo>
                    <a:pt x="2" y="28"/>
                    <a:pt x="0" y="26"/>
                    <a:pt x="0" y="24"/>
                  </a:cubicBezTo>
                  <a:cubicBezTo>
                    <a:pt x="0" y="13"/>
                    <a:pt x="0" y="13"/>
                    <a:pt x="0" y="13"/>
                  </a:cubicBezTo>
                  <a:cubicBezTo>
                    <a:pt x="0" y="6"/>
                    <a:pt x="6" y="0"/>
                    <a:pt x="14" y="0"/>
                  </a:cubicBezTo>
                  <a:cubicBezTo>
                    <a:pt x="78" y="0"/>
                    <a:pt x="78" y="0"/>
                    <a:pt x="78" y="0"/>
                  </a:cubicBezTo>
                  <a:cubicBezTo>
                    <a:pt x="86" y="0"/>
                    <a:pt x="92" y="6"/>
                    <a:pt x="92" y="13"/>
                  </a:cubicBezTo>
                  <a:cubicBezTo>
                    <a:pt x="92" y="24"/>
                    <a:pt x="92" y="24"/>
                    <a:pt x="92" y="24"/>
                  </a:cubicBezTo>
                  <a:cubicBezTo>
                    <a:pt x="92" y="26"/>
                    <a:pt x="90" y="28"/>
                    <a:pt x="88" y="28"/>
                  </a:cubicBezTo>
                  <a:close/>
                </a:path>
              </a:pathLst>
            </a:cu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7" name="Freeform 36"/>
            <p:cNvSpPr>
              <a:spLocks noEditPoints="1"/>
            </p:cNvSpPr>
            <p:nvPr/>
          </p:nvSpPr>
          <p:spPr bwMode="auto">
            <a:xfrm>
              <a:off x="4581526" y="3011488"/>
              <a:ext cx="203200" cy="103188"/>
            </a:xfrm>
            <a:custGeom>
              <a:avLst/>
              <a:gdLst>
                <a:gd name="T0" fmla="*/ 79 w 92"/>
                <a:gd name="T1" fmla="*/ 47 h 47"/>
                <a:gd name="T2" fmla="*/ 12 w 92"/>
                <a:gd name="T3" fmla="*/ 47 h 47"/>
                <a:gd name="T4" fmla="*/ 0 w 92"/>
                <a:gd name="T5" fmla="*/ 35 h 47"/>
                <a:gd name="T6" fmla="*/ 0 w 92"/>
                <a:gd name="T7" fmla="*/ 4 h 47"/>
                <a:gd name="T8" fmla="*/ 4 w 92"/>
                <a:gd name="T9" fmla="*/ 0 h 47"/>
                <a:gd name="T10" fmla="*/ 88 w 92"/>
                <a:gd name="T11" fmla="*/ 0 h 47"/>
                <a:gd name="T12" fmla="*/ 92 w 92"/>
                <a:gd name="T13" fmla="*/ 4 h 47"/>
                <a:gd name="T14" fmla="*/ 92 w 92"/>
                <a:gd name="T15" fmla="*/ 35 h 47"/>
                <a:gd name="T16" fmla="*/ 79 w 92"/>
                <a:gd name="T17" fmla="*/ 47 h 47"/>
                <a:gd name="T18" fmla="*/ 8 w 92"/>
                <a:gd name="T19" fmla="*/ 8 h 47"/>
                <a:gd name="T20" fmla="*/ 8 w 92"/>
                <a:gd name="T21" fmla="*/ 35 h 47"/>
                <a:gd name="T22" fmla="*/ 12 w 92"/>
                <a:gd name="T23" fmla="*/ 39 h 47"/>
                <a:gd name="T24" fmla="*/ 79 w 92"/>
                <a:gd name="T25" fmla="*/ 39 h 47"/>
                <a:gd name="T26" fmla="*/ 84 w 92"/>
                <a:gd name="T27" fmla="*/ 35 h 47"/>
                <a:gd name="T28" fmla="*/ 84 w 92"/>
                <a:gd name="T29" fmla="*/ 8 h 47"/>
                <a:gd name="T30" fmla="*/ 8 w 92"/>
                <a:gd name="T31" fmla="*/ 8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2" h="47">
                  <a:moveTo>
                    <a:pt x="79" y="47"/>
                  </a:moveTo>
                  <a:cubicBezTo>
                    <a:pt x="12" y="47"/>
                    <a:pt x="12" y="47"/>
                    <a:pt x="12" y="47"/>
                  </a:cubicBezTo>
                  <a:cubicBezTo>
                    <a:pt x="6" y="47"/>
                    <a:pt x="0" y="41"/>
                    <a:pt x="0" y="35"/>
                  </a:cubicBezTo>
                  <a:cubicBezTo>
                    <a:pt x="0" y="4"/>
                    <a:pt x="0" y="4"/>
                    <a:pt x="0" y="4"/>
                  </a:cubicBezTo>
                  <a:cubicBezTo>
                    <a:pt x="0" y="1"/>
                    <a:pt x="2" y="0"/>
                    <a:pt x="4" y="0"/>
                  </a:cubicBezTo>
                  <a:cubicBezTo>
                    <a:pt x="88" y="0"/>
                    <a:pt x="88" y="0"/>
                    <a:pt x="88" y="0"/>
                  </a:cubicBezTo>
                  <a:cubicBezTo>
                    <a:pt x="90" y="0"/>
                    <a:pt x="92" y="1"/>
                    <a:pt x="92" y="4"/>
                  </a:cubicBezTo>
                  <a:cubicBezTo>
                    <a:pt x="92" y="35"/>
                    <a:pt x="92" y="35"/>
                    <a:pt x="92" y="35"/>
                  </a:cubicBezTo>
                  <a:cubicBezTo>
                    <a:pt x="92" y="41"/>
                    <a:pt x="86" y="47"/>
                    <a:pt x="79" y="47"/>
                  </a:cubicBezTo>
                  <a:close/>
                  <a:moveTo>
                    <a:pt x="8" y="8"/>
                  </a:moveTo>
                  <a:cubicBezTo>
                    <a:pt x="8" y="35"/>
                    <a:pt x="8" y="35"/>
                    <a:pt x="8" y="35"/>
                  </a:cubicBezTo>
                  <a:cubicBezTo>
                    <a:pt x="8" y="37"/>
                    <a:pt x="10" y="39"/>
                    <a:pt x="12" y="39"/>
                  </a:cubicBezTo>
                  <a:cubicBezTo>
                    <a:pt x="79" y="39"/>
                    <a:pt x="79" y="39"/>
                    <a:pt x="79" y="39"/>
                  </a:cubicBezTo>
                  <a:cubicBezTo>
                    <a:pt x="82" y="39"/>
                    <a:pt x="84" y="37"/>
                    <a:pt x="84" y="35"/>
                  </a:cubicBezTo>
                  <a:cubicBezTo>
                    <a:pt x="84" y="8"/>
                    <a:pt x="84" y="8"/>
                    <a:pt x="84" y="8"/>
                  </a:cubicBezTo>
                  <a:lnTo>
                    <a:pt x="8" y="8"/>
                  </a:lnTo>
                  <a:close/>
                </a:path>
              </a:pathLst>
            </a:cu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8" name="Freeform 37"/>
            <p:cNvSpPr>
              <a:spLocks/>
            </p:cNvSpPr>
            <p:nvPr/>
          </p:nvSpPr>
          <p:spPr bwMode="auto">
            <a:xfrm>
              <a:off x="4586288" y="3051175"/>
              <a:ext cx="195263" cy="17463"/>
            </a:xfrm>
            <a:custGeom>
              <a:avLst/>
              <a:gdLst>
                <a:gd name="T0" fmla="*/ 84 w 88"/>
                <a:gd name="T1" fmla="*/ 8 h 8"/>
                <a:gd name="T2" fmla="*/ 4 w 88"/>
                <a:gd name="T3" fmla="*/ 8 h 8"/>
                <a:gd name="T4" fmla="*/ 0 w 88"/>
                <a:gd name="T5" fmla="*/ 4 h 8"/>
                <a:gd name="T6" fmla="*/ 4 w 88"/>
                <a:gd name="T7" fmla="*/ 0 h 8"/>
                <a:gd name="T8" fmla="*/ 84 w 88"/>
                <a:gd name="T9" fmla="*/ 0 h 8"/>
                <a:gd name="T10" fmla="*/ 88 w 88"/>
                <a:gd name="T11" fmla="*/ 4 h 8"/>
                <a:gd name="T12" fmla="*/ 84 w 88"/>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88" h="8">
                  <a:moveTo>
                    <a:pt x="84" y="8"/>
                  </a:moveTo>
                  <a:cubicBezTo>
                    <a:pt x="4" y="8"/>
                    <a:pt x="4" y="8"/>
                    <a:pt x="4" y="8"/>
                  </a:cubicBezTo>
                  <a:cubicBezTo>
                    <a:pt x="2" y="8"/>
                    <a:pt x="0" y="6"/>
                    <a:pt x="0" y="4"/>
                  </a:cubicBezTo>
                  <a:cubicBezTo>
                    <a:pt x="0" y="2"/>
                    <a:pt x="2" y="0"/>
                    <a:pt x="4" y="0"/>
                  </a:cubicBezTo>
                  <a:cubicBezTo>
                    <a:pt x="84" y="0"/>
                    <a:pt x="84" y="0"/>
                    <a:pt x="84" y="0"/>
                  </a:cubicBezTo>
                  <a:cubicBezTo>
                    <a:pt x="86" y="0"/>
                    <a:pt x="88" y="2"/>
                    <a:pt x="88" y="4"/>
                  </a:cubicBezTo>
                  <a:cubicBezTo>
                    <a:pt x="88" y="6"/>
                    <a:pt x="86" y="8"/>
                    <a:pt x="84" y="8"/>
                  </a:cubicBezTo>
                  <a:close/>
                </a:path>
              </a:pathLst>
            </a:cu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9" name="Freeform 38"/>
            <p:cNvSpPr>
              <a:spLocks/>
            </p:cNvSpPr>
            <p:nvPr/>
          </p:nvSpPr>
          <p:spPr bwMode="auto">
            <a:xfrm>
              <a:off x="4700588" y="2636838"/>
              <a:ext cx="106363" cy="246063"/>
            </a:xfrm>
            <a:custGeom>
              <a:avLst/>
              <a:gdLst>
                <a:gd name="T0" fmla="*/ 5 w 48"/>
                <a:gd name="T1" fmla="*/ 111 h 111"/>
                <a:gd name="T2" fmla="*/ 3 w 48"/>
                <a:gd name="T3" fmla="*/ 110 h 111"/>
                <a:gd name="T4" fmla="*/ 1 w 48"/>
                <a:gd name="T5" fmla="*/ 105 h 111"/>
                <a:gd name="T6" fmla="*/ 40 w 48"/>
                <a:gd name="T7" fmla="*/ 3 h 111"/>
                <a:gd name="T8" fmla="*/ 45 w 48"/>
                <a:gd name="T9" fmla="*/ 1 h 111"/>
                <a:gd name="T10" fmla="*/ 48 w 48"/>
                <a:gd name="T11" fmla="*/ 6 h 111"/>
                <a:gd name="T12" fmla="*/ 8 w 48"/>
                <a:gd name="T13" fmla="*/ 108 h 111"/>
                <a:gd name="T14" fmla="*/ 5 w 48"/>
                <a:gd name="T15" fmla="*/ 111 h 1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1">
                  <a:moveTo>
                    <a:pt x="5" y="111"/>
                  </a:moveTo>
                  <a:cubicBezTo>
                    <a:pt x="4" y="111"/>
                    <a:pt x="4" y="111"/>
                    <a:pt x="3" y="110"/>
                  </a:cubicBezTo>
                  <a:cubicBezTo>
                    <a:pt x="1" y="110"/>
                    <a:pt x="0" y="107"/>
                    <a:pt x="1" y="105"/>
                  </a:cubicBezTo>
                  <a:cubicBezTo>
                    <a:pt x="40" y="3"/>
                    <a:pt x="40" y="3"/>
                    <a:pt x="40" y="3"/>
                  </a:cubicBezTo>
                  <a:cubicBezTo>
                    <a:pt x="41" y="1"/>
                    <a:pt x="43" y="0"/>
                    <a:pt x="45" y="1"/>
                  </a:cubicBezTo>
                  <a:cubicBezTo>
                    <a:pt x="47" y="2"/>
                    <a:pt x="48" y="4"/>
                    <a:pt x="48" y="6"/>
                  </a:cubicBezTo>
                  <a:cubicBezTo>
                    <a:pt x="8" y="108"/>
                    <a:pt x="8" y="108"/>
                    <a:pt x="8" y="108"/>
                  </a:cubicBezTo>
                  <a:cubicBezTo>
                    <a:pt x="8" y="110"/>
                    <a:pt x="6" y="111"/>
                    <a:pt x="5" y="111"/>
                  </a:cubicBezTo>
                  <a:close/>
                </a:path>
              </a:pathLst>
            </a:cu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0" name="Freeform 39"/>
            <p:cNvSpPr>
              <a:spLocks/>
            </p:cNvSpPr>
            <p:nvPr/>
          </p:nvSpPr>
          <p:spPr bwMode="auto">
            <a:xfrm>
              <a:off x="4557713" y="2636838"/>
              <a:ext cx="107950" cy="246063"/>
            </a:xfrm>
            <a:custGeom>
              <a:avLst/>
              <a:gdLst>
                <a:gd name="T0" fmla="*/ 44 w 49"/>
                <a:gd name="T1" fmla="*/ 111 h 111"/>
                <a:gd name="T2" fmla="*/ 41 w 49"/>
                <a:gd name="T3" fmla="*/ 108 h 111"/>
                <a:gd name="T4" fmla="*/ 1 w 49"/>
                <a:gd name="T5" fmla="*/ 6 h 111"/>
                <a:gd name="T6" fmla="*/ 3 w 49"/>
                <a:gd name="T7" fmla="*/ 1 h 111"/>
                <a:gd name="T8" fmla="*/ 9 w 49"/>
                <a:gd name="T9" fmla="*/ 3 h 111"/>
                <a:gd name="T10" fmla="*/ 48 w 49"/>
                <a:gd name="T11" fmla="*/ 105 h 111"/>
                <a:gd name="T12" fmla="*/ 46 w 49"/>
                <a:gd name="T13" fmla="*/ 110 h 111"/>
                <a:gd name="T14" fmla="*/ 44 w 49"/>
                <a:gd name="T15" fmla="*/ 111 h 1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111">
                  <a:moveTo>
                    <a:pt x="44" y="111"/>
                  </a:moveTo>
                  <a:cubicBezTo>
                    <a:pt x="43" y="111"/>
                    <a:pt x="41" y="110"/>
                    <a:pt x="41" y="108"/>
                  </a:cubicBezTo>
                  <a:cubicBezTo>
                    <a:pt x="1" y="6"/>
                    <a:pt x="1" y="6"/>
                    <a:pt x="1" y="6"/>
                  </a:cubicBezTo>
                  <a:cubicBezTo>
                    <a:pt x="0" y="4"/>
                    <a:pt x="1" y="2"/>
                    <a:pt x="3" y="1"/>
                  </a:cubicBezTo>
                  <a:cubicBezTo>
                    <a:pt x="5" y="0"/>
                    <a:pt x="8" y="1"/>
                    <a:pt x="9" y="3"/>
                  </a:cubicBezTo>
                  <a:cubicBezTo>
                    <a:pt x="48" y="105"/>
                    <a:pt x="48" y="105"/>
                    <a:pt x="48" y="105"/>
                  </a:cubicBezTo>
                  <a:cubicBezTo>
                    <a:pt x="49" y="107"/>
                    <a:pt x="48" y="110"/>
                    <a:pt x="46" y="110"/>
                  </a:cubicBezTo>
                  <a:cubicBezTo>
                    <a:pt x="45" y="111"/>
                    <a:pt x="45" y="111"/>
                    <a:pt x="44" y="111"/>
                  </a:cubicBezTo>
                  <a:close/>
                </a:path>
              </a:pathLst>
            </a:cu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1" name="Oval 40"/>
            <p:cNvSpPr>
              <a:spLocks noChangeArrowheads="1"/>
            </p:cNvSpPr>
            <p:nvPr/>
          </p:nvSpPr>
          <p:spPr bwMode="auto">
            <a:xfrm>
              <a:off x="4770438" y="2616200"/>
              <a:ext cx="57150" cy="60325"/>
            </a:xfrm>
            <a:prstGeom prst="ellipse">
              <a:avLst/>
            </a:pr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2" name="Oval 41"/>
            <p:cNvSpPr>
              <a:spLocks noChangeArrowheads="1"/>
            </p:cNvSpPr>
            <p:nvPr/>
          </p:nvSpPr>
          <p:spPr bwMode="auto">
            <a:xfrm>
              <a:off x="4537076" y="2616200"/>
              <a:ext cx="60325" cy="60325"/>
            </a:xfrm>
            <a:prstGeom prst="ellipse">
              <a:avLst/>
            </a:pr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3" name="Freeform 42"/>
            <p:cNvSpPr>
              <a:spLocks/>
            </p:cNvSpPr>
            <p:nvPr/>
          </p:nvSpPr>
          <p:spPr bwMode="auto">
            <a:xfrm>
              <a:off x="7542213" y="5167313"/>
              <a:ext cx="365125" cy="47625"/>
            </a:xfrm>
            <a:custGeom>
              <a:avLst/>
              <a:gdLst>
                <a:gd name="T0" fmla="*/ 154 w 165"/>
                <a:gd name="T1" fmla="*/ 22 h 22"/>
                <a:gd name="T2" fmla="*/ 11 w 165"/>
                <a:gd name="T3" fmla="*/ 22 h 22"/>
                <a:gd name="T4" fmla="*/ 0 w 165"/>
                <a:gd name="T5" fmla="*/ 11 h 22"/>
                <a:gd name="T6" fmla="*/ 0 w 165"/>
                <a:gd name="T7" fmla="*/ 11 h 22"/>
                <a:gd name="T8" fmla="*/ 11 w 165"/>
                <a:gd name="T9" fmla="*/ 0 h 22"/>
                <a:gd name="T10" fmla="*/ 154 w 165"/>
                <a:gd name="T11" fmla="*/ 0 h 22"/>
                <a:gd name="T12" fmla="*/ 165 w 165"/>
                <a:gd name="T13" fmla="*/ 11 h 22"/>
                <a:gd name="T14" fmla="*/ 165 w 165"/>
                <a:gd name="T15" fmla="*/ 11 h 22"/>
                <a:gd name="T16" fmla="*/ 154 w 165"/>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 h="22">
                  <a:moveTo>
                    <a:pt x="154" y="22"/>
                  </a:moveTo>
                  <a:cubicBezTo>
                    <a:pt x="11" y="22"/>
                    <a:pt x="11" y="22"/>
                    <a:pt x="11" y="22"/>
                  </a:cubicBezTo>
                  <a:cubicBezTo>
                    <a:pt x="5" y="22"/>
                    <a:pt x="0" y="17"/>
                    <a:pt x="0" y="11"/>
                  </a:cubicBezTo>
                  <a:cubicBezTo>
                    <a:pt x="0" y="11"/>
                    <a:pt x="0" y="11"/>
                    <a:pt x="0" y="11"/>
                  </a:cubicBezTo>
                  <a:cubicBezTo>
                    <a:pt x="0" y="5"/>
                    <a:pt x="5" y="0"/>
                    <a:pt x="11" y="0"/>
                  </a:cubicBezTo>
                  <a:cubicBezTo>
                    <a:pt x="154" y="0"/>
                    <a:pt x="154" y="0"/>
                    <a:pt x="154" y="0"/>
                  </a:cubicBezTo>
                  <a:cubicBezTo>
                    <a:pt x="160" y="0"/>
                    <a:pt x="165" y="5"/>
                    <a:pt x="165" y="11"/>
                  </a:cubicBezTo>
                  <a:cubicBezTo>
                    <a:pt x="165" y="11"/>
                    <a:pt x="165" y="11"/>
                    <a:pt x="165" y="11"/>
                  </a:cubicBezTo>
                  <a:cubicBezTo>
                    <a:pt x="165" y="17"/>
                    <a:pt x="160" y="22"/>
                    <a:pt x="154" y="22"/>
                  </a:cubicBezTo>
                  <a:close/>
                </a:path>
              </a:pathLst>
            </a:custGeom>
            <a:solidFill>
              <a:srgbClr val="099481"/>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4" name="Freeform 43"/>
            <p:cNvSpPr>
              <a:spLocks/>
            </p:cNvSpPr>
            <p:nvPr/>
          </p:nvSpPr>
          <p:spPr bwMode="auto">
            <a:xfrm>
              <a:off x="7600951" y="5235575"/>
              <a:ext cx="246063" cy="49213"/>
            </a:xfrm>
            <a:custGeom>
              <a:avLst/>
              <a:gdLst>
                <a:gd name="T0" fmla="*/ 102 w 111"/>
                <a:gd name="T1" fmla="*/ 22 h 22"/>
                <a:gd name="T2" fmla="*/ 9 w 111"/>
                <a:gd name="T3" fmla="*/ 22 h 22"/>
                <a:gd name="T4" fmla="*/ 0 w 111"/>
                <a:gd name="T5" fmla="*/ 13 h 22"/>
                <a:gd name="T6" fmla="*/ 0 w 111"/>
                <a:gd name="T7" fmla="*/ 9 h 22"/>
                <a:gd name="T8" fmla="*/ 9 w 111"/>
                <a:gd name="T9" fmla="*/ 0 h 22"/>
                <a:gd name="T10" fmla="*/ 102 w 111"/>
                <a:gd name="T11" fmla="*/ 0 h 22"/>
                <a:gd name="T12" fmla="*/ 111 w 111"/>
                <a:gd name="T13" fmla="*/ 9 h 22"/>
                <a:gd name="T14" fmla="*/ 111 w 111"/>
                <a:gd name="T15" fmla="*/ 13 h 22"/>
                <a:gd name="T16" fmla="*/ 102 w 111"/>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22">
                  <a:moveTo>
                    <a:pt x="102" y="22"/>
                  </a:moveTo>
                  <a:cubicBezTo>
                    <a:pt x="9" y="22"/>
                    <a:pt x="9" y="22"/>
                    <a:pt x="9" y="22"/>
                  </a:cubicBezTo>
                  <a:cubicBezTo>
                    <a:pt x="4" y="22"/>
                    <a:pt x="0" y="18"/>
                    <a:pt x="0" y="13"/>
                  </a:cubicBezTo>
                  <a:cubicBezTo>
                    <a:pt x="0" y="9"/>
                    <a:pt x="0" y="9"/>
                    <a:pt x="0" y="9"/>
                  </a:cubicBezTo>
                  <a:cubicBezTo>
                    <a:pt x="0" y="4"/>
                    <a:pt x="4" y="0"/>
                    <a:pt x="9" y="0"/>
                  </a:cubicBezTo>
                  <a:cubicBezTo>
                    <a:pt x="102" y="0"/>
                    <a:pt x="102" y="0"/>
                    <a:pt x="102" y="0"/>
                  </a:cubicBezTo>
                  <a:cubicBezTo>
                    <a:pt x="107" y="0"/>
                    <a:pt x="111" y="4"/>
                    <a:pt x="111" y="9"/>
                  </a:cubicBezTo>
                  <a:cubicBezTo>
                    <a:pt x="111" y="13"/>
                    <a:pt x="111" y="13"/>
                    <a:pt x="111" y="13"/>
                  </a:cubicBezTo>
                  <a:cubicBezTo>
                    <a:pt x="111" y="18"/>
                    <a:pt x="107" y="22"/>
                    <a:pt x="102" y="22"/>
                  </a:cubicBezTo>
                  <a:close/>
                </a:path>
              </a:pathLst>
            </a:custGeom>
            <a:solidFill>
              <a:srgbClr val="099481"/>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5" name="Freeform 44"/>
            <p:cNvSpPr>
              <a:spLocks/>
            </p:cNvSpPr>
            <p:nvPr/>
          </p:nvSpPr>
          <p:spPr bwMode="auto">
            <a:xfrm>
              <a:off x="7542213" y="5100638"/>
              <a:ext cx="365125" cy="49213"/>
            </a:xfrm>
            <a:custGeom>
              <a:avLst/>
              <a:gdLst>
                <a:gd name="T0" fmla="*/ 154 w 165"/>
                <a:gd name="T1" fmla="*/ 22 h 22"/>
                <a:gd name="T2" fmla="*/ 11 w 165"/>
                <a:gd name="T3" fmla="*/ 22 h 22"/>
                <a:gd name="T4" fmla="*/ 0 w 165"/>
                <a:gd name="T5" fmla="*/ 11 h 22"/>
                <a:gd name="T6" fmla="*/ 0 w 165"/>
                <a:gd name="T7" fmla="*/ 11 h 22"/>
                <a:gd name="T8" fmla="*/ 11 w 165"/>
                <a:gd name="T9" fmla="*/ 0 h 22"/>
                <a:gd name="T10" fmla="*/ 154 w 165"/>
                <a:gd name="T11" fmla="*/ 0 h 22"/>
                <a:gd name="T12" fmla="*/ 165 w 165"/>
                <a:gd name="T13" fmla="*/ 11 h 22"/>
                <a:gd name="T14" fmla="*/ 165 w 165"/>
                <a:gd name="T15" fmla="*/ 11 h 22"/>
                <a:gd name="T16" fmla="*/ 154 w 165"/>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 h="22">
                  <a:moveTo>
                    <a:pt x="154" y="22"/>
                  </a:moveTo>
                  <a:cubicBezTo>
                    <a:pt x="11" y="22"/>
                    <a:pt x="11" y="22"/>
                    <a:pt x="11" y="22"/>
                  </a:cubicBezTo>
                  <a:cubicBezTo>
                    <a:pt x="5" y="22"/>
                    <a:pt x="0" y="17"/>
                    <a:pt x="0" y="11"/>
                  </a:cubicBezTo>
                  <a:cubicBezTo>
                    <a:pt x="0" y="11"/>
                    <a:pt x="0" y="11"/>
                    <a:pt x="0" y="11"/>
                  </a:cubicBezTo>
                  <a:cubicBezTo>
                    <a:pt x="0" y="5"/>
                    <a:pt x="5" y="0"/>
                    <a:pt x="11" y="0"/>
                  </a:cubicBezTo>
                  <a:cubicBezTo>
                    <a:pt x="154" y="0"/>
                    <a:pt x="154" y="0"/>
                    <a:pt x="154" y="0"/>
                  </a:cubicBezTo>
                  <a:cubicBezTo>
                    <a:pt x="160" y="0"/>
                    <a:pt x="165" y="5"/>
                    <a:pt x="165" y="11"/>
                  </a:cubicBezTo>
                  <a:cubicBezTo>
                    <a:pt x="165" y="11"/>
                    <a:pt x="165" y="11"/>
                    <a:pt x="165" y="11"/>
                  </a:cubicBezTo>
                  <a:cubicBezTo>
                    <a:pt x="165" y="17"/>
                    <a:pt x="160" y="22"/>
                    <a:pt x="154" y="22"/>
                  </a:cubicBezTo>
                  <a:close/>
                </a:path>
              </a:pathLst>
            </a:custGeom>
            <a:solidFill>
              <a:srgbClr val="099481"/>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6" name="Freeform 45"/>
            <p:cNvSpPr>
              <a:spLocks noEditPoints="1"/>
            </p:cNvSpPr>
            <p:nvPr/>
          </p:nvSpPr>
          <p:spPr bwMode="auto">
            <a:xfrm>
              <a:off x="7300913" y="3971925"/>
              <a:ext cx="847725" cy="1108075"/>
            </a:xfrm>
            <a:custGeom>
              <a:avLst/>
              <a:gdLst>
                <a:gd name="T0" fmla="*/ 273 w 383"/>
                <a:gd name="T1" fmla="*/ 479 h 501"/>
                <a:gd name="T2" fmla="*/ 271 w 383"/>
                <a:gd name="T3" fmla="*/ 479 h 501"/>
                <a:gd name="T4" fmla="*/ 383 w 383"/>
                <a:gd name="T5" fmla="*/ 177 h 501"/>
                <a:gd name="T6" fmla="*/ 192 w 383"/>
                <a:gd name="T7" fmla="*/ 0 h 501"/>
                <a:gd name="T8" fmla="*/ 0 w 383"/>
                <a:gd name="T9" fmla="*/ 177 h 501"/>
                <a:gd name="T10" fmla="*/ 112 w 383"/>
                <a:gd name="T11" fmla="*/ 479 h 501"/>
                <a:gd name="T12" fmla="*/ 110 w 383"/>
                <a:gd name="T13" fmla="*/ 479 h 501"/>
                <a:gd name="T14" fmla="*/ 97 w 383"/>
                <a:gd name="T15" fmla="*/ 490 h 501"/>
                <a:gd name="T16" fmla="*/ 110 w 383"/>
                <a:gd name="T17" fmla="*/ 501 h 501"/>
                <a:gd name="T18" fmla="*/ 273 w 383"/>
                <a:gd name="T19" fmla="*/ 501 h 501"/>
                <a:gd name="T20" fmla="*/ 286 w 383"/>
                <a:gd name="T21" fmla="*/ 490 h 501"/>
                <a:gd name="T22" fmla="*/ 273 w 383"/>
                <a:gd name="T23" fmla="*/ 479 h 501"/>
                <a:gd name="T24" fmla="*/ 255 w 383"/>
                <a:gd name="T25" fmla="*/ 303 h 501"/>
                <a:gd name="T26" fmla="*/ 215 w 383"/>
                <a:gd name="T27" fmla="*/ 381 h 501"/>
                <a:gd name="T28" fmla="*/ 215 w 383"/>
                <a:gd name="T29" fmla="*/ 470 h 501"/>
                <a:gd name="T30" fmla="*/ 208 w 383"/>
                <a:gd name="T31" fmla="*/ 476 h 501"/>
                <a:gd name="T32" fmla="*/ 201 w 383"/>
                <a:gd name="T33" fmla="*/ 470 h 501"/>
                <a:gd name="T34" fmla="*/ 201 w 383"/>
                <a:gd name="T35" fmla="*/ 380 h 501"/>
                <a:gd name="T36" fmla="*/ 202 w 383"/>
                <a:gd name="T37" fmla="*/ 377 h 501"/>
                <a:gd name="T38" fmla="*/ 238 w 383"/>
                <a:gd name="T39" fmla="*/ 307 h 501"/>
                <a:gd name="T40" fmla="*/ 145 w 383"/>
                <a:gd name="T41" fmla="*/ 307 h 501"/>
                <a:gd name="T42" fmla="*/ 181 w 383"/>
                <a:gd name="T43" fmla="*/ 377 h 501"/>
                <a:gd name="T44" fmla="*/ 182 w 383"/>
                <a:gd name="T45" fmla="*/ 380 h 501"/>
                <a:gd name="T46" fmla="*/ 182 w 383"/>
                <a:gd name="T47" fmla="*/ 470 h 501"/>
                <a:gd name="T48" fmla="*/ 175 w 383"/>
                <a:gd name="T49" fmla="*/ 476 h 501"/>
                <a:gd name="T50" fmla="*/ 168 w 383"/>
                <a:gd name="T51" fmla="*/ 470 h 501"/>
                <a:gd name="T52" fmla="*/ 168 w 383"/>
                <a:gd name="T53" fmla="*/ 381 h 501"/>
                <a:gd name="T54" fmla="*/ 128 w 383"/>
                <a:gd name="T55" fmla="*/ 303 h 501"/>
                <a:gd name="T56" fmla="*/ 128 w 383"/>
                <a:gd name="T57" fmla="*/ 297 h 501"/>
                <a:gd name="T58" fmla="*/ 134 w 383"/>
                <a:gd name="T59" fmla="*/ 294 h 501"/>
                <a:gd name="T60" fmla="*/ 249 w 383"/>
                <a:gd name="T61" fmla="*/ 294 h 501"/>
                <a:gd name="T62" fmla="*/ 255 w 383"/>
                <a:gd name="T63" fmla="*/ 297 h 501"/>
                <a:gd name="T64" fmla="*/ 255 w 383"/>
                <a:gd name="T65" fmla="*/ 303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3" h="501">
                  <a:moveTo>
                    <a:pt x="273" y="479"/>
                  </a:moveTo>
                  <a:cubicBezTo>
                    <a:pt x="271" y="479"/>
                    <a:pt x="271" y="479"/>
                    <a:pt x="271" y="479"/>
                  </a:cubicBezTo>
                  <a:cubicBezTo>
                    <a:pt x="271" y="363"/>
                    <a:pt x="383" y="290"/>
                    <a:pt x="383" y="177"/>
                  </a:cubicBezTo>
                  <a:cubicBezTo>
                    <a:pt x="383" y="97"/>
                    <a:pt x="305" y="0"/>
                    <a:pt x="192" y="0"/>
                  </a:cubicBezTo>
                  <a:cubicBezTo>
                    <a:pt x="62" y="0"/>
                    <a:pt x="0" y="97"/>
                    <a:pt x="0" y="177"/>
                  </a:cubicBezTo>
                  <a:cubicBezTo>
                    <a:pt x="0" y="290"/>
                    <a:pt x="112" y="363"/>
                    <a:pt x="112" y="479"/>
                  </a:cubicBezTo>
                  <a:cubicBezTo>
                    <a:pt x="110" y="479"/>
                    <a:pt x="110" y="479"/>
                    <a:pt x="110" y="479"/>
                  </a:cubicBezTo>
                  <a:cubicBezTo>
                    <a:pt x="103" y="479"/>
                    <a:pt x="97" y="484"/>
                    <a:pt x="97" y="490"/>
                  </a:cubicBezTo>
                  <a:cubicBezTo>
                    <a:pt x="97" y="496"/>
                    <a:pt x="103" y="501"/>
                    <a:pt x="110" y="501"/>
                  </a:cubicBezTo>
                  <a:cubicBezTo>
                    <a:pt x="273" y="501"/>
                    <a:pt x="273" y="501"/>
                    <a:pt x="273" y="501"/>
                  </a:cubicBezTo>
                  <a:cubicBezTo>
                    <a:pt x="280" y="501"/>
                    <a:pt x="286" y="496"/>
                    <a:pt x="286" y="490"/>
                  </a:cubicBezTo>
                  <a:cubicBezTo>
                    <a:pt x="286" y="484"/>
                    <a:pt x="280" y="479"/>
                    <a:pt x="273" y="479"/>
                  </a:cubicBezTo>
                  <a:close/>
                  <a:moveTo>
                    <a:pt x="255" y="303"/>
                  </a:moveTo>
                  <a:cubicBezTo>
                    <a:pt x="215" y="381"/>
                    <a:pt x="215" y="381"/>
                    <a:pt x="215" y="381"/>
                  </a:cubicBezTo>
                  <a:cubicBezTo>
                    <a:pt x="215" y="470"/>
                    <a:pt x="215" y="470"/>
                    <a:pt x="215" y="470"/>
                  </a:cubicBezTo>
                  <a:cubicBezTo>
                    <a:pt x="215" y="473"/>
                    <a:pt x="212" y="476"/>
                    <a:pt x="208" y="476"/>
                  </a:cubicBezTo>
                  <a:cubicBezTo>
                    <a:pt x="204" y="476"/>
                    <a:pt x="201" y="473"/>
                    <a:pt x="201" y="470"/>
                  </a:cubicBezTo>
                  <a:cubicBezTo>
                    <a:pt x="201" y="380"/>
                    <a:pt x="201" y="380"/>
                    <a:pt x="201" y="380"/>
                  </a:cubicBezTo>
                  <a:cubicBezTo>
                    <a:pt x="201" y="379"/>
                    <a:pt x="202" y="377"/>
                    <a:pt x="202" y="377"/>
                  </a:cubicBezTo>
                  <a:cubicBezTo>
                    <a:pt x="238" y="307"/>
                    <a:pt x="238" y="307"/>
                    <a:pt x="238" y="307"/>
                  </a:cubicBezTo>
                  <a:cubicBezTo>
                    <a:pt x="145" y="307"/>
                    <a:pt x="145" y="307"/>
                    <a:pt x="145" y="307"/>
                  </a:cubicBezTo>
                  <a:cubicBezTo>
                    <a:pt x="181" y="377"/>
                    <a:pt x="181" y="377"/>
                    <a:pt x="181" y="377"/>
                  </a:cubicBezTo>
                  <a:cubicBezTo>
                    <a:pt x="181" y="377"/>
                    <a:pt x="182" y="379"/>
                    <a:pt x="182" y="380"/>
                  </a:cubicBezTo>
                  <a:cubicBezTo>
                    <a:pt x="182" y="470"/>
                    <a:pt x="182" y="470"/>
                    <a:pt x="182" y="470"/>
                  </a:cubicBezTo>
                  <a:cubicBezTo>
                    <a:pt x="182" y="473"/>
                    <a:pt x="179" y="476"/>
                    <a:pt x="175" y="476"/>
                  </a:cubicBezTo>
                  <a:cubicBezTo>
                    <a:pt x="171" y="476"/>
                    <a:pt x="168" y="473"/>
                    <a:pt x="168" y="470"/>
                  </a:cubicBezTo>
                  <a:cubicBezTo>
                    <a:pt x="168" y="381"/>
                    <a:pt x="168" y="381"/>
                    <a:pt x="168" y="381"/>
                  </a:cubicBezTo>
                  <a:cubicBezTo>
                    <a:pt x="128" y="303"/>
                    <a:pt x="128" y="303"/>
                    <a:pt x="128" y="303"/>
                  </a:cubicBezTo>
                  <a:cubicBezTo>
                    <a:pt x="127" y="301"/>
                    <a:pt x="127" y="299"/>
                    <a:pt x="128" y="297"/>
                  </a:cubicBezTo>
                  <a:cubicBezTo>
                    <a:pt x="130" y="295"/>
                    <a:pt x="132" y="294"/>
                    <a:pt x="134" y="294"/>
                  </a:cubicBezTo>
                  <a:cubicBezTo>
                    <a:pt x="249" y="294"/>
                    <a:pt x="249" y="294"/>
                    <a:pt x="249" y="294"/>
                  </a:cubicBezTo>
                  <a:cubicBezTo>
                    <a:pt x="251" y="294"/>
                    <a:pt x="253" y="295"/>
                    <a:pt x="255" y="297"/>
                  </a:cubicBezTo>
                  <a:cubicBezTo>
                    <a:pt x="256" y="299"/>
                    <a:pt x="256" y="301"/>
                    <a:pt x="255" y="303"/>
                  </a:cubicBezTo>
                  <a:close/>
                </a:path>
              </a:pathLst>
            </a:custGeom>
            <a:solidFill>
              <a:srgbClr val="099481"/>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7" name="Freeform 46"/>
            <p:cNvSpPr>
              <a:spLocks/>
            </p:cNvSpPr>
            <p:nvPr/>
          </p:nvSpPr>
          <p:spPr bwMode="auto">
            <a:xfrm>
              <a:off x="6278563" y="5275263"/>
              <a:ext cx="1447800" cy="1582738"/>
            </a:xfrm>
            <a:custGeom>
              <a:avLst/>
              <a:gdLst>
                <a:gd name="T0" fmla="*/ 653 w 653"/>
                <a:gd name="T1" fmla="*/ 0 h 715"/>
                <a:gd name="T2" fmla="*/ 653 w 653"/>
                <a:gd name="T3" fmla="*/ 180 h 715"/>
                <a:gd name="T4" fmla="*/ 512 w 653"/>
                <a:gd name="T5" fmla="*/ 320 h 715"/>
                <a:gd name="T6" fmla="*/ 141 w 653"/>
                <a:gd name="T7" fmla="*/ 320 h 715"/>
                <a:gd name="T8" fmla="*/ 0 w 653"/>
                <a:gd name="T9" fmla="*/ 460 h 715"/>
                <a:gd name="T10" fmla="*/ 0 w 653"/>
                <a:gd name="T11" fmla="*/ 715 h 715"/>
              </a:gdLst>
              <a:ahLst/>
              <a:cxnLst>
                <a:cxn ang="0">
                  <a:pos x="T0" y="T1"/>
                </a:cxn>
                <a:cxn ang="0">
                  <a:pos x="T2" y="T3"/>
                </a:cxn>
                <a:cxn ang="0">
                  <a:pos x="T4" y="T5"/>
                </a:cxn>
                <a:cxn ang="0">
                  <a:pos x="T6" y="T7"/>
                </a:cxn>
                <a:cxn ang="0">
                  <a:pos x="T8" y="T9"/>
                </a:cxn>
                <a:cxn ang="0">
                  <a:pos x="T10" y="T11"/>
                </a:cxn>
              </a:cxnLst>
              <a:rect l="0" t="0" r="r" b="b"/>
              <a:pathLst>
                <a:path w="653" h="715">
                  <a:moveTo>
                    <a:pt x="653" y="0"/>
                  </a:moveTo>
                  <a:cubicBezTo>
                    <a:pt x="653" y="180"/>
                    <a:pt x="653" y="180"/>
                    <a:pt x="653" y="180"/>
                  </a:cubicBezTo>
                  <a:cubicBezTo>
                    <a:pt x="653" y="257"/>
                    <a:pt x="590" y="320"/>
                    <a:pt x="512" y="320"/>
                  </a:cubicBezTo>
                  <a:cubicBezTo>
                    <a:pt x="141" y="320"/>
                    <a:pt x="141" y="320"/>
                    <a:pt x="141" y="320"/>
                  </a:cubicBezTo>
                  <a:cubicBezTo>
                    <a:pt x="63" y="320"/>
                    <a:pt x="0" y="383"/>
                    <a:pt x="0" y="460"/>
                  </a:cubicBezTo>
                  <a:cubicBezTo>
                    <a:pt x="0" y="715"/>
                    <a:pt x="0" y="715"/>
                    <a:pt x="0" y="715"/>
                  </a:cubicBezTo>
                </a:path>
              </a:pathLst>
            </a:custGeom>
            <a:noFill/>
            <a:ln w="88900" cap="flat">
              <a:solidFill>
                <a:srgbClr val="09948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8" name="Freeform 47"/>
            <p:cNvSpPr>
              <a:spLocks/>
            </p:cNvSpPr>
            <p:nvPr/>
          </p:nvSpPr>
          <p:spPr bwMode="auto">
            <a:xfrm>
              <a:off x="6910388" y="4354513"/>
              <a:ext cx="196850" cy="38100"/>
            </a:xfrm>
            <a:custGeom>
              <a:avLst/>
              <a:gdLst>
                <a:gd name="T0" fmla="*/ 0 w 89"/>
                <a:gd name="T1" fmla="*/ 17 h 17"/>
                <a:gd name="T2" fmla="*/ 89 w 89"/>
                <a:gd name="T3" fmla="*/ 17 h 17"/>
                <a:gd name="T4" fmla="*/ 89 w 89"/>
                <a:gd name="T5" fmla="*/ 17 h 17"/>
                <a:gd name="T6" fmla="*/ 89 w 89"/>
                <a:gd name="T7" fmla="*/ 10 h 17"/>
                <a:gd name="T8" fmla="*/ 79 w 89"/>
                <a:gd name="T9" fmla="*/ 0 h 17"/>
                <a:gd name="T10" fmla="*/ 10 w 89"/>
                <a:gd name="T11" fmla="*/ 0 h 17"/>
                <a:gd name="T12" fmla="*/ 0 w 89"/>
                <a:gd name="T13" fmla="*/ 10 h 17"/>
                <a:gd name="T14" fmla="*/ 0 w 89"/>
                <a:gd name="T15" fmla="*/ 17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9" h="17">
                  <a:moveTo>
                    <a:pt x="0" y="17"/>
                  </a:moveTo>
                  <a:cubicBezTo>
                    <a:pt x="89" y="17"/>
                    <a:pt x="89" y="17"/>
                    <a:pt x="89" y="17"/>
                  </a:cubicBezTo>
                  <a:cubicBezTo>
                    <a:pt x="89" y="17"/>
                    <a:pt x="89" y="17"/>
                    <a:pt x="89" y="17"/>
                  </a:cubicBezTo>
                  <a:cubicBezTo>
                    <a:pt x="89" y="10"/>
                    <a:pt x="89" y="10"/>
                    <a:pt x="89" y="10"/>
                  </a:cubicBezTo>
                  <a:cubicBezTo>
                    <a:pt x="89" y="4"/>
                    <a:pt x="84" y="0"/>
                    <a:pt x="79" y="0"/>
                  </a:cubicBezTo>
                  <a:cubicBezTo>
                    <a:pt x="10" y="0"/>
                    <a:pt x="10" y="0"/>
                    <a:pt x="10" y="0"/>
                  </a:cubicBezTo>
                  <a:cubicBezTo>
                    <a:pt x="5" y="0"/>
                    <a:pt x="0" y="4"/>
                    <a:pt x="0" y="10"/>
                  </a:cubicBezTo>
                  <a:cubicBezTo>
                    <a:pt x="0" y="17"/>
                    <a:pt x="0" y="17"/>
                    <a:pt x="0" y="17"/>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9" name="Freeform 48"/>
            <p:cNvSpPr>
              <a:spLocks/>
            </p:cNvSpPr>
            <p:nvPr/>
          </p:nvSpPr>
          <p:spPr bwMode="auto">
            <a:xfrm>
              <a:off x="6911976" y="4410075"/>
              <a:ext cx="193675" cy="26988"/>
            </a:xfrm>
            <a:custGeom>
              <a:avLst/>
              <a:gdLst>
                <a:gd name="T0" fmla="*/ 87 w 87"/>
                <a:gd name="T1" fmla="*/ 0 h 12"/>
                <a:gd name="T2" fmla="*/ 0 w 87"/>
                <a:gd name="T3" fmla="*/ 0 h 12"/>
                <a:gd name="T4" fmla="*/ 2 w 87"/>
                <a:gd name="T5" fmla="*/ 12 h 12"/>
                <a:gd name="T6" fmla="*/ 85 w 87"/>
                <a:gd name="T7" fmla="*/ 12 h 12"/>
                <a:gd name="T8" fmla="*/ 87 w 87"/>
                <a:gd name="T9" fmla="*/ 0 h 12"/>
              </a:gdLst>
              <a:ahLst/>
              <a:cxnLst>
                <a:cxn ang="0">
                  <a:pos x="T0" y="T1"/>
                </a:cxn>
                <a:cxn ang="0">
                  <a:pos x="T2" y="T3"/>
                </a:cxn>
                <a:cxn ang="0">
                  <a:pos x="T4" y="T5"/>
                </a:cxn>
                <a:cxn ang="0">
                  <a:pos x="T6" y="T7"/>
                </a:cxn>
                <a:cxn ang="0">
                  <a:pos x="T8" y="T9"/>
                </a:cxn>
              </a:cxnLst>
              <a:rect l="0" t="0" r="r" b="b"/>
              <a:pathLst>
                <a:path w="87" h="12">
                  <a:moveTo>
                    <a:pt x="87" y="0"/>
                  </a:moveTo>
                  <a:cubicBezTo>
                    <a:pt x="0" y="0"/>
                    <a:pt x="0" y="0"/>
                    <a:pt x="0" y="0"/>
                  </a:cubicBezTo>
                  <a:cubicBezTo>
                    <a:pt x="0" y="4"/>
                    <a:pt x="1" y="8"/>
                    <a:pt x="2" y="12"/>
                  </a:cubicBezTo>
                  <a:cubicBezTo>
                    <a:pt x="85" y="12"/>
                    <a:pt x="85" y="12"/>
                    <a:pt x="85" y="12"/>
                  </a:cubicBezTo>
                  <a:cubicBezTo>
                    <a:pt x="86" y="8"/>
                    <a:pt x="87" y="4"/>
                    <a:pt x="87" y="0"/>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0" name="Freeform 49"/>
            <p:cNvSpPr>
              <a:spLocks/>
            </p:cNvSpPr>
            <p:nvPr/>
          </p:nvSpPr>
          <p:spPr bwMode="auto">
            <a:xfrm>
              <a:off x="6926263" y="4451350"/>
              <a:ext cx="165100" cy="47625"/>
            </a:xfrm>
            <a:custGeom>
              <a:avLst/>
              <a:gdLst>
                <a:gd name="T0" fmla="*/ 0 w 75"/>
                <a:gd name="T1" fmla="*/ 0 h 21"/>
                <a:gd name="T2" fmla="*/ 38 w 75"/>
                <a:gd name="T3" fmla="*/ 21 h 21"/>
                <a:gd name="T4" fmla="*/ 38 w 75"/>
                <a:gd name="T5" fmla="*/ 21 h 21"/>
                <a:gd name="T6" fmla="*/ 75 w 75"/>
                <a:gd name="T7" fmla="*/ 0 h 21"/>
                <a:gd name="T8" fmla="*/ 0 w 75"/>
                <a:gd name="T9" fmla="*/ 0 h 21"/>
              </a:gdLst>
              <a:ahLst/>
              <a:cxnLst>
                <a:cxn ang="0">
                  <a:pos x="T0" y="T1"/>
                </a:cxn>
                <a:cxn ang="0">
                  <a:pos x="T2" y="T3"/>
                </a:cxn>
                <a:cxn ang="0">
                  <a:pos x="T4" y="T5"/>
                </a:cxn>
                <a:cxn ang="0">
                  <a:pos x="T6" y="T7"/>
                </a:cxn>
                <a:cxn ang="0">
                  <a:pos x="T8" y="T9"/>
                </a:cxn>
              </a:cxnLst>
              <a:rect l="0" t="0" r="r" b="b"/>
              <a:pathLst>
                <a:path w="75" h="21">
                  <a:moveTo>
                    <a:pt x="0" y="0"/>
                  </a:moveTo>
                  <a:cubicBezTo>
                    <a:pt x="8" y="13"/>
                    <a:pt x="22" y="21"/>
                    <a:pt x="38" y="21"/>
                  </a:cubicBezTo>
                  <a:cubicBezTo>
                    <a:pt x="38" y="21"/>
                    <a:pt x="38" y="21"/>
                    <a:pt x="38" y="21"/>
                  </a:cubicBezTo>
                  <a:cubicBezTo>
                    <a:pt x="53" y="21"/>
                    <a:pt x="67" y="13"/>
                    <a:pt x="75" y="0"/>
                  </a:cubicBezTo>
                  <a:lnTo>
                    <a:pt x="0" y="0"/>
                  </a:ln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1" name="Freeform 50"/>
            <p:cNvSpPr>
              <a:spLocks noEditPoints="1"/>
            </p:cNvSpPr>
            <p:nvPr/>
          </p:nvSpPr>
          <p:spPr bwMode="auto">
            <a:xfrm>
              <a:off x="6791326" y="3783013"/>
              <a:ext cx="438150" cy="550863"/>
            </a:xfrm>
            <a:custGeom>
              <a:avLst/>
              <a:gdLst>
                <a:gd name="T0" fmla="*/ 99 w 198"/>
                <a:gd name="T1" fmla="*/ 0 h 249"/>
                <a:gd name="T2" fmla="*/ 0 w 198"/>
                <a:gd name="T3" fmla="*/ 87 h 249"/>
                <a:gd name="T4" fmla="*/ 54 w 198"/>
                <a:gd name="T5" fmla="*/ 239 h 249"/>
                <a:gd name="T6" fmla="*/ 67 w 198"/>
                <a:gd name="T7" fmla="*/ 249 h 249"/>
                <a:gd name="T8" fmla="*/ 130 w 198"/>
                <a:gd name="T9" fmla="*/ 249 h 249"/>
                <a:gd name="T10" fmla="*/ 143 w 198"/>
                <a:gd name="T11" fmla="*/ 239 h 249"/>
                <a:gd name="T12" fmla="*/ 198 w 198"/>
                <a:gd name="T13" fmla="*/ 87 h 249"/>
                <a:gd name="T14" fmla="*/ 99 w 198"/>
                <a:gd name="T15" fmla="*/ 0 h 249"/>
                <a:gd name="T16" fmla="*/ 83 w 198"/>
                <a:gd name="T17" fmla="*/ 225 h 249"/>
                <a:gd name="T18" fmla="*/ 82 w 198"/>
                <a:gd name="T19" fmla="*/ 225 h 249"/>
                <a:gd name="T20" fmla="*/ 78 w 198"/>
                <a:gd name="T21" fmla="*/ 222 h 249"/>
                <a:gd name="T22" fmla="*/ 42 w 198"/>
                <a:gd name="T23" fmla="*/ 127 h 249"/>
                <a:gd name="T24" fmla="*/ 44 w 198"/>
                <a:gd name="T25" fmla="*/ 123 h 249"/>
                <a:gd name="T26" fmla="*/ 49 w 198"/>
                <a:gd name="T27" fmla="*/ 125 h 249"/>
                <a:gd name="T28" fmla="*/ 85 w 198"/>
                <a:gd name="T29" fmla="*/ 220 h 249"/>
                <a:gd name="T30" fmla="*/ 83 w 198"/>
                <a:gd name="T31" fmla="*/ 225 h 249"/>
                <a:gd name="T32" fmla="*/ 108 w 198"/>
                <a:gd name="T33" fmla="*/ 131 h 249"/>
                <a:gd name="T34" fmla="*/ 105 w 198"/>
                <a:gd name="T35" fmla="*/ 130 h 249"/>
                <a:gd name="T36" fmla="*/ 98 w 198"/>
                <a:gd name="T37" fmla="*/ 123 h 249"/>
                <a:gd name="T38" fmla="*/ 92 w 198"/>
                <a:gd name="T39" fmla="*/ 130 h 249"/>
                <a:gd name="T40" fmla="*/ 87 w 198"/>
                <a:gd name="T41" fmla="*/ 130 h 249"/>
                <a:gd name="T42" fmla="*/ 80 w 198"/>
                <a:gd name="T43" fmla="*/ 123 h 249"/>
                <a:gd name="T44" fmla="*/ 73 w 198"/>
                <a:gd name="T45" fmla="*/ 130 h 249"/>
                <a:gd name="T46" fmla="*/ 68 w 198"/>
                <a:gd name="T47" fmla="*/ 130 h 249"/>
                <a:gd name="T48" fmla="*/ 59 w 198"/>
                <a:gd name="T49" fmla="*/ 121 h 249"/>
                <a:gd name="T50" fmla="*/ 59 w 198"/>
                <a:gd name="T51" fmla="*/ 116 h 249"/>
                <a:gd name="T52" fmla="*/ 64 w 198"/>
                <a:gd name="T53" fmla="*/ 116 h 249"/>
                <a:gd name="T54" fmla="*/ 71 w 198"/>
                <a:gd name="T55" fmla="*/ 122 h 249"/>
                <a:gd name="T56" fmla="*/ 77 w 198"/>
                <a:gd name="T57" fmla="*/ 116 h 249"/>
                <a:gd name="T58" fmla="*/ 83 w 198"/>
                <a:gd name="T59" fmla="*/ 116 h 249"/>
                <a:gd name="T60" fmla="*/ 89 w 198"/>
                <a:gd name="T61" fmla="*/ 122 h 249"/>
                <a:gd name="T62" fmla="*/ 96 w 198"/>
                <a:gd name="T63" fmla="*/ 116 h 249"/>
                <a:gd name="T64" fmla="*/ 101 w 198"/>
                <a:gd name="T65" fmla="*/ 116 h 249"/>
                <a:gd name="T66" fmla="*/ 108 w 198"/>
                <a:gd name="T67" fmla="*/ 122 h 249"/>
                <a:gd name="T68" fmla="*/ 114 w 198"/>
                <a:gd name="T69" fmla="*/ 116 h 249"/>
                <a:gd name="T70" fmla="*/ 120 w 198"/>
                <a:gd name="T71" fmla="*/ 116 h 249"/>
                <a:gd name="T72" fmla="*/ 126 w 198"/>
                <a:gd name="T73" fmla="*/ 122 h 249"/>
                <a:gd name="T74" fmla="*/ 133 w 198"/>
                <a:gd name="T75" fmla="*/ 116 h 249"/>
                <a:gd name="T76" fmla="*/ 138 w 198"/>
                <a:gd name="T77" fmla="*/ 116 h 249"/>
                <a:gd name="T78" fmla="*/ 138 w 198"/>
                <a:gd name="T79" fmla="*/ 121 h 249"/>
                <a:gd name="T80" fmla="*/ 129 w 198"/>
                <a:gd name="T81" fmla="*/ 130 h 249"/>
                <a:gd name="T82" fmla="*/ 124 w 198"/>
                <a:gd name="T83" fmla="*/ 130 h 249"/>
                <a:gd name="T84" fmla="*/ 117 w 198"/>
                <a:gd name="T85" fmla="*/ 123 h 249"/>
                <a:gd name="T86" fmla="*/ 110 w 198"/>
                <a:gd name="T87" fmla="*/ 130 h 249"/>
                <a:gd name="T88" fmla="*/ 108 w 198"/>
                <a:gd name="T89" fmla="*/ 131 h 249"/>
                <a:gd name="T90" fmla="*/ 155 w 198"/>
                <a:gd name="T91" fmla="*/ 127 h 249"/>
                <a:gd name="T92" fmla="*/ 119 w 198"/>
                <a:gd name="T93" fmla="*/ 222 h 249"/>
                <a:gd name="T94" fmla="*/ 115 w 198"/>
                <a:gd name="T95" fmla="*/ 225 h 249"/>
                <a:gd name="T96" fmla="*/ 114 w 198"/>
                <a:gd name="T97" fmla="*/ 225 h 249"/>
                <a:gd name="T98" fmla="*/ 112 w 198"/>
                <a:gd name="T99" fmla="*/ 220 h 249"/>
                <a:gd name="T100" fmla="*/ 148 w 198"/>
                <a:gd name="T101" fmla="*/ 125 h 249"/>
                <a:gd name="T102" fmla="*/ 153 w 198"/>
                <a:gd name="T103" fmla="*/ 123 h 249"/>
                <a:gd name="T104" fmla="*/ 155 w 198"/>
                <a:gd name="T105" fmla="*/ 12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8" h="249">
                  <a:moveTo>
                    <a:pt x="99" y="0"/>
                  </a:moveTo>
                  <a:cubicBezTo>
                    <a:pt x="32" y="0"/>
                    <a:pt x="0" y="40"/>
                    <a:pt x="0" y="87"/>
                  </a:cubicBezTo>
                  <a:cubicBezTo>
                    <a:pt x="0" y="145"/>
                    <a:pt x="42" y="185"/>
                    <a:pt x="54" y="239"/>
                  </a:cubicBezTo>
                  <a:cubicBezTo>
                    <a:pt x="56" y="245"/>
                    <a:pt x="61" y="249"/>
                    <a:pt x="67" y="249"/>
                  </a:cubicBezTo>
                  <a:cubicBezTo>
                    <a:pt x="130" y="249"/>
                    <a:pt x="130" y="249"/>
                    <a:pt x="130" y="249"/>
                  </a:cubicBezTo>
                  <a:cubicBezTo>
                    <a:pt x="136" y="249"/>
                    <a:pt x="141" y="245"/>
                    <a:pt x="143" y="239"/>
                  </a:cubicBezTo>
                  <a:cubicBezTo>
                    <a:pt x="155" y="185"/>
                    <a:pt x="198" y="145"/>
                    <a:pt x="198" y="87"/>
                  </a:cubicBezTo>
                  <a:cubicBezTo>
                    <a:pt x="198" y="40"/>
                    <a:pt x="157" y="0"/>
                    <a:pt x="99" y="0"/>
                  </a:cubicBezTo>
                  <a:close/>
                  <a:moveTo>
                    <a:pt x="83" y="225"/>
                  </a:moveTo>
                  <a:cubicBezTo>
                    <a:pt x="83" y="225"/>
                    <a:pt x="82" y="225"/>
                    <a:pt x="82" y="225"/>
                  </a:cubicBezTo>
                  <a:cubicBezTo>
                    <a:pt x="80" y="225"/>
                    <a:pt x="79" y="224"/>
                    <a:pt x="78" y="222"/>
                  </a:cubicBezTo>
                  <a:cubicBezTo>
                    <a:pt x="42" y="127"/>
                    <a:pt x="42" y="127"/>
                    <a:pt x="42" y="127"/>
                  </a:cubicBezTo>
                  <a:cubicBezTo>
                    <a:pt x="41" y="125"/>
                    <a:pt x="42" y="123"/>
                    <a:pt x="44" y="123"/>
                  </a:cubicBezTo>
                  <a:cubicBezTo>
                    <a:pt x="46" y="122"/>
                    <a:pt x="48" y="123"/>
                    <a:pt x="49" y="125"/>
                  </a:cubicBezTo>
                  <a:cubicBezTo>
                    <a:pt x="85" y="220"/>
                    <a:pt x="85" y="220"/>
                    <a:pt x="85" y="220"/>
                  </a:cubicBezTo>
                  <a:cubicBezTo>
                    <a:pt x="86" y="222"/>
                    <a:pt x="85" y="224"/>
                    <a:pt x="83" y="225"/>
                  </a:cubicBezTo>
                  <a:close/>
                  <a:moveTo>
                    <a:pt x="108" y="131"/>
                  </a:moveTo>
                  <a:cubicBezTo>
                    <a:pt x="107" y="131"/>
                    <a:pt x="106" y="131"/>
                    <a:pt x="105" y="130"/>
                  </a:cubicBezTo>
                  <a:cubicBezTo>
                    <a:pt x="98" y="123"/>
                    <a:pt x="98" y="123"/>
                    <a:pt x="98" y="123"/>
                  </a:cubicBezTo>
                  <a:cubicBezTo>
                    <a:pt x="92" y="130"/>
                    <a:pt x="92" y="130"/>
                    <a:pt x="92" y="130"/>
                  </a:cubicBezTo>
                  <a:cubicBezTo>
                    <a:pt x="90" y="131"/>
                    <a:pt x="88" y="131"/>
                    <a:pt x="87" y="130"/>
                  </a:cubicBezTo>
                  <a:cubicBezTo>
                    <a:pt x="80" y="123"/>
                    <a:pt x="80" y="123"/>
                    <a:pt x="80" y="123"/>
                  </a:cubicBezTo>
                  <a:cubicBezTo>
                    <a:pt x="73" y="130"/>
                    <a:pt x="73" y="130"/>
                    <a:pt x="73" y="130"/>
                  </a:cubicBezTo>
                  <a:cubicBezTo>
                    <a:pt x="72" y="131"/>
                    <a:pt x="70" y="131"/>
                    <a:pt x="68" y="130"/>
                  </a:cubicBezTo>
                  <a:cubicBezTo>
                    <a:pt x="59" y="121"/>
                    <a:pt x="59" y="121"/>
                    <a:pt x="59" y="121"/>
                  </a:cubicBezTo>
                  <a:cubicBezTo>
                    <a:pt x="58" y="119"/>
                    <a:pt x="58" y="117"/>
                    <a:pt x="59" y="116"/>
                  </a:cubicBezTo>
                  <a:cubicBezTo>
                    <a:pt x="60" y="114"/>
                    <a:pt x="63" y="114"/>
                    <a:pt x="64" y="116"/>
                  </a:cubicBezTo>
                  <a:cubicBezTo>
                    <a:pt x="71" y="122"/>
                    <a:pt x="71" y="122"/>
                    <a:pt x="71" y="122"/>
                  </a:cubicBezTo>
                  <a:cubicBezTo>
                    <a:pt x="77" y="116"/>
                    <a:pt x="77" y="116"/>
                    <a:pt x="77" y="116"/>
                  </a:cubicBezTo>
                  <a:cubicBezTo>
                    <a:pt x="79" y="114"/>
                    <a:pt x="81" y="114"/>
                    <a:pt x="83" y="116"/>
                  </a:cubicBezTo>
                  <a:cubicBezTo>
                    <a:pt x="89" y="122"/>
                    <a:pt x="89" y="122"/>
                    <a:pt x="89" y="122"/>
                  </a:cubicBezTo>
                  <a:cubicBezTo>
                    <a:pt x="96" y="116"/>
                    <a:pt x="96" y="116"/>
                    <a:pt x="96" y="116"/>
                  </a:cubicBezTo>
                  <a:cubicBezTo>
                    <a:pt x="97" y="114"/>
                    <a:pt x="100" y="114"/>
                    <a:pt x="101" y="116"/>
                  </a:cubicBezTo>
                  <a:cubicBezTo>
                    <a:pt x="108" y="122"/>
                    <a:pt x="108" y="122"/>
                    <a:pt x="108" y="122"/>
                  </a:cubicBezTo>
                  <a:cubicBezTo>
                    <a:pt x="114" y="116"/>
                    <a:pt x="114" y="116"/>
                    <a:pt x="114" y="116"/>
                  </a:cubicBezTo>
                  <a:cubicBezTo>
                    <a:pt x="116" y="114"/>
                    <a:pt x="118" y="114"/>
                    <a:pt x="120" y="116"/>
                  </a:cubicBezTo>
                  <a:cubicBezTo>
                    <a:pt x="126" y="122"/>
                    <a:pt x="126" y="122"/>
                    <a:pt x="126" y="122"/>
                  </a:cubicBezTo>
                  <a:cubicBezTo>
                    <a:pt x="133" y="116"/>
                    <a:pt x="133" y="116"/>
                    <a:pt x="133" y="116"/>
                  </a:cubicBezTo>
                  <a:cubicBezTo>
                    <a:pt x="134" y="114"/>
                    <a:pt x="137" y="114"/>
                    <a:pt x="138" y="116"/>
                  </a:cubicBezTo>
                  <a:cubicBezTo>
                    <a:pt x="139" y="117"/>
                    <a:pt x="139" y="119"/>
                    <a:pt x="138" y="121"/>
                  </a:cubicBezTo>
                  <a:cubicBezTo>
                    <a:pt x="129" y="130"/>
                    <a:pt x="129" y="130"/>
                    <a:pt x="129" y="130"/>
                  </a:cubicBezTo>
                  <a:cubicBezTo>
                    <a:pt x="127" y="131"/>
                    <a:pt x="125" y="131"/>
                    <a:pt x="124" y="130"/>
                  </a:cubicBezTo>
                  <a:cubicBezTo>
                    <a:pt x="117" y="123"/>
                    <a:pt x="117" y="123"/>
                    <a:pt x="117" y="123"/>
                  </a:cubicBezTo>
                  <a:cubicBezTo>
                    <a:pt x="110" y="130"/>
                    <a:pt x="110" y="130"/>
                    <a:pt x="110" y="130"/>
                  </a:cubicBezTo>
                  <a:cubicBezTo>
                    <a:pt x="110" y="131"/>
                    <a:pt x="109" y="131"/>
                    <a:pt x="108" y="131"/>
                  </a:cubicBezTo>
                  <a:close/>
                  <a:moveTo>
                    <a:pt x="155" y="127"/>
                  </a:moveTo>
                  <a:cubicBezTo>
                    <a:pt x="119" y="222"/>
                    <a:pt x="119" y="222"/>
                    <a:pt x="119" y="222"/>
                  </a:cubicBezTo>
                  <a:cubicBezTo>
                    <a:pt x="118" y="224"/>
                    <a:pt x="117" y="225"/>
                    <a:pt x="115" y="225"/>
                  </a:cubicBezTo>
                  <a:cubicBezTo>
                    <a:pt x="115" y="225"/>
                    <a:pt x="114" y="225"/>
                    <a:pt x="114" y="225"/>
                  </a:cubicBezTo>
                  <a:cubicBezTo>
                    <a:pt x="112" y="224"/>
                    <a:pt x="111" y="222"/>
                    <a:pt x="112" y="220"/>
                  </a:cubicBezTo>
                  <a:cubicBezTo>
                    <a:pt x="148" y="125"/>
                    <a:pt x="148" y="125"/>
                    <a:pt x="148" y="125"/>
                  </a:cubicBezTo>
                  <a:cubicBezTo>
                    <a:pt x="149" y="123"/>
                    <a:pt x="151" y="122"/>
                    <a:pt x="153" y="123"/>
                  </a:cubicBezTo>
                  <a:cubicBezTo>
                    <a:pt x="155" y="123"/>
                    <a:pt x="156" y="125"/>
                    <a:pt x="155" y="127"/>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2" name="Freeform 51"/>
            <p:cNvSpPr>
              <a:spLocks/>
            </p:cNvSpPr>
            <p:nvPr/>
          </p:nvSpPr>
          <p:spPr bwMode="auto">
            <a:xfrm>
              <a:off x="6575426" y="4479925"/>
              <a:ext cx="434975" cy="2378075"/>
            </a:xfrm>
            <a:custGeom>
              <a:avLst/>
              <a:gdLst>
                <a:gd name="T0" fmla="*/ 196 w 196"/>
                <a:gd name="T1" fmla="*/ 0 h 1074"/>
                <a:gd name="T2" fmla="*/ 196 w 196"/>
                <a:gd name="T3" fmla="*/ 211 h 1074"/>
                <a:gd name="T4" fmla="*/ 139 w 196"/>
                <a:gd name="T5" fmla="*/ 268 h 1074"/>
                <a:gd name="T6" fmla="*/ 57 w 196"/>
                <a:gd name="T7" fmla="*/ 268 h 1074"/>
                <a:gd name="T8" fmla="*/ 0 w 196"/>
                <a:gd name="T9" fmla="*/ 324 h 1074"/>
                <a:gd name="T10" fmla="*/ 0 w 196"/>
                <a:gd name="T11" fmla="*/ 1074 h 1074"/>
              </a:gdLst>
              <a:ahLst/>
              <a:cxnLst>
                <a:cxn ang="0">
                  <a:pos x="T0" y="T1"/>
                </a:cxn>
                <a:cxn ang="0">
                  <a:pos x="T2" y="T3"/>
                </a:cxn>
                <a:cxn ang="0">
                  <a:pos x="T4" y="T5"/>
                </a:cxn>
                <a:cxn ang="0">
                  <a:pos x="T6" y="T7"/>
                </a:cxn>
                <a:cxn ang="0">
                  <a:pos x="T8" y="T9"/>
                </a:cxn>
                <a:cxn ang="0">
                  <a:pos x="T10" y="T11"/>
                </a:cxn>
              </a:cxnLst>
              <a:rect l="0" t="0" r="r" b="b"/>
              <a:pathLst>
                <a:path w="196" h="1074">
                  <a:moveTo>
                    <a:pt x="196" y="0"/>
                  </a:moveTo>
                  <a:cubicBezTo>
                    <a:pt x="196" y="211"/>
                    <a:pt x="196" y="211"/>
                    <a:pt x="196" y="211"/>
                  </a:cubicBezTo>
                  <a:cubicBezTo>
                    <a:pt x="196" y="243"/>
                    <a:pt x="170" y="268"/>
                    <a:pt x="139" y="268"/>
                  </a:cubicBezTo>
                  <a:cubicBezTo>
                    <a:pt x="57" y="268"/>
                    <a:pt x="57" y="268"/>
                    <a:pt x="57" y="268"/>
                  </a:cubicBezTo>
                  <a:cubicBezTo>
                    <a:pt x="25" y="268"/>
                    <a:pt x="0" y="293"/>
                    <a:pt x="0" y="324"/>
                  </a:cubicBezTo>
                  <a:cubicBezTo>
                    <a:pt x="0" y="1074"/>
                    <a:pt x="0" y="1074"/>
                    <a:pt x="0" y="1074"/>
                  </a:cubicBezTo>
                </a:path>
              </a:pathLst>
            </a:custGeom>
            <a:noFill/>
            <a:ln w="38100" cap="flat">
              <a:solidFill>
                <a:srgbClr val="E13A6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3" name="Freeform 52"/>
            <p:cNvSpPr>
              <a:spLocks/>
            </p:cNvSpPr>
            <p:nvPr/>
          </p:nvSpPr>
          <p:spPr bwMode="auto">
            <a:xfrm>
              <a:off x="4891088" y="5578475"/>
              <a:ext cx="1085850" cy="1279525"/>
            </a:xfrm>
            <a:custGeom>
              <a:avLst/>
              <a:gdLst>
                <a:gd name="T0" fmla="*/ 0 w 490"/>
                <a:gd name="T1" fmla="*/ 0 h 578"/>
                <a:gd name="T2" fmla="*/ 0 w 490"/>
                <a:gd name="T3" fmla="*/ 59 h 578"/>
                <a:gd name="T4" fmla="*/ 70 w 490"/>
                <a:gd name="T5" fmla="*/ 130 h 578"/>
                <a:gd name="T6" fmla="*/ 419 w 490"/>
                <a:gd name="T7" fmla="*/ 128 h 578"/>
                <a:gd name="T8" fmla="*/ 490 w 490"/>
                <a:gd name="T9" fmla="*/ 199 h 578"/>
                <a:gd name="T10" fmla="*/ 490 w 490"/>
                <a:gd name="T11" fmla="*/ 578 h 578"/>
              </a:gdLst>
              <a:ahLst/>
              <a:cxnLst>
                <a:cxn ang="0">
                  <a:pos x="T0" y="T1"/>
                </a:cxn>
                <a:cxn ang="0">
                  <a:pos x="T2" y="T3"/>
                </a:cxn>
                <a:cxn ang="0">
                  <a:pos x="T4" y="T5"/>
                </a:cxn>
                <a:cxn ang="0">
                  <a:pos x="T6" y="T7"/>
                </a:cxn>
                <a:cxn ang="0">
                  <a:pos x="T8" y="T9"/>
                </a:cxn>
                <a:cxn ang="0">
                  <a:pos x="T10" y="T11"/>
                </a:cxn>
              </a:cxnLst>
              <a:rect l="0" t="0" r="r" b="b"/>
              <a:pathLst>
                <a:path w="490" h="578">
                  <a:moveTo>
                    <a:pt x="0" y="0"/>
                  </a:moveTo>
                  <a:cubicBezTo>
                    <a:pt x="0" y="59"/>
                    <a:pt x="0" y="59"/>
                    <a:pt x="0" y="59"/>
                  </a:cubicBezTo>
                  <a:cubicBezTo>
                    <a:pt x="0" y="98"/>
                    <a:pt x="31" y="130"/>
                    <a:pt x="70" y="130"/>
                  </a:cubicBezTo>
                  <a:cubicBezTo>
                    <a:pt x="419" y="128"/>
                    <a:pt x="419" y="128"/>
                    <a:pt x="419" y="128"/>
                  </a:cubicBezTo>
                  <a:cubicBezTo>
                    <a:pt x="458" y="128"/>
                    <a:pt x="490" y="160"/>
                    <a:pt x="490" y="199"/>
                  </a:cubicBezTo>
                  <a:cubicBezTo>
                    <a:pt x="490" y="578"/>
                    <a:pt x="490" y="578"/>
                    <a:pt x="490" y="578"/>
                  </a:cubicBezTo>
                </a:path>
              </a:pathLst>
            </a:custGeom>
            <a:noFill/>
            <a:ln w="17463" cap="flat">
              <a:solidFill>
                <a:srgbClr val="9132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4" name="Freeform 53"/>
            <p:cNvSpPr>
              <a:spLocks noEditPoints="1"/>
            </p:cNvSpPr>
            <p:nvPr/>
          </p:nvSpPr>
          <p:spPr bwMode="auto">
            <a:xfrm>
              <a:off x="4681538" y="4919663"/>
              <a:ext cx="420688" cy="519113"/>
            </a:xfrm>
            <a:custGeom>
              <a:avLst/>
              <a:gdLst>
                <a:gd name="T0" fmla="*/ 134 w 190"/>
                <a:gd name="T1" fmla="*/ 235 h 235"/>
                <a:gd name="T2" fmla="*/ 56 w 190"/>
                <a:gd name="T3" fmla="*/ 235 h 235"/>
                <a:gd name="T4" fmla="*/ 52 w 190"/>
                <a:gd name="T5" fmla="*/ 232 h 235"/>
                <a:gd name="T6" fmla="*/ 27 w 190"/>
                <a:gd name="T7" fmla="*/ 165 h 235"/>
                <a:gd name="T8" fmla="*/ 0 w 190"/>
                <a:gd name="T9" fmla="*/ 83 h 235"/>
                <a:gd name="T10" fmla="*/ 95 w 190"/>
                <a:gd name="T11" fmla="*/ 0 h 235"/>
                <a:gd name="T12" fmla="*/ 190 w 190"/>
                <a:gd name="T13" fmla="*/ 83 h 235"/>
                <a:gd name="T14" fmla="*/ 163 w 190"/>
                <a:gd name="T15" fmla="*/ 165 h 235"/>
                <a:gd name="T16" fmla="*/ 137 w 190"/>
                <a:gd name="T17" fmla="*/ 232 h 235"/>
                <a:gd name="T18" fmla="*/ 134 w 190"/>
                <a:gd name="T19" fmla="*/ 235 h 235"/>
                <a:gd name="T20" fmla="*/ 58 w 190"/>
                <a:gd name="T21" fmla="*/ 228 h 235"/>
                <a:gd name="T22" fmla="*/ 131 w 190"/>
                <a:gd name="T23" fmla="*/ 228 h 235"/>
                <a:gd name="T24" fmla="*/ 157 w 190"/>
                <a:gd name="T25" fmla="*/ 162 h 235"/>
                <a:gd name="T26" fmla="*/ 183 w 190"/>
                <a:gd name="T27" fmla="*/ 83 h 235"/>
                <a:gd name="T28" fmla="*/ 95 w 190"/>
                <a:gd name="T29" fmla="*/ 7 h 235"/>
                <a:gd name="T30" fmla="*/ 7 w 190"/>
                <a:gd name="T31" fmla="*/ 83 h 235"/>
                <a:gd name="T32" fmla="*/ 33 w 190"/>
                <a:gd name="T33" fmla="*/ 162 h 235"/>
                <a:gd name="T34" fmla="*/ 58 w 190"/>
                <a:gd name="T35" fmla="*/ 22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0" h="235">
                  <a:moveTo>
                    <a:pt x="134" y="235"/>
                  </a:moveTo>
                  <a:cubicBezTo>
                    <a:pt x="56" y="235"/>
                    <a:pt x="56" y="235"/>
                    <a:pt x="56" y="235"/>
                  </a:cubicBezTo>
                  <a:cubicBezTo>
                    <a:pt x="54" y="235"/>
                    <a:pt x="52" y="233"/>
                    <a:pt x="52" y="232"/>
                  </a:cubicBezTo>
                  <a:cubicBezTo>
                    <a:pt x="49" y="207"/>
                    <a:pt x="37" y="186"/>
                    <a:pt x="27" y="165"/>
                  </a:cubicBezTo>
                  <a:cubicBezTo>
                    <a:pt x="13" y="140"/>
                    <a:pt x="0" y="114"/>
                    <a:pt x="0" y="83"/>
                  </a:cubicBezTo>
                  <a:cubicBezTo>
                    <a:pt x="0" y="32"/>
                    <a:pt x="37" y="0"/>
                    <a:pt x="95" y="0"/>
                  </a:cubicBezTo>
                  <a:cubicBezTo>
                    <a:pt x="149" y="0"/>
                    <a:pt x="190" y="36"/>
                    <a:pt x="190" y="83"/>
                  </a:cubicBezTo>
                  <a:cubicBezTo>
                    <a:pt x="190" y="114"/>
                    <a:pt x="176" y="140"/>
                    <a:pt x="163" y="165"/>
                  </a:cubicBezTo>
                  <a:cubicBezTo>
                    <a:pt x="152" y="186"/>
                    <a:pt x="141" y="207"/>
                    <a:pt x="137" y="232"/>
                  </a:cubicBezTo>
                  <a:cubicBezTo>
                    <a:pt x="137" y="233"/>
                    <a:pt x="136" y="235"/>
                    <a:pt x="134" y="235"/>
                  </a:cubicBezTo>
                  <a:close/>
                  <a:moveTo>
                    <a:pt x="58" y="228"/>
                  </a:moveTo>
                  <a:cubicBezTo>
                    <a:pt x="131" y="228"/>
                    <a:pt x="131" y="228"/>
                    <a:pt x="131" y="228"/>
                  </a:cubicBezTo>
                  <a:cubicBezTo>
                    <a:pt x="135" y="203"/>
                    <a:pt x="146" y="182"/>
                    <a:pt x="157" y="162"/>
                  </a:cubicBezTo>
                  <a:cubicBezTo>
                    <a:pt x="170" y="136"/>
                    <a:pt x="183" y="112"/>
                    <a:pt x="183" y="83"/>
                  </a:cubicBezTo>
                  <a:cubicBezTo>
                    <a:pt x="183" y="40"/>
                    <a:pt x="145" y="7"/>
                    <a:pt x="95" y="7"/>
                  </a:cubicBezTo>
                  <a:cubicBezTo>
                    <a:pt x="30" y="7"/>
                    <a:pt x="7" y="46"/>
                    <a:pt x="7" y="83"/>
                  </a:cubicBezTo>
                  <a:cubicBezTo>
                    <a:pt x="7" y="112"/>
                    <a:pt x="19" y="136"/>
                    <a:pt x="33" y="162"/>
                  </a:cubicBezTo>
                  <a:cubicBezTo>
                    <a:pt x="43" y="182"/>
                    <a:pt x="54" y="203"/>
                    <a:pt x="58" y="228"/>
                  </a:cubicBezTo>
                  <a:close/>
                </a:path>
              </a:pathLst>
            </a:custGeom>
            <a:solidFill>
              <a:srgbClr val="9132A6"/>
            </a:solidFill>
            <a:ln w="9525">
              <a:no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5" name="Freeform 54"/>
            <p:cNvSpPr>
              <a:spLocks noEditPoints="1"/>
            </p:cNvSpPr>
            <p:nvPr/>
          </p:nvSpPr>
          <p:spPr bwMode="auto">
            <a:xfrm>
              <a:off x="4783138" y="5422900"/>
              <a:ext cx="217488" cy="165100"/>
            </a:xfrm>
            <a:custGeom>
              <a:avLst/>
              <a:gdLst>
                <a:gd name="T0" fmla="*/ 49 w 98"/>
                <a:gd name="T1" fmla="*/ 74 h 74"/>
                <a:gd name="T2" fmla="*/ 0 w 98"/>
                <a:gd name="T3" fmla="*/ 25 h 74"/>
                <a:gd name="T4" fmla="*/ 0 w 98"/>
                <a:gd name="T5" fmla="*/ 13 h 74"/>
                <a:gd name="T6" fmla="*/ 14 w 98"/>
                <a:gd name="T7" fmla="*/ 0 h 74"/>
                <a:gd name="T8" fmla="*/ 84 w 98"/>
                <a:gd name="T9" fmla="*/ 0 h 74"/>
                <a:gd name="T10" fmla="*/ 98 w 98"/>
                <a:gd name="T11" fmla="*/ 13 h 74"/>
                <a:gd name="T12" fmla="*/ 98 w 98"/>
                <a:gd name="T13" fmla="*/ 25 h 74"/>
                <a:gd name="T14" fmla="*/ 49 w 98"/>
                <a:gd name="T15" fmla="*/ 74 h 74"/>
                <a:gd name="T16" fmla="*/ 14 w 98"/>
                <a:gd name="T17" fmla="*/ 7 h 74"/>
                <a:gd name="T18" fmla="*/ 7 w 98"/>
                <a:gd name="T19" fmla="*/ 13 h 74"/>
                <a:gd name="T20" fmla="*/ 7 w 98"/>
                <a:gd name="T21" fmla="*/ 25 h 74"/>
                <a:gd name="T22" fmla="*/ 49 w 98"/>
                <a:gd name="T23" fmla="*/ 67 h 74"/>
                <a:gd name="T24" fmla="*/ 91 w 98"/>
                <a:gd name="T25" fmla="*/ 25 h 74"/>
                <a:gd name="T26" fmla="*/ 91 w 98"/>
                <a:gd name="T27" fmla="*/ 13 h 74"/>
                <a:gd name="T28" fmla="*/ 84 w 98"/>
                <a:gd name="T29" fmla="*/ 7 h 74"/>
                <a:gd name="T30" fmla="*/ 14 w 98"/>
                <a:gd name="T31" fmla="*/ 7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 h="74">
                  <a:moveTo>
                    <a:pt x="49" y="74"/>
                  </a:moveTo>
                  <a:cubicBezTo>
                    <a:pt x="22" y="74"/>
                    <a:pt x="0" y="52"/>
                    <a:pt x="0" y="25"/>
                  </a:cubicBezTo>
                  <a:cubicBezTo>
                    <a:pt x="0" y="13"/>
                    <a:pt x="0" y="13"/>
                    <a:pt x="0" y="13"/>
                  </a:cubicBezTo>
                  <a:cubicBezTo>
                    <a:pt x="0" y="6"/>
                    <a:pt x="6" y="0"/>
                    <a:pt x="14" y="0"/>
                  </a:cubicBezTo>
                  <a:cubicBezTo>
                    <a:pt x="84" y="0"/>
                    <a:pt x="84" y="0"/>
                    <a:pt x="84" y="0"/>
                  </a:cubicBezTo>
                  <a:cubicBezTo>
                    <a:pt x="92" y="0"/>
                    <a:pt x="98" y="6"/>
                    <a:pt x="98" y="13"/>
                  </a:cubicBezTo>
                  <a:cubicBezTo>
                    <a:pt x="98" y="25"/>
                    <a:pt x="98" y="25"/>
                    <a:pt x="98" y="25"/>
                  </a:cubicBezTo>
                  <a:cubicBezTo>
                    <a:pt x="98" y="52"/>
                    <a:pt x="76" y="74"/>
                    <a:pt x="49" y="74"/>
                  </a:cubicBezTo>
                  <a:close/>
                  <a:moveTo>
                    <a:pt x="14" y="7"/>
                  </a:moveTo>
                  <a:cubicBezTo>
                    <a:pt x="10" y="7"/>
                    <a:pt x="7" y="10"/>
                    <a:pt x="7" y="13"/>
                  </a:cubicBezTo>
                  <a:cubicBezTo>
                    <a:pt x="7" y="25"/>
                    <a:pt x="7" y="25"/>
                    <a:pt x="7" y="25"/>
                  </a:cubicBezTo>
                  <a:cubicBezTo>
                    <a:pt x="7" y="48"/>
                    <a:pt x="26" y="67"/>
                    <a:pt x="49" y="67"/>
                  </a:cubicBezTo>
                  <a:cubicBezTo>
                    <a:pt x="72" y="67"/>
                    <a:pt x="91" y="48"/>
                    <a:pt x="91" y="25"/>
                  </a:cubicBezTo>
                  <a:cubicBezTo>
                    <a:pt x="91" y="13"/>
                    <a:pt x="91" y="13"/>
                    <a:pt x="91" y="13"/>
                  </a:cubicBezTo>
                  <a:cubicBezTo>
                    <a:pt x="91" y="10"/>
                    <a:pt x="88" y="7"/>
                    <a:pt x="84" y="7"/>
                  </a:cubicBezTo>
                  <a:lnTo>
                    <a:pt x="14" y="7"/>
                  </a:ln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6" name="Freeform 55"/>
            <p:cNvSpPr>
              <a:spLocks/>
            </p:cNvSpPr>
            <p:nvPr/>
          </p:nvSpPr>
          <p:spPr bwMode="auto">
            <a:xfrm>
              <a:off x="4789488" y="5470525"/>
              <a:ext cx="204788" cy="14288"/>
            </a:xfrm>
            <a:custGeom>
              <a:avLst/>
              <a:gdLst>
                <a:gd name="T0" fmla="*/ 88 w 92"/>
                <a:gd name="T1" fmla="*/ 7 h 7"/>
                <a:gd name="T2" fmla="*/ 3 w 92"/>
                <a:gd name="T3" fmla="*/ 7 h 7"/>
                <a:gd name="T4" fmla="*/ 0 w 92"/>
                <a:gd name="T5" fmla="*/ 4 h 7"/>
                <a:gd name="T6" fmla="*/ 3 w 92"/>
                <a:gd name="T7" fmla="*/ 0 h 7"/>
                <a:gd name="T8" fmla="*/ 88 w 92"/>
                <a:gd name="T9" fmla="*/ 0 h 7"/>
                <a:gd name="T10" fmla="*/ 92 w 92"/>
                <a:gd name="T11" fmla="*/ 4 h 7"/>
                <a:gd name="T12" fmla="*/ 88 w 92"/>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92" h="7">
                  <a:moveTo>
                    <a:pt x="88" y="7"/>
                  </a:moveTo>
                  <a:cubicBezTo>
                    <a:pt x="3" y="7"/>
                    <a:pt x="3" y="7"/>
                    <a:pt x="3" y="7"/>
                  </a:cubicBezTo>
                  <a:cubicBezTo>
                    <a:pt x="1" y="7"/>
                    <a:pt x="0" y="6"/>
                    <a:pt x="0" y="4"/>
                  </a:cubicBezTo>
                  <a:cubicBezTo>
                    <a:pt x="0" y="2"/>
                    <a:pt x="1" y="0"/>
                    <a:pt x="3" y="0"/>
                  </a:cubicBezTo>
                  <a:cubicBezTo>
                    <a:pt x="88" y="0"/>
                    <a:pt x="88" y="0"/>
                    <a:pt x="88" y="0"/>
                  </a:cubicBezTo>
                  <a:cubicBezTo>
                    <a:pt x="90" y="0"/>
                    <a:pt x="92" y="2"/>
                    <a:pt x="92" y="4"/>
                  </a:cubicBezTo>
                  <a:cubicBezTo>
                    <a:pt x="92" y="6"/>
                    <a:pt x="90" y="7"/>
                    <a:pt x="88" y="7"/>
                  </a:cubicBez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7" name="Freeform 56"/>
            <p:cNvSpPr>
              <a:spLocks/>
            </p:cNvSpPr>
            <p:nvPr/>
          </p:nvSpPr>
          <p:spPr bwMode="auto">
            <a:xfrm>
              <a:off x="4799013" y="5516563"/>
              <a:ext cx="184150" cy="15875"/>
            </a:xfrm>
            <a:custGeom>
              <a:avLst/>
              <a:gdLst>
                <a:gd name="T0" fmla="*/ 80 w 83"/>
                <a:gd name="T1" fmla="*/ 7 h 7"/>
                <a:gd name="T2" fmla="*/ 3 w 83"/>
                <a:gd name="T3" fmla="*/ 7 h 7"/>
                <a:gd name="T4" fmla="*/ 0 w 83"/>
                <a:gd name="T5" fmla="*/ 3 h 7"/>
                <a:gd name="T6" fmla="*/ 3 w 83"/>
                <a:gd name="T7" fmla="*/ 0 h 7"/>
                <a:gd name="T8" fmla="*/ 80 w 83"/>
                <a:gd name="T9" fmla="*/ 0 h 7"/>
                <a:gd name="T10" fmla="*/ 83 w 83"/>
                <a:gd name="T11" fmla="*/ 3 h 7"/>
                <a:gd name="T12" fmla="*/ 80 w 83"/>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83" h="7">
                  <a:moveTo>
                    <a:pt x="80" y="7"/>
                  </a:moveTo>
                  <a:cubicBezTo>
                    <a:pt x="3" y="7"/>
                    <a:pt x="3" y="7"/>
                    <a:pt x="3" y="7"/>
                  </a:cubicBezTo>
                  <a:cubicBezTo>
                    <a:pt x="2" y="7"/>
                    <a:pt x="0" y="5"/>
                    <a:pt x="0" y="3"/>
                  </a:cubicBezTo>
                  <a:cubicBezTo>
                    <a:pt x="0" y="1"/>
                    <a:pt x="2" y="0"/>
                    <a:pt x="3" y="0"/>
                  </a:cubicBezTo>
                  <a:cubicBezTo>
                    <a:pt x="80" y="0"/>
                    <a:pt x="80" y="0"/>
                    <a:pt x="80" y="0"/>
                  </a:cubicBezTo>
                  <a:cubicBezTo>
                    <a:pt x="82" y="0"/>
                    <a:pt x="83" y="1"/>
                    <a:pt x="83" y="3"/>
                  </a:cubicBezTo>
                  <a:cubicBezTo>
                    <a:pt x="83" y="5"/>
                    <a:pt x="82" y="7"/>
                    <a:pt x="80" y="7"/>
                  </a:cubicBez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8" name="Freeform 57"/>
            <p:cNvSpPr>
              <a:spLocks/>
            </p:cNvSpPr>
            <p:nvPr/>
          </p:nvSpPr>
          <p:spPr bwMode="auto">
            <a:xfrm>
              <a:off x="4916488" y="5173663"/>
              <a:ext cx="92075" cy="207963"/>
            </a:xfrm>
            <a:custGeom>
              <a:avLst/>
              <a:gdLst>
                <a:gd name="T0" fmla="*/ 4 w 42"/>
                <a:gd name="T1" fmla="*/ 94 h 94"/>
                <a:gd name="T2" fmla="*/ 3 w 42"/>
                <a:gd name="T3" fmla="*/ 94 h 94"/>
                <a:gd name="T4" fmla="*/ 1 w 42"/>
                <a:gd name="T5" fmla="*/ 90 h 94"/>
                <a:gd name="T6" fmla="*/ 35 w 42"/>
                <a:gd name="T7" fmla="*/ 2 h 94"/>
                <a:gd name="T8" fmla="*/ 39 w 42"/>
                <a:gd name="T9" fmla="*/ 1 h 94"/>
                <a:gd name="T10" fmla="*/ 41 w 42"/>
                <a:gd name="T11" fmla="*/ 5 h 94"/>
                <a:gd name="T12" fmla="*/ 8 w 42"/>
                <a:gd name="T13" fmla="*/ 92 h 94"/>
                <a:gd name="T14" fmla="*/ 4 w 42"/>
                <a:gd name="T15" fmla="*/ 94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94">
                  <a:moveTo>
                    <a:pt x="4" y="94"/>
                  </a:moveTo>
                  <a:cubicBezTo>
                    <a:pt x="4" y="94"/>
                    <a:pt x="3" y="94"/>
                    <a:pt x="3" y="94"/>
                  </a:cubicBezTo>
                  <a:cubicBezTo>
                    <a:pt x="1" y="93"/>
                    <a:pt x="0" y="91"/>
                    <a:pt x="1" y="90"/>
                  </a:cubicBezTo>
                  <a:cubicBezTo>
                    <a:pt x="35" y="2"/>
                    <a:pt x="35" y="2"/>
                    <a:pt x="35" y="2"/>
                  </a:cubicBezTo>
                  <a:cubicBezTo>
                    <a:pt x="36" y="1"/>
                    <a:pt x="38" y="0"/>
                    <a:pt x="39" y="1"/>
                  </a:cubicBezTo>
                  <a:cubicBezTo>
                    <a:pt x="41" y="1"/>
                    <a:pt x="42" y="3"/>
                    <a:pt x="41" y="5"/>
                  </a:cubicBezTo>
                  <a:cubicBezTo>
                    <a:pt x="8" y="92"/>
                    <a:pt x="8" y="92"/>
                    <a:pt x="8" y="92"/>
                  </a:cubicBezTo>
                  <a:cubicBezTo>
                    <a:pt x="7" y="93"/>
                    <a:pt x="6" y="94"/>
                    <a:pt x="4" y="94"/>
                  </a:cubicBez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9" name="Freeform 58"/>
            <p:cNvSpPr>
              <a:spLocks/>
            </p:cNvSpPr>
            <p:nvPr/>
          </p:nvSpPr>
          <p:spPr bwMode="auto">
            <a:xfrm>
              <a:off x="4773613" y="5173663"/>
              <a:ext cx="92075" cy="207963"/>
            </a:xfrm>
            <a:custGeom>
              <a:avLst/>
              <a:gdLst>
                <a:gd name="T0" fmla="*/ 37 w 41"/>
                <a:gd name="T1" fmla="*/ 94 h 94"/>
                <a:gd name="T2" fmla="*/ 34 w 41"/>
                <a:gd name="T3" fmla="*/ 92 h 94"/>
                <a:gd name="T4" fmla="*/ 0 w 41"/>
                <a:gd name="T5" fmla="*/ 5 h 94"/>
                <a:gd name="T6" fmla="*/ 2 w 41"/>
                <a:gd name="T7" fmla="*/ 1 h 94"/>
                <a:gd name="T8" fmla="*/ 7 w 41"/>
                <a:gd name="T9" fmla="*/ 2 h 94"/>
                <a:gd name="T10" fmla="*/ 40 w 41"/>
                <a:gd name="T11" fmla="*/ 90 h 94"/>
                <a:gd name="T12" fmla="*/ 38 w 41"/>
                <a:gd name="T13" fmla="*/ 94 h 94"/>
                <a:gd name="T14" fmla="*/ 37 w 41"/>
                <a:gd name="T15" fmla="*/ 94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94">
                  <a:moveTo>
                    <a:pt x="37" y="94"/>
                  </a:moveTo>
                  <a:cubicBezTo>
                    <a:pt x="36" y="94"/>
                    <a:pt x="35" y="93"/>
                    <a:pt x="34" y="92"/>
                  </a:cubicBezTo>
                  <a:cubicBezTo>
                    <a:pt x="0" y="5"/>
                    <a:pt x="0" y="5"/>
                    <a:pt x="0" y="5"/>
                  </a:cubicBezTo>
                  <a:cubicBezTo>
                    <a:pt x="0" y="3"/>
                    <a:pt x="1" y="1"/>
                    <a:pt x="2" y="1"/>
                  </a:cubicBezTo>
                  <a:cubicBezTo>
                    <a:pt x="4" y="0"/>
                    <a:pt x="6" y="1"/>
                    <a:pt x="7" y="2"/>
                  </a:cubicBezTo>
                  <a:cubicBezTo>
                    <a:pt x="40" y="90"/>
                    <a:pt x="40" y="90"/>
                    <a:pt x="40" y="90"/>
                  </a:cubicBezTo>
                  <a:cubicBezTo>
                    <a:pt x="41" y="91"/>
                    <a:pt x="40" y="93"/>
                    <a:pt x="38" y="94"/>
                  </a:cubicBezTo>
                  <a:cubicBezTo>
                    <a:pt x="38" y="94"/>
                    <a:pt x="38" y="94"/>
                    <a:pt x="37" y="94"/>
                  </a:cubicBez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0" name="Freeform 59"/>
            <p:cNvSpPr>
              <a:spLocks/>
            </p:cNvSpPr>
            <p:nvPr/>
          </p:nvSpPr>
          <p:spPr bwMode="auto">
            <a:xfrm>
              <a:off x="4806951" y="5157788"/>
              <a:ext cx="168275" cy="34925"/>
            </a:xfrm>
            <a:custGeom>
              <a:avLst/>
              <a:gdLst>
                <a:gd name="T0" fmla="*/ 12 w 76"/>
                <a:gd name="T1" fmla="*/ 15 h 16"/>
                <a:gd name="T2" fmla="*/ 10 w 76"/>
                <a:gd name="T3" fmla="*/ 14 h 16"/>
                <a:gd name="T4" fmla="*/ 1 w 76"/>
                <a:gd name="T5" fmla="*/ 6 h 16"/>
                <a:gd name="T6" fmla="*/ 1 w 76"/>
                <a:gd name="T7" fmla="*/ 1 h 16"/>
                <a:gd name="T8" fmla="*/ 6 w 76"/>
                <a:gd name="T9" fmla="*/ 1 h 16"/>
                <a:gd name="T10" fmla="*/ 12 w 76"/>
                <a:gd name="T11" fmla="*/ 7 h 16"/>
                <a:gd name="T12" fmla="*/ 18 w 76"/>
                <a:gd name="T13" fmla="*/ 1 h 16"/>
                <a:gd name="T14" fmla="*/ 23 w 76"/>
                <a:gd name="T15" fmla="*/ 1 h 16"/>
                <a:gd name="T16" fmla="*/ 29 w 76"/>
                <a:gd name="T17" fmla="*/ 7 h 16"/>
                <a:gd name="T18" fmla="*/ 35 w 76"/>
                <a:gd name="T19" fmla="*/ 1 h 16"/>
                <a:gd name="T20" fmla="*/ 40 w 76"/>
                <a:gd name="T21" fmla="*/ 1 h 16"/>
                <a:gd name="T22" fmla="*/ 46 w 76"/>
                <a:gd name="T23" fmla="*/ 7 h 16"/>
                <a:gd name="T24" fmla="*/ 52 w 76"/>
                <a:gd name="T25" fmla="*/ 1 h 16"/>
                <a:gd name="T26" fmla="*/ 57 w 76"/>
                <a:gd name="T27" fmla="*/ 1 h 16"/>
                <a:gd name="T28" fmla="*/ 63 w 76"/>
                <a:gd name="T29" fmla="*/ 7 h 16"/>
                <a:gd name="T30" fmla="*/ 69 w 76"/>
                <a:gd name="T31" fmla="*/ 1 h 16"/>
                <a:gd name="T32" fmla="*/ 74 w 76"/>
                <a:gd name="T33" fmla="*/ 1 h 16"/>
                <a:gd name="T34" fmla="*/ 74 w 76"/>
                <a:gd name="T35" fmla="*/ 6 h 16"/>
                <a:gd name="T36" fmla="*/ 66 w 76"/>
                <a:gd name="T37" fmla="*/ 14 h 16"/>
                <a:gd name="T38" fmla="*/ 61 w 76"/>
                <a:gd name="T39" fmla="*/ 14 h 16"/>
                <a:gd name="T40" fmla="*/ 55 w 76"/>
                <a:gd name="T41" fmla="*/ 8 h 16"/>
                <a:gd name="T42" fmla="*/ 49 w 76"/>
                <a:gd name="T43" fmla="*/ 14 h 16"/>
                <a:gd name="T44" fmla="*/ 44 w 76"/>
                <a:gd name="T45" fmla="*/ 14 h 16"/>
                <a:gd name="T46" fmla="*/ 38 w 76"/>
                <a:gd name="T47" fmla="*/ 8 h 16"/>
                <a:gd name="T48" fmla="*/ 32 w 76"/>
                <a:gd name="T49" fmla="*/ 14 h 16"/>
                <a:gd name="T50" fmla="*/ 27 w 76"/>
                <a:gd name="T51" fmla="*/ 14 h 16"/>
                <a:gd name="T52" fmla="*/ 21 w 76"/>
                <a:gd name="T53" fmla="*/ 8 h 16"/>
                <a:gd name="T54" fmla="*/ 15 w 76"/>
                <a:gd name="T55" fmla="*/ 14 h 16"/>
                <a:gd name="T56" fmla="*/ 12 w 76"/>
                <a:gd name="T57"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6" h="16">
                  <a:moveTo>
                    <a:pt x="12" y="15"/>
                  </a:moveTo>
                  <a:cubicBezTo>
                    <a:pt x="11" y="15"/>
                    <a:pt x="10" y="15"/>
                    <a:pt x="10" y="14"/>
                  </a:cubicBezTo>
                  <a:cubicBezTo>
                    <a:pt x="1" y="6"/>
                    <a:pt x="1" y="6"/>
                    <a:pt x="1" y="6"/>
                  </a:cubicBezTo>
                  <a:cubicBezTo>
                    <a:pt x="0" y="5"/>
                    <a:pt x="0" y="2"/>
                    <a:pt x="1" y="1"/>
                  </a:cubicBezTo>
                  <a:cubicBezTo>
                    <a:pt x="3" y="0"/>
                    <a:pt x="5" y="0"/>
                    <a:pt x="6" y="1"/>
                  </a:cubicBezTo>
                  <a:cubicBezTo>
                    <a:pt x="12" y="7"/>
                    <a:pt x="12" y="7"/>
                    <a:pt x="12" y="7"/>
                  </a:cubicBezTo>
                  <a:cubicBezTo>
                    <a:pt x="18" y="1"/>
                    <a:pt x="18" y="1"/>
                    <a:pt x="18" y="1"/>
                  </a:cubicBezTo>
                  <a:cubicBezTo>
                    <a:pt x="20" y="0"/>
                    <a:pt x="22" y="0"/>
                    <a:pt x="23" y="1"/>
                  </a:cubicBezTo>
                  <a:cubicBezTo>
                    <a:pt x="29" y="7"/>
                    <a:pt x="29" y="7"/>
                    <a:pt x="29" y="7"/>
                  </a:cubicBezTo>
                  <a:cubicBezTo>
                    <a:pt x="35" y="1"/>
                    <a:pt x="35" y="1"/>
                    <a:pt x="35" y="1"/>
                  </a:cubicBezTo>
                  <a:cubicBezTo>
                    <a:pt x="37" y="0"/>
                    <a:pt x="39" y="0"/>
                    <a:pt x="40" y="1"/>
                  </a:cubicBezTo>
                  <a:cubicBezTo>
                    <a:pt x="46" y="7"/>
                    <a:pt x="46" y="7"/>
                    <a:pt x="46" y="7"/>
                  </a:cubicBezTo>
                  <a:cubicBezTo>
                    <a:pt x="52" y="1"/>
                    <a:pt x="52" y="1"/>
                    <a:pt x="52" y="1"/>
                  </a:cubicBezTo>
                  <a:cubicBezTo>
                    <a:pt x="54" y="0"/>
                    <a:pt x="56" y="0"/>
                    <a:pt x="57" y="1"/>
                  </a:cubicBezTo>
                  <a:cubicBezTo>
                    <a:pt x="63" y="7"/>
                    <a:pt x="63" y="7"/>
                    <a:pt x="63" y="7"/>
                  </a:cubicBezTo>
                  <a:cubicBezTo>
                    <a:pt x="69" y="1"/>
                    <a:pt x="69" y="1"/>
                    <a:pt x="69" y="1"/>
                  </a:cubicBezTo>
                  <a:cubicBezTo>
                    <a:pt x="71" y="0"/>
                    <a:pt x="73" y="0"/>
                    <a:pt x="74" y="1"/>
                  </a:cubicBezTo>
                  <a:cubicBezTo>
                    <a:pt x="76" y="2"/>
                    <a:pt x="76" y="5"/>
                    <a:pt x="74" y="6"/>
                  </a:cubicBezTo>
                  <a:cubicBezTo>
                    <a:pt x="66" y="14"/>
                    <a:pt x="66" y="14"/>
                    <a:pt x="66" y="14"/>
                  </a:cubicBezTo>
                  <a:cubicBezTo>
                    <a:pt x="64" y="16"/>
                    <a:pt x="62" y="16"/>
                    <a:pt x="61" y="14"/>
                  </a:cubicBezTo>
                  <a:cubicBezTo>
                    <a:pt x="55" y="8"/>
                    <a:pt x="55" y="8"/>
                    <a:pt x="55" y="8"/>
                  </a:cubicBezTo>
                  <a:cubicBezTo>
                    <a:pt x="49" y="14"/>
                    <a:pt x="49" y="14"/>
                    <a:pt x="49" y="14"/>
                  </a:cubicBezTo>
                  <a:cubicBezTo>
                    <a:pt x="47" y="16"/>
                    <a:pt x="45" y="16"/>
                    <a:pt x="44" y="14"/>
                  </a:cubicBezTo>
                  <a:cubicBezTo>
                    <a:pt x="38" y="8"/>
                    <a:pt x="38" y="8"/>
                    <a:pt x="38" y="8"/>
                  </a:cubicBezTo>
                  <a:cubicBezTo>
                    <a:pt x="32" y="14"/>
                    <a:pt x="32" y="14"/>
                    <a:pt x="32" y="14"/>
                  </a:cubicBezTo>
                  <a:cubicBezTo>
                    <a:pt x="30" y="16"/>
                    <a:pt x="28" y="16"/>
                    <a:pt x="27" y="14"/>
                  </a:cubicBezTo>
                  <a:cubicBezTo>
                    <a:pt x="21" y="8"/>
                    <a:pt x="21" y="8"/>
                    <a:pt x="21" y="8"/>
                  </a:cubicBezTo>
                  <a:cubicBezTo>
                    <a:pt x="15" y="14"/>
                    <a:pt x="15" y="14"/>
                    <a:pt x="15" y="14"/>
                  </a:cubicBezTo>
                  <a:cubicBezTo>
                    <a:pt x="14" y="15"/>
                    <a:pt x="13" y="15"/>
                    <a:pt x="12" y="15"/>
                  </a:cubicBez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1" name="Line 60"/>
            <p:cNvSpPr>
              <a:spLocks noChangeShapeType="1"/>
            </p:cNvSpPr>
            <p:nvPr/>
          </p:nvSpPr>
          <p:spPr bwMode="auto">
            <a:xfrm>
              <a:off x="6108701" y="3473450"/>
              <a:ext cx="0" cy="3384550"/>
            </a:xfrm>
            <a:prstGeom prst="line">
              <a:avLst/>
            </a:prstGeom>
            <a:noFill/>
            <a:ln w="106363" cap="flat">
              <a:solidFill>
                <a:srgbClr val="16A1CA"/>
              </a:solidFill>
              <a:prstDash val="solid"/>
              <a:miter lim="800000"/>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2" name="Freeform 61"/>
            <p:cNvSpPr>
              <a:spLocks/>
            </p:cNvSpPr>
            <p:nvPr/>
          </p:nvSpPr>
          <p:spPr bwMode="auto">
            <a:xfrm>
              <a:off x="5851526" y="3351213"/>
              <a:ext cx="511175" cy="68263"/>
            </a:xfrm>
            <a:custGeom>
              <a:avLst/>
              <a:gdLst>
                <a:gd name="T0" fmla="*/ 216 w 231"/>
                <a:gd name="T1" fmla="*/ 31 h 31"/>
                <a:gd name="T2" fmla="*/ 15 w 231"/>
                <a:gd name="T3" fmla="*/ 31 h 31"/>
                <a:gd name="T4" fmla="*/ 0 w 231"/>
                <a:gd name="T5" fmla="*/ 16 h 31"/>
                <a:gd name="T6" fmla="*/ 0 w 231"/>
                <a:gd name="T7" fmla="*/ 16 h 31"/>
                <a:gd name="T8" fmla="*/ 15 w 231"/>
                <a:gd name="T9" fmla="*/ 0 h 31"/>
                <a:gd name="T10" fmla="*/ 216 w 231"/>
                <a:gd name="T11" fmla="*/ 0 h 31"/>
                <a:gd name="T12" fmla="*/ 231 w 231"/>
                <a:gd name="T13" fmla="*/ 16 h 31"/>
                <a:gd name="T14" fmla="*/ 231 w 231"/>
                <a:gd name="T15" fmla="*/ 16 h 31"/>
                <a:gd name="T16" fmla="*/ 216 w 231"/>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 h="31">
                  <a:moveTo>
                    <a:pt x="216" y="31"/>
                  </a:moveTo>
                  <a:cubicBezTo>
                    <a:pt x="15" y="31"/>
                    <a:pt x="15" y="31"/>
                    <a:pt x="15" y="31"/>
                  </a:cubicBezTo>
                  <a:cubicBezTo>
                    <a:pt x="7" y="31"/>
                    <a:pt x="0" y="24"/>
                    <a:pt x="0" y="16"/>
                  </a:cubicBezTo>
                  <a:cubicBezTo>
                    <a:pt x="0" y="16"/>
                    <a:pt x="0" y="16"/>
                    <a:pt x="0" y="16"/>
                  </a:cubicBezTo>
                  <a:cubicBezTo>
                    <a:pt x="0" y="7"/>
                    <a:pt x="7" y="0"/>
                    <a:pt x="15" y="0"/>
                  </a:cubicBezTo>
                  <a:cubicBezTo>
                    <a:pt x="216" y="0"/>
                    <a:pt x="216" y="0"/>
                    <a:pt x="216" y="0"/>
                  </a:cubicBezTo>
                  <a:cubicBezTo>
                    <a:pt x="224" y="0"/>
                    <a:pt x="231" y="7"/>
                    <a:pt x="231" y="16"/>
                  </a:cubicBezTo>
                  <a:cubicBezTo>
                    <a:pt x="231" y="16"/>
                    <a:pt x="231" y="16"/>
                    <a:pt x="231" y="16"/>
                  </a:cubicBezTo>
                  <a:cubicBezTo>
                    <a:pt x="231" y="24"/>
                    <a:pt x="224" y="31"/>
                    <a:pt x="216" y="31"/>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3" name="Freeform 62"/>
            <p:cNvSpPr>
              <a:spLocks/>
            </p:cNvSpPr>
            <p:nvPr/>
          </p:nvSpPr>
          <p:spPr bwMode="auto">
            <a:xfrm>
              <a:off x="5937251" y="3446463"/>
              <a:ext cx="339725" cy="68263"/>
            </a:xfrm>
            <a:custGeom>
              <a:avLst/>
              <a:gdLst>
                <a:gd name="T0" fmla="*/ 141 w 153"/>
                <a:gd name="T1" fmla="*/ 31 h 31"/>
                <a:gd name="T2" fmla="*/ 12 w 153"/>
                <a:gd name="T3" fmla="*/ 31 h 31"/>
                <a:gd name="T4" fmla="*/ 0 w 153"/>
                <a:gd name="T5" fmla="*/ 18 h 31"/>
                <a:gd name="T6" fmla="*/ 0 w 153"/>
                <a:gd name="T7" fmla="*/ 13 h 31"/>
                <a:gd name="T8" fmla="*/ 12 w 153"/>
                <a:gd name="T9" fmla="*/ 0 h 31"/>
                <a:gd name="T10" fmla="*/ 141 w 153"/>
                <a:gd name="T11" fmla="*/ 0 h 31"/>
                <a:gd name="T12" fmla="*/ 153 w 153"/>
                <a:gd name="T13" fmla="*/ 13 h 31"/>
                <a:gd name="T14" fmla="*/ 153 w 153"/>
                <a:gd name="T15" fmla="*/ 18 h 31"/>
                <a:gd name="T16" fmla="*/ 141 w 15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3" h="31">
                  <a:moveTo>
                    <a:pt x="141" y="31"/>
                  </a:moveTo>
                  <a:cubicBezTo>
                    <a:pt x="12" y="31"/>
                    <a:pt x="12" y="31"/>
                    <a:pt x="12" y="31"/>
                  </a:cubicBezTo>
                  <a:cubicBezTo>
                    <a:pt x="5" y="31"/>
                    <a:pt x="0" y="25"/>
                    <a:pt x="0" y="18"/>
                  </a:cubicBezTo>
                  <a:cubicBezTo>
                    <a:pt x="0" y="13"/>
                    <a:pt x="0" y="13"/>
                    <a:pt x="0" y="13"/>
                  </a:cubicBezTo>
                  <a:cubicBezTo>
                    <a:pt x="0" y="6"/>
                    <a:pt x="5" y="0"/>
                    <a:pt x="12" y="0"/>
                  </a:cubicBezTo>
                  <a:cubicBezTo>
                    <a:pt x="141" y="0"/>
                    <a:pt x="141" y="0"/>
                    <a:pt x="141" y="0"/>
                  </a:cubicBezTo>
                  <a:cubicBezTo>
                    <a:pt x="148" y="0"/>
                    <a:pt x="153" y="6"/>
                    <a:pt x="153" y="13"/>
                  </a:cubicBezTo>
                  <a:cubicBezTo>
                    <a:pt x="153" y="18"/>
                    <a:pt x="153" y="18"/>
                    <a:pt x="153" y="18"/>
                  </a:cubicBezTo>
                  <a:cubicBezTo>
                    <a:pt x="153" y="25"/>
                    <a:pt x="148" y="31"/>
                    <a:pt x="141" y="31"/>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4" name="Freeform 63"/>
            <p:cNvSpPr>
              <a:spLocks/>
            </p:cNvSpPr>
            <p:nvPr/>
          </p:nvSpPr>
          <p:spPr bwMode="auto">
            <a:xfrm>
              <a:off x="5851526" y="3259138"/>
              <a:ext cx="511175" cy="66675"/>
            </a:xfrm>
            <a:custGeom>
              <a:avLst/>
              <a:gdLst>
                <a:gd name="T0" fmla="*/ 216 w 231"/>
                <a:gd name="T1" fmla="*/ 30 h 30"/>
                <a:gd name="T2" fmla="*/ 15 w 231"/>
                <a:gd name="T3" fmla="*/ 30 h 30"/>
                <a:gd name="T4" fmla="*/ 0 w 231"/>
                <a:gd name="T5" fmla="*/ 15 h 30"/>
                <a:gd name="T6" fmla="*/ 0 w 231"/>
                <a:gd name="T7" fmla="*/ 15 h 30"/>
                <a:gd name="T8" fmla="*/ 15 w 231"/>
                <a:gd name="T9" fmla="*/ 0 h 30"/>
                <a:gd name="T10" fmla="*/ 216 w 231"/>
                <a:gd name="T11" fmla="*/ 0 h 30"/>
                <a:gd name="T12" fmla="*/ 231 w 231"/>
                <a:gd name="T13" fmla="*/ 15 h 30"/>
                <a:gd name="T14" fmla="*/ 231 w 231"/>
                <a:gd name="T15" fmla="*/ 15 h 30"/>
                <a:gd name="T16" fmla="*/ 216 w 231"/>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 h="30">
                  <a:moveTo>
                    <a:pt x="216" y="30"/>
                  </a:moveTo>
                  <a:cubicBezTo>
                    <a:pt x="15" y="30"/>
                    <a:pt x="15" y="30"/>
                    <a:pt x="15" y="30"/>
                  </a:cubicBezTo>
                  <a:cubicBezTo>
                    <a:pt x="7" y="30"/>
                    <a:pt x="0" y="23"/>
                    <a:pt x="0" y="15"/>
                  </a:cubicBezTo>
                  <a:cubicBezTo>
                    <a:pt x="0" y="15"/>
                    <a:pt x="0" y="15"/>
                    <a:pt x="0" y="15"/>
                  </a:cubicBezTo>
                  <a:cubicBezTo>
                    <a:pt x="0" y="7"/>
                    <a:pt x="7" y="0"/>
                    <a:pt x="15" y="0"/>
                  </a:cubicBezTo>
                  <a:cubicBezTo>
                    <a:pt x="216" y="0"/>
                    <a:pt x="216" y="0"/>
                    <a:pt x="216" y="0"/>
                  </a:cubicBezTo>
                  <a:cubicBezTo>
                    <a:pt x="224" y="0"/>
                    <a:pt x="231" y="7"/>
                    <a:pt x="231" y="15"/>
                  </a:cubicBezTo>
                  <a:cubicBezTo>
                    <a:pt x="231" y="15"/>
                    <a:pt x="231" y="15"/>
                    <a:pt x="231" y="15"/>
                  </a:cubicBezTo>
                  <a:cubicBezTo>
                    <a:pt x="231" y="23"/>
                    <a:pt x="224" y="30"/>
                    <a:pt x="216" y="30"/>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5" name="Freeform 64"/>
            <p:cNvSpPr>
              <a:spLocks noEditPoints="1"/>
            </p:cNvSpPr>
            <p:nvPr/>
          </p:nvSpPr>
          <p:spPr bwMode="auto">
            <a:xfrm>
              <a:off x="5514976" y="1682750"/>
              <a:ext cx="1184275" cy="1549400"/>
            </a:xfrm>
            <a:custGeom>
              <a:avLst/>
              <a:gdLst>
                <a:gd name="T0" fmla="*/ 382 w 535"/>
                <a:gd name="T1" fmla="*/ 669 h 700"/>
                <a:gd name="T2" fmla="*/ 379 w 535"/>
                <a:gd name="T3" fmla="*/ 669 h 700"/>
                <a:gd name="T4" fmla="*/ 535 w 535"/>
                <a:gd name="T5" fmla="*/ 248 h 700"/>
                <a:gd name="T6" fmla="*/ 268 w 535"/>
                <a:gd name="T7" fmla="*/ 0 h 700"/>
                <a:gd name="T8" fmla="*/ 0 w 535"/>
                <a:gd name="T9" fmla="*/ 248 h 700"/>
                <a:gd name="T10" fmla="*/ 156 w 535"/>
                <a:gd name="T11" fmla="*/ 669 h 700"/>
                <a:gd name="T12" fmla="*/ 154 w 535"/>
                <a:gd name="T13" fmla="*/ 669 h 700"/>
                <a:gd name="T14" fmla="*/ 136 w 535"/>
                <a:gd name="T15" fmla="*/ 684 h 700"/>
                <a:gd name="T16" fmla="*/ 154 w 535"/>
                <a:gd name="T17" fmla="*/ 700 h 700"/>
                <a:gd name="T18" fmla="*/ 382 w 535"/>
                <a:gd name="T19" fmla="*/ 700 h 700"/>
                <a:gd name="T20" fmla="*/ 399 w 535"/>
                <a:gd name="T21" fmla="*/ 684 h 700"/>
                <a:gd name="T22" fmla="*/ 382 w 535"/>
                <a:gd name="T23" fmla="*/ 669 h 700"/>
                <a:gd name="T24" fmla="*/ 254 w 535"/>
                <a:gd name="T25" fmla="*/ 656 h 700"/>
                <a:gd name="T26" fmla="*/ 245 w 535"/>
                <a:gd name="T27" fmla="*/ 665 h 700"/>
                <a:gd name="T28" fmla="*/ 235 w 535"/>
                <a:gd name="T29" fmla="*/ 656 h 700"/>
                <a:gd name="T30" fmla="*/ 235 w 535"/>
                <a:gd name="T31" fmla="*/ 556 h 700"/>
                <a:gd name="T32" fmla="*/ 180 w 535"/>
                <a:gd name="T33" fmla="*/ 467 h 700"/>
                <a:gd name="T34" fmla="*/ 183 w 535"/>
                <a:gd name="T35" fmla="*/ 454 h 700"/>
                <a:gd name="T36" fmla="*/ 196 w 535"/>
                <a:gd name="T37" fmla="*/ 457 h 700"/>
                <a:gd name="T38" fmla="*/ 252 w 535"/>
                <a:gd name="T39" fmla="*/ 548 h 700"/>
                <a:gd name="T40" fmla="*/ 254 w 535"/>
                <a:gd name="T41" fmla="*/ 553 h 700"/>
                <a:gd name="T42" fmla="*/ 254 w 535"/>
                <a:gd name="T43" fmla="*/ 656 h 700"/>
                <a:gd name="T44" fmla="*/ 355 w 535"/>
                <a:gd name="T45" fmla="*/ 467 h 700"/>
                <a:gd name="T46" fmla="*/ 300 w 535"/>
                <a:gd name="T47" fmla="*/ 556 h 700"/>
                <a:gd name="T48" fmla="*/ 300 w 535"/>
                <a:gd name="T49" fmla="*/ 656 h 700"/>
                <a:gd name="T50" fmla="*/ 291 w 535"/>
                <a:gd name="T51" fmla="*/ 665 h 700"/>
                <a:gd name="T52" fmla="*/ 281 w 535"/>
                <a:gd name="T53" fmla="*/ 656 h 700"/>
                <a:gd name="T54" fmla="*/ 281 w 535"/>
                <a:gd name="T55" fmla="*/ 553 h 700"/>
                <a:gd name="T56" fmla="*/ 283 w 535"/>
                <a:gd name="T57" fmla="*/ 548 h 700"/>
                <a:gd name="T58" fmla="*/ 340 w 535"/>
                <a:gd name="T59" fmla="*/ 457 h 700"/>
                <a:gd name="T60" fmla="*/ 353 w 535"/>
                <a:gd name="T61" fmla="*/ 454 h 700"/>
                <a:gd name="T62" fmla="*/ 355 w 535"/>
                <a:gd name="T63" fmla="*/ 467 h 700"/>
                <a:gd name="T64" fmla="*/ 348 w 535"/>
                <a:gd name="T65" fmla="*/ 426 h 700"/>
                <a:gd name="T66" fmla="*/ 188 w 535"/>
                <a:gd name="T67" fmla="*/ 426 h 700"/>
                <a:gd name="T68" fmla="*/ 178 w 535"/>
                <a:gd name="T69" fmla="*/ 417 h 700"/>
                <a:gd name="T70" fmla="*/ 188 w 535"/>
                <a:gd name="T71" fmla="*/ 407 h 700"/>
                <a:gd name="T72" fmla="*/ 348 w 535"/>
                <a:gd name="T73" fmla="*/ 407 h 700"/>
                <a:gd name="T74" fmla="*/ 357 w 535"/>
                <a:gd name="T75" fmla="*/ 417 h 700"/>
                <a:gd name="T76" fmla="*/ 348 w 535"/>
                <a:gd name="T77" fmla="*/ 426 h 700"/>
                <a:gd name="T78" fmla="*/ 348 w 535"/>
                <a:gd name="T79" fmla="*/ 385 h 700"/>
                <a:gd name="T80" fmla="*/ 188 w 535"/>
                <a:gd name="T81" fmla="*/ 385 h 700"/>
                <a:gd name="T82" fmla="*/ 178 w 535"/>
                <a:gd name="T83" fmla="*/ 375 h 700"/>
                <a:gd name="T84" fmla="*/ 188 w 535"/>
                <a:gd name="T85" fmla="*/ 366 h 700"/>
                <a:gd name="T86" fmla="*/ 348 w 535"/>
                <a:gd name="T87" fmla="*/ 366 h 700"/>
                <a:gd name="T88" fmla="*/ 357 w 535"/>
                <a:gd name="T89" fmla="*/ 375 h 700"/>
                <a:gd name="T90" fmla="*/ 348 w 535"/>
                <a:gd name="T91" fmla="*/ 385 h 700"/>
                <a:gd name="T92" fmla="*/ 348 w 535"/>
                <a:gd name="T93" fmla="*/ 344 h 700"/>
                <a:gd name="T94" fmla="*/ 188 w 535"/>
                <a:gd name="T95" fmla="*/ 344 h 700"/>
                <a:gd name="T96" fmla="*/ 178 w 535"/>
                <a:gd name="T97" fmla="*/ 334 h 700"/>
                <a:gd name="T98" fmla="*/ 188 w 535"/>
                <a:gd name="T99" fmla="*/ 325 h 700"/>
                <a:gd name="T100" fmla="*/ 348 w 535"/>
                <a:gd name="T101" fmla="*/ 325 h 700"/>
                <a:gd name="T102" fmla="*/ 357 w 535"/>
                <a:gd name="T103" fmla="*/ 334 h 700"/>
                <a:gd name="T104" fmla="*/ 348 w 535"/>
                <a:gd name="T105" fmla="*/ 344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35" h="700">
                  <a:moveTo>
                    <a:pt x="382" y="669"/>
                  </a:moveTo>
                  <a:cubicBezTo>
                    <a:pt x="379" y="669"/>
                    <a:pt x="379" y="669"/>
                    <a:pt x="379" y="669"/>
                  </a:cubicBezTo>
                  <a:cubicBezTo>
                    <a:pt x="379" y="506"/>
                    <a:pt x="535" y="405"/>
                    <a:pt x="535" y="248"/>
                  </a:cubicBezTo>
                  <a:cubicBezTo>
                    <a:pt x="535" y="137"/>
                    <a:pt x="426" y="0"/>
                    <a:pt x="268" y="0"/>
                  </a:cubicBezTo>
                  <a:cubicBezTo>
                    <a:pt x="88" y="0"/>
                    <a:pt x="0" y="137"/>
                    <a:pt x="0" y="248"/>
                  </a:cubicBezTo>
                  <a:cubicBezTo>
                    <a:pt x="0" y="405"/>
                    <a:pt x="156" y="506"/>
                    <a:pt x="156" y="669"/>
                  </a:cubicBezTo>
                  <a:cubicBezTo>
                    <a:pt x="154" y="669"/>
                    <a:pt x="154" y="669"/>
                    <a:pt x="154" y="669"/>
                  </a:cubicBezTo>
                  <a:cubicBezTo>
                    <a:pt x="144" y="669"/>
                    <a:pt x="136" y="676"/>
                    <a:pt x="136" y="684"/>
                  </a:cubicBezTo>
                  <a:cubicBezTo>
                    <a:pt x="136" y="693"/>
                    <a:pt x="144" y="700"/>
                    <a:pt x="154" y="700"/>
                  </a:cubicBezTo>
                  <a:cubicBezTo>
                    <a:pt x="382" y="700"/>
                    <a:pt x="382" y="700"/>
                    <a:pt x="382" y="700"/>
                  </a:cubicBezTo>
                  <a:cubicBezTo>
                    <a:pt x="391" y="700"/>
                    <a:pt x="399" y="693"/>
                    <a:pt x="399" y="684"/>
                  </a:cubicBezTo>
                  <a:cubicBezTo>
                    <a:pt x="399" y="676"/>
                    <a:pt x="391" y="669"/>
                    <a:pt x="382" y="669"/>
                  </a:cubicBezTo>
                  <a:close/>
                  <a:moveTo>
                    <a:pt x="254" y="656"/>
                  </a:moveTo>
                  <a:cubicBezTo>
                    <a:pt x="254" y="661"/>
                    <a:pt x="250" y="665"/>
                    <a:pt x="245" y="665"/>
                  </a:cubicBezTo>
                  <a:cubicBezTo>
                    <a:pt x="239" y="665"/>
                    <a:pt x="235" y="661"/>
                    <a:pt x="235" y="656"/>
                  </a:cubicBezTo>
                  <a:cubicBezTo>
                    <a:pt x="235" y="556"/>
                    <a:pt x="235" y="556"/>
                    <a:pt x="235" y="556"/>
                  </a:cubicBezTo>
                  <a:cubicBezTo>
                    <a:pt x="180" y="467"/>
                    <a:pt x="180" y="467"/>
                    <a:pt x="180" y="467"/>
                  </a:cubicBezTo>
                  <a:cubicBezTo>
                    <a:pt x="177" y="463"/>
                    <a:pt x="178" y="457"/>
                    <a:pt x="183" y="454"/>
                  </a:cubicBezTo>
                  <a:cubicBezTo>
                    <a:pt x="187" y="452"/>
                    <a:pt x="193" y="453"/>
                    <a:pt x="196" y="457"/>
                  </a:cubicBezTo>
                  <a:cubicBezTo>
                    <a:pt x="252" y="548"/>
                    <a:pt x="252" y="548"/>
                    <a:pt x="252" y="548"/>
                  </a:cubicBezTo>
                  <a:cubicBezTo>
                    <a:pt x="253" y="549"/>
                    <a:pt x="254" y="551"/>
                    <a:pt x="254" y="553"/>
                  </a:cubicBezTo>
                  <a:lnTo>
                    <a:pt x="254" y="656"/>
                  </a:lnTo>
                  <a:close/>
                  <a:moveTo>
                    <a:pt x="355" y="467"/>
                  </a:moveTo>
                  <a:cubicBezTo>
                    <a:pt x="300" y="556"/>
                    <a:pt x="300" y="556"/>
                    <a:pt x="300" y="556"/>
                  </a:cubicBezTo>
                  <a:cubicBezTo>
                    <a:pt x="300" y="656"/>
                    <a:pt x="300" y="656"/>
                    <a:pt x="300" y="656"/>
                  </a:cubicBezTo>
                  <a:cubicBezTo>
                    <a:pt x="300" y="661"/>
                    <a:pt x="296" y="665"/>
                    <a:pt x="291" y="665"/>
                  </a:cubicBezTo>
                  <a:cubicBezTo>
                    <a:pt x="286" y="665"/>
                    <a:pt x="281" y="661"/>
                    <a:pt x="281" y="656"/>
                  </a:cubicBezTo>
                  <a:cubicBezTo>
                    <a:pt x="281" y="553"/>
                    <a:pt x="281" y="553"/>
                    <a:pt x="281" y="553"/>
                  </a:cubicBezTo>
                  <a:cubicBezTo>
                    <a:pt x="281" y="551"/>
                    <a:pt x="282" y="549"/>
                    <a:pt x="283" y="548"/>
                  </a:cubicBezTo>
                  <a:cubicBezTo>
                    <a:pt x="340" y="457"/>
                    <a:pt x="340" y="457"/>
                    <a:pt x="340" y="457"/>
                  </a:cubicBezTo>
                  <a:cubicBezTo>
                    <a:pt x="342" y="453"/>
                    <a:pt x="348" y="452"/>
                    <a:pt x="353" y="454"/>
                  </a:cubicBezTo>
                  <a:cubicBezTo>
                    <a:pt x="357" y="457"/>
                    <a:pt x="358" y="463"/>
                    <a:pt x="355" y="467"/>
                  </a:cubicBezTo>
                  <a:close/>
                  <a:moveTo>
                    <a:pt x="348" y="426"/>
                  </a:moveTo>
                  <a:cubicBezTo>
                    <a:pt x="188" y="426"/>
                    <a:pt x="188" y="426"/>
                    <a:pt x="188" y="426"/>
                  </a:cubicBezTo>
                  <a:cubicBezTo>
                    <a:pt x="183" y="426"/>
                    <a:pt x="178" y="422"/>
                    <a:pt x="178" y="417"/>
                  </a:cubicBezTo>
                  <a:cubicBezTo>
                    <a:pt x="178" y="411"/>
                    <a:pt x="183" y="407"/>
                    <a:pt x="188" y="407"/>
                  </a:cubicBezTo>
                  <a:cubicBezTo>
                    <a:pt x="348" y="407"/>
                    <a:pt x="348" y="407"/>
                    <a:pt x="348" y="407"/>
                  </a:cubicBezTo>
                  <a:cubicBezTo>
                    <a:pt x="353" y="407"/>
                    <a:pt x="357" y="411"/>
                    <a:pt x="357" y="417"/>
                  </a:cubicBezTo>
                  <a:cubicBezTo>
                    <a:pt x="357" y="422"/>
                    <a:pt x="353" y="426"/>
                    <a:pt x="348" y="426"/>
                  </a:cubicBezTo>
                  <a:close/>
                  <a:moveTo>
                    <a:pt x="348" y="385"/>
                  </a:moveTo>
                  <a:cubicBezTo>
                    <a:pt x="188" y="385"/>
                    <a:pt x="188" y="385"/>
                    <a:pt x="188" y="385"/>
                  </a:cubicBezTo>
                  <a:cubicBezTo>
                    <a:pt x="183" y="385"/>
                    <a:pt x="178" y="381"/>
                    <a:pt x="178" y="375"/>
                  </a:cubicBezTo>
                  <a:cubicBezTo>
                    <a:pt x="178" y="370"/>
                    <a:pt x="183" y="366"/>
                    <a:pt x="188" y="366"/>
                  </a:cubicBezTo>
                  <a:cubicBezTo>
                    <a:pt x="348" y="366"/>
                    <a:pt x="348" y="366"/>
                    <a:pt x="348" y="366"/>
                  </a:cubicBezTo>
                  <a:cubicBezTo>
                    <a:pt x="353" y="366"/>
                    <a:pt x="357" y="370"/>
                    <a:pt x="357" y="375"/>
                  </a:cubicBezTo>
                  <a:cubicBezTo>
                    <a:pt x="357" y="381"/>
                    <a:pt x="353" y="385"/>
                    <a:pt x="348" y="385"/>
                  </a:cubicBezTo>
                  <a:close/>
                  <a:moveTo>
                    <a:pt x="348" y="344"/>
                  </a:moveTo>
                  <a:cubicBezTo>
                    <a:pt x="188" y="344"/>
                    <a:pt x="188" y="344"/>
                    <a:pt x="188" y="344"/>
                  </a:cubicBezTo>
                  <a:cubicBezTo>
                    <a:pt x="183" y="344"/>
                    <a:pt x="178" y="339"/>
                    <a:pt x="178" y="334"/>
                  </a:cubicBezTo>
                  <a:cubicBezTo>
                    <a:pt x="178" y="329"/>
                    <a:pt x="183" y="325"/>
                    <a:pt x="188" y="325"/>
                  </a:cubicBezTo>
                  <a:cubicBezTo>
                    <a:pt x="348" y="325"/>
                    <a:pt x="348" y="325"/>
                    <a:pt x="348" y="325"/>
                  </a:cubicBezTo>
                  <a:cubicBezTo>
                    <a:pt x="353" y="325"/>
                    <a:pt x="357" y="329"/>
                    <a:pt x="357" y="334"/>
                  </a:cubicBezTo>
                  <a:cubicBezTo>
                    <a:pt x="357" y="339"/>
                    <a:pt x="353" y="344"/>
                    <a:pt x="348" y="344"/>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6" name="Freeform 65"/>
            <p:cNvSpPr>
              <a:spLocks/>
            </p:cNvSpPr>
            <p:nvPr/>
          </p:nvSpPr>
          <p:spPr bwMode="auto">
            <a:xfrm>
              <a:off x="6061076" y="1241425"/>
              <a:ext cx="69850" cy="1023938"/>
            </a:xfrm>
            <a:custGeom>
              <a:avLst/>
              <a:gdLst>
                <a:gd name="T0" fmla="*/ 31 w 31"/>
                <a:gd name="T1" fmla="*/ 17 h 462"/>
                <a:gd name="T2" fmla="*/ 21 w 31"/>
                <a:gd name="T3" fmla="*/ 462 h 462"/>
                <a:gd name="T4" fmla="*/ 0 w 31"/>
                <a:gd name="T5" fmla="*/ 17 h 462"/>
                <a:gd name="T6" fmla="*/ 15 w 31"/>
                <a:gd name="T7" fmla="*/ 1 h 462"/>
                <a:gd name="T8" fmla="*/ 31 w 31"/>
                <a:gd name="T9" fmla="*/ 16 h 462"/>
                <a:gd name="T10" fmla="*/ 31 w 31"/>
                <a:gd name="T11" fmla="*/ 17 h 462"/>
              </a:gdLst>
              <a:ahLst/>
              <a:cxnLst>
                <a:cxn ang="0">
                  <a:pos x="T0" y="T1"/>
                </a:cxn>
                <a:cxn ang="0">
                  <a:pos x="T2" y="T3"/>
                </a:cxn>
                <a:cxn ang="0">
                  <a:pos x="T4" y="T5"/>
                </a:cxn>
                <a:cxn ang="0">
                  <a:pos x="T6" y="T7"/>
                </a:cxn>
                <a:cxn ang="0">
                  <a:pos x="T8" y="T9"/>
                </a:cxn>
                <a:cxn ang="0">
                  <a:pos x="T10" y="T11"/>
                </a:cxn>
              </a:cxnLst>
              <a:rect l="0" t="0" r="r" b="b"/>
              <a:pathLst>
                <a:path w="31" h="462">
                  <a:moveTo>
                    <a:pt x="31" y="17"/>
                  </a:moveTo>
                  <a:cubicBezTo>
                    <a:pt x="21" y="462"/>
                    <a:pt x="21" y="462"/>
                    <a:pt x="21" y="462"/>
                  </a:cubicBezTo>
                  <a:cubicBezTo>
                    <a:pt x="0" y="17"/>
                    <a:pt x="0" y="17"/>
                    <a:pt x="0" y="17"/>
                  </a:cubicBezTo>
                  <a:cubicBezTo>
                    <a:pt x="0" y="9"/>
                    <a:pt x="6" y="1"/>
                    <a:pt x="15" y="1"/>
                  </a:cubicBezTo>
                  <a:cubicBezTo>
                    <a:pt x="24" y="0"/>
                    <a:pt x="31" y="7"/>
                    <a:pt x="31" y="16"/>
                  </a:cubicBezTo>
                  <a:cubicBezTo>
                    <a:pt x="31" y="16"/>
                    <a:pt x="31" y="16"/>
                    <a:pt x="31" y="17"/>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7" name="Freeform 66"/>
            <p:cNvSpPr>
              <a:spLocks/>
            </p:cNvSpPr>
            <p:nvPr/>
          </p:nvSpPr>
          <p:spPr bwMode="auto">
            <a:xfrm>
              <a:off x="5719763" y="1301750"/>
              <a:ext cx="388938" cy="963613"/>
            </a:xfrm>
            <a:custGeom>
              <a:avLst/>
              <a:gdLst>
                <a:gd name="T0" fmla="*/ 32 w 175"/>
                <a:gd name="T1" fmla="*/ 13 h 435"/>
                <a:gd name="T2" fmla="*/ 175 w 175"/>
                <a:gd name="T3" fmla="*/ 435 h 435"/>
                <a:gd name="T4" fmla="*/ 3 w 175"/>
                <a:gd name="T5" fmla="*/ 24 h 435"/>
                <a:gd name="T6" fmla="*/ 11 w 175"/>
                <a:gd name="T7" fmla="*/ 4 h 435"/>
                <a:gd name="T8" fmla="*/ 32 w 175"/>
                <a:gd name="T9" fmla="*/ 12 h 435"/>
                <a:gd name="T10" fmla="*/ 32 w 175"/>
                <a:gd name="T11" fmla="*/ 13 h 435"/>
              </a:gdLst>
              <a:ahLst/>
              <a:cxnLst>
                <a:cxn ang="0">
                  <a:pos x="T0" y="T1"/>
                </a:cxn>
                <a:cxn ang="0">
                  <a:pos x="T2" y="T3"/>
                </a:cxn>
                <a:cxn ang="0">
                  <a:pos x="T4" y="T5"/>
                </a:cxn>
                <a:cxn ang="0">
                  <a:pos x="T6" y="T7"/>
                </a:cxn>
                <a:cxn ang="0">
                  <a:pos x="T8" y="T9"/>
                </a:cxn>
                <a:cxn ang="0">
                  <a:pos x="T10" y="T11"/>
                </a:cxn>
              </a:cxnLst>
              <a:rect l="0" t="0" r="r" b="b"/>
              <a:pathLst>
                <a:path w="175" h="435">
                  <a:moveTo>
                    <a:pt x="32" y="13"/>
                  </a:moveTo>
                  <a:cubicBezTo>
                    <a:pt x="175" y="435"/>
                    <a:pt x="175" y="435"/>
                    <a:pt x="175" y="435"/>
                  </a:cubicBezTo>
                  <a:cubicBezTo>
                    <a:pt x="3" y="24"/>
                    <a:pt x="3" y="24"/>
                    <a:pt x="3" y="24"/>
                  </a:cubicBezTo>
                  <a:cubicBezTo>
                    <a:pt x="0" y="16"/>
                    <a:pt x="3" y="7"/>
                    <a:pt x="11" y="4"/>
                  </a:cubicBezTo>
                  <a:cubicBezTo>
                    <a:pt x="19" y="0"/>
                    <a:pt x="29" y="4"/>
                    <a:pt x="32" y="12"/>
                  </a:cubicBezTo>
                  <a:cubicBezTo>
                    <a:pt x="32" y="12"/>
                    <a:pt x="32" y="13"/>
                    <a:pt x="32" y="13"/>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8" name="Freeform 67"/>
            <p:cNvSpPr>
              <a:spLocks/>
            </p:cNvSpPr>
            <p:nvPr/>
          </p:nvSpPr>
          <p:spPr bwMode="auto">
            <a:xfrm>
              <a:off x="5426076" y="1479550"/>
              <a:ext cx="682625" cy="785813"/>
            </a:xfrm>
            <a:custGeom>
              <a:avLst/>
              <a:gdLst>
                <a:gd name="T0" fmla="*/ 29 w 308"/>
                <a:gd name="T1" fmla="*/ 7 h 355"/>
                <a:gd name="T2" fmla="*/ 308 w 308"/>
                <a:gd name="T3" fmla="*/ 355 h 355"/>
                <a:gd name="T4" fmla="*/ 6 w 308"/>
                <a:gd name="T5" fmla="*/ 28 h 355"/>
                <a:gd name="T6" fmla="*/ 7 w 308"/>
                <a:gd name="T7" fmla="*/ 5 h 355"/>
                <a:gd name="T8" fmla="*/ 29 w 308"/>
                <a:gd name="T9" fmla="*/ 6 h 355"/>
                <a:gd name="T10" fmla="*/ 29 w 308"/>
                <a:gd name="T11" fmla="*/ 7 h 355"/>
              </a:gdLst>
              <a:ahLst/>
              <a:cxnLst>
                <a:cxn ang="0">
                  <a:pos x="T0" y="T1"/>
                </a:cxn>
                <a:cxn ang="0">
                  <a:pos x="T2" y="T3"/>
                </a:cxn>
                <a:cxn ang="0">
                  <a:pos x="T4" y="T5"/>
                </a:cxn>
                <a:cxn ang="0">
                  <a:pos x="T6" y="T7"/>
                </a:cxn>
                <a:cxn ang="0">
                  <a:pos x="T8" y="T9"/>
                </a:cxn>
                <a:cxn ang="0">
                  <a:pos x="T10" y="T11"/>
                </a:cxn>
              </a:cxnLst>
              <a:rect l="0" t="0" r="r" b="b"/>
              <a:pathLst>
                <a:path w="308" h="355">
                  <a:moveTo>
                    <a:pt x="29" y="7"/>
                  </a:moveTo>
                  <a:cubicBezTo>
                    <a:pt x="308" y="355"/>
                    <a:pt x="308" y="355"/>
                    <a:pt x="308" y="355"/>
                  </a:cubicBezTo>
                  <a:cubicBezTo>
                    <a:pt x="6" y="28"/>
                    <a:pt x="6" y="28"/>
                    <a:pt x="6" y="28"/>
                  </a:cubicBezTo>
                  <a:cubicBezTo>
                    <a:pt x="0" y="21"/>
                    <a:pt x="0" y="11"/>
                    <a:pt x="7" y="5"/>
                  </a:cubicBezTo>
                  <a:cubicBezTo>
                    <a:pt x="13" y="0"/>
                    <a:pt x="23" y="0"/>
                    <a:pt x="29" y="6"/>
                  </a:cubicBezTo>
                  <a:cubicBezTo>
                    <a:pt x="29" y="7"/>
                    <a:pt x="29" y="7"/>
                    <a:pt x="29" y="7"/>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9" name="Freeform 68"/>
            <p:cNvSpPr>
              <a:spLocks/>
            </p:cNvSpPr>
            <p:nvPr/>
          </p:nvSpPr>
          <p:spPr bwMode="auto">
            <a:xfrm>
              <a:off x="5207001" y="1743075"/>
              <a:ext cx="901700" cy="522288"/>
            </a:xfrm>
            <a:custGeom>
              <a:avLst/>
              <a:gdLst>
                <a:gd name="T0" fmla="*/ 26 w 407"/>
                <a:gd name="T1" fmla="*/ 4 h 236"/>
                <a:gd name="T2" fmla="*/ 407 w 407"/>
                <a:gd name="T3" fmla="*/ 236 h 236"/>
                <a:gd name="T4" fmla="*/ 11 w 407"/>
                <a:gd name="T5" fmla="*/ 32 h 236"/>
                <a:gd name="T6" fmla="*/ 4 w 407"/>
                <a:gd name="T7" fmla="*/ 11 h 236"/>
                <a:gd name="T8" fmla="*/ 25 w 407"/>
                <a:gd name="T9" fmla="*/ 4 h 236"/>
                <a:gd name="T10" fmla="*/ 26 w 407"/>
                <a:gd name="T11" fmla="*/ 4 h 236"/>
              </a:gdLst>
              <a:ahLst/>
              <a:cxnLst>
                <a:cxn ang="0">
                  <a:pos x="T0" y="T1"/>
                </a:cxn>
                <a:cxn ang="0">
                  <a:pos x="T2" y="T3"/>
                </a:cxn>
                <a:cxn ang="0">
                  <a:pos x="T4" y="T5"/>
                </a:cxn>
                <a:cxn ang="0">
                  <a:pos x="T6" y="T7"/>
                </a:cxn>
                <a:cxn ang="0">
                  <a:pos x="T8" y="T9"/>
                </a:cxn>
                <a:cxn ang="0">
                  <a:pos x="T10" y="T11"/>
                </a:cxn>
              </a:cxnLst>
              <a:rect l="0" t="0" r="r" b="b"/>
              <a:pathLst>
                <a:path w="407" h="236">
                  <a:moveTo>
                    <a:pt x="26" y="4"/>
                  </a:moveTo>
                  <a:cubicBezTo>
                    <a:pt x="407" y="236"/>
                    <a:pt x="407" y="236"/>
                    <a:pt x="407" y="236"/>
                  </a:cubicBezTo>
                  <a:cubicBezTo>
                    <a:pt x="11" y="32"/>
                    <a:pt x="11" y="32"/>
                    <a:pt x="11" y="32"/>
                  </a:cubicBezTo>
                  <a:cubicBezTo>
                    <a:pt x="3" y="28"/>
                    <a:pt x="0" y="18"/>
                    <a:pt x="4" y="11"/>
                  </a:cubicBezTo>
                  <a:cubicBezTo>
                    <a:pt x="8" y="3"/>
                    <a:pt x="17" y="0"/>
                    <a:pt x="25" y="4"/>
                  </a:cubicBezTo>
                  <a:cubicBezTo>
                    <a:pt x="25" y="4"/>
                    <a:pt x="26" y="4"/>
                    <a:pt x="26" y="4"/>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0" name="Freeform 69"/>
            <p:cNvSpPr>
              <a:spLocks/>
            </p:cNvSpPr>
            <p:nvPr/>
          </p:nvSpPr>
          <p:spPr bwMode="auto">
            <a:xfrm>
              <a:off x="5095876" y="2066925"/>
              <a:ext cx="1012825" cy="198438"/>
            </a:xfrm>
            <a:custGeom>
              <a:avLst/>
              <a:gdLst>
                <a:gd name="T0" fmla="*/ 20 w 457"/>
                <a:gd name="T1" fmla="*/ 2 h 89"/>
                <a:gd name="T2" fmla="*/ 457 w 457"/>
                <a:gd name="T3" fmla="*/ 89 h 89"/>
                <a:gd name="T4" fmla="*/ 15 w 457"/>
                <a:gd name="T5" fmla="*/ 32 h 89"/>
                <a:gd name="T6" fmla="*/ 1 w 457"/>
                <a:gd name="T7" fmla="*/ 15 h 89"/>
                <a:gd name="T8" fmla="*/ 19 w 457"/>
                <a:gd name="T9" fmla="*/ 1 h 89"/>
                <a:gd name="T10" fmla="*/ 20 w 457"/>
                <a:gd name="T11" fmla="*/ 2 h 89"/>
              </a:gdLst>
              <a:ahLst/>
              <a:cxnLst>
                <a:cxn ang="0">
                  <a:pos x="T0" y="T1"/>
                </a:cxn>
                <a:cxn ang="0">
                  <a:pos x="T2" y="T3"/>
                </a:cxn>
                <a:cxn ang="0">
                  <a:pos x="T4" y="T5"/>
                </a:cxn>
                <a:cxn ang="0">
                  <a:pos x="T6" y="T7"/>
                </a:cxn>
                <a:cxn ang="0">
                  <a:pos x="T8" y="T9"/>
                </a:cxn>
                <a:cxn ang="0">
                  <a:pos x="T10" y="T11"/>
                </a:cxn>
              </a:cxnLst>
              <a:rect l="0" t="0" r="r" b="b"/>
              <a:pathLst>
                <a:path w="457" h="89">
                  <a:moveTo>
                    <a:pt x="20" y="2"/>
                  </a:moveTo>
                  <a:cubicBezTo>
                    <a:pt x="457" y="89"/>
                    <a:pt x="457" y="89"/>
                    <a:pt x="457" y="89"/>
                  </a:cubicBezTo>
                  <a:cubicBezTo>
                    <a:pt x="15" y="32"/>
                    <a:pt x="15" y="32"/>
                    <a:pt x="15" y="32"/>
                  </a:cubicBezTo>
                  <a:cubicBezTo>
                    <a:pt x="6" y="31"/>
                    <a:pt x="0" y="23"/>
                    <a:pt x="1" y="15"/>
                  </a:cubicBezTo>
                  <a:cubicBezTo>
                    <a:pt x="2" y="6"/>
                    <a:pt x="10" y="0"/>
                    <a:pt x="19" y="1"/>
                  </a:cubicBezTo>
                  <a:cubicBezTo>
                    <a:pt x="19" y="1"/>
                    <a:pt x="19" y="1"/>
                    <a:pt x="20" y="2"/>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1" name="Freeform 70"/>
            <p:cNvSpPr>
              <a:spLocks/>
            </p:cNvSpPr>
            <p:nvPr/>
          </p:nvSpPr>
          <p:spPr bwMode="auto">
            <a:xfrm>
              <a:off x="5097463" y="2265363"/>
              <a:ext cx="1011238" cy="220663"/>
            </a:xfrm>
            <a:custGeom>
              <a:avLst/>
              <a:gdLst>
                <a:gd name="T0" fmla="*/ 15 w 456"/>
                <a:gd name="T1" fmla="*/ 67 h 100"/>
                <a:gd name="T2" fmla="*/ 456 w 456"/>
                <a:gd name="T3" fmla="*/ 0 h 100"/>
                <a:gd name="T4" fmla="*/ 21 w 456"/>
                <a:gd name="T5" fmla="*/ 98 h 100"/>
                <a:gd name="T6" fmla="*/ 2 w 456"/>
                <a:gd name="T7" fmla="*/ 86 h 100"/>
                <a:gd name="T8" fmla="*/ 14 w 456"/>
                <a:gd name="T9" fmla="*/ 67 h 100"/>
                <a:gd name="T10" fmla="*/ 15 w 456"/>
                <a:gd name="T11" fmla="*/ 67 h 100"/>
              </a:gdLst>
              <a:ahLst/>
              <a:cxnLst>
                <a:cxn ang="0">
                  <a:pos x="T0" y="T1"/>
                </a:cxn>
                <a:cxn ang="0">
                  <a:pos x="T2" y="T3"/>
                </a:cxn>
                <a:cxn ang="0">
                  <a:pos x="T4" y="T5"/>
                </a:cxn>
                <a:cxn ang="0">
                  <a:pos x="T6" y="T7"/>
                </a:cxn>
                <a:cxn ang="0">
                  <a:pos x="T8" y="T9"/>
                </a:cxn>
                <a:cxn ang="0">
                  <a:pos x="T10" y="T11"/>
                </a:cxn>
              </a:cxnLst>
              <a:rect l="0" t="0" r="r" b="b"/>
              <a:pathLst>
                <a:path w="456" h="100">
                  <a:moveTo>
                    <a:pt x="15" y="67"/>
                  </a:moveTo>
                  <a:cubicBezTo>
                    <a:pt x="456" y="0"/>
                    <a:pt x="456" y="0"/>
                    <a:pt x="456" y="0"/>
                  </a:cubicBezTo>
                  <a:cubicBezTo>
                    <a:pt x="21" y="98"/>
                    <a:pt x="21" y="98"/>
                    <a:pt x="21" y="98"/>
                  </a:cubicBezTo>
                  <a:cubicBezTo>
                    <a:pt x="12" y="100"/>
                    <a:pt x="4" y="95"/>
                    <a:pt x="2" y="86"/>
                  </a:cubicBezTo>
                  <a:cubicBezTo>
                    <a:pt x="0" y="78"/>
                    <a:pt x="5" y="69"/>
                    <a:pt x="14" y="67"/>
                  </a:cubicBezTo>
                  <a:cubicBezTo>
                    <a:pt x="14" y="67"/>
                    <a:pt x="15" y="67"/>
                    <a:pt x="15" y="67"/>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2" name="Freeform 71"/>
            <p:cNvSpPr>
              <a:spLocks/>
            </p:cNvSpPr>
            <p:nvPr/>
          </p:nvSpPr>
          <p:spPr bwMode="auto">
            <a:xfrm>
              <a:off x="5218113" y="2265363"/>
              <a:ext cx="890588" cy="544513"/>
            </a:xfrm>
            <a:custGeom>
              <a:avLst/>
              <a:gdLst>
                <a:gd name="T0" fmla="*/ 10 w 402"/>
                <a:gd name="T1" fmla="*/ 214 h 246"/>
                <a:gd name="T2" fmla="*/ 402 w 402"/>
                <a:gd name="T3" fmla="*/ 0 h 246"/>
                <a:gd name="T4" fmla="*/ 26 w 402"/>
                <a:gd name="T5" fmla="*/ 241 h 246"/>
                <a:gd name="T6" fmla="*/ 5 w 402"/>
                <a:gd name="T7" fmla="*/ 236 h 246"/>
                <a:gd name="T8" fmla="*/ 9 w 402"/>
                <a:gd name="T9" fmla="*/ 214 h 246"/>
                <a:gd name="T10" fmla="*/ 10 w 402"/>
                <a:gd name="T11" fmla="*/ 214 h 246"/>
              </a:gdLst>
              <a:ahLst/>
              <a:cxnLst>
                <a:cxn ang="0">
                  <a:pos x="T0" y="T1"/>
                </a:cxn>
                <a:cxn ang="0">
                  <a:pos x="T2" y="T3"/>
                </a:cxn>
                <a:cxn ang="0">
                  <a:pos x="T4" y="T5"/>
                </a:cxn>
                <a:cxn ang="0">
                  <a:pos x="T6" y="T7"/>
                </a:cxn>
                <a:cxn ang="0">
                  <a:pos x="T8" y="T9"/>
                </a:cxn>
                <a:cxn ang="0">
                  <a:pos x="T10" y="T11"/>
                </a:cxn>
              </a:cxnLst>
              <a:rect l="0" t="0" r="r" b="b"/>
              <a:pathLst>
                <a:path w="402" h="246">
                  <a:moveTo>
                    <a:pt x="10" y="214"/>
                  </a:moveTo>
                  <a:cubicBezTo>
                    <a:pt x="402" y="0"/>
                    <a:pt x="402" y="0"/>
                    <a:pt x="402" y="0"/>
                  </a:cubicBezTo>
                  <a:cubicBezTo>
                    <a:pt x="26" y="241"/>
                    <a:pt x="26" y="241"/>
                    <a:pt x="26" y="241"/>
                  </a:cubicBezTo>
                  <a:cubicBezTo>
                    <a:pt x="19" y="246"/>
                    <a:pt x="9" y="243"/>
                    <a:pt x="5" y="236"/>
                  </a:cubicBezTo>
                  <a:cubicBezTo>
                    <a:pt x="0" y="229"/>
                    <a:pt x="2" y="219"/>
                    <a:pt x="9" y="214"/>
                  </a:cubicBezTo>
                  <a:cubicBezTo>
                    <a:pt x="10" y="214"/>
                    <a:pt x="10" y="214"/>
                    <a:pt x="10" y="214"/>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3" name="Freeform 72"/>
            <p:cNvSpPr>
              <a:spLocks/>
            </p:cNvSpPr>
            <p:nvPr/>
          </p:nvSpPr>
          <p:spPr bwMode="auto">
            <a:xfrm>
              <a:off x="5441951" y="2265363"/>
              <a:ext cx="666750" cy="803275"/>
            </a:xfrm>
            <a:custGeom>
              <a:avLst/>
              <a:gdLst>
                <a:gd name="T0" fmla="*/ 6 w 301"/>
                <a:gd name="T1" fmla="*/ 335 h 363"/>
                <a:gd name="T2" fmla="*/ 301 w 301"/>
                <a:gd name="T3" fmla="*/ 0 h 363"/>
                <a:gd name="T4" fmla="*/ 30 w 301"/>
                <a:gd name="T5" fmla="*/ 355 h 363"/>
                <a:gd name="T6" fmla="*/ 8 w 301"/>
                <a:gd name="T7" fmla="*/ 358 h 363"/>
                <a:gd name="T8" fmla="*/ 5 w 301"/>
                <a:gd name="T9" fmla="*/ 336 h 363"/>
                <a:gd name="T10" fmla="*/ 6 w 301"/>
                <a:gd name="T11" fmla="*/ 335 h 363"/>
              </a:gdLst>
              <a:ahLst/>
              <a:cxnLst>
                <a:cxn ang="0">
                  <a:pos x="T0" y="T1"/>
                </a:cxn>
                <a:cxn ang="0">
                  <a:pos x="T2" y="T3"/>
                </a:cxn>
                <a:cxn ang="0">
                  <a:pos x="T4" y="T5"/>
                </a:cxn>
                <a:cxn ang="0">
                  <a:pos x="T6" y="T7"/>
                </a:cxn>
                <a:cxn ang="0">
                  <a:pos x="T8" y="T9"/>
                </a:cxn>
                <a:cxn ang="0">
                  <a:pos x="T10" y="T11"/>
                </a:cxn>
              </a:cxnLst>
              <a:rect l="0" t="0" r="r" b="b"/>
              <a:pathLst>
                <a:path w="301" h="363">
                  <a:moveTo>
                    <a:pt x="6" y="335"/>
                  </a:moveTo>
                  <a:cubicBezTo>
                    <a:pt x="301" y="0"/>
                    <a:pt x="301" y="0"/>
                    <a:pt x="301" y="0"/>
                  </a:cubicBezTo>
                  <a:cubicBezTo>
                    <a:pt x="30" y="355"/>
                    <a:pt x="30" y="355"/>
                    <a:pt x="30" y="355"/>
                  </a:cubicBezTo>
                  <a:cubicBezTo>
                    <a:pt x="25" y="362"/>
                    <a:pt x="15" y="363"/>
                    <a:pt x="8" y="358"/>
                  </a:cubicBezTo>
                  <a:cubicBezTo>
                    <a:pt x="1" y="352"/>
                    <a:pt x="0" y="343"/>
                    <a:pt x="5" y="336"/>
                  </a:cubicBezTo>
                  <a:cubicBezTo>
                    <a:pt x="6" y="335"/>
                    <a:pt x="6" y="335"/>
                    <a:pt x="6" y="335"/>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4" name="Freeform 73"/>
            <p:cNvSpPr>
              <a:spLocks/>
            </p:cNvSpPr>
            <p:nvPr/>
          </p:nvSpPr>
          <p:spPr bwMode="auto">
            <a:xfrm>
              <a:off x="6108701" y="2265363"/>
              <a:ext cx="679450" cy="787400"/>
            </a:xfrm>
            <a:custGeom>
              <a:avLst/>
              <a:gdLst>
                <a:gd name="T0" fmla="*/ 278 w 307"/>
                <a:gd name="T1" fmla="*/ 349 h 356"/>
                <a:gd name="T2" fmla="*/ 0 w 307"/>
                <a:gd name="T3" fmla="*/ 0 h 356"/>
                <a:gd name="T4" fmla="*/ 302 w 307"/>
                <a:gd name="T5" fmla="*/ 328 h 356"/>
                <a:gd name="T6" fmla="*/ 301 w 307"/>
                <a:gd name="T7" fmla="*/ 350 h 356"/>
                <a:gd name="T8" fmla="*/ 279 w 307"/>
                <a:gd name="T9" fmla="*/ 349 h 356"/>
                <a:gd name="T10" fmla="*/ 278 w 307"/>
                <a:gd name="T11" fmla="*/ 349 h 356"/>
              </a:gdLst>
              <a:ahLst/>
              <a:cxnLst>
                <a:cxn ang="0">
                  <a:pos x="T0" y="T1"/>
                </a:cxn>
                <a:cxn ang="0">
                  <a:pos x="T2" y="T3"/>
                </a:cxn>
                <a:cxn ang="0">
                  <a:pos x="T4" y="T5"/>
                </a:cxn>
                <a:cxn ang="0">
                  <a:pos x="T6" y="T7"/>
                </a:cxn>
                <a:cxn ang="0">
                  <a:pos x="T8" y="T9"/>
                </a:cxn>
                <a:cxn ang="0">
                  <a:pos x="T10" y="T11"/>
                </a:cxn>
              </a:cxnLst>
              <a:rect l="0" t="0" r="r" b="b"/>
              <a:pathLst>
                <a:path w="307" h="356">
                  <a:moveTo>
                    <a:pt x="278" y="349"/>
                  </a:moveTo>
                  <a:cubicBezTo>
                    <a:pt x="0" y="0"/>
                    <a:pt x="0" y="0"/>
                    <a:pt x="0" y="0"/>
                  </a:cubicBezTo>
                  <a:cubicBezTo>
                    <a:pt x="302" y="328"/>
                    <a:pt x="302" y="328"/>
                    <a:pt x="302" y="328"/>
                  </a:cubicBezTo>
                  <a:cubicBezTo>
                    <a:pt x="307" y="334"/>
                    <a:pt x="307" y="344"/>
                    <a:pt x="301" y="350"/>
                  </a:cubicBezTo>
                  <a:cubicBezTo>
                    <a:pt x="294" y="356"/>
                    <a:pt x="284" y="356"/>
                    <a:pt x="279" y="349"/>
                  </a:cubicBezTo>
                  <a:cubicBezTo>
                    <a:pt x="278" y="349"/>
                    <a:pt x="278" y="349"/>
                    <a:pt x="278" y="349"/>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5" name="Freeform 74"/>
            <p:cNvSpPr>
              <a:spLocks/>
            </p:cNvSpPr>
            <p:nvPr/>
          </p:nvSpPr>
          <p:spPr bwMode="auto">
            <a:xfrm>
              <a:off x="6108701" y="2265363"/>
              <a:ext cx="898525" cy="523875"/>
            </a:xfrm>
            <a:custGeom>
              <a:avLst/>
              <a:gdLst>
                <a:gd name="T0" fmla="*/ 380 w 406"/>
                <a:gd name="T1" fmla="*/ 232 h 237"/>
                <a:gd name="T2" fmla="*/ 0 w 406"/>
                <a:gd name="T3" fmla="*/ 0 h 237"/>
                <a:gd name="T4" fmla="*/ 395 w 406"/>
                <a:gd name="T5" fmla="*/ 205 h 237"/>
                <a:gd name="T6" fmla="*/ 402 w 406"/>
                <a:gd name="T7" fmla="*/ 226 h 237"/>
                <a:gd name="T8" fmla="*/ 381 w 406"/>
                <a:gd name="T9" fmla="*/ 233 h 237"/>
                <a:gd name="T10" fmla="*/ 380 w 406"/>
                <a:gd name="T11" fmla="*/ 232 h 237"/>
              </a:gdLst>
              <a:ahLst/>
              <a:cxnLst>
                <a:cxn ang="0">
                  <a:pos x="T0" y="T1"/>
                </a:cxn>
                <a:cxn ang="0">
                  <a:pos x="T2" y="T3"/>
                </a:cxn>
                <a:cxn ang="0">
                  <a:pos x="T4" y="T5"/>
                </a:cxn>
                <a:cxn ang="0">
                  <a:pos x="T6" y="T7"/>
                </a:cxn>
                <a:cxn ang="0">
                  <a:pos x="T8" y="T9"/>
                </a:cxn>
                <a:cxn ang="0">
                  <a:pos x="T10" y="T11"/>
                </a:cxn>
              </a:cxnLst>
              <a:rect l="0" t="0" r="r" b="b"/>
              <a:pathLst>
                <a:path w="406" h="237">
                  <a:moveTo>
                    <a:pt x="380" y="232"/>
                  </a:moveTo>
                  <a:cubicBezTo>
                    <a:pt x="0" y="0"/>
                    <a:pt x="0" y="0"/>
                    <a:pt x="0" y="0"/>
                  </a:cubicBezTo>
                  <a:cubicBezTo>
                    <a:pt x="395" y="205"/>
                    <a:pt x="395" y="205"/>
                    <a:pt x="395" y="205"/>
                  </a:cubicBezTo>
                  <a:cubicBezTo>
                    <a:pt x="403" y="209"/>
                    <a:pt x="406" y="218"/>
                    <a:pt x="402" y="226"/>
                  </a:cubicBezTo>
                  <a:cubicBezTo>
                    <a:pt x="398" y="234"/>
                    <a:pt x="389" y="237"/>
                    <a:pt x="381" y="233"/>
                  </a:cubicBezTo>
                  <a:cubicBezTo>
                    <a:pt x="381" y="233"/>
                    <a:pt x="380" y="233"/>
                    <a:pt x="380" y="232"/>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6" name="Freeform 75"/>
            <p:cNvSpPr>
              <a:spLocks/>
            </p:cNvSpPr>
            <p:nvPr/>
          </p:nvSpPr>
          <p:spPr bwMode="auto">
            <a:xfrm>
              <a:off x="6108701" y="2265363"/>
              <a:ext cx="1009650" cy="198438"/>
            </a:xfrm>
            <a:custGeom>
              <a:avLst/>
              <a:gdLst>
                <a:gd name="T0" fmla="*/ 437 w 456"/>
                <a:gd name="T1" fmla="*/ 88 h 90"/>
                <a:gd name="T2" fmla="*/ 0 w 456"/>
                <a:gd name="T3" fmla="*/ 0 h 90"/>
                <a:gd name="T4" fmla="*/ 442 w 456"/>
                <a:gd name="T5" fmla="*/ 57 h 90"/>
                <a:gd name="T6" fmla="*/ 455 w 456"/>
                <a:gd name="T7" fmla="*/ 75 h 90"/>
                <a:gd name="T8" fmla="*/ 438 w 456"/>
                <a:gd name="T9" fmla="*/ 88 h 90"/>
                <a:gd name="T10" fmla="*/ 437 w 456"/>
                <a:gd name="T11" fmla="*/ 88 h 90"/>
              </a:gdLst>
              <a:ahLst/>
              <a:cxnLst>
                <a:cxn ang="0">
                  <a:pos x="T0" y="T1"/>
                </a:cxn>
                <a:cxn ang="0">
                  <a:pos x="T2" y="T3"/>
                </a:cxn>
                <a:cxn ang="0">
                  <a:pos x="T4" y="T5"/>
                </a:cxn>
                <a:cxn ang="0">
                  <a:pos x="T6" y="T7"/>
                </a:cxn>
                <a:cxn ang="0">
                  <a:pos x="T8" y="T9"/>
                </a:cxn>
                <a:cxn ang="0">
                  <a:pos x="T10" y="T11"/>
                </a:cxn>
              </a:cxnLst>
              <a:rect l="0" t="0" r="r" b="b"/>
              <a:pathLst>
                <a:path w="456" h="90">
                  <a:moveTo>
                    <a:pt x="437" y="88"/>
                  </a:moveTo>
                  <a:cubicBezTo>
                    <a:pt x="0" y="0"/>
                    <a:pt x="0" y="0"/>
                    <a:pt x="0" y="0"/>
                  </a:cubicBezTo>
                  <a:cubicBezTo>
                    <a:pt x="442" y="57"/>
                    <a:pt x="442" y="57"/>
                    <a:pt x="442" y="57"/>
                  </a:cubicBezTo>
                  <a:cubicBezTo>
                    <a:pt x="450" y="58"/>
                    <a:pt x="456" y="66"/>
                    <a:pt x="455" y="75"/>
                  </a:cubicBezTo>
                  <a:cubicBezTo>
                    <a:pt x="454" y="83"/>
                    <a:pt x="446" y="90"/>
                    <a:pt x="438" y="88"/>
                  </a:cubicBezTo>
                  <a:cubicBezTo>
                    <a:pt x="437" y="88"/>
                    <a:pt x="437" y="88"/>
                    <a:pt x="437" y="88"/>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7" name="Freeform 76"/>
            <p:cNvSpPr>
              <a:spLocks/>
            </p:cNvSpPr>
            <p:nvPr/>
          </p:nvSpPr>
          <p:spPr bwMode="auto">
            <a:xfrm>
              <a:off x="6108701" y="2046288"/>
              <a:ext cx="1008063" cy="219075"/>
            </a:xfrm>
            <a:custGeom>
              <a:avLst/>
              <a:gdLst>
                <a:gd name="T0" fmla="*/ 440 w 455"/>
                <a:gd name="T1" fmla="*/ 33 h 99"/>
                <a:gd name="T2" fmla="*/ 0 w 455"/>
                <a:gd name="T3" fmla="*/ 99 h 99"/>
                <a:gd name="T4" fmla="*/ 434 w 455"/>
                <a:gd name="T5" fmla="*/ 2 h 99"/>
                <a:gd name="T6" fmla="*/ 453 w 455"/>
                <a:gd name="T7" fmla="*/ 14 h 99"/>
                <a:gd name="T8" fmla="*/ 441 w 455"/>
                <a:gd name="T9" fmla="*/ 32 h 99"/>
                <a:gd name="T10" fmla="*/ 440 w 455"/>
                <a:gd name="T11" fmla="*/ 33 h 99"/>
              </a:gdLst>
              <a:ahLst/>
              <a:cxnLst>
                <a:cxn ang="0">
                  <a:pos x="T0" y="T1"/>
                </a:cxn>
                <a:cxn ang="0">
                  <a:pos x="T2" y="T3"/>
                </a:cxn>
                <a:cxn ang="0">
                  <a:pos x="T4" y="T5"/>
                </a:cxn>
                <a:cxn ang="0">
                  <a:pos x="T6" y="T7"/>
                </a:cxn>
                <a:cxn ang="0">
                  <a:pos x="T8" y="T9"/>
                </a:cxn>
                <a:cxn ang="0">
                  <a:pos x="T10" y="T11"/>
                </a:cxn>
              </a:cxnLst>
              <a:rect l="0" t="0" r="r" b="b"/>
              <a:pathLst>
                <a:path w="455" h="99">
                  <a:moveTo>
                    <a:pt x="440" y="33"/>
                  </a:moveTo>
                  <a:cubicBezTo>
                    <a:pt x="0" y="99"/>
                    <a:pt x="0" y="99"/>
                    <a:pt x="0" y="99"/>
                  </a:cubicBezTo>
                  <a:cubicBezTo>
                    <a:pt x="434" y="2"/>
                    <a:pt x="434" y="2"/>
                    <a:pt x="434" y="2"/>
                  </a:cubicBezTo>
                  <a:cubicBezTo>
                    <a:pt x="443" y="0"/>
                    <a:pt x="451" y="5"/>
                    <a:pt x="453" y="14"/>
                  </a:cubicBezTo>
                  <a:cubicBezTo>
                    <a:pt x="455" y="22"/>
                    <a:pt x="450" y="30"/>
                    <a:pt x="441" y="32"/>
                  </a:cubicBezTo>
                  <a:cubicBezTo>
                    <a:pt x="441" y="32"/>
                    <a:pt x="441" y="32"/>
                    <a:pt x="440" y="33"/>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8" name="Freeform 77"/>
            <p:cNvSpPr>
              <a:spLocks/>
            </p:cNvSpPr>
            <p:nvPr/>
          </p:nvSpPr>
          <p:spPr bwMode="auto">
            <a:xfrm>
              <a:off x="6108701" y="1722438"/>
              <a:ext cx="887413" cy="542925"/>
            </a:xfrm>
            <a:custGeom>
              <a:avLst/>
              <a:gdLst>
                <a:gd name="T0" fmla="*/ 391 w 401"/>
                <a:gd name="T1" fmla="*/ 32 h 245"/>
                <a:gd name="T2" fmla="*/ 0 w 401"/>
                <a:gd name="T3" fmla="*/ 245 h 245"/>
                <a:gd name="T4" fmla="*/ 375 w 401"/>
                <a:gd name="T5" fmla="*/ 5 h 245"/>
                <a:gd name="T6" fmla="*/ 396 w 401"/>
                <a:gd name="T7" fmla="*/ 10 h 245"/>
                <a:gd name="T8" fmla="*/ 392 w 401"/>
                <a:gd name="T9" fmla="*/ 31 h 245"/>
                <a:gd name="T10" fmla="*/ 391 w 401"/>
                <a:gd name="T11" fmla="*/ 32 h 245"/>
              </a:gdLst>
              <a:ahLst/>
              <a:cxnLst>
                <a:cxn ang="0">
                  <a:pos x="T0" y="T1"/>
                </a:cxn>
                <a:cxn ang="0">
                  <a:pos x="T2" y="T3"/>
                </a:cxn>
                <a:cxn ang="0">
                  <a:pos x="T4" y="T5"/>
                </a:cxn>
                <a:cxn ang="0">
                  <a:pos x="T6" y="T7"/>
                </a:cxn>
                <a:cxn ang="0">
                  <a:pos x="T8" y="T9"/>
                </a:cxn>
                <a:cxn ang="0">
                  <a:pos x="T10" y="T11"/>
                </a:cxn>
              </a:cxnLst>
              <a:rect l="0" t="0" r="r" b="b"/>
              <a:pathLst>
                <a:path w="401" h="245">
                  <a:moveTo>
                    <a:pt x="391" y="32"/>
                  </a:moveTo>
                  <a:cubicBezTo>
                    <a:pt x="0" y="245"/>
                    <a:pt x="0" y="245"/>
                    <a:pt x="0" y="245"/>
                  </a:cubicBezTo>
                  <a:cubicBezTo>
                    <a:pt x="375" y="5"/>
                    <a:pt x="375" y="5"/>
                    <a:pt x="375" y="5"/>
                  </a:cubicBezTo>
                  <a:cubicBezTo>
                    <a:pt x="382" y="0"/>
                    <a:pt x="392" y="2"/>
                    <a:pt x="396" y="10"/>
                  </a:cubicBezTo>
                  <a:cubicBezTo>
                    <a:pt x="401" y="17"/>
                    <a:pt x="399" y="27"/>
                    <a:pt x="392" y="31"/>
                  </a:cubicBezTo>
                  <a:cubicBezTo>
                    <a:pt x="391" y="31"/>
                    <a:pt x="391" y="32"/>
                    <a:pt x="391" y="32"/>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9" name="Freeform 78"/>
            <p:cNvSpPr>
              <a:spLocks/>
            </p:cNvSpPr>
            <p:nvPr/>
          </p:nvSpPr>
          <p:spPr bwMode="auto">
            <a:xfrm>
              <a:off x="6108701" y="1463675"/>
              <a:ext cx="663575" cy="801688"/>
            </a:xfrm>
            <a:custGeom>
              <a:avLst/>
              <a:gdLst>
                <a:gd name="T0" fmla="*/ 294 w 300"/>
                <a:gd name="T1" fmla="*/ 28 h 362"/>
                <a:gd name="T2" fmla="*/ 0 w 300"/>
                <a:gd name="T3" fmla="*/ 362 h 362"/>
                <a:gd name="T4" fmla="*/ 270 w 300"/>
                <a:gd name="T5" fmla="*/ 8 h 362"/>
                <a:gd name="T6" fmla="*/ 292 w 300"/>
                <a:gd name="T7" fmla="*/ 5 h 362"/>
                <a:gd name="T8" fmla="*/ 295 w 300"/>
                <a:gd name="T9" fmla="*/ 27 h 362"/>
                <a:gd name="T10" fmla="*/ 294 w 300"/>
                <a:gd name="T11" fmla="*/ 28 h 362"/>
              </a:gdLst>
              <a:ahLst/>
              <a:cxnLst>
                <a:cxn ang="0">
                  <a:pos x="T0" y="T1"/>
                </a:cxn>
                <a:cxn ang="0">
                  <a:pos x="T2" y="T3"/>
                </a:cxn>
                <a:cxn ang="0">
                  <a:pos x="T4" y="T5"/>
                </a:cxn>
                <a:cxn ang="0">
                  <a:pos x="T6" y="T7"/>
                </a:cxn>
                <a:cxn ang="0">
                  <a:pos x="T8" y="T9"/>
                </a:cxn>
                <a:cxn ang="0">
                  <a:pos x="T10" y="T11"/>
                </a:cxn>
              </a:cxnLst>
              <a:rect l="0" t="0" r="r" b="b"/>
              <a:pathLst>
                <a:path w="300" h="362">
                  <a:moveTo>
                    <a:pt x="294" y="28"/>
                  </a:moveTo>
                  <a:cubicBezTo>
                    <a:pt x="0" y="362"/>
                    <a:pt x="0" y="362"/>
                    <a:pt x="0" y="362"/>
                  </a:cubicBezTo>
                  <a:cubicBezTo>
                    <a:pt x="270" y="8"/>
                    <a:pt x="270" y="8"/>
                    <a:pt x="270" y="8"/>
                  </a:cubicBezTo>
                  <a:cubicBezTo>
                    <a:pt x="275" y="1"/>
                    <a:pt x="285" y="0"/>
                    <a:pt x="292" y="5"/>
                  </a:cubicBezTo>
                  <a:cubicBezTo>
                    <a:pt x="299" y="10"/>
                    <a:pt x="300" y="20"/>
                    <a:pt x="295" y="27"/>
                  </a:cubicBezTo>
                  <a:cubicBezTo>
                    <a:pt x="295" y="27"/>
                    <a:pt x="294" y="28"/>
                    <a:pt x="294" y="28"/>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200" name="Freeform 79"/>
            <p:cNvSpPr>
              <a:spLocks/>
            </p:cNvSpPr>
            <p:nvPr/>
          </p:nvSpPr>
          <p:spPr bwMode="auto">
            <a:xfrm>
              <a:off x="6108701" y="1295400"/>
              <a:ext cx="365125" cy="969963"/>
            </a:xfrm>
            <a:custGeom>
              <a:avLst/>
              <a:gdLst>
                <a:gd name="T0" fmla="*/ 162 w 165"/>
                <a:gd name="T1" fmla="*/ 23 h 438"/>
                <a:gd name="T2" fmla="*/ 0 w 165"/>
                <a:gd name="T3" fmla="*/ 438 h 438"/>
                <a:gd name="T4" fmla="*/ 132 w 165"/>
                <a:gd name="T5" fmla="*/ 13 h 438"/>
                <a:gd name="T6" fmla="*/ 152 w 165"/>
                <a:gd name="T7" fmla="*/ 3 h 438"/>
                <a:gd name="T8" fmla="*/ 162 w 165"/>
                <a:gd name="T9" fmla="*/ 22 h 438"/>
                <a:gd name="T10" fmla="*/ 162 w 165"/>
                <a:gd name="T11" fmla="*/ 23 h 438"/>
              </a:gdLst>
              <a:ahLst/>
              <a:cxnLst>
                <a:cxn ang="0">
                  <a:pos x="T0" y="T1"/>
                </a:cxn>
                <a:cxn ang="0">
                  <a:pos x="T2" y="T3"/>
                </a:cxn>
                <a:cxn ang="0">
                  <a:pos x="T4" y="T5"/>
                </a:cxn>
                <a:cxn ang="0">
                  <a:pos x="T6" y="T7"/>
                </a:cxn>
                <a:cxn ang="0">
                  <a:pos x="T8" y="T9"/>
                </a:cxn>
                <a:cxn ang="0">
                  <a:pos x="T10" y="T11"/>
                </a:cxn>
              </a:cxnLst>
              <a:rect l="0" t="0" r="r" b="b"/>
              <a:pathLst>
                <a:path w="165" h="438">
                  <a:moveTo>
                    <a:pt x="162" y="23"/>
                  </a:moveTo>
                  <a:cubicBezTo>
                    <a:pt x="0" y="438"/>
                    <a:pt x="0" y="438"/>
                    <a:pt x="0" y="438"/>
                  </a:cubicBezTo>
                  <a:cubicBezTo>
                    <a:pt x="132" y="13"/>
                    <a:pt x="132" y="13"/>
                    <a:pt x="132" y="13"/>
                  </a:cubicBezTo>
                  <a:cubicBezTo>
                    <a:pt x="135" y="5"/>
                    <a:pt x="144" y="0"/>
                    <a:pt x="152" y="3"/>
                  </a:cubicBezTo>
                  <a:cubicBezTo>
                    <a:pt x="160" y="5"/>
                    <a:pt x="165" y="14"/>
                    <a:pt x="162" y="22"/>
                  </a:cubicBezTo>
                  <a:cubicBezTo>
                    <a:pt x="162" y="23"/>
                    <a:pt x="162" y="23"/>
                    <a:pt x="162" y="23"/>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grpSp>
      <p:sp>
        <p:nvSpPr>
          <p:cNvPr id="202" name="Rectangle 81"/>
          <p:cNvSpPr/>
          <p:nvPr/>
        </p:nvSpPr>
        <p:spPr>
          <a:xfrm>
            <a:off x="149332" y="2583034"/>
            <a:ext cx="2808072" cy="415498"/>
          </a:xfrm>
          <a:prstGeom prst="rect">
            <a:avLst/>
          </a:prstGeom>
        </p:spPr>
        <p:txBody>
          <a:bodyPr wrap="square">
            <a:spAutoFit/>
          </a:bodyPr>
          <a:lstStyle/>
          <a:p>
            <a:pPr algn="r"/>
            <a:r>
              <a:rPr lang="es-ES" sz="1050" dirty="0">
                <a:solidFill>
                  <a:prstClr val="black"/>
                </a:solidFill>
                <a:latin typeface="Avenir 65" panose="02000600000000000000" pitchFamily="2" charset="0"/>
                <a:cs typeface="Arial" panose="020B0604020202020204" pitchFamily="34" charset="0"/>
              </a:rPr>
              <a:t>Se genera doble y/o triple contacto, sin una acción especifica de cierre</a:t>
            </a:r>
          </a:p>
        </p:txBody>
      </p:sp>
      <p:sp>
        <p:nvSpPr>
          <p:cNvPr id="204" name="Rectangle 83"/>
          <p:cNvSpPr/>
          <p:nvPr/>
        </p:nvSpPr>
        <p:spPr>
          <a:xfrm>
            <a:off x="578428" y="1711466"/>
            <a:ext cx="2733826" cy="415498"/>
          </a:xfrm>
          <a:prstGeom prst="rect">
            <a:avLst/>
          </a:prstGeom>
        </p:spPr>
        <p:txBody>
          <a:bodyPr wrap="square">
            <a:spAutoFit/>
          </a:bodyPr>
          <a:lstStyle/>
          <a:p>
            <a:r>
              <a:rPr lang="es-ES" sz="1050" dirty="0">
                <a:solidFill>
                  <a:prstClr val="black"/>
                </a:solidFill>
                <a:latin typeface="Avenir 65" panose="02000600000000000000" pitchFamily="2" charset="0"/>
                <a:cs typeface="Arial" panose="020B0604020202020204" pitchFamily="34" charset="0"/>
              </a:rPr>
              <a:t>Segmentación limitada a edad del Cliente y km del vehículo</a:t>
            </a:r>
          </a:p>
        </p:txBody>
      </p:sp>
      <p:sp>
        <p:nvSpPr>
          <p:cNvPr id="206" name="Rectangle 81"/>
          <p:cNvSpPr/>
          <p:nvPr/>
        </p:nvSpPr>
        <p:spPr>
          <a:xfrm>
            <a:off x="-303584" y="4950111"/>
            <a:ext cx="2160000" cy="253916"/>
          </a:xfrm>
          <a:prstGeom prst="rect">
            <a:avLst/>
          </a:prstGeom>
        </p:spPr>
        <p:txBody>
          <a:bodyPr wrap="square">
            <a:spAutoFit/>
          </a:bodyPr>
          <a:lstStyle/>
          <a:p>
            <a:pPr algn="r"/>
            <a:r>
              <a:rPr lang="es-ES" sz="1050" dirty="0">
                <a:solidFill>
                  <a:prstClr val="black"/>
                </a:solidFill>
                <a:latin typeface="Avenir 65" panose="02000600000000000000" pitchFamily="2" charset="0"/>
                <a:cs typeface="Arial" panose="020B0604020202020204" pitchFamily="34" charset="0"/>
              </a:rPr>
              <a:t>Click to Call</a:t>
            </a:r>
          </a:p>
        </p:txBody>
      </p:sp>
      <p:sp>
        <p:nvSpPr>
          <p:cNvPr id="207" name="Rectangle 83"/>
          <p:cNvSpPr/>
          <p:nvPr/>
        </p:nvSpPr>
        <p:spPr>
          <a:xfrm>
            <a:off x="6578664" y="1634316"/>
            <a:ext cx="3223302" cy="577081"/>
          </a:xfrm>
          <a:prstGeom prst="rect">
            <a:avLst/>
          </a:prstGeom>
        </p:spPr>
        <p:txBody>
          <a:bodyPr wrap="square">
            <a:spAutoFit/>
          </a:bodyPr>
          <a:lstStyle/>
          <a:p>
            <a:r>
              <a:rPr lang="es-ES" sz="1050" dirty="0">
                <a:solidFill>
                  <a:prstClr val="black"/>
                </a:solidFill>
                <a:latin typeface="Avenir 65" panose="02000600000000000000" pitchFamily="2" charset="0"/>
                <a:cs typeface="Arial" panose="020B0604020202020204" pitchFamily="34" charset="0"/>
              </a:rPr>
              <a:t>No se establece un Mapa de Contacto, sólo se contacta a 180 días del fin de contrato o del aniversario del vehículo</a:t>
            </a:r>
          </a:p>
        </p:txBody>
      </p:sp>
      <p:sp>
        <p:nvSpPr>
          <p:cNvPr id="208" name="Rectangle 81"/>
          <p:cNvSpPr/>
          <p:nvPr/>
        </p:nvSpPr>
        <p:spPr>
          <a:xfrm>
            <a:off x="6379716" y="2654629"/>
            <a:ext cx="2691950" cy="415498"/>
          </a:xfrm>
          <a:prstGeom prst="rect">
            <a:avLst/>
          </a:prstGeom>
        </p:spPr>
        <p:txBody>
          <a:bodyPr wrap="square">
            <a:spAutoFit/>
          </a:bodyPr>
          <a:lstStyle/>
          <a:p>
            <a:r>
              <a:rPr lang="es-ES" sz="1050" dirty="0">
                <a:solidFill>
                  <a:prstClr val="black"/>
                </a:solidFill>
                <a:latin typeface="Avenir 65" panose="02000600000000000000" pitchFamily="2" charset="0"/>
                <a:cs typeface="Arial" panose="020B0604020202020204" pitchFamily="34" charset="0"/>
              </a:rPr>
              <a:t>Adecuar el formato de la comunicación a los usuarios de Smartphones</a:t>
            </a:r>
          </a:p>
        </p:txBody>
      </p:sp>
      <p:sp>
        <p:nvSpPr>
          <p:cNvPr id="211" name="Rectangle 80"/>
          <p:cNvSpPr/>
          <p:nvPr/>
        </p:nvSpPr>
        <p:spPr>
          <a:xfrm>
            <a:off x="488744" y="5983398"/>
            <a:ext cx="2304016" cy="415498"/>
          </a:xfrm>
          <a:prstGeom prst="rect">
            <a:avLst/>
          </a:prstGeom>
        </p:spPr>
        <p:txBody>
          <a:bodyPr wrap="square">
            <a:spAutoFit/>
          </a:bodyPr>
          <a:lstStyle/>
          <a:p>
            <a:pPr algn="r"/>
            <a:r>
              <a:rPr lang="es-ES" sz="1050" dirty="0">
                <a:solidFill>
                  <a:prstClr val="black"/>
                </a:solidFill>
                <a:latin typeface="Avenir 65" panose="02000600000000000000" pitchFamily="2" charset="0"/>
                <a:cs typeface="Arial" panose="020B0604020202020204" pitchFamily="34" charset="0"/>
              </a:rPr>
              <a:t>Análisis de Canales para </a:t>
            </a:r>
          </a:p>
          <a:p>
            <a:pPr algn="r"/>
            <a:r>
              <a:rPr lang="es-ES" sz="1050" dirty="0">
                <a:solidFill>
                  <a:prstClr val="black"/>
                </a:solidFill>
                <a:latin typeface="Avenir 65" panose="02000600000000000000" pitchFamily="2" charset="0"/>
                <a:cs typeface="Arial" panose="020B0604020202020204" pitchFamily="34" charset="0"/>
              </a:rPr>
              <a:t>Alcanzar publico objetivo</a:t>
            </a:r>
          </a:p>
        </p:txBody>
      </p:sp>
      <p:sp>
        <p:nvSpPr>
          <p:cNvPr id="212" name="Rectangle 81"/>
          <p:cNvSpPr/>
          <p:nvPr/>
        </p:nvSpPr>
        <p:spPr>
          <a:xfrm>
            <a:off x="7157773" y="4685074"/>
            <a:ext cx="2160000" cy="415498"/>
          </a:xfrm>
          <a:prstGeom prst="rect">
            <a:avLst/>
          </a:prstGeom>
        </p:spPr>
        <p:txBody>
          <a:bodyPr wrap="square">
            <a:spAutoFit/>
          </a:bodyPr>
          <a:lstStyle/>
          <a:p>
            <a:r>
              <a:rPr lang="es-ES" sz="1050" dirty="0">
                <a:solidFill>
                  <a:prstClr val="black"/>
                </a:solidFill>
                <a:latin typeface="Avenir 65" panose="02000600000000000000" pitchFamily="2" charset="0"/>
                <a:cs typeface="Arial" panose="020B0604020202020204" pitchFamily="34" charset="0"/>
              </a:rPr>
              <a:t>¿Qué segmentos se han mostrado impactados?</a:t>
            </a:r>
          </a:p>
        </p:txBody>
      </p:sp>
      <p:sp>
        <p:nvSpPr>
          <p:cNvPr id="214" name="Rectangle 80"/>
          <p:cNvSpPr/>
          <p:nvPr/>
        </p:nvSpPr>
        <p:spPr>
          <a:xfrm>
            <a:off x="6969224" y="5919095"/>
            <a:ext cx="2160000" cy="253916"/>
          </a:xfrm>
          <a:prstGeom prst="rect">
            <a:avLst/>
          </a:prstGeom>
        </p:spPr>
        <p:txBody>
          <a:bodyPr wrap="square">
            <a:spAutoFit/>
          </a:bodyPr>
          <a:lstStyle/>
          <a:p>
            <a:pPr algn="r"/>
            <a:r>
              <a:rPr lang="es-ES" sz="1050" dirty="0">
                <a:solidFill>
                  <a:prstClr val="black"/>
                </a:solidFill>
                <a:latin typeface="Avenir 65" panose="02000600000000000000" pitchFamily="2" charset="0"/>
                <a:cs typeface="Arial" panose="020B0604020202020204" pitchFamily="34" charset="0"/>
              </a:rPr>
              <a:t>Gestión de Cross-Selling</a:t>
            </a:r>
          </a:p>
        </p:txBody>
      </p:sp>
      <p:sp>
        <p:nvSpPr>
          <p:cNvPr id="93" name="Rectangle 82"/>
          <p:cNvSpPr/>
          <p:nvPr/>
        </p:nvSpPr>
        <p:spPr>
          <a:xfrm>
            <a:off x="7113240" y="3935572"/>
            <a:ext cx="2160000" cy="253916"/>
          </a:xfrm>
          <a:prstGeom prst="rect">
            <a:avLst/>
          </a:prstGeom>
        </p:spPr>
        <p:txBody>
          <a:bodyPr wrap="square">
            <a:spAutoFit/>
          </a:bodyPr>
          <a:lstStyle/>
          <a:p>
            <a:r>
              <a:rPr lang="es-ES" sz="1050" dirty="0">
                <a:solidFill>
                  <a:prstClr val="black"/>
                </a:solidFill>
                <a:latin typeface="Avenir 65" panose="02000600000000000000" pitchFamily="2" charset="0"/>
                <a:cs typeface="Arial" panose="020B0604020202020204" pitchFamily="34" charset="0"/>
              </a:rPr>
              <a:t>Optimizar Call to Action</a:t>
            </a:r>
          </a:p>
        </p:txBody>
      </p:sp>
      <p:sp>
        <p:nvSpPr>
          <p:cNvPr id="95" name="Rectangle 82"/>
          <p:cNvSpPr/>
          <p:nvPr/>
        </p:nvSpPr>
        <p:spPr>
          <a:xfrm>
            <a:off x="-159568" y="3861050"/>
            <a:ext cx="2160000" cy="253916"/>
          </a:xfrm>
          <a:prstGeom prst="rect">
            <a:avLst/>
          </a:prstGeom>
        </p:spPr>
        <p:txBody>
          <a:bodyPr wrap="square">
            <a:spAutoFit/>
          </a:bodyPr>
          <a:lstStyle/>
          <a:p>
            <a:pPr algn="r"/>
            <a:r>
              <a:rPr lang="es-ES" sz="1050" dirty="0">
                <a:solidFill>
                  <a:prstClr val="black"/>
                </a:solidFill>
                <a:latin typeface="Avenir 65" panose="02000600000000000000" pitchFamily="2" charset="0"/>
                <a:cs typeface="Arial" panose="020B0604020202020204" pitchFamily="34" charset="0"/>
              </a:rPr>
              <a:t>Optimizar Landing Page</a:t>
            </a:r>
          </a:p>
        </p:txBody>
      </p:sp>
      <p:sp>
        <p:nvSpPr>
          <p:cNvPr id="96"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29</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42496291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56 Rectángulo"/>
          <p:cNvSpPr/>
          <p:nvPr/>
        </p:nvSpPr>
        <p:spPr>
          <a:xfrm>
            <a:off x="517042" y="2924944"/>
            <a:ext cx="1583839" cy="432049"/>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prstClr val="black"/>
                </a:solidFill>
                <a:latin typeface="Avenir 35" panose="00000400000000000000" pitchFamily="2" charset="0"/>
              </a:rPr>
              <a:t>Modelos de vehículo: A, B, C, E y ML </a:t>
            </a:r>
          </a:p>
        </p:txBody>
      </p:sp>
      <p:sp>
        <p:nvSpPr>
          <p:cNvPr id="58" name="57 Rectángulo"/>
          <p:cNvSpPr/>
          <p:nvPr/>
        </p:nvSpPr>
        <p:spPr>
          <a:xfrm>
            <a:off x="517041" y="1916832"/>
            <a:ext cx="3258470" cy="144620"/>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prstClr val="black"/>
                </a:solidFill>
                <a:latin typeface="Avenir 35" panose="00000400000000000000" pitchFamily="2" charset="0"/>
              </a:rPr>
              <a:t>Última financiación/compra: 8 años – 180 días </a:t>
            </a:r>
          </a:p>
        </p:txBody>
      </p:sp>
      <p:sp>
        <p:nvSpPr>
          <p:cNvPr id="59" name="58 Rectángulo"/>
          <p:cNvSpPr/>
          <p:nvPr/>
        </p:nvSpPr>
        <p:spPr>
          <a:xfrm>
            <a:off x="2181136" y="2565208"/>
            <a:ext cx="1594374" cy="143712"/>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prstClr val="black"/>
                </a:solidFill>
                <a:latin typeface="Avenir 35" panose="00000400000000000000" pitchFamily="2" charset="0"/>
              </a:rPr>
              <a:t>Particular</a:t>
            </a:r>
          </a:p>
        </p:txBody>
      </p:sp>
      <p:sp>
        <p:nvSpPr>
          <p:cNvPr id="60" name="59 Rectángulo"/>
          <p:cNvSpPr/>
          <p:nvPr/>
        </p:nvSpPr>
        <p:spPr>
          <a:xfrm>
            <a:off x="517041" y="1700808"/>
            <a:ext cx="3258470" cy="144620"/>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prstClr val="black"/>
                </a:solidFill>
                <a:latin typeface="Avenir 35" panose="00000400000000000000" pitchFamily="2" charset="0"/>
              </a:rPr>
              <a:t>Edad: menos de 70 años</a:t>
            </a:r>
          </a:p>
        </p:txBody>
      </p:sp>
      <p:sp>
        <p:nvSpPr>
          <p:cNvPr id="93" name="92 Rectángulo"/>
          <p:cNvSpPr/>
          <p:nvPr/>
        </p:nvSpPr>
        <p:spPr>
          <a:xfrm rot="5400000">
            <a:off x="3492969" y="2369084"/>
            <a:ext cx="1729133" cy="390698"/>
          </a:xfrm>
          <a:prstGeom prst="rect">
            <a:avLst/>
          </a:prstGeom>
          <a:solidFill>
            <a:srgbClr val="3CB2C3"/>
          </a:solidFill>
          <a:ln w="25400" cap="flat" cmpd="sng" algn="ctr">
            <a:noFill/>
            <a:prstDash val="solid"/>
          </a:ln>
          <a:effectLst/>
        </p:spPr>
        <p:txBody>
          <a:bodyPr rtlCol="0" anchor="ctr"/>
          <a:lstStyle/>
          <a:p>
            <a:pPr algn="ctr"/>
            <a:r>
              <a:rPr lang="es-ES" sz="1200" kern="0" cap="all" dirty="0">
                <a:solidFill>
                  <a:prstClr val="white"/>
                </a:solidFill>
                <a:latin typeface="Avenir 35" panose="00000400000000000000" pitchFamily="2" charset="0"/>
              </a:rPr>
              <a:t>VARIABLES </a:t>
            </a:r>
          </a:p>
        </p:txBody>
      </p:sp>
      <p:sp>
        <p:nvSpPr>
          <p:cNvPr id="94" name="93 Rectángulo"/>
          <p:cNvSpPr/>
          <p:nvPr/>
        </p:nvSpPr>
        <p:spPr>
          <a:xfrm>
            <a:off x="340414" y="4365105"/>
            <a:ext cx="3690184" cy="201361"/>
          </a:xfrm>
          <a:prstGeom prst="rect">
            <a:avLst/>
          </a:prstGeom>
          <a:solidFill>
            <a:srgbClr val="3CB2C3"/>
          </a:solidFill>
          <a:ln w="25400" cap="flat" cmpd="sng" algn="ctr">
            <a:noFill/>
            <a:prstDash val="solid"/>
          </a:ln>
          <a:effectLst/>
        </p:spPr>
        <p:txBody>
          <a:bodyPr rtlCol="0" anchor="ctr"/>
          <a:lstStyle/>
          <a:p>
            <a:pPr algn="ctr"/>
            <a:r>
              <a:rPr lang="es-ES" sz="900" kern="0" cap="all" dirty="0">
                <a:solidFill>
                  <a:prstClr val="white"/>
                </a:solidFill>
                <a:latin typeface="Avenir 35" panose="00000400000000000000" pitchFamily="2" charset="0"/>
              </a:rPr>
              <a:t>MENSAJES, FORMATO, CANALES </a:t>
            </a:r>
          </a:p>
        </p:txBody>
      </p:sp>
      <p:sp>
        <p:nvSpPr>
          <p:cNvPr id="100" name="99 Rectángulo"/>
          <p:cNvSpPr/>
          <p:nvPr/>
        </p:nvSpPr>
        <p:spPr>
          <a:xfrm>
            <a:off x="506506" y="2565208"/>
            <a:ext cx="1594374" cy="143712"/>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prstClr val="black"/>
                </a:solidFill>
                <a:latin typeface="Avenir 35" panose="00000400000000000000" pitchFamily="2" charset="0"/>
              </a:rPr>
              <a:t>Empresa</a:t>
            </a:r>
          </a:p>
        </p:txBody>
      </p:sp>
      <p:sp>
        <p:nvSpPr>
          <p:cNvPr id="101" name="100 Rectángulo"/>
          <p:cNvSpPr/>
          <p:nvPr/>
        </p:nvSpPr>
        <p:spPr>
          <a:xfrm>
            <a:off x="2199032" y="2924944"/>
            <a:ext cx="1583839" cy="432049"/>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prstClr val="black"/>
                </a:solidFill>
                <a:latin typeface="Avenir 35" panose="00000400000000000000" pitchFamily="2" charset="0"/>
              </a:rPr>
              <a:t>Modelos de vehículo: A, B, C, E y ML </a:t>
            </a:r>
          </a:p>
        </p:txBody>
      </p:sp>
      <p:cxnSp>
        <p:nvCxnSpPr>
          <p:cNvPr id="7" name="6 Conector recto de flecha"/>
          <p:cNvCxnSpPr/>
          <p:nvPr/>
        </p:nvCxnSpPr>
        <p:spPr>
          <a:xfrm flipH="1">
            <a:off x="1800212" y="2132858"/>
            <a:ext cx="344476" cy="360644"/>
          </a:xfrm>
          <a:prstGeom prst="straightConnector1">
            <a:avLst/>
          </a:prstGeom>
          <a:ln w="12700">
            <a:solidFill>
              <a:srgbClr val="3CB2C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103 Conector recto de flecha"/>
          <p:cNvCxnSpPr/>
          <p:nvPr/>
        </p:nvCxnSpPr>
        <p:spPr>
          <a:xfrm>
            <a:off x="2188961" y="2132858"/>
            <a:ext cx="336892" cy="360644"/>
          </a:xfrm>
          <a:prstGeom prst="straightConnector1">
            <a:avLst/>
          </a:prstGeom>
          <a:ln w="12700">
            <a:solidFill>
              <a:srgbClr val="3CB2C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0" name="19 Grupo"/>
          <p:cNvGrpSpPr/>
          <p:nvPr/>
        </p:nvGrpSpPr>
        <p:grpSpPr>
          <a:xfrm>
            <a:off x="584514" y="3630549"/>
            <a:ext cx="435611" cy="215444"/>
            <a:chOff x="539552" y="3615495"/>
            <a:chExt cx="402102" cy="215444"/>
          </a:xfrm>
        </p:grpSpPr>
        <p:grpSp>
          <p:nvGrpSpPr>
            <p:cNvPr id="83" name="82 Grupo"/>
            <p:cNvGrpSpPr/>
            <p:nvPr/>
          </p:nvGrpSpPr>
          <p:grpSpPr>
            <a:xfrm>
              <a:off x="627879" y="3621999"/>
              <a:ext cx="232155" cy="173335"/>
              <a:chOff x="2324962" y="2255956"/>
              <a:chExt cx="3543182" cy="2183387"/>
            </a:xfrm>
          </p:grpSpPr>
          <p:sp>
            <p:nvSpPr>
              <p:cNvPr id="85" name="84 Rectángulo redondeado"/>
              <p:cNvSpPr/>
              <p:nvPr/>
            </p:nvSpPr>
            <p:spPr>
              <a:xfrm>
                <a:off x="2324962" y="2255956"/>
                <a:ext cx="3543182" cy="2183387"/>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pic>
            <p:nvPicPr>
              <p:cNvPr id="86" name="85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92774" y="2308922"/>
                <a:ext cx="674994" cy="674994"/>
              </a:xfrm>
              <a:prstGeom prst="rect">
                <a:avLst/>
              </a:prstGeom>
              <a:ln>
                <a:solidFill>
                  <a:srgbClr val="3CB2C3"/>
                </a:solidFill>
              </a:ln>
            </p:spPr>
          </p:pic>
          <p:pic>
            <p:nvPicPr>
              <p:cNvPr id="87" name="86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23148" y="2501799"/>
                <a:ext cx="289240" cy="289240"/>
              </a:xfrm>
              <a:prstGeom prst="rect">
                <a:avLst/>
              </a:prstGeom>
              <a:ln>
                <a:solidFill>
                  <a:srgbClr val="3CB2C3"/>
                </a:solidFill>
              </a:ln>
            </p:spPr>
          </p:pic>
        </p:grpSp>
        <p:sp>
          <p:nvSpPr>
            <p:cNvPr id="18" name="17 CuadroTexto"/>
            <p:cNvSpPr txBox="1"/>
            <p:nvPr/>
          </p:nvSpPr>
          <p:spPr>
            <a:xfrm>
              <a:off x="539552" y="3615495"/>
              <a:ext cx="402102" cy="215444"/>
            </a:xfrm>
            <a:prstGeom prst="rect">
              <a:avLst/>
            </a:prstGeom>
            <a:noFill/>
            <a:ln>
              <a:solidFill>
                <a:srgbClr val="3CB2C3"/>
              </a:solidFill>
            </a:ln>
          </p:spPr>
          <p:txBody>
            <a:bodyPr wrap="square" rtlCol="0">
              <a:spAutoFit/>
            </a:bodyPr>
            <a:lstStyle/>
            <a:p>
              <a:pPr algn="ctr"/>
              <a:r>
                <a:rPr lang="es-ES" sz="800" dirty="0">
                  <a:solidFill>
                    <a:prstClr val="black"/>
                  </a:solidFill>
                  <a:latin typeface="Avenir 35" panose="00000400000000000000" pitchFamily="2" charset="0"/>
                </a:rPr>
                <a:t>EA</a:t>
              </a:r>
            </a:p>
          </p:txBody>
        </p:sp>
      </p:grpSp>
      <p:grpSp>
        <p:nvGrpSpPr>
          <p:cNvPr id="159" name="158 Grupo"/>
          <p:cNvGrpSpPr/>
          <p:nvPr/>
        </p:nvGrpSpPr>
        <p:grpSpPr>
          <a:xfrm>
            <a:off x="1096803" y="3630549"/>
            <a:ext cx="435611" cy="215444"/>
            <a:chOff x="539552" y="3615495"/>
            <a:chExt cx="402102" cy="215444"/>
          </a:xfrm>
        </p:grpSpPr>
        <p:grpSp>
          <p:nvGrpSpPr>
            <p:cNvPr id="160" name="159 Grupo"/>
            <p:cNvGrpSpPr/>
            <p:nvPr/>
          </p:nvGrpSpPr>
          <p:grpSpPr>
            <a:xfrm>
              <a:off x="627879" y="3621999"/>
              <a:ext cx="232155" cy="173335"/>
              <a:chOff x="2324962" y="2255956"/>
              <a:chExt cx="3543182" cy="2183387"/>
            </a:xfrm>
          </p:grpSpPr>
          <p:sp>
            <p:nvSpPr>
              <p:cNvPr id="162" name="161 Rectángulo redondeado"/>
              <p:cNvSpPr/>
              <p:nvPr/>
            </p:nvSpPr>
            <p:spPr>
              <a:xfrm>
                <a:off x="2324962" y="2255956"/>
                <a:ext cx="3543182" cy="2183387"/>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pic>
            <p:nvPicPr>
              <p:cNvPr id="163" name="162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92774" y="2308922"/>
                <a:ext cx="674994" cy="674994"/>
              </a:xfrm>
              <a:prstGeom prst="rect">
                <a:avLst/>
              </a:prstGeom>
              <a:ln>
                <a:solidFill>
                  <a:srgbClr val="3CB2C3"/>
                </a:solidFill>
              </a:ln>
            </p:spPr>
          </p:pic>
          <p:pic>
            <p:nvPicPr>
              <p:cNvPr id="164" name="163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23148" y="2501799"/>
                <a:ext cx="289240" cy="289240"/>
              </a:xfrm>
              <a:prstGeom prst="rect">
                <a:avLst/>
              </a:prstGeom>
              <a:ln>
                <a:solidFill>
                  <a:srgbClr val="3CB2C3"/>
                </a:solidFill>
              </a:ln>
            </p:spPr>
          </p:pic>
        </p:grpSp>
        <p:sp>
          <p:nvSpPr>
            <p:cNvPr id="161" name="160 CuadroTexto"/>
            <p:cNvSpPr txBox="1"/>
            <p:nvPr/>
          </p:nvSpPr>
          <p:spPr>
            <a:xfrm>
              <a:off x="539552" y="3615495"/>
              <a:ext cx="402102" cy="215444"/>
            </a:xfrm>
            <a:prstGeom prst="rect">
              <a:avLst/>
            </a:prstGeom>
            <a:noFill/>
            <a:ln>
              <a:solidFill>
                <a:srgbClr val="3CB2C3"/>
              </a:solidFill>
            </a:ln>
          </p:spPr>
          <p:txBody>
            <a:bodyPr wrap="square" rtlCol="0">
              <a:spAutoFit/>
            </a:bodyPr>
            <a:lstStyle/>
            <a:p>
              <a:pPr algn="ctr"/>
              <a:r>
                <a:rPr lang="es-ES" sz="800" dirty="0">
                  <a:solidFill>
                    <a:prstClr val="black"/>
                  </a:solidFill>
                  <a:latin typeface="Avenir 35" panose="00000400000000000000" pitchFamily="2" charset="0"/>
                </a:rPr>
                <a:t>EB</a:t>
              </a:r>
            </a:p>
          </p:txBody>
        </p:sp>
      </p:grpSp>
      <p:grpSp>
        <p:nvGrpSpPr>
          <p:cNvPr id="174" name="173 Grupo"/>
          <p:cNvGrpSpPr/>
          <p:nvPr/>
        </p:nvGrpSpPr>
        <p:grpSpPr>
          <a:xfrm>
            <a:off x="1520618" y="3630549"/>
            <a:ext cx="435611" cy="215444"/>
            <a:chOff x="539552" y="3615495"/>
            <a:chExt cx="402102" cy="215444"/>
          </a:xfrm>
        </p:grpSpPr>
        <p:grpSp>
          <p:nvGrpSpPr>
            <p:cNvPr id="175" name="174 Grupo"/>
            <p:cNvGrpSpPr/>
            <p:nvPr/>
          </p:nvGrpSpPr>
          <p:grpSpPr>
            <a:xfrm>
              <a:off x="627879" y="3621999"/>
              <a:ext cx="232155" cy="173335"/>
              <a:chOff x="2324962" y="2255956"/>
              <a:chExt cx="3543182" cy="2183387"/>
            </a:xfrm>
          </p:grpSpPr>
          <p:sp>
            <p:nvSpPr>
              <p:cNvPr id="177" name="176 Rectángulo redondeado"/>
              <p:cNvSpPr/>
              <p:nvPr/>
            </p:nvSpPr>
            <p:spPr>
              <a:xfrm>
                <a:off x="2324962" y="2255956"/>
                <a:ext cx="3543182" cy="2183387"/>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pic>
            <p:nvPicPr>
              <p:cNvPr id="178" name="177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92774" y="2308922"/>
                <a:ext cx="674994" cy="674994"/>
              </a:xfrm>
              <a:prstGeom prst="rect">
                <a:avLst/>
              </a:prstGeom>
              <a:ln>
                <a:solidFill>
                  <a:srgbClr val="3CB2C3"/>
                </a:solidFill>
              </a:ln>
            </p:spPr>
          </p:pic>
          <p:pic>
            <p:nvPicPr>
              <p:cNvPr id="179" name="178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23148" y="2501799"/>
                <a:ext cx="289240" cy="289240"/>
              </a:xfrm>
              <a:prstGeom prst="rect">
                <a:avLst/>
              </a:prstGeom>
              <a:ln>
                <a:solidFill>
                  <a:srgbClr val="3CB2C3"/>
                </a:solidFill>
              </a:ln>
            </p:spPr>
          </p:pic>
        </p:grpSp>
        <p:sp>
          <p:nvSpPr>
            <p:cNvPr id="176" name="175 CuadroTexto"/>
            <p:cNvSpPr txBox="1"/>
            <p:nvPr/>
          </p:nvSpPr>
          <p:spPr>
            <a:xfrm>
              <a:off x="539552" y="3615495"/>
              <a:ext cx="402102" cy="215444"/>
            </a:xfrm>
            <a:prstGeom prst="rect">
              <a:avLst/>
            </a:prstGeom>
            <a:noFill/>
            <a:ln>
              <a:solidFill>
                <a:srgbClr val="3CB2C3"/>
              </a:solidFill>
            </a:ln>
          </p:spPr>
          <p:txBody>
            <a:bodyPr wrap="square" rtlCol="0">
              <a:spAutoFit/>
            </a:bodyPr>
            <a:lstStyle/>
            <a:p>
              <a:pPr algn="ctr"/>
              <a:r>
                <a:rPr lang="es-ES" sz="800" dirty="0">
                  <a:solidFill>
                    <a:prstClr val="black"/>
                  </a:solidFill>
                  <a:latin typeface="Avenir 35" panose="00000400000000000000" pitchFamily="2" charset="0"/>
                </a:rPr>
                <a:t>EC</a:t>
              </a:r>
            </a:p>
          </p:txBody>
        </p:sp>
      </p:grpSp>
      <p:grpSp>
        <p:nvGrpSpPr>
          <p:cNvPr id="180" name="179 Grupo"/>
          <p:cNvGrpSpPr/>
          <p:nvPr/>
        </p:nvGrpSpPr>
        <p:grpSpPr>
          <a:xfrm>
            <a:off x="772973" y="3926965"/>
            <a:ext cx="435611" cy="215444"/>
            <a:chOff x="539552" y="3615495"/>
            <a:chExt cx="402102" cy="215444"/>
          </a:xfrm>
        </p:grpSpPr>
        <p:grpSp>
          <p:nvGrpSpPr>
            <p:cNvPr id="181" name="180 Grupo"/>
            <p:cNvGrpSpPr/>
            <p:nvPr/>
          </p:nvGrpSpPr>
          <p:grpSpPr>
            <a:xfrm>
              <a:off x="627879" y="3621999"/>
              <a:ext cx="232155" cy="173335"/>
              <a:chOff x="2324962" y="2255956"/>
              <a:chExt cx="3543182" cy="2183387"/>
            </a:xfrm>
          </p:grpSpPr>
          <p:sp>
            <p:nvSpPr>
              <p:cNvPr id="183" name="182 Rectángulo redondeado"/>
              <p:cNvSpPr/>
              <p:nvPr/>
            </p:nvSpPr>
            <p:spPr>
              <a:xfrm>
                <a:off x="2324962" y="2255956"/>
                <a:ext cx="3543182" cy="2183387"/>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pic>
            <p:nvPicPr>
              <p:cNvPr id="184" name="183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92774" y="2308922"/>
                <a:ext cx="674994" cy="674994"/>
              </a:xfrm>
              <a:prstGeom prst="rect">
                <a:avLst/>
              </a:prstGeom>
              <a:ln>
                <a:solidFill>
                  <a:srgbClr val="3CB2C3"/>
                </a:solidFill>
              </a:ln>
            </p:spPr>
          </p:pic>
          <p:pic>
            <p:nvPicPr>
              <p:cNvPr id="185" name="184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23148" y="2501799"/>
                <a:ext cx="289240" cy="289240"/>
              </a:xfrm>
              <a:prstGeom prst="rect">
                <a:avLst/>
              </a:prstGeom>
              <a:ln>
                <a:solidFill>
                  <a:srgbClr val="3CB2C3"/>
                </a:solidFill>
              </a:ln>
            </p:spPr>
          </p:pic>
        </p:grpSp>
        <p:sp>
          <p:nvSpPr>
            <p:cNvPr id="182" name="181 CuadroTexto"/>
            <p:cNvSpPr txBox="1"/>
            <p:nvPr/>
          </p:nvSpPr>
          <p:spPr>
            <a:xfrm>
              <a:off x="539552" y="3615495"/>
              <a:ext cx="402102" cy="215444"/>
            </a:xfrm>
            <a:prstGeom prst="rect">
              <a:avLst/>
            </a:prstGeom>
            <a:noFill/>
            <a:ln>
              <a:solidFill>
                <a:srgbClr val="3CB2C3"/>
              </a:solidFill>
            </a:ln>
          </p:spPr>
          <p:txBody>
            <a:bodyPr wrap="square" rtlCol="0">
              <a:spAutoFit/>
            </a:bodyPr>
            <a:lstStyle/>
            <a:p>
              <a:pPr algn="ctr"/>
              <a:r>
                <a:rPr lang="es-ES" sz="800" dirty="0">
                  <a:solidFill>
                    <a:prstClr val="black"/>
                  </a:solidFill>
                  <a:latin typeface="Avenir 35" panose="00000400000000000000" pitchFamily="2" charset="0"/>
                </a:rPr>
                <a:t>EE</a:t>
              </a:r>
            </a:p>
          </p:txBody>
        </p:sp>
      </p:grpSp>
      <p:grpSp>
        <p:nvGrpSpPr>
          <p:cNvPr id="186" name="185 Grupo"/>
          <p:cNvGrpSpPr/>
          <p:nvPr/>
        </p:nvGrpSpPr>
        <p:grpSpPr>
          <a:xfrm>
            <a:off x="1364601" y="3926965"/>
            <a:ext cx="435611" cy="215444"/>
            <a:chOff x="539552" y="3615495"/>
            <a:chExt cx="402102" cy="215444"/>
          </a:xfrm>
        </p:grpSpPr>
        <p:grpSp>
          <p:nvGrpSpPr>
            <p:cNvPr id="187" name="186 Grupo"/>
            <p:cNvGrpSpPr/>
            <p:nvPr/>
          </p:nvGrpSpPr>
          <p:grpSpPr>
            <a:xfrm>
              <a:off x="627879" y="3621999"/>
              <a:ext cx="232155" cy="173335"/>
              <a:chOff x="2324962" y="2255956"/>
              <a:chExt cx="3543182" cy="2183387"/>
            </a:xfrm>
          </p:grpSpPr>
          <p:sp>
            <p:nvSpPr>
              <p:cNvPr id="189" name="188 Rectángulo redondeado"/>
              <p:cNvSpPr/>
              <p:nvPr/>
            </p:nvSpPr>
            <p:spPr>
              <a:xfrm>
                <a:off x="2324962" y="2255956"/>
                <a:ext cx="3543182" cy="2183387"/>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pic>
            <p:nvPicPr>
              <p:cNvPr id="190" name="189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92774" y="2308922"/>
                <a:ext cx="674994" cy="674994"/>
              </a:xfrm>
              <a:prstGeom prst="rect">
                <a:avLst/>
              </a:prstGeom>
              <a:ln>
                <a:solidFill>
                  <a:srgbClr val="3CB2C3"/>
                </a:solidFill>
              </a:ln>
            </p:spPr>
          </p:pic>
          <p:pic>
            <p:nvPicPr>
              <p:cNvPr id="191" name="190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23148" y="2501799"/>
                <a:ext cx="289240" cy="289240"/>
              </a:xfrm>
              <a:prstGeom prst="rect">
                <a:avLst/>
              </a:prstGeom>
              <a:ln>
                <a:solidFill>
                  <a:srgbClr val="3CB2C3"/>
                </a:solidFill>
              </a:ln>
            </p:spPr>
          </p:pic>
        </p:grpSp>
        <p:sp>
          <p:nvSpPr>
            <p:cNvPr id="188" name="187 CuadroTexto"/>
            <p:cNvSpPr txBox="1"/>
            <p:nvPr/>
          </p:nvSpPr>
          <p:spPr>
            <a:xfrm>
              <a:off x="539552" y="3615495"/>
              <a:ext cx="402102" cy="215444"/>
            </a:xfrm>
            <a:prstGeom prst="rect">
              <a:avLst/>
            </a:prstGeom>
            <a:noFill/>
            <a:ln>
              <a:solidFill>
                <a:srgbClr val="3CB2C3"/>
              </a:solidFill>
            </a:ln>
          </p:spPr>
          <p:txBody>
            <a:bodyPr wrap="square" rtlCol="0">
              <a:spAutoFit/>
            </a:bodyPr>
            <a:lstStyle/>
            <a:p>
              <a:pPr algn="ctr"/>
              <a:r>
                <a:rPr lang="es-ES" sz="800" dirty="0">
                  <a:solidFill>
                    <a:prstClr val="black"/>
                  </a:solidFill>
                  <a:latin typeface="Avenir 35" panose="00000400000000000000" pitchFamily="2" charset="0"/>
                </a:rPr>
                <a:t>EML</a:t>
              </a:r>
            </a:p>
          </p:txBody>
        </p:sp>
      </p:grpSp>
      <p:grpSp>
        <p:nvGrpSpPr>
          <p:cNvPr id="193" name="192 Grupo"/>
          <p:cNvGrpSpPr/>
          <p:nvPr/>
        </p:nvGrpSpPr>
        <p:grpSpPr>
          <a:xfrm>
            <a:off x="2222696" y="3645024"/>
            <a:ext cx="435611" cy="215444"/>
            <a:chOff x="539552" y="3615495"/>
            <a:chExt cx="402102" cy="215444"/>
          </a:xfrm>
        </p:grpSpPr>
        <p:grpSp>
          <p:nvGrpSpPr>
            <p:cNvPr id="195" name="194 Grupo"/>
            <p:cNvGrpSpPr/>
            <p:nvPr/>
          </p:nvGrpSpPr>
          <p:grpSpPr>
            <a:xfrm>
              <a:off x="627879" y="3621999"/>
              <a:ext cx="232155" cy="173335"/>
              <a:chOff x="2324962" y="2255956"/>
              <a:chExt cx="3543182" cy="2183387"/>
            </a:xfrm>
          </p:grpSpPr>
          <p:sp>
            <p:nvSpPr>
              <p:cNvPr id="198" name="197 Rectángulo redondeado"/>
              <p:cNvSpPr/>
              <p:nvPr/>
            </p:nvSpPr>
            <p:spPr>
              <a:xfrm>
                <a:off x="2324962" y="2255956"/>
                <a:ext cx="3543182" cy="2183387"/>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pic>
            <p:nvPicPr>
              <p:cNvPr id="218" name="217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92774" y="2308922"/>
                <a:ext cx="674994" cy="674994"/>
              </a:xfrm>
              <a:prstGeom prst="rect">
                <a:avLst/>
              </a:prstGeom>
              <a:ln>
                <a:solidFill>
                  <a:srgbClr val="3CB2C3"/>
                </a:solidFill>
              </a:ln>
            </p:spPr>
          </p:pic>
          <p:pic>
            <p:nvPicPr>
              <p:cNvPr id="219" name="218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23148" y="2501799"/>
                <a:ext cx="289240" cy="289240"/>
              </a:xfrm>
              <a:prstGeom prst="rect">
                <a:avLst/>
              </a:prstGeom>
              <a:ln>
                <a:solidFill>
                  <a:srgbClr val="3CB2C3"/>
                </a:solidFill>
              </a:ln>
            </p:spPr>
          </p:pic>
        </p:grpSp>
        <p:sp>
          <p:nvSpPr>
            <p:cNvPr id="196" name="195 CuadroTexto"/>
            <p:cNvSpPr txBox="1"/>
            <p:nvPr/>
          </p:nvSpPr>
          <p:spPr>
            <a:xfrm>
              <a:off x="539552" y="3615495"/>
              <a:ext cx="402102" cy="215444"/>
            </a:xfrm>
            <a:prstGeom prst="rect">
              <a:avLst/>
            </a:prstGeom>
            <a:noFill/>
            <a:ln>
              <a:solidFill>
                <a:srgbClr val="3CB2C3"/>
              </a:solidFill>
            </a:ln>
          </p:spPr>
          <p:txBody>
            <a:bodyPr wrap="square" rtlCol="0">
              <a:spAutoFit/>
            </a:bodyPr>
            <a:lstStyle/>
            <a:p>
              <a:pPr algn="ctr"/>
              <a:r>
                <a:rPr lang="es-ES" sz="800" dirty="0">
                  <a:solidFill>
                    <a:prstClr val="black"/>
                  </a:solidFill>
                  <a:latin typeface="Avenir 35" panose="00000400000000000000" pitchFamily="2" charset="0"/>
                </a:rPr>
                <a:t>PA</a:t>
              </a:r>
            </a:p>
          </p:txBody>
        </p:sp>
      </p:grpSp>
      <p:grpSp>
        <p:nvGrpSpPr>
          <p:cNvPr id="220" name="219 Grupo"/>
          <p:cNvGrpSpPr/>
          <p:nvPr/>
        </p:nvGrpSpPr>
        <p:grpSpPr>
          <a:xfrm>
            <a:off x="2734985" y="3645024"/>
            <a:ext cx="435611" cy="215444"/>
            <a:chOff x="539552" y="3615495"/>
            <a:chExt cx="402102" cy="215444"/>
          </a:xfrm>
        </p:grpSpPr>
        <p:grpSp>
          <p:nvGrpSpPr>
            <p:cNvPr id="222" name="221 Grupo"/>
            <p:cNvGrpSpPr/>
            <p:nvPr/>
          </p:nvGrpSpPr>
          <p:grpSpPr>
            <a:xfrm>
              <a:off x="627879" y="3621999"/>
              <a:ext cx="232155" cy="173335"/>
              <a:chOff x="2324962" y="2255956"/>
              <a:chExt cx="3543182" cy="2183387"/>
            </a:xfrm>
          </p:grpSpPr>
          <p:sp>
            <p:nvSpPr>
              <p:cNvPr id="228" name="227 Rectángulo redondeado"/>
              <p:cNvSpPr/>
              <p:nvPr/>
            </p:nvSpPr>
            <p:spPr>
              <a:xfrm>
                <a:off x="2324962" y="2255956"/>
                <a:ext cx="3543182" cy="2183387"/>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pic>
            <p:nvPicPr>
              <p:cNvPr id="232" name="231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92774" y="2308922"/>
                <a:ext cx="674994" cy="674994"/>
              </a:xfrm>
              <a:prstGeom prst="rect">
                <a:avLst/>
              </a:prstGeom>
              <a:ln>
                <a:solidFill>
                  <a:srgbClr val="3CB2C3"/>
                </a:solidFill>
              </a:ln>
            </p:spPr>
          </p:pic>
          <p:pic>
            <p:nvPicPr>
              <p:cNvPr id="234" name="233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23148" y="2501799"/>
                <a:ext cx="289240" cy="289240"/>
              </a:xfrm>
              <a:prstGeom prst="rect">
                <a:avLst/>
              </a:prstGeom>
              <a:ln>
                <a:solidFill>
                  <a:srgbClr val="3CB2C3"/>
                </a:solidFill>
              </a:ln>
            </p:spPr>
          </p:pic>
        </p:grpSp>
        <p:sp>
          <p:nvSpPr>
            <p:cNvPr id="223" name="222 CuadroTexto"/>
            <p:cNvSpPr txBox="1"/>
            <p:nvPr/>
          </p:nvSpPr>
          <p:spPr>
            <a:xfrm>
              <a:off x="539552" y="3615495"/>
              <a:ext cx="402102" cy="215444"/>
            </a:xfrm>
            <a:prstGeom prst="rect">
              <a:avLst/>
            </a:prstGeom>
            <a:noFill/>
            <a:ln>
              <a:solidFill>
                <a:srgbClr val="3CB2C3"/>
              </a:solidFill>
            </a:ln>
          </p:spPr>
          <p:txBody>
            <a:bodyPr wrap="square" rtlCol="0">
              <a:spAutoFit/>
            </a:bodyPr>
            <a:lstStyle/>
            <a:p>
              <a:pPr algn="ctr"/>
              <a:r>
                <a:rPr lang="es-ES" sz="800" dirty="0">
                  <a:solidFill>
                    <a:prstClr val="black"/>
                  </a:solidFill>
                  <a:latin typeface="Avenir 35" panose="00000400000000000000" pitchFamily="2" charset="0"/>
                </a:rPr>
                <a:t>PB</a:t>
              </a:r>
            </a:p>
          </p:txBody>
        </p:sp>
      </p:grpSp>
      <p:grpSp>
        <p:nvGrpSpPr>
          <p:cNvPr id="235" name="234 Grupo"/>
          <p:cNvGrpSpPr/>
          <p:nvPr/>
        </p:nvGrpSpPr>
        <p:grpSpPr>
          <a:xfrm>
            <a:off x="3158800" y="3645024"/>
            <a:ext cx="435611" cy="215444"/>
            <a:chOff x="539552" y="3615495"/>
            <a:chExt cx="402102" cy="215444"/>
          </a:xfrm>
        </p:grpSpPr>
        <p:grpSp>
          <p:nvGrpSpPr>
            <p:cNvPr id="236" name="235 Grupo"/>
            <p:cNvGrpSpPr/>
            <p:nvPr/>
          </p:nvGrpSpPr>
          <p:grpSpPr>
            <a:xfrm>
              <a:off x="627879" y="3621999"/>
              <a:ext cx="232155" cy="173335"/>
              <a:chOff x="2324962" y="2255956"/>
              <a:chExt cx="3543182" cy="2183387"/>
            </a:xfrm>
          </p:grpSpPr>
          <p:sp>
            <p:nvSpPr>
              <p:cNvPr id="238" name="237 Rectángulo redondeado"/>
              <p:cNvSpPr/>
              <p:nvPr/>
            </p:nvSpPr>
            <p:spPr>
              <a:xfrm>
                <a:off x="2324962" y="2255956"/>
                <a:ext cx="3543182" cy="2183387"/>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pic>
            <p:nvPicPr>
              <p:cNvPr id="239" name="238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92774" y="2308922"/>
                <a:ext cx="674994" cy="674994"/>
              </a:xfrm>
              <a:prstGeom prst="rect">
                <a:avLst/>
              </a:prstGeom>
              <a:ln>
                <a:solidFill>
                  <a:srgbClr val="3CB2C3"/>
                </a:solidFill>
              </a:ln>
            </p:spPr>
          </p:pic>
          <p:pic>
            <p:nvPicPr>
              <p:cNvPr id="240" name="239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23148" y="2501799"/>
                <a:ext cx="289240" cy="289240"/>
              </a:xfrm>
              <a:prstGeom prst="rect">
                <a:avLst/>
              </a:prstGeom>
              <a:ln>
                <a:solidFill>
                  <a:srgbClr val="3CB2C3"/>
                </a:solidFill>
              </a:ln>
            </p:spPr>
          </p:pic>
        </p:grpSp>
        <p:sp>
          <p:nvSpPr>
            <p:cNvPr id="237" name="236 CuadroTexto"/>
            <p:cNvSpPr txBox="1"/>
            <p:nvPr/>
          </p:nvSpPr>
          <p:spPr>
            <a:xfrm>
              <a:off x="539552" y="3615495"/>
              <a:ext cx="402102" cy="215444"/>
            </a:xfrm>
            <a:prstGeom prst="rect">
              <a:avLst/>
            </a:prstGeom>
            <a:noFill/>
            <a:ln>
              <a:solidFill>
                <a:srgbClr val="3CB2C3"/>
              </a:solidFill>
            </a:ln>
          </p:spPr>
          <p:txBody>
            <a:bodyPr wrap="square" rtlCol="0">
              <a:spAutoFit/>
            </a:bodyPr>
            <a:lstStyle/>
            <a:p>
              <a:pPr algn="ctr"/>
              <a:r>
                <a:rPr lang="es-ES" sz="800" dirty="0">
                  <a:solidFill>
                    <a:prstClr val="black"/>
                  </a:solidFill>
                  <a:latin typeface="Avenir 35" panose="00000400000000000000" pitchFamily="2" charset="0"/>
                </a:rPr>
                <a:t>PC</a:t>
              </a:r>
            </a:p>
          </p:txBody>
        </p:sp>
      </p:grpSp>
      <p:grpSp>
        <p:nvGrpSpPr>
          <p:cNvPr id="241" name="240 Grupo"/>
          <p:cNvGrpSpPr/>
          <p:nvPr/>
        </p:nvGrpSpPr>
        <p:grpSpPr>
          <a:xfrm>
            <a:off x="2411155" y="3941440"/>
            <a:ext cx="435611" cy="215444"/>
            <a:chOff x="539552" y="3615495"/>
            <a:chExt cx="402102" cy="215444"/>
          </a:xfrm>
        </p:grpSpPr>
        <p:grpSp>
          <p:nvGrpSpPr>
            <p:cNvPr id="242" name="241 Grupo"/>
            <p:cNvGrpSpPr/>
            <p:nvPr/>
          </p:nvGrpSpPr>
          <p:grpSpPr>
            <a:xfrm>
              <a:off x="627879" y="3621999"/>
              <a:ext cx="232155" cy="173335"/>
              <a:chOff x="2324962" y="2255956"/>
              <a:chExt cx="3543182" cy="2183387"/>
            </a:xfrm>
          </p:grpSpPr>
          <p:sp>
            <p:nvSpPr>
              <p:cNvPr id="244" name="243 Rectángulo redondeado"/>
              <p:cNvSpPr/>
              <p:nvPr/>
            </p:nvSpPr>
            <p:spPr>
              <a:xfrm>
                <a:off x="2324962" y="2255956"/>
                <a:ext cx="3543182" cy="2183387"/>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pic>
            <p:nvPicPr>
              <p:cNvPr id="245" name="244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92774" y="2308922"/>
                <a:ext cx="674994" cy="674994"/>
              </a:xfrm>
              <a:prstGeom prst="rect">
                <a:avLst/>
              </a:prstGeom>
              <a:ln>
                <a:solidFill>
                  <a:srgbClr val="3CB2C3"/>
                </a:solidFill>
              </a:ln>
            </p:spPr>
          </p:pic>
          <p:pic>
            <p:nvPicPr>
              <p:cNvPr id="246" name="245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23148" y="2501799"/>
                <a:ext cx="289240" cy="289240"/>
              </a:xfrm>
              <a:prstGeom prst="rect">
                <a:avLst/>
              </a:prstGeom>
              <a:ln>
                <a:solidFill>
                  <a:srgbClr val="3CB2C3"/>
                </a:solidFill>
              </a:ln>
            </p:spPr>
          </p:pic>
        </p:grpSp>
        <p:sp>
          <p:nvSpPr>
            <p:cNvPr id="243" name="242 CuadroTexto"/>
            <p:cNvSpPr txBox="1"/>
            <p:nvPr/>
          </p:nvSpPr>
          <p:spPr>
            <a:xfrm>
              <a:off x="539552" y="3615495"/>
              <a:ext cx="402102" cy="215444"/>
            </a:xfrm>
            <a:prstGeom prst="rect">
              <a:avLst/>
            </a:prstGeom>
            <a:noFill/>
            <a:ln>
              <a:solidFill>
                <a:srgbClr val="3CB2C3"/>
              </a:solidFill>
            </a:ln>
          </p:spPr>
          <p:txBody>
            <a:bodyPr wrap="square" rtlCol="0">
              <a:spAutoFit/>
            </a:bodyPr>
            <a:lstStyle/>
            <a:p>
              <a:pPr algn="ctr"/>
              <a:r>
                <a:rPr lang="es-ES" sz="800" dirty="0">
                  <a:solidFill>
                    <a:prstClr val="black"/>
                  </a:solidFill>
                  <a:latin typeface="Avenir 35" panose="00000400000000000000" pitchFamily="2" charset="0"/>
                </a:rPr>
                <a:t>PE</a:t>
              </a:r>
            </a:p>
          </p:txBody>
        </p:sp>
      </p:grpSp>
      <p:grpSp>
        <p:nvGrpSpPr>
          <p:cNvPr id="247" name="246 Grupo"/>
          <p:cNvGrpSpPr/>
          <p:nvPr/>
        </p:nvGrpSpPr>
        <p:grpSpPr>
          <a:xfrm>
            <a:off x="3002783" y="3941440"/>
            <a:ext cx="435611" cy="215444"/>
            <a:chOff x="539552" y="3615495"/>
            <a:chExt cx="402102" cy="215444"/>
          </a:xfrm>
        </p:grpSpPr>
        <p:grpSp>
          <p:nvGrpSpPr>
            <p:cNvPr id="248" name="247 Grupo"/>
            <p:cNvGrpSpPr/>
            <p:nvPr/>
          </p:nvGrpSpPr>
          <p:grpSpPr>
            <a:xfrm>
              <a:off x="627879" y="3621999"/>
              <a:ext cx="232155" cy="173335"/>
              <a:chOff x="2324962" y="2255956"/>
              <a:chExt cx="3543182" cy="2183387"/>
            </a:xfrm>
          </p:grpSpPr>
          <p:sp>
            <p:nvSpPr>
              <p:cNvPr id="250" name="249 Rectángulo redondeado"/>
              <p:cNvSpPr/>
              <p:nvPr/>
            </p:nvSpPr>
            <p:spPr>
              <a:xfrm>
                <a:off x="2324962" y="2255956"/>
                <a:ext cx="3543182" cy="2183387"/>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pic>
            <p:nvPicPr>
              <p:cNvPr id="251" name="250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92774" y="2308922"/>
                <a:ext cx="674994" cy="674994"/>
              </a:xfrm>
              <a:prstGeom prst="rect">
                <a:avLst/>
              </a:prstGeom>
              <a:ln>
                <a:solidFill>
                  <a:srgbClr val="3CB2C3"/>
                </a:solidFill>
              </a:ln>
            </p:spPr>
          </p:pic>
          <p:pic>
            <p:nvPicPr>
              <p:cNvPr id="252" name="251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23148" y="2501799"/>
                <a:ext cx="289240" cy="289240"/>
              </a:xfrm>
              <a:prstGeom prst="rect">
                <a:avLst/>
              </a:prstGeom>
              <a:ln>
                <a:solidFill>
                  <a:srgbClr val="3CB2C3"/>
                </a:solidFill>
              </a:ln>
            </p:spPr>
          </p:pic>
        </p:grpSp>
        <p:sp>
          <p:nvSpPr>
            <p:cNvPr id="249" name="248 CuadroTexto"/>
            <p:cNvSpPr txBox="1"/>
            <p:nvPr/>
          </p:nvSpPr>
          <p:spPr>
            <a:xfrm>
              <a:off x="539552" y="3615495"/>
              <a:ext cx="402102" cy="215444"/>
            </a:xfrm>
            <a:prstGeom prst="rect">
              <a:avLst/>
            </a:prstGeom>
            <a:noFill/>
            <a:ln>
              <a:solidFill>
                <a:srgbClr val="3CB2C3"/>
              </a:solidFill>
            </a:ln>
          </p:spPr>
          <p:txBody>
            <a:bodyPr wrap="square" rtlCol="0">
              <a:spAutoFit/>
            </a:bodyPr>
            <a:lstStyle/>
            <a:p>
              <a:pPr algn="ctr"/>
              <a:r>
                <a:rPr lang="es-ES" sz="800" dirty="0">
                  <a:solidFill>
                    <a:prstClr val="black"/>
                  </a:solidFill>
                  <a:latin typeface="Avenir 35" panose="00000400000000000000" pitchFamily="2" charset="0"/>
                </a:rPr>
                <a:t>PML</a:t>
              </a:r>
            </a:p>
          </p:txBody>
        </p:sp>
      </p:grpSp>
      <p:grpSp>
        <p:nvGrpSpPr>
          <p:cNvPr id="24" name="23 Grupo"/>
          <p:cNvGrpSpPr/>
          <p:nvPr/>
        </p:nvGrpSpPr>
        <p:grpSpPr>
          <a:xfrm>
            <a:off x="194472" y="4688592"/>
            <a:ext cx="1919882" cy="1116673"/>
            <a:chOff x="351529" y="4568944"/>
            <a:chExt cx="1772199" cy="1116673"/>
          </a:xfrm>
        </p:grpSpPr>
        <p:grpSp>
          <p:nvGrpSpPr>
            <p:cNvPr id="290" name="289 Grupo"/>
            <p:cNvGrpSpPr/>
            <p:nvPr/>
          </p:nvGrpSpPr>
          <p:grpSpPr>
            <a:xfrm>
              <a:off x="1324470" y="5085184"/>
              <a:ext cx="502610" cy="600433"/>
              <a:chOff x="370883" y="4844791"/>
              <a:chExt cx="502610" cy="600433"/>
            </a:xfrm>
          </p:grpSpPr>
          <p:pic>
            <p:nvPicPr>
              <p:cNvPr id="291" name="290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536" y="5158133"/>
                <a:ext cx="287090" cy="287091"/>
              </a:xfrm>
              <a:prstGeom prst="rect">
                <a:avLst/>
              </a:prstGeom>
            </p:spPr>
          </p:pic>
          <p:grpSp>
            <p:nvGrpSpPr>
              <p:cNvPr id="292" name="291 Grupo"/>
              <p:cNvGrpSpPr/>
              <p:nvPr/>
            </p:nvGrpSpPr>
            <p:grpSpPr>
              <a:xfrm>
                <a:off x="370883" y="4844791"/>
                <a:ext cx="502610" cy="340264"/>
                <a:chOff x="4343328" y="1896564"/>
                <a:chExt cx="1952728" cy="1047924"/>
              </a:xfrm>
            </p:grpSpPr>
            <p:sp>
              <p:nvSpPr>
                <p:cNvPr id="293" name="292 Llamada rectangular redondeada"/>
                <p:cNvSpPr/>
                <p:nvPr/>
              </p:nvSpPr>
              <p:spPr>
                <a:xfrm>
                  <a:off x="5287942" y="2357493"/>
                  <a:ext cx="1008114" cy="586995"/>
                </a:xfrm>
                <a:prstGeom prst="wedgeRoundRectCallou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sp>
              <p:nvSpPr>
                <p:cNvPr id="294" name="293 Rectángulo"/>
                <p:cNvSpPr/>
                <p:nvPr/>
              </p:nvSpPr>
              <p:spPr>
                <a:xfrm>
                  <a:off x="4343328" y="1896564"/>
                  <a:ext cx="1214836" cy="758296"/>
                </a:xfrm>
                <a:prstGeom prst="rect">
                  <a:avLst/>
                </a:prstGeom>
              </p:spPr>
              <p:txBody>
                <a:bodyPr wrap="square">
                  <a:spAutoFit/>
                </a:bodyPr>
                <a:lstStyle/>
                <a:p>
                  <a:pPr algn="ctr"/>
                  <a:endParaRPr lang="es-ES" sz="1000" dirty="0">
                    <a:solidFill>
                      <a:prstClr val="black"/>
                    </a:solidFill>
                    <a:latin typeface="Avenir 35" panose="00000400000000000000" pitchFamily="2" charset="0"/>
                  </a:endParaRPr>
                </a:p>
              </p:txBody>
            </p:sp>
          </p:grpSp>
        </p:grpSp>
        <p:grpSp>
          <p:nvGrpSpPr>
            <p:cNvPr id="300" name="299 Grupo"/>
            <p:cNvGrpSpPr/>
            <p:nvPr/>
          </p:nvGrpSpPr>
          <p:grpSpPr>
            <a:xfrm>
              <a:off x="1621118" y="4568944"/>
              <a:ext cx="502610" cy="600433"/>
              <a:chOff x="370883" y="4844791"/>
              <a:chExt cx="502610" cy="600433"/>
            </a:xfrm>
          </p:grpSpPr>
          <p:pic>
            <p:nvPicPr>
              <p:cNvPr id="301" name="300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536" y="5158133"/>
                <a:ext cx="287090" cy="287091"/>
              </a:xfrm>
              <a:prstGeom prst="rect">
                <a:avLst/>
              </a:prstGeom>
            </p:spPr>
          </p:pic>
          <p:grpSp>
            <p:nvGrpSpPr>
              <p:cNvPr id="302" name="301 Grupo"/>
              <p:cNvGrpSpPr/>
              <p:nvPr/>
            </p:nvGrpSpPr>
            <p:grpSpPr>
              <a:xfrm>
                <a:off x="370883" y="4844791"/>
                <a:ext cx="502610" cy="340264"/>
                <a:chOff x="4343328" y="1896564"/>
                <a:chExt cx="1952728" cy="1047924"/>
              </a:xfrm>
            </p:grpSpPr>
            <p:sp>
              <p:nvSpPr>
                <p:cNvPr id="303" name="302 Llamada rectangular redondeada"/>
                <p:cNvSpPr/>
                <p:nvPr/>
              </p:nvSpPr>
              <p:spPr>
                <a:xfrm>
                  <a:off x="5287942" y="2357493"/>
                  <a:ext cx="1008114" cy="586995"/>
                </a:xfrm>
                <a:prstGeom prst="wedgeRoundRectCallou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sp>
              <p:nvSpPr>
                <p:cNvPr id="304" name="303 Rectángulo"/>
                <p:cNvSpPr/>
                <p:nvPr/>
              </p:nvSpPr>
              <p:spPr>
                <a:xfrm>
                  <a:off x="4343328" y="1896564"/>
                  <a:ext cx="1214836" cy="758296"/>
                </a:xfrm>
                <a:prstGeom prst="rect">
                  <a:avLst/>
                </a:prstGeom>
              </p:spPr>
              <p:txBody>
                <a:bodyPr wrap="square">
                  <a:spAutoFit/>
                </a:bodyPr>
                <a:lstStyle/>
                <a:p>
                  <a:pPr algn="ctr"/>
                  <a:endParaRPr lang="es-ES" sz="1000" dirty="0">
                    <a:solidFill>
                      <a:prstClr val="black"/>
                    </a:solidFill>
                    <a:latin typeface="Avenir 35" panose="00000400000000000000" pitchFamily="2" charset="0"/>
                  </a:endParaRPr>
                </a:p>
              </p:txBody>
            </p:sp>
          </p:grpSp>
        </p:grpSp>
        <p:grpSp>
          <p:nvGrpSpPr>
            <p:cNvPr id="305" name="304 Grupo"/>
            <p:cNvGrpSpPr/>
            <p:nvPr/>
          </p:nvGrpSpPr>
          <p:grpSpPr>
            <a:xfrm>
              <a:off x="611560" y="5085184"/>
              <a:ext cx="502610" cy="600433"/>
              <a:chOff x="370883" y="4844791"/>
              <a:chExt cx="502610" cy="600433"/>
            </a:xfrm>
          </p:grpSpPr>
          <p:pic>
            <p:nvPicPr>
              <p:cNvPr id="306" name="305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536" y="5158133"/>
                <a:ext cx="287090" cy="287091"/>
              </a:xfrm>
              <a:prstGeom prst="rect">
                <a:avLst/>
              </a:prstGeom>
            </p:spPr>
          </p:pic>
          <p:grpSp>
            <p:nvGrpSpPr>
              <p:cNvPr id="307" name="306 Grupo"/>
              <p:cNvGrpSpPr/>
              <p:nvPr/>
            </p:nvGrpSpPr>
            <p:grpSpPr>
              <a:xfrm>
                <a:off x="370883" y="4844791"/>
                <a:ext cx="502610" cy="340264"/>
                <a:chOff x="4343328" y="1896564"/>
                <a:chExt cx="1952728" cy="1047924"/>
              </a:xfrm>
            </p:grpSpPr>
            <p:sp>
              <p:nvSpPr>
                <p:cNvPr id="308" name="307 Llamada rectangular redondeada"/>
                <p:cNvSpPr/>
                <p:nvPr/>
              </p:nvSpPr>
              <p:spPr>
                <a:xfrm>
                  <a:off x="5287942" y="2357493"/>
                  <a:ext cx="1008114" cy="586995"/>
                </a:xfrm>
                <a:prstGeom prst="wedgeRoundRectCallou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sp>
              <p:nvSpPr>
                <p:cNvPr id="309" name="308 Rectángulo"/>
                <p:cNvSpPr/>
                <p:nvPr/>
              </p:nvSpPr>
              <p:spPr>
                <a:xfrm>
                  <a:off x="4343328" y="1896564"/>
                  <a:ext cx="1214836" cy="758296"/>
                </a:xfrm>
                <a:prstGeom prst="rect">
                  <a:avLst/>
                </a:prstGeom>
              </p:spPr>
              <p:txBody>
                <a:bodyPr wrap="square">
                  <a:spAutoFit/>
                </a:bodyPr>
                <a:lstStyle/>
                <a:p>
                  <a:pPr algn="ctr"/>
                  <a:endParaRPr lang="es-ES" sz="1000" dirty="0">
                    <a:solidFill>
                      <a:prstClr val="black"/>
                    </a:solidFill>
                    <a:latin typeface="Avenir 35" panose="00000400000000000000" pitchFamily="2" charset="0"/>
                  </a:endParaRPr>
                </a:p>
              </p:txBody>
            </p:sp>
          </p:grpSp>
        </p:grpSp>
        <p:grpSp>
          <p:nvGrpSpPr>
            <p:cNvPr id="310" name="309 Grupo"/>
            <p:cNvGrpSpPr/>
            <p:nvPr/>
          </p:nvGrpSpPr>
          <p:grpSpPr>
            <a:xfrm>
              <a:off x="965533" y="4568944"/>
              <a:ext cx="502610" cy="600433"/>
              <a:chOff x="370883" y="4844791"/>
              <a:chExt cx="502610" cy="600433"/>
            </a:xfrm>
          </p:grpSpPr>
          <p:pic>
            <p:nvPicPr>
              <p:cNvPr id="311" name="310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536" y="5158133"/>
                <a:ext cx="287090" cy="287091"/>
              </a:xfrm>
              <a:prstGeom prst="rect">
                <a:avLst/>
              </a:prstGeom>
            </p:spPr>
          </p:pic>
          <p:grpSp>
            <p:nvGrpSpPr>
              <p:cNvPr id="312" name="311 Grupo"/>
              <p:cNvGrpSpPr/>
              <p:nvPr/>
            </p:nvGrpSpPr>
            <p:grpSpPr>
              <a:xfrm>
                <a:off x="370883" y="4844791"/>
                <a:ext cx="502610" cy="340264"/>
                <a:chOff x="4343328" y="1896564"/>
                <a:chExt cx="1952728" cy="1047924"/>
              </a:xfrm>
            </p:grpSpPr>
            <p:sp>
              <p:nvSpPr>
                <p:cNvPr id="313" name="312 Llamada rectangular redondeada"/>
                <p:cNvSpPr/>
                <p:nvPr/>
              </p:nvSpPr>
              <p:spPr>
                <a:xfrm>
                  <a:off x="5287942" y="2357493"/>
                  <a:ext cx="1008114" cy="586995"/>
                </a:xfrm>
                <a:prstGeom prst="wedgeRoundRectCallou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sp>
              <p:nvSpPr>
                <p:cNvPr id="314" name="313 Rectángulo"/>
                <p:cNvSpPr/>
                <p:nvPr/>
              </p:nvSpPr>
              <p:spPr>
                <a:xfrm>
                  <a:off x="4343328" y="1896564"/>
                  <a:ext cx="1214836" cy="758296"/>
                </a:xfrm>
                <a:prstGeom prst="rect">
                  <a:avLst/>
                </a:prstGeom>
              </p:spPr>
              <p:txBody>
                <a:bodyPr wrap="square">
                  <a:spAutoFit/>
                </a:bodyPr>
                <a:lstStyle/>
                <a:p>
                  <a:pPr algn="ctr"/>
                  <a:endParaRPr lang="es-ES" sz="1000" dirty="0">
                    <a:solidFill>
                      <a:prstClr val="black"/>
                    </a:solidFill>
                    <a:latin typeface="Avenir 35" panose="00000400000000000000" pitchFamily="2" charset="0"/>
                  </a:endParaRPr>
                </a:p>
              </p:txBody>
            </p:sp>
          </p:grpSp>
        </p:grpSp>
        <p:grpSp>
          <p:nvGrpSpPr>
            <p:cNvPr id="315" name="314 Grupo"/>
            <p:cNvGrpSpPr/>
            <p:nvPr/>
          </p:nvGrpSpPr>
          <p:grpSpPr>
            <a:xfrm>
              <a:off x="351529" y="4568944"/>
              <a:ext cx="502610" cy="600433"/>
              <a:chOff x="370883" y="4844791"/>
              <a:chExt cx="502610" cy="600433"/>
            </a:xfrm>
          </p:grpSpPr>
          <p:pic>
            <p:nvPicPr>
              <p:cNvPr id="316" name="315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536" y="5158133"/>
                <a:ext cx="287090" cy="287091"/>
              </a:xfrm>
              <a:prstGeom prst="rect">
                <a:avLst/>
              </a:prstGeom>
            </p:spPr>
          </p:pic>
          <p:grpSp>
            <p:nvGrpSpPr>
              <p:cNvPr id="317" name="316 Grupo"/>
              <p:cNvGrpSpPr/>
              <p:nvPr/>
            </p:nvGrpSpPr>
            <p:grpSpPr>
              <a:xfrm>
                <a:off x="370883" y="4844791"/>
                <a:ext cx="502610" cy="340264"/>
                <a:chOff x="4343328" y="1896564"/>
                <a:chExt cx="1952728" cy="1047924"/>
              </a:xfrm>
            </p:grpSpPr>
            <p:sp>
              <p:nvSpPr>
                <p:cNvPr id="318" name="317 Llamada rectangular redondeada"/>
                <p:cNvSpPr/>
                <p:nvPr/>
              </p:nvSpPr>
              <p:spPr>
                <a:xfrm>
                  <a:off x="5287942" y="2357493"/>
                  <a:ext cx="1008114" cy="586995"/>
                </a:xfrm>
                <a:prstGeom prst="wedgeRoundRectCallou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sp>
              <p:nvSpPr>
                <p:cNvPr id="319" name="318 Rectángulo"/>
                <p:cNvSpPr/>
                <p:nvPr/>
              </p:nvSpPr>
              <p:spPr>
                <a:xfrm>
                  <a:off x="4343328" y="1896564"/>
                  <a:ext cx="1214836" cy="758296"/>
                </a:xfrm>
                <a:prstGeom prst="rect">
                  <a:avLst/>
                </a:prstGeom>
              </p:spPr>
              <p:txBody>
                <a:bodyPr wrap="square">
                  <a:spAutoFit/>
                </a:bodyPr>
                <a:lstStyle/>
                <a:p>
                  <a:pPr algn="ctr"/>
                  <a:endParaRPr lang="es-ES" sz="1000" dirty="0">
                    <a:solidFill>
                      <a:prstClr val="black"/>
                    </a:solidFill>
                    <a:latin typeface="Avenir 35" panose="00000400000000000000" pitchFamily="2" charset="0"/>
                  </a:endParaRPr>
                </a:p>
              </p:txBody>
            </p:sp>
          </p:grpSp>
        </p:grpSp>
      </p:grpSp>
      <p:grpSp>
        <p:nvGrpSpPr>
          <p:cNvPr id="325" name="324 Grupo"/>
          <p:cNvGrpSpPr/>
          <p:nvPr/>
        </p:nvGrpSpPr>
        <p:grpSpPr>
          <a:xfrm>
            <a:off x="2331040" y="4688592"/>
            <a:ext cx="1919882" cy="1116673"/>
            <a:chOff x="351529" y="4568944"/>
            <a:chExt cx="1772199" cy="1116673"/>
          </a:xfrm>
        </p:grpSpPr>
        <p:grpSp>
          <p:nvGrpSpPr>
            <p:cNvPr id="326" name="325 Grupo"/>
            <p:cNvGrpSpPr/>
            <p:nvPr/>
          </p:nvGrpSpPr>
          <p:grpSpPr>
            <a:xfrm>
              <a:off x="1324470" y="5085184"/>
              <a:ext cx="502610" cy="600433"/>
              <a:chOff x="370883" y="4844791"/>
              <a:chExt cx="502610" cy="600433"/>
            </a:xfrm>
          </p:grpSpPr>
          <p:pic>
            <p:nvPicPr>
              <p:cNvPr id="347" name="346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536" y="5158133"/>
                <a:ext cx="287090" cy="287091"/>
              </a:xfrm>
              <a:prstGeom prst="rect">
                <a:avLst/>
              </a:prstGeom>
            </p:spPr>
          </p:pic>
          <p:grpSp>
            <p:nvGrpSpPr>
              <p:cNvPr id="348" name="347 Grupo"/>
              <p:cNvGrpSpPr/>
              <p:nvPr/>
            </p:nvGrpSpPr>
            <p:grpSpPr>
              <a:xfrm>
                <a:off x="370883" y="4844791"/>
                <a:ext cx="502610" cy="340264"/>
                <a:chOff x="4343328" y="1896564"/>
                <a:chExt cx="1952728" cy="1047924"/>
              </a:xfrm>
            </p:grpSpPr>
            <p:sp>
              <p:nvSpPr>
                <p:cNvPr id="349" name="348 Llamada rectangular redondeada"/>
                <p:cNvSpPr/>
                <p:nvPr/>
              </p:nvSpPr>
              <p:spPr>
                <a:xfrm>
                  <a:off x="5287942" y="2357493"/>
                  <a:ext cx="1008114" cy="586995"/>
                </a:xfrm>
                <a:prstGeom prst="wedgeRoundRectCallou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sp>
              <p:nvSpPr>
                <p:cNvPr id="350" name="349 Rectángulo"/>
                <p:cNvSpPr/>
                <p:nvPr/>
              </p:nvSpPr>
              <p:spPr>
                <a:xfrm>
                  <a:off x="4343328" y="1896564"/>
                  <a:ext cx="1214836" cy="758296"/>
                </a:xfrm>
                <a:prstGeom prst="rect">
                  <a:avLst/>
                </a:prstGeom>
              </p:spPr>
              <p:txBody>
                <a:bodyPr wrap="square">
                  <a:spAutoFit/>
                </a:bodyPr>
                <a:lstStyle/>
                <a:p>
                  <a:pPr algn="ctr"/>
                  <a:endParaRPr lang="es-ES" sz="1000" dirty="0">
                    <a:solidFill>
                      <a:prstClr val="black"/>
                    </a:solidFill>
                    <a:latin typeface="Avenir 35" panose="00000400000000000000" pitchFamily="2" charset="0"/>
                  </a:endParaRPr>
                </a:p>
              </p:txBody>
            </p:sp>
          </p:grpSp>
        </p:grpSp>
        <p:grpSp>
          <p:nvGrpSpPr>
            <p:cNvPr id="327" name="326 Grupo"/>
            <p:cNvGrpSpPr/>
            <p:nvPr/>
          </p:nvGrpSpPr>
          <p:grpSpPr>
            <a:xfrm>
              <a:off x="1621118" y="4568944"/>
              <a:ext cx="502610" cy="600433"/>
              <a:chOff x="370883" y="4844791"/>
              <a:chExt cx="502610" cy="600433"/>
            </a:xfrm>
          </p:grpSpPr>
          <p:pic>
            <p:nvPicPr>
              <p:cNvPr id="343" name="342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536" y="5158133"/>
                <a:ext cx="287090" cy="287091"/>
              </a:xfrm>
              <a:prstGeom prst="rect">
                <a:avLst/>
              </a:prstGeom>
            </p:spPr>
          </p:pic>
          <p:grpSp>
            <p:nvGrpSpPr>
              <p:cNvPr id="344" name="343 Grupo"/>
              <p:cNvGrpSpPr/>
              <p:nvPr/>
            </p:nvGrpSpPr>
            <p:grpSpPr>
              <a:xfrm>
                <a:off x="370883" y="4844791"/>
                <a:ext cx="502610" cy="340264"/>
                <a:chOff x="4343328" y="1896564"/>
                <a:chExt cx="1952728" cy="1047924"/>
              </a:xfrm>
            </p:grpSpPr>
            <p:sp>
              <p:nvSpPr>
                <p:cNvPr id="345" name="344 Llamada rectangular redondeada"/>
                <p:cNvSpPr/>
                <p:nvPr/>
              </p:nvSpPr>
              <p:spPr>
                <a:xfrm>
                  <a:off x="5287942" y="2357493"/>
                  <a:ext cx="1008114" cy="586995"/>
                </a:xfrm>
                <a:prstGeom prst="wedgeRoundRectCallou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sp>
              <p:nvSpPr>
                <p:cNvPr id="346" name="345 Rectángulo"/>
                <p:cNvSpPr/>
                <p:nvPr/>
              </p:nvSpPr>
              <p:spPr>
                <a:xfrm>
                  <a:off x="4343328" y="1896564"/>
                  <a:ext cx="1214836" cy="758296"/>
                </a:xfrm>
                <a:prstGeom prst="rect">
                  <a:avLst/>
                </a:prstGeom>
              </p:spPr>
              <p:txBody>
                <a:bodyPr wrap="square">
                  <a:spAutoFit/>
                </a:bodyPr>
                <a:lstStyle/>
                <a:p>
                  <a:pPr algn="ctr"/>
                  <a:endParaRPr lang="es-ES" sz="1000" dirty="0">
                    <a:solidFill>
                      <a:prstClr val="black"/>
                    </a:solidFill>
                    <a:latin typeface="Avenir 35" panose="00000400000000000000" pitchFamily="2" charset="0"/>
                  </a:endParaRPr>
                </a:p>
              </p:txBody>
            </p:sp>
          </p:grpSp>
        </p:grpSp>
        <p:grpSp>
          <p:nvGrpSpPr>
            <p:cNvPr id="328" name="327 Grupo"/>
            <p:cNvGrpSpPr/>
            <p:nvPr/>
          </p:nvGrpSpPr>
          <p:grpSpPr>
            <a:xfrm>
              <a:off x="611560" y="5085184"/>
              <a:ext cx="502610" cy="600433"/>
              <a:chOff x="370883" y="4844791"/>
              <a:chExt cx="502610" cy="600433"/>
            </a:xfrm>
          </p:grpSpPr>
          <p:pic>
            <p:nvPicPr>
              <p:cNvPr id="339" name="338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536" y="5158133"/>
                <a:ext cx="287090" cy="287091"/>
              </a:xfrm>
              <a:prstGeom prst="rect">
                <a:avLst/>
              </a:prstGeom>
            </p:spPr>
          </p:pic>
          <p:grpSp>
            <p:nvGrpSpPr>
              <p:cNvPr id="340" name="339 Grupo"/>
              <p:cNvGrpSpPr/>
              <p:nvPr/>
            </p:nvGrpSpPr>
            <p:grpSpPr>
              <a:xfrm>
                <a:off x="370883" y="4844791"/>
                <a:ext cx="502610" cy="340264"/>
                <a:chOff x="4343328" y="1896564"/>
                <a:chExt cx="1952728" cy="1047924"/>
              </a:xfrm>
            </p:grpSpPr>
            <p:sp>
              <p:nvSpPr>
                <p:cNvPr id="341" name="340 Llamada rectangular redondeada"/>
                <p:cNvSpPr/>
                <p:nvPr/>
              </p:nvSpPr>
              <p:spPr>
                <a:xfrm>
                  <a:off x="5287942" y="2357493"/>
                  <a:ext cx="1008114" cy="586995"/>
                </a:xfrm>
                <a:prstGeom prst="wedgeRoundRectCallou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sp>
              <p:nvSpPr>
                <p:cNvPr id="342" name="341 Rectángulo"/>
                <p:cNvSpPr/>
                <p:nvPr/>
              </p:nvSpPr>
              <p:spPr>
                <a:xfrm>
                  <a:off x="4343328" y="1896564"/>
                  <a:ext cx="1214836" cy="758296"/>
                </a:xfrm>
                <a:prstGeom prst="rect">
                  <a:avLst/>
                </a:prstGeom>
              </p:spPr>
              <p:txBody>
                <a:bodyPr wrap="square">
                  <a:spAutoFit/>
                </a:bodyPr>
                <a:lstStyle/>
                <a:p>
                  <a:pPr algn="ctr"/>
                  <a:endParaRPr lang="es-ES" sz="1000" dirty="0">
                    <a:solidFill>
                      <a:prstClr val="black"/>
                    </a:solidFill>
                    <a:latin typeface="Avenir 35" panose="00000400000000000000" pitchFamily="2" charset="0"/>
                  </a:endParaRPr>
                </a:p>
              </p:txBody>
            </p:sp>
          </p:grpSp>
        </p:grpSp>
        <p:grpSp>
          <p:nvGrpSpPr>
            <p:cNvPr id="329" name="328 Grupo"/>
            <p:cNvGrpSpPr/>
            <p:nvPr/>
          </p:nvGrpSpPr>
          <p:grpSpPr>
            <a:xfrm>
              <a:off x="965533" y="4568944"/>
              <a:ext cx="502610" cy="600433"/>
              <a:chOff x="370883" y="4844791"/>
              <a:chExt cx="502610" cy="600433"/>
            </a:xfrm>
          </p:grpSpPr>
          <p:pic>
            <p:nvPicPr>
              <p:cNvPr id="335" name="334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536" y="5158133"/>
                <a:ext cx="287090" cy="287091"/>
              </a:xfrm>
              <a:prstGeom prst="rect">
                <a:avLst/>
              </a:prstGeom>
            </p:spPr>
          </p:pic>
          <p:grpSp>
            <p:nvGrpSpPr>
              <p:cNvPr id="336" name="335 Grupo"/>
              <p:cNvGrpSpPr/>
              <p:nvPr/>
            </p:nvGrpSpPr>
            <p:grpSpPr>
              <a:xfrm>
                <a:off x="370883" y="4844791"/>
                <a:ext cx="502610" cy="340264"/>
                <a:chOff x="4343328" y="1896564"/>
                <a:chExt cx="1952728" cy="1047924"/>
              </a:xfrm>
            </p:grpSpPr>
            <p:sp>
              <p:nvSpPr>
                <p:cNvPr id="337" name="336 Llamada rectangular redondeada"/>
                <p:cNvSpPr/>
                <p:nvPr/>
              </p:nvSpPr>
              <p:spPr>
                <a:xfrm>
                  <a:off x="5287942" y="2357493"/>
                  <a:ext cx="1008114" cy="586995"/>
                </a:xfrm>
                <a:prstGeom prst="wedgeRoundRectCallou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sp>
              <p:nvSpPr>
                <p:cNvPr id="338" name="337 Rectángulo"/>
                <p:cNvSpPr/>
                <p:nvPr/>
              </p:nvSpPr>
              <p:spPr>
                <a:xfrm>
                  <a:off x="4343328" y="1896564"/>
                  <a:ext cx="1214836" cy="758296"/>
                </a:xfrm>
                <a:prstGeom prst="rect">
                  <a:avLst/>
                </a:prstGeom>
              </p:spPr>
              <p:txBody>
                <a:bodyPr wrap="square">
                  <a:spAutoFit/>
                </a:bodyPr>
                <a:lstStyle/>
                <a:p>
                  <a:pPr algn="ctr"/>
                  <a:endParaRPr lang="es-ES" sz="1000" dirty="0">
                    <a:solidFill>
                      <a:prstClr val="black"/>
                    </a:solidFill>
                    <a:latin typeface="Avenir 35" panose="00000400000000000000" pitchFamily="2" charset="0"/>
                  </a:endParaRPr>
                </a:p>
              </p:txBody>
            </p:sp>
          </p:grpSp>
        </p:grpSp>
        <p:grpSp>
          <p:nvGrpSpPr>
            <p:cNvPr id="330" name="329 Grupo"/>
            <p:cNvGrpSpPr/>
            <p:nvPr/>
          </p:nvGrpSpPr>
          <p:grpSpPr>
            <a:xfrm>
              <a:off x="351529" y="4568944"/>
              <a:ext cx="502610" cy="600433"/>
              <a:chOff x="370883" y="4844791"/>
              <a:chExt cx="502610" cy="600433"/>
            </a:xfrm>
          </p:grpSpPr>
          <p:pic>
            <p:nvPicPr>
              <p:cNvPr id="331" name="330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536" y="5158133"/>
                <a:ext cx="287090" cy="287091"/>
              </a:xfrm>
              <a:prstGeom prst="rect">
                <a:avLst/>
              </a:prstGeom>
            </p:spPr>
          </p:pic>
          <p:grpSp>
            <p:nvGrpSpPr>
              <p:cNvPr id="332" name="331 Grupo"/>
              <p:cNvGrpSpPr/>
              <p:nvPr/>
            </p:nvGrpSpPr>
            <p:grpSpPr>
              <a:xfrm>
                <a:off x="370883" y="4844791"/>
                <a:ext cx="502610" cy="340264"/>
                <a:chOff x="4343328" y="1896564"/>
                <a:chExt cx="1952728" cy="1047924"/>
              </a:xfrm>
            </p:grpSpPr>
            <p:sp>
              <p:nvSpPr>
                <p:cNvPr id="333" name="332 Llamada rectangular redondeada"/>
                <p:cNvSpPr/>
                <p:nvPr/>
              </p:nvSpPr>
              <p:spPr>
                <a:xfrm>
                  <a:off x="5287942" y="2357493"/>
                  <a:ext cx="1008114" cy="586995"/>
                </a:xfrm>
                <a:prstGeom prst="wedgeRoundRectCallou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sp>
              <p:nvSpPr>
                <p:cNvPr id="334" name="333 Rectángulo"/>
                <p:cNvSpPr/>
                <p:nvPr/>
              </p:nvSpPr>
              <p:spPr>
                <a:xfrm>
                  <a:off x="4343328" y="1896564"/>
                  <a:ext cx="1214836" cy="758296"/>
                </a:xfrm>
                <a:prstGeom prst="rect">
                  <a:avLst/>
                </a:prstGeom>
              </p:spPr>
              <p:txBody>
                <a:bodyPr wrap="square">
                  <a:spAutoFit/>
                </a:bodyPr>
                <a:lstStyle/>
                <a:p>
                  <a:pPr algn="ctr"/>
                  <a:endParaRPr lang="es-ES" sz="1000" dirty="0">
                    <a:solidFill>
                      <a:prstClr val="black"/>
                    </a:solidFill>
                    <a:latin typeface="Avenir 35" panose="00000400000000000000" pitchFamily="2" charset="0"/>
                  </a:endParaRPr>
                </a:p>
              </p:txBody>
            </p:sp>
          </p:grpSp>
        </p:grpSp>
      </p:grpSp>
      <p:cxnSp>
        <p:nvCxnSpPr>
          <p:cNvPr id="27" name="26 Conector recto"/>
          <p:cNvCxnSpPr/>
          <p:nvPr/>
        </p:nvCxnSpPr>
        <p:spPr>
          <a:xfrm>
            <a:off x="272480" y="6099146"/>
            <a:ext cx="1840722"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351" name="350 Conector recto"/>
          <p:cNvCxnSpPr/>
          <p:nvPr/>
        </p:nvCxnSpPr>
        <p:spPr>
          <a:xfrm>
            <a:off x="2332191" y="6099146"/>
            <a:ext cx="1840722"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8" name="27 CuadroTexto"/>
          <p:cNvSpPr txBox="1"/>
          <p:nvPr/>
        </p:nvSpPr>
        <p:spPr>
          <a:xfrm>
            <a:off x="376686" y="6093297"/>
            <a:ext cx="1737668" cy="646331"/>
          </a:xfrm>
          <a:prstGeom prst="rect">
            <a:avLst/>
          </a:prstGeom>
          <a:noFill/>
        </p:spPr>
        <p:txBody>
          <a:bodyPr wrap="square" rtlCol="0">
            <a:spAutoFit/>
          </a:bodyPr>
          <a:lstStyle/>
          <a:p>
            <a:pPr algn="ctr"/>
            <a:r>
              <a:rPr lang="es-ES" sz="900" dirty="0">
                <a:solidFill>
                  <a:prstClr val="black"/>
                </a:solidFill>
                <a:latin typeface="Avenir 35" panose="00000400000000000000" pitchFamily="2" charset="0"/>
              </a:rPr>
              <a:t>Se envían 5 tipos de email a los </a:t>
            </a:r>
            <a:r>
              <a:rPr lang="es-ES" sz="900" dirty="0">
                <a:solidFill>
                  <a:prstClr val="black"/>
                </a:solidFill>
                <a:latin typeface="Avenir 65" panose="02000600000000000000" pitchFamily="2" charset="0"/>
              </a:rPr>
              <a:t>clientes empresa </a:t>
            </a:r>
            <a:r>
              <a:rPr lang="es-ES" sz="900" dirty="0">
                <a:solidFill>
                  <a:prstClr val="black"/>
                </a:solidFill>
                <a:latin typeface="Avenir 35" panose="00000400000000000000" pitchFamily="2" charset="0"/>
              </a:rPr>
              <a:t>en función del modelo de vehículo </a:t>
            </a:r>
          </a:p>
        </p:txBody>
      </p:sp>
      <p:sp>
        <p:nvSpPr>
          <p:cNvPr id="352" name="351 CuadroTexto"/>
          <p:cNvSpPr txBox="1"/>
          <p:nvPr/>
        </p:nvSpPr>
        <p:spPr>
          <a:xfrm>
            <a:off x="2201220" y="6093297"/>
            <a:ext cx="1737668" cy="646331"/>
          </a:xfrm>
          <a:prstGeom prst="rect">
            <a:avLst/>
          </a:prstGeom>
          <a:noFill/>
        </p:spPr>
        <p:txBody>
          <a:bodyPr wrap="square" rtlCol="0">
            <a:spAutoFit/>
          </a:bodyPr>
          <a:lstStyle/>
          <a:p>
            <a:pPr algn="ctr"/>
            <a:r>
              <a:rPr lang="es-ES" sz="900" dirty="0">
                <a:solidFill>
                  <a:prstClr val="black"/>
                </a:solidFill>
                <a:latin typeface="Avenir 35" panose="00000400000000000000" pitchFamily="2" charset="0"/>
              </a:rPr>
              <a:t>Se envían 5 tipos de email a los </a:t>
            </a:r>
            <a:r>
              <a:rPr lang="es-ES" sz="900" dirty="0">
                <a:solidFill>
                  <a:prstClr val="black"/>
                </a:solidFill>
                <a:latin typeface="Avenir 65" panose="02000600000000000000" pitchFamily="2" charset="0"/>
              </a:rPr>
              <a:t>clientes particulares </a:t>
            </a:r>
            <a:r>
              <a:rPr lang="es-ES" sz="900" dirty="0">
                <a:solidFill>
                  <a:prstClr val="black"/>
                </a:solidFill>
                <a:latin typeface="Avenir 35" panose="00000400000000000000" pitchFamily="2" charset="0"/>
              </a:rPr>
              <a:t>en función del modelo de vehículo </a:t>
            </a:r>
          </a:p>
        </p:txBody>
      </p:sp>
      <p:cxnSp>
        <p:nvCxnSpPr>
          <p:cNvPr id="353" name="352 Conector recto"/>
          <p:cNvCxnSpPr/>
          <p:nvPr/>
        </p:nvCxnSpPr>
        <p:spPr>
          <a:xfrm flipH="1" flipV="1">
            <a:off x="2222697" y="4675348"/>
            <a:ext cx="15714" cy="1849997"/>
          </a:xfrm>
          <a:prstGeom prst="line">
            <a:avLst/>
          </a:prstGeom>
          <a:ln>
            <a:solidFill>
              <a:srgbClr val="3CB2C3"/>
            </a:solidFill>
            <a:prstDash val="sysDash"/>
          </a:ln>
        </p:spPr>
        <p:style>
          <a:lnRef idx="1">
            <a:schemeClr val="accent1"/>
          </a:lnRef>
          <a:fillRef idx="0">
            <a:schemeClr val="accent1"/>
          </a:fillRef>
          <a:effectRef idx="0">
            <a:schemeClr val="accent1"/>
          </a:effectRef>
          <a:fontRef idx="minor">
            <a:schemeClr val="tx1"/>
          </a:fontRef>
        </p:style>
      </p:cxnSp>
      <p:sp>
        <p:nvSpPr>
          <p:cNvPr id="354" name="353 Rectángulo"/>
          <p:cNvSpPr/>
          <p:nvPr/>
        </p:nvSpPr>
        <p:spPr>
          <a:xfrm>
            <a:off x="5597680" y="1700808"/>
            <a:ext cx="3258470" cy="144620"/>
          </a:xfrm>
          <a:prstGeom prst="rect">
            <a:avLst/>
          </a:prstGeom>
          <a:solidFill>
            <a:srgbClr val="3CB2C3"/>
          </a:solidFill>
          <a:ln w="12700">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700" dirty="0">
                <a:solidFill>
                  <a:prstClr val="white"/>
                </a:solidFill>
                <a:latin typeface="Avenir 35" panose="00000400000000000000" pitchFamily="2" charset="0"/>
              </a:rPr>
              <a:t>Última financiación/compra: 8 años – 180 días </a:t>
            </a:r>
          </a:p>
        </p:txBody>
      </p:sp>
      <p:sp>
        <p:nvSpPr>
          <p:cNvPr id="355" name="354 Rectángulo"/>
          <p:cNvSpPr/>
          <p:nvPr/>
        </p:nvSpPr>
        <p:spPr>
          <a:xfrm>
            <a:off x="5597680" y="1964737"/>
            <a:ext cx="3258470" cy="144620"/>
          </a:xfrm>
          <a:prstGeom prst="rect">
            <a:avLst/>
          </a:prstGeom>
          <a:solidFill>
            <a:srgbClr val="3CB2C3"/>
          </a:solidFill>
          <a:ln w="12700">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700" dirty="0">
                <a:solidFill>
                  <a:prstClr val="white"/>
                </a:solidFill>
                <a:latin typeface="Avenir 35" panose="00000400000000000000" pitchFamily="2" charset="0"/>
              </a:rPr>
              <a:t>Edad: menos de 45, entre 45 y 65, más de 65</a:t>
            </a:r>
          </a:p>
        </p:txBody>
      </p:sp>
      <p:sp>
        <p:nvSpPr>
          <p:cNvPr id="356" name="355 Rectángulo"/>
          <p:cNvSpPr/>
          <p:nvPr/>
        </p:nvSpPr>
        <p:spPr>
          <a:xfrm>
            <a:off x="5597680" y="2228666"/>
            <a:ext cx="3258470" cy="144620"/>
          </a:xfrm>
          <a:prstGeom prst="rect">
            <a:avLst/>
          </a:prstGeom>
          <a:solidFill>
            <a:srgbClr val="3CB2C3"/>
          </a:solidFill>
          <a:ln w="12700">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700" dirty="0">
                <a:solidFill>
                  <a:prstClr val="white"/>
                </a:solidFill>
                <a:latin typeface="Avenir 35" panose="00000400000000000000" pitchFamily="2" charset="0"/>
              </a:rPr>
              <a:t>Empresa/particular</a:t>
            </a:r>
          </a:p>
        </p:txBody>
      </p:sp>
      <p:sp>
        <p:nvSpPr>
          <p:cNvPr id="359" name="358 Rectángulo"/>
          <p:cNvSpPr/>
          <p:nvPr/>
        </p:nvSpPr>
        <p:spPr>
          <a:xfrm>
            <a:off x="5597680" y="2756524"/>
            <a:ext cx="3258470" cy="144620"/>
          </a:xfrm>
          <a:prstGeom prst="rect">
            <a:avLst/>
          </a:prstGeom>
          <a:solidFill>
            <a:srgbClr val="0086AC"/>
          </a:solidFill>
          <a:ln>
            <a:solidFill>
              <a:srgbClr val="008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700" dirty="0">
                <a:solidFill>
                  <a:prstClr val="white"/>
                </a:solidFill>
                <a:latin typeface="Avenir 35" panose="00000400000000000000" pitchFamily="2" charset="0"/>
              </a:rPr>
              <a:t>Nº de vehículos</a:t>
            </a:r>
          </a:p>
        </p:txBody>
      </p:sp>
      <p:pic>
        <p:nvPicPr>
          <p:cNvPr id="360" name="359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978555" y="5261049"/>
            <a:ext cx="236787" cy="218574"/>
          </a:xfrm>
          <a:prstGeom prst="rect">
            <a:avLst/>
          </a:prstGeom>
        </p:spPr>
      </p:pic>
      <p:sp>
        <p:nvSpPr>
          <p:cNvPr id="375" name="374 Rectángulo"/>
          <p:cNvSpPr/>
          <p:nvPr/>
        </p:nvSpPr>
        <p:spPr>
          <a:xfrm>
            <a:off x="5597680" y="3020453"/>
            <a:ext cx="3258470" cy="144620"/>
          </a:xfrm>
          <a:prstGeom prst="rect">
            <a:avLst/>
          </a:prstGeom>
          <a:solidFill>
            <a:srgbClr val="0086AC"/>
          </a:solidFill>
          <a:ln>
            <a:solidFill>
              <a:srgbClr val="008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700" dirty="0">
                <a:solidFill>
                  <a:prstClr val="white"/>
                </a:solidFill>
                <a:latin typeface="Avenir 35" panose="00000400000000000000" pitchFamily="2" charset="0"/>
              </a:rPr>
              <a:t>Interactuación con ventas</a:t>
            </a:r>
          </a:p>
        </p:txBody>
      </p:sp>
      <p:pic>
        <p:nvPicPr>
          <p:cNvPr id="376" name="375 Imagen"/>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71278" y="5232552"/>
            <a:ext cx="308403" cy="284680"/>
          </a:xfrm>
          <a:prstGeom prst="rect">
            <a:avLst/>
          </a:prstGeom>
        </p:spPr>
      </p:pic>
      <p:sp>
        <p:nvSpPr>
          <p:cNvPr id="378" name="377 Rectángulo"/>
          <p:cNvSpPr/>
          <p:nvPr/>
        </p:nvSpPr>
        <p:spPr>
          <a:xfrm>
            <a:off x="5594964" y="4667800"/>
            <a:ext cx="3269504" cy="201361"/>
          </a:xfrm>
          <a:prstGeom prst="rect">
            <a:avLst/>
          </a:prstGeom>
          <a:solidFill>
            <a:srgbClr val="3CB2C3"/>
          </a:solid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solidFill>
                  <a:prstClr val="white"/>
                </a:solidFill>
                <a:latin typeface="Avenir 35" panose="00000400000000000000" pitchFamily="2" charset="0"/>
              </a:rPr>
              <a:t>MENSAJES, FORMATO, CANALES </a:t>
            </a:r>
          </a:p>
        </p:txBody>
      </p:sp>
      <p:sp>
        <p:nvSpPr>
          <p:cNvPr id="379" name="378 Rectángulo"/>
          <p:cNvSpPr/>
          <p:nvPr/>
        </p:nvSpPr>
        <p:spPr>
          <a:xfrm>
            <a:off x="5605998" y="2492595"/>
            <a:ext cx="3258470" cy="144620"/>
          </a:xfrm>
          <a:prstGeom prst="rect">
            <a:avLst/>
          </a:prstGeom>
          <a:solidFill>
            <a:srgbClr val="3CB2C3"/>
          </a:solidFill>
          <a:ln w="12700">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700" dirty="0">
                <a:solidFill>
                  <a:prstClr val="white"/>
                </a:solidFill>
                <a:latin typeface="Avenir 35" panose="00000400000000000000" pitchFamily="2" charset="0"/>
              </a:rPr>
              <a:t>Modelo de vehículo</a:t>
            </a:r>
          </a:p>
        </p:txBody>
      </p:sp>
      <p:sp>
        <p:nvSpPr>
          <p:cNvPr id="380" name="379 Rectángulo"/>
          <p:cNvSpPr/>
          <p:nvPr/>
        </p:nvSpPr>
        <p:spPr>
          <a:xfrm>
            <a:off x="5594964" y="3284380"/>
            <a:ext cx="3258470" cy="144620"/>
          </a:xfrm>
          <a:prstGeom prst="rect">
            <a:avLst/>
          </a:prstGeom>
          <a:solidFill>
            <a:srgbClr val="0086AC"/>
          </a:solidFill>
          <a:ln>
            <a:solidFill>
              <a:srgbClr val="008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700" dirty="0">
                <a:solidFill>
                  <a:prstClr val="white"/>
                </a:solidFill>
                <a:latin typeface="Avenir 35" panose="00000400000000000000" pitchFamily="2" charset="0"/>
              </a:rPr>
              <a:t>Geolocalización</a:t>
            </a:r>
          </a:p>
        </p:txBody>
      </p:sp>
      <p:sp>
        <p:nvSpPr>
          <p:cNvPr id="381" name="380 Rectángulo"/>
          <p:cNvSpPr/>
          <p:nvPr/>
        </p:nvSpPr>
        <p:spPr>
          <a:xfrm>
            <a:off x="5594964" y="6112975"/>
            <a:ext cx="3269504" cy="216628"/>
          </a:xfrm>
          <a:prstGeom prst="rect">
            <a:avLst/>
          </a:prstGeom>
          <a:solidFill>
            <a:srgbClr val="3CB2C3"/>
          </a:solid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solidFill>
                  <a:prstClr val="white"/>
                </a:solidFill>
                <a:latin typeface="Avenir 35" panose="00000400000000000000" pitchFamily="2" charset="0"/>
              </a:rPr>
              <a:t>ANALÍTICA, TESTING A/B</a:t>
            </a:r>
          </a:p>
        </p:txBody>
      </p:sp>
      <p:pic>
        <p:nvPicPr>
          <p:cNvPr id="386" name="Picture 2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579681" y="5261050"/>
            <a:ext cx="245527" cy="2409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5" name="34 CuadroTexto"/>
          <p:cNvSpPr txBox="1"/>
          <p:nvPr/>
        </p:nvSpPr>
        <p:spPr>
          <a:xfrm>
            <a:off x="7482533" y="3717032"/>
            <a:ext cx="1381935" cy="646331"/>
          </a:xfrm>
          <a:prstGeom prst="rect">
            <a:avLst/>
          </a:prstGeom>
          <a:noFill/>
        </p:spPr>
        <p:txBody>
          <a:bodyPr wrap="square" rtlCol="0">
            <a:spAutoFit/>
          </a:bodyPr>
          <a:lstStyle/>
          <a:p>
            <a:pPr algn="ctr"/>
            <a:r>
              <a:rPr lang="es-ES" sz="900" dirty="0">
                <a:solidFill>
                  <a:prstClr val="black"/>
                </a:solidFill>
                <a:latin typeface="Avenir 35" panose="00000400000000000000" pitchFamily="2" charset="0"/>
              </a:rPr>
              <a:t>Nuevos segmentos potenciales  con los que conectar de forma más personalizada </a:t>
            </a:r>
          </a:p>
        </p:txBody>
      </p:sp>
      <p:grpSp>
        <p:nvGrpSpPr>
          <p:cNvPr id="456" name="455 Grupo"/>
          <p:cNvGrpSpPr/>
          <p:nvPr/>
        </p:nvGrpSpPr>
        <p:grpSpPr>
          <a:xfrm>
            <a:off x="7129266" y="4979782"/>
            <a:ext cx="1642064" cy="1015663"/>
            <a:chOff x="4127304" y="1718610"/>
            <a:chExt cx="1667326" cy="1117229"/>
          </a:xfrm>
        </p:grpSpPr>
        <p:sp>
          <p:nvSpPr>
            <p:cNvPr id="457" name="456 Llamada rectangular redondeada"/>
            <p:cNvSpPr/>
            <p:nvPr/>
          </p:nvSpPr>
          <p:spPr>
            <a:xfrm>
              <a:off x="4138919" y="1790397"/>
              <a:ext cx="1655711" cy="958408"/>
            </a:xfrm>
            <a:prstGeom prst="wedgeRoundRectCallou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latin typeface="Avenir 35" panose="00000400000000000000" pitchFamily="2" charset="0"/>
              </a:endParaRPr>
            </a:p>
          </p:txBody>
        </p:sp>
        <p:sp>
          <p:nvSpPr>
            <p:cNvPr id="458" name="457 Rectángulo"/>
            <p:cNvSpPr/>
            <p:nvPr/>
          </p:nvSpPr>
          <p:spPr>
            <a:xfrm>
              <a:off x="4127304" y="1718610"/>
              <a:ext cx="1646884" cy="1117229"/>
            </a:xfrm>
            <a:prstGeom prst="rect">
              <a:avLst/>
            </a:prstGeom>
          </p:spPr>
          <p:txBody>
            <a:bodyPr wrap="square">
              <a:spAutoFit/>
            </a:bodyPr>
            <a:lstStyle/>
            <a:p>
              <a:pPr algn="ctr"/>
              <a:endParaRPr lang="es-ES" sz="1000" dirty="0">
                <a:solidFill>
                  <a:prstClr val="black"/>
                </a:solidFill>
                <a:latin typeface="Avenir 35" panose="00000400000000000000" pitchFamily="2" charset="0"/>
              </a:endParaRPr>
            </a:p>
            <a:p>
              <a:pPr algn="ctr"/>
              <a:r>
                <a:rPr lang="es-ES" sz="800" dirty="0">
                  <a:solidFill>
                    <a:prstClr val="black"/>
                  </a:solidFill>
                  <a:latin typeface="Avenir 35" panose="00000400000000000000" pitchFamily="2" charset="0"/>
                </a:rPr>
                <a:t>Diferentes ofertas</a:t>
              </a:r>
            </a:p>
            <a:p>
              <a:pPr algn="ctr"/>
              <a:r>
                <a:rPr lang="es-ES" sz="800" dirty="0">
                  <a:solidFill>
                    <a:prstClr val="black"/>
                  </a:solidFill>
                  <a:latin typeface="Avenir 35" panose="00000400000000000000" pitchFamily="2" charset="0"/>
                </a:rPr>
                <a:t>+</a:t>
              </a:r>
            </a:p>
            <a:p>
              <a:pPr algn="ctr"/>
              <a:r>
                <a:rPr lang="es-ES" sz="800" dirty="0">
                  <a:solidFill>
                    <a:prstClr val="black"/>
                  </a:solidFill>
                  <a:latin typeface="Avenir 35" panose="00000400000000000000" pitchFamily="2" charset="0"/>
                </a:rPr>
                <a:t>Diferentes mensajes y tonos</a:t>
              </a:r>
            </a:p>
            <a:p>
              <a:pPr algn="ctr"/>
              <a:r>
                <a:rPr lang="es-ES" sz="800" dirty="0">
                  <a:solidFill>
                    <a:prstClr val="black"/>
                  </a:solidFill>
                  <a:latin typeface="Avenir 35" panose="00000400000000000000" pitchFamily="2" charset="0"/>
                </a:rPr>
                <a:t>+</a:t>
              </a:r>
            </a:p>
            <a:p>
              <a:pPr algn="ctr"/>
              <a:r>
                <a:rPr lang="es-ES" sz="800" dirty="0">
                  <a:solidFill>
                    <a:prstClr val="black"/>
                  </a:solidFill>
                  <a:latin typeface="Avenir 35" panose="00000400000000000000" pitchFamily="2" charset="0"/>
                </a:rPr>
                <a:t>Diferentes diseños</a:t>
              </a:r>
            </a:p>
            <a:p>
              <a:pPr algn="ctr"/>
              <a:endParaRPr lang="es-ES" sz="1000" dirty="0">
                <a:solidFill>
                  <a:prstClr val="black"/>
                </a:solidFill>
                <a:latin typeface="Avenir 35" panose="00000400000000000000" pitchFamily="2" charset="0"/>
              </a:endParaRPr>
            </a:p>
          </p:txBody>
        </p:sp>
      </p:grpSp>
      <p:grpSp>
        <p:nvGrpSpPr>
          <p:cNvPr id="36" name="35 Grupo"/>
          <p:cNvGrpSpPr/>
          <p:nvPr/>
        </p:nvGrpSpPr>
        <p:grpSpPr>
          <a:xfrm>
            <a:off x="9242823" y="1700808"/>
            <a:ext cx="391352" cy="2050574"/>
            <a:chOff x="8531837" y="1628803"/>
            <a:chExt cx="361248" cy="2050574"/>
          </a:xfrm>
        </p:grpSpPr>
        <p:sp>
          <p:nvSpPr>
            <p:cNvPr id="377" name="376 Rectángulo"/>
            <p:cNvSpPr/>
            <p:nvPr/>
          </p:nvSpPr>
          <p:spPr>
            <a:xfrm rot="5400000">
              <a:off x="8184301" y="1976339"/>
              <a:ext cx="1055716" cy="360644"/>
            </a:xfrm>
            <a:prstGeom prst="rect">
              <a:avLst/>
            </a:prstGeom>
            <a:solidFill>
              <a:srgbClr val="3CB2C3"/>
            </a:solid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prstClr val="white"/>
                  </a:solidFill>
                  <a:latin typeface="Avenir 35" panose="00000400000000000000" pitchFamily="2" charset="0"/>
                </a:rPr>
                <a:t>VARIABLES CONTEMPLADAS </a:t>
              </a:r>
            </a:p>
          </p:txBody>
        </p:sp>
        <p:sp>
          <p:nvSpPr>
            <p:cNvPr id="459" name="458 Rectángulo"/>
            <p:cNvSpPr/>
            <p:nvPr/>
          </p:nvSpPr>
          <p:spPr>
            <a:xfrm rot="5400000">
              <a:off x="8191530" y="2977823"/>
              <a:ext cx="1042465" cy="360644"/>
            </a:xfrm>
            <a:prstGeom prst="rect">
              <a:avLst/>
            </a:prstGeom>
            <a:solidFill>
              <a:srgbClr val="0086AC"/>
            </a:solidFill>
            <a:ln>
              <a:solidFill>
                <a:srgbClr val="008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prstClr val="white"/>
                  </a:solidFill>
                  <a:latin typeface="Avenir 35" panose="00000400000000000000" pitchFamily="2" charset="0"/>
                </a:rPr>
                <a:t>NUEVAS VARIABLES </a:t>
              </a:r>
            </a:p>
          </p:txBody>
        </p:sp>
      </p:grpSp>
      <p:sp>
        <p:nvSpPr>
          <p:cNvPr id="169" name="168 CuadroTexto"/>
          <p:cNvSpPr txBox="1"/>
          <p:nvPr/>
        </p:nvSpPr>
        <p:spPr>
          <a:xfrm>
            <a:off x="116463" y="116636"/>
            <a:ext cx="9673075" cy="584775"/>
          </a:xfrm>
          <a:prstGeom prst="rect">
            <a:avLst/>
          </a:prstGeom>
          <a:noFill/>
        </p:spPr>
        <p:txBody>
          <a:bodyPr wrap="square" rtlCol="0">
            <a:spAutoFit/>
          </a:bodyPr>
          <a:lstStyle/>
          <a:p>
            <a:pPr algn="ctr"/>
            <a:r>
              <a:rPr lang="es-ES" sz="1200" dirty="0">
                <a:solidFill>
                  <a:srgbClr val="323232"/>
                </a:solidFill>
                <a:latin typeface="Avenir 35" panose="00000400000000000000" pitchFamily="2" charset="0"/>
              </a:rPr>
              <a:t>Caso 1: programa de renovación de clientes</a:t>
            </a:r>
          </a:p>
          <a:p>
            <a:pPr algn="ctr"/>
            <a:r>
              <a:rPr lang="es-ES" sz="2000" b="1" dirty="0">
                <a:solidFill>
                  <a:srgbClr val="323232"/>
                </a:solidFill>
                <a:latin typeface="Avenir 35" panose="00000400000000000000" pitchFamily="2" charset="0"/>
              </a:rPr>
              <a:t>SEGMENTACIÓN VS MICRO-SEGMENTACIÓN</a:t>
            </a:r>
          </a:p>
        </p:txBody>
      </p:sp>
      <p:sp>
        <p:nvSpPr>
          <p:cNvPr id="165" name="Rectangle 81"/>
          <p:cNvSpPr/>
          <p:nvPr>
            <p:custDataLst>
              <p:tags r:id="rId1"/>
            </p:custDataLst>
          </p:nvPr>
        </p:nvSpPr>
        <p:spPr>
          <a:xfrm>
            <a:off x="175715" y="1264128"/>
            <a:ext cx="4387242" cy="195432"/>
          </a:xfrm>
          <a:prstGeom prst="rect">
            <a:avLst/>
          </a:prstGeom>
          <a:solidFill>
            <a:srgbClr val="32323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prstClr val="white"/>
                </a:solidFill>
                <a:latin typeface="Avenir 65" panose="02000600000000000000" pitchFamily="2" charset="0"/>
                <a:cs typeface="Avenir 35 Light"/>
              </a:rPr>
              <a:t>Situación inicial : segmentación</a:t>
            </a:r>
          </a:p>
        </p:txBody>
      </p:sp>
      <p:sp>
        <p:nvSpPr>
          <p:cNvPr id="166" name="Rectangle 81"/>
          <p:cNvSpPr/>
          <p:nvPr>
            <p:custDataLst>
              <p:tags r:id="rId2"/>
            </p:custDataLst>
          </p:nvPr>
        </p:nvSpPr>
        <p:spPr>
          <a:xfrm>
            <a:off x="5241032" y="1268760"/>
            <a:ext cx="4464496" cy="190800"/>
          </a:xfrm>
          <a:prstGeom prst="rect">
            <a:avLst/>
          </a:prstGeom>
          <a:solidFill>
            <a:srgbClr val="32323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prstClr val="white"/>
                </a:solidFill>
                <a:latin typeface="Avenir 65" panose="02000600000000000000" pitchFamily="2" charset="0"/>
                <a:cs typeface="Avenir 35 Light"/>
              </a:rPr>
              <a:t>Resolución: micro-segmentación</a:t>
            </a:r>
          </a:p>
        </p:txBody>
      </p:sp>
      <p:cxnSp>
        <p:nvCxnSpPr>
          <p:cNvPr id="3" name="2 Conector recto"/>
          <p:cNvCxnSpPr/>
          <p:nvPr/>
        </p:nvCxnSpPr>
        <p:spPr>
          <a:xfrm>
            <a:off x="4953000" y="1699866"/>
            <a:ext cx="0" cy="457375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7" name="Freeform 151"/>
          <p:cNvSpPr>
            <a:spLocks noEditPoints="1"/>
          </p:cNvSpPr>
          <p:nvPr/>
        </p:nvSpPr>
        <p:spPr bwMode="auto">
          <a:xfrm>
            <a:off x="6695577" y="3830923"/>
            <a:ext cx="501334" cy="502820"/>
          </a:xfrm>
          <a:custGeom>
            <a:avLst/>
            <a:gdLst>
              <a:gd name="T0" fmla="*/ 92 w 185"/>
              <a:gd name="T1" fmla="*/ 0 h 186"/>
              <a:gd name="T2" fmla="*/ 0 w 185"/>
              <a:gd name="T3" fmla="*/ 93 h 186"/>
              <a:gd name="T4" fmla="*/ 92 w 185"/>
              <a:gd name="T5" fmla="*/ 186 h 186"/>
              <a:gd name="T6" fmla="*/ 185 w 185"/>
              <a:gd name="T7" fmla="*/ 93 h 186"/>
              <a:gd name="T8" fmla="*/ 92 w 185"/>
              <a:gd name="T9" fmla="*/ 0 h 186"/>
              <a:gd name="T10" fmla="*/ 92 w 185"/>
              <a:gd name="T11" fmla="*/ 178 h 186"/>
              <a:gd name="T12" fmla="*/ 37 w 185"/>
              <a:gd name="T13" fmla="*/ 157 h 186"/>
              <a:gd name="T14" fmla="*/ 67 w 185"/>
              <a:gd name="T15" fmla="*/ 139 h 186"/>
              <a:gd name="T16" fmla="*/ 80 w 185"/>
              <a:gd name="T17" fmla="*/ 108 h 186"/>
              <a:gd name="T18" fmla="*/ 77 w 185"/>
              <a:gd name="T19" fmla="*/ 101 h 186"/>
              <a:gd name="T20" fmla="*/ 67 w 185"/>
              <a:gd name="T21" fmla="*/ 63 h 186"/>
              <a:gd name="T22" fmla="*/ 88 w 185"/>
              <a:gd name="T23" fmla="*/ 37 h 186"/>
              <a:gd name="T24" fmla="*/ 101 w 185"/>
              <a:gd name="T25" fmla="*/ 35 h 186"/>
              <a:gd name="T26" fmla="*/ 105 w 185"/>
              <a:gd name="T27" fmla="*/ 34 h 186"/>
              <a:gd name="T28" fmla="*/ 122 w 185"/>
              <a:gd name="T29" fmla="*/ 64 h 186"/>
              <a:gd name="T30" fmla="*/ 113 w 185"/>
              <a:gd name="T31" fmla="*/ 100 h 186"/>
              <a:gd name="T32" fmla="*/ 109 w 185"/>
              <a:gd name="T33" fmla="*/ 108 h 186"/>
              <a:gd name="T34" fmla="*/ 107 w 185"/>
              <a:gd name="T35" fmla="*/ 124 h 186"/>
              <a:gd name="T36" fmla="*/ 126 w 185"/>
              <a:gd name="T37" fmla="*/ 141 h 186"/>
              <a:gd name="T38" fmla="*/ 148 w 185"/>
              <a:gd name="T39" fmla="*/ 157 h 186"/>
              <a:gd name="T40" fmla="*/ 92 w 185"/>
              <a:gd name="T41" fmla="*/ 178 h 186"/>
              <a:gd name="T42" fmla="*/ 154 w 185"/>
              <a:gd name="T43" fmla="*/ 151 h 186"/>
              <a:gd name="T44" fmla="*/ 129 w 185"/>
              <a:gd name="T45" fmla="*/ 133 h 186"/>
              <a:gd name="T46" fmla="*/ 115 w 185"/>
              <a:gd name="T47" fmla="*/ 121 h 186"/>
              <a:gd name="T48" fmla="*/ 117 w 185"/>
              <a:gd name="T49" fmla="*/ 111 h 186"/>
              <a:gd name="T50" fmla="*/ 121 w 185"/>
              <a:gd name="T51" fmla="*/ 104 h 186"/>
              <a:gd name="T52" fmla="*/ 130 w 185"/>
              <a:gd name="T53" fmla="*/ 64 h 186"/>
              <a:gd name="T54" fmla="*/ 105 w 185"/>
              <a:gd name="T55" fmla="*/ 26 h 186"/>
              <a:gd name="T56" fmla="*/ 98 w 185"/>
              <a:gd name="T57" fmla="*/ 27 h 186"/>
              <a:gd name="T58" fmla="*/ 88 w 185"/>
              <a:gd name="T59" fmla="*/ 29 h 186"/>
              <a:gd name="T60" fmla="*/ 59 w 185"/>
              <a:gd name="T61" fmla="*/ 63 h 186"/>
              <a:gd name="T62" fmla="*/ 69 w 185"/>
              <a:gd name="T63" fmla="*/ 105 h 186"/>
              <a:gd name="T64" fmla="*/ 73 w 185"/>
              <a:gd name="T65" fmla="*/ 111 h 186"/>
              <a:gd name="T66" fmla="*/ 63 w 185"/>
              <a:gd name="T67" fmla="*/ 131 h 186"/>
              <a:gd name="T68" fmla="*/ 31 w 185"/>
              <a:gd name="T69" fmla="*/ 151 h 186"/>
              <a:gd name="T70" fmla="*/ 8 w 185"/>
              <a:gd name="T71" fmla="*/ 93 h 186"/>
              <a:gd name="T72" fmla="*/ 92 w 185"/>
              <a:gd name="T73" fmla="*/ 9 h 186"/>
              <a:gd name="T74" fmla="*/ 177 w 185"/>
              <a:gd name="T75" fmla="*/ 93 h 186"/>
              <a:gd name="T76" fmla="*/ 154 w 185"/>
              <a:gd name="T77" fmla="*/ 15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5" h="186">
                <a:moveTo>
                  <a:pt x="92" y="0"/>
                </a:moveTo>
                <a:cubicBezTo>
                  <a:pt x="41" y="0"/>
                  <a:pt x="0" y="42"/>
                  <a:pt x="0" y="93"/>
                </a:cubicBezTo>
                <a:cubicBezTo>
                  <a:pt x="0" y="145"/>
                  <a:pt x="41" y="186"/>
                  <a:pt x="92" y="186"/>
                </a:cubicBezTo>
                <a:cubicBezTo>
                  <a:pt x="144" y="186"/>
                  <a:pt x="185" y="145"/>
                  <a:pt x="185" y="93"/>
                </a:cubicBezTo>
                <a:cubicBezTo>
                  <a:pt x="185" y="42"/>
                  <a:pt x="144" y="0"/>
                  <a:pt x="92" y="0"/>
                </a:cubicBezTo>
                <a:close/>
                <a:moveTo>
                  <a:pt x="92" y="178"/>
                </a:moveTo>
                <a:cubicBezTo>
                  <a:pt x="71" y="178"/>
                  <a:pt x="52" y="170"/>
                  <a:pt x="37" y="157"/>
                </a:cubicBezTo>
                <a:cubicBezTo>
                  <a:pt x="49" y="147"/>
                  <a:pt x="54" y="145"/>
                  <a:pt x="67" y="139"/>
                </a:cubicBezTo>
                <a:cubicBezTo>
                  <a:pt x="81" y="133"/>
                  <a:pt x="86" y="121"/>
                  <a:pt x="80" y="108"/>
                </a:cubicBezTo>
                <a:cubicBezTo>
                  <a:pt x="79" y="105"/>
                  <a:pt x="78" y="103"/>
                  <a:pt x="77" y="101"/>
                </a:cubicBezTo>
                <a:cubicBezTo>
                  <a:pt x="72" y="93"/>
                  <a:pt x="67" y="84"/>
                  <a:pt x="67" y="63"/>
                </a:cubicBezTo>
                <a:cubicBezTo>
                  <a:pt x="67" y="38"/>
                  <a:pt x="79" y="38"/>
                  <a:pt x="88" y="37"/>
                </a:cubicBezTo>
                <a:cubicBezTo>
                  <a:pt x="95" y="37"/>
                  <a:pt x="98" y="36"/>
                  <a:pt x="101" y="35"/>
                </a:cubicBezTo>
                <a:cubicBezTo>
                  <a:pt x="102" y="35"/>
                  <a:pt x="103" y="34"/>
                  <a:pt x="105" y="34"/>
                </a:cubicBezTo>
                <a:cubicBezTo>
                  <a:pt x="113" y="34"/>
                  <a:pt x="122" y="42"/>
                  <a:pt x="122" y="64"/>
                </a:cubicBezTo>
                <a:cubicBezTo>
                  <a:pt x="122" y="85"/>
                  <a:pt x="118" y="91"/>
                  <a:pt x="113" y="100"/>
                </a:cubicBezTo>
                <a:cubicBezTo>
                  <a:pt x="112" y="102"/>
                  <a:pt x="111" y="105"/>
                  <a:pt x="109" y="108"/>
                </a:cubicBezTo>
                <a:cubicBezTo>
                  <a:pt x="106" y="114"/>
                  <a:pt x="106" y="119"/>
                  <a:pt x="107" y="124"/>
                </a:cubicBezTo>
                <a:cubicBezTo>
                  <a:pt x="110" y="130"/>
                  <a:pt x="116" y="136"/>
                  <a:pt x="126" y="141"/>
                </a:cubicBezTo>
                <a:cubicBezTo>
                  <a:pt x="134" y="145"/>
                  <a:pt x="143" y="152"/>
                  <a:pt x="148" y="157"/>
                </a:cubicBezTo>
                <a:cubicBezTo>
                  <a:pt x="133" y="170"/>
                  <a:pt x="114" y="178"/>
                  <a:pt x="92" y="178"/>
                </a:cubicBezTo>
                <a:close/>
                <a:moveTo>
                  <a:pt x="154" y="151"/>
                </a:moveTo>
                <a:cubicBezTo>
                  <a:pt x="149" y="146"/>
                  <a:pt x="139" y="137"/>
                  <a:pt x="129" y="133"/>
                </a:cubicBezTo>
                <a:cubicBezTo>
                  <a:pt x="121" y="129"/>
                  <a:pt x="117" y="125"/>
                  <a:pt x="115" y="121"/>
                </a:cubicBezTo>
                <a:cubicBezTo>
                  <a:pt x="114" y="118"/>
                  <a:pt x="115" y="115"/>
                  <a:pt x="117" y="111"/>
                </a:cubicBezTo>
                <a:cubicBezTo>
                  <a:pt x="118" y="108"/>
                  <a:pt x="120" y="106"/>
                  <a:pt x="121" y="104"/>
                </a:cubicBezTo>
                <a:cubicBezTo>
                  <a:pt x="126" y="94"/>
                  <a:pt x="130" y="88"/>
                  <a:pt x="130" y="64"/>
                </a:cubicBezTo>
                <a:cubicBezTo>
                  <a:pt x="130" y="28"/>
                  <a:pt x="109" y="26"/>
                  <a:pt x="105" y="26"/>
                </a:cubicBezTo>
                <a:cubicBezTo>
                  <a:pt x="102" y="26"/>
                  <a:pt x="100" y="27"/>
                  <a:pt x="98" y="27"/>
                </a:cubicBezTo>
                <a:cubicBezTo>
                  <a:pt x="96" y="28"/>
                  <a:pt x="93" y="29"/>
                  <a:pt x="88" y="29"/>
                </a:cubicBezTo>
                <a:cubicBezTo>
                  <a:pt x="78" y="29"/>
                  <a:pt x="59" y="29"/>
                  <a:pt x="59" y="63"/>
                </a:cubicBezTo>
                <a:cubicBezTo>
                  <a:pt x="59" y="86"/>
                  <a:pt x="65" y="96"/>
                  <a:pt x="69" y="105"/>
                </a:cubicBezTo>
                <a:cubicBezTo>
                  <a:pt x="71" y="107"/>
                  <a:pt x="72" y="109"/>
                  <a:pt x="73" y="111"/>
                </a:cubicBezTo>
                <a:cubicBezTo>
                  <a:pt x="77" y="120"/>
                  <a:pt x="74" y="127"/>
                  <a:pt x="63" y="131"/>
                </a:cubicBezTo>
                <a:cubicBezTo>
                  <a:pt x="50" y="137"/>
                  <a:pt x="44" y="140"/>
                  <a:pt x="31" y="151"/>
                </a:cubicBezTo>
                <a:cubicBezTo>
                  <a:pt x="17" y="136"/>
                  <a:pt x="8" y="116"/>
                  <a:pt x="8" y="93"/>
                </a:cubicBezTo>
                <a:cubicBezTo>
                  <a:pt x="8" y="47"/>
                  <a:pt x="46" y="9"/>
                  <a:pt x="92" y="9"/>
                </a:cubicBezTo>
                <a:cubicBezTo>
                  <a:pt x="139" y="9"/>
                  <a:pt x="177" y="47"/>
                  <a:pt x="177" y="93"/>
                </a:cubicBezTo>
                <a:cubicBezTo>
                  <a:pt x="177" y="116"/>
                  <a:pt x="168" y="136"/>
                  <a:pt x="154" y="151"/>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350" dirty="0">
              <a:solidFill>
                <a:prstClr val="black"/>
              </a:solidFill>
              <a:latin typeface="Avenir 35" panose="00000400000000000000" pitchFamily="2" charset="0"/>
            </a:endParaRPr>
          </a:p>
        </p:txBody>
      </p:sp>
      <p:sp>
        <p:nvSpPr>
          <p:cNvPr id="168" name="Freeform 152"/>
          <p:cNvSpPr>
            <a:spLocks noEditPoints="1"/>
          </p:cNvSpPr>
          <p:nvPr/>
        </p:nvSpPr>
        <p:spPr bwMode="auto">
          <a:xfrm>
            <a:off x="5991182" y="3827170"/>
            <a:ext cx="504307" cy="499843"/>
          </a:xfrm>
          <a:custGeom>
            <a:avLst/>
            <a:gdLst>
              <a:gd name="T0" fmla="*/ 93 w 186"/>
              <a:gd name="T1" fmla="*/ 0 h 185"/>
              <a:gd name="T2" fmla="*/ 0 w 186"/>
              <a:gd name="T3" fmla="*/ 93 h 185"/>
              <a:gd name="T4" fmla="*/ 93 w 186"/>
              <a:gd name="T5" fmla="*/ 185 h 185"/>
              <a:gd name="T6" fmla="*/ 186 w 186"/>
              <a:gd name="T7" fmla="*/ 93 h 185"/>
              <a:gd name="T8" fmla="*/ 93 w 186"/>
              <a:gd name="T9" fmla="*/ 0 h 185"/>
              <a:gd name="T10" fmla="*/ 93 w 186"/>
              <a:gd name="T11" fmla="*/ 177 h 185"/>
              <a:gd name="T12" fmla="*/ 41 w 186"/>
              <a:gd name="T13" fmla="*/ 159 h 185"/>
              <a:gd name="T14" fmla="*/ 68 w 186"/>
              <a:gd name="T15" fmla="*/ 140 h 185"/>
              <a:gd name="T16" fmla="*/ 78 w 186"/>
              <a:gd name="T17" fmla="*/ 131 h 185"/>
              <a:gd name="T18" fmla="*/ 75 w 186"/>
              <a:gd name="T19" fmla="*/ 122 h 185"/>
              <a:gd name="T20" fmla="*/ 71 w 186"/>
              <a:gd name="T21" fmla="*/ 121 h 185"/>
              <a:gd name="T22" fmla="*/ 53 w 186"/>
              <a:gd name="T23" fmla="*/ 118 h 185"/>
              <a:gd name="T24" fmla="*/ 59 w 186"/>
              <a:gd name="T25" fmla="*/ 76 h 185"/>
              <a:gd name="T26" fmla="*/ 95 w 186"/>
              <a:gd name="T27" fmla="*/ 34 h 185"/>
              <a:gd name="T28" fmla="*/ 126 w 186"/>
              <a:gd name="T29" fmla="*/ 78 h 185"/>
              <a:gd name="T30" fmla="*/ 133 w 186"/>
              <a:gd name="T31" fmla="*/ 117 h 185"/>
              <a:gd name="T32" fmla="*/ 113 w 186"/>
              <a:gd name="T33" fmla="*/ 120 h 185"/>
              <a:gd name="T34" fmla="*/ 109 w 186"/>
              <a:gd name="T35" fmla="*/ 123 h 185"/>
              <a:gd name="T36" fmla="*/ 118 w 186"/>
              <a:gd name="T37" fmla="*/ 139 h 185"/>
              <a:gd name="T38" fmla="*/ 145 w 186"/>
              <a:gd name="T39" fmla="*/ 159 h 185"/>
              <a:gd name="T40" fmla="*/ 93 w 186"/>
              <a:gd name="T41" fmla="*/ 177 h 185"/>
              <a:gd name="T42" fmla="*/ 151 w 186"/>
              <a:gd name="T43" fmla="*/ 153 h 185"/>
              <a:gd name="T44" fmla="*/ 121 w 186"/>
              <a:gd name="T45" fmla="*/ 132 h 185"/>
              <a:gd name="T46" fmla="*/ 117 w 186"/>
              <a:gd name="T47" fmla="*/ 129 h 185"/>
              <a:gd name="T48" fmla="*/ 143 w 186"/>
              <a:gd name="T49" fmla="*/ 122 h 185"/>
              <a:gd name="T50" fmla="*/ 145 w 186"/>
              <a:gd name="T51" fmla="*/ 118 h 185"/>
              <a:gd name="T52" fmla="*/ 142 w 186"/>
              <a:gd name="T53" fmla="*/ 114 h 185"/>
              <a:gd name="T54" fmla="*/ 135 w 186"/>
              <a:gd name="T55" fmla="*/ 78 h 185"/>
              <a:gd name="T56" fmla="*/ 95 w 186"/>
              <a:gd name="T57" fmla="*/ 25 h 185"/>
              <a:gd name="T58" fmla="*/ 50 w 186"/>
              <a:gd name="T59" fmla="*/ 76 h 185"/>
              <a:gd name="T60" fmla="*/ 44 w 186"/>
              <a:gd name="T61" fmla="*/ 115 h 185"/>
              <a:gd name="T62" fmla="*/ 41 w 186"/>
              <a:gd name="T63" fmla="*/ 118 h 185"/>
              <a:gd name="T64" fmla="*/ 43 w 186"/>
              <a:gd name="T65" fmla="*/ 122 h 185"/>
              <a:gd name="T66" fmla="*/ 70 w 186"/>
              <a:gd name="T67" fmla="*/ 130 h 185"/>
              <a:gd name="T68" fmla="*/ 65 w 186"/>
              <a:gd name="T69" fmla="*/ 132 h 185"/>
              <a:gd name="T70" fmla="*/ 34 w 186"/>
              <a:gd name="T71" fmla="*/ 153 h 185"/>
              <a:gd name="T72" fmla="*/ 9 w 186"/>
              <a:gd name="T73" fmla="*/ 93 h 185"/>
              <a:gd name="T74" fmla="*/ 93 w 186"/>
              <a:gd name="T75" fmla="*/ 8 h 185"/>
              <a:gd name="T76" fmla="*/ 177 w 186"/>
              <a:gd name="T77" fmla="*/ 93 h 185"/>
              <a:gd name="T78" fmla="*/ 151 w 186"/>
              <a:gd name="T79" fmla="*/ 15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6" h="185">
                <a:moveTo>
                  <a:pt x="93" y="0"/>
                </a:moveTo>
                <a:cubicBezTo>
                  <a:pt x="42" y="0"/>
                  <a:pt x="0" y="41"/>
                  <a:pt x="0" y="93"/>
                </a:cubicBezTo>
                <a:cubicBezTo>
                  <a:pt x="0" y="144"/>
                  <a:pt x="42" y="185"/>
                  <a:pt x="93" y="185"/>
                </a:cubicBezTo>
                <a:cubicBezTo>
                  <a:pt x="144" y="185"/>
                  <a:pt x="186" y="144"/>
                  <a:pt x="186" y="93"/>
                </a:cubicBezTo>
                <a:cubicBezTo>
                  <a:pt x="186" y="41"/>
                  <a:pt x="144" y="0"/>
                  <a:pt x="93" y="0"/>
                </a:cubicBezTo>
                <a:close/>
                <a:moveTo>
                  <a:pt x="93" y="177"/>
                </a:moveTo>
                <a:cubicBezTo>
                  <a:pt x="73" y="177"/>
                  <a:pt x="55" y="170"/>
                  <a:pt x="41" y="159"/>
                </a:cubicBezTo>
                <a:cubicBezTo>
                  <a:pt x="46" y="151"/>
                  <a:pt x="58" y="143"/>
                  <a:pt x="68" y="140"/>
                </a:cubicBezTo>
                <a:cubicBezTo>
                  <a:pt x="74" y="138"/>
                  <a:pt x="77" y="135"/>
                  <a:pt x="78" y="131"/>
                </a:cubicBezTo>
                <a:cubicBezTo>
                  <a:pt x="79" y="126"/>
                  <a:pt x="76" y="122"/>
                  <a:pt x="75" y="122"/>
                </a:cubicBezTo>
                <a:cubicBezTo>
                  <a:pt x="74" y="121"/>
                  <a:pt x="72" y="120"/>
                  <a:pt x="71" y="121"/>
                </a:cubicBezTo>
                <a:cubicBezTo>
                  <a:pt x="71" y="121"/>
                  <a:pt x="64" y="123"/>
                  <a:pt x="53" y="118"/>
                </a:cubicBezTo>
                <a:cubicBezTo>
                  <a:pt x="56" y="112"/>
                  <a:pt x="59" y="100"/>
                  <a:pt x="59" y="76"/>
                </a:cubicBezTo>
                <a:cubicBezTo>
                  <a:pt x="59" y="37"/>
                  <a:pt x="76" y="34"/>
                  <a:pt x="95" y="34"/>
                </a:cubicBezTo>
                <a:cubicBezTo>
                  <a:pt x="109" y="34"/>
                  <a:pt x="126" y="38"/>
                  <a:pt x="126" y="78"/>
                </a:cubicBezTo>
                <a:cubicBezTo>
                  <a:pt x="126" y="100"/>
                  <a:pt x="130" y="111"/>
                  <a:pt x="133" y="117"/>
                </a:cubicBezTo>
                <a:cubicBezTo>
                  <a:pt x="129" y="119"/>
                  <a:pt x="121" y="121"/>
                  <a:pt x="113" y="120"/>
                </a:cubicBezTo>
                <a:cubicBezTo>
                  <a:pt x="111" y="120"/>
                  <a:pt x="109" y="121"/>
                  <a:pt x="109" y="123"/>
                </a:cubicBezTo>
                <a:cubicBezTo>
                  <a:pt x="107" y="126"/>
                  <a:pt x="107" y="134"/>
                  <a:pt x="118" y="139"/>
                </a:cubicBezTo>
                <a:cubicBezTo>
                  <a:pt x="126" y="143"/>
                  <a:pt x="137" y="149"/>
                  <a:pt x="145" y="159"/>
                </a:cubicBezTo>
                <a:cubicBezTo>
                  <a:pt x="131" y="170"/>
                  <a:pt x="113" y="177"/>
                  <a:pt x="93" y="177"/>
                </a:cubicBezTo>
                <a:close/>
                <a:moveTo>
                  <a:pt x="151" y="153"/>
                </a:moveTo>
                <a:cubicBezTo>
                  <a:pt x="142" y="142"/>
                  <a:pt x="131" y="136"/>
                  <a:pt x="121" y="132"/>
                </a:cubicBezTo>
                <a:cubicBezTo>
                  <a:pt x="119" y="131"/>
                  <a:pt x="118" y="130"/>
                  <a:pt x="117" y="129"/>
                </a:cubicBezTo>
                <a:cubicBezTo>
                  <a:pt x="131" y="128"/>
                  <a:pt x="142" y="122"/>
                  <a:pt x="143" y="122"/>
                </a:cubicBezTo>
                <a:cubicBezTo>
                  <a:pt x="144" y="121"/>
                  <a:pt x="145" y="119"/>
                  <a:pt x="145" y="118"/>
                </a:cubicBezTo>
                <a:cubicBezTo>
                  <a:pt x="145" y="116"/>
                  <a:pt x="144" y="115"/>
                  <a:pt x="142" y="114"/>
                </a:cubicBezTo>
                <a:cubicBezTo>
                  <a:pt x="142" y="114"/>
                  <a:pt x="135" y="108"/>
                  <a:pt x="135" y="78"/>
                </a:cubicBezTo>
                <a:cubicBezTo>
                  <a:pt x="135" y="43"/>
                  <a:pt x="121" y="25"/>
                  <a:pt x="95" y="25"/>
                </a:cubicBezTo>
                <a:cubicBezTo>
                  <a:pt x="73" y="25"/>
                  <a:pt x="50" y="31"/>
                  <a:pt x="50" y="76"/>
                </a:cubicBezTo>
                <a:cubicBezTo>
                  <a:pt x="50" y="108"/>
                  <a:pt x="45" y="114"/>
                  <a:pt x="44" y="115"/>
                </a:cubicBezTo>
                <a:cubicBezTo>
                  <a:pt x="43" y="115"/>
                  <a:pt x="42" y="116"/>
                  <a:pt x="41" y="118"/>
                </a:cubicBezTo>
                <a:cubicBezTo>
                  <a:pt x="41" y="120"/>
                  <a:pt x="42" y="121"/>
                  <a:pt x="43" y="122"/>
                </a:cubicBezTo>
                <a:cubicBezTo>
                  <a:pt x="55" y="129"/>
                  <a:pt x="64" y="130"/>
                  <a:pt x="70" y="130"/>
                </a:cubicBezTo>
                <a:cubicBezTo>
                  <a:pt x="69" y="130"/>
                  <a:pt x="68" y="131"/>
                  <a:pt x="65" y="132"/>
                </a:cubicBezTo>
                <a:cubicBezTo>
                  <a:pt x="54" y="135"/>
                  <a:pt x="41" y="144"/>
                  <a:pt x="34" y="153"/>
                </a:cubicBezTo>
                <a:cubicBezTo>
                  <a:pt x="18" y="138"/>
                  <a:pt x="9" y="116"/>
                  <a:pt x="9" y="93"/>
                </a:cubicBezTo>
                <a:cubicBezTo>
                  <a:pt x="9" y="46"/>
                  <a:pt x="46" y="8"/>
                  <a:pt x="93" y="8"/>
                </a:cubicBezTo>
                <a:cubicBezTo>
                  <a:pt x="140" y="8"/>
                  <a:pt x="177" y="46"/>
                  <a:pt x="177" y="93"/>
                </a:cubicBezTo>
                <a:cubicBezTo>
                  <a:pt x="177" y="117"/>
                  <a:pt x="167" y="138"/>
                  <a:pt x="151" y="153"/>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350" dirty="0">
              <a:solidFill>
                <a:prstClr val="black"/>
              </a:solidFill>
              <a:latin typeface="Avenir 35" panose="00000400000000000000" pitchFamily="2" charset="0"/>
            </a:endParaRPr>
          </a:p>
        </p:txBody>
      </p:sp>
      <p:sp>
        <p:nvSpPr>
          <p:cNvPr id="156"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30</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2893304077"/>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http://www.theluxonomist.es/wp-content/uploads/2015/10/biothermportadaok.jpg"/>
          <p:cNvPicPr>
            <a:picLocks noChangeAspect="1" noChangeArrowheads="1"/>
          </p:cNvPicPr>
          <p:nvPr/>
        </p:nvPicPr>
        <p:blipFill rotWithShape="1">
          <a:blip r:embed="rId2">
            <a:extLst>
              <a:ext uri="{28A0092B-C50C-407E-A947-70E740481C1C}">
                <a14:useLocalDpi xmlns:a14="http://schemas.microsoft.com/office/drawing/2010/main" val="0"/>
              </a:ext>
            </a:extLst>
          </a:blip>
          <a:srcRect t="14735" b="29277"/>
          <a:stretch/>
        </p:blipFill>
        <p:spPr bwMode="auto">
          <a:xfrm>
            <a:off x="-551097" y="1458264"/>
            <a:ext cx="10852175" cy="4130976"/>
          </a:xfrm>
          <a:prstGeom prst="rect">
            <a:avLst/>
          </a:prstGeom>
          <a:noFill/>
          <a:extLst>
            <a:ext uri="{909E8E84-426E-40DD-AFC4-6F175D3DCCD1}">
              <a14:hiddenFill xmlns:a14="http://schemas.microsoft.com/office/drawing/2010/main">
                <a:solidFill>
                  <a:srgbClr val="FFFFFF"/>
                </a:solidFill>
              </a14:hiddenFill>
            </a:ext>
          </a:extLst>
        </p:spPr>
      </p:pic>
      <p:sp>
        <p:nvSpPr>
          <p:cNvPr id="25" name="24 Rectángulo"/>
          <p:cNvSpPr/>
          <p:nvPr/>
        </p:nvSpPr>
        <p:spPr>
          <a:xfrm>
            <a:off x="-19193" y="1458264"/>
            <a:ext cx="9938823" cy="4130976"/>
          </a:xfrm>
          <a:prstGeom prst="rect">
            <a:avLst/>
          </a:prstGeom>
          <a:solidFill>
            <a:srgbClr val="323232">
              <a:alpha val="40000"/>
            </a:srgbClr>
          </a:solidFill>
          <a:ln w="12700" cap="flat" cmpd="sng" algn="ctr">
            <a:noFill/>
            <a:prstDash val="solid"/>
            <a:miter lim="800000"/>
          </a:ln>
          <a:effectLst/>
        </p:spPr>
        <p:txBody>
          <a:bodyPr rtlCol="0" anchor="ctr"/>
          <a:lstStyle/>
          <a:p>
            <a:pPr algn="ctr"/>
            <a:endParaRPr lang="en-US" sz="1350" kern="0" dirty="0">
              <a:solidFill>
                <a:schemeClr val="bg1"/>
              </a:solidFill>
              <a:latin typeface="Avenir 35" panose="00000400000000000000" pitchFamily="2" charset="0"/>
              <a:sym typeface="Calibri"/>
            </a:endParaRPr>
          </a:p>
        </p:txBody>
      </p:sp>
      <p:sp>
        <p:nvSpPr>
          <p:cNvPr id="7169" name="7168 Rectángulo"/>
          <p:cNvSpPr/>
          <p:nvPr/>
        </p:nvSpPr>
        <p:spPr>
          <a:xfrm>
            <a:off x="925803" y="2417131"/>
            <a:ext cx="2712409" cy="253509"/>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solidFill>
                  <a:schemeClr val="bg1"/>
                </a:solidFill>
                <a:latin typeface="Avenir 35" panose="00000400000000000000" pitchFamily="2" charset="0"/>
              </a:rPr>
              <a:t>Adquirió un Easy Money ML hace 8 años menos </a:t>
            </a:r>
          </a:p>
          <a:p>
            <a:pPr algn="ctr"/>
            <a:r>
              <a:rPr lang="es-ES" sz="900" dirty="0">
                <a:solidFill>
                  <a:schemeClr val="bg1"/>
                </a:solidFill>
                <a:latin typeface="Avenir 35" panose="00000400000000000000" pitchFamily="2" charset="0"/>
              </a:rPr>
              <a:t>180 días financiado</a:t>
            </a:r>
          </a:p>
        </p:txBody>
      </p:sp>
      <p:sp>
        <p:nvSpPr>
          <p:cNvPr id="146" name="145 Rectángulo"/>
          <p:cNvSpPr/>
          <p:nvPr/>
        </p:nvSpPr>
        <p:spPr>
          <a:xfrm>
            <a:off x="1042816" y="2779439"/>
            <a:ext cx="2478383" cy="25113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schemeClr val="bg1"/>
                </a:solidFill>
                <a:latin typeface="Avenir 35" panose="00000400000000000000" pitchFamily="2" charset="0"/>
              </a:rPr>
              <a:t>Particular </a:t>
            </a:r>
          </a:p>
        </p:txBody>
      </p:sp>
      <p:sp>
        <p:nvSpPr>
          <p:cNvPr id="165" name="164 Rectángulo"/>
          <p:cNvSpPr/>
          <p:nvPr/>
        </p:nvSpPr>
        <p:spPr>
          <a:xfrm>
            <a:off x="1198834" y="3139479"/>
            <a:ext cx="2166348" cy="25113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schemeClr val="bg1"/>
                </a:solidFill>
                <a:latin typeface="Avenir 35" panose="00000400000000000000" pitchFamily="2" charset="0"/>
              </a:rPr>
              <a:t>Grupo edad: 45-65</a:t>
            </a:r>
          </a:p>
        </p:txBody>
      </p:sp>
      <p:sp>
        <p:nvSpPr>
          <p:cNvPr id="168" name="167 Rectángulo"/>
          <p:cNvSpPr/>
          <p:nvPr/>
        </p:nvSpPr>
        <p:spPr>
          <a:xfrm>
            <a:off x="1479379" y="3511797"/>
            <a:ext cx="1605258" cy="25113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schemeClr val="bg1"/>
                </a:solidFill>
                <a:latin typeface="Avenir 35" panose="00000400000000000000" pitchFamily="2" charset="0"/>
              </a:rPr>
              <a:t>App Easy Money me </a:t>
            </a:r>
          </a:p>
        </p:txBody>
      </p:sp>
      <p:sp>
        <p:nvSpPr>
          <p:cNvPr id="221" name="220 Rectángulo"/>
          <p:cNvSpPr/>
          <p:nvPr/>
        </p:nvSpPr>
        <p:spPr>
          <a:xfrm>
            <a:off x="1549872" y="3909665"/>
            <a:ext cx="1464270" cy="27407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schemeClr val="bg1"/>
                </a:solidFill>
                <a:latin typeface="Avenir 35" panose="00000400000000000000" pitchFamily="2" charset="0"/>
              </a:rPr>
              <a:t>Interactuación con ventas: no</a:t>
            </a:r>
          </a:p>
        </p:txBody>
      </p:sp>
      <p:sp>
        <p:nvSpPr>
          <p:cNvPr id="3" name="2 Operación manual"/>
          <p:cNvSpPr/>
          <p:nvPr/>
        </p:nvSpPr>
        <p:spPr>
          <a:xfrm>
            <a:off x="662524" y="2055854"/>
            <a:ext cx="3198355" cy="3118608"/>
          </a:xfrm>
          <a:prstGeom prst="flowChartManualOperation">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000" dirty="0">
              <a:solidFill>
                <a:schemeClr val="bg1"/>
              </a:solidFill>
              <a:latin typeface="Avenir 35" panose="00000400000000000000" pitchFamily="2" charset="0"/>
            </a:endParaRPr>
          </a:p>
        </p:txBody>
      </p:sp>
      <p:sp>
        <p:nvSpPr>
          <p:cNvPr id="65" name="64 Rectángulo"/>
          <p:cNvSpPr/>
          <p:nvPr/>
        </p:nvSpPr>
        <p:spPr>
          <a:xfrm>
            <a:off x="1657938" y="4328009"/>
            <a:ext cx="1248139" cy="30148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schemeClr val="bg1"/>
                </a:solidFill>
                <a:latin typeface="Avenir 35" panose="00000400000000000000" pitchFamily="2" charset="0"/>
              </a:rPr>
              <a:t>Modelo de vehículo:  clase ML</a:t>
            </a:r>
          </a:p>
        </p:txBody>
      </p:sp>
      <p:grpSp>
        <p:nvGrpSpPr>
          <p:cNvPr id="14" name="13 Grupo"/>
          <p:cNvGrpSpPr/>
          <p:nvPr/>
        </p:nvGrpSpPr>
        <p:grpSpPr>
          <a:xfrm>
            <a:off x="5598961" y="2317749"/>
            <a:ext cx="3627075" cy="3035794"/>
            <a:chOff x="5796136" y="1670686"/>
            <a:chExt cx="2736304" cy="2354426"/>
          </a:xfrm>
        </p:grpSpPr>
        <p:sp>
          <p:nvSpPr>
            <p:cNvPr id="214" name="213 Rectángulo redondeado"/>
            <p:cNvSpPr/>
            <p:nvPr/>
          </p:nvSpPr>
          <p:spPr>
            <a:xfrm>
              <a:off x="5796136" y="1670686"/>
              <a:ext cx="2736304" cy="1772597"/>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000" dirty="0">
                <a:solidFill>
                  <a:schemeClr val="bg1"/>
                </a:solidFill>
                <a:latin typeface="Avenir 35" panose="00000400000000000000" pitchFamily="2" charset="0"/>
              </a:endParaRPr>
            </a:p>
          </p:txBody>
        </p:sp>
        <p:sp>
          <p:nvSpPr>
            <p:cNvPr id="4" name="3 CuadroTexto"/>
            <p:cNvSpPr txBox="1"/>
            <p:nvPr/>
          </p:nvSpPr>
          <p:spPr>
            <a:xfrm>
              <a:off x="5868144" y="1733614"/>
              <a:ext cx="2591441" cy="2291498"/>
            </a:xfrm>
            <a:prstGeom prst="rect">
              <a:avLst/>
            </a:prstGeom>
            <a:noFill/>
          </p:spPr>
          <p:txBody>
            <a:bodyPr wrap="square" rtlCol="0">
              <a:spAutoFit/>
            </a:bodyPr>
            <a:lstStyle/>
            <a:p>
              <a:pPr algn="ctr"/>
              <a:r>
                <a:rPr lang="es-ES" sz="1200" u="sng" dirty="0">
                  <a:solidFill>
                    <a:schemeClr val="bg1"/>
                  </a:solidFill>
                  <a:latin typeface="Avenir 35" panose="00000400000000000000" pitchFamily="2" charset="0"/>
                </a:rPr>
                <a:t>Datos personales:</a:t>
              </a:r>
              <a:endParaRPr lang="es-ES" sz="1200" dirty="0">
                <a:solidFill>
                  <a:schemeClr val="bg1"/>
                </a:solidFill>
                <a:latin typeface="Avenir 35" panose="00000400000000000000" pitchFamily="2" charset="0"/>
              </a:endParaRPr>
            </a:p>
            <a:p>
              <a:pPr algn="ctr"/>
              <a:r>
                <a:rPr lang="es-ES" sz="1200" dirty="0">
                  <a:solidFill>
                    <a:schemeClr val="bg1"/>
                  </a:solidFill>
                  <a:latin typeface="Avenir 35" panose="00000400000000000000" pitchFamily="2" charset="0"/>
                </a:rPr>
                <a:t>Nombre: Miguel</a:t>
              </a:r>
            </a:p>
            <a:p>
              <a:pPr algn="ctr"/>
              <a:r>
                <a:rPr lang="es-ES" sz="1200" dirty="0">
                  <a:solidFill>
                    <a:schemeClr val="bg1"/>
                  </a:solidFill>
                  <a:latin typeface="Avenir 35" panose="00000400000000000000" pitchFamily="2" charset="0"/>
                </a:rPr>
                <a:t>Edad: 45 años</a:t>
              </a:r>
            </a:p>
            <a:p>
              <a:pPr algn="ctr"/>
              <a:r>
                <a:rPr lang="es-ES" sz="1200" dirty="0">
                  <a:solidFill>
                    <a:schemeClr val="bg1"/>
                  </a:solidFill>
                  <a:latin typeface="Avenir 35" panose="00000400000000000000" pitchFamily="2" charset="0"/>
                </a:rPr>
                <a:t>Ubicación: Barcelona </a:t>
              </a:r>
              <a:endParaRPr lang="es-ES" sz="1200" u="sng" dirty="0">
                <a:solidFill>
                  <a:schemeClr val="bg1"/>
                </a:solidFill>
                <a:latin typeface="Avenir 35" panose="00000400000000000000" pitchFamily="2" charset="0"/>
              </a:endParaRPr>
            </a:p>
            <a:p>
              <a:pPr algn="ctr"/>
              <a:endParaRPr lang="es-ES" sz="1200" u="sng" dirty="0">
                <a:solidFill>
                  <a:schemeClr val="bg1"/>
                </a:solidFill>
                <a:latin typeface="Avenir 35" panose="00000400000000000000" pitchFamily="2" charset="0"/>
              </a:endParaRPr>
            </a:p>
            <a:p>
              <a:pPr algn="ctr"/>
              <a:r>
                <a:rPr lang="es-ES" sz="1200" u="sng" dirty="0">
                  <a:solidFill>
                    <a:schemeClr val="bg1"/>
                  </a:solidFill>
                  <a:latin typeface="Avenir 35" panose="00000400000000000000" pitchFamily="2" charset="0"/>
                </a:rPr>
                <a:t>Vehículo: </a:t>
              </a:r>
            </a:p>
            <a:p>
              <a:pPr algn="ctr"/>
              <a:r>
                <a:rPr lang="es-ES" sz="1200" dirty="0">
                  <a:solidFill>
                    <a:schemeClr val="bg1"/>
                  </a:solidFill>
                  <a:latin typeface="Avenir 35" panose="00000400000000000000" pitchFamily="2" charset="0"/>
                </a:rPr>
                <a:t>Modelo: Easy Money ML</a:t>
              </a:r>
            </a:p>
            <a:p>
              <a:pPr algn="ctr"/>
              <a:r>
                <a:rPr lang="es-ES" sz="1200" dirty="0">
                  <a:solidFill>
                    <a:schemeClr val="bg1"/>
                  </a:solidFill>
                  <a:latin typeface="Avenir 35" panose="00000400000000000000" pitchFamily="2" charset="0"/>
                </a:rPr>
                <a:t>Adquisición: hace 8 años menos 180 días</a:t>
              </a:r>
            </a:p>
            <a:p>
              <a:pPr algn="ctr"/>
              <a:endParaRPr lang="es-ES" sz="1200" u="sng" dirty="0">
                <a:solidFill>
                  <a:schemeClr val="bg1"/>
                </a:solidFill>
                <a:latin typeface="Avenir 35" panose="00000400000000000000" pitchFamily="2" charset="0"/>
              </a:endParaRPr>
            </a:p>
            <a:p>
              <a:pPr algn="ctr"/>
              <a:r>
                <a:rPr lang="es-ES" sz="1200" u="sng" dirty="0">
                  <a:solidFill>
                    <a:schemeClr val="bg1"/>
                  </a:solidFill>
                  <a:latin typeface="Avenir 35" panose="00000400000000000000" pitchFamily="2" charset="0"/>
                </a:rPr>
                <a:t>App</a:t>
              </a:r>
            </a:p>
            <a:p>
              <a:pPr algn="ctr"/>
              <a:r>
                <a:rPr lang="es-ES" sz="1200" dirty="0">
                  <a:solidFill>
                    <a:schemeClr val="bg1"/>
                  </a:solidFill>
                  <a:latin typeface="Avenir 35" panose="00000400000000000000" pitchFamily="2" charset="0"/>
                </a:rPr>
                <a:t>Sí, Easy Money me</a:t>
              </a:r>
            </a:p>
            <a:p>
              <a:pPr algn="ctr"/>
              <a:endParaRPr lang="es-ES" sz="1200" u="sng" dirty="0">
                <a:solidFill>
                  <a:schemeClr val="bg1"/>
                </a:solidFill>
                <a:latin typeface="Avenir 35" panose="00000400000000000000" pitchFamily="2" charset="0"/>
              </a:endParaRPr>
            </a:p>
            <a:p>
              <a:pPr algn="ctr"/>
              <a:endParaRPr lang="es-ES" sz="1050" dirty="0">
                <a:solidFill>
                  <a:schemeClr val="bg1"/>
                </a:solidFill>
                <a:latin typeface="Avenir 35" panose="00000400000000000000" pitchFamily="2" charset="0"/>
              </a:endParaRPr>
            </a:p>
            <a:p>
              <a:pPr algn="ctr"/>
              <a:endParaRPr lang="es-ES" sz="1050" dirty="0">
                <a:solidFill>
                  <a:schemeClr val="bg1"/>
                </a:solidFill>
                <a:latin typeface="Avenir 35" panose="00000400000000000000" pitchFamily="2" charset="0"/>
              </a:endParaRPr>
            </a:p>
            <a:p>
              <a:pPr algn="ctr"/>
              <a:endParaRPr lang="es-ES" sz="1050" dirty="0">
                <a:solidFill>
                  <a:schemeClr val="bg1"/>
                </a:solidFill>
                <a:latin typeface="Avenir 35" panose="00000400000000000000" pitchFamily="2" charset="0"/>
              </a:endParaRPr>
            </a:p>
            <a:p>
              <a:pPr algn="ctr"/>
              <a:endParaRPr lang="es-ES" sz="1050" dirty="0">
                <a:solidFill>
                  <a:schemeClr val="bg1"/>
                </a:solidFill>
                <a:latin typeface="Avenir 35" panose="00000400000000000000" pitchFamily="2" charset="0"/>
              </a:endParaRPr>
            </a:p>
          </p:txBody>
        </p:sp>
      </p:grpSp>
      <p:sp>
        <p:nvSpPr>
          <p:cNvPr id="72" name="71 CuadroTexto"/>
          <p:cNvSpPr txBox="1"/>
          <p:nvPr/>
        </p:nvSpPr>
        <p:spPr>
          <a:xfrm>
            <a:off x="464719" y="1501762"/>
            <a:ext cx="8970997" cy="523220"/>
          </a:xfrm>
          <a:prstGeom prst="rect">
            <a:avLst/>
          </a:prstGeom>
          <a:noFill/>
        </p:spPr>
        <p:txBody>
          <a:bodyPr wrap="square" rtlCol="0">
            <a:spAutoFit/>
          </a:bodyPr>
          <a:lstStyle/>
          <a:p>
            <a:pPr algn="ctr"/>
            <a:r>
              <a:rPr lang="es-ES" sz="2800" dirty="0">
                <a:solidFill>
                  <a:schemeClr val="bg1">
                    <a:lumMod val="95000"/>
                  </a:schemeClr>
                </a:solidFill>
                <a:latin typeface="Master Of Break" pitchFamily="2" charset="0"/>
              </a:rPr>
              <a:t>the key is always you</a:t>
            </a:r>
          </a:p>
        </p:txBody>
      </p:sp>
      <p:sp>
        <p:nvSpPr>
          <p:cNvPr id="22" name="21 CuadroTexto"/>
          <p:cNvSpPr txBox="1"/>
          <p:nvPr/>
        </p:nvSpPr>
        <p:spPr>
          <a:xfrm>
            <a:off x="3704861" y="764706"/>
            <a:ext cx="2714281" cy="477054"/>
          </a:xfrm>
          <a:prstGeom prst="rect">
            <a:avLst/>
          </a:prstGeom>
          <a:noFill/>
        </p:spPr>
        <p:txBody>
          <a:bodyPr wrap="square" rtlCol="0">
            <a:spAutoFit/>
          </a:bodyPr>
          <a:lstStyle/>
          <a:p>
            <a:pPr algn="ctr"/>
            <a:r>
              <a:rPr lang="es-ES" sz="1100" dirty="0">
                <a:solidFill>
                  <a:schemeClr val="tx1">
                    <a:lumMod val="65000"/>
                    <a:lumOff val="35000"/>
                  </a:schemeClr>
                </a:solidFill>
                <a:latin typeface="Avenir 35" panose="00000400000000000000" pitchFamily="2" charset="0"/>
              </a:rPr>
              <a:t>RESOLUCION: </a:t>
            </a:r>
          </a:p>
          <a:p>
            <a:pPr algn="ctr"/>
            <a:r>
              <a:rPr lang="es-ES" sz="1400" dirty="0">
                <a:solidFill>
                  <a:schemeClr val="tx1">
                    <a:lumMod val="65000"/>
                    <a:lumOff val="35000"/>
                  </a:schemeClr>
                </a:solidFill>
                <a:latin typeface="Avenir 65" panose="02000600000000000000" pitchFamily="2" charset="0"/>
              </a:rPr>
              <a:t>MICRO-SEGMENTACIÓN</a:t>
            </a:r>
          </a:p>
        </p:txBody>
      </p:sp>
      <p:sp>
        <p:nvSpPr>
          <p:cNvPr id="2" name="1 CuadroTexto"/>
          <p:cNvSpPr txBox="1"/>
          <p:nvPr/>
        </p:nvSpPr>
        <p:spPr>
          <a:xfrm>
            <a:off x="428497" y="5858688"/>
            <a:ext cx="8892988" cy="738664"/>
          </a:xfrm>
          <a:prstGeom prst="rect">
            <a:avLst/>
          </a:prstGeom>
          <a:noFill/>
        </p:spPr>
        <p:txBody>
          <a:bodyPr wrap="square" rtlCol="0">
            <a:spAutoFit/>
          </a:bodyPr>
          <a:lstStyle/>
          <a:p>
            <a:pPr algn="ctr"/>
            <a:r>
              <a:rPr lang="es-ES" sz="1400" dirty="0">
                <a:latin typeface="Avenir 35" panose="00000400000000000000" pitchFamily="2" charset="0"/>
              </a:rPr>
              <a:t>PLANTEAR LAS </a:t>
            </a:r>
            <a:r>
              <a:rPr lang="es-ES" sz="1400" b="1" dirty="0">
                <a:latin typeface="Avenir 65" panose="02000600000000000000" pitchFamily="2" charset="0"/>
              </a:rPr>
              <a:t>PREGUNTAS ADECUADAS </a:t>
            </a:r>
            <a:r>
              <a:rPr lang="es-ES" sz="1400" dirty="0">
                <a:latin typeface="Avenir 35" panose="00000400000000000000" pitchFamily="2" charset="0"/>
              </a:rPr>
              <a:t>PARA ELABORAR LA </a:t>
            </a:r>
            <a:r>
              <a:rPr lang="es-ES" sz="1400" b="1" dirty="0">
                <a:latin typeface="Avenir 65" panose="02000600000000000000" pitchFamily="2" charset="0"/>
              </a:rPr>
              <a:t>ESTRATEGIA ADECUADA</a:t>
            </a:r>
          </a:p>
          <a:p>
            <a:pPr algn="ctr"/>
            <a:r>
              <a:rPr lang="es-ES" sz="1400" dirty="0">
                <a:latin typeface="Avenir 35" panose="00000400000000000000" pitchFamily="2" charset="0"/>
              </a:rPr>
              <a:t>¿Cómo es Miguel ?</a:t>
            </a:r>
          </a:p>
          <a:p>
            <a:pPr algn="ctr"/>
            <a:r>
              <a:rPr lang="es-ES" sz="1400" dirty="0">
                <a:latin typeface="Avenir 35" panose="00000400000000000000" pitchFamily="2" charset="0"/>
              </a:rPr>
              <a:t>¿Dónde y en qué momento está recibiendo un impacto por parte de Easy Money?</a:t>
            </a:r>
          </a:p>
        </p:txBody>
      </p:sp>
      <p:sp>
        <p:nvSpPr>
          <p:cNvPr id="23" name="22 Rectángulo"/>
          <p:cNvSpPr/>
          <p:nvPr/>
        </p:nvSpPr>
        <p:spPr>
          <a:xfrm>
            <a:off x="1714707" y="4712686"/>
            <a:ext cx="1134672" cy="274078"/>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schemeClr val="bg1"/>
                </a:solidFill>
                <a:latin typeface="Avenir 35" panose="00000400000000000000" pitchFamily="2" charset="0"/>
              </a:rPr>
              <a:t>Barcelona</a:t>
            </a:r>
          </a:p>
        </p:txBody>
      </p:sp>
      <p:sp>
        <p:nvSpPr>
          <p:cNvPr id="20" name="19 CuadroTexto"/>
          <p:cNvSpPr txBox="1"/>
          <p:nvPr/>
        </p:nvSpPr>
        <p:spPr>
          <a:xfrm>
            <a:off x="116463" y="116636"/>
            <a:ext cx="9673075" cy="584775"/>
          </a:xfrm>
          <a:prstGeom prst="rect">
            <a:avLst/>
          </a:prstGeom>
          <a:noFill/>
        </p:spPr>
        <p:txBody>
          <a:bodyPr wrap="square" rtlCol="0">
            <a:spAutoFit/>
          </a:bodyPr>
          <a:lstStyle/>
          <a:p>
            <a:pPr algn="ctr"/>
            <a:r>
              <a:rPr lang="es-ES" sz="1200" dirty="0">
                <a:solidFill>
                  <a:srgbClr val="323232"/>
                </a:solidFill>
                <a:latin typeface="Avenir 35" panose="00000400000000000000" pitchFamily="2" charset="0"/>
              </a:rPr>
              <a:t>Caso 1: programa de renovación de clientes</a:t>
            </a:r>
          </a:p>
          <a:p>
            <a:pPr algn="ctr"/>
            <a:r>
              <a:rPr lang="es-ES" sz="2000" b="1" dirty="0">
                <a:solidFill>
                  <a:srgbClr val="323232"/>
                </a:solidFill>
                <a:latin typeface="Avenir 35" panose="00000400000000000000" pitchFamily="2" charset="0"/>
              </a:rPr>
              <a:t>SEGMENTACIÓN VS MICRO-SEGMENTACIÓN</a:t>
            </a:r>
          </a:p>
        </p:txBody>
      </p:sp>
      <p:sp>
        <p:nvSpPr>
          <p:cNvPr id="26"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31</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4013991596"/>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16 Rectángulo"/>
          <p:cNvSpPr/>
          <p:nvPr/>
        </p:nvSpPr>
        <p:spPr>
          <a:xfrm>
            <a:off x="8053896" y="1124745"/>
            <a:ext cx="1612047" cy="241023"/>
          </a:xfrm>
          <a:prstGeom prst="rect">
            <a:avLst/>
          </a:prstGeom>
          <a:solidFill>
            <a:srgbClr val="009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latin typeface="Avenir 35" panose="00000400000000000000" pitchFamily="2" charset="0"/>
              </a:rPr>
              <a:t>CLIENTE</a:t>
            </a:r>
          </a:p>
        </p:txBody>
      </p:sp>
      <p:sp>
        <p:nvSpPr>
          <p:cNvPr id="13" name="AutoShape 5" descr="http://image005.flaticon.com/41/svg/55/55010.svg"/>
          <p:cNvSpPr>
            <a:spLocks noChangeAspect="1" noChangeArrowheads="1"/>
          </p:cNvSpPr>
          <p:nvPr/>
        </p:nvSpPr>
        <p:spPr bwMode="auto">
          <a:xfrm>
            <a:off x="168540" y="-335497"/>
            <a:ext cx="330200" cy="406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p>
        </p:txBody>
      </p:sp>
      <p:sp>
        <p:nvSpPr>
          <p:cNvPr id="16" name="AutoShape 7" descr="http://image005.flaticon.com/41/svg/55/55010.svg"/>
          <p:cNvSpPr>
            <a:spLocks noChangeAspect="1" noChangeArrowheads="1"/>
          </p:cNvSpPr>
          <p:nvPr/>
        </p:nvSpPr>
        <p:spPr bwMode="auto">
          <a:xfrm>
            <a:off x="333640" y="-132297"/>
            <a:ext cx="330200" cy="406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p>
        </p:txBody>
      </p:sp>
      <p:pic>
        <p:nvPicPr>
          <p:cNvPr id="42"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78366" y="3035708"/>
            <a:ext cx="322242" cy="2974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42 CuadroTexto"/>
          <p:cNvSpPr txBox="1"/>
          <p:nvPr/>
        </p:nvSpPr>
        <p:spPr>
          <a:xfrm>
            <a:off x="6856164" y="3413263"/>
            <a:ext cx="720423" cy="461665"/>
          </a:xfrm>
          <a:prstGeom prst="rect">
            <a:avLst/>
          </a:prstGeom>
          <a:solidFill>
            <a:srgbClr val="4BACC6">
              <a:alpha val="30196"/>
            </a:srgbClr>
          </a:solidFill>
        </p:spPr>
        <p:txBody>
          <a:bodyPr wrap="square" rtlCol="0">
            <a:spAutoFit/>
          </a:bodyPr>
          <a:lstStyle/>
          <a:p>
            <a:pPr algn="ctr"/>
            <a:r>
              <a:rPr lang="es-ES" sz="800" dirty="0">
                <a:latin typeface="Avenir 35" panose="00000400000000000000" pitchFamily="2" charset="0"/>
              </a:rPr>
              <a:t>Cita agenda</a:t>
            </a:r>
          </a:p>
          <a:p>
            <a:pPr algn="ctr"/>
            <a:r>
              <a:rPr lang="es-ES" sz="800" dirty="0">
                <a:latin typeface="Avenir 35" panose="00000400000000000000" pitchFamily="2" charset="0"/>
              </a:rPr>
              <a:t>móvil</a:t>
            </a:r>
          </a:p>
        </p:txBody>
      </p:sp>
      <p:grpSp>
        <p:nvGrpSpPr>
          <p:cNvPr id="47" name="46 Grupo"/>
          <p:cNvGrpSpPr/>
          <p:nvPr/>
        </p:nvGrpSpPr>
        <p:grpSpPr>
          <a:xfrm>
            <a:off x="7891514" y="3027029"/>
            <a:ext cx="373975" cy="345208"/>
            <a:chOff x="8015722" y="1844824"/>
            <a:chExt cx="345208" cy="345208"/>
          </a:xfrm>
        </p:grpSpPr>
        <p:pic>
          <p:nvPicPr>
            <p:cNvPr id="48"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15722" y="1844824"/>
              <a:ext cx="345208" cy="345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35808" y="1940297"/>
              <a:ext cx="121969" cy="1695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54" name="53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040639" y="3052371"/>
            <a:ext cx="311014" cy="287091"/>
          </a:xfrm>
          <a:prstGeom prst="rect">
            <a:avLst/>
          </a:prstGeom>
        </p:spPr>
      </p:pic>
      <p:sp>
        <p:nvSpPr>
          <p:cNvPr id="89" name="88 CuadroTexto"/>
          <p:cNvSpPr txBox="1"/>
          <p:nvPr/>
        </p:nvSpPr>
        <p:spPr>
          <a:xfrm>
            <a:off x="802402" y="2463220"/>
            <a:ext cx="858095" cy="338554"/>
          </a:xfrm>
          <a:prstGeom prst="rect">
            <a:avLst/>
          </a:prstGeom>
          <a:solidFill>
            <a:srgbClr val="4BACC6">
              <a:alpha val="30196"/>
            </a:srgbClr>
          </a:solidFill>
        </p:spPr>
        <p:txBody>
          <a:bodyPr wrap="square" rtlCol="0">
            <a:spAutoFit/>
          </a:bodyPr>
          <a:lstStyle/>
          <a:p>
            <a:pPr algn="ctr"/>
            <a:r>
              <a:rPr lang="es-ES" sz="800" dirty="0">
                <a:latin typeface="Avenir 35" panose="00000400000000000000" pitchFamily="2" charset="0"/>
              </a:rPr>
              <a:t>SEGUNDA</a:t>
            </a:r>
          </a:p>
          <a:p>
            <a:pPr algn="ctr"/>
            <a:r>
              <a:rPr lang="es-ES" sz="800" dirty="0">
                <a:latin typeface="Avenir 35" panose="00000400000000000000" pitchFamily="2" charset="0"/>
              </a:rPr>
              <a:t>SEMANA</a:t>
            </a:r>
          </a:p>
        </p:txBody>
      </p:sp>
      <p:sp>
        <p:nvSpPr>
          <p:cNvPr id="90" name="89 CuadroTexto"/>
          <p:cNvSpPr txBox="1"/>
          <p:nvPr/>
        </p:nvSpPr>
        <p:spPr>
          <a:xfrm>
            <a:off x="2432720" y="2524775"/>
            <a:ext cx="858095" cy="215444"/>
          </a:xfrm>
          <a:prstGeom prst="rect">
            <a:avLst/>
          </a:prstGeom>
          <a:solidFill>
            <a:srgbClr val="4BACC6">
              <a:alpha val="30196"/>
            </a:srgbClr>
          </a:solidFill>
        </p:spPr>
        <p:txBody>
          <a:bodyPr wrap="square" rtlCol="0">
            <a:spAutoFit/>
          </a:bodyPr>
          <a:lstStyle/>
          <a:p>
            <a:pPr algn="ctr"/>
            <a:r>
              <a:rPr lang="es-ES" sz="800" dirty="0">
                <a:latin typeface="Avenir 35" panose="00000400000000000000" pitchFamily="2" charset="0"/>
              </a:rPr>
              <a:t>SEMANA 12</a:t>
            </a:r>
          </a:p>
        </p:txBody>
      </p:sp>
      <p:sp>
        <p:nvSpPr>
          <p:cNvPr id="96" name="95 CuadroTexto"/>
          <p:cNvSpPr txBox="1"/>
          <p:nvPr/>
        </p:nvSpPr>
        <p:spPr>
          <a:xfrm>
            <a:off x="428904" y="2121844"/>
            <a:ext cx="9237037" cy="215444"/>
          </a:xfrm>
          <a:prstGeom prst="rect">
            <a:avLst/>
          </a:prstGeom>
          <a:solidFill>
            <a:schemeClr val="bg1"/>
          </a:solidFill>
          <a:ln w="12700">
            <a:noFill/>
          </a:ln>
        </p:spPr>
        <p:txBody>
          <a:bodyPr wrap="square" rtlCol="0">
            <a:spAutoFit/>
          </a:bodyPr>
          <a:lstStyle/>
          <a:p>
            <a:pPr algn="ctr"/>
            <a:r>
              <a:rPr lang="es-ES" sz="800" dirty="0">
                <a:latin typeface="Avenir 35" panose="00000400000000000000" pitchFamily="2" charset="0"/>
              </a:rPr>
              <a:t>ENAMORAR AL CLIENTE – ESTRATEGIA DE CONTENIDOS </a:t>
            </a:r>
          </a:p>
        </p:txBody>
      </p:sp>
      <p:sp>
        <p:nvSpPr>
          <p:cNvPr id="97" name="96 CuadroTexto"/>
          <p:cNvSpPr txBox="1"/>
          <p:nvPr/>
        </p:nvSpPr>
        <p:spPr>
          <a:xfrm>
            <a:off x="436870" y="3234395"/>
            <a:ext cx="1531739" cy="461665"/>
          </a:xfrm>
          <a:prstGeom prst="rect">
            <a:avLst/>
          </a:prstGeom>
          <a:solidFill>
            <a:schemeClr val="bg1"/>
          </a:solidFill>
          <a:ln w="12700">
            <a:noFill/>
          </a:ln>
        </p:spPr>
        <p:txBody>
          <a:bodyPr wrap="square" rtlCol="0">
            <a:spAutoFit/>
          </a:bodyPr>
          <a:lstStyle/>
          <a:p>
            <a:pPr algn="ctr"/>
            <a:r>
              <a:rPr lang="es-ES" sz="800" dirty="0">
                <a:latin typeface="Avenir 35" panose="00000400000000000000" pitchFamily="2" charset="0"/>
              </a:rPr>
              <a:t>PRIMERA TOMA DE CONTACTO DEL CLIENTE CON SU OFERTA</a:t>
            </a:r>
          </a:p>
        </p:txBody>
      </p:sp>
      <p:sp>
        <p:nvSpPr>
          <p:cNvPr id="22" name="21 Rectángulo"/>
          <p:cNvSpPr/>
          <p:nvPr/>
        </p:nvSpPr>
        <p:spPr>
          <a:xfrm>
            <a:off x="428904" y="5171588"/>
            <a:ext cx="9237037" cy="246221"/>
          </a:xfrm>
          <a:prstGeom prst="rect">
            <a:avLst/>
          </a:prstGeom>
          <a:solidFill>
            <a:schemeClr val="bg1"/>
          </a:solidFill>
          <a:ln w="12700">
            <a:noFill/>
          </a:ln>
        </p:spPr>
        <p:txBody>
          <a:bodyPr wrap="square" rtlCol="0">
            <a:spAutoFit/>
          </a:bodyPr>
          <a:lstStyle/>
          <a:p>
            <a:pPr algn="ctr"/>
            <a:r>
              <a:rPr lang="es-ES" sz="1000" dirty="0">
                <a:latin typeface="Avenir 35" panose="00000400000000000000" pitchFamily="2" charset="0"/>
              </a:rPr>
              <a:t>CERRAR CITA CLIENTES  NO CONVIERTAN EN LANDING</a:t>
            </a:r>
          </a:p>
        </p:txBody>
      </p:sp>
      <p:sp>
        <p:nvSpPr>
          <p:cNvPr id="114" name="113 CuadroTexto"/>
          <p:cNvSpPr txBox="1"/>
          <p:nvPr/>
        </p:nvSpPr>
        <p:spPr>
          <a:xfrm>
            <a:off x="8616561" y="3409142"/>
            <a:ext cx="1191821" cy="461665"/>
          </a:xfrm>
          <a:prstGeom prst="rect">
            <a:avLst/>
          </a:prstGeom>
          <a:solidFill>
            <a:srgbClr val="4BACC6">
              <a:alpha val="30196"/>
            </a:srgbClr>
          </a:solidFill>
        </p:spPr>
        <p:txBody>
          <a:bodyPr wrap="square" rtlCol="0">
            <a:spAutoFit/>
          </a:bodyPr>
          <a:lstStyle>
            <a:defPPr>
              <a:defRPr lang="es-ES"/>
            </a:defPPr>
            <a:lvl1pPr algn="ctr">
              <a:defRPr sz="800"/>
            </a:lvl1pPr>
          </a:lstStyle>
          <a:p>
            <a:r>
              <a:rPr lang="es-ES" dirty="0">
                <a:latin typeface="Avenir 35" panose="00000400000000000000" pitchFamily="2" charset="0"/>
              </a:rPr>
              <a:t>Agradecimiento </a:t>
            </a:r>
          </a:p>
          <a:p>
            <a:r>
              <a:rPr lang="es-ES" dirty="0">
                <a:latin typeface="Avenir 35" panose="00000400000000000000" pitchFamily="2" charset="0"/>
              </a:rPr>
              <a:t>encuesta satisfacción</a:t>
            </a:r>
          </a:p>
          <a:p>
            <a:r>
              <a:rPr lang="es-ES" dirty="0">
                <a:latin typeface="Avenir 35" panose="00000400000000000000" pitchFamily="2" charset="0"/>
              </a:rPr>
              <a:t>24/48 horas</a:t>
            </a:r>
          </a:p>
        </p:txBody>
      </p:sp>
      <p:sp>
        <p:nvSpPr>
          <p:cNvPr id="28" name="27 Rectángulo"/>
          <p:cNvSpPr/>
          <p:nvPr/>
        </p:nvSpPr>
        <p:spPr>
          <a:xfrm>
            <a:off x="442566" y="1125361"/>
            <a:ext cx="7559736" cy="241023"/>
          </a:xfrm>
          <a:prstGeom prst="rect">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latin typeface="Avenir 35" panose="00000400000000000000" pitchFamily="2" charset="0"/>
              </a:rPr>
              <a:t>LEAD</a:t>
            </a:r>
          </a:p>
        </p:txBody>
      </p:sp>
      <p:sp>
        <p:nvSpPr>
          <p:cNvPr id="118" name="117 Rectángulo"/>
          <p:cNvSpPr/>
          <p:nvPr/>
        </p:nvSpPr>
        <p:spPr>
          <a:xfrm>
            <a:off x="442565" y="1456152"/>
            <a:ext cx="5446539" cy="24102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latin typeface="Avenir 35" panose="00000400000000000000" pitchFamily="2" charset="0"/>
              </a:rPr>
              <a:t>PREVENTA</a:t>
            </a:r>
          </a:p>
        </p:txBody>
      </p:sp>
      <p:sp>
        <p:nvSpPr>
          <p:cNvPr id="119" name="118 Rectángulo"/>
          <p:cNvSpPr/>
          <p:nvPr/>
        </p:nvSpPr>
        <p:spPr>
          <a:xfrm>
            <a:off x="5967113" y="1461018"/>
            <a:ext cx="2035189" cy="24102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latin typeface="Avenir 35" panose="00000400000000000000" pitchFamily="2" charset="0"/>
              </a:rPr>
              <a:t>VENTA</a:t>
            </a:r>
          </a:p>
        </p:txBody>
      </p:sp>
      <p:sp>
        <p:nvSpPr>
          <p:cNvPr id="120" name="119 Rectángulo"/>
          <p:cNvSpPr/>
          <p:nvPr/>
        </p:nvSpPr>
        <p:spPr>
          <a:xfrm>
            <a:off x="8053896" y="1461018"/>
            <a:ext cx="1612047" cy="24102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latin typeface="Avenir 35" panose="00000400000000000000" pitchFamily="2" charset="0"/>
              </a:rPr>
              <a:t>FIDELIZACIÓN</a:t>
            </a:r>
          </a:p>
        </p:txBody>
      </p:sp>
      <p:sp>
        <p:nvSpPr>
          <p:cNvPr id="122" name="121 CuadroTexto"/>
          <p:cNvSpPr txBox="1"/>
          <p:nvPr/>
        </p:nvSpPr>
        <p:spPr>
          <a:xfrm>
            <a:off x="7661158" y="3412598"/>
            <a:ext cx="860512" cy="461665"/>
          </a:xfrm>
          <a:prstGeom prst="rect">
            <a:avLst/>
          </a:prstGeom>
          <a:solidFill>
            <a:srgbClr val="4BACC6">
              <a:alpha val="30196"/>
            </a:srgbClr>
          </a:solidFill>
        </p:spPr>
        <p:txBody>
          <a:bodyPr wrap="square" rtlCol="0" anchor="ctr">
            <a:spAutoFit/>
          </a:bodyPr>
          <a:lstStyle>
            <a:defPPr>
              <a:defRPr lang="es-ES"/>
            </a:defPPr>
            <a:lvl1pPr algn="ctr">
              <a:defRPr sz="800"/>
            </a:lvl1pPr>
          </a:lstStyle>
          <a:p>
            <a:r>
              <a:rPr lang="es-ES" dirty="0">
                <a:latin typeface="Avenir 35" panose="00000400000000000000" pitchFamily="2" charset="0"/>
              </a:rPr>
              <a:t>Recordatorio Cita</a:t>
            </a:r>
          </a:p>
          <a:p>
            <a:endParaRPr lang="es-ES" dirty="0">
              <a:latin typeface="Avenir 35" panose="00000400000000000000" pitchFamily="2" charset="0"/>
            </a:endParaRPr>
          </a:p>
        </p:txBody>
      </p:sp>
      <p:sp>
        <p:nvSpPr>
          <p:cNvPr id="124" name="123 Rectángulo"/>
          <p:cNvSpPr/>
          <p:nvPr/>
        </p:nvSpPr>
        <p:spPr>
          <a:xfrm>
            <a:off x="442566" y="1849574"/>
            <a:ext cx="9223375" cy="241023"/>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Newsletter Bimensual </a:t>
            </a:r>
          </a:p>
        </p:txBody>
      </p:sp>
      <p:sp>
        <p:nvSpPr>
          <p:cNvPr id="125" name="124 CuadroTexto"/>
          <p:cNvSpPr txBox="1"/>
          <p:nvPr/>
        </p:nvSpPr>
        <p:spPr>
          <a:xfrm>
            <a:off x="1003066" y="1913713"/>
            <a:ext cx="858095" cy="338554"/>
          </a:xfrm>
          <a:prstGeom prst="rect">
            <a:avLst/>
          </a:prstGeom>
          <a:solidFill>
            <a:srgbClr val="FFFFFF"/>
          </a:solidFill>
          <a:ln>
            <a:solidFill>
              <a:srgbClr val="0086AC"/>
            </a:solidFill>
          </a:ln>
        </p:spPr>
        <p:txBody>
          <a:bodyPr wrap="square" rtlCol="0">
            <a:spAutoFit/>
          </a:bodyPr>
          <a:lstStyle/>
          <a:p>
            <a:pPr algn="ctr"/>
            <a:r>
              <a:rPr lang="es-ES" sz="800" dirty="0">
                <a:latin typeface="Avenir 35" panose="00000400000000000000" pitchFamily="2" charset="0"/>
              </a:rPr>
              <a:t>PRIMER CONTACTO</a:t>
            </a:r>
          </a:p>
        </p:txBody>
      </p:sp>
      <p:sp>
        <p:nvSpPr>
          <p:cNvPr id="126" name="125 Rectángulo"/>
          <p:cNvSpPr/>
          <p:nvPr/>
        </p:nvSpPr>
        <p:spPr>
          <a:xfrm>
            <a:off x="436944" y="2808360"/>
            <a:ext cx="1531665" cy="426987"/>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latin typeface="Avenir 35" panose="00000400000000000000" pitchFamily="2" charset="0"/>
              </a:rPr>
              <a:t>Vehículo + Oferta Financiación</a:t>
            </a:r>
          </a:p>
        </p:txBody>
      </p:sp>
      <p:sp>
        <p:nvSpPr>
          <p:cNvPr id="127" name="126 CuadroTexto"/>
          <p:cNvSpPr txBox="1"/>
          <p:nvPr/>
        </p:nvSpPr>
        <p:spPr>
          <a:xfrm>
            <a:off x="2036218" y="3235129"/>
            <a:ext cx="1531739" cy="338554"/>
          </a:xfrm>
          <a:prstGeom prst="rect">
            <a:avLst/>
          </a:prstGeom>
          <a:solidFill>
            <a:schemeClr val="bg1"/>
          </a:solidFill>
          <a:ln w="12700">
            <a:noFill/>
          </a:ln>
        </p:spPr>
        <p:txBody>
          <a:bodyPr wrap="square" rtlCol="0">
            <a:spAutoFit/>
          </a:bodyPr>
          <a:lstStyle/>
          <a:p>
            <a:pPr algn="ctr"/>
            <a:r>
              <a:rPr lang="es-ES" sz="800" dirty="0">
                <a:latin typeface="Avenir 35" panose="00000400000000000000" pitchFamily="2" charset="0"/>
              </a:rPr>
              <a:t>RECORDATORIO DE LA OFERTA</a:t>
            </a:r>
          </a:p>
        </p:txBody>
      </p:sp>
      <p:sp>
        <p:nvSpPr>
          <p:cNvPr id="128" name="127 Rectángulo"/>
          <p:cNvSpPr/>
          <p:nvPr/>
        </p:nvSpPr>
        <p:spPr>
          <a:xfrm>
            <a:off x="2036292" y="2809094"/>
            <a:ext cx="1531665" cy="426987"/>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latin typeface="Avenir 35" panose="00000400000000000000" pitchFamily="2" charset="0"/>
              </a:rPr>
              <a:t>Vehículo + Oferta Financiación</a:t>
            </a:r>
          </a:p>
        </p:txBody>
      </p:sp>
      <p:sp>
        <p:nvSpPr>
          <p:cNvPr id="129" name="128 CuadroTexto"/>
          <p:cNvSpPr txBox="1"/>
          <p:nvPr/>
        </p:nvSpPr>
        <p:spPr>
          <a:xfrm>
            <a:off x="4039434" y="2531229"/>
            <a:ext cx="858095" cy="215444"/>
          </a:xfrm>
          <a:prstGeom prst="rect">
            <a:avLst/>
          </a:prstGeom>
          <a:solidFill>
            <a:srgbClr val="4BACC6">
              <a:alpha val="30196"/>
            </a:srgbClr>
          </a:solidFill>
        </p:spPr>
        <p:txBody>
          <a:bodyPr wrap="square" rtlCol="0">
            <a:spAutoFit/>
          </a:bodyPr>
          <a:lstStyle/>
          <a:p>
            <a:pPr algn="ctr"/>
            <a:r>
              <a:rPr lang="es-ES" sz="800" dirty="0">
                <a:latin typeface="Avenir 35" panose="00000400000000000000" pitchFamily="2" charset="0"/>
              </a:rPr>
              <a:t>SEMANA 20</a:t>
            </a:r>
          </a:p>
        </p:txBody>
      </p:sp>
      <p:sp>
        <p:nvSpPr>
          <p:cNvPr id="130" name="129 CuadroTexto"/>
          <p:cNvSpPr txBox="1"/>
          <p:nvPr/>
        </p:nvSpPr>
        <p:spPr>
          <a:xfrm>
            <a:off x="3638668" y="3239747"/>
            <a:ext cx="1531739" cy="461665"/>
          </a:xfrm>
          <a:prstGeom prst="rect">
            <a:avLst/>
          </a:prstGeom>
          <a:solidFill>
            <a:schemeClr val="bg1"/>
          </a:solidFill>
          <a:ln w="12700">
            <a:noFill/>
          </a:ln>
        </p:spPr>
        <p:txBody>
          <a:bodyPr wrap="square" rtlCol="0">
            <a:spAutoFit/>
          </a:bodyPr>
          <a:lstStyle/>
          <a:p>
            <a:pPr algn="ctr"/>
            <a:r>
              <a:rPr lang="es-ES" sz="800" dirty="0">
                <a:latin typeface="Avenir 35" panose="00000400000000000000" pitchFamily="2" charset="0"/>
              </a:rPr>
              <a:t>RECORDATORIO Y AVISO DE ÚLTIMOS DÍAS DE LA OFERTA.</a:t>
            </a:r>
          </a:p>
        </p:txBody>
      </p:sp>
      <p:sp>
        <p:nvSpPr>
          <p:cNvPr id="131" name="130 Rectángulo"/>
          <p:cNvSpPr/>
          <p:nvPr/>
        </p:nvSpPr>
        <p:spPr>
          <a:xfrm>
            <a:off x="3638742" y="2813712"/>
            <a:ext cx="1531665" cy="426987"/>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latin typeface="Avenir 35" panose="00000400000000000000" pitchFamily="2" charset="0"/>
              </a:rPr>
              <a:t>Vehículo + Oferta Financiación</a:t>
            </a:r>
          </a:p>
        </p:txBody>
      </p:sp>
      <p:sp>
        <p:nvSpPr>
          <p:cNvPr id="135" name="134 CuadroTexto"/>
          <p:cNvSpPr txBox="1"/>
          <p:nvPr/>
        </p:nvSpPr>
        <p:spPr>
          <a:xfrm>
            <a:off x="5601856" y="2469674"/>
            <a:ext cx="858095" cy="338554"/>
          </a:xfrm>
          <a:prstGeom prst="rect">
            <a:avLst/>
          </a:prstGeom>
          <a:solidFill>
            <a:srgbClr val="4BACC6">
              <a:alpha val="30196"/>
            </a:srgbClr>
          </a:solidFill>
        </p:spPr>
        <p:txBody>
          <a:bodyPr wrap="square" rtlCol="0">
            <a:spAutoFit/>
          </a:bodyPr>
          <a:lstStyle/>
          <a:p>
            <a:pPr algn="ctr"/>
            <a:r>
              <a:rPr lang="es-ES" sz="800" dirty="0">
                <a:latin typeface="Avenir 35" panose="00000400000000000000" pitchFamily="2" charset="0"/>
              </a:rPr>
              <a:t>TODA CAMPAÑA</a:t>
            </a:r>
          </a:p>
        </p:txBody>
      </p:sp>
      <p:sp>
        <p:nvSpPr>
          <p:cNvPr id="136" name="135 CuadroTexto"/>
          <p:cNvSpPr txBox="1"/>
          <p:nvPr/>
        </p:nvSpPr>
        <p:spPr>
          <a:xfrm>
            <a:off x="5265035" y="3102967"/>
            <a:ext cx="1531739" cy="338554"/>
          </a:xfrm>
          <a:prstGeom prst="rect">
            <a:avLst/>
          </a:prstGeom>
          <a:solidFill>
            <a:schemeClr val="bg1"/>
          </a:solidFill>
          <a:ln w="12700">
            <a:noFill/>
          </a:ln>
        </p:spPr>
        <p:txBody>
          <a:bodyPr wrap="square" rtlCol="0">
            <a:spAutoFit/>
          </a:bodyPr>
          <a:lstStyle/>
          <a:p>
            <a:pPr algn="ctr"/>
            <a:r>
              <a:rPr lang="es-ES" sz="800" dirty="0">
                <a:latin typeface="Avenir 35" panose="00000400000000000000" pitchFamily="2" charset="0"/>
              </a:rPr>
              <a:t>SOLICITAR PRUEBA DEL COCHE O CALL ME BACK</a:t>
            </a:r>
          </a:p>
        </p:txBody>
      </p:sp>
      <p:sp>
        <p:nvSpPr>
          <p:cNvPr id="137" name="136 Rectángulo"/>
          <p:cNvSpPr/>
          <p:nvPr/>
        </p:nvSpPr>
        <p:spPr>
          <a:xfrm>
            <a:off x="5265109" y="2815918"/>
            <a:ext cx="1531665" cy="241023"/>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latin typeface="Avenir 35" panose="00000400000000000000" pitchFamily="2" charset="0"/>
              </a:rPr>
              <a:t>Landing page</a:t>
            </a:r>
          </a:p>
        </p:txBody>
      </p:sp>
      <p:sp>
        <p:nvSpPr>
          <p:cNvPr id="138" name="137 CuadroTexto"/>
          <p:cNvSpPr txBox="1"/>
          <p:nvPr/>
        </p:nvSpPr>
        <p:spPr>
          <a:xfrm>
            <a:off x="8157870" y="2686391"/>
            <a:ext cx="719100" cy="215444"/>
          </a:xfrm>
          <a:prstGeom prst="rect">
            <a:avLst/>
          </a:prstGeom>
          <a:solidFill>
            <a:srgbClr val="4BACC6">
              <a:alpha val="30196"/>
            </a:srgbClr>
          </a:solidFill>
        </p:spPr>
        <p:txBody>
          <a:bodyPr wrap="square" rtlCol="0">
            <a:spAutoFit/>
          </a:bodyPr>
          <a:lstStyle>
            <a:defPPr>
              <a:defRPr lang="es-ES"/>
            </a:defPPr>
            <a:lvl1pPr algn="ctr">
              <a:defRPr sz="800"/>
            </a:lvl1pPr>
          </a:lstStyle>
          <a:p>
            <a:r>
              <a:rPr lang="es-ES" dirty="0">
                <a:latin typeface="Avenir 35" panose="00000400000000000000" pitchFamily="2" charset="0"/>
              </a:rPr>
              <a:t>Compra </a:t>
            </a:r>
          </a:p>
        </p:txBody>
      </p:sp>
      <p:sp>
        <p:nvSpPr>
          <p:cNvPr id="139" name="138 Rectángulo"/>
          <p:cNvSpPr/>
          <p:nvPr/>
        </p:nvSpPr>
        <p:spPr>
          <a:xfrm>
            <a:off x="442567" y="4879635"/>
            <a:ext cx="9223375" cy="241023"/>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Call Center – INICIO PROCESO DEALER</a:t>
            </a:r>
          </a:p>
        </p:txBody>
      </p:sp>
      <p:sp>
        <p:nvSpPr>
          <p:cNvPr id="141" name="140 Rectángulo"/>
          <p:cNvSpPr/>
          <p:nvPr/>
        </p:nvSpPr>
        <p:spPr>
          <a:xfrm>
            <a:off x="439223" y="5766012"/>
            <a:ext cx="9237037" cy="246221"/>
          </a:xfrm>
          <a:prstGeom prst="rect">
            <a:avLst/>
          </a:prstGeom>
          <a:solidFill>
            <a:schemeClr val="bg1"/>
          </a:solidFill>
          <a:ln w="12700">
            <a:noFill/>
          </a:ln>
        </p:spPr>
        <p:txBody>
          <a:bodyPr wrap="square" rtlCol="0">
            <a:spAutoFit/>
          </a:bodyPr>
          <a:lstStyle/>
          <a:p>
            <a:pPr algn="ctr"/>
            <a:r>
              <a:rPr lang="es-ES" sz="1000" dirty="0">
                <a:latin typeface="Avenir 35" panose="00000400000000000000" pitchFamily="2" charset="0"/>
              </a:rPr>
              <a:t>Remarketing de AdWords para anuncios de la Red de Búsqueda</a:t>
            </a:r>
          </a:p>
        </p:txBody>
      </p:sp>
      <p:sp>
        <p:nvSpPr>
          <p:cNvPr id="142" name="141 Rectángulo"/>
          <p:cNvSpPr/>
          <p:nvPr/>
        </p:nvSpPr>
        <p:spPr>
          <a:xfrm>
            <a:off x="452886" y="5474059"/>
            <a:ext cx="9223375" cy="241023"/>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Cookies</a:t>
            </a:r>
          </a:p>
        </p:txBody>
      </p:sp>
      <p:sp>
        <p:nvSpPr>
          <p:cNvPr id="144" name="143 Rectángulo"/>
          <p:cNvSpPr/>
          <p:nvPr/>
        </p:nvSpPr>
        <p:spPr>
          <a:xfrm>
            <a:off x="7106965" y="6068298"/>
            <a:ext cx="2558571" cy="24102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latin typeface="Avenir 35" panose="00000400000000000000" pitchFamily="2" charset="0"/>
              </a:rPr>
              <a:t>Atención al Cliente</a:t>
            </a:r>
          </a:p>
        </p:txBody>
      </p:sp>
      <p:sp>
        <p:nvSpPr>
          <p:cNvPr id="146" name="145 CuadroTexto"/>
          <p:cNvSpPr txBox="1"/>
          <p:nvPr/>
        </p:nvSpPr>
        <p:spPr>
          <a:xfrm>
            <a:off x="1432114" y="5266681"/>
            <a:ext cx="858095" cy="338554"/>
          </a:xfrm>
          <a:prstGeom prst="rect">
            <a:avLst/>
          </a:prstGeom>
          <a:solidFill>
            <a:srgbClr val="FFFFFF"/>
          </a:solidFill>
        </p:spPr>
        <p:txBody>
          <a:bodyPr wrap="square" rtlCol="0">
            <a:spAutoFit/>
          </a:bodyPr>
          <a:lstStyle>
            <a:defPPr>
              <a:defRPr lang="es-ES"/>
            </a:defPPr>
            <a:lvl1pPr algn="ctr">
              <a:defRPr sz="800">
                <a:latin typeface="Avenir 35" panose="00000400000000000000" pitchFamily="2" charset="0"/>
              </a:defRPr>
            </a:lvl1pPr>
          </a:lstStyle>
          <a:p>
            <a:r>
              <a:rPr lang="es-ES" dirty="0"/>
              <a:t>TODA</a:t>
            </a:r>
          </a:p>
          <a:p>
            <a:r>
              <a:rPr lang="es-ES" dirty="0"/>
              <a:t>CAMPAÑA</a:t>
            </a:r>
          </a:p>
        </p:txBody>
      </p:sp>
      <p:sp>
        <p:nvSpPr>
          <p:cNvPr id="46" name="45 CuadroTexto"/>
          <p:cNvSpPr txBox="1"/>
          <p:nvPr/>
        </p:nvSpPr>
        <p:spPr>
          <a:xfrm>
            <a:off x="3626853" y="4263480"/>
            <a:ext cx="3169921" cy="461665"/>
          </a:xfrm>
          <a:prstGeom prst="rect">
            <a:avLst/>
          </a:prstGeom>
          <a:solidFill>
            <a:schemeClr val="bg1"/>
          </a:solidFill>
          <a:ln w="12700">
            <a:noFill/>
          </a:ln>
        </p:spPr>
        <p:txBody>
          <a:bodyPr wrap="square" rtlCol="0">
            <a:spAutoFit/>
          </a:bodyPr>
          <a:lstStyle/>
          <a:p>
            <a:pPr algn="ctr"/>
            <a:r>
              <a:rPr lang="es-ES" sz="800" dirty="0">
                <a:latin typeface="Avenir 35" panose="00000400000000000000" pitchFamily="2" charset="0"/>
              </a:rPr>
              <a:t>SEM</a:t>
            </a:r>
          </a:p>
          <a:p>
            <a:pPr algn="ctr"/>
            <a:r>
              <a:rPr lang="es-ES" sz="800" dirty="0">
                <a:latin typeface="Avenir 35" panose="00000400000000000000" pitchFamily="2" charset="0"/>
              </a:rPr>
              <a:t>Search Remarketing</a:t>
            </a:r>
          </a:p>
          <a:p>
            <a:pPr algn="ctr"/>
            <a:endParaRPr lang="es-ES" sz="800" dirty="0">
              <a:latin typeface="Avenir 35" panose="00000400000000000000" pitchFamily="2" charset="0"/>
            </a:endParaRPr>
          </a:p>
        </p:txBody>
      </p:sp>
      <p:sp>
        <p:nvSpPr>
          <p:cNvPr id="53" name="52 Rectángulo"/>
          <p:cNvSpPr/>
          <p:nvPr/>
        </p:nvSpPr>
        <p:spPr>
          <a:xfrm>
            <a:off x="3634723" y="3976430"/>
            <a:ext cx="3169768" cy="241023"/>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Remarketing </a:t>
            </a:r>
          </a:p>
        </p:txBody>
      </p:sp>
      <p:pic>
        <p:nvPicPr>
          <p:cNvPr id="55" name="54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9837" y="2497089"/>
            <a:ext cx="311014" cy="287091"/>
          </a:xfrm>
          <a:prstGeom prst="rect">
            <a:avLst/>
          </a:prstGeom>
        </p:spPr>
      </p:pic>
      <p:pic>
        <p:nvPicPr>
          <p:cNvPr id="56" name="55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28806" y="2488707"/>
            <a:ext cx="311014" cy="287091"/>
          </a:xfrm>
          <a:prstGeom prst="rect">
            <a:avLst/>
          </a:prstGeom>
        </p:spPr>
      </p:pic>
      <p:pic>
        <p:nvPicPr>
          <p:cNvPr id="57" name="56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44616" y="2511946"/>
            <a:ext cx="348550" cy="321738"/>
          </a:xfrm>
          <a:prstGeom prst="rect">
            <a:avLst/>
          </a:prstGeom>
        </p:spPr>
      </p:pic>
      <p:pic>
        <p:nvPicPr>
          <p:cNvPr id="58" name="57 Imagen"/>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771377" y="4310866"/>
            <a:ext cx="482679" cy="366891"/>
          </a:xfrm>
          <a:prstGeom prst="rect">
            <a:avLst/>
          </a:prstGeom>
        </p:spPr>
      </p:pic>
      <p:pic>
        <p:nvPicPr>
          <p:cNvPr id="59" name="Picture 2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98739" y="4527933"/>
            <a:ext cx="324617" cy="299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 name="60 CuadroTexto"/>
          <p:cNvSpPr txBox="1"/>
          <p:nvPr/>
        </p:nvSpPr>
        <p:spPr>
          <a:xfrm>
            <a:off x="116463" y="116636"/>
            <a:ext cx="9673075" cy="584775"/>
          </a:xfrm>
          <a:prstGeom prst="rect">
            <a:avLst/>
          </a:prstGeom>
          <a:noFill/>
        </p:spPr>
        <p:txBody>
          <a:bodyPr wrap="square" rtlCol="0">
            <a:spAutoFit/>
          </a:bodyPr>
          <a:lstStyle/>
          <a:p>
            <a:pPr algn="ctr"/>
            <a:r>
              <a:rPr lang="es-ES" sz="1200" dirty="0">
                <a:solidFill>
                  <a:srgbClr val="323232"/>
                </a:solidFill>
                <a:latin typeface="Avenir 35" panose="00000400000000000000" pitchFamily="2" charset="0"/>
              </a:rPr>
              <a:t>Caso 1: programa de renovación de clientes</a:t>
            </a:r>
          </a:p>
          <a:p>
            <a:pPr algn="ctr"/>
            <a:r>
              <a:rPr lang="es-ES" sz="2000" b="1" dirty="0">
                <a:solidFill>
                  <a:srgbClr val="323232"/>
                </a:solidFill>
                <a:latin typeface="Avenir 35" panose="00000400000000000000" pitchFamily="2" charset="0"/>
              </a:rPr>
              <a:t>SEGMENTACIÓN VS MICRO-SEGMENTACIÓN</a:t>
            </a:r>
          </a:p>
        </p:txBody>
      </p:sp>
      <p:pic>
        <p:nvPicPr>
          <p:cNvPr id="62" name="61 Imagen"/>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313612" y="2296557"/>
            <a:ext cx="407614" cy="376259"/>
          </a:xfrm>
          <a:prstGeom prst="rect">
            <a:avLst/>
          </a:prstGeom>
        </p:spPr>
      </p:pic>
      <p:pic>
        <p:nvPicPr>
          <p:cNvPr id="60" name="59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52879" y="2495405"/>
            <a:ext cx="311014" cy="287091"/>
          </a:xfrm>
          <a:prstGeom prst="rect">
            <a:avLst/>
          </a:prstGeom>
        </p:spPr>
      </p:pic>
      <p:sp>
        <p:nvSpPr>
          <p:cNvPr id="63"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32</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1788864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74 CuadroTexto"/>
          <p:cNvSpPr txBox="1"/>
          <p:nvPr/>
        </p:nvSpPr>
        <p:spPr>
          <a:xfrm>
            <a:off x="116463" y="116635"/>
            <a:ext cx="9673075" cy="584775"/>
          </a:xfrm>
          <a:prstGeom prst="rect">
            <a:avLst/>
          </a:prstGeom>
          <a:noFill/>
        </p:spPr>
        <p:txBody>
          <a:bodyPr wrap="square" rtlCol="0">
            <a:spAutoFit/>
          </a:bodyPr>
          <a:lstStyle/>
          <a:p>
            <a:pPr algn="ctr"/>
            <a:r>
              <a:rPr lang="es-ES" sz="1200" dirty="0">
                <a:solidFill>
                  <a:srgbClr val="323232"/>
                </a:solidFill>
                <a:latin typeface="Avenir 35" panose="00000400000000000000" pitchFamily="2" charset="0"/>
              </a:rPr>
              <a:t>Caso 1: programa de renovación de clientes</a:t>
            </a:r>
          </a:p>
          <a:p>
            <a:pPr algn="ctr"/>
            <a:r>
              <a:rPr lang="es-ES" sz="2000" b="1" dirty="0">
                <a:solidFill>
                  <a:srgbClr val="323232"/>
                </a:solidFill>
                <a:latin typeface="Avenir 35" panose="00000400000000000000" pitchFamily="2" charset="0"/>
              </a:rPr>
              <a:t>RESOLUCIÓN</a:t>
            </a:r>
          </a:p>
        </p:txBody>
      </p:sp>
      <p:cxnSp>
        <p:nvCxnSpPr>
          <p:cNvPr id="4" name="3 Conector recto"/>
          <p:cNvCxnSpPr/>
          <p:nvPr/>
        </p:nvCxnSpPr>
        <p:spPr>
          <a:xfrm>
            <a:off x="5313040" y="1508787"/>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70 Conector recto"/>
          <p:cNvCxnSpPr/>
          <p:nvPr/>
        </p:nvCxnSpPr>
        <p:spPr>
          <a:xfrm>
            <a:off x="8481392" y="1508787"/>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75 Conector recto"/>
          <p:cNvCxnSpPr/>
          <p:nvPr/>
        </p:nvCxnSpPr>
        <p:spPr>
          <a:xfrm>
            <a:off x="272480" y="1652803"/>
            <a:ext cx="9393462" cy="0"/>
          </a:xfrm>
          <a:prstGeom prst="line">
            <a:avLst/>
          </a:prstGeom>
          <a:ln w="28575">
            <a:solidFill>
              <a:srgbClr val="0086AC"/>
            </a:solidFill>
            <a:prstDash val="sysDot"/>
          </a:ln>
        </p:spPr>
        <p:style>
          <a:lnRef idx="1">
            <a:schemeClr val="accent1"/>
          </a:lnRef>
          <a:fillRef idx="0">
            <a:schemeClr val="accent1"/>
          </a:fillRef>
          <a:effectRef idx="0">
            <a:schemeClr val="accent1"/>
          </a:effectRef>
          <a:fontRef idx="minor">
            <a:schemeClr val="tx1"/>
          </a:fontRef>
        </p:style>
      </p:cxnSp>
      <p:sp>
        <p:nvSpPr>
          <p:cNvPr id="10" name="9 CuadroTexto"/>
          <p:cNvSpPr txBox="1"/>
          <p:nvPr/>
        </p:nvSpPr>
        <p:spPr>
          <a:xfrm>
            <a:off x="5799094" y="1268760"/>
            <a:ext cx="2106234" cy="276999"/>
          </a:xfrm>
          <a:prstGeom prst="rect">
            <a:avLst/>
          </a:prstGeom>
          <a:noFill/>
        </p:spPr>
        <p:txBody>
          <a:bodyPr wrap="square" rtlCol="0">
            <a:spAutoFit/>
          </a:bodyPr>
          <a:lstStyle/>
          <a:p>
            <a:pPr algn="ctr"/>
            <a:r>
              <a:rPr lang="es-ES" sz="1200" b="1" dirty="0">
                <a:latin typeface="Avenir 65" panose="02000600000000000000" pitchFamily="2" charset="0"/>
              </a:rPr>
              <a:t>CONSIDERACIÓN</a:t>
            </a:r>
          </a:p>
        </p:txBody>
      </p:sp>
      <p:sp>
        <p:nvSpPr>
          <p:cNvPr id="11" name="10 CuadroTexto"/>
          <p:cNvSpPr txBox="1"/>
          <p:nvPr/>
        </p:nvSpPr>
        <p:spPr>
          <a:xfrm>
            <a:off x="8035710" y="1279270"/>
            <a:ext cx="2106234" cy="276999"/>
          </a:xfrm>
          <a:prstGeom prst="rect">
            <a:avLst/>
          </a:prstGeom>
          <a:noFill/>
        </p:spPr>
        <p:txBody>
          <a:bodyPr wrap="square" rtlCol="0">
            <a:spAutoFit/>
          </a:bodyPr>
          <a:lstStyle/>
          <a:p>
            <a:pPr algn="ctr"/>
            <a:r>
              <a:rPr lang="es-ES" sz="1200" b="1" dirty="0">
                <a:latin typeface="Avenir 65" panose="02000600000000000000" pitchFamily="2" charset="0"/>
              </a:rPr>
              <a:t>CONVERSIÓN</a:t>
            </a:r>
          </a:p>
        </p:txBody>
      </p:sp>
      <p:cxnSp>
        <p:nvCxnSpPr>
          <p:cNvPr id="12" name="11 Conector recto"/>
          <p:cNvCxnSpPr/>
          <p:nvPr/>
        </p:nvCxnSpPr>
        <p:spPr>
          <a:xfrm>
            <a:off x="584515" y="1652803"/>
            <a:ext cx="0" cy="144016"/>
          </a:xfrm>
          <a:prstGeom prst="line">
            <a:avLst/>
          </a:prstGeom>
        </p:spPr>
        <p:style>
          <a:lnRef idx="1">
            <a:schemeClr val="accent1"/>
          </a:lnRef>
          <a:fillRef idx="0">
            <a:schemeClr val="accent1"/>
          </a:fillRef>
          <a:effectRef idx="0">
            <a:schemeClr val="accent1"/>
          </a:effectRef>
          <a:fontRef idx="minor">
            <a:schemeClr val="tx1"/>
          </a:fontRef>
        </p:style>
      </p:cxnSp>
      <p:sp>
        <p:nvSpPr>
          <p:cNvPr id="3" name="2 CuadroTexto"/>
          <p:cNvSpPr txBox="1"/>
          <p:nvPr/>
        </p:nvSpPr>
        <p:spPr>
          <a:xfrm>
            <a:off x="194471" y="1748814"/>
            <a:ext cx="780087" cy="338554"/>
          </a:xfrm>
          <a:prstGeom prst="rect">
            <a:avLst/>
          </a:prstGeom>
          <a:noFill/>
        </p:spPr>
        <p:txBody>
          <a:bodyPr wrap="square" rtlCol="0">
            <a:spAutoFit/>
          </a:bodyPr>
          <a:lstStyle/>
          <a:p>
            <a:pPr algn="ctr"/>
            <a:r>
              <a:rPr lang="es-ES" sz="800" dirty="0">
                <a:latin typeface="Avenir 35" panose="00000400000000000000" pitchFamily="2" charset="0"/>
              </a:rPr>
              <a:t>Inicio campaña</a:t>
            </a:r>
          </a:p>
        </p:txBody>
      </p:sp>
      <p:cxnSp>
        <p:nvCxnSpPr>
          <p:cNvPr id="52" name="51 Conector recto"/>
          <p:cNvCxnSpPr/>
          <p:nvPr/>
        </p:nvCxnSpPr>
        <p:spPr>
          <a:xfrm>
            <a:off x="9272247" y="1652803"/>
            <a:ext cx="0" cy="144016"/>
          </a:xfrm>
          <a:prstGeom prst="line">
            <a:avLst/>
          </a:prstGeom>
        </p:spPr>
        <p:style>
          <a:lnRef idx="1">
            <a:schemeClr val="accent1"/>
          </a:lnRef>
          <a:fillRef idx="0">
            <a:schemeClr val="accent1"/>
          </a:fillRef>
          <a:effectRef idx="0">
            <a:schemeClr val="accent1"/>
          </a:effectRef>
          <a:fontRef idx="minor">
            <a:schemeClr val="tx1"/>
          </a:fontRef>
        </p:style>
      </p:cxnSp>
      <p:sp>
        <p:nvSpPr>
          <p:cNvPr id="70" name="69 CuadroTexto"/>
          <p:cNvSpPr txBox="1"/>
          <p:nvPr/>
        </p:nvSpPr>
        <p:spPr>
          <a:xfrm>
            <a:off x="3195765" y="3903440"/>
            <a:ext cx="702078" cy="461665"/>
          </a:xfrm>
          <a:prstGeom prst="rect">
            <a:avLst/>
          </a:prstGeom>
          <a:solidFill>
            <a:srgbClr val="3CB2C3"/>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12</a:t>
            </a:r>
          </a:p>
          <a:p>
            <a:r>
              <a:rPr lang="es-ES" dirty="0">
                <a:latin typeface="Avenir 35" panose="00000400000000000000" pitchFamily="2" charset="0"/>
              </a:rPr>
              <a:t>semanas tras inicio</a:t>
            </a:r>
          </a:p>
        </p:txBody>
      </p:sp>
      <p:grpSp>
        <p:nvGrpSpPr>
          <p:cNvPr id="97" name="96 Grupo"/>
          <p:cNvGrpSpPr/>
          <p:nvPr/>
        </p:nvGrpSpPr>
        <p:grpSpPr>
          <a:xfrm>
            <a:off x="6460836" y="2554556"/>
            <a:ext cx="1303666" cy="658420"/>
            <a:chOff x="1827973" y="2355726"/>
            <a:chExt cx="1483547" cy="863744"/>
          </a:xfrm>
        </p:grpSpPr>
        <p:sp>
          <p:nvSpPr>
            <p:cNvPr id="98" name="97 CuadroTexto"/>
            <p:cNvSpPr txBox="1"/>
            <p:nvPr/>
          </p:nvSpPr>
          <p:spPr>
            <a:xfrm>
              <a:off x="1827973" y="2640319"/>
              <a:ext cx="1478617" cy="444130"/>
            </a:xfrm>
            <a:prstGeom prst="rect">
              <a:avLst/>
            </a:prstGeom>
            <a:noFill/>
            <a:ln>
              <a:noFill/>
            </a:ln>
          </p:spPr>
          <p:txBody>
            <a:bodyPr wrap="square" rtlCol="0">
              <a:spAutoFit/>
            </a:bodyPr>
            <a:lstStyle/>
            <a:p>
              <a:pPr algn="ctr"/>
              <a:r>
                <a:rPr lang="es-ES" sz="800" dirty="0">
                  <a:latin typeface="Avenir 35" panose="00000400000000000000" pitchFamily="2" charset="0"/>
                </a:rPr>
                <a:t>Solicita Probar el Coche/CALL ME BACK</a:t>
              </a:r>
            </a:p>
          </p:txBody>
        </p:sp>
        <p:sp>
          <p:nvSpPr>
            <p:cNvPr id="108" name="107 Rectángulo redondeado"/>
            <p:cNvSpPr/>
            <p:nvPr/>
          </p:nvSpPr>
          <p:spPr>
            <a:xfrm>
              <a:off x="1832903" y="2355726"/>
              <a:ext cx="1478617" cy="863744"/>
            </a:xfrm>
            <a:prstGeom prst="round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800" dirty="0">
                <a:solidFill>
                  <a:schemeClr val="tx1"/>
                </a:solidFill>
                <a:latin typeface="Avenir 35" panose="00000400000000000000" pitchFamily="2" charset="0"/>
              </a:endParaRPr>
            </a:p>
          </p:txBody>
        </p:sp>
      </p:grpSp>
      <p:pic>
        <p:nvPicPr>
          <p:cNvPr id="110" name="Picture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69224" y="2276872"/>
            <a:ext cx="315744" cy="291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3" name="112 CuadroTexto"/>
          <p:cNvSpPr txBox="1"/>
          <p:nvPr/>
        </p:nvSpPr>
        <p:spPr>
          <a:xfrm>
            <a:off x="3078960" y="2297040"/>
            <a:ext cx="894797" cy="338554"/>
          </a:xfrm>
          <a:prstGeom prst="rect">
            <a:avLst/>
          </a:prstGeom>
          <a:solidFill>
            <a:srgbClr val="3CB2C3"/>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Landing page</a:t>
            </a:r>
          </a:p>
          <a:p>
            <a:r>
              <a:rPr lang="es-ES" dirty="0">
                <a:latin typeface="Avenir 35" panose="00000400000000000000" pitchFamily="2" charset="0"/>
              </a:rPr>
              <a:t>Call to Action</a:t>
            </a:r>
          </a:p>
        </p:txBody>
      </p:sp>
      <p:pic>
        <p:nvPicPr>
          <p:cNvPr id="114" name="113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8020" y="2663214"/>
            <a:ext cx="517567" cy="477754"/>
          </a:xfrm>
          <a:prstGeom prst="rect">
            <a:avLst/>
          </a:prstGeom>
        </p:spPr>
      </p:pic>
      <p:sp>
        <p:nvSpPr>
          <p:cNvPr id="120" name="119 CuadroTexto"/>
          <p:cNvSpPr txBox="1"/>
          <p:nvPr/>
        </p:nvSpPr>
        <p:spPr>
          <a:xfrm>
            <a:off x="1137244" y="3941356"/>
            <a:ext cx="583814"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abre</a:t>
            </a:r>
          </a:p>
        </p:txBody>
      </p:sp>
      <p:sp>
        <p:nvSpPr>
          <p:cNvPr id="123" name="122 CuadroTexto"/>
          <p:cNvSpPr txBox="1"/>
          <p:nvPr/>
        </p:nvSpPr>
        <p:spPr>
          <a:xfrm>
            <a:off x="6465168" y="5207635"/>
            <a:ext cx="1170130" cy="338554"/>
          </a:xfrm>
          <a:prstGeom prst="rect">
            <a:avLst/>
          </a:prstGeom>
          <a:solidFill>
            <a:srgbClr val="3CB2C3"/>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Comunicación + Oferta</a:t>
            </a:r>
          </a:p>
        </p:txBody>
      </p:sp>
      <p:sp>
        <p:nvSpPr>
          <p:cNvPr id="128" name="127 CuadroTexto"/>
          <p:cNvSpPr txBox="1"/>
          <p:nvPr/>
        </p:nvSpPr>
        <p:spPr>
          <a:xfrm>
            <a:off x="7011576" y="6020120"/>
            <a:ext cx="579006"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clic </a:t>
            </a:r>
          </a:p>
        </p:txBody>
      </p:sp>
      <p:pic>
        <p:nvPicPr>
          <p:cNvPr id="130" name="Picture 2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45288" y="6081682"/>
            <a:ext cx="324617" cy="299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1" name="130 CuadroTexto"/>
          <p:cNvSpPr txBox="1"/>
          <p:nvPr/>
        </p:nvSpPr>
        <p:spPr>
          <a:xfrm>
            <a:off x="5496618" y="2695703"/>
            <a:ext cx="530915" cy="215444"/>
          </a:xfrm>
          <a:prstGeom prst="rect">
            <a:avLst/>
          </a:prstGeom>
          <a:noFill/>
        </p:spPr>
        <p:txBody>
          <a:bodyPr wrap="none" rtlCol="0">
            <a:spAutoFit/>
          </a:bodyPr>
          <a:lstStyle/>
          <a:p>
            <a:pPr algn="ctr"/>
            <a:r>
              <a:rPr lang="es-ES" sz="800" dirty="0">
                <a:latin typeface="Avenir 35" panose="00000400000000000000" pitchFamily="2" charset="0"/>
              </a:rPr>
              <a:t>cookies</a:t>
            </a:r>
          </a:p>
        </p:txBody>
      </p:sp>
      <p:pic>
        <p:nvPicPr>
          <p:cNvPr id="138" name="137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51193" y="2915841"/>
            <a:ext cx="311014" cy="287091"/>
          </a:xfrm>
          <a:prstGeom prst="rect">
            <a:avLst/>
          </a:prstGeom>
        </p:spPr>
      </p:pic>
      <p:sp>
        <p:nvSpPr>
          <p:cNvPr id="139" name="138 CuadroTexto"/>
          <p:cNvSpPr txBox="1"/>
          <p:nvPr/>
        </p:nvSpPr>
        <p:spPr>
          <a:xfrm>
            <a:off x="1190043" y="3234462"/>
            <a:ext cx="1051615" cy="338554"/>
          </a:xfrm>
          <a:prstGeom prst="rect">
            <a:avLst/>
          </a:prstGeom>
          <a:solidFill>
            <a:srgbClr val="3CB2C3"/>
          </a:solidFill>
        </p:spPr>
        <p:txBody>
          <a:bodyPr wrap="square" rtlCol="0">
            <a:spAutoFit/>
          </a:bodyPr>
          <a:lstStyle/>
          <a:p>
            <a:pPr algn="ctr"/>
            <a:r>
              <a:rPr lang="es-ES" sz="800" dirty="0">
                <a:solidFill>
                  <a:schemeClr val="bg1"/>
                </a:solidFill>
                <a:latin typeface="Avenir 35" panose="00000400000000000000" pitchFamily="2" charset="0"/>
              </a:rPr>
              <a:t>Comunicación + oferta</a:t>
            </a:r>
          </a:p>
        </p:txBody>
      </p:sp>
      <p:cxnSp>
        <p:nvCxnSpPr>
          <p:cNvPr id="23" name="22 Conector recto de flecha"/>
          <p:cNvCxnSpPr>
            <a:stCxn id="114" idx="3"/>
          </p:cNvCxnSpPr>
          <p:nvPr/>
        </p:nvCxnSpPr>
        <p:spPr>
          <a:xfrm flipV="1">
            <a:off x="3805587" y="2883766"/>
            <a:ext cx="2618274" cy="18325"/>
          </a:xfrm>
          <a:prstGeom prst="straightConnector1">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29 Conector recto de flecha"/>
          <p:cNvCxnSpPr>
            <a:stCxn id="139" idx="2"/>
            <a:endCxn id="283" idx="0"/>
          </p:cNvCxnSpPr>
          <p:nvPr/>
        </p:nvCxnSpPr>
        <p:spPr>
          <a:xfrm flipH="1">
            <a:off x="1715850" y="3573016"/>
            <a:ext cx="1" cy="826929"/>
          </a:xfrm>
          <a:prstGeom prst="straightConnector1">
            <a:avLst/>
          </a:prstGeom>
          <a:ln>
            <a:solidFill>
              <a:srgbClr val="0086AC"/>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2" name="141 CuadroTexto"/>
          <p:cNvSpPr txBox="1"/>
          <p:nvPr/>
        </p:nvSpPr>
        <p:spPr>
          <a:xfrm>
            <a:off x="2780854" y="2708920"/>
            <a:ext cx="404278" cy="215444"/>
          </a:xfrm>
          <a:prstGeom prst="rect">
            <a:avLst/>
          </a:prstGeom>
          <a:noFill/>
        </p:spPr>
        <p:txBody>
          <a:bodyPr wrap="none" rtlCol="0">
            <a:spAutoFit/>
          </a:bodyPr>
          <a:lstStyle/>
          <a:p>
            <a:pPr algn="ctr"/>
            <a:r>
              <a:rPr lang="es-ES" sz="800" dirty="0">
                <a:latin typeface="Avenir 35" panose="00000400000000000000" pitchFamily="2" charset="0"/>
              </a:rPr>
              <a:t>Click</a:t>
            </a:r>
          </a:p>
        </p:txBody>
      </p:sp>
      <p:sp>
        <p:nvSpPr>
          <p:cNvPr id="144" name="143 CuadroTexto"/>
          <p:cNvSpPr txBox="1"/>
          <p:nvPr/>
        </p:nvSpPr>
        <p:spPr>
          <a:xfrm>
            <a:off x="2661597" y="4132156"/>
            <a:ext cx="546945"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Clic</a:t>
            </a:r>
          </a:p>
        </p:txBody>
      </p:sp>
      <p:sp>
        <p:nvSpPr>
          <p:cNvPr id="145" name="144 CuadroTexto"/>
          <p:cNvSpPr txBox="1"/>
          <p:nvPr/>
        </p:nvSpPr>
        <p:spPr>
          <a:xfrm>
            <a:off x="4232921" y="4065077"/>
            <a:ext cx="1004232" cy="461665"/>
          </a:xfrm>
          <a:prstGeom prst="rect">
            <a:avLst/>
          </a:prstGeom>
          <a:solidFill>
            <a:srgbClr val="3CB2C3"/>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Comunicación</a:t>
            </a:r>
          </a:p>
          <a:p>
            <a:r>
              <a:rPr lang="es-ES" dirty="0">
                <a:latin typeface="Avenir 35" panose="00000400000000000000" pitchFamily="2" charset="0"/>
              </a:rPr>
              <a:t>+</a:t>
            </a:r>
          </a:p>
          <a:p>
            <a:r>
              <a:rPr lang="es-ES" dirty="0">
                <a:latin typeface="Avenir 35" panose="00000400000000000000" pitchFamily="2" charset="0"/>
              </a:rPr>
              <a:t>Oferta</a:t>
            </a:r>
          </a:p>
        </p:txBody>
      </p:sp>
      <p:pic>
        <p:nvPicPr>
          <p:cNvPr id="146" name="145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30490" y="3717032"/>
            <a:ext cx="311014" cy="287091"/>
          </a:xfrm>
          <a:prstGeom prst="rect">
            <a:avLst/>
          </a:prstGeom>
        </p:spPr>
      </p:pic>
      <p:sp>
        <p:nvSpPr>
          <p:cNvPr id="150" name="149 CuadroTexto"/>
          <p:cNvSpPr txBox="1"/>
          <p:nvPr/>
        </p:nvSpPr>
        <p:spPr>
          <a:xfrm>
            <a:off x="5529064" y="3151421"/>
            <a:ext cx="894797" cy="338554"/>
          </a:xfrm>
          <a:prstGeom prst="rect">
            <a:avLst/>
          </a:prstGeom>
          <a:solidFill>
            <a:srgbClr val="3CB2C3"/>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Landing page</a:t>
            </a:r>
          </a:p>
          <a:p>
            <a:r>
              <a:rPr lang="es-ES" dirty="0">
                <a:latin typeface="Avenir 35" panose="00000400000000000000" pitchFamily="2" charset="0"/>
              </a:rPr>
              <a:t>Call to Action</a:t>
            </a:r>
          </a:p>
        </p:txBody>
      </p:sp>
      <p:pic>
        <p:nvPicPr>
          <p:cNvPr id="151" name="150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73080" y="3717032"/>
            <a:ext cx="517567" cy="477754"/>
          </a:xfrm>
          <a:prstGeom prst="rect">
            <a:avLst/>
          </a:prstGeom>
        </p:spPr>
      </p:pic>
      <p:sp>
        <p:nvSpPr>
          <p:cNvPr id="152" name="151 CuadroTexto"/>
          <p:cNvSpPr txBox="1"/>
          <p:nvPr/>
        </p:nvSpPr>
        <p:spPr>
          <a:xfrm>
            <a:off x="6449138" y="3717032"/>
            <a:ext cx="530915" cy="215444"/>
          </a:xfrm>
          <a:prstGeom prst="rect">
            <a:avLst/>
          </a:prstGeom>
          <a:noFill/>
        </p:spPr>
        <p:txBody>
          <a:bodyPr wrap="none" rtlCol="0">
            <a:spAutoFit/>
          </a:bodyPr>
          <a:lstStyle/>
          <a:p>
            <a:pPr algn="ctr"/>
            <a:r>
              <a:rPr lang="es-ES" sz="800" dirty="0">
                <a:latin typeface="Avenir 35" panose="00000400000000000000" pitchFamily="2" charset="0"/>
              </a:rPr>
              <a:t>cookies</a:t>
            </a:r>
          </a:p>
        </p:txBody>
      </p:sp>
      <p:sp>
        <p:nvSpPr>
          <p:cNvPr id="163" name="162 CuadroTexto"/>
          <p:cNvSpPr txBox="1"/>
          <p:nvPr/>
        </p:nvSpPr>
        <p:spPr>
          <a:xfrm>
            <a:off x="7401272" y="4077072"/>
            <a:ext cx="894797" cy="338554"/>
          </a:xfrm>
          <a:prstGeom prst="rect">
            <a:avLst/>
          </a:prstGeom>
          <a:solidFill>
            <a:srgbClr val="3CB2C3"/>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Landing page</a:t>
            </a:r>
          </a:p>
          <a:p>
            <a:r>
              <a:rPr lang="es-ES" dirty="0">
                <a:latin typeface="Avenir 35" panose="00000400000000000000" pitchFamily="2" charset="0"/>
              </a:rPr>
              <a:t>Call to Action</a:t>
            </a:r>
          </a:p>
        </p:txBody>
      </p:sp>
      <p:pic>
        <p:nvPicPr>
          <p:cNvPr id="164" name="163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89886" y="4404514"/>
            <a:ext cx="517567" cy="477754"/>
          </a:xfrm>
          <a:prstGeom prst="rect">
            <a:avLst/>
          </a:prstGeom>
        </p:spPr>
      </p:pic>
      <p:sp>
        <p:nvSpPr>
          <p:cNvPr id="165" name="164 CuadroTexto"/>
          <p:cNvSpPr txBox="1"/>
          <p:nvPr/>
        </p:nvSpPr>
        <p:spPr>
          <a:xfrm>
            <a:off x="7241226" y="3717032"/>
            <a:ext cx="530915" cy="215444"/>
          </a:xfrm>
          <a:prstGeom prst="rect">
            <a:avLst/>
          </a:prstGeom>
          <a:noFill/>
        </p:spPr>
        <p:txBody>
          <a:bodyPr wrap="none" rtlCol="0">
            <a:spAutoFit/>
          </a:bodyPr>
          <a:lstStyle/>
          <a:p>
            <a:pPr algn="ctr"/>
            <a:r>
              <a:rPr lang="es-ES" sz="800" dirty="0">
                <a:latin typeface="Avenir 35" panose="00000400000000000000" pitchFamily="2" charset="0"/>
              </a:rPr>
              <a:t>cookies</a:t>
            </a:r>
          </a:p>
        </p:txBody>
      </p:sp>
      <p:cxnSp>
        <p:nvCxnSpPr>
          <p:cNvPr id="176" name="175 Conector recto de flecha"/>
          <p:cNvCxnSpPr>
            <a:stCxn id="151" idx="2"/>
          </p:cNvCxnSpPr>
          <p:nvPr/>
        </p:nvCxnSpPr>
        <p:spPr>
          <a:xfrm>
            <a:off x="5931864" y="4194786"/>
            <a:ext cx="0" cy="808547"/>
          </a:xfrm>
          <a:prstGeom prst="straightConnector1">
            <a:avLst/>
          </a:prstGeom>
          <a:ln>
            <a:solidFill>
              <a:srgbClr val="0086AC"/>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8" name="177 CuadroTexto"/>
          <p:cNvSpPr txBox="1"/>
          <p:nvPr/>
        </p:nvSpPr>
        <p:spPr>
          <a:xfrm rot="5400000">
            <a:off x="5815690" y="4426444"/>
            <a:ext cx="704039"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Solicita</a:t>
            </a:r>
          </a:p>
        </p:txBody>
      </p:sp>
      <p:sp>
        <p:nvSpPr>
          <p:cNvPr id="188" name="187 CuadroTexto"/>
          <p:cNvSpPr txBox="1"/>
          <p:nvPr/>
        </p:nvSpPr>
        <p:spPr>
          <a:xfrm>
            <a:off x="7102812" y="4448522"/>
            <a:ext cx="354584" cy="215444"/>
          </a:xfrm>
          <a:prstGeom prst="rect">
            <a:avLst/>
          </a:prstGeom>
          <a:noFill/>
        </p:spPr>
        <p:txBody>
          <a:bodyPr wrap="none" rtlCol="0">
            <a:spAutoFit/>
          </a:bodyPr>
          <a:lstStyle/>
          <a:p>
            <a:pPr algn="ctr"/>
            <a:r>
              <a:rPr lang="es-ES" sz="800" dirty="0">
                <a:latin typeface="Avenir 35" panose="00000400000000000000" pitchFamily="2" charset="0"/>
              </a:rPr>
              <a:t>Clic</a:t>
            </a:r>
          </a:p>
        </p:txBody>
      </p:sp>
      <p:sp>
        <p:nvSpPr>
          <p:cNvPr id="194" name="193 CuadroTexto"/>
          <p:cNvSpPr txBox="1"/>
          <p:nvPr/>
        </p:nvSpPr>
        <p:spPr>
          <a:xfrm rot="5400000">
            <a:off x="7645930" y="5339082"/>
            <a:ext cx="655950"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cierra</a:t>
            </a:r>
          </a:p>
        </p:txBody>
      </p:sp>
      <p:sp>
        <p:nvSpPr>
          <p:cNvPr id="195" name="AutoShape 2" descr="Resultado de imagen de icono calendario"/>
          <p:cNvSpPr>
            <a:spLocks noChangeAspect="1" noChangeArrowheads="1"/>
          </p:cNvSpPr>
          <p:nvPr/>
        </p:nvSpPr>
        <p:spPr bwMode="auto">
          <a:xfrm>
            <a:off x="168540" y="-136525"/>
            <a:ext cx="321602"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p>
        </p:txBody>
      </p:sp>
      <p:pic>
        <p:nvPicPr>
          <p:cNvPr id="7171"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57056" y="1694614"/>
            <a:ext cx="322242" cy="2974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9" name="198 CuadroTexto"/>
          <p:cNvSpPr txBox="1"/>
          <p:nvPr/>
        </p:nvSpPr>
        <p:spPr>
          <a:xfrm>
            <a:off x="5817096" y="1772816"/>
            <a:ext cx="720423" cy="461665"/>
          </a:xfrm>
          <a:prstGeom prst="rect">
            <a:avLst/>
          </a:prstGeom>
          <a:solidFill>
            <a:srgbClr val="3CB2C3"/>
          </a:solidFill>
        </p:spPr>
        <p:txBody>
          <a:bodyPr wrap="square" rtlCol="0">
            <a:spAutoFit/>
          </a:bodyPr>
          <a:lstStyle>
            <a:defPPr>
              <a:defRPr lang="es-ES"/>
            </a:defPPr>
            <a:lvl1pPr algn="ctr">
              <a:defRPr sz="800">
                <a:solidFill>
                  <a:schemeClr val="bg1"/>
                </a:solidFill>
                <a:latin typeface="Avenir 35" panose="00000400000000000000" pitchFamily="2" charset="0"/>
              </a:defRPr>
            </a:lvl1pPr>
          </a:lstStyle>
          <a:p>
            <a:r>
              <a:rPr lang="es-ES" dirty="0"/>
              <a:t>Cita agenda</a:t>
            </a:r>
          </a:p>
          <a:p>
            <a:r>
              <a:rPr lang="es-ES" dirty="0"/>
              <a:t>móvil</a:t>
            </a:r>
          </a:p>
        </p:txBody>
      </p:sp>
      <p:pic>
        <p:nvPicPr>
          <p:cNvPr id="222" name="221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66522" y="1818508"/>
            <a:ext cx="311014" cy="287091"/>
          </a:xfrm>
          <a:prstGeom prst="rect">
            <a:avLst/>
          </a:prstGeom>
        </p:spPr>
      </p:pic>
      <p:sp>
        <p:nvSpPr>
          <p:cNvPr id="225" name="224 CuadroTexto"/>
          <p:cNvSpPr txBox="1"/>
          <p:nvPr/>
        </p:nvSpPr>
        <p:spPr>
          <a:xfrm>
            <a:off x="8687152" y="3604394"/>
            <a:ext cx="790352" cy="523220"/>
          </a:xfrm>
          <a:prstGeom prst="rect">
            <a:avLst/>
          </a:prstGeom>
          <a:solidFill>
            <a:srgbClr val="3CB2C3"/>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sz="700" dirty="0">
                <a:latin typeface="Avenir 35" panose="00000400000000000000" pitchFamily="2" charset="0"/>
              </a:rPr>
              <a:t>Inicio Proceso Dealer y Estrategia CRM</a:t>
            </a:r>
          </a:p>
        </p:txBody>
      </p:sp>
      <p:pic>
        <p:nvPicPr>
          <p:cNvPr id="239"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839" y="2140730"/>
            <a:ext cx="313352" cy="2936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0" name="239 CuadroTexto"/>
          <p:cNvSpPr txBox="1"/>
          <p:nvPr/>
        </p:nvSpPr>
        <p:spPr>
          <a:xfrm>
            <a:off x="6407" y="2406518"/>
            <a:ext cx="1293944" cy="461665"/>
          </a:xfrm>
          <a:prstGeom prst="rect">
            <a:avLst/>
          </a:prstGeom>
          <a:noFill/>
        </p:spPr>
        <p:txBody>
          <a:bodyPr wrap="none" rtlCol="0">
            <a:spAutoFit/>
          </a:bodyPr>
          <a:lstStyle/>
          <a:p>
            <a:pPr algn="ctr"/>
            <a:r>
              <a:rPr lang="es-ES" sz="800" dirty="0">
                <a:latin typeface="Avenir 35" panose="00000400000000000000" pitchFamily="2" charset="0"/>
              </a:rPr>
              <a:t>Establecer 1º Contacto</a:t>
            </a:r>
          </a:p>
          <a:p>
            <a:pPr algn="ctr"/>
            <a:r>
              <a:rPr lang="es-ES" sz="800" dirty="0">
                <a:latin typeface="Avenir 35" panose="00000400000000000000" pitchFamily="2" charset="0"/>
              </a:rPr>
              <a:t>Presentación Newsletter</a:t>
            </a:r>
          </a:p>
          <a:p>
            <a:pPr algn="ctr"/>
            <a:r>
              <a:rPr lang="es-ES" sz="800" dirty="0">
                <a:latin typeface="Avenir 35" panose="00000400000000000000" pitchFamily="2" charset="0"/>
              </a:rPr>
              <a:t>Estrategia Contenidos</a:t>
            </a:r>
          </a:p>
        </p:txBody>
      </p:sp>
      <p:pic>
        <p:nvPicPr>
          <p:cNvPr id="241" name="Picture 1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54748" y="3105410"/>
            <a:ext cx="168963" cy="1559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2" name="Picture 16"/>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39631" y="3105410"/>
            <a:ext cx="190628" cy="175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3" name="Picture 17"/>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50093" y="3121824"/>
            <a:ext cx="176757" cy="163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7" name="236 Abrir llave"/>
          <p:cNvSpPr/>
          <p:nvPr/>
        </p:nvSpPr>
        <p:spPr>
          <a:xfrm rot="16200000">
            <a:off x="524194" y="2613506"/>
            <a:ext cx="172673" cy="655880"/>
          </a:xfrm>
          <a:prstGeom prst="leftBrac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latin typeface="Avenir 35" panose="00000400000000000000" pitchFamily="2" charset="0"/>
            </a:endParaRPr>
          </a:p>
        </p:txBody>
      </p:sp>
      <p:sp>
        <p:nvSpPr>
          <p:cNvPr id="259" name="258 CuadroTexto"/>
          <p:cNvSpPr txBox="1"/>
          <p:nvPr/>
        </p:nvSpPr>
        <p:spPr>
          <a:xfrm>
            <a:off x="1856656" y="1268760"/>
            <a:ext cx="2106234" cy="276999"/>
          </a:xfrm>
          <a:prstGeom prst="rect">
            <a:avLst/>
          </a:prstGeom>
          <a:noFill/>
        </p:spPr>
        <p:txBody>
          <a:bodyPr wrap="square" rtlCol="0">
            <a:spAutoFit/>
          </a:bodyPr>
          <a:lstStyle/>
          <a:p>
            <a:pPr algn="ctr"/>
            <a:r>
              <a:rPr lang="es-ES" sz="1200" b="1" dirty="0">
                <a:latin typeface="Avenir 65" panose="02000600000000000000" pitchFamily="2" charset="0"/>
              </a:rPr>
              <a:t>ATRACCIÓN </a:t>
            </a:r>
          </a:p>
        </p:txBody>
      </p:sp>
      <p:sp>
        <p:nvSpPr>
          <p:cNvPr id="262" name="261 CuadroTexto"/>
          <p:cNvSpPr txBox="1"/>
          <p:nvPr/>
        </p:nvSpPr>
        <p:spPr>
          <a:xfrm rot="5400000">
            <a:off x="4649597" y="4954381"/>
            <a:ext cx="583814"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abre</a:t>
            </a:r>
          </a:p>
        </p:txBody>
      </p:sp>
      <p:cxnSp>
        <p:nvCxnSpPr>
          <p:cNvPr id="255" name="254 Conector recto de flecha"/>
          <p:cNvCxnSpPr>
            <a:stCxn id="145" idx="2"/>
            <a:endCxn id="285" idx="0"/>
          </p:cNvCxnSpPr>
          <p:nvPr/>
        </p:nvCxnSpPr>
        <p:spPr>
          <a:xfrm>
            <a:off x="4735037" y="4526742"/>
            <a:ext cx="20232" cy="953183"/>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68" name="267 Conector recto de flecha"/>
          <p:cNvCxnSpPr>
            <a:stCxn id="114" idx="2"/>
            <a:endCxn id="70" idx="0"/>
          </p:cNvCxnSpPr>
          <p:nvPr/>
        </p:nvCxnSpPr>
        <p:spPr>
          <a:xfrm>
            <a:off x="3546804" y="3140968"/>
            <a:ext cx="0" cy="762472"/>
          </a:xfrm>
          <a:prstGeom prst="straightConnector1">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9" name="268 CuadroTexto"/>
          <p:cNvSpPr txBox="1"/>
          <p:nvPr/>
        </p:nvSpPr>
        <p:spPr>
          <a:xfrm rot="5400000">
            <a:off x="3369890" y="3423679"/>
            <a:ext cx="655950"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cierra</a:t>
            </a:r>
          </a:p>
        </p:txBody>
      </p:sp>
      <p:sp>
        <p:nvSpPr>
          <p:cNvPr id="271" name="270 CuadroTexto"/>
          <p:cNvSpPr txBox="1"/>
          <p:nvPr/>
        </p:nvSpPr>
        <p:spPr>
          <a:xfrm>
            <a:off x="5601072" y="5146080"/>
            <a:ext cx="702078" cy="461665"/>
          </a:xfrm>
          <a:prstGeom prst="rect">
            <a:avLst/>
          </a:prstGeom>
          <a:solidFill>
            <a:srgbClr val="3CB2C3"/>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20 semanas tras inicio</a:t>
            </a:r>
          </a:p>
        </p:txBody>
      </p:sp>
      <p:pic>
        <p:nvPicPr>
          <p:cNvPr id="283" name="Picture 2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53541" y="4399945"/>
            <a:ext cx="324617" cy="299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5" name="Picture 2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92960" y="5479925"/>
            <a:ext cx="324617" cy="299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7" name="16 Conector angular"/>
          <p:cNvCxnSpPr>
            <a:stCxn id="139" idx="3"/>
            <a:endCxn id="114" idx="1"/>
          </p:cNvCxnSpPr>
          <p:nvPr/>
        </p:nvCxnSpPr>
        <p:spPr>
          <a:xfrm flipV="1">
            <a:off x="2241658" y="2902091"/>
            <a:ext cx="1046362" cy="501648"/>
          </a:xfrm>
          <a:prstGeom prst="bentConnector3">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5" name="104 Conector angular"/>
          <p:cNvCxnSpPr/>
          <p:nvPr/>
        </p:nvCxnSpPr>
        <p:spPr>
          <a:xfrm>
            <a:off x="2289283" y="3407128"/>
            <a:ext cx="954107" cy="730534"/>
          </a:xfrm>
          <a:prstGeom prst="bentConnector3">
            <a:avLst>
              <a:gd name="adj1" fmla="val 50000"/>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1" name="110 CuadroTexto"/>
          <p:cNvSpPr txBox="1"/>
          <p:nvPr/>
        </p:nvSpPr>
        <p:spPr>
          <a:xfrm>
            <a:off x="2269451" y="3198023"/>
            <a:ext cx="409086" cy="215444"/>
          </a:xfrm>
          <a:prstGeom prst="rect">
            <a:avLst/>
          </a:prstGeom>
          <a:noFill/>
        </p:spPr>
        <p:txBody>
          <a:bodyPr wrap="none" rtlCol="0">
            <a:spAutoFit/>
          </a:bodyPr>
          <a:lstStyle/>
          <a:p>
            <a:pPr algn="ctr"/>
            <a:r>
              <a:rPr lang="es-ES" sz="800" dirty="0">
                <a:latin typeface="Avenir 35" panose="00000400000000000000" pitchFamily="2" charset="0"/>
              </a:rPr>
              <a:t>Abre</a:t>
            </a:r>
          </a:p>
        </p:txBody>
      </p:sp>
      <p:sp>
        <p:nvSpPr>
          <p:cNvPr id="103" name="102 CuadroTexto"/>
          <p:cNvSpPr txBox="1"/>
          <p:nvPr/>
        </p:nvSpPr>
        <p:spPr>
          <a:xfrm>
            <a:off x="5354436" y="3501008"/>
            <a:ext cx="404278" cy="215444"/>
          </a:xfrm>
          <a:prstGeom prst="rect">
            <a:avLst/>
          </a:prstGeom>
          <a:noFill/>
        </p:spPr>
        <p:txBody>
          <a:bodyPr wrap="none" rtlCol="0">
            <a:spAutoFit/>
          </a:bodyPr>
          <a:lstStyle/>
          <a:p>
            <a:pPr algn="ctr"/>
            <a:r>
              <a:rPr lang="es-ES" sz="800" dirty="0">
                <a:latin typeface="Avenir 35" panose="00000400000000000000" pitchFamily="2" charset="0"/>
              </a:rPr>
              <a:t>Click</a:t>
            </a:r>
          </a:p>
        </p:txBody>
      </p:sp>
      <p:sp>
        <p:nvSpPr>
          <p:cNvPr id="104" name="103 CuadroTexto"/>
          <p:cNvSpPr txBox="1"/>
          <p:nvPr/>
        </p:nvSpPr>
        <p:spPr>
          <a:xfrm rot="5400000">
            <a:off x="5315024" y="4728689"/>
            <a:ext cx="546945"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Clic</a:t>
            </a:r>
          </a:p>
        </p:txBody>
      </p:sp>
      <p:cxnSp>
        <p:nvCxnSpPr>
          <p:cNvPr id="106" name="105 Conector angular"/>
          <p:cNvCxnSpPr>
            <a:stCxn id="145" idx="3"/>
            <a:endCxn id="151" idx="1"/>
          </p:cNvCxnSpPr>
          <p:nvPr/>
        </p:nvCxnSpPr>
        <p:spPr>
          <a:xfrm flipV="1">
            <a:off x="5237153" y="3955909"/>
            <a:ext cx="435927" cy="340001"/>
          </a:xfrm>
          <a:prstGeom prst="bentConnector3">
            <a:avLst>
              <a:gd name="adj1" fmla="val 50000"/>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106 Conector angular"/>
          <p:cNvCxnSpPr>
            <a:stCxn id="145" idx="3"/>
            <a:endCxn id="271" idx="1"/>
          </p:cNvCxnSpPr>
          <p:nvPr/>
        </p:nvCxnSpPr>
        <p:spPr>
          <a:xfrm>
            <a:off x="5237153" y="4295910"/>
            <a:ext cx="363919" cy="1081003"/>
          </a:xfrm>
          <a:prstGeom prst="bentConnector3">
            <a:avLst>
              <a:gd name="adj1" fmla="val 50000"/>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9" name="108 CuadroTexto"/>
          <p:cNvSpPr txBox="1"/>
          <p:nvPr/>
        </p:nvSpPr>
        <p:spPr>
          <a:xfrm>
            <a:off x="5426718" y="4148132"/>
            <a:ext cx="409086" cy="215444"/>
          </a:xfrm>
          <a:prstGeom prst="rect">
            <a:avLst/>
          </a:prstGeom>
          <a:noFill/>
        </p:spPr>
        <p:txBody>
          <a:bodyPr wrap="none" rtlCol="0">
            <a:spAutoFit/>
          </a:bodyPr>
          <a:lstStyle/>
          <a:p>
            <a:pPr algn="ctr"/>
            <a:r>
              <a:rPr lang="es-ES" sz="800" dirty="0">
                <a:latin typeface="Avenir 35" panose="00000400000000000000" pitchFamily="2" charset="0"/>
              </a:rPr>
              <a:t>Abre</a:t>
            </a:r>
          </a:p>
        </p:txBody>
      </p:sp>
      <p:cxnSp>
        <p:nvCxnSpPr>
          <p:cNvPr id="24" name="23 Conector angular"/>
          <p:cNvCxnSpPr>
            <a:stCxn id="151" idx="3"/>
            <a:endCxn id="108" idx="2"/>
          </p:cNvCxnSpPr>
          <p:nvPr/>
        </p:nvCxnSpPr>
        <p:spPr>
          <a:xfrm flipV="1">
            <a:off x="6190647" y="3212976"/>
            <a:ext cx="924187" cy="742933"/>
          </a:xfrm>
          <a:prstGeom prst="bentConnector2">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9" name="228 Conector recto de flecha"/>
          <p:cNvCxnSpPr>
            <a:stCxn id="271" idx="3"/>
            <a:endCxn id="123" idx="1"/>
          </p:cNvCxnSpPr>
          <p:nvPr/>
        </p:nvCxnSpPr>
        <p:spPr>
          <a:xfrm flipV="1">
            <a:off x="6303150" y="5376912"/>
            <a:ext cx="162018" cy="1"/>
          </a:xfrm>
          <a:prstGeom prst="straightConnector1">
            <a:avLst/>
          </a:prstGeom>
          <a:ln>
            <a:solidFill>
              <a:schemeClr val="bg1">
                <a:lumMod val="50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234" name="233 Conector angular"/>
          <p:cNvCxnSpPr>
            <a:stCxn id="70" idx="3"/>
            <a:endCxn id="145" idx="1"/>
          </p:cNvCxnSpPr>
          <p:nvPr/>
        </p:nvCxnSpPr>
        <p:spPr>
          <a:xfrm>
            <a:off x="3897843" y="4134273"/>
            <a:ext cx="335078" cy="161637"/>
          </a:xfrm>
          <a:prstGeom prst="bentConnector3">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6" name="245 Conector angular"/>
          <p:cNvCxnSpPr>
            <a:stCxn id="123" idx="2"/>
            <a:endCxn id="130" idx="1"/>
          </p:cNvCxnSpPr>
          <p:nvPr/>
        </p:nvCxnSpPr>
        <p:spPr>
          <a:xfrm rot="16200000" flipH="1">
            <a:off x="6955102" y="5641319"/>
            <a:ext cx="685316" cy="495055"/>
          </a:xfrm>
          <a:prstGeom prst="bentConnector2">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81" name="7180 Conector angular"/>
          <p:cNvCxnSpPr/>
          <p:nvPr/>
        </p:nvCxnSpPr>
        <p:spPr>
          <a:xfrm rot="16200000" flipV="1">
            <a:off x="7049705" y="3286773"/>
            <a:ext cx="864096" cy="733837"/>
          </a:xfrm>
          <a:prstGeom prst="bentConnector3">
            <a:avLst>
              <a:gd name="adj1" fmla="val 15385"/>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0" name="169 Conector recto"/>
          <p:cNvCxnSpPr/>
          <p:nvPr/>
        </p:nvCxnSpPr>
        <p:spPr>
          <a:xfrm>
            <a:off x="5313040" y="1666893"/>
            <a:ext cx="0" cy="4568671"/>
          </a:xfrm>
          <a:prstGeom prst="line">
            <a:avLst/>
          </a:prstGeom>
          <a:ln w="28575">
            <a:solidFill>
              <a:srgbClr val="0086AC"/>
            </a:solidFill>
            <a:prstDash val="sysDot"/>
          </a:ln>
        </p:spPr>
        <p:style>
          <a:lnRef idx="1">
            <a:schemeClr val="accent1"/>
          </a:lnRef>
          <a:fillRef idx="0">
            <a:schemeClr val="accent1"/>
          </a:fillRef>
          <a:effectRef idx="0">
            <a:schemeClr val="accent1"/>
          </a:effectRef>
          <a:fontRef idx="minor">
            <a:schemeClr val="tx1"/>
          </a:fontRef>
        </p:style>
      </p:cxnSp>
      <p:cxnSp>
        <p:nvCxnSpPr>
          <p:cNvPr id="172" name="171 Conector recto"/>
          <p:cNvCxnSpPr/>
          <p:nvPr/>
        </p:nvCxnSpPr>
        <p:spPr>
          <a:xfrm>
            <a:off x="8481392" y="1657020"/>
            <a:ext cx="0" cy="4568671"/>
          </a:xfrm>
          <a:prstGeom prst="line">
            <a:avLst/>
          </a:prstGeom>
          <a:ln w="28575">
            <a:solidFill>
              <a:srgbClr val="0086AC"/>
            </a:solidFill>
            <a:prstDash val="sysDot"/>
          </a:ln>
        </p:spPr>
        <p:style>
          <a:lnRef idx="1">
            <a:schemeClr val="accent1"/>
          </a:lnRef>
          <a:fillRef idx="0">
            <a:schemeClr val="accent1"/>
          </a:fillRef>
          <a:effectRef idx="0">
            <a:schemeClr val="accent1"/>
          </a:effectRef>
          <a:fontRef idx="minor">
            <a:schemeClr val="tx1"/>
          </a:fontRef>
        </p:style>
      </p:cxnSp>
      <p:pic>
        <p:nvPicPr>
          <p:cNvPr id="99" name="98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97216" y="4872978"/>
            <a:ext cx="311014" cy="287091"/>
          </a:xfrm>
          <a:prstGeom prst="rect">
            <a:avLst/>
          </a:prstGeom>
        </p:spPr>
      </p:pic>
      <p:cxnSp>
        <p:nvCxnSpPr>
          <p:cNvPr id="15" name="14 Conector angular"/>
          <p:cNvCxnSpPr>
            <a:stCxn id="164" idx="2"/>
            <a:endCxn id="130" idx="0"/>
          </p:cNvCxnSpPr>
          <p:nvPr/>
        </p:nvCxnSpPr>
        <p:spPr>
          <a:xfrm rot="5400000">
            <a:off x="7178427" y="5411439"/>
            <a:ext cx="1199414" cy="141073"/>
          </a:xfrm>
          <a:prstGeom prst="bentConnector3">
            <a:avLst>
              <a:gd name="adj1" fmla="val 88475"/>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18 Conector angular"/>
          <p:cNvCxnSpPr>
            <a:stCxn id="99" idx="0"/>
            <a:endCxn id="164" idx="1"/>
          </p:cNvCxnSpPr>
          <p:nvPr/>
        </p:nvCxnSpPr>
        <p:spPr>
          <a:xfrm rot="5400000" flipH="1" flipV="1">
            <a:off x="7206511" y="4489604"/>
            <a:ext cx="229587" cy="537163"/>
          </a:xfrm>
          <a:prstGeom prst="bentConnector2">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12" name="111 Imagen"/>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687151" y="1773925"/>
            <a:ext cx="376259" cy="376259"/>
          </a:xfrm>
          <a:prstGeom prst="rect">
            <a:avLst/>
          </a:prstGeom>
        </p:spPr>
      </p:pic>
      <p:cxnSp>
        <p:nvCxnSpPr>
          <p:cNvPr id="26" name="25 Conector angular"/>
          <p:cNvCxnSpPr>
            <a:stCxn id="98" idx="3"/>
            <a:endCxn id="225" idx="0"/>
          </p:cNvCxnSpPr>
          <p:nvPr/>
        </p:nvCxnSpPr>
        <p:spPr>
          <a:xfrm>
            <a:off x="7760170" y="2940774"/>
            <a:ext cx="1322158" cy="663620"/>
          </a:xfrm>
          <a:prstGeom prst="bentConnector2">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5" name="114 CuadroTexto"/>
          <p:cNvSpPr txBox="1"/>
          <p:nvPr/>
        </p:nvSpPr>
        <p:spPr>
          <a:xfrm>
            <a:off x="9082328" y="2952560"/>
            <a:ext cx="693998" cy="584775"/>
          </a:xfrm>
          <a:prstGeom prst="rect">
            <a:avLst/>
          </a:prstGeom>
          <a:noFill/>
        </p:spPr>
        <p:txBody>
          <a:bodyPr wrap="square" rtlCol="0">
            <a:spAutoFit/>
          </a:bodyPr>
          <a:lstStyle/>
          <a:p>
            <a:pPr algn="ctr"/>
            <a:r>
              <a:rPr lang="es-ES" sz="800" dirty="0">
                <a:latin typeface="Avenir 35" panose="00000400000000000000" pitchFamily="2" charset="0"/>
              </a:rPr>
              <a:t>Acude y NO  Compra/ No acude</a:t>
            </a:r>
          </a:p>
        </p:txBody>
      </p:sp>
      <p:cxnSp>
        <p:nvCxnSpPr>
          <p:cNvPr id="227" name="226 Conector angular"/>
          <p:cNvCxnSpPr>
            <a:stCxn id="98" idx="3"/>
            <a:endCxn id="112" idx="2"/>
          </p:cNvCxnSpPr>
          <p:nvPr/>
        </p:nvCxnSpPr>
        <p:spPr>
          <a:xfrm flipV="1">
            <a:off x="7760170" y="2150184"/>
            <a:ext cx="1115111" cy="790590"/>
          </a:xfrm>
          <a:prstGeom prst="bentConnector2">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9" name="118 CuadroTexto"/>
          <p:cNvSpPr txBox="1"/>
          <p:nvPr/>
        </p:nvSpPr>
        <p:spPr>
          <a:xfrm>
            <a:off x="8913440" y="2276872"/>
            <a:ext cx="693998" cy="338554"/>
          </a:xfrm>
          <a:prstGeom prst="rect">
            <a:avLst/>
          </a:prstGeom>
          <a:noFill/>
        </p:spPr>
        <p:txBody>
          <a:bodyPr wrap="square" rtlCol="0">
            <a:spAutoFit/>
          </a:bodyPr>
          <a:lstStyle/>
          <a:p>
            <a:pPr algn="ctr"/>
            <a:r>
              <a:rPr lang="es-ES" sz="800" dirty="0">
                <a:latin typeface="Avenir 35" panose="00000400000000000000" pitchFamily="2" charset="0"/>
              </a:rPr>
              <a:t>Acude y Compra</a:t>
            </a:r>
          </a:p>
        </p:txBody>
      </p:sp>
      <p:cxnSp>
        <p:nvCxnSpPr>
          <p:cNvPr id="231" name="230 Conector recto de flecha"/>
          <p:cNvCxnSpPr>
            <a:stCxn id="112" idx="3"/>
            <a:endCxn id="222" idx="1"/>
          </p:cNvCxnSpPr>
          <p:nvPr/>
        </p:nvCxnSpPr>
        <p:spPr>
          <a:xfrm flipV="1">
            <a:off x="9063410" y="1962054"/>
            <a:ext cx="403112" cy="1"/>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87" name="86 CuadroTexto"/>
          <p:cNvSpPr txBox="1"/>
          <p:nvPr/>
        </p:nvSpPr>
        <p:spPr>
          <a:xfrm>
            <a:off x="1364810" y="2393444"/>
            <a:ext cx="702078" cy="461665"/>
          </a:xfrm>
          <a:prstGeom prst="rect">
            <a:avLst/>
          </a:prstGeom>
          <a:solidFill>
            <a:srgbClr val="3CB2C3"/>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2</a:t>
            </a:r>
          </a:p>
          <a:p>
            <a:r>
              <a:rPr lang="es-ES" dirty="0">
                <a:latin typeface="Avenir 35" panose="00000400000000000000" pitchFamily="2" charset="0"/>
              </a:rPr>
              <a:t>semanas tras inicio</a:t>
            </a:r>
          </a:p>
        </p:txBody>
      </p:sp>
      <p:sp>
        <p:nvSpPr>
          <p:cNvPr id="88"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33</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1761121020"/>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4"/>
          <p:cNvSpPr>
            <a:spLocks noChangeArrowheads="1"/>
          </p:cNvSpPr>
          <p:nvPr/>
        </p:nvSpPr>
        <p:spPr bwMode="auto">
          <a:xfrm>
            <a:off x="632522" y="832079"/>
            <a:ext cx="8660261" cy="432048"/>
          </a:xfrm>
          <a:prstGeom prst="roundRect">
            <a:avLst>
              <a:gd name="adj" fmla="val 12500"/>
            </a:avLst>
          </a:prstGeom>
        </p:spPr>
        <p:txBody>
          <a:bodyPr lIns="92583" tIns="46292" rIns="92583" bIns="46292" anchor="ctr">
            <a:noAutofit/>
          </a:bodyPr>
          <a:lstStyle/>
          <a:p>
            <a:pPr algn="ctr"/>
            <a:r>
              <a:rPr lang="es-ES" sz="1000" dirty="0">
                <a:solidFill>
                  <a:prstClr val="black"/>
                </a:solidFill>
                <a:latin typeface="Avenir 35" panose="00000400000000000000" pitchFamily="2" charset="0"/>
                <a:cs typeface="Arial" panose="020B0604020202020204" pitchFamily="34" charset="0"/>
              </a:rPr>
              <a:t>Con el objetivo de evaluar el valor añadido que puede aportar Grupo VI, BANCO nos plantea dos casos prácticos de gestión de campañas, para que el proveedor desarrolle una propuesta de mejora. </a:t>
            </a:r>
          </a:p>
        </p:txBody>
      </p:sp>
      <p:grpSp>
        <p:nvGrpSpPr>
          <p:cNvPr id="125" name="Group 79"/>
          <p:cNvGrpSpPr>
            <a:grpSpLocks noChangeAspect="1"/>
          </p:cNvGrpSpPr>
          <p:nvPr/>
        </p:nvGrpSpPr>
        <p:grpSpPr>
          <a:xfrm>
            <a:off x="2195737" y="1528819"/>
            <a:ext cx="4841711" cy="5252982"/>
            <a:chOff x="3506788" y="1241425"/>
            <a:chExt cx="5176838" cy="5616576"/>
          </a:xfrm>
        </p:grpSpPr>
        <p:sp>
          <p:nvSpPr>
            <p:cNvPr id="126" name="Freeform 5"/>
            <p:cNvSpPr>
              <a:spLocks/>
            </p:cNvSpPr>
            <p:nvPr/>
          </p:nvSpPr>
          <p:spPr bwMode="auto">
            <a:xfrm>
              <a:off x="4200526" y="5394325"/>
              <a:ext cx="1524000" cy="1463675"/>
            </a:xfrm>
            <a:custGeom>
              <a:avLst/>
              <a:gdLst>
                <a:gd name="T0" fmla="*/ 0 w 688"/>
                <a:gd name="T1" fmla="*/ 0 h 661"/>
                <a:gd name="T2" fmla="*/ 0 w 688"/>
                <a:gd name="T3" fmla="*/ 246 h 661"/>
                <a:gd name="T4" fmla="*/ 82 w 688"/>
                <a:gd name="T5" fmla="*/ 328 h 661"/>
                <a:gd name="T6" fmla="*/ 606 w 688"/>
                <a:gd name="T7" fmla="*/ 328 h 661"/>
                <a:gd name="T8" fmla="*/ 688 w 688"/>
                <a:gd name="T9" fmla="*/ 409 h 661"/>
                <a:gd name="T10" fmla="*/ 688 w 688"/>
                <a:gd name="T11" fmla="*/ 661 h 661"/>
              </a:gdLst>
              <a:ahLst/>
              <a:cxnLst>
                <a:cxn ang="0">
                  <a:pos x="T0" y="T1"/>
                </a:cxn>
                <a:cxn ang="0">
                  <a:pos x="T2" y="T3"/>
                </a:cxn>
                <a:cxn ang="0">
                  <a:pos x="T4" y="T5"/>
                </a:cxn>
                <a:cxn ang="0">
                  <a:pos x="T6" y="T7"/>
                </a:cxn>
                <a:cxn ang="0">
                  <a:pos x="T8" y="T9"/>
                </a:cxn>
                <a:cxn ang="0">
                  <a:pos x="T10" y="T11"/>
                </a:cxn>
              </a:cxnLst>
              <a:rect l="0" t="0" r="r" b="b"/>
              <a:pathLst>
                <a:path w="688" h="661">
                  <a:moveTo>
                    <a:pt x="0" y="0"/>
                  </a:moveTo>
                  <a:cubicBezTo>
                    <a:pt x="0" y="246"/>
                    <a:pt x="0" y="246"/>
                    <a:pt x="0" y="246"/>
                  </a:cubicBezTo>
                  <a:cubicBezTo>
                    <a:pt x="0" y="291"/>
                    <a:pt x="37" y="328"/>
                    <a:pt x="82" y="328"/>
                  </a:cubicBezTo>
                  <a:cubicBezTo>
                    <a:pt x="606" y="328"/>
                    <a:pt x="606" y="328"/>
                    <a:pt x="606" y="328"/>
                  </a:cubicBezTo>
                  <a:cubicBezTo>
                    <a:pt x="651" y="328"/>
                    <a:pt x="688" y="364"/>
                    <a:pt x="688" y="409"/>
                  </a:cubicBezTo>
                  <a:cubicBezTo>
                    <a:pt x="688" y="661"/>
                    <a:pt x="688" y="661"/>
                    <a:pt x="688" y="661"/>
                  </a:cubicBezTo>
                </a:path>
              </a:pathLst>
            </a:custGeom>
            <a:noFill/>
            <a:ln w="79375" cap="flat">
              <a:solidFill>
                <a:srgbClr val="E13A6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27" name="Freeform 6"/>
            <p:cNvSpPr>
              <a:spLocks/>
            </p:cNvSpPr>
            <p:nvPr/>
          </p:nvSpPr>
          <p:spPr bwMode="auto">
            <a:xfrm>
              <a:off x="4165601" y="4892675"/>
              <a:ext cx="69850" cy="300038"/>
            </a:xfrm>
            <a:custGeom>
              <a:avLst/>
              <a:gdLst>
                <a:gd name="T0" fmla="*/ 32 w 32"/>
                <a:gd name="T1" fmla="*/ 0 h 136"/>
                <a:gd name="T2" fmla="*/ 0 w 32"/>
                <a:gd name="T3" fmla="*/ 0 h 136"/>
                <a:gd name="T4" fmla="*/ 1 w 32"/>
                <a:gd name="T5" fmla="*/ 25 h 136"/>
                <a:gd name="T6" fmla="*/ 1 w 32"/>
                <a:gd name="T7" fmla="*/ 136 h 136"/>
                <a:gd name="T8" fmla="*/ 30 w 32"/>
                <a:gd name="T9" fmla="*/ 136 h 136"/>
                <a:gd name="T10" fmla="*/ 30 w 32"/>
                <a:gd name="T11" fmla="*/ 25 h 136"/>
                <a:gd name="T12" fmla="*/ 32 w 32"/>
                <a:gd name="T13" fmla="*/ 0 h 136"/>
              </a:gdLst>
              <a:ahLst/>
              <a:cxnLst>
                <a:cxn ang="0">
                  <a:pos x="T0" y="T1"/>
                </a:cxn>
                <a:cxn ang="0">
                  <a:pos x="T2" y="T3"/>
                </a:cxn>
                <a:cxn ang="0">
                  <a:pos x="T4" y="T5"/>
                </a:cxn>
                <a:cxn ang="0">
                  <a:pos x="T6" y="T7"/>
                </a:cxn>
                <a:cxn ang="0">
                  <a:pos x="T8" y="T9"/>
                </a:cxn>
                <a:cxn ang="0">
                  <a:pos x="T10" y="T11"/>
                </a:cxn>
                <a:cxn ang="0">
                  <a:pos x="T12" y="T13"/>
                </a:cxn>
              </a:cxnLst>
              <a:rect l="0" t="0" r="r" b="b"/>
              <a:pathLst>
                <a:path w="32" h="136">
                  <a:moveTo>
                    <a:pt x="32" y="0"/>
                  </a:moveTo>
                  <a:cubicBezTo>
                    <a:pt x="0" y="0"/>
                    <a:pt x="0" y="0"/>
                    <a:pt x="0" y="0"/>
                  </a:cubicBezTo>
                  <a:cubicBezTo>
                    <a:pt x="2" y="14"/>
                    <a:pt x="1" y="25"/>
                    <a:pt x="1" y="25"/>
                  </a:cubicBezTo>
                  <a:cubicBezTo>
                    <a:pt x="1" y="136"/>
                    <a:pt x="1" y="136"/>
                    <a:pt x="1" y="136"/>
                  </a:cubicBezTo>
                  <a:cubicBezTo>
                    <a:pt x="30" y="136"/>
                    <a:pt x="30" y="136"/>
                    <a:pt x="30" y="136"/>
                  </a:cubicBezTo>
                  <a:cubicBezTo>
                    <a:pt x="30" y="25"/>
                    <a:pt x="30" y="25"/>
                    <a:pt x="30" y="25"/>
                  </a:cubicBezTo>
                  <a:cubicBezTo>
                    <a:pt x="30" y="25"/>
                    <a:pt x="30" y="14"/>
                    <a:pt x="32" y="0"/>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28" name="Freeform 7"/>
            <p:cNvSpPr>
              <a:spLocks/>
            </p:cNvSpPr>
            <p:nvPr/>
          </p:nvSpPr>
          <p:spPr bwMode="auto">
            <a:xfrm>
              <a:off x="4260851" y="4781550"/>
              <a:ext cx="120650" cy="88900"/>
            </a:xfrm>
            <a:custGeom>
              <a:avLst/>
              <a:gdLst>
                <a:gd name="T0" fmla="*/ 41 w 55"/>
                <a:gd name="T1" fmla="*/ 4 h 40"/>
                <a:gd name="T2" fmla="*/ 26 w 55"/>
                <a:gd name="T3" fmla="*/ 0 h 40"/>
                <a:gd name="T4" fmla="*/ 0 w 55"/>
                <a:gd name="T5" fmla="*/ 40 h 40"/>
                <a:gd name="T6" fmla="*/ 36 w 55"/>
                <a:gd name="T7" fmla="*/ 40 h 40"/>
                <a:gd name="T8" fmla="*/ 54 w 55"/>
                <a:gd name="T9" fmla="*/ 28 h 40"/>
                <a:gd name="T10" fmla="*/ 41 w 55"/>
                <a:gd name="T11" fmla="*/ 4 h 40"/>
              </a:gdLst>
              <a:ahLst/>
              <a:cxnLst>
                <a:cxn ang="0">
                  <a:pos x="T0" y="T1"/>
                </a:cxn>
                <a:cxn ang="0">
                  <a:pos x="T2" y="T3"/>
                </a:cxn>
                <a:cxn ang="0">
                  <a:pos x="T4" y="T5"/>
                </a:cxn>
                <a:cxn ang="0">
                  <a:pos x="T6" y="T7"/>
                </a:cxn>
                <a:cxn ang="0">
                  <a:pos x="T8" y="T9"/>
                </a:cxn>
                <a:cxn ang="0">
                  <a:pos x="T10" y="T11"/>
                </a:cxn>
              </a:cxnLst>
              <a:rect l="0" t="0" r="r" b="b"/>
              <a:pathLst>
                <a:path w="55" h="40">
                  <a:moveTo>
                    <a:pt x="41" y="4"/>
                  </a:moveTo>
                  <a:cubicBezTo>
                    <a:pt x="35" y="1"/>
                    <a:pt x="31" y="0"/>
                    <a:pt x="26" y="0"/>
                  </a:cubicBezTo>
                  <a:cubicBezTo>
                    <a:pt x="10" y="0"/>
                    <a:pt x="3" y="23"/>
                    <a:pt x="0" y="40"/>
                  </a:cubicBezTo>
                  <a:cubicBezTo>
                    <a:pt x="36" y="40"/>
                    <a:pt x="36" y="40"/>
                    <a:pt x="36" y="40"/>
                  </a:cubicBezTo>
                  <a:cubicBezTo>
                    <a:pt x="45" y="40"/>
                    <a:pt x="52" y="35"/>
                    <a:pt x="54" y="28"/>
                  </a:cubicBezTo>
                  <a:cubicBezTo>
                    <a:pt x="55" y="21"/>
                    <a:pt x="53" y="11"/>
                    <a:pt x="41" y="4"/>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29" name="Freeform 8"/>
            <p:cNvSpPr>
              <a:spLocks/>
            </p:cNvSpPr>
            <p:nvPr/>
          </p:nvSpPr>
          <p:spPr bwMode="auto">
            <a:xfrm>
              <a:off x="4016376" y="4781550"/>
              <a:ext cx="123825" cy="88900"/>
            </a:xfrm>
            <a:custGeom>
              <a:avLst/>
              <a:gdLst>
                <a:gd name="T0" fmla="*/ 30 w 56"/>
                <a:gd name="T1" fmla="*/ 0 h 40"/>
                <a:gd name="T2" fmla="*/ 15 w 56"/>
                <a:gd name="T3" fmla="*/ 4 h 40"/>
                <a:gd name="T4" fmla="*/ 2 w 56"/>
                <a:gd name="T5" fmla="*/ 28 h 40"/>
                <a:gd name="T6" fmla="*/ 20 w 56"/>
                <a:gd name="T7" fmla="*/ 40 h 40"/>
                <a:gd name="T8" fmla="*/ 56 w 56"/>
                <a:gd name="T9" fmla="*/ 40 h 40"/>
                <a:gd name="T10" fmla="*/ 30 w 56"/>
                <a:gd name="T11" fmla="*/ 0 h 40"/>
              </a:gdLst>
              <a:ahLst/>
              <a:cxnLst>
                <a:cxn ang="0">
                  <a:pos x="T0" y="T1"/>
                </a:cxn>
                <a:cxn ang="0">
                  <a:pos x="T2" y="T3"/>
                </a:cxn>
                <a:cxn ang="0">
                  <a:pos x="T4" y="T5"/>
                </a:cxn>
                <a:cxn ang="0">
                  <a:pos x="T6" y="T7"/>
                </a:cxn>
                <a:cxn ang="0">
                  <a:pos x="T8" y="T9"/>
                </a:cxn>
                <a:cxn ang="0">
                  <a:pos x="T10" y="T11"/>
                </a:cxn>
              </a:cxnLst>
              <a:rect l="0" t="0" r="r" b="b"/>
              <a:pathLst>
                <a:path w="56" h="40">
                  <a:moveTo>
                    <a:pt x="30" y="0"/>
                  </a:moveTo>
                  <a:cubicBezTo>
                    <a:pt x="25" y="0"/>
                    <a:pt x="21" y="1"/>
                    <a:pt x="15" y="4"/>
                  </a:cubicBezTo>
                  <a:cubicBezTo>
                    <a:pt x="3" y="11"/>
                    <a:pt x="0" y="21"/>
                    <a:pt x="2" y="28"/>
                  </a:cubicBezTo>
                  <a:cubicBezTo>
                    <a:pt x="4" y="35"/>
                    <a:pt x="11" y="40"/>
                    <a:pt x="20" y="40"/>
                  </a:cubicBezTo>
                  <a:cubicBezTo>
                    <a:pt x="56" y="40"/>
                    <a:pt x="56" y="40"/>
                    <a:pt x="56" y="40"/>
                  </a:cubicBezTo>
                  <a:cubicBezTo>
                    <a:pt x="53" y="23"/>
                    <a:pt x="46" y="0"/>
                    <a:pt x="30" y="0"/>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0" name="Freeform 9"/>
            <p:cNvSpPr>
              <a:spLocks noEditPoints="1"/>
            </p:cNvSpPr>
            <p:nvPr/>
          </p:nvSpPr>
          <p:spPr bwMode="auto">
            <a:xfrm>
              <a:off x="3867151" y="4454525"/>
              <a:ext cx="658813" cy="968375"/>
            </a:xfrm>
            <a:custGeom>
              <a:avLst/>
              <a:gdLst>
                <a:gd name="T0" fmla="*/ 139 w 297"/>
                <a:gd name="T1" fmla="*/ 6 h 438"/>
                <a:gd name="T2" fmla="*/ 3 w 297"/>
                <a:gd name="T3" fmla="*/ 142 h 438"/>
                <a:gd name="T4" fmla="*/ 50 w 297"/>
                <a:gd name="T5" fmla="*/ 261 h 438"/>
                <a:gd name="T6" fmla="*/ 86 w 297"/>
                <a:gd name="T7" fmla="*/ 342 h 438"/>
                <a:gd name="T8" fmla="*/ 86 w 297"/>
                <a:gd name="T9" fmla="*/ 394 h 438"/>
                <a:gd name="T10" fmla="*/ 105 w 297"/>
                <a:gd name="T11" fmla="*/ 414 h 438"/>
                <a:gd name="T12" fmla="*/ 116 w 297"/>
                <a:gd name="T13" fmla="*/ 414 h 438"/>
                <a:gd name="T14" fmla="*/ 150 w 297"/>
                <a:gd name="T15" fmla="*/ 438 h 438"/>
                <a:gd name="T16" fmla="*/ 184 w 297"/>
                <a:gd name="T17" fmla="*/ 414 h 438"/>
                <a:gd name="T18" fmla="*/ 195 w 297"/>
                <a:gd name="T19" fmla="*/ 414 h 438"/>
                <a:gd name="T20" fmla="*/ 214 w 297"/>
                <a:gd name="T21" fmla="*/ 394 h 438"/>
                <a:gd name="T22" fmla="*/ 214 w 297"/>
                <a:gd name="T23" fmla="*/ 342 h 438"/>
                <a:gd name="T24" fmla="*/ 249 w 297"/>
                <a:gd name="T25" fmla="*/ 261 h 438"/>
                <a:gd name="T26" fmla="*/ 297 w 297"/>
                <a:gd name="T27" fmla="*/ 153 h 438"/>
                <a:gd name="T28" fmla="*/ 139 w 297"/>
                <a:gd name="T29" fmla="*/ 6 h 438"/>
                <a:gd name="T30" fmla="*/ 240 w 297"/>
                <a:gd name="T31" fmla="*/ 178 h 438"/>
                <a:gd name="T32" fmla="*/ 213 w 297"/>
                <a:gd name="T33" fmla="*/ 198 h 438"/>
                <a:gd name="T34" fmla="*/ 176 w 297"/>
                <a:gd name="T35" fmla="*/ 198 h 438"/>
                <a:gd name="T36" fmla="*/ 174 w 297"/>
                <a:gd name="T37" fmla="*/ 223 h 438"/>
                <a:gd name="T38" fmla="*/ 174 w 297"/>
                <a:gd name="T39" fmla="*/ 334 h 438"/>
                <a:gd name="T40" fmla="*/ 197 w 297"/>
                <a:gd name="T41" fmla="*/ 334 h 438"/>
                <a:gd name="T42" fmla="*/ 202 w 297"/>
                <a:gd name="T43" fmla="*/ 338 h 438"/>
                <a:gd name="T44" fmla="*/ 197 w 297"/>
                <a:gd name="T45" fmla="*/ 343 h 438"/>
                <a:gd name="T46" fmla="*/ 141 w 297"/>
                <a:gd name="T47" fmla="*/ 343 h 438"/>
                <a:gd name="T48" fmla="*/ 199 w 297"/>
                <a:gd name="T49" fmla="*/ 358 h 438"/>
                <a:gd name="T50" fmla="*/ 202 w 297"/>
                <a:gd name="T51" fmla="*/ 363 h 438"/>
                <a:gd name="T52" fmla="*/ 198 w 297"/>
                <a:gd name="T53" fmla="*/ 368 h 438"/>
                <a:gd name="T54" fmla="*/ 141 w 297"/>
                <a:gd name="T55" fmla="*/ 370 h 438"/>
                <a:gd name="T56" fmla="*/ 198 w 297"/>
                <a:gd name="T57" fmla="*/ 383 h 438"/>
                <a:gd name="T58" fmla="*/ 202 w 297"/>
                <a:gd name="T59" fmla="*/ 388 h 438"/>
                <a:gd name="T60" fmla="*/ 197 w 297"/>
                <a:gd name="T61" fmla="*/ 392 h 438"/>
                <a:gd name="T62" fmla="*/ 102 w 297"/>
                <a:gd name="T63" fmla="*/ 392 h 438"/>
                <a:gd name="T64" fmla="*/ 98 w 297"/>
                <a:gd name="T65" fmla="*/ 387 h 438"/>
                <a:gd name="T66" fmla="*/ 102 w 297"/>
                <a:gd name="T67" fmla="*/ 383 h 438"/>
                <a:gd name="T68" fmla="*/ 151 w 297"/>
                <a:gd name="T69" fmla="*/ 383 h 438"/>
                <a:gd name="T70" fmla="*/ 101 w 297"/>
                <a:gd name="T71" fmla="*/ 372 h 438"/>
                <a:gd name="T72" fmla="*/ 98 w 297"/>
                <a:gd name="T73" fmla="*/ 367 h 438"/>
                <a:gd name="T74" fmla="*/ 102 w 297"/>
                <a:gd name="T75" fmla="*/ 362 h 438"/>
                <a:gd name="T76" fmla="*/ 165 w 297"/>
                <a:gd name="T77" fmla="*/ 360 h 438"/>
                <a:gd name="T78" fmla="*/ 101 w 297"/>
                <a:gd name="T79" fmla="*/ 343 h 438"/>
                <a:gd name="T80" fmla="*/ 98 w 297"/>
                <a:gd name="T81" fmla="*/ 338 h 438"/>
                <a:gd name="T82" fmla="*/ 102 w 297"/>
                <a:gd name="T83" fmla="*/ 334 h 438"/>
                <a:gd name="T84" fmla="*/ 126 w 297"/>
                <a:gd name="T85" fmla="*/ 334 h 438"/>
                <a:gd name="T86" fmla="*/ 126 w 297"/>
                <a:gd name="T87" fmla="*/ 223 h 438"/>
                <a:gd name="T88" fmla="*/ 124 w 297"/>
                <a:gd name="T89" fmla="*/ 198 h 438"/>
                <a:gd name="T90" fmla="*/ 87 w 297"/>
                <a:gd name="T91" fmla="*/ 198 h 438"/>
                <a:gd name="T92" fmla="*/ 60 w 297"/>
                <a:gd name="T93" fmla="*/ 178 h 438"/>
                <a:gd name="T94" fmla="*/ 78 w 297"/>
                <a:gd name="T95" fmla="*/ 144 h 438"/>
                <a:gd name="T96" fmla="*/ 97 w 297"/>
                <a:gd name="T97" fmla="*/ 138 h 438"/>
                <a:gd name="T98" fmla="*/ 133 w 297"/>
                <a:gd name="T99" fmla="*/ 188 h 438"/>
                <a:gd name="T100" fmla="*/ 167 w 297"/>
                <a:gd name="T101" fmla="*/ 188 h 438"/>
                <a:gd name="T102" fmla="*/ 203 w 297"/>
                <a:gd name="T103" fmla="*/ 138 h 438"/>
                <a:gd name="T104" fmla="*/ 222 w 297"/>
                <a:gd name="T105" fmla="*/ 144 h 438"/>
                <a:gd name="T106" fmla="*/ 240 w 297"/>
                <a:gd name="T107" fmla="*/ 17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7" h="438">
                  <a:moveTo>
                    <a:pt x="139" y="6"/>
                  </a:moveTo>
                  <a:cubicBezTo>
                    <a:pt x="67" y="11"/>
                    <a:pt x="8" y="70"/>
                    <a:pt x="3" y="142"/>
                  </a:cubicBezTo>
                  <a:cubicBezTo>
                    <a:pt x="0" y="189"/>
                    <a:pt x="18" y="232"/>
                    <a:pt x="50" y="261"/>
                  </a:cubicBezTo>
                  <a:cubicBezTo>
                    <a:pt x="72" y="282"/>
                    <a:pt x="86" y="311"/>
                    <a:pt x="86" y="342"/>
                  </a:cubicBezTo>
                  <a:cubicBezTo>
                    <a:pt x="86" y="394"/>
                    <a:pt x="86" y="394"/>
                    <a:pt x="86" y="394"/>
                  </a:cubicBezTo>
                  <a:cubicBezTo>
                    <a:pt x="86" y="405"/>
                    <a:pt x="94" y="414"/>
                    <a:pt x="105" y="414"/>
                  </a:cubicBezTo>
                  <a:cubicBezTo>
                    <a:pt x="116" y="414"/>
                    <a:pt x="116" y="414"/>
                    <a:pt x="116" y="414"/>
                  </a:cubicBezTo>
                  <a:cubicBezTo>
                    <a:pt x="121" y="428"/>
                    <a:pt x="134" y="438"/>
                    <a:pt x="150" y="438"/>
                  </a:cubicBezTo>
                  <a:cubicBezTo>
                    <a:pt x="166" y="438"/>
                    <a:pt x="179" y="428"/>
                    <a:pt x="184" y="414"/>
                  </a:cubicBezTo>
                  <a:cubicBezTo>
                    <a:pt x="195" y="414"/>
                    <a:pt x="195" y="414"/>
                    <a:pt x="195" y="414"/>
                  </a:cubicBezTo>
                  <a:cubicBezTo>
                    <a:pt x="205" y="414"/>
                    <a:pt x="214" y="405"/>
                    <a:pt x="214" y="394"/>
                  </a:cubicBezTo>
                  <a:cubicBezTo>
                    <a:pt x="214" y="342"/>
                    <a:pt x="214" y="342"/>
                    <a:pt x="214" y="342"/>
                  </a:cubicBezTo>
                  <a:cubicBezTo>
                    <a:pt x="214" y="311"/>
                    <a:pt x="227" y="282"/>
                    <a:pt x="249" y="261"/>
                  </a:cubicBezTo>
                  <a:cubicBezTo>
                    <a:pt x="279" y="235"/>
                    <a:pt x="297" y="196"/>
                    <a:pt x="297" y="153"/>
                  </a:cubicBezTo>
                  <a:cubicBezTo>
                    <a:pt x="297" y="68"/>
                    <a:pt x="225" y="0"/>
                    <a:pt x="139" y="6"/>
                  </a:cubicBezTo>
                  <a:close/>
                  <a:moveTo>
                    <a:pt x="240" y="178"/>
                  </a:moveTo>
                  <a:cubicBezTo>
                    <a:pt x="237" y="190"/>
                    <a:pt x="226" y="198"/>
                    <a:pt x="213" y="198"/>
                  </a:cubicBezTo>
                  <a:cubicBezTo>
                    <a:pt x="176" y="198"/>
                    <a:pt x="176" y="198"/>
                    <a:pt x="176" y="198"/>
                  </a:cubicBezTo>
                  <a:cubicBezTo>
                    <a:pt x="174" y="212"/>
                    <a:pt x="174" y="223"/>
                    <a:pt x="174" y="223"/>
                  </a:cubicBezTo>
                  <a:cubicBezTo>
                    <a:pt x="174" y="334"/>
                    <a:pt x="174" y="334"/>
                    <a:pt x="174" y="334"/>
                  </a:cubicBezTo>
                  <a:cubicBezTo>
                    <a:pt x="197" y="334"/>
                    <a:pt x="197" y="334"/>
                    <a:pt x="197" y="334"/>
                  </a:cubicBezTo>
                  <a:cubicBezTo>
                    <a:pt x="200" y="334"/>
                    <a:pt x="202" y="336"/>
                    <a:pt x="202" y="338"/>
                  </a:cubicBezTo>
                  <a:cubicBezTo>
                    <a:pt x="202" y="341"/>
                    <a:pt x="200" y="343"/>
                    <a:pt x="197" y="343"/>
                  </a:cubicBezTo>
                  <a:cubicBezTo>
                    <a:pt x="141" y="343"/>
                    <a:pt x="141" y="343"/>
                    <a:pt x="141" y="343"/>
                  </a:cubicBezTo>
                  <a:cubicBezTo>
                    <a:pt x="199" y="358"/>
                    <a:pt x="199" y="358"/>
                    <a:pt x="199" y="358"/>
                  </a:cubicBezTo>
                  <a:cubicBezTo>
                    <a:pt x="201" y="359"/>
                    <a:pt x="203" y="361"/>
                    <a:pt x="202" y="363"/>
                  </a:cubicBezTo>
                  <a:cubicBezTo>
                    <a:pt x="202" y="366"/>
                    <a:pt x="200" y="368"/>
                    <a:pt x="198" y="368"/>
                  </a:cubicBezTo>
                  <a:cubicBezTo>
                    <a:pt x="141" y="370"/>
                    <a:pt x="141" y="370"/>
                    <a:pt x="141" y="370"/>
                  </a:cubicBezTo>
                  <a:cubicBezTo>
                    <a:pt x="198" y="383"/>
                    <a:pt x="198" y="383"/>
                    <a:pt x="198" y="383"/>
                  </a:cubicBezTo>
                  <a:cubicBezTo>
                    <a:pt x="201" y="383"/>
                    <a:pt x="203" y="385"/>
                    <a:pt x="202" y="388"/>
                  </a:cubicBezTo>
                  <a:cubicBezTo>
                    <a:pt x="202" y="390"/>
                    <a:pt x="200" y="392"/>
                    <a:pt x="197" y="392"/>
                  </a:cubicBezTo>
                  <a:cubicBezTo>
                    <a:pt x="102" y="392"/>
                    <a:pt x="102" y="392"/>
                    <a:pt x="102" y="392"/>
                  </a:cubicBezTo>
                  <a:cubicBezTo>
                    <a:pt x="100" y="392"/>
                    <a:pt x="98" y="390"/>
                    <a:pt x="98" y="387"/>
                  </a:cubicBezTo>
                  <a:cubicBezTo>
                    <a:pt x="98" y="385"/>
                    <a:pt x="100" y="383"/>
                    <a:pt x="102" y="383"/>
                  </a:cubicBezTo>
                  <a:cubicBezTo>
                    <a:pt x="151" y="383"/>
                    <a:pt x="151" y="383"/>
                    <a:pt x="151" y="383"/>
                  </a:cubicBezTo>
                  <a:cubicBezTo>
                    <a:pt x="101" y="372"/>
                    <a:pt x="101" y="372"/>
                    <a:pt x="101" y="372"/>
                  </a:cubicBezTo>
                  <a:cubicBezTo>
                    <a:pt x="99" y="372"/>
                    <a:pt x="97" y="369"/>
                    <a:pt x="98" y="367"/>
                  </a:cubicBezTo>
                  <a:cubicBezTo>
                    <a:pt x="98" y="365"/>
                    <a:pt x="100" y="363"/>
                    <a:pt x="102" y="362"/>
                  </a:cubicBezTo>
                  <a:cubicBezTo>
                    <a:pt x="165" y="360"/>
                    <a:pt x="165" y="360"/>
                    <a:pt x="165" y="360"/>
                  </a:cubicBezTo>
                  <a:cubicBezTo>
                    <a:pt x="101" y="343"/>
                    <a:pt x="101" y="343"/>
                    <a:pt x="101" y="343"/>
                  </a:cubicBezTo>
                  <a:cubicBezTo>
                    <a:pt x="99" y="343"/>
                    <a:pt x="97" y="340"/>
                    <a:pt x="98" y="338"/>
                  </a:cubicBezTo>
                  <a:cubicBezTo>
                    <a:pt x="98" y="335"/>
                    <a:pt x="100" y="334"/>
                    <a:pt x="102" y="334"/>
                  </a:cubicBezTo>
                  <a:cubicBezTo>
                    <a:pt x="126" y="334"/>
                    <a:pt x="126" y="334"/>
                    <a:pt x="126" y="334"/>
                  </a:cubicBezTo>
                  <a:cubicBezTo>
                    <a:pt x="126" y="223"/>
                    <a:pt x="126" y="223"/>
                    <a:pt x="126" y="223"/>
                  </a:cubicBezTo>
                  <a:cubicBezTo>
                    <a:pt x="126" y="223"/>
                    <a:pt x="126" y="212"/>
                    <a:pt x="124" y="198"/>
                  </a:cubicBezTo>
                  <a:cubicBezTo>
                    <a:pt x="87" y="198"/>
                    <a:pt x="87" y="198"/>
                    <a:pt x="87" y="198"/>
                  </a:cubicBezTo>
                  <a:cubicBezTo>
                    <a:pt x="74" y="198"/>
                    <a:pt x="63" y="190"/>
                    <a:pt x="60" y="178"/>
                  </a:cubicBezTo>
                  <a:cubicBezTo>
                    <a:pt x="56" y="165"/>
                    <a:pt x="63" y="151"/>
                    <a:pt x="78" y="144"/>
                  </a:cubicBezTo>
                  <a:cubicBezTo>
                    <a:pt x="84" y="140"/>
                    <a:pt x="91" y="138"/>
                    <a:pt x="97" y="138"/>
                  </a:cubicBezTo>
                  <a:cubicBezTo>
                    <a:pt x="109" y="138"/>
                    <a:pt x="126" y="147"/>
                    <a:pt x="133" y="188"/>
                  </a:cubicBezTo>
                  <a:cubicBezTo>
                    <a:pt x="167" y="188"/>
                    <a:pt x="167" y="188"/>
                    <a:pt x="167" y="188"/>
                  </a:cubicBezTo>
                  <a:cubicBezTo>
                    <a:pt x="174" y="147"/>
                    <a:pt x="191" y="138"/>
                    <a:pt x="203" y="138"/>
                  </a:cubicBezTo>
                  <a:cubicBezTo>
                    <a:pt x="209" y="138"/>
                    <a:pt x="216" y="140"/>
                    <a:pt x="222" y="144"/>
                  </a:cubicBezTo>
                  <a:cubicBezTo>
                    <a:pt x="236" y="151"/>
                    <a:pt x="243" y="165"/>
                    <a:pt x="240" y="178"/>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1" name="Freeform 10"/>
            <p:cNvSpPr>
              <a:spLocks noEditPoints="1"/>
            </p:cNvSpPr>
            <p:nvPr/>
          </p:nvSpPr>
          <p:spPr bwMode="auto">
            <a:xfrm>
              <a:off x="8056563" y="3081338"/>
              <a:ext cx="627063" cy="730250"/>
            </a:xfrm>
            <a:custGeom>
              <a:avLst/>
              <a:gdLst>
                <a:gd name="T0" fmla="*/ 194 w 283"/>
                <a:gd name="T1" fmla="*/ 330 h 330"/>
                <a:gd name="T2" fmla="*/ 89 w 283"/>
                <a:gd name="T3" fmla="*/ 330 h 330"/>
                <a:gd name="T4" fmla="*/ 85 w 283"/>
                <a:gd name="T5" fmla="*/ 325 h 330"/>
                <a:gd name="T6" fmla="*/ 86 w 283"/>
                <a:gd name="T7" fmla="*/ 322 h 330"/>
                <a:gd name="T8" fmla="*/ 43 w 283"/>
                <a:gd name="T9" fmla="*/ 229 h 330"/>
                <a:gd name="T10" fmla="*/ 0 w 283"/>
                <a:gd name="T11" fmla="*/ 132 h 330"/>
                <a:gd name="T12" fmla="*/ 142 w 283"/>
                <a:gd name="T13" fmla="*/ 0 h 330"/>
                <a:gd name="T14" fmla="*/ 240 w 283"/>
                <a:gd name="T15" fmla="*/ 40 h 330"/>
                <a:gd name="T16" fmla="*/ 283 w 283"/>
                <a:gd name="T17" fmla="*/ 132 h 330"/>
                <a:gd name="T18" fmla="*/ 240 w 283"/>
                <a:gd name="T19" fmla="*/ 229 h 330"/>
                <a:gd name="T20" fmla="*/ 197 w 283"/>
                <a:gd name="T21" fmla="*/ 322 h 330"/>
                <a:gd name="T22" fmla="*/ 199 w 283"/>
                <a:gd name="T23" fmla="*/ 325 h 330"/>
                <a:gd name="T24" fmla="*/ 194 w 283"/>
                <a:gd name="T25" fmla="*/ 330 h 330"/>
                <a:gd name="T26" fmla="*/ 95 w 283"/>
                <a:gd name="T27" fmla="*/ 320 h 330"/>
                <a:gd name="T28" fmla="*/ 188 w 283"/>
                <a:gd name="T29" fmla="*/ 320 h 330"/>
                <a:gd name="T30" fmla="*/ 232 w 283"/>
                <a:gd name="T31" fmla="*/ 224 h 330"/>
                <a:gd name="T32" fmla="*/ 274 w 283"/>
                <a:gd name="T33" fmla="*/ 132 h 330"/>
                <a:gd name="T34" fmla="*/ 142 w 283"/>
                <a:gd name="T35" fmla="*/ 9 h 330"/>
                <a:gd name="T36" fmla="*/ 9 w 283"/>
                <a:gd name="T37" fmla="*/ 132 h 330"/>
                <a:gd name="T38" fmla="*/ 51 w 283"/>
                <a:gd name="T39" fmla="*/ 224 h 330"/>
                <a:gd name="T40" fmla="*/ 95 w 283"/>
                <a:gd name="T41" fmla="*/ 32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3" h="330">
                  <a:moveTo>
                    <a:pt x="194" y="330"/>
                  </a:moveTo>
                  <a:cubicBezTo>
                    <a:pt x="89" y="330"/>
                    <a:pt x="89" y="330"/>
                    <a:pt x="89" y="330"/>
                  </a:cubicBezTo>
                  <a:cubicBezTo>
                    <a:pt x="87" y="330"/>
                    <a:pt x="85" y="328"/>
                    <a:pt x="85" y="325"/>
                  </a:cubicBezTo>
                  <a:cubicBezTo>
                    <a:pt x="85" y="324"/>
                    <a:pt x="85" y="323"/>
                    <a:pt x="86" y="322"/>
                  </a:cubicBezTo>
                  <a:cubicBezTo>
                    <a:pt x="85" y="287"/>
                    <a:pt x="64" y="258"/>
                    <a:pt x="43" y="229"/>
                  </a:cubicBezTo>
                  <a:cubicBezTo>
                    <a:pt x="22" y="200"/>
                    <a:pt x="0" y="169"/>
                    <a:pt x="0" y="132"/>
                  </a:cubicBezTo>
                  <a:cubicBezTo>
                    <a:pt x="0" y="68"/>
                    <a:pt x="54" y="0"/>
                    <a:pt x="142" y="0"/>
                  </a:cubicBezTo>
                  <a:cubicBezTo>
                    <a:pt x="177" y="0"/>
                    <a:pt x="213" y="14"/>
                    <a:pt x="240" y="40"/>
                  </a:cubicBezTo>
                  <a:cubicBezTo>
                    <a:pt x="267" y="65"/>
                    <a:pt x="283" y="99"/>
                    <a:pt x="283" y="132"/>
                  </a:cubicBezTo>
                  <a:cubicBezTo>
                    <a:pt x="283" y="169"/>
                    <a:pt x="261" y="200"/>
                    <a:pt x="240" y="229"/>
                  </a:cubicBezTo>
                  <a:cubicBezTo>
                    <a:pt x="219" y="258"/>
                    <a:pt x="199" y="287"/>
                    <a:pt x="197" y="322"/>
                  </a:cubicBezTo>
                  <a:cubicBezTo>
                    <a:pt x="198" y="323"/>
                    <a:pt x="199" y="324"/>
                    <a:pt x="199" y="325"/>
                  </a:cubicBezTo>
                  <a:cubicBezTo>
                    <a:pt x="199" y="328"/>
                    <a:pt x="197" y="330"/>
                    <a:pt x="194" y="330"/>
                  </a:cubicBezTo>
                  <a:close/>
                  <a:moveTo>
                    <a:pt x="95" y="320"/>
                  </a:moveTo>
                  <a:cubicBezTo>
                    <a:pt x="188" y="320"/>
                    <a:pt x="188" y="320"/>
                    <a:pt x="188" y="320"/>
                  </a:cubicBezTo>
                  <a:cubicBezTo>
                    <a:pt x="190" y="283"/>
                    <a:pt x="212" y="253"/>
                    <a:pt x="232" y="224"/>
                  </a:cubicBezTo>
                  <a:cubicBezTo>
                    <a:pt x="254" y="194"/>
                    <a:pt x="274" y="166"/>
                    <a:pt x="274" y="132"/>
                  </a:cubicBezTo>
                  <a:cubicBezTo>
                    <a:pt x="274" y="67"/>
                    <a:pt x="211" y="9"/>
                    <a:pt x="142" y="9"/>
                  </a:cubicBezTo>
                  <a:cubicBezTo>
                    <a:pt x="60" y="9"/>
                    <a:pt x="9" y="73"/>
                    <a:pt x="9" y="132"/>
                  </a:cubicBezTo>
                  <a:cubicBezTo>
                    <a:pt x="9" y="166"/>
                    <a:pt x="30" y="194"/>
                    <a:pt x="51" y="224"/>
                  </a:cubicBezTo>
                  <a:cubicBezTo>
                    <a:pt x="72" y="253"/>
                    <a:pt x="93" y="283"/>
                    <a:pt x="95" y="320"/>
                  </a:cubicBezTo>
                  <a:close/>
                </a:path>
              </a:pathLst>
            </a:custGeom>
            <a:solidFill>
              <a:srgbClr val="16A1CA"/>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2" name="Freeform 11"/>
            <p:cNvSpPr>
              <a:spLocks/>
            </p:cNvSpPr>
            <p:nvPr/>
          </p:nvSpPr>
          <p:spPr bwMode="auto">
            <a:xfrm>
              <a:off x="8242301" y="3836988"/>
              <a:ext cx="257175" cy="96838"/>
            </a:xfrm>
            <a:custGeom>
              <a:avLst/>
              <a:gdLst>
                <a:gd name="T0" fmla="*/ 111 w 116"/>
                <a:gd name="T1" fmla="*/ 44 h 44"/>
                <a:gd name="T2" fmla="*/ 4 w 116"/>
                <a:gd name="T3" fmla="*/ 44 h 44"/>
                <a:gd name="T4" fmla="*/ 0 w 116"/>
                <a:gd name="T5" fmla="*/ 40 h 44"/>
                <a:gd name="T6" fmla="*/ 3 w 116"/>
                <a:gd name="T7" fmla="*/ 35 h 44"/>
                <a:gd name="T8" fmla="*/ 82 w 116"/>
                <a:gd name="T9" fmla="*/ 9 h 44"/>
                <a:gd name="T10" fmla="*/ 4 w 116"/>
                <a:gd name="T11" fmla="*/ 9 h 44"/>
                <a:gd name="T12" fmla="*/ 0 w 116"/>
                <a:gd name="T13" fmla="*/ 4 h 44"/>
                <a:gd name="T14" fmla="*/ 4 w 116"/>
                <a:gd name="T15" fmla="*/ 0 h 44"/>
                <a:gd name="T16" fmla="*/ 111 w 116"/>
                <a:gd name="T17" fmla="*/ 0 h 44"/>
                <a:gd name="T18" fmla="*/ 115 w 116"/>
                <a:gd name="T19" fmla="*/ 4 h 44"/>
                <a:gd name="T20" fmla="*/ 112 w 116"/>
                <a:gd name="T21" fmla="*/ 9 h 44"/>
                <a:gd name="T22" fmla="*/ 33 w 116"/>
                <a:gd name="T23" fmla="*/ 35 h 44"/>
                <a:gd name="T24" fmla="*/ 111 w 116"/>
                <a:gd name="T25" fmla="*/ 35 h 44"/>
                <a:gd name="T26" fmla="*/ 115 w 116"/>
                <a:gd name="T27" fmla="*/ 39 h 44"/>
                <a:gd name="T28" fmla="*/ 111 w 116"/>
                <a:gd name="T29"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6" h="44">
                  <a:moveTo>
                    <a:pt x="111" y="44"/>
                  </a:moveTo>
                  <a:cubicBezTo>
                    <a:pt x="4" y="44"/>
                    <a:pt x="4" y="44"/>
                    <a:pt x="4" y="44"/>
                  </a:cubicBezTo>
                  <a:cubicBezTo>
                    <a:pt x="2" y="44"/>
                    <a:pt x="0" y="42"/>
                    <a:pt x="0" y="40"/>
                  </a:cubicBezTo>
                  <a:cubicBezTo>
                    <a:pt x="0" y="38"/>
                    <a:pt x="1" y="36"/>
                    <a:pt x="3" y="35"/>
                  </a:cubicBezTo>
                  <a:cubicBezTo>
                    <a:pt x="82" y="9"/>
                    <a:pt x="82" y="9"/>
                    <a:pt x="82" y="9"/>
                  </a:cubicBezTo>
                  <a:cubicBezTo>
                    <a:pt x="4" y="9"/>
                    <a:pt x="4" y="9"/>
                    <a:pt x="4" y="9"/>
                  </a:cubicBezTo>
                  <a:cubicBezTo>
                    <a:pt x="2" y="9"/>
                    <a:pt x="0" y="7"/>
                    <a:pt x="0" y="4"/>
                  </a:cubicBezTo>
                  <a:cubicBezTo>
                    <a:pt x="0" y="2"/>
                    <a:pt x="2" y="0"/>
                    <a:pt x="4" y="0"/>
                  </a:cubicBezTo>
                  <a:cubicBezTo>
                    <a:pt x="111" y="0"/>
                    <a:pt x="111" y="0"/>
                    <a:pt x="111" y="0"/>
                  </a:cubicBezTo>
                  <a:cubicBezTo>
                    <a:pt x="113" y="0"/>
                    <a:pt x="115" y="1"/>
                    <a:pt x="115" y="4"/>
                  </a:cubicBezTo>
                  <a:cubicBezTo>
                    <a:pt x="116" y="6"/>
                    <a:pt x="114" y="8"/>
                    <a:pt x="112" y="9"/>
                  </a:cubicBezTo>
                  <a:cubicBezTo>
                    <a:pt x="33" y="35"/>
                    <a:pt x="33" y="35"/>
                    <a:pt x="33" y="35"/>
                  </a:cubicBezTo>
                  <a:cubicBezTo>
                    <a:pt x="111" y="35"/>
                    <a:pt x="111" y="35"/>
                    <a:pt x="111" y="35"/>
                  </a:cubicBezTo>
                  <a:cubicBezTo>
                    <a:pt x="113" y="35"/>
                    <a:pt x="115" y="37"/>
                    <a:pt x="115" y="39"/>
                  </a:cubicBezTo>
                  <a:cubicBezTo>
                    <a:pt x="115" y="42"/>
                    <a:pt x="113" y="44"/>
                    <a:pt x="111" y="44"/>
                  </a:cubicBezTo>
                  <a:close/>
                </a:path>
              </a:pathLst>
            </a:custGeom>
            <a:solidFill>
              <a:srgbClr val="16A1CA"/>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3" name="Freeform 12"/>
            <p:cNvSpPr>
              <a:spLocks/>
            </p:cNvSpPr>
            <p:nvPr/>
          </p:nvSpPr>
          <p:spPr bwMode="auto">
            <a:xfrm>
              <a:off x="8242301" y="3960813"/>
              <a:ext cx="254000" cy="19050"/>
            </a:xfrm>
            <a:custGeom>
              <a:avLst/>
              <a:gdLst>
                <a:gd name="T0" fmla="*/ 111 w 115"/>
                <a:gd name="T1" fmla="*/ 9 h 9"/>
                <a:gd name="T2" fmla="*/ 4 w 115"/>
                <a:gd name="T3" fmla="*/ 9 h 9"/>
                <a:gd name="T4" fmla="*/ 0 w 115"/>
                <a:gd name="T5" fmla="*/ 4 h 9"/>
                <a:gd name="T6" fmla="*/ 4 w 115"/>
                <a:gd name="T7" fmla="*/ 0 h 9"/>
                <a:gd name="T8" fmla="*/ 111 w 115"/>
                <a:gd name="T9" fmla="*/ 0 h 9"/>
                <a:gd name="T10" fmla="*/ 115 w 115"/>
                <a:gd name="T11" fmla="*/ 4 h 9"/>
                <a:gd name="T12" fmla="*/ 111 w 115"/>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15" h="9">
                  <a:moveTo>
                    <a:pt x="111" y="9"/>
                  </a:moveTo>
                  <a:cubicBezTo>
                    <a:pt x="4" y="9"/>
                    <a:pt x="4" y="9"/>
                    <a:pt x="4" y="9"/>
                  </a:cubicBezTo>
                  <a:cubicBezTo>
                    <a:pt x="2" y="9"/>
                    <a:pt x="0" y="7"/>
                    <a:pt x="0" y="4"/>
                  </a:cubicBezTo>
                  <a:cubicBezTo>
                    <a:pt x="0" y="2"/>
                    <a:pt x="2" y="0"/>
                    <a:pt x="4" y="0"/>
                  </a:cubicBezTo>
                  <a:cubicBezTo>
                    <a:pt x="111" y="0"/>
                    <a:pt x="111" y="0"/>
                    <a:pt x="111" y="0"/>
                  </a:cubicBezTo>
                  <a:cubicBezTo>
                    <a:pt x="113" y="0"/>
                    <a:pt x="115" y="2"/>
                    <a:pt x="115" y="4"/>
                  </a:cubicBezTo>
                  <a:cubicBezTo>
                    <a:pt x="115" y="7"/>
                    <a:pt x="113" y="9"/>
                    <a:pt x="111" y="9"/>
                  </a:cubicBezTo>
                  <a:close/>
                </a:path>
              </a:pathLst>
            </a:custGeom>
            <a:solidFill>
              <a:srgbClr val="16A1CA"/>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4" name="Freeform 13"/>
            <p:cNvSpPr>
              <a:spLocks noEditPoints="1"/>
            </p:cNvSpPr>
            <p:nvPr/>
          </p:nvSpPr>
          <p:spPr bwMode="auto">
            <a:xfrm>
              <a:off x="8399463" y="3402013"/>
              <a:ext cx="147638" cy="112713"/>
            </a:xfrm>
            <a:custGeom>
              <a:avLst/>
              <a:gdLst>
                <a:gd name="T0" fmla="*/ 40 w 67"/>
                <a:gd name="T1" fmla="*/ 51 h 51"/>
                <a:gd name="T2" fmla="*/ 5 w 67"/>
                <a:gd name="T3" fmla="*/ 51 h 51"/>
                <a:gd name="T4" fmla="*/ 1 w 67"/>
                <a:gd name="T5" fmla="*/ 50 h 51"/>
                <a:gd name="T6" fmla="*/ 0 w 67"/>
                <a:gd name="T7" fmla="*/ 46 h 51"/>
                <a:gd name="T8" fmla="*/ 32 w 67"/>
                <a:gd name="T9" fmla="*/ 0 h 51"/>
                <a:gd name="T10" fmla="*/ 48 w 67"/>
                <a:gd name="T11" fmla="*/ 4 h 51"/>
                <a:gd name="T12" fmla="*/ 64 w 67"/>
                <a:gd name="T13" fmla="*/ 34 h 51"/>
                <a:gd name="T14" fmla="*/ 40 w 67"/>
                <a:gd name="T15" fmla="*/ 51 h 51"/>
                <a:gd name="T16" fmla="*/ 10 w 67"/>
                <a:gd name="T17" fmla="*/ 42 h 51"/>
                <a:gd name="T18" fmla="*/ 40 w 67"/>
                <a:gd name="T19" fmla="*/ 42 h 51"/>
                <a:gd name="T20" fmla="*/ 55 w 67"/>
                <a:gd name="T21" fmla="*/ 32 h 51"/>
                <a:gd name="T22" fmla="*/ 44 w 67"/>
                <a:gd name="T23" fmla="*/ 12 h 51"/>
                <a:gd name="T24" fmla="*/ 32 w 67"/>
                <a:gd name="T25" fmla="*/ 9 h 51"/>
                <a:gd name="T26" fmla="*/ 10 w 67"/>
                <a:gd name="T27"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51">
                  <a:moveTo>
                    <a:pt x="40" y="51"/>
                  </a:moveTo>
                  <a:cubicBezTo>
                    <a:pt x="5" y="51"/>
                    <a:pt x="5" y="51"/>
                    <a:pt x="5" y="51"/>
                  </a:cubicBezTo>
                  <a:cubicBezTo>
                    <a:pt x="4" y="51"/>
                    <a:pt x="2" y="51"/>
                    <a:pt x="1" y="50"/>
                  </a:cubicBezTo>
                  <a:cubicBezTo>
                    <a:pt x="1" y="49"/>
                    <a:pt x="0" y="47"/>
                    <a:pt x="0" y="46"/>
                  </a:cubicBezTo>
                  <a:cubicBezTo>
                    <a:pt x="6" y="8"/>
                    <a:pt x="21" y="0"/>
                    <a:pt x="32" y="0"/>
                  </a:cubicBezTo>
                  <a:cubicBezTo>
                    <a:pt x="37" y="0"/>
                    <a:pt x="42" y="1"/>
                    <a:pt x="48" y="4"/>
                  </a:cubicBezTo>
                  <a:cubicBezTo>
                    <a:pt x="60" y="11"/>
                    <a:pt x="67" y="23"/>
                    <a:pt x="64" y="34"/>
                  </a:cubicBezTo>
                  <a:cubicBezTo>
                    <a:pt x="61" y="44"/>
                    <a:pt x="52" y="51"/>
                    <a:pt x="40" y="51"/>
                  </a:cubicBezTo>
                  <a:close/>
                  <a:moveTo>
                    <a:pt x="10" y="42"/>
                  </a:moveTo>
                  <a:cubicBezTo>
                    <a:pt x="40" y="42"/>
                    <a:pt x="40" y="42"/>
                    <a:pt x="40" y="42"/>
                  </a:cubicBezTo>
                  <a:cubicBezTo>
                    <a:pt x="48" y="42"/>
                    <a:pt x="53" y="38"/>
                    <a:pt x="55" y="32"/>
                  </a:cubicBezTo>
                  <a:cubicBezTo>
                    <a:pt x="56" y="26"/>
                    <a:pt x="54" y="18"/>
                    <a:pt x="44" y="12"/>
                  </a:cubicBezTo>
                  <a:cubicBezTo>
                    <a:pt x="39" y="10"/>
                    <a:pt x="35" y="9"/>
                    <a:pt x="32" y="9"/>
                  </a:cubicBezTo>
                  <a:cubicBezTo>
                    <a:pt x="19" y="9"/>
                    <a:pt x="13" y="28"/>
                    <a:pt x="10" y="42"/>
                  </a:cubicBezTo>
                  <a:close/>
                </a:path>
              </a:pathLst>
            </a:custGeom>
            <a:solidFill>
              <a:srgbClr val="16A1CA"/>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5" name="Freeform 14"/>
            <p:cNvSpPr>
              <a:spLocks noEditPoints="1"/>
            </p:cNvSpPr>
            <p:nvPr/>
          </p:nvSpPr>
          <p:spPr bwMode="auto">
            <a:xfrm>
              <a:off x="8193088" y="3402013"/>
              <a:ext cx="146050" cy="112713"/>
            </a:xfrm>
            <a:custGeom>
              <a:avLst/>
              <a:gdLst>
                <a:gd name="T0" fmla="*/ 61 w 66"/>
                <a:gd name="T1" fmla="*/ 51 h 51"/>
                <a:gd name="T2" fmla="*/ 26 w 66"/>
                <a:gd name="T3" fmla="*/ 51 h 51"/>
                <a:gd name="T4" fmla="*/ 3 w 66"/>
                <a:gd name="T5" fmla="*/ 34 h 51"/>
                <a:gd name="T6" fmla="*/ 18 w 66"/>
                <a:gd name="T7" fmla="*/ 4 h 51"/>
                <a:gd name="T8" fmla="*/ 34 w 66"/>
                <a:gd name="T9" fmla="*/ 0 h 51"/>
                <a:gd name="T10" fmla="*/ 66 w 66"/>
                <a:gd name="T11" fmla="*/ 46 h 51"/>
                <a:gd name="T12" fmla="*/ 65 w 66"/>
                <a:gd name="T13" fmla="*/ 50 h 51"/>
                <a:gd name="T14" fmla="*/ 61 w 66"/>
                <a:gd name="T15" fmla="*/ 51 h 51"/>
                <a:gd name="T16" fmla="*/ 34 w 66"/>
                <a:gd name="T17" fmla="*/ 9 h 51"/>
                <a:gd name="T18" fmla="*/ 22 w 66"/>
                <a:gd name="T19" fmla="*/ 12 h 51"/>
                <a:gd name="T20" fmla="*/ 11 w 66"/>
                <a:gd name="T21" fmla="*/ 32 h 51"/>
                <a:gd name="T22" fmla="*/ 26 w 66"/>
                <a:gd name="T23" fmla="*/ 42 h 51"/>
                <a:gd name="T24" fmla="*/ 56 w 66"/>
                <a:gd name="T25" fmla="*/ 42 h 51"/>
                <a:gd name="T26" fmla="*/ 34 w 66"/>
                <a:gd name="T27" fmla="*/ 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6" h="51">
                  <a:moveTo>
                    <a:pt x="61" y="51"/>
                  </a:moveTo>
                  <a:cubicBezTo>
                    <a:pt x="26" y="51"/>
                    <a:pt x="26" y="51"/>
                    <a:pt x="26" y="51"/>
                  </a:cubicBezTo>
                  <a:cubicBezTo>
                    <a:pt x="15" y="51"/>
                    <a:pt x="5" y="44"/>
                    <a:pt x="3" y="34"/>
                  </a:cubicBezTo>
                  <a:cubicBezTo>
                    <a:pt x="0" y="23"/>
                    <a:pt x="6" y="11"/>
                    <a:pt x="18" y="4"/>
                  </a:cubicBezTo>
                  <a:cubicBezTo>
                    <a:pt x="24" y="1"/>
                    <a:pt x="29" y="0"/>
                    <a:pt x="34" y="0"/>
                  </a:cubicBezTo>
                  <a:cubicBezTo>
                    <a:pt x="46" y="0"/>
                    <a:pt x="60" y="8"/>
                    <a:pt x="66" y="46"/>
                  </a:cubicBezTo>
                  <a:cubicBezTo>
                    <a:pt x="66" y="47"/>
                    <a:pt x="66" y="49"/>
                    <a:pt x="65" y="50"/>
                  </a:cubicBezTo>
                  <a:cubicBezTo>
                    <a:pt x="64" y="51"/>
                    <a:pt x="63" y="51"/>
                    <a:pt x="61" y="51"/>
                  </a:cubicBezTo>
                  <a:close/>
                  <a:moveTo>
                    <a:pt x="34" y="9"/>
                  </a:moveTo>
                  <a:cubicBezTo>
                    <a:pt x="31" y="9"/>
                    <a:pt x="27" y="10"/>
                    <a:pt x="22" y="12"/>
                  </a:cubicBezTo>
                  <a:cubicBezTo>
                    <a:pt x="12" y="18"/>
                    <a:pt x="10" y="26"/>
                    <a:pt x="11" y="32"/>
                  </a:cubicBezTo>
                  <a:cubicBezTo>
                    <a:pt x="13" y="38"/>
                    <a:pt x="19" y="42"/>
                    <a:pt x="26" y="42"/>
                  </a:cubicBezTo>
                  <a:cubicBezTo>
                    <a:pt x="56" y="42"/>
                    <a:pt x="56" y="42"/>
                    <a:pt x="56" y="42"/>
                  </a:cubicBezTo>
                  <a:cubicBezTo>
                    <a:pt x="53" y="28"/>
                    <a:pt x="47" y="9"/>
                    <a:pt x="34" y="9"/>
                  </a:cubicBezTo>
                  <a:close/>
                </a:path>
              </a:pathLst>
            </a:custGeom>
            <a:solidFill>
              <a:srgbClr val="16A1CA"/>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6" name="Freeform 15"/>
            <p:cNvSpPr>
              <a:spLocks noEditPoints="1"/>
            </p:cNvSpPr>
            <p:nvPr/>
          </p:nvSpPr>
          <p:spPr bwMode="auto">
            <a:xfrm>
              <a:off x="8320088" y="3495675"/>
              <a:ext cx="101600" cy="314325"/>
            </a:xfrm>
            <a:custGeom>
              <a:avLst/>
              <a:gdLst>
                <a:gd name="T0" fmla="*/ 39 w 46"/>
                <a:gd name="T1" fmla="*/ 142 h 142"/>
                <a:gd name="T2" fmla="*/ 6 w 46"/>
                <a:gd name="T3" fmla="*/ 142 h 142"/>
                <a:gd name="T4" fmla="*/ 2 w 46"/>
                <a:gd name="T5" fmla="*/ 137 h 142"/>
                <a:gd name="T6" fmla="*/ 2 w 46"/>
                <a:gd name="T7" fmla="*/ 30 h 142"/>
                <a:gd name="T8" fmla="*/ 0 w 46"/>
                <a:gd name="T9" fmla="*/ 5 h 142"/>
                <a:gd name="T10" fmla="*/ 1 w 46"/>
                <a:gd name="T11" fmla="*/ 2 h 142"/>
                <a:gd name="T12" fmla="*/ 4 w 46"/>
                <a:gd name="T13" fmla="*/ 0 h 142"/>
                <a:gd name="T14" fmla="*/ 41 w 46"/>
                <a:gd name="T15" fmla="*/ 0 h 142"/>
                <a:gd name="T16" fmla="*/ 44 w 46"/>
                <a:gd name="T17" fmla="*/ 2 h 142"/>
                <a:gd name="T18" fmla="*/ 45 w 46"/>
                <a:gd name="T19" fmla="*/ 5 h 142"/>
                <a:gd name="T20" fmla="*/ 44 w 46"/>
                <a:gd name="T21" fmla="*/ 30 h 142"/>
                <a:gd name="T22" fmla="*/ 44 w 46"/>
                <a:gd name="T23" fmla="*/ 137 h 142"/>
                <a:gd name="T24" fmla="*/ 39 w 46"/>
                <a:gd name="T25" fmla="*/ 142 h 142"/>
                <a:gd name="T26" fmla="*/ 11 w 46"/>
                <a:gd name="T27" fmla="*/ 133 h 142"/>
                <a:gd name="T28" fmla="*/ 35 w 46"/>
                <a:gd name="T29" fmla="*/ 133 h 142"/>
                <a:gd name="T30" fmla="*/ 35 w 46"/>
                <a:gd name="T31" fmla="*/ 30 h 142"/>
                <a:gd name="T32" fmla="*/ 36 w 46"/>
                <a:gd name="T33" fmla="*/ 9 h 142"/>
                <a:gd name="T34" fmla="*/ 10 w 46"/>
                <a:gd name="T35" fmla="*/ 9 h 142"/>
                <a:gd name="T36" fmla="*/ 11 w 46"/>
                <a:gd name="T37" fmla="*/ 31 h 142"/>
                <a:gd name="T38" fmla="*/ 11 w 46"/>
                <a:gd name="T39" fmla="*/ 1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 h="142">
                  <a:moveTo>
                    <a:pt x="39" y="142"/>
                  </a:moveTo>
                  <a:cubicBezTo>
                    <a:pt x="6" y="142"/>
                    <a:pt x="6" y="142"/>
                    <a:pt x="6" y="142"/>
                  </a:cubicBezTo>
                  <a:cubicBezTo>
                    <a:pt x="4" y="142"/>
                    <a:pt x="2" y="140"/>
                    <a:pt x="2" y="137"/>
                  </a:cubicBezTo>
                  <a:cubicBezTo>
                    <a:pt x="2" y="30"/>
                    <a:pt x="2" y="30"/>
                    <a:pt x="2" y="30"/>
                  </a:cubicBezTo>
                  <a:cubicBezTo>
                    <a:pt x="2" y="30"/>
                    <a:pt x="2" y="19"/>
                    <a:pt x="0" y="5"/>
                  </a:cubicBezTo>
                  <a:cubicBezTo>
                    <a:pt x="0" y="4"/>
                    <a:pt x="0" y="3"/>
                    <a:pt x="1" y="2"/>
                  </a:cubicBezTo>
                  <a:cubicBezTo>
                    <a:pt x="2" y="1"/>
                    <a:pt x="3" y="0"/>
                    <a:pt x="4" y="0"/>
                  </a:cubicBezTo>
                  <a:cubicBezTo>
                    <a:pt x="41" y="0"/>
                    <a:pt x="41" y="0"/>
                    <a:pt x="41" y="0"/>
                  </a:cubicBezTo>
                  <a:cubicBezTo>
                    <a:pt x="42" y="0"/>
                    <a:pt x="43" y="1"/>
                    <a:pt x="44" y="2"/>
                  </a:cubicBezTo>
                  <a:cubicBezTo>
                    <a:pt x="45" y="3"/>
                    <a:pt x="46" y="4"/>
                    <a:pt x="45" y="5"/>
                  </a:cubicBezTo>
                  <a:cubicBezTo>
                    <a:pt x="43" y="19"/>
                    <a:pt x="44" y="30"/>
                    <a:pt x="44" y="30"/>
                  </a:cubicBezTo>
                  <a:cubicBezTo>
                    <a:pt x="44" y="137"/>
                    <a:pt x="44" y="137"/>
                    <a:pt x="44" y="137"/>
                  </a:cubicBezTo>
                  <a:cubicBezTo>
                    <a:pt x="44" y="140"/>
                    <a:pt x="42" y="142"/>
                    <a:pt x="39" y="142"/>
                  </a:cubicBezTo>
                  <a:close/>
                  <a:moveTo>
                    <a:pt x="11" y="133"/>
                  </a:moveTo>
                  <a:cubicBezTo>
                    <a:pt x="35" y="133"/>
                    <a:pt x="35" y="133"/>
                    <a:pt x="35" y="133"/>
                  </a:cubicBezTo>
                  <a:cubicBezTo>
                    <a:pt x="35" y="30"/>
                    <a:pt x="35" y="30"/>
                    <a:pt x="35" y="30"/>
                  </a:cubicBezTo>
                  <a:cubicBezTo>
                    <a:pt x="35" y="30"/>
                    <a:pt x="34" y="21"/>
                    <a:pt x="36" y="9"/>
                  </a:cubicBezTo>
                  <a:cubicBezTo>
                    <a:pt x="10" y="9"/>
                    <a:pt x="10" y="9"/>
                    <a:pt x="10" y="9"/>
                  </a:cubicBezTo>
                  <a:cubicBezTo>
                    <a:pt x="11" y="21"/>
                    <a:pt x="11" y="30"/>
                    <a:pt x="11" y="31"/>
                  </a:cubicBezTo>
                  <a:lnTo>
                    <a:pt x="11" y="133"/>
                  </a:lnTo>
                  <a:close/>
                </a:path>
              </a:pathLst>
            </a:custGeom>
            <a:solidFill>
              <a:srgbClr val="16A1CA"/>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7" name="Freeform 16"/>
            <p:cNvSpPr>
              <a:spLocks/>
            </p:cNvSpPr>
            <p:nvPr/>
          </p:nvSpPr>
          <p:spPr bwMode="auto">
            <a:xfrm>
              <a:off x="5411788" y="3960813"/>
              <a:ext cx="2959100" cy="2897188"/>
            </a:xfrm>
            <a:custGeom>
              <a:avLst/>
              <a:gdLst>
                <a:gd name="T0" fmla="*/ 1335 w 1335"/>
                <a:gd name="T1" fmla="*/ 0 h 1309"/>
                <a:gd name="T2" fmla="*/ 1335 w 1335"/>
                <a:gd name="T3" fmla="*/ 578 h 1309"/>
                <a:gd name="T4" fmla="*/ 1215 w 1335"/>
                <a:gd name="T5" fmla="*/ 697 h 1309"/>
                <a:gd name="T6" fmla="*/ 119 w 1335"/>
                <a:gd name="T7" fmla="*/ 697 h 1309"/>
                <a:gd name="T8" fmla="*/ 0 w 1335"/>
                <a:gd name="T9" fmla="*/ 817 h 1309"/>
                <a:gd name="T10" fmla="*/ 0 w 1335"/>
                <a:gd name="T11" fmla="*/ 1309 h 1309"/>
              </a:gdLst>
              <a:ahLst/>
              <a:cxnLst>
                <a:cxn ang="0">
                  <a:pos x="T0" y="T1"/>
                </a:cxn>
                <a:cxn ang="0">
                  <a:pos x="T2" y="T3"/>
                </a:cxn>
                <a:cxn ang="0">
                  <a:pos x="T4" y="T5"/>
                </a:cxn>
                <a:cxn ang="0">
                  <a:pos x="T6" y="T7"/>
                </a:cxn>
                <a:cxn ang="0">
                  <a:pos x="T8" y="T9"/>
                </a:cxn>
                <a:cxn ang="0">
                  <a:pos x="T10" y="T11"/>
                </a:cxn>
              </a:cxnLst>
              <a:rect l="0" t="0" r="r" b="b"/>
              <a:pathLst>
                <a:path w="1335" h="1309">
                  <a:moveTo>
                    <a:pt x="1335" y="0"/>
                  </a:moveTo>
                  <a:cubicBezTo>
                    <a:pt x="1335" y="578"/>
                    <a:pt x="1335" y="578"/>
                    <a:pt x="1335" y="578"/>
                  </a:cubicBezTo>
                  <a:cubicBezTo>
                    <a:pt x="1335" y="644"/>
                    <a:pt x="1281" y="697"/>
                    <a:pt x="1215" y="697"/>
                  </a:cubicBezTo>
                  <a:cubicBezTo>
                    <a:pt x="119" y="697"/>
                    <a:pt x="119" y="697"/>
                    <a:pt x="119" y="697"/>
                  </a:cubicBezTo>
                  <a:cubicBezTo>
                    <a:pt x="53" y="697"/>
                    <a:pt x="0" y="751"/>
                    <a:pt x="0" y="817"/>
                  </a:cubicBezTo>
                  <a:cubicBezTo>
                    <a:pt x="0" y="1309"/>
                    <a:pt x="0" y="1309"/>
                    <a:pt x="0" y="1309"/>
                  </a:cubicBezTo>
                </a:path>
              </a:pathLst>
            </a:custGeom>
            <a:noFill/>
            <a:ln w="34925" cap="flat">
              <a:solidFill>
                <a:srgbClr val="16A1CA"/>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8" name="Freeform 17"/>
            <p:cNvSpPr>
              <a:spLocks/>
            </p:cNvSpPr>
            <p:nvPr/>
          </p:nvSpPr>
          <p:spPr bwMode="auto">
            <a:xfrm>
              <a:off x="6429376" y="2733675"/>
              <a:ext cx="1182688" cy="4124325"/>
            </a:xfrm>
            <a:custGeom>
              <a:avLst/>
              <a:gdLst>
                <a:gd name="T0" fmla="*/ 534 w 534"/>
                <a:gd name="T1" fmla="*/ 0 h 1863"/>
                <a:gd name="T2" fmla="*/ 534 w 534"/>
                <a:gd name="T3" fmla="*/ 275 h 1863"/>
                <a:gd name="T4" fmla="*/ 413 w 534"/>
                <a:gd name="T5" fmla="*/ 395 h 1863"/>
                <a:gd name="T6" fmla="*/ 134 w 534"/>
                <a:gd name="T7" fmla="*/ 395 h 1863"/>
                <a:gd name="T8" fmla="*/ 0 w 534"/>
                <a:gd name="T9" fmla="*/ 530 h 1863"/>
                <a:gd name="T10" fmla="*/ 0 w 534"/>
                <a:gd name="T11" fmla="*/ 1863 h 1863"/>
              </a:gdLst>
              <a:ahLst/>
              <a:cxnLst>
                <a:cxn ang="0">
                  <a:pos x="T0" y="T1"/>
                </a:cxn>
                <a:cxn ang="0">
                  <a:pos x="T2" y="T3"/>
                </a:cxn>
                <a:cxn ang="0">
                  <a:pos x="T4" y="T5"/>
                </a:cxn>
                <a:cxn ang="0">
                  <a:pos x="T6" y="T7"/>
                </a:cxn>
                <a:cxn ang="0">
                  <a:pos x="T8" y="T9"/>
                </a:cxn>
                <a:cxn ang="0">
                  <a:pos x="T10" y="T11"/>
                </a:cxn>
              </a:cxnLst>
              <a:rect l="0" t="0" r="r" b="b"/>
              <a:pathLst>
                <a:path w="534" h="1863">
                  <a:moveTo>
                    <a:pt x="534" y="0"/>
                  </a:moveTo>
                  <a:cubicBezTo>
                    <a:pt x="534" y="275"/>
                    <a:pt x="534" y="275"/>
                    <a:pt x="534" y="275"/>
                  </a:cubicBezTo>
                  <a:cubicBezTo>
                    <a:pt x="534" y="341"/>
                    <a:pt x="480" y="395"/>
                    <a:pt x="413" y="395"/>
                  </a:cubicBezTo>
                  <a:cubicBezTo>
                    <a:pt x="134" y="395"/>
                    <a:pt x="134" y="395"/>
                    <a:pt x="134" y="395"/>
                  </a:cubicBezTo>
                  <a:cubicBezTo>
                    <a:pt x="60" y="395"/>
                    <a:pt x="0" y="455"/>
                    <a:pt x="0" y="530"/>
                  </a:cubicBezTo>
                  <a:cubicBezTo>
                    <a:pt x="0" y="1863"/>
                    <a:pt x="0" y="1863"/>
                    <a:pt x="0" y="1863"/>
                  </a:cubicBezTo>
                </a:path>
              </a:pathLst>
            </a:custGeom>
            <a:noFill/>
            <a:ln w="61913" cap="flat">
              <a:solidFill>
                <a:srgbClr val="EEA720"/>
              </a:solidFill>
              <a:prstDash val="solid"/>
              <a:miter lim="800000"/>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39" name="Freeform 18"/>
            <p:cNvSpPr>
              <a:spLocks noEditPoints="1"/>
            </p:cNvSpPr>
            <p:nvPr/>
          </p:nvSpPr>
          <p:spPr bwMode="auto">
            <a:xfrm>
              <a:off x="7477126" y="2546350"/>
              <a:ext cx="260350" cy="157163"/>
            </a:xfrm>
            <a:custGeom>
              <a:avLst/>
              <a:gdLst>
                <a:gd name="T0" fmla="*/ 107 w 117"/>
                <a:gd name="T1" fmla="*/ 0 h 71"/>
                <a:gd name="T2" fmla="*/ 10 w 117"/>
                <a:gd name="T3" fmla="*/ 0 h 71"/>
                <a:gd name="T4" fmla="*/ 0 w 117"/>
                <a:gd name="T5" fmla="*/ 10 h 71"/>
                <a:gd name="T6" fmla="*/ 0 w 117"/>
                <a:gd name="T7" fmla="*/ 61 h 71"/>
                <a:gd name="T8" fmla="*/ 10 w 117"/>
                <a:gd name="T9" fmla="*/ 71 h 71"/>
                <a:gd name="T10" fmla="*/ 107 w 117"/>
                <a:gd name="T11" fmla="*/ 71 h 71"/>
                <a:gd name="T12" fmla="*/ 117 w 117"/>
                <a:gd name="T13" fmla="*/ 61 h 71"/>
                <a:gd name="T14" fmla="*/ 117 w 117"/>
                <a:gd name="T15" fmla="*/ 10 h 71"/>
                <a:gd name="T16" fmla="*/ 107 w 117"/>
                <a:gd name="T17" fmla="*/ 0 h 71"/>
                <a:gd name="T18" fmla="*/ 102 w 117"/>
                <a:gd name="T19" fmla="*/ 49 h 71"/>
                <a:gd name="T20" fmla="*/ 105 w 117"/>
                <a:gd name="T21" fmla="*/ 55 h 71"/>
                <a:gd name="T22" fmla="*/ 100 w 117"/>
                <a:gd name="T23" fmla="*/ 59 h 71"/>
                <a:gd name="T24" fmla="*/ 17 w 117"/>
                <a:gd name="T25" fmla="*/ 59 h 71"/>
                <a:gd name="T26" fmla="*/ 12 w 117"/>
                <a:gd name="T27" fmla="*/ 54 h 71"/>
                <a:gd name="T28" fmla="*/ 17 w 117"/>
                <a:gd name="T29" fmla="*/ 49 h 71"/>
                <a:gd name="T30" fmla="*/ 74 w 117"/>
                <a:gd name="T31" fmla="*/ 49 h 71"/>
                <a:gd name="T32" fmla="*/ 15 w 117"/>
                <a:gd name="T33" fmla="*/ 24 h 71"/>
                <a:gd name="T34" fmla="*/ 12 w 117"/>
                <a:gd name="T35" fmla="*/ 18 h 71"/>
                <a:gd name="T36" fmla="*/ 17 w 117"/>
                <a:gd name="T37" fmla="*/ 14 h 71"/>
                <a:gd name="T38" fmla="*/ 100 w 117"/>
                <a:gd name="T39" fmla="*/ 14 h 71"/>
                <a:gd name="T40" fmla="*/ 105 w 117"/>
                <a:gd name="T41" fmla="*/ 19 h 71"/>
                <a:gd name="T42" fmla="*/ 100 w 117"/>
                <a:gd name="T43" fmla="*/ 24 h 71"/>
                <a:gd name="T44" fmla="*/ 43 w 117"/>
                <a:gd name="T45" fmla="*/ 24 h 71"/>
                <a:gd name="T46" fmla="*/ 102 w 117"/>
                <a:gd name="T47" fmla="*/ 4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71">
                  <a:moveTo>
                    <a:pt x="107" y="0"/>
                  </a:moveTo>
                  <a:cubicBezTo>
                    <a:pt x="10" y="0"/>
                    <a:pt x="10" y="0"/>
                    <a:pt x="10" y="0"/>
                  </a:cubicBezTo>
                  <a:cubicBezTo>
                    <a:pt x="5" y="0"/>
                    <a:pt x="0" y="5"/>
                    <a:pt x="0" y="10"/>
                  </a:cubicBezTo>
                  <a:cubicBezTo>
                    <a:pt x="0" y="61"/>
                    <a:pt x="0" y="61"/>
                    <a:pt x="0" y="61"/>
                  </a:cubicBezTo>
                  <a:cubicBezTo>
                    <a:pt x="0" y="67"/>
                    <a:pt x="5" y="71"/>
                    <a:pt x="10" y="71"/>
                  </a:cubicBezTo>
                  <a:cubicBezTo>
                    <a:pt x="107" y="71"/>
                    <a:pt x="107" y="71"/>
                    <a:pt x="107" y="71"/>
                  </a:cubicBezTo>
                  <a:cubicBezTo>
                    <a:pt x="112" y="71"/>
                    <a:pt x="117" y="67"/>
                    <a:pt x="117" y="61"/>
                  </a:cubicBezTo>
                  <a:cubicBezTo>
                    <a:pt x="117" y="10"/>
                    <a:pt x="117" y="10"/>
                    <a:pt x="117" y="10"/>
                  </a:cubicBezTo>
                  <a:cubicBezTo>
                    <a:pt x="117" y="5"/>
                    <a:pt x="112" y="0"/>
                    <a:pt x="107" y="0"/>
                  </a:cubicBezTo>
                  <a:close/>
                  <a:moveTo>
                    <a:pt x="102" y="49"/>
                  </a:moveTo>
                  <a:cubicBezTo>
                    <a:pt x="104" y="50"/>
                    <a:pt x="106" y="53"/>
                    <a:pt x="105" y="55"/>
                  </a:cubicBezTo>
                  <a:cubicBezTo>
                    <a:pt x="105" y="58"/>
                    <a:pt x="102" y="59"/>
                    <a:pt x="100" y="59"/>
                  </a:cubicBezTo>
                  <a:cubicBezTo>
                    <a:pt x="17" y="59"/>
                    <a:pt x="17" y="59"/>
                    <a:pt x="17" y="59"/>
                  </a:cubicBezTo>
                  <a:cubicBezTo>
                    <a:pt x="14" y="59"/>
                    <a:pt x="12" y="57"/>
                    <a:pt x="12" y="54"/>
                  </a:cubicBezTo>
                  <a:cubicBezTo>
                    <a:pt x="12" y="51"/>
                    <a:pt x="14" y="49"/>
                    <a:pt x="17" y="49"/>
                  </a:cubicBezTo>
                  <a:cubicBezTo>
                    <a:pt x="74" y="49"/>
                    <a:pt x="74" y="49"/>
                    <a:pt x="74" y="49"/>
                  </a:cubicBezTo>
                  <a:cubicBezTo>
                    <a:pt x="15" y="24"/>
                    <a:pt x="15" y="24"/>
                    <a:pt x="15" y="24"/>
                  </a:cubicBezTo>
                  <a:cubicBezTo>
                    <a:pt x="13" y="23"/>
                    <a:pt x="11" y="20"/>
                    <a:pt x="12" y="18"/>
                  </a:cubicBezTo>
                  <a:cubicBezTo>
                    <a:pt x="12" y="16"/>
                    <a:pt x="15" y="14"/>
                    <a:pt x="17" y="14"/>
                  </a:cubicBezTo>
                  <a:cubicBezTo>
                    <a:pt x="100" y="14"/>
                    <a:pt x="100" y="14"/>
                    <a:pt x="100" y="14"/>
                  </a:cubicBezTo>
                  <a:cubicBezTo>
                    <a:pt x="103" y="14"/>
                    <a:pt x="105" y="16"/>
                    <a:pt x="105" y="19"/>
                  </a:cubicBezTo>
                  <a:cubicBezTo>
                    <a:pt x="105" y="22"/>
                    <a:pt x="103" y="24"/>
                    <a:pt x="100" y="24"/>
                  </a:cubicBezTo>
                  <a:cubicBezTo>
                    <a:pt x="43" y="24"/>
                    <a:pt x="43" y="24"/>
                    <a:pt x="43" y="24"/>
                  </a:cubicBezTo>
                  <a:lnTo>
                    <a:pt x="102" y="49"/>
                  </a:lnTo>
                  <a:close/>
                </a:path>
              </a:pathLst>
            </a:custGeom>
            <a:solidFill>
              <a:srgbClr val="EEA720"/>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0" name="Freeform 19"/>
            <p:cNvSpPr>
              <a:spLocks/>
            </p:cNvSpPr>
            <p:nvPr/>
          </p:nvSpPr>
          <p:spPr bwMode="auto">
            <a:xfrm>
              <a:off x="7543801" y="2722563"/>
              <a:ext cx="127000" cy="28575"/>
            </a:xfrm>
            <a:custGeom>
              <a:avLst/>
              <a:gdLst>
                <a:gd name="T0" fmla="*/ 0 w 57"/>
                <a:gd name="T1" fmla="*/ 0 h 13"/>
                <a:gd name="T2" fmla="*/ 29 w 57"/>
                <a:gd name="T3" fmla="*/ 13 h 13"/>
                <a:gd name="T4" fmla="*/ 57 w 57"/>
                <a:gd name="T5" fmla="*/ 0 h 13"/>
                <a:gd name="T6" fmla="*/ 0 w 57"/>
                <a:gd name="T7" fmla="*/ 0 h 13"/>
              </a:gdLst>
              <a:ahLst/>
              <a:cxnLst>
                <a:cxn ang="0">
                  <a:pos x="T0" y="T1"/>
                </a:cxn>
                <a:cxn ang="0">
                  <a:pos x="T2" y="T3"/>
                </a:cxn>
                <a:cxn ang="0">
                  <a:pos x="T4" y="T5"/>
                </a:cxn>
                <a:cxn ang="0">
                  <a:pos x="T6" y="T7"/>
                </a:cxn>
              </a:cxnLst>
              <a:rect l="0" t="0" r="r" b="b"/>
              <a:pathLst>
                <a:path w="57" h="13">
                  <a:moveTo>
                    <a:pt x="0" y="0"/>
                  </a:moveTo>
                  <a:cubicBezTo>
                    <a:pt x="7" y="8"/>
                    <a:pt x="17" y="13"/>
                    <a:pt x="29" y="13"/>
                  </a:cubicBezTo>
                  <a:cubicBezTo>
                    <a:pt x="40" y="13"/>
                    <a:pt x="50" y="8"/>
                    <a:pt x="57" y="0"/>
                  </a:cubicBezTo>
                  <a:lnTo>
                    <a:pt x="0" y="0"/>
                  </a:lnTo>
                  <a:close/>
                </a:path>
              </a:pathLst>
            </a:custGeom>
            <a:solidFill>
              <a:srgbClr val="EEA720"/>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1" name="Freeform 20"/>
            <p:cNvSpPr>
              <a:spLocks noEditPoints="1"/>
            </p:cNvSpPr>
            <p:nvPr/>
          </p:nvSpPr>
          <p:spPr bwMode="auto">
            <a:xfrm>
              <a:off x="7258051" y="1735138"/>
              <a:ext cx="698500" cy="788988"/>
            </a:xfrm>
            <a:custGeom>
              <a:avLst/>
              <a:gdLst>
                <a:gd name="T0" fmla="*/ 158 w 315"/>
                <a:gd name="T1" fmla="*/ 0 h 356"/>
                <a:gd name="T2" fmla="*/ 0 w 315"/>
                <a:gd name="T3" fmla="*/ 158 h 356"/>
                <a:gd name="T4" fmla="*/ 99 w 315"/>
                <a:gd name="T5" fmla="*/ 305 h 356"/>
                <a:gd name="T6" fmla="*/ 99 w 315"/>
                <a:gd name="T7" fmla="*/ 346 h 356"/>
                <a:gd name="T8" fmla="*/ 109 w 315"/>
                <a:gd name="T9" fmla="*/ 356 h 356"/>
                <a:gd name="T10" fmla="*/ 206 w 315"/>
                <a:gd name="T11" fmla="*/ 356 h 356"/>
                <a:gd name="T12" fmla="*/ 216 w 315"/>
                <a:gd name="T13" fmla="*/ 346 h 356"/>
                <a:gd name="T14" fmla="*/ 216 w 315"/>
                <a:gd name="T15" fmla="*/ 305 h 356"/>
                <a:gd name="T16" fmla="*/ 315 w 315"/>
                <a:gd name="T17" fmla="*/ 158 h 356"/>
                <a:gd name="T18" fmla="*/ 158 w 315"/>
                <a:gd name="T19" fmla="*/ 0 h 356"/>
                <a:gd name="T20" fmla="*/ 149 w 315"/>
                <a:gd name="T21" fmla="*/ 250 h 356"/>
                <a:gd name="T22" fmla="*/ 149 w 315"/>
                <a:gd name="T23" fmla="*/ 182 h 356"/>
                <a:gd name="T24" fmla="*/ 128 w 315"/>
                <a:gd name="T25" fmla="*/ 182 h 356"/>
                <a:gd name="T26" fmla="*/ 166 w 315"/>
                <a:gd name="T27" fmla="*/ 91 h 356"/>
                <a:gd name="T28" fmla="*/ 166 w 315"/>
                <a:gd name="T29" fmla="*/ 159 h 356"/>
                <a:gd name="T30" fmla="*/ 187 w 315"/>
                <a:gd name="T31" fmla="*/ 159 h 356"/>
                <a:gd name="T32" fmla="*/ 149 w 315"/>
                <a:gd name="T33" fmla="*/ 25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5" h="356">
                  <a:moveTo>
                    <a:pt x="158" y="0"/>
                  </a:moveTo>
                  <a:cubicBezTo>
                    <a:pt x="70" y="0"/>
                    <a:pt x="0" y="70"/>
                    <a:pt x="0" y="158"/>
                  </a:cubicBezTo>
                  <a:cubicBezTo>
                    <a:pt x="0" y="224"/>
                    <a:pt x="41" y="281"/>
                    <a:pt x="99" y="305"/>
                  </a:cubicBezTo>
                  <a:cubicBezTo>
                    <a:pt x="99" y="346"/>
                    <a:pt x="99" y="346"/>
                    <a:pt x="99" y="346"/>
                  </a:cubicBezTo>
                  <a:cubicBezTo>
                    <a:pt x="99" y="352"/>
                    <a:pt x="104" y="356"/>
                    <a:pt x="109" y="356"/>
                  </a:cubicBezTo>
                  <a:cubicBezTo>
                    <a:pt x="206" y="356"/>
                    <a:pt x="206" y="356"/>
                    <a:pt x="206" y="356"/>
                  </a:cubicBezTo>
                  <a:cubicBezTo>
                    <a:pt x="212" y="356"/>
                    <a:pt x="216" y="352"/>
                    <a:pt x="216" y="346"/>
                  </a:cubicBezTo>
                  <a:cubicBezTo>
                    <a:pt x="216" y="305"/>
                    <a:pt x="216" y="305"/>
                    <a:pt x="216" y="305"/>
                  </a:cubicBezTo>
                  <a:cubicBezTo>
                    <a:pt x="274" y="281"/>
                    <a:pt x="315" y="224"/>
                    <a:pt x="315" y="158"/>
                  </a:cubicBezTo>
                  <a:cubicBezTo>
                    <a:pt x="315" y="70"/>
                    <a:pt x="245" y="0"/>
                    <a:pt x="158" y="0"/>
                  </a:cubicBezTo>
                  <a:close/>
                  <a:moveTo>
                    <a:pt x="149" y="250"/>
                  </a:moveTo>
                  <a:cubicBezTo>
                    <a:pt x="149" y="182"/>
                    <a:pt x="149" y="182"/>
                    <a:pt x="149" y="182"/>
                  </a:cubicBezTo>
                  <a:cubicBezTo>
                    <a:pt x="128" y="182"/>
                    <a:pt x="128" y="182"/>
                    <a:pt x="128" y="182"/>
                  </a:cubicBezTo>
                  <a:cubicBezTo>
                    <a:pt x="166" y="91"/>
                    <a:pt x="166" y="91"/>
                    <a:pt x="166" y="91"/>
                  </a:cubicBezTo>
                  <a:cubicBezTo>
                    <a:pt x="166" y="159"/>
                    <a:pt x="166" y="159"/>
                    <a:pt x="166" y="159"/>
                  </a:cubicBezTo>
                  <a:cubicBezTo>
                    <a:pt x="187" y="159"/>
                    <a:pt x="187" y="159"/>
                    <a:pt x="187" y="159"/>
                  </a:cubicBezTo>
                  <a:lnTo>
                    <a:pt x="149" y="250"/>
                  </a:lnTo>
                  <a:close/>
                </a:path>
              </a:pathLst>
            </a:custGeom>
            <a:solidFill>
              <a:srgbClr val="EEA720"/>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2" name="Line 21"/>
            <p:cNvSpPr>
              <a:spLocks noChangeShapeType="1"/>
            </p:cNvSpPr>
            <p:nvPr/>
          </p:nvSpPr>
          <p:spPr bwMode="auto">
            <a:xfrm>
              <a:off x="6724651" y="6858000"/>
              <a:ext cx="0" cy="0"/>
            </a:xfrm>
            <a:prstGeom prst="line">
              <a:avLst/>
            </a:prstGeom>
            <a:noFill/>
            <a:ln w="46038" cap="flat">
              <a:solidFill>
                <a:srgbClr val="00BCD4"/>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3" name="Freeform 22"/>
            <p:cNvSpPr>
              <a:spLocks/>
            </p:cNvSpPr>
            <p:nvPr/>
          </p:nvSpPr>
          <p:spPr bwMode="auto">
            <a:xfrm>
              <a:off x="3665538" y="3743325"/>
              <a:ext cx="228600" cy="31750"/>
            </a:xfrm>
            <a:custGeom>
              <a:avLst/>
              <a:gdLst>
                <a:gd name="T0" fmla="*/ 97 w 103"/>
                <a:gd name="T1" fmla="*/ 14 h 14"/>
                <a:gd name="T2" fmla="*/ 7 w 103"/>
                <a:gd name="T3" fmla="*/ 14 h 14"/>
                <a:gd name="T4" fmla="*/ 0 w 103"/>
                <a:gd name="T5" fmla="*/ 7 h 14"/>
                <a:gd name="T6" fmla="*/ 0 w 103"/>
                <a:gd name="T7" fmla="*/ 7 h 14"/>
                <a:gd name="T8" fmla="*/ 7 w 103"/>
                <a:gd name="T9" fmla="*/ 0 h 14"/>
                <a:gd name="T10" fmla="*/ 97 w 103"/>
                <a:gd name="T11" fmla="*/ 0 h 14"/>
                <a:gd name="T12" fmla="*/ 103 w 103"/>
                <a:gd name="T13" fmla="*/ 7 h 14"/>
                <a:gd name="T14" fmla="*/ 103 w 103"/>
                <a:gd name="T15" fmla="*/ 7 h 14"/>
                <a:gd name="T16" fmla="*/ 97 w 103"/>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
                  <a:moveTo>
                    <a:pt x="97" y="14"/>
                  </a:moveTo>
                  <a:cubicBezTo>
                    <a:pt x="7" y="14"/>
                    <a:pt x="7" y="14"/>
                    <a:pt x="7" y="14"/>
                  </a:cubicBezTo>
                  <a:cubicBezTo>
                    <a:pt x="3" y="14"/>
                    <a:pt x="0" y="11"/>
                    <a:pt x="0" y="7"/>
                  </a:cubicBezTo>
                  <a:cubicBezTo>
                    <a:pt x="0" y="7"/>
                    <a:pt x="0" y="7"/>
                    <a:pt x="0" y="7"/>
                  </a:cubicBezTo>
                  <a:cubicBezTo>
                    <a:pt x="0" y="3"/>
                    <a:pt x="3" y="0"/>
                    <a:pt x="7" y="0"/>
                  </a:cubicBezTo>
                  <a:cubicBezTo>
                    <a:pt x="97" y="0"/>
                    <a:pt x="97" y="0"/>
                    <a:pt x="97" y="0"/>
                  </a:cubicBezTo>
                  <a:cubicBezTo>
                    <a:pt x="100" y="0"/>
                    <a:pt x="103" y="3"/>
                    <a:pt x="103" y="7"/>
                  </a:cubicBezTo>
                  <a:cubicBezTo>
                    <a:pt x="103" y="7"/>
                    <a:pt x="103" y="7"/>
                    <a:pt x="103" y="7"/>
                  </a:cubicBezTo>
                  <a:cubicBezTo>
                    <a:pt x="103" y="11"/>
                    <a:pt x="100" y="14"/>
                    <a:pt x="97" y="14"/>
                  </a:cubicBezTo>
                  <a:close/>
                </a:path>
              </a:pathLst>
            </a:custGeom>
            <a:solidFill>
              <a:srgbClr val="EEA720"/>
            </a:solidFill>
            <a:ln w="9525">
              <a:no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4" name="Freeform 23"/>
            <p:cNvSpPr>
              <a:spLocks/>
            </p:cNvSpPr>
            <p:nvPr/>
          </p:nvSpPr>
          <p:spPr bwMode="auto">
            <a:xfrm>
              <a:off x="3703638" y="3786188"/>
              <a:ext cx="153988" cy="28575"/>
            </a:xfrm>
            <a:custGeom>
              <a:avLst/>
              <a:gdLst>
                <a:gd name="T0" fmla="*/ 63 w 69"/>
                <a:gd name="T1" fmla="*/ 13 h 13"/>
                <a:gd name="T2" fmla="*/ 6 w 69"/>
                <a:gd name="T3" fmla="*/ 13 h 13"/>
                <a:gd name="T4" fmla="*/ 0 w 69"/>
                <a:gd name="T5" fmla="*/ 8 h 13"/>
                <a:gd name="T6" fmla="*/ 0 w 69"/>
                <a:gd name="T7" fmla="*/ 5 h 13"/>
                <a:gd name="T8" fmla="*/ 6 w 69"/>
                <a:gd name="T9" fmla="*/ 0 h 13"/>
                <a:gd name="T10" fmla="*/ 63 w 69"/>
                <a:gd name="T11" fmla="*/ 0 h 13"/>
                <a:gd name="T12" fmla="*/ 69 w 69"/>
                <a:gd name="T13" fmla="*/ 5 h 13"/>
                <a:gd name="T14" fmla="*/ 69 w 69"/>
                <a:gd name="T15" fmla="*/ 8 h 13"/>
                <a:gd name="T16" fmla="*/ 63 w 69"/>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13">
                  <a:moveTo>
                    <a:pt x="63" y="13"/>
                  </a:moveTo>
                  <a:cubicBezTo>
                    <a:pt x="6" y="13"/>
                    <a:pt x="6" y="13"/>
                    <a:pt x="6" y="13"/>
                  </a:cubicBezTo>
                  <a:cubicBezTo>
                    <a:pt x="3" y="13"/>
                    <a:pt x="0" y="11"/>
                    <a:pt x="0" y="8"/>
                  </a:cubicBezTo>
                  <a:cubicBezTo>
                    <a:pt x="0" y="5"/>
                    <a:pt x="0" y="5"/>
                    <a:pt x="0" y="5"/>
                  </a:cubicBezTo>
                  <a:cubicBezTo>
                    <a:pt x="0" y="2"/>
                    <a:pt x="3" y="0"/>
                    <a:pt x="6" y="0"/>
                  </a:cubicBezTo>
                  <a:cubicBezTo>
                    <a:pt x="63" y="0"/>
                    <a:pt x="63" y="0"/>
                    <a:pt x="63" y="0"/>
                  </a:cubicBezTo>
                  <a:cubicBezTo>
                    <a:pt x="67" y="0"/>
                    <a:pt x="69" y="2"/>
                    <a:pt x="69" y="5"/>
                  </a:cubicBezTo>
                  <a:cubicBezTo>
                    <a:pt x="69" y="8"/>
                    <a:pt x="69" y="8"/>
                    <a:pt x="69" y="8"/>
                  </a:cubicBezTo>
                  <a:cubicBezTo>
                    <a:pt x="69" y="11"/>
                    <a:pt x="67" y="13"/>
                    <a:pt x="63" y="13"/>
                  </a:cubicBezTo>
                  <a:close/>
                </a:path>
              </a:pathLst>
            </a:custGeom>
            <a:solidFill>
              <a:srgbClr val="EEA720"/>
            </a:solidFill>
            <a:ln w="9525">
              <a:no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5" name="Freeform 24"/>
            <p:cNvSpPr>
              <a:spLocks/>
            </p:cNvSpPr>
            <p:nvPr/>
          </p:nvSpPr>
          <p:spPr bwMode="auto">
            <a:xfrm>
              <a:off x="3665538" y="3702050"/>
              <a:ext cx="228600" cy="30163"/>
            </a:xfrm>
            <a:custGeom>
              <a:avLst/>
              <a:gdLst>
                <a:gd name="T0" fmla="*/ 97 w 103"/>
                <a:gd name="T1" fmla="*/ 14 h 14"/>
                <a:gd name="T2" fmla="*/ 7 w 103"/>
                <a:gd name="T3" fmla="*/ 14 h 14"/>
                <a:gd name="T4" fmla="*/ 0 w 103"/>
                <a:gd name="T5" fmla="*/ 7 h 14"/>
                <a:gd name="T6" fmla="*/ 0 w 103"/>
                <a:gd name="T7" fmla="*/ 7 h 14"/>
                <a:gd name="T8" fmla="*/ 7 w 103"/>
                <a:gd name="T9" fmla="*/ 0 h 14"/>
                <a:gd name="T10" fmla="*/ 97 w 103"/>
                <a:gd name="T11" fmla="*/ 0 h 14"/>
                <a:gd name="T12" fmla="*/ 103 w 103"/>
                <a:gd name="T13" fmla="*/ 7 h 14"/>
                <a:gd name="T14" fmla="*/ 103 w 103"/>
                <a:gd name="T15" fmla="*/ 7 h 14"/>
                <a:gd name="T16" fmla="*/ 97 w 103"/>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
                  <a:moveTo>
                    <a:pt x="97" y="14"/>
                  </a:moveTo>
                  <a:cubicBezTo>
                    <a:pt x="7" y="14"/>
                    <a:pt x="7" y="14"/>
                    <a:pt x="7" y="14"/>
                  </a:cubicBezTo>
                  <a:cubicBezTo>
                    <a:pt x="3" y="14"/>
                    <a:pt x="0" y="11"/>
                    <a:pt x="0" y="7"/>
                  </a:cubicBezTo>
                  <a:cubicBezTo>
                    <a:pt x="0" y="7"/>
                    <a:pt x="0" y="7"/>
                    <a:pt x="0" y="7"/>
                  </a:cubicBezTo>
                  <a:cubicBezTo>
                    <a:pt x="0" y="3"/>
                    <a:pt x="3" y="0"/>
                    <a:pt x="7" y="0"/>
                  </a:cubicBezTo>
                  <a:cubicBezTo>
                    <a:pt x="97" y="0"/>
                    <a:pt x="97" y="0"/>
                    <a:pt x="97" y="0"/>
                  </a:cubicBezTo>
                  <a:cubicBezTo>
                    <a:pt x="100" y="0"/>
                    <a:pt x="103" y="3"/>
                    <a:pt x="103" y="7"/>
                  </a:cubicBezTo>
                  <a:cubicBezTo>
                    <a:pt x="103" y="7"/>
                    <a:pt x="103" y="7"/>
                    <a:pt x="103" y="7"/>
                  </a:cubicBezTo>
                  <a:cubicBezTo>
                    <a:pt x="103" y="11"/>
                    <a:pt x="100" y="14"/>
                    <a:pt x="97" y="14"/>
                  </a:cubicBezTo>
                  <a:close/>
                </a:path>
              </a:pathLst>
            </a:custGeom>
            <a:solidFill>
              <a:srgbClr val="EEA720"/>
            </a:solidFill>
            <a:ln w="9525">
              <a:no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6" name="Freeform 25"/>
            <p:cNvSpPr>
              <a:spLocks/>
            </p:cNvSpPr>
            <p:nvPr/>
          </p:nvSpPr>
          <p:spPr bwMode="auto">
            <a:xfrm>
              <a:off x="3692526" y="3433763"/>
              <a:ext cx="177800" cy="247650"/>
            </a:xfrm>
            <a:custGeom>
              <a:avLst/>
              <a:gdLst>
                <a:gd name="T0" fmla="*/ 50 w 80"/>
                <a:gd name="T1" fmla="*/ 112 h 112"/>
                <a:gd name="T2" fmla="*/ 46 w 80"/>
                <a:gd name="T3" fmla="*/ 108 h 112"/>
                <a:gd name="T4" fmla="*/ 46 w 80"/>
                <a:gd name="T5" fmla="*/ 53 h 112"/>
                <a:gd name="T6" fmla="*/ 46 w 80"/>
                <a:gd name="T7" fmla="*/ 51 h 112"/>
                <a:gd name="T8" fmla="*/ 69 w 80"/>
                <a:gd name="T9" fmla="*/ 8 h 112"/>
                <a:gd name="T10" fmla="*/ 11 w 80"/>
                <a:gd name="T11" fmla="*/ 8 h 112"/>
                <a:gd name="T12" fmla="*/ 33 w 80"/>
                <a:gd name="T13" fmla="*/ 51 h 112"/>
                <a:gd name="T14" fmla="*/ 34 w 80"/>
                <a:gd name="T15" fmla="*/ 53 h 112"/>
                <a:gd name="T16" fmla="*/ 34 w 80"/>
                <a:gd name="T17" fmla="*/ 108 h 112"/>
                <a:gd name="T18" fmla="*/ 29 w 80"/>
                <a:gd name="T19" fmla="*/ 112 h 112"/>
                <a:gd name="T20" fmla="*/ 25 w 80"/>
                <a:gd name="T21" fmla="*/ 108 h 112"/>
                <a:gd name="T22" fmla="*/ 25 w 80"/>
                <a:gd name="T23" fmla="*/ 54 h 112"/>
                <a:gd name="T24" fmla="*/ 0 w 80"/>
                <a:gd name="T25" fmla="*/ 6 h 112"/>
                <a:gd name="T26" fmla="*/ 0 w 80"/>
                <a:gd name="T27" fmla="*/ 2 h 112"/>
                <a:gd name="T28" fmla="*/ 4 w 80"/>
                <a:gd name="T29" fmla="*/ 0 h 112"/>
                <a:gd name="T30" fmla="*/ 75 w 80"/>
                <a:gd name="T31" fmla="*/ 0 h 112"/>
                <a:gd name="T32" fmla="*/ 79 w 80"/>
                <a:gd name="T33" fmla="*/ 2 h 112"/>
                <a:gd name="T34" fmla="*/ 79 w 80"/>
                <a:gd name="T35" fmla="*/ 6 h 112"/>
                <a:gd name="T36" fmla="*/ 54 w 80"/>
                <a:gd name="T37" fmla="*/ 54 h 112"/>
                <a:gd name="T38" fmla="*/ 54 w 80"/>
                <a:gd name="T39" fmla="*/ 108 h 112"/>
                <a:gd name="T40" fmla="*/ 50 w 80"/>
                <a:gd name="T41" fmla="*/ 1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0" h="112">
                  <a:moveTo>
                    <a:pt x="50" y="112"/>
                  </a:moveTo>
                  <a:cubicBezTo>
                    <a:pt x="48" y="112"/>
                    <a:pt x="46" y="110"/>
                    <a:pt x="46" y="108"/>
                  </a:cubicBezTo>
                  <a:cubicBezTo>
                    <a:pt x="46" y="53"/>
                    <a:pt x="46" y="53"/>
                    <a:pt x="46" y="53"/>
                  </a:cubicBezTo>
                  <a:cubicBezTo>
                    <a:pt x="46" y="52"/>
                    <a:pt x="46" y="51"/>
                    <a:pt x="46" y="51"/>
                  </a:cubicBezTo>
                  <a:cubicBezTo>
                    <a:pt x="69" y="8"/>
                    <a:pt x="69" y="8"/>
                    <a:pt x="69" y="8"/>
                  </a:cubicBezTo>
                  <a:cubicBezTo>
                    <a:pt x="11" y="8"/>
                    <a:pt x="11" y="8"/>
                    <a:pt x="11" y="8"/>
                  </a:cubicBezTo>
                  <a:cubicBezTo>
                    <a:pt x="33" y="51"/>
                    <a:pt x="33" y="51"/>
                    <a:pt x="33" y="51"/>
                  </a:cubicBezTo>
                  <a:cubicBezTo>
                    <a:pt x="33" y="51"/>
                    <a:pt x="34" y="52"/>
                    <a:pt x="34" y="53"/>
                  </a:cubicBezTo>
                  <a:cubicBezTo>
                    <a:pt x="34" y="108"/>
                    <a:pt x="34" y="108"/>
                    <a:pt x="34" y="108"/>
                  </a:cubicBezTo>
                  <a:cubicBezTo>
                    <a:pt x="34" y="110"/>
                    <a:pt x="32" y="112"/>
                    <a:pt x="29" y="112"/>
                  </a:cubicBezTo>
                  <a:cubicBezTo>
                    <a:pt x="27" y="112"/>
                    <a:pt x="25" y="110"/>
                    <a:pt x="25" y="108"/>
                  </a:cubicBezTo>
                  <a:cubicBezTo>
                    <a:pt x="25" y="54"/>
                    <a:pt x="25" y="54"/>
                    <a:pt x="25" y="54"/>
                  </a:cubicBezTo>
                  <a:cubicBezTo>
                    <a:pt x="0" y="6"/>
                    <a:pt x="0" y="6"/>
                    <a:pt x="0" y="6"/>
                  </a:cubicBezTo>
                  <a:cubicBezTo>
                    <a:pt x="0" y="5"/>
                    <a:pt x="0" y="3"/>
                    <a:pt x="0" y="2"/>
                  </a:cubicBezTo>
                  <a:cubicBezTo>
                    <a:pt x="1" y="1"/>
                    <a:pt x="3" y="0"/>
                    <a:pt x="4" y="0"/>
                  </a:cubicBezTo>
                  <a:cubicBezTo>
                    <a:pt x="75" y="0"/>
                    <a:pt x="75" y="0"/>
                    <a:pt x="75" y="0"/>
                  </a:cubicBezTo>
                  <a:cubicBezTo>
                    <a:pt x="77" y="0"/>
                    <a:pt x="78" y="1"/>
                    <a:pt x="79" y="2"/>
                  </a:cubicBezTo>
                  <a:cubicBezTo>
                    <a:pt x="80" y="3"/>
                    <a:pt x="80" y="5"/>
                    <a:pt x="79" y="6"/>
                  </a:cubicBezTo>
                  <a:cubicBezTo>
                    <a:pt x="54" y="54"/>
                    <a:pt x="54" y="54"/>
                    <a:pt x="54" y="54"/>
                  </a:cubicBezTo>
                  <a:cubicBezTo>
                    <a:pt x="54" y="108"/>
                    <a:pt x="54" y="108"/>
                    <a:pt x="54" y="108"/>
                  </a:cubicBezTo>
                  <a:cubicBezTo>
                    <a:pt x="54" y="110"/>
                    <a:pt x="52" y="112"/>
                    <a:pt x="50" y="112"/>
                  </a:cubicBezTo>
                  <a:close/>
                </a:path>
              </a:pathLst>
            </a:custGeom>
            <a:solidFill>
              <a:srgbClr val="EEA720"/>
            </a:solidFill>
            <a:ln w="9525">
              <a:no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7" name="Freeform 26"/>
            <p:cNvSpPr>
              <a:spLocks noEditPoints="1"/>
            </p:cNvSpPr>
            <p:nvPr/>
          </p:nvSpPr>
          <p:spPr bwMode="auto">
            <a:xfrm>
              <a:off x="3506788" y="3014663"/>
              <a:ext cx="547688" cy="666750"/>
            </a:xfrm>
            <a:custGeom>
              <a:avLst/>
              <a:gdLst>
                <a:gd name="T0" fmla="*/ 166 w 247"/>
                <a:gd name="T1" fmla="*/ 301 h 301"/>
                <a:gd name="T2" fmla="*/ 81 w 247"/>
                <a:gd name="T3" fmla="*/ 301 h 301"/>
                <a:gd name="T4" fmla="*/ 70 w 247"/>
                <a:gd name="T5" fmla="*/ 290 h 301"/>
                <a:gd name="T6" fmla="*/ 35 w 247"/>
                <a:gd name="T7" fmla="*/ 205 h 301"/>
                <a:gd name="T8" fmla="*/ 0 w 247"/>
                <a:gd name="T9" fmla="*/ 112 h 301"/>
                <a:gd name="T10" fmla="*/ 124 w 247"/>
                <a:gd name="T11" fmla="*/ 0 h 301"/>
                <a:gd name="T12" fmla="*/ 247 w 247"/>
                <a:gd name="T13" fmla="*/ 112 h 301"/>
                <a:gd name="T14" fmla="*/ 212 w 247"/>
                <a:gd name="T15" fmla="*/ 205 h 301"/>
                <a:gd name="T16" fmla="*/ 178 w 247"/>
                <a:gd name="T17" fmla="*/ 290 h 301"/>
                <a:gd name="T18" fmla="*/ 166 w 247"/>
                <a:gd name="T19" fmla="*/ 301 h 301"/>
                <a:gd name="T20" fmla="*/ 124 w 247"/>
                <a:gd name="T21" fmla="*/ 8 h 301"/>
                <a:gd name="T22" fmla="*/ 9 w 247"/>
                <a:gd name="T23" fmla="*/ 112 h 301"/>
                <a:gd name="T24" fmla="*/ 42 w 247"/>
                <a:gd name="T25" fmla="*/ 201 h 301"/>
                <a:gd name="T26" fmla="*/ 78 w 247"/>
                <a:gd name="T27" fmla="*/ 290 h 301"/>
                <a:gd name="T28" fmla="*/ 81 w 247"/>
                <a:gd name="T29" fmla="*/ 293 h 301"/>
                <a:gd name="T30" fmla="*/ 166 w 247"/>
                <a:gd name="T31" fmla="*/ 293 h 301"/>
                <a:gd name="T32" fmla="*/ 170 w 247"/>
                <a:gd name="T33" fmla="*/ 290 h 301"/>
                <a:gd name="T34" fmla="*/ 205 w 247"/>
                <a:gd name="T35" fmla="*/ 201 h 301"/>
                <a:gd name="T36" fmla="*/ 239 w 247"/>
                <a:gd name="T37" fmla="*/ 112 h 301"/>
                <a:gd name="T38" fmla="*/ 124 w 247"/>
                <a:gd name="T39" fmla="*/ 8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47" h="301">
                  <a:moveTo>
                    <a:pt x="166" y="301"/>
                  </a:moveTo>
                  <a:cubicBezTo>
                    <a:pt x="81" y="301"/>
                    <a:pt x="81" y="301"/>
                    <a:pt x="81" y="301"/>
                  </a:cubicBezTo>
                  <a:cubicBezTo>
                    <a:pt x="75" y="301"/>
                    <a:pt x="70" y="296"/>
                    <a:pt x="70" y="290"/>
                  </a:cubicBezTo>
                  <a:cubicBezTo>
                    <a:pt x="68" y="258"/>
                    <a:pt x="51" y="231"/>
                    <a:pt x="35" y="205"/>
                  </a:cubicBezTo>
                  <a:cubicBezTo>
                    <a:pt x="18" y="177"/>
                    <a:pt x="0" y="148"/>
                    <a:pt x="0" y="112"/>
                  </a:cubicBezTo>
                  <a:cubicBezTo>
                    <a:pt x="0" y="58"/>
                    <a:pt x="43" y="0"/>
                    <a:pt x="124" y="0"/>
                  </a:cubicBezTo>
                  <a:cubicBezTo>
                    <a:pt x="194" y="0"/>
                    <a:pt x="247" y="59"/>
                    <a:pt x="247" y="112"/>
                  </a:cubicBezTo>
                  <a:cubicBezTo>
                    <a:pt x="247" y="148"/>
                    <a:pt x="230" y="177"/>
                    <a:pt x="212" y="205"/>
                  </a:cubicBezTo>
                  <a:cubicBezTo>
                    <a:pt x="196" y="231"/>
                    <a:pt x="180" y="258"/>
                    <a:pt x="178" y="290"/>
                  </a:cubicBezTo>
                  <a:cubicBezTo>
                    <a:pt x="177" y="296"/>
                    <a:pt x="172" y="301"/>
                    <a:pt x="166" y="301"/>
                  </a:cubicBezTo>
                  <a:close/>
                  <a:moveTo>
                    <a:pt x="124" y="8"/>
                  </a:moveTo>
                  <a:cubicBezTo>
                    <a:pt x="49" y="8"/>
                    <a:pt x="9" y="62"/>
                    <a:pt x="9" y="112"/>
                  </a:cubicBezTo>
                  <a:cubicBezTo>
                    <a:pt x="9" y="145"/>
                    <a:pt x="25" y="172"/>
                    <a:pt x="42" y="201"/>
                  </a:cubicBezTo>
                  <a:cubicBezTo>
                    <a:pt x="59" y="228"/>
                    <a:pt x="76" y="256"/>
                    <a:pt x="78" y="290"/>
                  </a:cubicBezTo>
                  <a:cubicBezTo>
                    <a:pt x="78" y="292"/>
                    <a:pt x="80" y="293"/>
                    <a:pt x="81" y="293"/>
                  </a:cubicBezTo>
                  <a:cubicBezTo>
                    <a:pt x="166" y="293"/>
                    <a:pt x="166" y="293"/>
                    <a:pt x="166" y="293"/>
                  </a:cubicBezTo>
                  <a:cubicBezTo>
                    <a:pt x="168" y="293"/>
                    <a:pt x="169" y="292"/>
                    <a:pt x="170" y="290"/>
                  </a:cubicBezTo>
                  <a:cubicBezTo>
                    <a:pt x="172" y="256"/>
                    <a:pt x="189" y="228"/>
                    <a:pt x="205" y="201"/>
                  </a:cubicBezTo>
                  <a:cubicBezTo>
                    <a:pt x="223" y="172"/>
                    <a:pt x="239" y="145"/>
                    <a:pt x="239" y="112"/>
                  </a:cubicBezTo>
                  <a:cubicBezTo>
                    <a:pt x="239" y="63"/>
                    <a:pt x="190" y="8"/>
                    <a:pt x="124" y="8"/>
                  </a:cubicBezTo>
                  <a:close/>
                </a:path>
              </a:pathLst>
            </a:custGeom>
            <a:solidFill>
              <a:srgbClr val="EEA720"/>
            </a:solidFill>
            <a:ln w="9525">
              <a:solidFill>
                <a:srgbClr val="EEA720"/>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8" name="Freeform 27"/>
            <p:cNvSpPr>
              <a:spLocks/>
            </p:cNvSpPr>
            <p:nvPr/>
          </p:nvSpPr>
          <p:spPr bwMode="auto">
            <a:xfrm>
              <a:off x="3781426" y="3803650"/>
              <a:ext cx="2071688" cy="3054350"/>
            </a:xfrm>
            <a:custGeom>
              <a:avLst/>
              <a:gdLst>
                <a:gd name="T0" fmla="*/ 0 w 935"/>
                <a:gd name="T1" fmla="*/ 0 h 1380"/>
                <a:gd name="T2" fmla="*/ 0 w 935"/>
                <a:gd name="T3" fmla="*/ 104 h 1380"/>
                <a:gd name="T4" fmla="*/ 80 w 935"/>
                <a:gd name="T5" fmla="*/ 183 h 1380"/>
                <a:gd name="T6" fmla="*/ 855 w 935"/>
                <a:gd name="T7" fmla="*/ 183 h 1380"/>
                <a:gd name="T8" fmla="*/ 935 w 935"/>
                <a:gd name="T9" fmla="*/ 263 h 1380"/>
                <a:gd name="T10" fmla="*/ 935 w 935"/>
                <a:gd name="T11" fmla="*/ 1380 h 1380"/>
              </a:gdLst>
              <a:ahLst/>
              <a:cxnLst>
                <a:cxn ang="0">
                  <a:pos x="T0" y="T1"/>
                </a:cxn>
                <a:cxn ang="0">
                  <a:pos x="T2" y="T3"/>
                </a:cxn>
                <a:cxn ang="0">
                  <a:pos x="T4" y="T5"/>
                </a:cxn>
                <a:cxn ang="0">
                  <a:pos x="T6" y="T7"/>
                </a:cxn>
                <a:cxn ang="0">
                  <a:pos x="T8" y="T9"/>
                </a:cxn>
                <a:cxn ang="0">
                  <a:pos x="T10" y="T11"/>
                </a:cxn>
              </a:cxnLst>
              <a:rect l="0" t="0" r="r" b="b"/>
              <a:pathLst>
                <a:path w="935" h="1380">
                  <a:moveTo>
                    <a:pt x="0" y="0"/>
                  </a:moveTo>
                  <a:cubicBezTo>
                    <a:pt x="0" y="104"/>
                    <a:pt x="0" y="104"/>
                    <a:pt x="0" y="104"/>
                  </a:cubicBezTo>
                  <a:cubicBezTo>
                    <a:pt x="0" y="148"/>
                    <a:pt x="35" y="183"/>
                    <a:pt x="80" y="183"/>
                  </a:cubicBezTo>
                  <a:cubicBezTo>
                    <a:pt x="855" y="183"/>
                    <a:pt x="855" y="183"/>
                    <a:pt x="855" y="183"/>
                  </a:cubicBezTo>
                  <a:cubicBezTo>
                    <a:pt x="899" y="183"/>
                    <a:pt x="935" y="219"/>
                    <a:pt x="935" y="263"/>
                  </a:cubicBezTo>
                  <a:cubicBezTo>
                    <a:pt x="935" y="1380"/>
                    <a:pt x="935" y="1380"/>
                    <a:pt x="935" y="1380"/>
                  </a:cubicBezTo>
                </a:path>
              </a:pathLst>
            </a:custGeom>
            <a:noFill/>
            <a:ln w="34925" cap="flat">
              <a:solidFill>
                <a:srgbClr val="EEA7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49" name="Freeform 28"/>
            <p:cNvSpPr>
              <a:spLocks/>
            </p:cNvSpPr>
            <p:nvPr/>
          </p:nvSpPr>
          <p:spPr bwMode="auto">
            <a:xfrm>
              <a:off x="5218113" y="3910013"/>
              <a:ext cx="219075" cy="44450"/>
            </a:xfrm>
            <a:custGeom>
              <a:avLst/>
              <a:gdLst>
                <a:gd name="T0" fmla="*/ 99 w 99"/>
                <a:gd name="T1" fmla="*/ 20 h 20"/>
                <a:gd name="T2" fmla="*/ 99 w 99"/>
                <a:gd name="T3" fmla="*/ 8 h 20"/>
                <a:gd name="T4" fmla="*/ 91 w 99"/>
                <a:gd name="T5" fmla="*/ 0 h 20"/>
                <a:gd name="T6" fmla="*/ 8 w 99"/>
                <a:gd name="T7" fmla="*/ 0 h 20"/>
                <a:gd name="T8" fmla="*/ 0 w 99"/>
                <a:gd name="T9" fmla="*/ 8 h 20"/>
                <a:gd name="T10" fmla="*/ 0 w 99"/>
                <a:gd name="T11" fmla="*/ 20 h 20"/>
                <a:gd name="T12" fmla="*/ 99 w 99"/>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99" h="20">
                  <a:moveTo>
                    <a:pt x="99" y="20"/>
                  </a:moveTo>
                  <a:cubicBezTo>
                    <a:pt x="99" y="8"/>
                    <a:pt x="99" y="8"/>
                    <a:pt x="99" y="8"/>
                  </a:cubicBezTo>
                  <a:cubicBezTo>
                    <a:pt x="99" y="4"/>
                    <a:pt x="95" y="0"/>
                    <a:pt x="91" y="0"/>
                  </a:cubicBezTo>
                  <a:cubicBezTo>
                    <a:pt x="8" y="0"/>
                    <a:pt x="8" y="0"/>
                    <a:pt x="8" y="0"/>
                  </a:cubicBezTo>
                  <a:cubicBezTo>
                    <a:pt x="3" y="0"/>
                    <a:pt x="0" y="4"/>
                    <a:pt x="0" y="8"/>
                  </a:cubicBezTo>
                  <a:cubicBezTo>
                    <a:pt x="0" y="20"/>
                    <a:pt x="0" y="20"/>
                    <a:pt x="0" y="20"/>
                  </a:cubicBezTo>
                  <a:lnTo>
                    <a:pt x="99" y="20"/>
                  </a:ln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0" name="Rectangle 29"/>
            <p:cNvSpPr>
              <a:spLocks noChangeArrowheads="1"/>
            </p:cNvSpPr>
            <p:nvPr/>
          </p:nvSpPr>
          <p:spPr bwMode="auto">
            <a:xfrm>
              <a:off x="5218113" y="3973513"/>
              <a:ext cx="219075" cy="28575"/>
            </a:xfrm>
            <a:prstGeom prst="rect">
              <a:avLst/>
            </a:pr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1" name="Freeform 30"/>
            <p:cNvSpPr>
              <a:spLocks/>
            </p:cNvSpPr>
            <p:nvPr/>
          </p:nvSpPr>
          <p:spPr bwMode="auto">
            <a:xfrm>
              <a:off x="5218113" y="4022725"/>
              <a:ext cx="219075" cy="44450"/>
            </a:xfrm>
            <a:custGeom>
              <a:avLst/>
              <a:gdLst>
                <a:gd name="T0" fmla="*/ 0 w 99"/>
                <a:gd name="T1" fmla="*/ 0 h 20"/>
                <a:gd name="T2" fmla="*/ 0 w 99"/>
                <a:gd name="T3" fmla="*/ 12 h 20"/>
                <a:gd name="T4" fmla="*/ 8 w 99"/>
                <a:gd name="T5" fmla="*/ 20 h 20"/>
                <a:gd name="T6" fmla="*/ 91 w 99"/>
                <a:gd name="T7" fmla="*/ 20 h 20"/>
                <a:gd name="T8" fmla="*/ 99 w 99"/>
                <a:gd name="T9" fmla="*/ 12 h 20"/>
                <a:gd name="T10" fmla="*/ 99 w 99"/>
                <a:gd name="T11" fmla="*/ 0 h 20"/>
                <a:gd name="T12" fmla="*/ 0 w 99"/>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99" h="20">
                  <a:moveTo>
                    <a:pt x="0" y="0"/>
                  </a:moveTo>
                  <a:cubicBezTo>
                    <a:pt x="0" y="12"/>
                    <a:pt x="0" y="12"/>
                    <a:pt x="0" y="12"/>
                  </a:cubicBezTo>
                  <a:cubicBezTo>
                    <a:pt x="0" y="16"/>
                    <a:pt x="3" y="20"/>
                    <a:pt x="8" y="20"/>
                  </a:cubicBezTo>
                  <a:cubicBezTo>
                    <a:pt x="91" y="20"/>
                    <a:pt x="91" y="20"/>
                    <a:pt x="91" y="20"/>
                  </a:cubicBezTo>
                  <a:cubicBezTo>
                    <a:pt x="95" y="20"/>
                    <a:pt x="99" y="16"/>
                    <a:pt x="99" y="12"/>
                  </a:cubicBezTo>
                  <a:cubicBezTo>
                    <a:pt x="99" y="0"/>
                    <a:pt x="99" y="0"/>
                    <a:pt x="99" y="0"/>
                  </a:cubicBezTo>
                  <a:lnTo>
                    <a:pt x="0" y="0"/>
                  </a:ln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2" name="Freeform 31"/>
            <p:cNvSpPr>
              <a:spLocks noEditPoints="1"/>
            </p:cNvSpPr>
            <p:nvPr/>
          </p:nvSpPr>
          <p:spPr bwMode="auto">
            <a:xfrm>
              <a:off x="5046663" y="3181350"/>
              <a:ext cx="560388" cy="700088"/>
            </a:xfrm>
            <a:custGeom>
              <a:avLst/>
              <a:gdLst>
                <a:gd name="T0" fmla="*/ 126 w 253"/>
                <a:gd name="T1" fmla="*/ 0 h 316"/>
                <a:gd name="T2" fmla="*/ 0 w 253"/>
                <a:gd name="T3" fmla="*/ 111 h 316"/>
                <a:gd name="T4" fmla="*/ 70 w 253"/>
                <a:gd name="T5" fmla="*/ 305 h 316"/>
                <a:gd name="T6" fmla="*/ 83 w 253"/>
                <a:gd name="T7" fmla="*/ 316 h 316"/>
                <a:gd name="T8" fmla="*/ 169 w 253"/>
                <a:gd name="T9" fmla="*/ 316 h 316"/>
                <a:gd name="T10" fmla="*/ 182 w 253"/>
                <a:gd name="T11" fmla="*/ 305 h 316"/>
                <a:gd name="T12" fmla="*/ 253 w 253"/>
                <a:gd name="T13" fmla="*/ 111 h 316"/>
                <a:gd name="T14" fmla="*/ 126 w 253"/>
                <a:gd name="T15" fmla="*/ 0 h 316"/>
                <a:gd name="T16" fmla="*/ 113 w 253"/>
                <a:gd name="T17" fmla="*/ 285 h 316"/>
                <a:gd name="T18" fmla="*/ 111 w 253"/>
                <a:gd name="T19" fmla="*/ 285 h 316"/>
                <a:gd name="T20" fmla="*/ 107 w 253"/>
                <a:gd name="T21" fmla="*/ 283 h 316"/>
                <a:gd name="T22" fmla="*/ 66 w 253"/>
                <a:gd name="T23" fmla="*/ 176 h 316"/>
                <a:gd name="T24" fmla="*/ 65 w 253"/>
                <a:gd name="T25" fmla="*/ 176 h 316"/>
                <a:gd name="T26" fmla="*/ 49 w 253"/>
                <a:gd name="T27" fmla="*/ 160 h 316"/>
                <a:gd name="T28" fmla="*/ 65 w 253"/>
                <a:gd name="T29" fmla="*/ 144 h 316"/>
                <a:gd name="T30" fmla="*/ 80 w 253"/>
                <a:gd name="T31" fmla="*/ 160 h 316"/>
                <a:gd name="T32" fmla="*/ 74 w 253"/>
                <a:gd name="T33" fmla="*/ 173 h 316"/>
                <a:gd name="T34" fmla="*/ 115 w 253"/>
                <a:gd name="T35" fmla="*/ 279 h 316"/>
                <a:gd name="T36" fmla="*/ 113 w 253"/>
                <a:gd name="T37" fmla="*/ 285 h 316"/>
                <a:gd name="T38" fmla="*/ 188 w 253"/>
                <a:gd name="T39" fmla="*/ 176 h 316"/>
                <a:gd name="T40" fmla="*/ 187 w 253"/>
                <a:gd name="T41" fmla="*/ 176 h 316"/>
                <a:gd name="T42" fmla="*/ 145 w 253"/>
                <a:gd name="T43" fmla="*/ 283 h 316"/>
                <a:gd name="T44" fmla="*/ 141 w 253"/>
                <a:gd name="T45" fmla="*/ 285 h 316"/>
                <a:gd name="T46" fmla="*/ 140 w 253"/>
                <a:gd name="T47" fmla="*/ 285 h 316"/>
                <a:gd name="T48" fmla="*/ 137 w 253"/>
                <a:gd name="T49" fmla="*/ 279 h 316"/>
                <a:gd name="T50" fmla="*/ 178 w 253"/>
                <a:gd name="T51" fmla="*/ 173 h 316"/>
                <a:gd name="T52" fmla="*/ 172 w 253"/>
                <a:gd name="T53" fmla="*/ 160 h 316"/>
                <a:gd name="T54" fmla="*/ 188 w 253"/>
                <a:gd name="T55" fmla="*/ 144 h 316"/>
                <a:gd name="T56" fmla="*/ 204 w 253"/>
                <a:gd name="T57" fmla="*/ 160 h 316"/>
                <a:gd name="T58" fmla="*/ 188 w 253"/>
                <a:gd name="T59" fmla="*/ 176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3" h="316">
                  <a:moveTo>
                    <a:pt x="126" y="0"/>
                  </a:moveTo>
                  <a:cubicBezTo>
                    <a:pt x="41" y="0"/>
                    <a:pt x="0" y="51"/>
                    <a:pt x="0" y="111"/>
                  </a:cubicBezTo>
                  <a:cubicBezTo>
                    <a:pt x="0" y="184"/>
                    <a:pt x="55" y="235"/>
                    <a:pt x="70" y="305"/>
                  </a:cubicBezTo>
                  <a:cubicBezTo>
                    <a:pt x="71" y="311"/>
                    <a:pt x="77" y="316"/>
                    <a:pt x="83" y="316"/>
                  </a:cubicBezTo>
                  <a:cubicBezTo>
                    <a:pt x="169" y="316"/>
                    <a:pt x="169" y="316"/>
                    <a:pt x="169" y="316"/>
                  </a:cubicBezTo>
                  <a:cubicBezTo>
                    <a:pt x="176" y="316"/>
                    <a:pt x="181" y="311"/>
                    <a:pt x="182" y="305"/>
                  </a:cubicBezTo>
                  <a:cubicBezTo>
                    <a:pt x="197" y="235"/>
                    <a:pt x="253" y="184"/>
                    <a:pt x="253" y="111"/>
                  </a:cubicBezTo>
                  <a:cubicBezTo>
                    <a:pt x="253" y="51"/>
                    <a:pt x="201" y="0"/>
                    <a:pt x="126" y="0"/>
                  </a:cubicBezTo>
                  <a:close/>
                  <a:moveTo>
                    <a:pt x="113" y="285"/>
                  </a:moveTo>
                  <a:cubicBezTo>
                    <a:pt x="112" y="285"/>
                    <a:pt x="112" y="285"/>
                    <a:pt x="111" y="285"/>
                  </a:cubicBezTo>
                  <a:cubicBezTo>
                    <a:pt x="109" y="285"/>
                    <a:pt x="108" y="284"/>
                    <a:pt x="107" y="283"/>
                  </a:cubicBezTo>
                  <a:cubicBezTo>
                    <a:pt x="66" y="176"/>
                    <a:pt x="66" y="176"/>
                    <a:pt x="66" y="176"/>
                  </a:cubicBezTo>
                  <a:cubicBezTo>
                    <a:pt x="65" y="176"/>
                    <a:pt x="65" y="176"/>
                    <a:pt x="65" y="176"/>
                  </a:cubicBezTo>
                  <a:cubicBezTo>
                    <a:pt x="56" y="176"/>
                    <a:pt x="49" y="169"/>
                    <a:pt x="49" y="160"/>
                  </a:cubicBezTo>
                  <a:cubicBezTo>
                    <a:pt x="49" y="151"/>
                    <a:pt x="56" y="144"/>
                    <a:pt x="65" y="144"/>
                  </a:cubicBezTo>
                  <a:cubicBezTo>
                    <a:pt x="73" y="144"/>
                    <a:pt x="80" y="151"/>
                    <a:pt x="80" y="160"/>
                  </a:cubicBezTo>
                  <a:cubicBezTo>
                    <a:pt x="80" y="165"/>
                    <a:pt x="78" y="170"/>
                    <a:pt x="74" y="173"/>
                  </a:cubicBezTo>
                  <a:cubicBezTo>
                    <a:pt x="115" y="279"/>
                    <a:pt x="115" y="279"/>
                    <a:pt x="115" y="279"/>
                  </a:cubicBezTo>
                  <a:cubicBezTo>
                    <a:pt x="116" y="282"/>
                    <a:pt x="115" y="284"/>
                    <a:pt x="113" y="285"/>
                  </a:cubicBezTo>
                  <a:close/>
                  <a:moveTo>
                    <a:pt x="188" y="176"/>
                  </a:moveTo>
                  <a:cubicBezTo>
                    <a:pt x="187" y="176"/>
                    <a:pt x="187" y="176"/>
                    <a:pt x="187" y="176"/>
                  </a:cubicBezTo>
                  <a:cubicBezTo>
                    <a:pt x="145" y="283"/>
                    <a:pt x="145" y="283"/>
                    <a:pt x="145" y="283"/>
                  </a:cubicBezTo>
                  <a:cubicBezTo>
                    <a:pt x="145" y="284"/>
                    <a:pt x="143" y="285"/>
                    <a:pt x="141" y="285"/>
                  </a:cubicBezTo>
                  <a:cubicBezTo>
                    <a:pt x="141" y="285"/>
                    <a:pt x="140" y="285"/>
                    <a:pt x="140" y="285"/>
                  </a:cubicBezTo>
                  <a:cubicBezTo>
                    <a:pt x="137" y="284"/>
                    <a:pt x="136" y="282"/>
                    <a:pt x="137" y="279"/>
                  </a:cubicBezTo>
                  <a:cubicBezTo>
                    <a:pt x="178" y="173"/>
                    <a:pt x="178" y="173"/>
                    <a:pt x="178" y="173"/>
                  </a:cubicBezTo>
                  <a:cubicBezTo>
                    <a:pt x="174" y="170"/>
                    <a:pt x="172" y="165"/>
                    <a:pt x="172" y="160"/>
                  </a:cubicBezTo>
                  <a:cubicBezTo>
                    <a:pt x="172" y="151"/>
                    <a:pt x="179" y="144"/>
                    <a:pt x="188" y="144"/>
                  </a:cubicBezTo>
                  <a:cubicBezTo>
                    <a:pt x="197" y="144"/>
                    <a:pt x="204" y="151"/>
                    <a:pt x="204" y="160"/>
                  </a:cubicBezTo>
                  <a:cubicBezTo>
                    <a:pt x="204" y="169"/>
                    <a:pt x="197" y="176"/>
                    <a:pt x="188" y="176"/>
                  </a:cubicBez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3" name="Freeform 32"/>
            <p:cNvSpPr>
              <a:spLocks/>
            </p:cNvSpPr>
            <p:nvPr/>
          </p:nvSpPr>
          <p:spPr bwMode="auto">
            <a:xfrm>
              <a:off x="5327651" y="4040188"/>
              <a:ext cx="230188" cy="2817813"/>
            </a:xfrm>
            <a:custGeom>
              <a:avLst/>
              <a:gdLst>
                <a:gd name="T0" fmla="*/ 0 w 104"/>
                <a:gd name="T1" fmla="*/ 0 h 1273"/>
                <a:gd name="T2" fmla="*/ 0 w 104"/>
                <a:gd name="T3" fmla="*/ 408 h 1273"/>
                <a:gd name="T4" fmla="*/ 52 w 104"/>
                <a:gd name="T5" fmla="*/ 460 h 1273"/>
                <a:gd name="T6" fmla="*/ 52 w 104"/>
                <a:gd name="T7" fmla="*/ 460 h 1273"/>
                <a:gd name="T8" fmla="*/ 104 w 104"/>
                <a:gd name="T9" fmla="*/ 512 h 1273"/>
                <a:gd name="T10" fmla="*/ 104 w 104"/>
                <a:gd name="T11" fmla="*/ 1273 h 1273"/>
              </a:gdLst>
              <a:ahLst/>
              <a:cxnLst>
                <a:cxn ang="0">
                  <a:pos x="T0" y="T1"/>
                </a:cxn>
                <a:cxn ang="0">
                  <a:pos x="T2" y="T3"/>
                </a:cxn>
                <a:cxn ang="0">
                  <a:pos x="T4" y="T5"/>
                </a:cxn>
                <a:cxn ang="0">
                  <a:pos x="T6" y="T7"/>
                </a:cxn>
                <a:cxn ang="0">
                  <a:pos x="T8" y="T9"/>
                </a:cxn>
                <a:cxn ang="0">
                  <a:pos x="T10" y="T11"/>
                </a:cxn>
              </a:cxnLst>
              <a:rect l="0" t="0" r="r" b="b"/>
              <a:pathLst>
                <a:path w="104" h="1273">
                  <a:moveTo>
                    <a:pt x="0" y="0"/>
                  </a:moveTo>
                  <a:cubicBezTo>
                    <a:pt x="0" y="408"/>
                    <a:pt x="0" y="408"/>
                    <a:pt x="0" y="408"/>
                  </a:cubicBezTo>
                  <a:cubicBezTo>
                    <a:pt x="0" y="437"/>
                    <a:pt x="23" y="460"/>
                    <a:pt x="52" y="460"/>
                  </a:cubicBezTo>
                  <a:cubicBezTo>
                    <a:pt x="52" y="460"/>
                    <a:pt x="52" y="460"/>
                    <a:pt x="52" y="460"/>
                  </a:cubicBezTo>
                  <a:cubicBezTo>
                    <a:pt x="81" y="460"/>
                    <a:pt x="104" y="483"/>
                    <a:pt x="104" y="512"/>
                  </a:cubicBezTo>
                  <a:cubicBezTo>
                    <a:pt x="104" y="1273"/>
                    <a:pt x="104" y="1273"/>
                    <a:pt x="104" y="1273"/>
                  </a:cubicBezTo>
                </a:path>
              </a:pathLst>
            </a:custGeom>
            <a:noFill/>
            <a:ln w="106363" cap="flat">
              <a:solidFill>
                <a:srgbClr val="9132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4" name="Freeform 33"/>
            <p:cNvSpPr>
              <a:spLocks/>
            </p:cNvSpPr>
            <p:nvPr/>
          </p:nvSpPr>
          <p:spPr bwMode="auto">
            <a:xfrm>
              <a:off x="4681538" y="3109913"/>
              <a:ext cx="2043113" cy="3748088"/>
            </a:xfrm>
            <a:custGeom>
              <a:avLst/>
              <a:gdLst>
                <a:gd name="T0" fmla="*/ 0 w 922"/>
                <a:gd name="T1" fmla="*/ 0 h 1693"/>
                <a:gd name="T2" fmla="*/ 0 w 922"/>
                <a:gd name="T3" fmla="*/ 587 h 1693"/>
                <a:gd name="T4" fmla="*/ 77 w 922"/>
                <a:gd name="T5" fmla="*/ 663 h 1693"/>
                <a:gd name="T6" fmla="*/ 845 w 922"/>
                <a:gd name="T7" fmla="*/ 663 h 1693"/>
                <a:gd name="T8" fmla="*/ 922 w 922"/>
                <a:gd name="T9" fmla="*/ 740 h 1693"/>
                <a:gd name="T10" fmla="*/ 922 w 922"/>
                <a:gd name="T11" fmla="*/ 1693 h 1693"/>
              </a:gdLst>
              <a:ahLst/>
              <a:cxnLst>
                <a:cxn ang="0">
                  <a:pos x="T0" y="T1"/>
                </a:cxn>
                <a:cxn ang="0">
                  <a:pos x="T2" y="T3"/>
                </a:cxn>
                <a:cxn ang="0">
                  <a:pos x="T4" y="T5"/>
                </a:cxn>
                <a:cxn ang="0">
                  <a:pos x="T6" y="T7"/>
                </a:cxn>
                <a:cxn ang="0">
                  <a:pos x="T8" y="T9"/>
                </a:cxn>
                <a:cxn ang="0">
                  <a:pos x="T10" y="T11"/>
                </a:cxn>
              </a:cxnLst>
              <a:rect l="0" t="0" r="r" b="b"/>
              <a:pathLst>
                <a:path w="922" h="1693">
                  <a:moveTo>
                    <a:pt x="0" y="0"/>
                  </a:moveTo>
                  <a:cubicBezTo>
                    <a:pt x="0" y="587"/>
                    <a:pt x="0" y="587"/>
                    <a:pt x="0" y="587"/>
                  </a:cubicBezTo>
                  <a:cubicBezTo>
                    <a:pt x="0" y="629"/>
                    <a:pt x="35" y="663"/>
                    <a:pt x="77" y="663"/>
                  </a:cubicBezTo>
                  <a:cubicBezTo>
                    <a:pt x="845" y="663"/>
                    <a:pt x="845" y="663"/>
                    <a:pt x="845" y="663"/>
                  </a:cubicBezTo>
                  <a:cubicBezTo>
                    <a:pt x="887" y="663"/>
                    <a:pt x="922" y="698"/>
                    <a:pt x="922" y="740"/>
                  </a:cubicBezTo>
                  <a:cubicBezTo>
                    <a:pt x="922" y="1693"/>
                    <a:pt x="922" y="1693"/>
                    <a:pt x="922" y="1693"/>
                  </a:cubicBezTo>
                </a:path>
              </a:pathLst>
            </a:custGeom>
            <a:noFill/>
            <a:ln w="46038" cap="flat">
              <a:solidFill>
                <a:srgbClr val="09948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5" name="Freeform 34"/>
            <p:cNvSpPr>
              <a:spLocks noEditPoints="1"/>
            </p:cNvSpPr>
            <p:nvPr/>
          </p:nvSpPr>
          <p:spPr bwMode="auto">
            <a:xfrm>
              <a:off x="4437063" y="2339975"/>
              <a:ext cx="492125" cy="606425"/>
            </a:xfrm>
            <a:custGeom>
              <a:avLst/>
              <a:gdLst>
                <a:gd name="T0" fmla="*/ 147 w 222"/>
                <a:gd name="T1" fmla="*/ 274 h 274"/>
                <a:gd name="T2" fmla="*/ 74 w 222"/>
                <a:gd name="T3" fmla="*/ 274 h 274"/>
                <a:gd name="T4" fmla="*/ 60 w 222"/>
                <a:gd name="T5" fmla="*/ 262 h 274"/>
                <a:gd name="T6" fmla="*/ 31 w 222"/>
                <a:gd name="T7" fmla="*/ 193 h 274"/>
                <a:gd name="T8" fmla="*/ 0 w 222"/>
                <a:gd name="T9" fmla="*/ 97 h 274"/>
                <a:gd name="T10" fmla="*/ 111 w 222"/>
                <a:gd name="T11" fmla="*/ 0 h 274"/>
                <a:gd name="T12" fmla="*/ 222 w 222"/>
                <a:gd name="T13" fmla="*/ 97 h 274"/>
                <a:gd name="T14" fmla="*/ 191 w 222"/>
                <a:gd name="T15" fmla="*/ 193 h 274"/>
                <a:gd name="T16" fmla="*/ 162 w 222"/>
                <a:gd name="T17" fmla="*/ 262 h 274"/>
                <a:gd name="T18" fmla="*/ 147 w 222"/>
                <a:gd name="T19" fmla="*/ 274 h 274"/>
                <a:gd name="T20" fmla="*/ 111 w 222"/>
                <a:gd name="T21" fmla="*/ 8 h 274"/>
                <a:gd name="T22" fmla="*/ 8 w 222"/>
                <a:gd name="T23" fmla="*/ 97 h 274"/>
                <a:gd name="T24" fmla="*/ 38 w 222"/>
                <a:gd name="T25" fmla="*/ 189 h 274"/>
                <a:gd name="T26" fmla="*/ 67 w 222"/>
                <a:gd name="T27" fmla="*/ 260 h 274"/>
                <a:gd name="T28" fmla="*/ 74 w 222"/>
                <a:gd name="T29" fmla="*/ 266 h 274"/>
                <a:gd name="T30" fmla="*/ 147 w 222"/>
                <a:gd name="T31" fmla="*/ 266 h 274"/>
                <a:gd name="T32" fmla="*/ 154 w 222"/>
                <a:gd name="T33" fmla="*/ 260 h 274"/>
                <a:gd name="T34" fmla="*/ 184 w 222"/>
                <a:gd name="T35" fmla="*/ 189 h 274"/>
                <a:gd name="T36" fmla="*/ 214 w 222"/>
                <a:gd name="T37" fmla="*/ 97 h 274"/>
                <a:gd name="T38" fmla="*/ 111 w 222"/>
                <a:gd name="T39" fmla="*/ 8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2" h="274">
                  <a:moveTo>
                    <a:pt x="147" y="274"/>
                  </a:moveTo>
                  <a:cubicBezTo>
                    <a:pt x="74" y="274"/>
                    <a:pt x="74" y="274"/>
                    <a:pt x="74" y="274"/>
                  </a:cubicBezTo>
                  <a:cubicBezTo>
                    <a:pt x="67" y="274"/>
                    <a:pt x="61" y="269"/>
                    <a:pt x="60" y="262"/>
                  </a:cubicBezTo>
                  <a:cubicBezTo>
                    <a:pt x="54" y="237"/>
                    <a:pt x="43" y="215"/>
                    <a:pt x="31" y="193"/>
                  </a:cubicBezTo>
                  <a:cubicBezTo>
                    <a:pt x="16" y="164"/>
                    <a:pt x="0" y="133"/>
                    <a:pt x="0" y="97"/>
                  </a:cubicBezTo>
                  <a:cubicBezTo>
                    <a:pt x="0" y="38"/>
                    <a:pt x="44" y="0"/>
                    <a:pt x="111" y="0"/>
                  </a:cubicBezTo>
                  <a:cubicBezTo>
                    <a:pt x="174" y="0"/>
                    <a:pt x="222" y="41"/>
                    <a:pt x="222" y="97"/>
                  </a:cubicBezTo>
                  <a:cubicBezTo>
                    <a:pt x="222" y="133"/>
                    <a:pt x="206" y="164"/>
                    <a:pt x="191" y="193"/>
                  </a:cubicBezTo>
                  <a:cubicBezTo>
                    <a:pt x="179" y="215"/>
                    <a:pt x="167" y="237"/>
                    <a:pt x="162" y="262"/>
                  </a:cubicBezTo>
                  <a:cubicBezTo>
                    <a:pt x="161" y="269"/>
                    <a:pt x="155" y="274"/>
                    <a:pt x="147" y="274"/>
                  </a:cubicBezTo>
                  <a:close/>
                  <a:moveTo>
                    <a:pt x="111" y="8"/>
                  </a:moveTo>
                  <a:cubicBezTo>
                    <a:pt x="35" y="8"/>
                    <a:pt x="8" y="54"/>
                    <a:pt x="8" y="97"/>
                  </a:cubicBezTo>
                  <a:cubicBezTo>
                    <a:pt x="8" y="131"/>
                    <a:pt x="23" y="159"/>
                    <a:pt x="38" y="189"/>
                  </a:cubicBezTo>
                  <a:cubicBezTo>
                    <a:pt x="50" y="211"/>
                    <a:pt x="62" y="234"/>
                    <a:pt x="67" y="260"/>
                  </a:cubicBezTo>
                  <a:cubicBezTo>
                    <a:pt x="68" y="264"/>
                    <a:pt x="71" y="266"/>
                    <a:pt x="74" y="266"/>
                  </a:cubicBezTo>
                  <a:cubicBezTo>
                    <a:pt x="147" y="266"/>
                    <a:pt x="147" y="266"/>
                    <a:pt x="147" y="266"/>
                  </a:cubicBezTo>
                  <a:cubicBezTo>
                    <a:pt x="151" y="266"/>
                    <a:pt x="154" y="264"/>
                    <a:pt x="154" y="260"/>
                  </a:cubicBezTo>
                  <a:cubicBezTo>
                    <a:pt x="160" y="234"/>
                    <a:pt x="172" y="211"/>
                    <a:pt x="184" y="189"/>
                  </a:cubicBezTo>
                  <a:cubicBezTo>
                    <a:pt x="199" y="159"/>
                    <a:pt x="214" y="131"/>
                    <a:pt x="214" y="97"/>
                  </a:cubicBezTo>
                  <a:cubicBezTo>
                    <a:pt x="214" y="46"/>
                    <a:pt x="170" y="8"/>
                    <a:pt x="111" y="8"/>
                  </a:cubicBezTo>
                  <a:close/>
                </a:path>
              </a:pathLst>
            </a:custGeom>
            <a:solidFill>
              <a:srgbClr val="099481"/>
            </a:solidFill>
            <a:ln w="9525">
              <a:no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6" name="Freeform 35"/>
            <p:cNvSpPr>
              <a:spLocks/>
            </p:cNvSpPr>
            <p:nvPr/>
          </p:nvSpPr>
          <p:spPr bwMode="auto">
            <a:xfrm>
              <a:off x="4581526" y="2967038"/>
              <a:ext cx="203200" cy="61913"/>
            </a:xfrm>
            <a:custGeom>
              <a:avLst/>
              <a:gdLst>
                <a:gd name="T0" fmla="*/ 88 w 92"/>
                <a:gd name="T1" fmla="*/ 28 h 28"/>
                <a:gd name="T2" fmla="*/ 84 w 92"/>
                <a:gd name="T3" fmla="*/ 24 h 28"/>
                <a:gd name="T4" fmla="*/ 84 w 92"/>
                <a:gd name="T5" fmla="*/ 13 h 28"/>
                <a:gd name="T6" fmla="*/ 78 w 92"/>
                <a:gd name="T7" fmla="*/ 8 h 28"/>
                <a:gd name="T8" fmla="*/ 14 w 92"/>
                <a:gd name="T9" fmla="*/ 8 h 28"/>
                <a:gd name="T10" fmla="*/ 8 w 92"/>
                <a:gd name="T11" fmla="*/ 13 h 28"/>
                <a:gd name="T12" fmla="*/ 8 w 92"/>
                <a:gd name="T13" fmla="*/ 24 h 28"/>
                <a:gd name="T14" fmla="*/ 4 w 92"/>
                <a:gd name="T15" fmla="*/ 28 h 28"/>
                <a:gd name="T16" fmla="*/ 0 w 92"/>
                <a:gd name="T17" fmla="*/ 24 h 28"/>
                <a:gd name="T18" fmla="*/ 0 w 92"/>
                <a:gd name="T19" fmla="*/ 13 h 28"/>
                <a:gd name="T20" fmla="*/ 14 w 92"/>
                <a:gd name="T21" fmla="*/ 0 h 28"/>
                <a:gd name="T22" fmla="*/ 78 w 92"/>
                <a:gd name="T23" fmla="*/ 0 h 28"/>
                <a:gd name="T24" fmla="*/ 92 w 92"/>
                <a:gd name="T25" fmla="*/ 13 h 28"/>
                <a:gd name="T26" fmla="*/ 92 w 92"/>
                <a:gd name="T27" fmla="*/ 24 h 28"/>
                <a:gd name="T28" fmla="*/ 88 w 92"/>
                <a:gd name="T29"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2" h="28">
                  <a:moveTo>
                    <a:pt x="88" y="28"/>
                  </a:moveTo>
                  <a:cubicBezTo>
                    <a:pt x="86" y="28"/>
                    <a:pt x="84" y="26"/>
                    <a:pt x="84" y="24"/>
                  </a:cubicBezTo>
                  <a:cubicBezTo>
                    <a:pt x="84" y="13"/>
                    <a:pt x="84" y="13"/>
                    <a:pt x="84" y="13"/>
                  </a:cubicBezTo>
                  <a:cubicBezTo>
                    <a:pt x="84" y="10"/>
                    <a:pt x="81" y="8"/>
                    <a:pt x="78" y="8"/>
                  </a:cubicBezTo>
                  <a:cubicBezTo>
                    <a:pt x="14" y="8"/>
                    <a:pt x="14" y="8"/>
                    <a:pt x="14" y="8"/>
                  </a:cubicBezTo>
                  <a:cubicBezTo>
                    <a:pt x="10" y="8"/>
                    <a:pt x="8" y="10"/>
                    <a:pt x="8" y="13"/>
                  </a:cubicBezTo>
                  <a:cubicBezTo>
                    <a:pt x="8" y="24"/>
                    <a:pt x="8" y="24"/>
                    <a:pt x="8" y="24"/>
                  </a:cubicBezTo>
                  <a:cubicBezTo>
                    <a:pt x="8" y="26"/>
                    <a:pt x="6" y="28"/>
                    <a:pt x="4" y="28"/>
                  </a:cubicBezTo>
                  <a:cubicBezTo>
                    <a:pt x="2" y="28"/>
                    <a:pt x="0" y="26"/>
                    <a:pt x="0" y="24"/>
                  </a:cubicBezTo>
                  <a:cubicBezTo>
                    <a:pt x="0" y="13"/>
                    <a:pt x="0" y="13"/>
                    <a:pt x="0" y="13"/>
                  </a:cubicBezTo>
                  <a:cubicBezTo>
                    <a:pt x="0" y="6"/>
                    <a:pt x="6" y="0"/>
                    <a:pt x="14" y="0"/>
                  </a:cubicBezTo>
                  <a:cubicBezTo>
                    <a:pt x="78" y="0"/>
                    <a:pt x="78" y="0"/>
                    <a:pt x="78" y="0"/>
                  </a:cubicBezTo>
                  <a:cubicBezTo>
                    <a:pt x="86" y="0"/>
                    <a:pt x="92" y="6"/>
                    <a:pt x="92" y="13"/>
                  </a:cubicBezTo>
                  <a:cubicBezTo>
                    <a:pt x="92" y="24"/>
                    <a:pt x="92" y="24"/>
                    <a:pt x="92" y="24"/>
                  </a:cubicBezTo>
                  <a:cubicBezTo>
                    <a:pt x="92" y="26"/>
                    <a:pt x="90" y="28"/>
                    <a:pt x="88" y="28"/>
                  </a:cubicBezTo>
                  <a:close/>
                </a:path>
              </a:pathLst>
            </a:cu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7" name="Freeform 36"/>
            <p:cNvSpPr>
              <a:spLocks noEditPoints="1"/>
            </p:cNvSpPr>
            <p:nvPr/>
          </p:nvSpPr>
          <p:spPr bwMode="auto">
            <a:xfrm>
              <a:off x="4581526" y="3011488"/>
              <a:ext cx="203200" cy="103188"/>
            </a:xfrm>
            <a:custGeom>
              <a:avLst/>
              <a:gdLst>
                <a:gd name="T0" fmla="*/ 79 w 92"/>
                <a:gd name="T1" fmla="*/ 47 h 47"/>
                <a:gd name="T2" fmla="*/ 12 w 92"/>
                <a:gd name="T3" fmla="*/ 47 h 47"/>
                <a:gd name="T4" fmla="*/ 0 w 92"/>
                <a:gd name="T5" fmla="*/ 35 h 47"/>
                <a:gd name="T6" fmla="*/ 0 w 92"/>
                <a:gd name="T7" fmla="*/ 4 h 47"/>
                <a:gd name="T8" fmla="*/ 4 w 92"/>
                <a:gd name="T9" fmla="*/ 0 h 47"/>
                <a:gd name="T10" fmla="*/ 88 w 92"/>
                <a:gd name="T11" fmla="*/ 0 h 47"/>
                <a:gd name="T12" fmla="*/ 92 w 92"/>
                <a:gd name="T13" fmla="*/ 4 h 47"/>
                <a:gd name="T14" fmla="*/ 92 w 92"/>
                <a:gd name="T15" fmla="*/ 35 h 47"/>
                <a:gd name="T16" fmla="*/ 79 w 92"/>
                <a:gd name="T17" fmla="*/ 47 h 47"/>
                <a:gd name="T18" fmla="*/ 8 w 92"/>
                <a:gd name="T19" fmla="*/ 8 h 47"/>
                <a:gd name="T20" fmla="*/ 8 w 92"/>
                <a:gd name="T21" fmla="*/ 35 h 47"/>
                <a:gd name="T22" fmla="*/ 12 w 92"/>
                <a:gd name="T23" fmla="*/ 39 h 47"/>
                <a:gd name="T24" fmla="*/ 79 w 92"/>
                <a:gd name="T25" fmla="*/ 39 h 47"/>
                <a:gd name="T26" fmla="*/ 84 w 92"/>
                <a:gd name="T27" fmla="*/ 35 h 47"/>
                <a:gd name="T28" fmla="*/ 84 w 92"/>
                <a:gd name="T29" fmla="*/ 8 h 47"/>
                <a:gd name="T30" fmla="*/ 8 w 92"/>
                <a:gd name="T31" fmla="*/ 8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2" h="47">
                  <a:moveTo>
                    <a:pt x="79" y="47"/>
                  </a:moveTo>
                  <a:cubicBezTo>
                    <a:pt x="12" y="47"/>
                    <a:pt x="12" y="47"/>
                    <a:pt x="12" y="47"/>
                  </a:cubicBezTo>
                  <a:cubicBezTo>
                    <a:pt x="6" y="47"/>
                    <a:pt x="0" y="41"/>
                    <a:pt x="0" y="35"/>
                  </a:cubicBezTo>
                  <a:cubicBezTo>
                    <a:pt x="0" y="4"/>
                    <a:pt x="0" y="4"/>
                    <a:pt x="0" y="4"/>
                  </a:cubicBezTo>
                  <a:cubicBezTo>
                    <a:pt x="0" y="1"/>
                    <a:pt x="2" y="0"/>
                    <a:pt x="4" y="0"/>
                  </a:cubicBezTo>
                  <a:cubicBezTo>
                    <a:pt x="88" y="0"/>
                    <a:pt x="88" y="0"/>
                    <a:pt x="88" y="0"/>
                  </a:cubicBezTo>
                  <a:cubicBezTo>
                    <a:pt x="90" y="0"/>
                    <a:pt x="92" y="1"/>
                    <a:pt x="92" y="4"/>
                  </a:cubicBezTo>
                  <a:cubicBezTo>
                    <a:pt x="92" y="35"/>
                    <a:pt x="92" y="35"/>
                    <a:pt x="92" y="35"/>
                  </a:cubicBezTo>
                  <a:cubicBezTo>
                    <a:pt x="92" y="41"/>
                    <a:pt x="86" y="47"/>
                    <a:pt x="79" y="47"/>
                  </a:cubicBezTo>
                  <a:close/>
                  <a:moveTo>
                    <a:pt x="8" y="8"/>
                  </a:moveTo>
                  <a:cubicBezTo>
                    <a:pt x="8" y="35"/>
                    <a:pt x="8" y="35"/>
                    <a:pt x="8" y="35"/>
                  </a:cubicBezTo>
                  <a:cubicBezTo>
                    <a:pt x="8" y="37"/>
                    <a:pt x="10" y="39"/>
                    <a:pt x="12" y="39"/>
                  </a:cubicBezTo>
                  <a:cubicBezTo>
                    <a:pt x="79" y="39"/>
                    <a:pt x="79" y="39"/>
                    <a:pt x="79" y="39"/>
                  </a:cubicBezTo>
                  <a:cubicBezTo>
                    <a:pt x="82" y="39"/>
                    <a:pt x="84" y="37"/>
                    <a:pt x="84" y="35"/>
                  </a:cubicBezTo>
                  <a:cubicBezTo>
                    <a:pt x="84" y="8"/>
                    <a:pt x="84" y="8"/>
                    <a:pt x="84" y="8"/>
                  </a:cubicBezTo>
                  <a:lnTo>
                    <a:pt x="8" y="8"/>
                  </a:lnTo>
                  <a:close/>
                </a:path>
              </a:pathLst>
            </a:cu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8" name="Freeform 37"/>
            <p:cNvSpPr>
              <a:spLocks/>
            </p:cNvSpPr>
            <p:nvPr/>
          </p:nvSpPr>
          <p:spPr bwMode="auto">
            <a:xfrm>
              <a:off x="4586288" y="3051175"/>
              <a:ext cx="195263" cy="17463"/>
            </a:xfrm>
            <a:custGeom>
              <a:avLst/>
              <a:gdLst>
                <a:gd name="T0" fmla="*/ 84 w 88"/>
                <a:gd name="T1" fmla="*/ 8 h 8"/>
                <a:gd name="T2" fmla="*/ 4 w 88"/>
                <a:gd name="T3" fmla="*/ 8 h 8"/>
                <a:gd name="T4" fmla="*/ 0 w 88"/>
                <a:gd name="T5" fmla="*/ 4 h 8"/>
                <a:gd name="T6" fmla="*/ 4 w 88"/>
                <a:gd name="T7" fmla="*/ 0 h 8"/>
                <a:gd name="T8" fmla="*/ 84 w 88"/>
                <a:gd name="T9" fmla="*/ 0 h 8"/>
                <a:gd name="T10" fmla="*/ 88 w 88"/>
                <a:gd name="T11" fmla="*/ 4 h 8"/>
                <a:gd name="T12" fmla="*/ 84 w 88"/>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88" h="8">
                  <a:moveTo>
                    <a:pt x="84" y="8"/>
                  </a:moveTo>
                  <a:cubicBezTo>
                    <a:pt x="4" y="8"/>
                    <a:pt x="4" y="8"/>
                    <a:pt x="4" y="8"/>
                  </a:cubicBezTo>
                  <a:cubicBezTo>
                    <a:pt x="2" y="8"/>
                    <a:pt x="0" y="6"/>
                    <a:pt x="0" y="4"/>
                  </a:cubicBezTo>
                  <a:cubicBezTo>
                    <a:pt x="0" y="2"/>
                    <a:pt x="2" y="0"/>
                    <a:pt x="4" y="0"/>
                  </a:cubicBezTo>
                  <a:cubicBezTo>
                    <a:pt x="84" y="0"/>
                    <a:pt x="84" y="0"/>
                    <a:pt x="84" y="0"/>
                  </a:cubicBezTo>
                  <a:cubicBezTo>
                    <a:pt x="86" y="0"/>
                    <a:pt x="88" y="2"/>
                    <a:pt x="88" y="4"/>
                  </a:cubicBezTo>
                  <a:cubicBezTo>
                    <a:pt x="88" y="6"/>
                    <a:pt x="86" y="8"/>
                    <a:pt x="84" y="8"/>
                  </a:cubicBezTo>
                  <a:close/>
                </a:path>
              </a:pathLst>
            </a:cu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59" name="Freeform 38"/>
            <p:cNvSpPr>
              <a:spLocks/>
            </p:cNvSpPr>
            <p:nvPr/>
          </p:nvSpPr>
          <p:spPr bwMode="auto">
            <a:xfrm>
              <a:off x="4700588" y="2636838"/>
              <a:ext cx="106363" cy="246063"/>
            </a:xfrm>
            <a:custGeom>
              <a:avLst/>
              <a:gdLst>
                <a:gd name="T0" fmla="*/ 5 w 48"/>
                <a:gd name="T1" fmla="*/ 111 h 111"/>
                <a:gd name="T2" fmla="*/ 3 w 48"/>
                <a:gd name="T3" fmla="*/ 110 h 111"/>
                <a:gd name="T4" fmla="*/ 1 w 48"/>
                <a:gd name="T5" fmla="*/ 105 h 111"/>
                <a:gd name="T6" fmla="*/ 40 w 48"/>
                <a:gd name="T7" fmla="*/ 3 h 111"/>
                <a:gd name="T8" fmla="*/ 45 w 48"/>
                <a:gd name="T9" fmla="*/ 1 h 111"/>
                <a:gd name="T10" fmla="*/ 48 w 48"/>
                <a:gd name="T11" fmla="*/ 6 h 111"/>
                <a:gd name="T12" fmla="*/ 8 w 48"/>
                <a:gd name="T13" fmla="*/ 108 h 111"/>
                <a:gd name="T14" fmla="*/ 5 w 48"/>
                <a:gd name="T15" fmla="*/ 111 h 1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11">
                  <a:moveTo>
                    <a:pt x="5" y="111"/>
                  </a:moveTo>
                  <a:cubicBezTo>
                    <a:pt x="4" y="111"/>
                    <a:pt x="4" y="111"/>
                    <a:pt x="3" y="110"/>
                  </a:cubicBezTo>
                  <a:cubicBezTo>
                    <a:pt x="1" y="110"/>
                    <a:pt x="0" y="107"/>
                    <a:pt x="1" y="105"/>
                  </a:cubicBezTo>
                  <a:cubicBezTo>
                    <a:pt x="40" y="3"/>
                    <a:pt x="40" y="3"/>
                    <a:pt x="40" y="3"/>
                  </a:cubicBezTo>
                  <a:cubicBezTo>
                    <a:pt x="41" y="1"/>
                    <a:pt x="43" y="0"/>
                    <a:pt x="45" y="1"/>
                  </a:cubicBezTo>
                  <a:cubicBezTo>
                    <a:pt x="47" y="2"/>
                    <a:pt x="48" y="4"/>
                    <a:pt x="48" y="6"/>
                  </a:cubicBezTo>
                  <a:cubicBezTo>
                    <a:pt x="8" y="108"/>
                    <a:pt x="8" y="108"/>
                    <a:pt x="8" y="108"/>
                  </a:cubicBezTo>
                  <a:cubicBezTo>
                    <a:pt x="8" y="110"/>
                    <a:pt x="6" y="111"/>
                    <a:pt x="5" y="111"/>
                  </a:cubicBezTo>
                  <a:close/>
                </a:path>
              </a:pathLst>
            </a:cu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0" name="Freeform 39"/>
            <p:cNvSpPr>
              <a:spLocks/>
            </p:cNvSpPr>
            <p:nvPr/>
          </p:nvSpPr>
          <p:spPr bwMode="auto">
            <a:xfrm>
              <a:off x="4557713" y="2636838"/>
              <a:ext cx="107950" cy="246063"/>
            </a:xfrm>
            <a:custGeom>
              <a:avLst/>
              <a:gdLst>
                <a:gd name="T0" fmla="*/ 44 w 49"/>
                <a:gd name="T1" fmla="*/ 111 h 111"/>
                <a:gd name="T2" fmla="*/ 41 w 49"/>
                <a:gd name="T3" fmla="*/ 108 h 111"/>
                <a:gd name="T4" fmla="*/ 1 w 49"/>
                <a:gd name="T5" fmla="*/ 6 h 111"/>
                <a:gd name="T6" fmla="*/ 3 w 49"/>
                <a:gd name="T7" fmla="*/ 1 h 111"/>
                <a:gd name="T8" fmla="*/ 9 w 49"/>
                <a:gd name="T9" fmla="*/ 3 h 111"/>
                <a:gd name="T10" fmla="*/ 48 w 49"/>
                <a:gd name="T11" fmla="*/ 105 h 111"/>
                <a:gd name="T12" fmla="*/ 46 w 49"/>
                <a:gd name="T13" fmla="*/ 110 h 111"/>
                <a:gd name="T14" fmla="*/ 44 w 49"/>
                <a:gd name="T15" fmla="*/ 111 h 1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111">
                  <a:moveTo>
                    <a:pt x="44" y="111"/>
                  </a:moveTo>
                  <a:cubicBezTo>
                    <a:pt x="43" y="111"/>
                    <a:pt x="41" y="110"/>
                    <a:pt x="41" y="108"/>
                  </a:cubicBezTo>
                  <a:cubicBezTo>
                    <a:pt x="1" y="6"/>
                    <a:pt x="1" y="6"/>
                    <a:pt x="1" y="6"/>
                  </a:cubicBezTo>
                  <a:cubicBezTo>
                    <a:pt x="0" y="4"/>
                    <a:pt x="1" y="2"/>
                    <a:pt x="3" y="1"/>
                  </a:cubicBezTo>
                  <a:cubicBezTo>
                    <a:pt x="5" y="0"/>
                    <a:pt x="8" y="1"/>
                    <a:pt x="9" y="3"/>
                  </a:cubicBezTo>
                  <a:cubicBezTo>
                    <a:pt x="48" y="105"/>
                    <a:pt x="48" y="105"/>
                    <a:pt x="48" y="105"/>
                  </a:cubicBezTo>
                  <a:cubicBezTo>
                    <a:pt x="49" y="107"/>
                    <a:pt x="48" y="110"/>
                    <a:pt x="46" y="110"/>
                  </a:cubicBezTo>
                  <a:cubicBezTo>
                    <a:pt x="45" y="111"/>
                    <a:pt x="45" y="111"/>
                    <a:pt x="44" y="111"/>
                  </a:cubicBezTo>
                  <a:close/>
                </a:path>
              </a:pathLst>
            </a:cu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1" name="Oval 40"/>
            <p:cNvSpPr>
              <a:spLocks noChangeArrowheads="1"/>
            </p:cNvSpPr>
            <p:nvPr/>
          </p:nvSpPr>
          <p:spPr bwMode="auto">
            <a:xfrm>
              <a:off x="4770438" y="2616200"/>
              <a:ext cx="57150" cy="60325"/>
            </a:xfrm>
            <a:prstGeom prst="ellipse">
              <a:avLst/>
            </a:pr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2" name="Oval 41"/>
            <p:cNvSpPr>
              <a:spLocks noChangeArrowheads="1"/>
            </p:cNvSpPr>
            <p:nvPr/>
          </p:nvSpPr>
          <p:spPr bwMode="auto">
            <a:xfrm>
              <a:off x="4537076" y="2616200"/>
              <a:ext cx="60325" cy="60325"/>
            </a:xfrm>
            <a:prstGeom prst="ellipse">
              <a:avLst/>
            </a:prstGeom>
            <a:solidFill>
              <a:srgbClr val="00BCD4"/>
            </a:solidFill>
            <a:ln w="9525">
              <a:solidFill>
                <a:srgbClr val="099481"/>
              </a:solid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3" name="Freeform 42"/>
            <p:cNvSpPr>
              <a:spLocks/>
            </p:cNvSpPr>
            <p:nvPr/>
          </p:nvSpPr>
          <p:spPr bwMode="auto">
            <a:xfrm>
              <a:off x="7542213" y="5167313"/>
              <a:ext cx="365125" cy="47625"/>
            </a:xfrm>
            <a:custGeom>
              <a:avLst/>
              <a:gdLst>
                <a:gd name="T0" fmla="*/ 154 w 165"/>
                <a:gd name="T1" fmla="*/ 22 h 22"/>
                <a:gd name="T2" fmla="*/ 11 w 165"/>
                <a:gd name="T3" fmla="*/ 22 h 22"/>
                <a:gd name="T4" fmla="*/ 0 w 165"/>
                <a:gd name="T5" fmla="*/ 11 h 22"/>
                <a:gd name="T6" fmla="*/ 0 w 165"/>
                <a:gd name="T7" fmla="*/ 11 h 22"/>
                <a:gd name="T8" fmla="*/ 11 w 165"/>
                <a:gd name="T9" fmla="*/ 0 h 22"/>
                <a:gd name="T10" fmla="*/ 154 w 165"/>
                <a:gd name="T11" fmla="*/ 0 h 22"/>
                <a:gd name="T12" fmla="*/ 165 w 165"/>
                <a:gd name="T13" fmla="*/ 11 h 22"/>
                <a:gd name="T14" fmla="*/ 165 w 165"/>
                <a:gd name="T15" fmla="*/ 11 h 22"/>
                <a:gd name="T16" fmla="*/ 154 w 165"/>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 h="22">
                  <a:moveTo>
                    <a:pt x="154" y="22"/>
                  </a:moveTo>
                  <a:cubicBezTo>
                    <a:pt x="11" y="22"/>
                    <a:pt x="11" y="22"/>
                    <a:pt x="11" y="22"/>
                  </a:cubicBezTo>
                  <a:cubicBezTo>
                    <a:pt x="5" y="22"/>
                    <a:pt x="0" y="17"/>
                    <a:pt x="0" y="11"/>
                  </a:cubicBezTo>
                  <a:cubicBezTo>
                    <a:pt x="0" y="11"/>
                    <a:pt x="0" y="11"/>
                    <a:pt x="0" y="11"/>
                  </a:cubicBezTo>
                  <a:cubicBezTo>
                    <a:pt x="0" y="5"/>
                    <a:pt x="5" y="0"/>
                    <a:pt x="11" y="0"/>
                  </a:cubicBezTo>
                  <a:cubicBezTo>
                    <a:pt x="154" y="0"/>
                    <a:pt x="154" y="0"/>
                    <a:pt x="154" y="0"/>
                  </a:cubicBezTo>
                  <a:cubicBezTo>
                    <a:pt x="160" y="0"/>
                    <a:pt x="165" y="5"/>
                    <a:pt x="165" y="11"/>
                  </a:cubicBezTo>
                  <a:cubicBezTo>
                    <a:pt x="165" y="11"/>
                    <a:pt x="165" y="11"/>
                    <a:pt x="165" y="11"/>
                  </a:cubicBezTo>
                  <a:cubicBezTo>
                    <a:pt x="165" y="17"/>
                    <a:pt x="160" y="22"/>
                    <a:pt x="154" y="22"/>
                  </a:cubicBezTo>
                  <a:close/>
                </a:path>
              </a:pathLst>
            </a:custGeom>
            <a:solidFill>
              <a:srgbClr val="099481"/>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4" name="Freeform 43"/>
            <p:cNvSpPr>
              <a:spLocks/>
            </p:cNvSpPr>
            <p:nvPr/>
          </p:nvSpPr>
          <p:spPr bwMode="auto">
            <a:xfrm>
              <a:off x="7600951" y="5235575"/>
              <a:ext cx="246063" cy="49213"/>
            </a:xfrm>
            <a:custGeom>
              <a:avLst/>
              <a:gdLst>
                <a:gd name="T0" fmla="*/ 102 w 111"/>
                <a:gd name="T1" fmla="*/ 22 h 22"/>
                <a:gd name="T2" fmla="*/ 9 w 111"/>
                <a:gd name="T3" fmla="*/ 22 h 22"/>
                <a:gd name="T4" fmla="*/ 0 w 111"/>
                <a:gd name="T5" fmla="*/ 13 h 22"/>
                <a:gd name="T6" fmla="*/ 0 w 111"/>
                <a:gd name="T7" fmla="*/ 9 h 22"/>
                <a:gd name="T8" fmla="*/ 9 w 111"/>
                <a:gd name="T9" fmla="*/ 0 h 22"/>
                <a:gd name="T10" fmla="*/ 102 w 111"/>
                <a:gd name="T11" fmla="*/ 0 h 22"/>
                <a:gd name="T12" fmla="*/ 111 w 111"/>
                <a:gd name="T13" fmla="*/ 9 h 22"/>
                <a:gd name="T14" fmla="*/ 111 w 111"/>
                <a:gd name="T15" fmla="*/ 13 h 22"/>
                <a:gd name="T16" fmla="*/ 102 w 111"/>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22">
                  <a:moveTo>
                    <a:pt x="102" y="22"/>
                  </a:moveTo>
                  <a:cubicBezTo>
                    <a:pt x="9" y="22"/>
                    <a:pt x="9" y="22"/>
                    <a:pt x="9" y="22"/>
                  </a:cubicBezTo>
                  <a:cubicBezTo>
                    <a:pt x="4" y="22"/>
                    <a:pt x="0" y="18"/>
                    <a:pt x="0" y="13"/>
                  </a:cubicBezTo>
                  <a:cubicBezTo>
                    <a:pt x="0" y="9"/>
                    <a:pt x="0" y="9"/>
                    <a:pt x="0" y="9"/>
                  </a:cubicBezTo>
                  <a:cubicBezTo>
                    <a:pt x="0" y="4"/>
                    <a:pt x="4" y="0"/>
                    <a:pt x="9" y="0"/>
                  </a:cubicBezTo>
                  <a:cubicBezTo>
                    <a:pt x="102" y="0"/>
                    <a:pt x="102" y="0"/>
                    <a:pt x="102" y="0"/>
                  </a:cubicBezTo>
                  <a:cubicBezTo>
                    <a:pt x="107" y="0"/>
                    <a:pt x="111" y="4"/>
                    <a:pt x="111" y="9"/>
                  </a:cubicBezTo>
                  <a:cubicBezTo>
                    <a:pt x="111" y="13"/>
                    <a:pt x="111" y="13"/>
                    <a:pt x="111" y="13"/>
                  </a:cubicBezTo>
                  <a:cubicBezTo>
                    <a:pt x="111" y="18"/>
                    <a:pt x="107" y="22"/>
                    <a:pt x="102" y="22"/>
                  </a:cubicBezTo>
                  <a:close/>
                </a:path>
              </a:pathLst>
            </a:custGeom>
            <a:solidFill>
              <a:srgbClr val="099481"/>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5" name="Freeform 44"/>
            <p:cNvSpPr>
              <a:spLocks/>
            </p:cNvSpPr>
            <p:nvPr/>
          </p:nvSpPr>
          <p:spPr bwMode="auto">
            <a:xfrm>
              <a:off x="7542213" y="5100638"/>
              <a:ext cx="365125" cy="49213"/>
            </a:xfrm>
            <a:custGeom>
              <a:avLst/>
              <a:gdLst>
                <a:gd name="T0" fmla="*/ 154 w 165"/>
                <a:gd name="T1" fmla="*/ 22 h 22"/>
                <a:gd name="T2" fmla="*/ 11 w 165"/>
                <a:gd name="T3" fmla="*/ 22 h 22"/>
                <a:gd name="T4" fmla="*/ 0 w 165"/>
                <a:gd name="T5" fmla="*/ 11 h 22"/>
                <a:gd name="T6" fmla="*/ 0 w 165"/>
                <a:gd name="T7" fmla="*/ 11 h 22"/>
                <a:gd name="T8" fmla="*/ 11 w 165"/>
                <a:gd name="T9" fmla="*/ 0 h 22"/>
                <a:gd name="T10" fmla="*/ 154 w 165"/>
                <a:gd name="T11" fmla="*/ 0 h 22"/>
                <a:gd name="T12" fmla="*/ 165 w 165"/>
                <a:gd name="T13" fmla="*/ 11 h 22"/>
                <a:gd name="T14" fmla="*/ 165 w 165"/>
                <a:gd name="T15" fmla="*/ 11 h 22"/>
                <a:gd name="T16" fmla="*/ 154 w 165"/>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 h="22">
                  <a:moveTo>
                    <a:pt x="154" y="22"/>
                  </a:moveTo>
                  <a:cubicBezTo>
                    <a:pt x="11" y="22"/>
                    <a:pt x="11" y="22"/>
                    <a:pt x="11" y="22"/>
                  </a:cubicBezTo>
                  <a:cubicBezTo>
                    <a:pt x="5" y="22"/>
                    <a:pt x="0" y="17"/>
                    <a:pt x="0" y="11"/>
                  </a:cubicBezTo>
                  <a:cubicBezTo>
                    <a:pt x="0" y="11"/>
                    <a:pt x="0" y="11"/>
                    <a:pt x="0" y="11"/>
                  </a:cubicBezTo>
                  <a:cubicBezTo>
                    <a:pt x="0" y="5"/>
                    <a:pt x="5" y="0"/>
                    <a:pt x="11" y="0"/>
                  </a:cubicBezTo>
                  <a:cubicBezTo>
                    <a:pt x="154" y="0"/>
                    <a:pt x="154" y="0"/>
                    <a:pt x="154" y="0"/>
                  </a:cubicBezTo>
                  <a:cubicBezTo>
                    <a:pt x="160" y="0"/>
                    <a:pt x="165" y="5"/>
                    <a:pt x="165" y="11"/>
                  </a:cubicBezTo>
                  <a:cubicBezTo>
                    <a:pt x="165" y="11"/>
                    <a:pt x="165" y="11"/>
                    <a:pt x="165" y="11"/>
                  </a:cubicBezTo>
                  <a:cubicBezTo>
                    <a:pt x="165" y="17"/>
                    <a:pt x="160" y="22"/>
                    <a:pt x="154" y="22"/>
                  </a:cubicBezTo>
                  <a:close/>
                </a:path>
              </a:pathLst>
            </a:custGeom>
            <a:solidFill>
              <a:srgbClr val="099481"/>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6" name="Freeform 45"/>
            <p:cNvSpPr>
              <a:spLocks noEditPoints="1"/>
            </p:cNvSpPr>
            <p:nvPr/>
          </p:nvSpPr>
          <p:spPr bwMode="auto">
            <a:xfrm>
              <a:off x="7300913" y="3971925"/>
              <a:ext cx="847725" cy="1108075"/>
            </a:xfrm>
            <a:custGeom>
              <a:avLst/>
              <a:gdLst>
                <a:gd name="T0" fmla="*/ 273 w 383"/>
                <a:gd name="T1" fmla="*/ 479 h 501"/>
                <a:gd name="T2" fmla="*/ 271 w 383"/>
                <a:gd name="T3" fmla="*/ 479 h 501"/>
                <a:gd name="T4" fmla="*/ 383 w 383"/>
                <a:gd name="T5" fmla="*/ 177 h 501"/>
                <a:gd name="T6" fmla="*/ 192 w 383"/>
                <a:gd name="T7" fmla="*/ 0 h 501"/>
                <a:gd name="T8" fmla="*/ 0 w 383"/>
                <a:gd name="T9" fmla="*/ 177 h 501"/>
                <a:gd name="T10" fmla="*/ 112 w 383"/>
                <a:gd name="T11" fmla="*/ 479 h 501"/>
                <a:gd name="T12" fmla="*/ 110 w 383"/>
                <a:gd name="T13" fmla="*/ 479 h 501"/>
                <a:gd name="T14" fmla="*/ 97 w 383"/>
                <a:gd name="T15" fmla="*/ 490 h 501"/>
                <a:gd name="T16" fmla="*/ 110 w 383"/>
                <a:gd name="T17" fmla="*/ 501 h 501"/>
                <a:gd name="T18" fmla="*/ 273 w 383"/>
                <a:gd name="T19" fmla="*/ 501 h 501"/>
                <a:gd name="T20" fmla="*/ 286 w 383"/>
                <a:gd name="T21" fmla="*/ 490 h 501"/>
                <a:gd name="T22" fmla="*/ 273 w 383"/>
                <a:gd name="T23" fmla="*/ 479 h 501"/>
                <a:gd name="T24" fmla="*/ 255 w 383"/>
                <a:gd name="T25" fmla="*/ 303 h 501"/>
                <a:gd name="T26" fmla="*/ 215 w 383"/>
                <a:gd name="T27" fmla="*/ 381 h 501"/>
                <a:gd name="T28" fmla="*/ 215 w 383"/>
                <a:gd name="T29" fmla="*/ 470 h 501"/>
                <a:gd name="T30" fmla="*/ 208 w 383"/>
                <a:gd name="T31" fmla="*/ 476 h 501"/>
                <a:gd name="T32" fmla="*/ 201 w 383"/>
                <a:gd name="T33" fmla="*/ 470 h 501"/>
                <a:gd name="T34" fmla="*/ 201 w 383"/>
                <a:gd name="T35" fmla="*/ 380 h 501"/>
                <a:gd name="T36" fmla="*/ 202 w 383"/>
                <a:gd name="T37" fmla="*/ 377 h 501"/>
                <a:gd name="T38" fmla="*/ 238 w 383"/>
                <a:gd name="T39" fmla="*/ 307 h 501"/>
                <a:gd name="T40" fmla="*/ 145 w 383"/>
                <a:gd name="T41" fmla="*/ 307 h 501"/>
                <a:gd name="T42" fmla="*/ 181 w 383"/>
                <a:gd name="T43" fmla="*/ 377 h 501"/>
                <a:gd name="T44" fmla="*/ 182 w 383"/>
                <a:gd name="T45" fmla="*/ 380 h 501"/>
                <a:gd name="T46" fmla="*/ 182 w 383"/>
                <a:gd name="T47" fmla="*/ 470 h 501"/>
                <a:gd name="T48" fmla="*/ 175 w 383"/>
                <a:gd name="T49" fmla="*/ 476 h 501"/>
                <a:gd name="T50" fmla="*/ 168 w 383"/>
                <a:gd name="T51" fmla="*/ 470 h 501"/>
                <a:gd name="T52" fmla="*/ 168 w 383"/>
                <a:gd name="T53" fmla="*/ 381 h 501"/>
                <a:gd name="T54" fmla="*/ 128 w 383"/>
                <a:gd name="T55" fmla="*/ 303 h 501"/>
                <a:gd name="T56" fmla="*/ 128 w 383"/>
                <a:gd name="T57" fmla="*/ 297 h 501"/>
                <a:gd name="T58" fmla="*/ 134 w 383"/>
                <a:gd name="T59" fmla="*/ 294 h 501"/>
                <a:gd name="T60" fmla="*/ 249 w 383"/>
                <a:gd name="T61" fmla="*/ 294 h 501"/>
                <a:gd name="T62" fmla="*/ 255 w 383"/>
                <a:gd name="T63" fmla="*/ 297 h 501"/>
                <a:gd name="T64" fmla="*/ 255 w 383"/>
                <a:gd name="T65" fmla="*/ 303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3" h="501">
                  <a:moveTo>
                    <a:pt x="273" y="479"/>
                  </a:moveTo>
                  <a:cubicBezTo>
                    <a:pt x="271" y="479"/>
                    <a:pt x="271" y="479"/>
                    <a:pt x="271" y="479"/>
                  </a:cubicBezTo>
                  <a:cubicBezTo>
                    <a:pt x="271" y="363"/>
                    <a:pt x="383" y="290"/>
                    <a:pt x="383" y="177"/>
                  </a:cubicBezTo>
                  <a:cubicBezTo>
                    <a:pt x="383" y="97"/>
                    <a:pt x="305" y="0"/>
                    <a:pt x="192" y="0"/>
                  </a:cubicBezTo>
                  <a:cubicBezTo>
                    <a:pt x="62" y="0"/>
                    <a:pt x="0" y="97"/>
                    <a:pt x="0" y="177"/>
                  </a:cubicBezTo>
                  <a:cubicBezTo>
                    <a:pt x="0" y="290"/>
                    <a:pt x="112" y="363"/>
                    <a:pt x="112" y="479"/>
                  </a:cubicBezTo>
                  <a:cubicBezTo>
                    <a:pt x="110" y="479"/>
                    <a:pt x="110" y="479"/>
                    <a:pt x="110" y="479"/>
                  </a:cubicBezTo>
                  <a:cubicBezTo>
                    <a:pt x="103" y="479"/>
                    <a:pt x="97" y="484"/>
                    <a:pt x="97" y="490"/>
                  </a:cubicBezTo>
                  <a:cubicBezTo>
                    <a:pt x="97" y="496"/>
                    <a:pt x="103" y="501"/>
                    <a:pt x="110" y="501"/>
                  </a:cubicBezTo>
                  <a:cubicBezTo>
                    <a:pt x="273" y="501"/>
                    <a:pt x="273" y="501"/>
                    <a:pt x="273" y="501"/>
                  </a:cubicBezTo>
                  <a:cubicBezTo>
                    <a:pt x="280" y="501"/>
                    <a:pt x="286" y="496"/>
                    <a:pt x="286" y="490"/>
                  </a:cubicBezTo>
                  <a:cubicBezTo>
                    <a:pt x="286" y="484"/>
                    <a:pt x="280" y="479"/>
                    <a:pt x="273" y="479"/>
                  </a:cubicBezTo>
                  <a:close/>
                  <a:moveTo>
                    <a:pt x="255" y="303"/>
                  </a:moveTo>
                  <a:cubicBezTo>
                    <a:pt x="215" y="381"/>
                    <a:pt x="215" y="381"/>
                    <a:pt x="215" y="381"/>
                  </a:cubicBezTo>
                  <a:cubicBezTo>
                    <a:pt x="215" y="470"/>
                    <a:pt x="215" y="470"/>
                    <a:pt x="215" y="470"/>
                  </a:cubicBezTo>
                  <a:cubicBezTo>
                    <a:pt x="215" y="473"/>
                    <a:pt x="212" y="476"/>
                    <a:pt x="208" y="476"/>
                  </a:cubicBezTo>
                  <a:cubicBezTo>
                    <a:pt x="204" y="476"/>
                    <a:pt x="201" y="473"/>
                    <a:pt x="201" y="470"/>
                  </a:cubicBezTo>
                  <a:cubicBezTo>
                    <a:pt x="201" y="380"/>
                    <a:pt x="201" y="380"/>
                    <a:pt x="201" y="380"/>
                  </a:cubicBezTo>
                  <a:cubicBezTo>
                    <a:pt x="201" y="379"/>
                    <a:pt x="202" y="377"/>
                    <a:pt x="202" y="377"/>
                  </a:cubicBezTo>
                  <a:cubicBezTo>
                    <a:pt x="238" y="307"/>
                    <a:pt x="238" y="307"/>
                    <a:pt x="238" y="307"/>
                  </a:cubicBezTo>
                  <a:cubicBezTo>
                    <a:pt x="145" y="307"/>
                    <a:pt x="145" y="307"/>
                    <a:pt x="145" y="307"/>
                  </a:cubicBezTo>
                  <a:cubicBezTo>
                    <a:pt x="181" y="377"/>
                    <a:pt x="181" y="377"/>
                    <a:pt x="181" y="377"/>
                  </a:cubicBezTo>
                  <a:cubicBezTo>
                    <a:pt x="181" y="377"/>
                    <a:pt x="182" y="379"/>
                    <a:pt x="182" y="380"/>
                  </a:cubicBezTo>
                  <a:cubicBezTo>
                    <a:pt x="182" y="470"/>
                    <a:pt x="182" y="470"/>
                    <a:pt x="182" y="470"/>
                  </a:cubicBezTo>
                  <a:cubicBezTo>
                    <a:pt x="182" y="473"/>
                    <a:pt x="179" y="476"/>
                    <a:pt x="175" y="476"/>
                  </a:cubicBezTo>
                  <a:cubicBezTo>
                    <a:pt x="171" y="476"/>
                    <a:pt x="168" y="473"/>
                    <a:pt x="168" y="470"/>
                  </a:cubicBezTo>
                  <a:cubicBezTo>
                    <a:pt x="168" y="381"/>
                    <a:pt x="168" y="381"/>
                    <a:pt x="168" y="381"/>
                  </a:cubicBezTo>
                  <a:cubicBezTo>
                    <a:pt x="128" y="303"/>
                    <a:pt x="128" y="303"/>
                    <a:pt x="128" y="303"/>
                  </a:cubicBezTo>
                  <a:cubicBezTo>
                    <a:pt x="127" y="301"/>
                    <a:pt x="127" y="299"/>
                    <a:pt x="128" y="297"/>
                  </a:cubicBezTo>
                  <a:cubicBezTo>
                    <a:pt x="130" y="295"/>
                    <a:pt x="132" y="294"/>
                    <a:pt x="134" y="294"/>
                  </a:cubicBezTo>
                  <a:cubicBezTo>
                    <a:pt x="249" y="294"/>
                    <a:pt x="249" y="294"/>
                    <a:pt x="249" y="294"/>
                  </a:cubicBezTo>
                  <a:cubicBezTo>
                    <a:pt x="251" y="294"/>
                    <a:pt x="253" y="295"/>
                    <a:pt x="255" y="297"/>
                  </a:cubicBezTo>
                  <a:cubicBezTo>
                    <a:pt x="256" y="299"/>
                    <a:pt x="256" y="301"/>
                    <a:pt x="255" y="303"/>
                  </a:cubicBezTo>
                  <a:close/>
                </a:path>
              </a:pathLst>
            </a:custGeom>
            <a:solidFill>
              <a:srgbClr val="099481"/>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7" name="Freeform 46"/>
            <p:cNvSpPr>
              <a:spLocks/>
            </p:cNvSpPr>
            <p:nvPr/>
          </p:nvSpPr>
          <p:spPr bwMode="auto">
            <a:xfrm>
              <a:off x="6278563" y="5275263"/>
              <a:ext cx="1447800" cy="1582738"/>
            </a:xfrm>
            <a:custGeom>
              <a:avLst/>
              <a:gdLst>
                <a:gd name="T0" fmla="*/ 653 w 653"/>
                <a:gd name="T1" fmla="*/ 0 h 715"/>
                <a:gd name="T2" fmla="*/ 653 w 653"/>
                <a:gd name="T3" fmla="*/ 180 h 715"/>
                <a:gd name="T4" fmla="*/ 512 w 653"/>
                <a:gd name="T5" fmla="*/ 320 h 715"/>
                <a:gd name="T6" fmla="*/ 141 w 653"/>
                <a:gd name="T7" fmla="*/ 320 h 715"/>
                <a:gd name="T8" fmla="*/ 0 w 653"/>
                <a:gd name="T9" fmla="*/ 460 h 715"/>
                <a:gd name="T10" fmla="*/ 0 w 653"/>
                <a:gd name="T11" fmla="*/ 715 h 715"/>
              </a:gdLst>
              <a:ahLst/>
              <a:cxnLst>
                <a:cxn ang="0">
                  <a:pos x="T0" y="T1"/>
                </a:cxn>
                <a:cxn ang="0">
                  <a:pos x="T2" y="T3"/>
                </a:cxn>
                <a:cxn ang="0">
                  <a:pos x="T4" y="T5"/>
                </a:cxn>
                <a:cxn ang="0">
                  <a:pos x="T6" y="T7"/>
                </a:cxn>
                <a:cxn ang="0">
                  <a:pos x="T8" y="T9"/>
                </a:cxn>
                <a:cxn ang="0">
                  <a:pos x="T10" y="T11"/>
                </a:cxn>
              </a:cxnLst>
              <a:rect l="0" t="0" r="r" b="b"/>
              <a:pathLst>
                <a:path w="653" h="715">
                  <a:moveTo>
                    <a:pt x="653" y="0"/>
                  </a:moveTo>
                  <a:cubicBezTo>
                    <a:pt x="653" y="180"/>
                    <a:pt x="653" y="180"/>
                    <a:pt x="653" y="180"/>
                  </a:cubicBezTo>
                  <a:cubicBezTo>
                    <a:pt x="653" y="257"/>
                    <a:pt x="590" y="320"/>
                    <a:pt x="512" y="320"/>
                  </a:cubicBezTo>
                  <a:cubicBezTo>
                    <a:pt x="141" y="320"/>
                    <a:pt x="141" y="320"/>
                    <a:pt x="141" y="320"/>
                  </a:cubicBezTo>
                  <a:cubicBezTo>
                    <a:pt x="63" y="320"/>
                    <a:pt x="0" y="383"/>
                    <a:pt x="0" y="460"/>
                  </a:cubicBezTo>
                  <a:cubicBezTo>
                    <a:pt x="0" y="715"/>
                    <a:pt x="0" y="715"/>
                    <a:pt x="0" y="715"/>
                  </a:cubicBezTo>
                </a:path>
              </a:pathLst>
            </a:custGeom>
            <a:noFill/>
            <a:ln w="88900" cap="flat">
              <a:solidFill>
                <a:srgbClr val="09948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8" name="Freeform 47"/>
            <p:cNvSpPr>
              <a:spLocks/>
            </p:cNvSpPr>
            <p:nvPr/>
          </p:nvSpPr>
          <p:spPr bwMode="auto">
            <a:xfrm>
              <a:off x="6910388" y="4354513"/>
              <a:ext cx="196850" cy="38100"/>
            </a:xfrm>
            <a:custGeom>
              <a:avLst/>
              <a:gdLst>
                <a:gd name="T0" fmla="*/ 0 w 89"/>
                <a:gd name="T1" fmla="*/ 17 h 17"/>
                <a:gd name="T2" fmla="*/ 89 w 89"/>
                <a:gd name="T3" fmla="*/ 17 h 17"/>
                <a:gd name="T4" fmla="*/ 89 w 89"/>
                <a:gd name="T5" fmla="*/ 17 h 17"/>
                <a:gd name="T6" fmla="*/ 89 w 89"/>
                <a:gd name="T7" fmla="*/ 10 h 17"/>
                <a:gd name="T8" fmla="*/ 79 w 89"/>
                <a:gd name="T9" fmla="*/ 0 h 17"/>
                <a:gd name="T10" fmla="*/ 10 w 89"/>
                <a:gd name="T11" fmla="*/ 0 h 17"/>
                <a:gd name="T12" fmla="*/ 0 w 89"/>
                <a:gd name="T13" fmla="*/ 10 h 17"/>
                <a:gd name="T14" fmla="*/ 0 w 89"/>
                <a:gd name="T15" fmla="*/ 17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9" h="17">
                  <a:moveTo>
                    <a:pt x="0" y="17"/>
                  </a:moveTo>
                  <a:cubicBezTo>
                    <a:pt x="89" y="17"/>
                    <a:pt x="89" y="17"/>
                    <a:pt x="89" y="17"/>
                  </a:cubicBezTo>
                  <a:cubicBezTo>
                    <a:pt x="89" y="17"/>
                    <a:pt x="89" y="17"/>
                    <a:pt x="89" y="17"/>
                  </a:cubicBezTo>
                  <a:cubicBezTo>
                    <a:pt x="89" y="10"/>
                    <a:pt x="89" y="10"/>
                    <a:pt x="89" y="10"/>
                  </a:cubicBezTo>
                  <a:cubicBezTo>
                    <a:pt x="89" y="4"/>
                    <a:pt x="84" y="0"/>
                    <a:pt x="79" y="0"/>
                  </a:cubicBezTo>
                  <a:cubicBezTo>
                    <a:pt x="10" y="0"/>
                    <a:pt x="10" y="0"/>
                    <a:pt x="10" y="0"/>
                  </a:cubicBezTo>
                  <a:cubicBezTo>
                    <a:pt x="5" y="0"/>
                    <a:pt x="0" y="4"/>
                    <a:pt x="0" y="10"/>
                  </a:cubicBezTo>
                  <a:cubicBezTo>
                    <a:pt x="0" y="17"/>
                    <a:pt x="0" y="17"/>
                    <a:pt x="0" y="17"/>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69" name="Freeform 48"/>
            <p:cNvSpPr>
              <a:spLocks/>
            </p:cNvSpPr>
            <p:nvPr/>
          </p:nvSpPr>
          <p:spPr bwMode="auto">
            <a:xfrm>
              <a:off x="6911976" y="4410075"/>
              <a:ext cx="193675" cy="26988"/>
            </a:xfrm>
            <a:custGeom>
              <a:avLst/>
              <a:gdLst>
                <a:gd name="T0" fmla="*/ 87 w 87"/>
                <a:gd name="T1" fmla="*/ 0 h 12"/>
                <a:gd name="T2" fmla="*/ 0 w 87"/>
                <a:gd name="T3" fmla="*/ 0 h 12"/>
                <a:gd name="T4" fmla="*/ 2 w 87"/>
                <a:gd name="T5" fmla="*/ 12 h 12"/>
                <a:gd name="T6" fmla="*/ 85 w 87"/>
                <a:gd name="T7" fmla="*/ 12 h 12"/>
                <a:gd name="T8" fmla="*/ 87 w 87"/>
                <a:gd name="T9" fmla="*/ 0 h 12"/>
              </a:gdLst>
              <a:ahLst/>
              <a:cxnLst>
                <a:cxn ang="0">
                  <a:pos x="T0" y="T1"/>
                </a:cxn>
                <a:cxn ang="0">
                  <a:pos x="T2" y="T3"/>
                </a:cxn>
                <a:cxn ang="0">
                  <a:pos x="T4" y="T5"/>
                </a:cxn>
                <a:cxn ang="0">
                  <a:pos x="T6" y="T7"/>
                </a:cxn>
                <a:cxn ang="0">
                  <a:pos x="T8" y="T9"/>
                </a:cxn>
              </a:cxnLst>
              <a:rect l="0" t="0" r="r" b="b"/>
              <a:pathLst>
                <a:path w="87" h="12">
                  <a:moveTo>
                    <a:pt x="87" y="0"/>
                  </a:moveTo>
                  <a:cubicBezTo>
                    <a:pt x="0" y="0"/>
                    <a:pt x="0" y="0"/>
                    <a:pt x="0" y="0"/>
                  </a:cubicBezTo>
                  <a:cubicBezTo>
                    <a:pt x="0" y="4"/>
                    <a:pt x="1" y="8"/>
                    <a:pt x="2" y="12"/>
                  </a:cubicBezTo>
                  <a:cubicBezTo>
                    <a:pt x="85" y="12"/>
                    <a:pt x="85" y="12"/>
                    <a:pt x="85" y="12"/>
                  </a:cubicBezTo>
                  <a:cubicBezTo>
                    <a:pt x="86" y="8"/>
                    <a:pt x="87" y="4"/>
                    <a:pt x="87" y="0"/>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0" name="Freeform 49"/>
            <p:cNvSpPr>
              <a:spLocks/>
            </p:cNvSpPr>
            <p:nvPr/>
          </p:nvSpPr>
          <p:spPr bwMode="auto">
            <a:xfrm>
              <a:off x="6926263" y="4451350"/>
              <a:ext cx="165100" cy="47625"/>
            </a:xfrm>
            <a:custGeom>
              <a:avLst/>
              <a:gdLst>
                <a:gd name="T0" fmla="*/ 0 w 75"/>
                <a:gd name="T1" fmla="*/ 0 h 21"/>
                <a:gd name="T2" fmla="*/ 38 w 75"/>
                <a:gd name="T3" fmla="*/ 21 h 21"/>
                <a:gd name="T4" fmla="*/ 38 w 75"/>
                <a:gd name="T5" fmla="*/ 21 h 21"/>
                <a:gd name="T6" fmla="*/ 75 w 75"/>
                <a:gd name="T7" fmla="*/ 0 h 21"/>
                <a:gd name="T8" fmla="*/ 0 w 75"/>
                <a:gd name="T9" fmla="*/ 0 h 21"/>
              </a:gdLst>
              <a:ahLst/>
              <a:cxnLst>
                <a:cxn ang="0">
                  <a:pos x="T0" y="T1"/>
                </a:cxn>
                <a:cxn ang="0">
                  <a:pos x="T2" y="T3"/>
                </a:cxn>
                <a:cxn ang="0">
                  <a:pos x="T4" y="T5"/>
                </a:cxn>
                <a:cxn ang="0">
                  <a:pos x="T6" y="T7"/>
                </a:cxn>
                <a:cxn ang="0">
                  <a:pos x="T8" y="T9"/>
                </a:cxn>
              </a:cxnLst>
              <a:rect l="0" t="0" r="r" b="b"/>
              <a:pathLst>
                <a:path w="75" h="21">
                  <a:moveTo>
                    <a:pt x="0" y="0"/>
                  </a:moveTo>
                  <a:cubicBezTo>
                    <a:pt x="8" y="13"/>
                    <a:pt x="22" y="21"/>
                    <a:pt x="38" y="21"/>
                  </a:cubicBezTo>
                  <a:cubicBezTo>
                    <a:pt x="38" y="21"/>
                    <a:pt x="38" y="21"/>
                    <a:pt x="38" y="21"/>
                  </a:cubicBezTo>
                  <a:cubicBezTo>
                    <a:pt x="53" y="21"/>
                    <a:pt x="67" y="13"/>
                    <a:pt x="75" y="0"/>
                  </a:cubicBezTo>
                  <a:lnTo>
                    <a:pt x="0" y="0"/>
                  </a:ln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1" name="Freeform 50"/>
            <p:cNvSpPr>
              <a:spLocks noEditPoints="1"/>
            </p:cNvSpPr>
            <p:nvPr/>
          </p:nvSpPr>
          <p:spPr bwMode="auto">
            <a:xfrm>
              <a:off x="6791326" y="3783013"/>
              <a:ext cx="438150" cy="550863"/>
            </a:xfrm>
            <a:custGeom>
              <a:avLst/>
              <a:gdLst>
                <a:gd name="T0" fmla="*/ 99 w 198"/>
                <a:gd name="T1" fmla="*/ 0 h 249"/>
                <a:gd name="T2" fmla="*/ 0 w 198"/>
                <a:gd name="T3" fmla="*/ 87 h 249"/>
                <a:gd name="T4" fmla="*/ 54 w 198"/>
                <a:gd name="T5" fmla="*/ 239 h 249"/>
                <a:gd name="T6" fmla="*/ 67 w 198"/>
                <a:gd name="T7" fmla="*/ 249 h 249"/>
                <a:gd name="T8" fmla="*/ 130 w 198"/>
                <a:gd name="T9" fmla="*/ 249 h 249"/>
                <a:gd name="T10" fmla="*/ 143 w 198"/>
                <a:gd name="T11" fmla="*/ 239 h 249"/>
                <a:gd name="T12" fmla="*/ 198 w 198"/>
                <a:gd name="T13" fmla="*/ 87 h 249"/>
                <a:gd name="T14" fmla="*/ 99 w 198"/>
                <a:gd name="T15" fmla="*/ 0 h 249"/>
                <a:gd name="T16" fmla="*/ 83 w 198"/>
                <a:gd name="T17" fmla="*/ 225 h 249"/>
                <a:gd name="T18" fmla="*/ 82 w 198"/>
                <a:gd name="T19" fmla="*/ 225 h 249"/>
                <a:gd name="T20" fmla="*/ 78 w 198"/>
                <a:gd name="T21" fmla="*/ 222 h 249"/>
                <a:gd name="T22" fmla="*/ 42 w 198"/>
                <a:gd name="T23" fmla="*/ 127 h 249"/>
                <a:gd name="T24" fmla="*/ 44 w 198"/>
                <a:gd name="T25" fmla="*/ 123 h 249"/>
                <a:gd name="T26" fmla="*/ 49 w 198"/>
                <a:gd name="T27" fmla="*/ 125 h 249"/>
                <a:gd name="T28" fmla="*/ 85 w 198"/>
                <a:gd name="T29" fmla="*/ 220 h 249"/>
                <a:gd name="T30" fmla="*/ 83 w 198"/>
                <a:gd name="T31" fmla="*/ 225 h 249"/>
                <a:gd name="T32" fmla="*/ 108 w 198"/>
                <a:gd name="T33" fmla="*/ 131 h 249"/>
                <a:gd name="T34" fmla="*/ 105 w 198"/>
                <a:gd name="T35" fmla="*/ 130 h 249"/>
                <a:gd name="T36" fmla="*/ 98 w 198"/>
                <a:gd name="T37" fmla="*/ 123 h 249"/>
                <a:gd name="T38" fmla="*/ 92 w 198"/>
                <a:gd name="T39" fmla="*/ 130 h 249"/>
                <a:gd name="T40" fmla="*/ 87 w 198"/>
                <a:gd name="T41" fmla="*/ 130 h 249"/>
                <a:gd name="T42" fmla="*/ 80 w 198"/>
                <a:gd name="T43" fmla="*/ 123 h 249"/>
                <a:gd name="T44" fmla="*/ 73 w 198"/>
                <a:gd name="T45" fmla="*/ 130 h 249"/>
                <a:gd name="T46" fmla="*/ 68 w 198"/>
                <a:gd name="T47" fmla="*/ 130 h 249"/>
                <a:gd name="T48" fmla="*/ 59 w 198"/>
                <a:gd name="T49" fmla="*/ 121 h 249"/>
                <a:gd name="T50" fmla="*/ 59 w 198"/>
                <a:gd name="T51" fmla="*/ 116 h 249"/>
                <a:gd name="T52" fmla="*/ 64 w 198"/>
                <a:gd name="T53" fmla="*/ 116 h 249"/>
                <a:gd name="T54" fmla="*/ 71 w 198"/>
                <a:gd name="T55" fmla="*/ 122 h 249"/>
                <a:gd name="T56" fmla="*/ 77 w 198"/>
                <a:gd name="T57" fmla="*/ 116 h 249"/>
                <a:gd name="T58" fmla="*/ 83 w 198"/>
                <a:gd name="T59" fmla="*/ 116 h 249"/>
                <a:gd name="T60" fmla="*/ 89 w 198"/>
                <a:gd name="T61" fmla="*/ 122 h 249"/>
                <a:gd name="T62" fmla="*/ 96 w 198"/>
                <a:gd name="T63" fmla="*/ 116 h 249"/>
                <a:gd name="T64" fmla="*/ 101 w 198"/>
                <a:gd name="T65" fmla="*/ 116 h 249"/>
                <a:gd name="T66" fmla="*/ 108 w 198"/>
                <a:gd name="T67" fmla="*/ 122 h 249"/>
                <a:gd name="T68" fmla="*/ 114 w 198"/>
                <a:gd name="T69" fmla="*/ 116 h 249"/>
                <a:gd name="T70" fmla="*/ 120 w 198"/>
                <a:gd name="T71" fmla="*/ 116 h 249"/>
                <a:gd name="T72" fmla="*/ 126 w 198"/>
                <a:gd name="T73" fmla="*/ 122 h 249"/>
                <a:gd name="T74" fmla="*/ 133 w 198"/>
                <a:gd name="T75" fmla="*/ 116 h 249"/>
                <a:gd name="T76" fmla="*/ 138 w 198"/>
                <a:gd name="T77" fmla="*/ 116 h 249"/>
                <a:gd name="T78" fmla="*/ 138 w 198"/>
                <a:gd name="T79" fmla="*/ 121 h 249"/>
                <a:gd name="T80" fmla="*/ 129 w 198"/>
                <a:gd name="T81" fmla="*/ 130 h 249"/>
                <a:gd name="T82" fmla="*/ 124 w 198"/>
                <a:gd name="T83" fmla="*/ 130 h 249"/>
                <a:gd name="T84" fmla="*/ 117 w 198"/>
                <a:gd name="T85" fmla="*/ 123 h 249"/>
                <a:gd name="T86" fmla="*/ 110 w 198"/>
                <a:gd name="T87" fmla="*/ 130 h 249"/>
                <a:gd name="T88" fmla="*/ 108 w 198"/>
                <a:gd name="T89" fmla="*/ 131 h 249"/>
                <a:gd name="T90" fmla="*/ 155 w 198"/>
                <a:gd name="T91" fmla="*/ 127 h 249"/>
                <a:gd name="T92" fmla="*/ 119 w 198"/>
                <a:gd name="T93" fmla="*/ 222 h 249"/>
                <a:gd name="T94" fmla="*/ 115 w 198"/>
                <a:gd name="T95" fmla="*/ 225 h 249"/>
                <a:gd name="T96" fmla="*/ 114 w 198"/>
                <a:gd name="T97" fmla="*/ 225 h 249"/>
                <a:gd name="T98" fmla="*/ 112 w 198"/>
                <a:gd name="T99" fmla="*/ 220 h 249"/>
                <a:gd name="T100" fmla="*/ 148 w 198"/>
                <a:gd name="T101" fmla="*/ 125 h 249"/>
                <a:gd name="T102" fmla="*/ 153 w 198"/>
                <a:gd name="T103" fmla="*/ 123 h 249"/>
                <a:gd name="T104" fmla="*/ 155 w 198"/>
                <a:gd name="T105" fmla="*/ 12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8" h="249">
                  <a:moveTo>
                    <a:pt x="99" y="0"/>
                  </a:moveTo>
                  <a:cubicBezTo>
                    <a:pt x="32" y="0"/>
                    <a:pt x="0" y="40"/>
                    <a:pt x="0" y="87"/>
                  </a:cubicBezTo>
                  <a:cubicBezTo>
                    <a:pt x="0" y="145"/>
                    <a:pt x="42" y="185"/>
                    <a:pt x="54" y="239"/>
                  </a:cubicBezTo>
                  <a:cubicBezTo>
                    <a:pt x="56" y="245"/>
                    <a:pt x="61" y="249"/>
                    <a:pt x="67" y="249"/>
                  </a:cubicBezTo>
                  <a:cubicBezTo>
                    <a:pt x="130" y="249"/>
                    <a:pt x="130" y="249"/>
                    <a:pt x="130" y="249"/>
                  </a:cubicBezTo>
                  <a:cubicBezTo>
                    <a:pt x="136" y="249"/>
                    <a:pt x="141" y="245"/>
                    <a:pt x="143" y="239"/>
                  </a:cubicBezTo>
                  <a:cubicBezTo>
                    <a:pt x="155" y="185"/>
                    <a:pt x="198" y="145"/>
                    <a:pt x="198" y="87"/>
                  </a:cubicBezTo>
                  <a:cubicBezTo>
                    <a:pt x="198" y="40"/>
                    <a:pt x="157" y="0"/>
                    <a:pt x="99" y="0"/>
                  </a:cubicBezTo>
                  <a:close/>
                  <a:moveTo>
                    <a:pt x="83" y="225"/>
                  </a:moveTo>
                  <a:cubicBezTo>
                    <a:pt x="83" y="225"/>
                    <a:pt x="82" y="225"/>
                    <a:pt x="82" y="225"/>
                  </a:cubicBezTo>
                  <a:cubicBezTo>
                    <a:pt x="80" y="225"/>
                    <a:pt x="79" y="224"/>
                    <a:pt x="78" y="222"/>
                  </a:cubicBezTo>
                  <a:cubicBezTo>
                    <a:pt x="42" y="127"/>
                    <a:pt x="42" y="127"/>
                    <a:pt x="42" y="127"/>
                  </a:cubicBezTo>
                  <a:cubicBezTo>
                    <a:pt x="41" y="125"/>
                    <a:pt x="42" y="123"/>
                    <a:pt x="44" y="123"/>
                  </a:cubicBezTo>
                  <a:cubicBezTo>
                    <a:pt x="46" y="122"/>
                    <a:pt x="48" y="123"/>
                    <a:pt x="49" y="125"/>
                  </a:cubicBezTo>
                  <a:cubicBezTo>
                    <a:pt x="85" y="220"/>
                    <a:pt x="85" y="220"/>
                    <a:pt x="85" y="220"/>
                  </a:cubicBezTo>
                  <a:cubicBezTo>
                    <a:pt x="86" y="222"/>
                    <a:pt x="85" y="224"/>
                    <a:pt x="83" y="225"/>
                  </a:cubicBezTo>
                  <a:close/>
                  <a:moveTo>
                    <a:pt x="108" y="131"/>
                  </a:moveTo>
                  <a:cubicBezTo>
                    <a:pt x="107" y="131"/>
                    <a:pt x="106" y="131"/>
                    <a:pt x="105" y="130"/>
                  </a:cubicBezTo>
                  <a:cubicBezTo>
                    <a:pt x="98" y="123"/>
                    <a:pt x="98" y="123"/>
                    <a:pt x="98" y="123"/>
                  </a:cubicBezTo>
                  <a:cubicBezTo>
                    <a:pt x="92" y="130"/>
                    <a:pt x="92" y="130"/>
                    <a:pt x="92" y="130"/>
                  </a:cubicBezTo>
                  <a:cubicBezTo>
                    <a:pt x="90" y="131"/>
                    <a:pt x="88" y="131"/>
                    <a:pt x="87" y="130"/>
                  </a:cubicBezTo>
                  <a:cubicBezTo>
                    <a:pt x="80" y="123"/>
                    <a:pt x="80" y="123"/>
                    <a:pt x="80" y="123"/>
                  </a:cubicBezTo>
                  <a:cubicBezTo>
                    <a:pt x="73" y="130"/>
                    <a:pt x="73" y="130"/>
                    <a:pt x="73" y="130"/>
                  </a:cubicBezTo>
                  <a:cubicBezTo>
                    <a:pt x="72" y="131"/>
                    <a:pt x="70" y="131"/>
                    <a:pt x="68" y="130"/>
                  </a:cubicBezTo>
                  <a:cubicBezTo>
                    <a:pt x="59" y="121"/>
                    <a:pt x="59" y="121"/>
                    <a:pt x="59" y="121"/>
                  </a:cubicBezTo>
                  <a:cubicBezTo>
                    <a:pt x="58" y="119"/>
                    <a:pt x="58" y="117"/>
                    <a:pt x="59" y="116"/>
                  </a:cubicBezTo>
                  <a:cubicBezTo>
                    <a:pt x="60" y="114"/>
                    <a:pt x="63" y="114"/>
                    <a:pt x="64" y="116"/>
                  </a:cubicBezTo>
                  <a:cubicBezTo>
                    <a:pt x="71" y="122"/>
                    <a:pt x="71" y="122"/>
                    <a:pt x="71" y="122"/>
                  </a:cubicBezTo>
                  <a:cubicBezTo>
                    <a:pt x="77" y="116"/>
                    <a:pt x="77" y="116"/>
                    <a:pt x="77" y="116"/>
                  </a:cubicBezTo>
                  <a:cubicBezTo>
                    <a:pt x="79" y="114"/>
                    <a:pt x="81" y="114"/>
                    <a:pt x="83" y="116"/>
                  </a:cubicBezTo>
                  <a:cubicBezTo>
                    <a:pt x="89" y="122"/>
                    <a:pt x="89" y="122"/>
                    <a:pt x="89" y="122"/>
                  </a:cubicBezTo>
                  <a:cubicBezTo>
                    <a:pt x="96" y="116"/>
                    <a:pt x="96" y="116"/>
                    <a:pt x="96" y="116"/>
                  </a:cubicBezTo>
                  <a:cubicBezTo>
                    <a:pt x="97" y="114"/>
                    <a:pt x="100" y="114"/>
                    <a:pt x="101" y="116"/>
                  </a:cubicBezTo>
                  <a:cubicBezTo>
                    <a:pt x="108" y="122"/>
                    <a:pt x="108" y="122"/>
                    <a:pt x="108" y="122"/>
                  </a:cubicBezTo>
                  <a:cubicBezTo>
                    <a:pt x="114" y="116"/>
                    <a:pt x="114" y="116"/>
                    <a:pt x="114" y="116"/>
                  </a:cubicBezTo>
                  <a:cubicBezTo>
                    <a:pt x="116" y="114"/>
                    <a:pt x="118" y="114"/>
                    <a:pt x="120" y="116"/>
                  </a:cubicBezTo>
                  <a:cubicBezTo>
                    <a:pt x="126" y="122"/>
                    <a:pt x="126" y="122"/>
                    <a:pt x="126" y="122"/>
                  </a:cubicBezTo>
                  <a:cubicBezTo>
                    <a:pt x="133" y="116"/>
                    <a:pt x="133" y="116"/>
                    <a:pt x="133" y="116"/>
                  </a:cubicBezTo>
                  <a:cubicBezTo>
                    <a:pt x="134" y="114"/>
                    <a:pt x="137" y="114"/>
                    <a:pt x="138" y="116"/>
                  </a:cubicBezTo>
                  <a:cubicBezTo>
                    <a:pt x="139" y="117"/>
                    <a:pt x="139" y="119"/>
                    <a:pt x="138" y="121"/>
                  </a:cubicBezTo>
                  <a:cubicBezTo>
                    <a:pt x="129" y="130"/>
                    <a:pt x="129" y="130"/>
                    <a:pt x="129" y="130"/>
                  </a:cubicBezTo>
                  <a:cubicBezTo>
                    <a:pt x="127" y="131"/>
                    <a:pt x="125" y="131"/>
                    <a:pt x="124" y="130"/>
                  </a:cubicBezTo>
                  <a:cubicBezTo>
                    <a:pt x="117" y="123"/>
                    <a:pt x="117" y="123"/>
                    <a:pt x="117" y="123"/>
                  </a:cubicBezTo>
                  <a:cubicBezTo>
                    <a:pt x="110" y="130"/>
                    <a:pt x="110" y="130"/>
                    <a:pt x="110" y="130"/>
                  </a:cubicBezTo>
                  <a:cubicBezTo>
                    <a:pt x="110" y="131"/>
                    <a:pt x="109" y="131"/>
                    <a:pt x="108" y="131"/>
                  </a:cubicBezTo>
                  <a:close/>
                  <a:moveTo>
                    <a:pt x="155" y="127"/>
                  </a:moveTo>
                  <a:cubicBezTo>
                    <a:pt x="119" y="222"/>
                    <a:pt x="119" y="222"/>
                    <a:pt x="119" y="222"/>
                  </a:cubicBezTo>
                  <a:cubicBezTo>
                    <a:pt x="118" y="224"/>
                    <a:pt x="117" y="225"/>
                    <a:pt x="115" y="225"/>
                  </a:cubicBezTo>
                  <a:cubicBezTo>
                    <a:pt x="115" y="225"/>
                    <a:pt x="114" y="225"/>
                    <a:pt x="114" y="225"/>
                  </a:cubicBezTo>
                  <a:cubicBezTo>
                    <a:pt x="112" y="224"/>
                    <a:pt x="111" y="222"/>
                    <a:pt x="112" y="220"/>
                  </a:cubicBezTo>
                  <a:cubicBezTo>
                    <a:pt x="148" y="125"/>
                    <a:pt x="148" y="125"/>
                    <a:pt x="148" y="125"/>
                  </a:cubicBezTo>
                  <a:cubicBezTo>
                    <a:pt x="149" y="123"/>
                    <a:pt x="151" y="122"/>
                    <a:pt x="153" y="123"/>
                  </a:cubicBezTo>
                  <a:cubicBezTo>
                    <a:pt x="155" y="123"/>
                    <a:pt x="156" y="125"/>
                    <a:pt x="155" y="127"/>
                  </a:cubicBezTo>
                  <a:close/>
                </a:path>
              </a:pathLst>
            </a:custGeom>
            <a:solidFill>
              <a:srgbClr val="E13A62"/>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2" name="Freeform 51"/>
            <p:cNvSpPr>
              <a:spLocks/>
            </p:cNvSpPr>
            <p:nvPr/>
          </p:nvSpPr>
          <p:spPr bwMode="auto">
            <a:xfrm>
              <a:off x="6575426" y="4479925"/>
              <a:ext cx="434975" cy="2378075"/>
            </a:xfrm>
            <a:custGeom>
              <a:avLst/>
              <a:gdLst>
                <a:gd name="T0" fmla="*/ 196 w 196"/>
                <a:gd name="T1" fmla="*/ 0 h 1074"/>
                <a:gd name="T2" fmla="*/ 196 w 196"/>
                <a:gd name="T3" fmla="*/ 211 h 1074"/>
                <a:gd name="T4" fmla="*/ 139 w 196"/>
                <a:gd name="T5" fmla="*/ 268 h 1074"/>
                <a:gd name="T6" fmla="*/ 57 w 196"/>
                <a:gd name="T7" fmla="*/ 268 h 1074"/>
                <a:gd name="T8" fmla="*/ 0 w 196"/>
                <a:gd name="T9" fmla="*/ 324 h 1074"/>
                <a:gd name="T10" fmla="*/ 0 w 196"/>
                <a:gd name="T11" fmla="*/ 1074 h 1074"/>
              </a:gdLst>
              <a:ahLst/>
              <a:cxnLst>
                <a:cxn ang="0">
                  <a:pos x="T0" y="T1"/>
                </a:cxn>
                <a:cxn ang="0">
                  <a:pos x="T2" y="T3"/>
                </a:cxn>
                <a:cxn ang="0">
                  <a:pos x="T4" y="T5"/>
                </a:cxn>
                <a:cxn ang="0">
                  <a:pos x="T6" y="T7"/>
                </a:cxn>
                <a:cxn ang="0">
                  <a:pos x="T8" y="T9"/>
                </a:cxn>
                <a:cxn ang="0">
                  <a:pos x="T10" y="T11"/>
                </a:cxn>
              </a:cxnLst>
              <a:rect l="0" t="0" r="r" b="b"/>
              <a:pathLst>
                <a:path w="196" h="1074">
                  <a:moveTo>
                    <a:pt x="196" y="0"/>
                  </a:moveTo>
                  <a:cubicBezTo>
                    <a:pt x="196" y="211"/>
                    <a:pt x="196" y="211"/>
                    <a:pt x="196" y="211"/>
                  </a:cubicBezTo>
                  <a:cubicBezTo>
                    <a:pt x="196" y="243"/>
                    <a:pt x="170" y="268"/>
                    <a:pt x="139" y="268"/>
                  </a:cubicBezTo>
                  <a:cubicBezTo>
                    <a:pt x="57" y="268"/>
                    <a:pt x="57" y="268"/>
                    <a:pt x="57" y="268"/>
                  </a:cubicBezTo>
                  <a:cubicBezTo>
                    <a:pt x="25" y="268"/>
                    <a:pt x="0" y="293"/>
                    <a:pt x="0" y="324"/>
                  </a:cubicBezTo>
                  <a:cubicBezTo>
                    <a:pt x="0" y="1074"/>
                    <a:pt x="0" y="1074"/>
                    <a:pt x="0" y="1074"/>
                  </a:cubicBezTo>
                </a:path>
              </a:pathLst>
            </a:custGeom>
            <a:noFill/>
            <a:ln w="38100" cap="flat">
              <a:solidFill>
                <a:srgbClr val="E13A6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3" name="Freeform 52"/>
            <p:cNvSpPr>
              <a:spLocks/>
            </p:cNvSpPr>
            <p:nvPr/>
          </p:nvSpPr>
          <p:spPr bwMode="auto">
            <a:xfrm>
              <a:off x="4891088" y="5578475"/>
              <a:ext cx="1085850" cy="1279525"/>
            </a:xfrm>
            <a:custGeom>
              <a:avLst/>
              <a:gdLst>
                <a:gd name="T0" fmla="*/ 0 w 490"/>
                <a:gd name="T1" fmla="*/ 0 h 578"/>
                <a:gd name="T2" fmla="*/ 0 w 490"/>
                <a:gd name="T3" fmla="*/ 59 h 578"/>
                <a:gd name="T4" fmla="*/ 70 w 490"/>
                <a:gd name="T5" fmla="*/ 130 h 578"/>
                <a:gd name="T6" fmla="*/ 419 w 490"/>
                <a:gd name="T7" fmla="*/ 128 h 578"/>
                <a:gd name="T8" fmla="*/ 490 w 490"/>
                <a:gd name="T9" fmla="*/ 199 h 578"/>
                <a:gd name="T10" fmla="*/ 490 w 490"/>
                <a:gd name="T11" fmla="*/ 578 h 578"/>
              </a:gdLst>
              <a:ahLst/>
              <a:cxnLst>
                <a:cxn ang="0">
                  <a:pos x="T0" y="T1"/>
                </a:cxn>
                <a:cxn ang="0">
                  <a:pos x="T2" y="T3"/>
                </a:cxn>
                <a:cxn ang="0">
                  <a:pos x="T4" y="T5"/>
                </a:cxn>
                <a:cxn ang="0">
                  <a:pos x="T6" y="T7"/>
                </a:cxn>
                <a:cxn ang="0">
                  <a:pos x="T8" y="T9"/>
                </a:cxn>
                <a:cxn ang="0">
                  <a:pos x="T10" y="T11"/>
                </a:cxn>
              </a:cxnLst>
              <a:rect l="0" t="0" r="r" b="b"/>
              <a:pathLst>
                <a:path w="490" h="578">
                  <a:moveTo>
                    <a:pt x="0" y="0"/>
                  </a:moveTo>
                  <a:cubicBezTo>
                    <a:pt x="0" y="59"/>
                    <a:pt x="0" y="59"/>
                    <a:pt x="0" y="59"/>
                  </a:cubicBezTo>
                  <a:cubicBezTo>
                    <a:pt x="0" y="98"/>
                    <a:pt x="31" y="130"/>
                    <a:pt x="70" y="130"/>
                  </a:cubicBezTo>
                  <a:cubicBezTo>
                    <a:pt x="419" y="128"/>
                    <a:pt x="419" y="128"/>
                    <a:pt x="419" y="128"/>
                  </a:cubicBezTo>
                  <a:cubicBezTo>
                    <a:pt x="458" y="128"/>
                    <a:pt x="490" y="160"/>
                    <a:pt x="490" y="199"/>
                  </a:cubicBezTo>
                  <a:cubicBezTo>
                    <a:pt x="490" y="578"/>
                    <a:pt x="490" y="578"/>
                    <a:pt x="490" y="578"/>
                  </a:cubicBezTo>
                </a:path>
              </a:pathLst>
            </a:custGeom>
            <a:noFill/>
            <a:ln w="17463" cap="flat">
              <a:solidFill>
                <a:srgbClr val="9132A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4" name="Freeform 53"/>
            <p:cNvSpPr>
              <a:spLocks noEditPoints="1"/>
            </p:cNvSpPr>
            <p:nvPr/>
          </p:nvSpPr>
          <p:spPr bwMode="auto">
            <a:xfrm>
              <a:off x="4681538" y="4919663"/>
              <a:ext cx="420688" cy="519113"/>
            </a:xfrm>
            <a:custGeom>
              <a:avLst/>
              <a:gdLst>
                <a:gd name="T0" fmla="*/ 134 w 190"/>
                <a:gd name="T1" fmla="*/ 235 h 235"/>
                <a:gd name="T2" fmla="*/ 56 w 190"/>
                <a:gd name="T3" fmla="*/ 235 h 235"/>
                <a:gd name="T4" fmla="*/ 52 w 190"/>
                <a:gd name="T5" fmla="*/ 232 h 235"/>
                <a:gd name="T6" fmla="*/ 27 w 190"/>
                <a:gd name="T7" fmla="*/ 165 h 235"/>
                <a:gd name="T8" fmla="*/ 0 w 190"/>
                <a:gd name="T9" fmla="*/ 83 h 235"/>
                <a:gd name="T10" fmla="*/ 95 w 190"/>
                <a:gd name="T11" fmla="*/ 0 h 235"/>
                <a:gd name="T12" fmla="*/ 190 w 190"/>
                <a:gd name="T13" fmla="*/ 83 h 235"/>
                <a:gd name="T14" fmla="*/ 163 w 190"/>
                <a:gd name="T15" fmla="*/ 165 h 235"/>
                <a:gd name="T16" fmla="*/ 137 w 190"/>
                <a:gd name="T17" fmla="*/ 232 h 235"/>
                <a:gd name="T18" fmla="*/ 134 w 190"/>
                <a:gd name="T19" fmla="*/ 235 h 235"/>
                <a:gd name="T20" fmla="*/ 58 w 190"/>
                <a:gd name="T21" fmla="*/ 228 h 235"/>
                <a:gd name="T22" fmla="*/ 131 w 190"/>
                <a:gd name="T23" fmla="*/ 228 h 235"/>
                <a:gd name="T24" fmla="*/ 157 w 190"/>
                <a:gd name="T25" fmla="*/ 162 h 235"/>
                <a:gd name="T26" fmla="*/ 183 w 190"/>
                <a:gd name="T27" fmla="*/ 83 h 235"/>
                <a:gd name="T28" fmla="*/ 95 w 190"/>
                <a:gd name="T29" fmla="*/ 7 h 235"/>
                <a:gd name="T30" fmla="*/ 7 w 190"/>
                <a:gd name="T31" fmla="*/ 83 h 235"/>
                <a:gd name="T32" fmla="*/ 33 w 190"/>
                <a:gd name="T33" fmla="*/ 162 h 235"/>
                <a:gd name="T34" fmla="*/ 58 w 190"/>
                <a:gd name="T35" fmla="*/ 22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0" h="235">
                  <a:moveTo>
                    <a:pt x="134" y="235"/>
                  </a:moveTo>
                  <a:cubicBezTo>
                    <a:pt x="56" y="235"/>
                    <a:pt x="56" y="235"/>
                    <a:pt x="56" y="235"/>
                  </a:cubicBezTo>
                  <a:cubicBezTo>
                    <a:pt x="54" y="235"/>
                    <a:pt x="52" y="233"/>
                    <a:pt x="52" y="232"/>
                  </a:cubicBezTo>
                  <a:cubicBezTo>
                    <a:pt x="49" y="207"/>
                    <a:pt x="37" y="186"/>
                    <a:pt x="27" y="165"/>
                  </a:cubicBezTo>
                  <a:cubicBezTo>
                    <a:pt x="13" y="140"/>
                    <a:pt x="0" y="114"/>
                    <a:pt x="0" y="83"/>
                  </a:cubicBezTo>
                  <a:cubicBezTo>
                    <a:pt x="0" y="32"/>
                    <a:pt x="37" y="0"/>
                    <a:pt x="95" y="0"/>
                  </a:cubicBezTo>
                  <a:cubicBezTo>
                    <a:pt x="149" y="0"/>
                    <a:pt x="190" y="36"/>
                    <a:pt x="190" y="83"/>
                  </a:cubicBezTo>
                  <a:cubicBezTo>
                    <a:pt x="190" y="114"/>
                    <a:pt x="176" y="140"/>
                    <a:pt x="163" y="165"/>
                  </a:cubicBezTo>
                  <a:cubicBezTo>
                    <a:pt x="152" y="186"/>
                    <a:pt x="141" y="207"/>
                    <a:pt x="137" y="232"/>
                  </a:cubicBezTo>
                  <a:cubicBezTo>
                    <a:pt x="137" y="233"/>
                    <a:pt x="136" y="235"/>
                    <a:pt x="134" y="235"/>
                  </a:cubicBezTo>
                  <a:close/>
                  <a:moveTo>
                    <a:pt x="58" y="228"/>
                  </a:moveTo>
                  <a:cubicBezTo>
                    <a:pt x="131" y="228"/>
                    <a:pt x="131" y="228"/>
                    <a:pt x="131" y="228"/>
                  </a:cubicBezTo>
                  <a:cubicBezTo>
                    <a:pt x="135" y="203"/>
                    <a:pt x="146" y="182"/>
                    <a:pt x="157" y="162"/>
                  </a:cubicBezTo>
                  <a:cubicBezTo>
                    <a:pt x="170" y="136"/>
                    <a:pt x="183" y="112"/>
                    <a:pt x="183" y="83"/>
                  </a:cubicBezTo>
                  <a:cubicBezTo>
                    <a:pt x="183" y="40"/>
                    <a:pt x="145" y="7"/>
                    <a:pt x="95" y="7"/>
                  </a:cubicBezTo>
                  <a:cubicBezTo>
                    <a:pt x="30" y="7"/>
                    <a:pt x="7" y="46"/>
                    <a:pt x="7" y="83"/>
                  </a:cubicBezTo>
                  <a:cubicBezTo>
                    <a:pt x="7" y="112"/>
                    <a:pt x="19" y="136"/>
                    <a:pt x="33" y="162"/>
                  </a:cubicBezTo>
                  <a:cubicBezTo>
                    <a:pt x="43" y="182"/>
                    <a:pt x="54" y="203"/>
                    <a:pt x="58" y="228"/>
                  </a:cubicBezTo>
                  <a:close/>
                </a:path>
              </a:pathLst>
            </a:custGeom>
            <a:solidFill>
              <a:srgbClr val="9132A6"/>
            </a:solidFill>
            <a:ln w="9525">
              <a:noFill/>
              <a:round/>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5" name="Freeform 54"/>
            <p:cNvSpPr>
              <a:spLocks noEditPoints="1"/>
            </p:cNvSpPr>
            <p:nvPr/>
          </p:nvSpPr>
          <p:spPr bwMode="auto">
            <a:xfrm>
              <a:off x="4783138" y="5422900"/>
              <a:ext cx="217488" cy="165100"/>
            </a:xfrm>
            <a:custGeom>
              <a:avLst/>
              <a:gdLst>
                <a:gd name="T0" fmla="*/ 49 w 98"/>
                <a:gd name="T1" fmla="*/ 74 h 74"/>
                <a:gd name="T2" fmla="*/ 0 w 98"/>
                <a:gd name="T3" fmla="*/ 25 h 74"/>
                <a:gd name="T4" fmla="*/ 0 w 98"/>
                <a:gd name="T5" fmla="*/ 13 h 74"/>
                <a:gd name="T6" fmla="*/ 14 w 98"/>
                <a:gd name="T7" fmla="*/ 0 h 74"/>
                <a:gd name="T8" fmla="*/ 84 w 98"/>
                <a:gd name="T9" fmla="*/ 0 h 74"/>
                <a:gd name="T10" fmla="*/ 98 w 98"/>
                <a:gd name="T11" fmla="*/ 13 h 74"/>
                <a:gd name="T12" fmla="*/ 98 w 98"/>
                <a:gd name="T13" fmla="*/ 25 h 74"/>
                <a:gd name="T14" fmla="*/ 49 w 98"/>
                <a:gd name="T15" fmla="*/ 74 h 74"/>
                <a:gd name="T16" fmla="*/ 14 w 98"/>
                <a:gd name="T17" fmla="*/ 7 h 74"/>
                <a:gd name="T18" fmla="*/ 7 w 98"/>
                <a:gd name="T19" fmla="*/ 13 h 74"/>
                <a:gd name="T20" fmla="*/ 7 w 98"/>
                <a:gd name="T21" fmla="*/ 25 h 74"/>
                <a:gd name="T22" fmla="*/ 49 w 98"/>
                <a:gd name="T23" fmla="*/ 67 h 74"/>
                <a:gd name="T24" fmla="*/ 91 w 98"/>
                <a:gd name="T25" fmla="*/ 25 h 74"/>
                <a:gd name="T26" fmla="*/ 91 w 98"/>
                <a:gd name="T27" fmla="*/ 13 h 74"/>
                <a:gd name="T28" fmla="*/ 84 w 98"/>
                <a:gd name="T29" fmla="*/ 7 h 74"/>
                <a:gd name="T30" fmla="*/ 14 w 98"/>
                <a:gd name="T31" fmla="*/ 7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 h="74">
                  <a:moveTo>
                    <a:pt x="49" y="74"/>
                  </a:moveTo>
                  <a:cubicBezTo>
                    <a:pt x="22" y="74"/>
                    <a:pt x="0" y="52"/>
                    <a:pt x="0" y="25"/>
                  </a:cubicBezTo>
                  <a:cubicBezTo>
                    <a:pt x="0" y="13"/>
                    <a:pt x="0" y="13"/>
                    <a:pt x="0" y="13"/>
                  </a:cubicBezTo>
                  <a:cubicBezTo>
                    <a:pt x="0" y="6"/>
                    <a:pt x="6" y="0"/>
                    <a:pt x="14" y="0"/>
                  </a:cubicBezTo>
                  <a:cubicBezTo>
                    <a:pt x="84" y="0"/>
                    <a:pt x="84" y="0"/>
                    <a:pt x="84" y="0"/>
                  </a:cubicBezTo>
                  <a:cubicBezTo>
                    <a:pt x="92" y="0"/>
                    <a:pt x="98" y="6"/>
                    <a:pt x="98" y="13"/>
                  </a:cubicBezTo>
                  <a:cubicBezTo>
                    <a:pt x="98" y="25"/>
                    <a:pt x="98" y="25"/>
                    <a:pt x="98" y="25"/>
                  </a:cubicBezTo>
                  <a:cubicBezTo>
                    <a:pt x="98" y="52"/>
                    <a:pt x="76" y="74"/>
                    <a:pt x="49" y="74"/>
                  </a:cubicBezTo>
                  <a:close/>
                  <a:moveTo>
                    <a:pt x="14" y="7"/>
                  </a:moveTo>
                  <a:cubicBezTo>
                    <a:pt x="10" y="7"/>
                    <a:pt x="7" y="10"/>
                    <a:pt x="7" y="13"/>
                  </a:cubicBezTo>
                  <a:cubicBezTo>
                    <a:pt x="7" y="25"/>
                    <a:pt x="7" y="25"/>
                    <a:pt x="7" y="25"/>
                  </a:cubicBezTo>
                  <a:cubicBezTo>
                    <a:pt x="7" y="48"/>
                    <a:pt x="26" y="67"/>
                    <a:pt x="49" y="67"/>
                  </a:cubicBezTo>
                  <a:cubicBezTo>
                    <a:pt x="72" y="67"/>
                    <a:pt x="91" y="48"/>
                    <a:pt x="91" y="25"/>
                  </a:cubicBezTo>
                  <a:cubicBezTo>
                    <a:pt x="91" y="13"/>
                    <a:pt x="91" y="13"/>
                    <a:pt x="91" y="13"/>
                  </a:cubicBezTo>
                  <a:cubicBezTo>
                    <a:pt x="91" y="10"/>
                    <a:pt x="88" y="7"/>
                    <a:pt x="84" y="7"/>
                  </a:cubicBezTo>
                  <a:lnTo>
                    <a:pt x="14" y="7"/>
                  </a:ln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6" name="Freeform 55"/>
            <p:cNvSpPr>
              <a:spLocks/>
            </p:cNvSpPr>
            <p:nvPr/>
          </p:nvSpPr>
          <p:spPr bwMode="auto">
            <a:xfrm>
              <a:off x="4789488" y="5470525"/>
              <a:ext cx="204788" cy="14288"/>
            </a:xfrm>
            <a:custGeom>
              <a:avLst/>
              <a:gdLst>
                <a:gd name="T0" fmla="*/ 88 w 92"/>
                <a:gd name="T1" fmla="*/ 7 h 7"/>
                <a:gd name="T2" fmla="*/ 3 w 92"/>
                <a:gd name="T3" fmla="*/ 7 h 7"/>
                <a:gd name="T4" fmla="*/ 0 w 92"/>
                <a:gd name="T5" fmla="*/ 4 h 7"/>
                <a:gd name="T6" fmla="*/ 3 w 92"/>
                <a:gd name="T7" fmla="*/ 0 h 7"/>
                <a:gd name="T8" fmla="*/ 88 w 92"/>
                <a:gd name="T9" fmla="*/ 0 h 7"/>
                <a:gd name="T10" fmla="*/ 92 w 92"/>
                <a:gd name="T11" fmla="*/ 4 h 7"/>
                <a:gd name="T12" fmla="*/ 88 w 92"/>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92" h="7">
                  <a:moveTo>
                    <a:pt x="88" y="7"/>
                  </a:moveTo>
                  <a:cubicBezTo>
                    <a:pt x="3" y="7"/>
                    <a:pt x="3" y="7"/>
                    <a:pt x="3" y="7"/>
                  </a:cubicBezTo>
                  <a:cubicBezTo>
                    <a:pt x="1" y="7"/>
                    <a:pt x="0" y="6"/>
                    <a:pt x="0" y="4"/>
                  </a:cubicBezTo>
                  <a:cubicBezTo>
                    <a:pt x="0" y="2"/>
                    <a:pt x="1" y="0"/>
                    <a:pt x="3" y="0"/>
                  </a:cubicBezTo>
                  <a:cubicBezTo>
                    <a:pt x="88" y="0"/>
                    <a:pt x="88" y="0"/>
                    <a:pt x="88" y="0"/>
                  </a:cubicBezTo>
                  <a:cubicBezTo>
                    <a:pt x="90" y="0"/>
                    <a:pt x="92" y="2"/>
                    <a:pt x="92" y="4"/>
                  </a:cubicBezTo>
                  <a:cubicBezTo>
                    <a:pt x="92" y="6"/>
                    <a:pt x="90" y="7"/>
                    <a:pt x="88" y="7"/>
                  </a:cubicBez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7" name="Freeform 56"/>
            <p:cNvSpPr>
              <a:spLocks/>
            </p:cNvSpPr>
            <p:nvPr/>
          </p:nvSpPr>
          <p:spPr bwMode="auto">
            <a:xfrm>
              <a:off x="4799013" y="5516563"/>
              <a:ext cx="184150" cy="15875"/>
            </a:xfrm>
            <a:custGeom>
              <a:avLst/>
              <a:gdLst>
                <a:gd name="T0" fmla="*/ 80 w 83"/>
                <a:gd name="T1" fmla="*/ 7 h 7"/>
                <a:gd name="T2" fmla="*/ 3 w 83"/>
                <a:gd name="T3" fmla="*/ 7 h 7"/>
                <a:gd name="T4" fmla="*/ 0 w 83"/>
                <a:gd name="T5" fmla="*/ 3 h 7"/>
                <a:gd name="T6" fmla="*/ 3 w 83"/>
                <a:gd name="T7" fmla="*/ 0 h 7"/>
                <a:gd name="T8" fmla="*/ 80 w 83"/>
                <a:gd name="T9" fmla="*/ 0 h 7"/>
                <a:gd name="T10" fmla="*/ 83 w 83"/>
                <a:gd name="T11" fmla="*/ 3 h 7"/>
                <a:gd name="T12" fmla="*/ 80 w 83"/>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83" h="7">
                  <a:moveTo>
                    <a:pt x="80" y="7"/>
                  </a:moveTo>
                  <a:cubicBezTo>
                    <a:pt x="3" y="7"/>
                    <a:pt x="3" y="7"/>
                    <a:pt x="3" y="7"/>
                  </a:cubicBezTo>
                  <a:cubicBezTo>
                    <a:pt x="2" y="7"/>
                    <a:pt x="0" y="5"/>
                    <a:pt x="0" y="3"/>
                  </a:cubicBezTo>
                  <a:cubicBezTo>
                    <a:pt x="0" y="1"/>
                    <a:pt x="2" y="0"/>
                    <a:pt x="3" y="0"/>
                  </a:cubicBezTo>
                  <a:cubicBezTo>
                    <a:pt x="80" y="0"/>
                    <a:pt x="80" y="0"/>
                    <a:pt x="80" y="0"/>
                  </a:cubicBezTo>
                  <a:cubicBezTo>
                    <a:pt x="82" y="0"/>
                    <a:pt x="83" y="1"/>
                    <a:pt x="83" y="3"/>
                  </a:cubicBezTo>
                  <a:cubicBezTo>
                    <a:pt x="83" y="5"/>
                    <a:pt x="82" y="7"/>
                    <a:pt x="80" y="7"/>
                  </a:cubicBez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8" name="Freeform 57"/>
            <p:cNvSpPr>
              <a:spLocks/>
            </p:cNvSpPr>
            <p:nvPr/>
          </p:nvSpPr>
          <p:spPr bwMode="auto">
            <a:xfrm>
              <a:off x="4916488" y="5173663"/>
              <a:ext cx="92075" cy="207963"/>
            </a:xfrm>
            <a:custGeom>
              <a:avLst/>
              <a:gdLst>
                <a:gd name="T0" fmla="*/ 4 w 42"/>
                <a:gd name="T1" fmla="*/ 94 h 94"/>
                <a:gd name="T2" fmla="*/ 3 w 42"/>
                <a:gd name="T3" fmla="*/ 94 h 94"/>
                <a:gd name="T4" fmla="*/ 1 w 42"/>
                <a:gd name="T5" fmla="*/ 90 h 94"/>
                <a:gd name="T6" fmla="*/ 35 w 42"/>
                <a:gd name="T7" fmla="*/ 2 h 94"/>
                <a:gd name="T8" fmla="*/ 39 w 42"/>
                <a:gd name="T9" fmla="*/ 1 h 94"/>
                <a:gd name="T10" fmla="*/ 41 w 42"/>
                <a:gd name="T11" fmla="*/ 5 h 94"/>
                <a:gd name="T12" fmla="*/ 8 w 42"/>
                <a:gd name="T13" fmla="*/ 92 h 94"/>
                <a:gd name="T14" fmla="*/ 4 w 42"/>
                <a:gd name="T15" fmla="*/ 94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94">
                  <a:moveTo>
                    <a:pt x="4" y="94"/>
                  </a:moveTo>
                  <a:cubicBezTo>
                    <a:pt x="4" y="94"/>
                    <a:pt x="3" y="94"/>
                    <a:pt x="3" y="94"/>
                  </a:cubicBezTo>
                  <a:cubicBezTo>
                    <a:pt x="1" y="93"/>
                    <a:pt x="0" y="91"/>
                    <a:pt x="1" y="90"/>
                  </a:cubicBezTo>
                  <a:cubicBezTo>
                    <a:pt x="35" y="2"/>
                    <a:pt x="35" y="2"/>
                    <a:pt x="35" y="2"/>
                  </a:cubicBezTo>
                  <a:cubicBezTo>
                    <a:pt x="36" y="1"/>
                    <a:pt x="38" y="0"/>
                    <a:pt x="39" y="1"/>
                  </a:cubicBezTo>
                  <a:cubicBezTo>
                    <a:pt x="41" y="1"/>
                    <a:pt x="42" y="3"/>
                    <a:pt x="41" y="5"/>
                  </a:cubicBezTo>
                  <a:cubicBezTo>
                    <a:pt x="8" y="92"/>
                    <a:pt x="8" y="92"/>
                    <a:pt x="8" y="92"/>
                  </a:cubicBezTo>
                  <a:cubicBezTo>
                    <a:pt x="7" y="93"/>
                    <a:pt x="6" y="94"/>
                    <a:pt x="4" y="94"/>
                  </a:cubicBez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79" name="Freeform 58"/>
            <p:cNvSpPr>
              <a:spLocks/>
            </p:cNvSpPr>
            <p:nvPr/>
          </p:nvSpPr>
          <p:spPr bwMode="auto">
            <a:xfrm>
              <a:off x="4773613" y="5173663"/>
              <a:ext cx="92075" cy="207963"/>
            </a:xfrm>
            <a:custGeom>
              <a:avLst/>
              <a:gdLst>
                <a:gd name="T0" fmla="*/ 37 w 41"/>
                <a:gd name="T1" fmla="*/ 94 h 94"/>
                <a:gd name="T2" fmla="*/ 34 w 41"/>
                <a:gd name="T3" fmla="*/ 92 h 94"/>
                <a:gd name="T4" fmla="*/ 0 w 41"/>
                <a:gd name="T5" fmla="*/ 5 h 94"/>
                <a:gd name="T6" fmla="*/ 2 w 41"/>
                <a:gd name="T7" fmla="*/ 1 h 94"/>
                <a:gd name="T8" fmla="*/ 7 w 41"/>
                <a:gd name="T9" fmla="*/ 2 h 94"/>
                <a:gd name="T10" fmla="*/ 40 w 41"/>
                <a:gd name="T11" fmla="*/ 90 h 94"/>
                <a:gd name="T12" fmla="*/ 38 w 41"/>
                <a:gd name="T13" fmla="*/ 94 h 94"/>
                <a:gd name="T14" fmla="*/ 37 w 41"/>
                <a:gd name="T15" fmla="*/ 94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94">
                  <a:moveTo>
                    <a:pt x="37" y="94"/>
                  </a:moveTo>
                  <a:cubicBezTo>
                    <a:pt x="36" y="94"/>
                    <a:pt x="35" y="93"/>
                    <a:pt x="34" y="92"/>
                  </a:cubicBezTo>
                  <a:cubicBezTo>
                    <a:pt x="0" y="5"/>
                    <a:pt x="0" y="5"/>
                    <a:pt x="0" y="5"/>
                  </a:cubicBezTo>
                  <a:cubicBezTo>
                    <a:pt x="0" y="3"/>
                    <a:pt x="1" y="1"/>
                    <a:pt x="2" y="1"/>
                  </a:cubicBezTo>
                  <a:cubicBezTo>
                    <a:pt x="4" y="0"/>
                    <a:pt x="6" y="1"/>
                    <a:pt x="7" y="2"/>
                  </a:cubicBezTo>
                  <a:cubicBezTo>
                    <a:pt x="40" y="90"/>
                    <a:pt x="40" y="90"/>
                    <a:pt x="40" y="90"/>
                  </a:cubicBezTo>
                  <a:cubicBezTo>
                    <a:pt x="41" y="91"/>
                    <a:pt x="40" y="93"/>
                    <a:pt x="38" y="94"/>
                  </a:cubicBezTo>
                  <a:cubicBezTo>
                    <a:pt x="38" y="94"/>
                    <a:pt x="38" y="94"/>
                    <a:pt x="37" y="94"/>
                  </a:cubicBez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0" name="Freeform 59"/>
            <p:cNvSpPr>
              <a:spLocks/>
            </p:cNvSpPr>
            <p:nvPr/>
          </p:nvSpPr>
          <p:spPr bwMode="auto">
            <a:xfrm>
              <a:off x="4806951" y="5157788"/>
              <a:ext cx="168275" cy="34925"/>
            </a:xfrm>
            <a:custGeom>
              <a:avLst/>
              <a:gdLst>
                <a:gd name="T0" fmla="*/ 12 w 76"/>
                <a:gd name="T1" fmla="*/ 15 h 16"/>
                <a:gd name="T2" fmla="*/ 10 w 76"/>
                <a:gd name="T3" fmla="*/ 14 h 16"/>
                <a:gd name="T4" fmla="*/ 1 w 76"/>
                <a:gd name="T5" fmla="*/ 6 h 16"/>
                <a:gd name="T6" fmla="*/ 1 w 76"/>
                <a:gd name="T7" fmla="*/ 1 h 16"/>
                <a:gd name="T8" fmla="*/ 6 w 76"/>
                <a:gd name="T9" fmla="*/ 1 h 16"/>
                <a:gd name="T10" fmla="*/ 12 w 76"/>
                <a:gd name="T11" fmla="*/ 7 h 16"/>
                <a:gd name="T12" fmla="*/ 18 w 76"/>
                <a:gd name="T13" fmla="*/ 1 h 16"/>
                <a:gd name="T14" fmla="*/ 23 w 76"/>
                <a:gd name="T15" fmla="*/ 1 h 16"/>
                <a:gd name="T16" fmla="*/ 29 w 76"/>
                <a:gd name="T17" fmla="*/ 7 h 16"/>
                <a:gd name="T18" fmla="*/ 35 w 76"/>
                <a:gd name="T19" fmla="*/ 1 h 16"/>
                <a:gd name="T20" fmla="*/ 40 w 76"/>
                <a:gd name="T21" fmla="*/ 1 h 16"/>
                <a:gd name="T22" fmla="*/ 46 w 76"/>
                <a:gd name="T23" fmla="*/ 7 h 16"/>
                <a:gd name="T24" fmla="*/ 52 w 76"/>
                <a:gd name="T25" fmla="*/ 1 h 16"/>
                <a:gd name="T26" fmla="*/ 57 w 76"/>
                <a:gd name="T27" fmla="*/ 1 h 16"/>
                <a:gd name="T28" fmla="*/ 63 w 76"/>
                <a:gd name="T29" fmla="*/ 7 h 16"/>
                <a:gd name="T30" fmla="*/ 69 w 76"/>
                <a:gd name="T31" fmla="*/ 1 h 16"/>
                <a:gd name="T32" fmla="*/ 74 w 76"/>
                <a:gd name="T33" fmla="*/ 1 h 16"/>
                <a:gd name="T34" fmla="*/ 74 w 76"/>
                <a:gd name="T35" fmla="*/ 6 h 16"/>
                <a:gd name="T36" fmla="*/ 66 w 76"/>
                <a:gd name="T37" fmla="*/ 14 h 16"/>
                <a:gd name="T38" fmla="*/ 61 w 76"/>
                <a:gd name="T39" fmla="*/ 14 h 16"/>
                <a:gd name="T40" fmla="*/ 55 w 76"/>
                <a:gd name="T41" fmla="*/ 8 h 16"/>
                <a:gd name="T42" fmla="*/ 49 w 76"/>
                <a:gd name="T43" fmla="*/ 14 h 16"/>
                <a:gd name="T44" fmla="*/ 44 w 76"/>
                <a:gd name="T45" fmla="*/ 14 h 16"/>
                <a:gd name="T46" fmla="*/ 38 w 76"/>
                <a:gd name="T47" fmla="*/ 8 h 16"/>
                <a:gd name="T48" fmla="*/ 32 w 76"/>
                <a:gd name="T49" fmla="*/ 14 h 16"/>
                <a:gd name="T50" fmla="*/ 27 w 76"/>
                <a:gd name="T51" fmla="*/ 14 h 16"/>
                <a:gd name="T52" fmla="*/ 21 w 76"/>
                <a:gd name="T53" fmla="*/ 8 h 16"/>
                <a:gd name="T54" fmla="*/ 15 w 76"/>
                <a:gd name="T55" fmla="*/ 14 h 16"/>
                <a:gd name="T56" fmla="*/ 12 w 76"/>
                <a:gd name="T57"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6" h="16">
                  <a:moveTo>
                    <a:pt x="12" y="15"/>
                  </a:moveTo>
                  <a:cubicBezTo>
                    <a:pt x="11" y="15"/>
                    <a:pt x="10" y="15"/>
                    <a:pt x="10" y="14"/>
                  </a:cubicBezTo>
                  <a:cubicBezTo>
                    <a:pt x="1" y="6"/>
                    <a:pt x="1" y="6"/>
                    <a:pt x="1" y="6"/>
                  </a:cubicBezTo>
                  <a:cubicBezTo>
                    <a:pt x="0" y="5"/>
                    <a:pt x="0" y="2"/>
                    <a:pt x="1" y="1"/>
                  </a:cubicBezTo>
                  <a:cubicBezTo>
                    <a:pt x="3" y="0"/>
                    <a:pt x="5" y="0"/>
                    <a:pt x="6" y="1"/>
                  </a:cubicBezTo>
                  <a:cubicBezTo>
                    <a:pt x="12" y="7"/>
                    <a:pt x="12" y="7"/>
                    <a:pt x="12" y="7"/>
                  </a:cubicBezTo>
                  <a:cubicBezTo>
                    <a:pt x="18" y="1"/>
                    <a:pt x="18" y="1"/>
                    <a:pt x="18" y="1"/>
                  </a:cubicBezTo>
                  <a:cubicBezTo>
                    <a:pt x="20" y="0"/>
                    <a:pt x="22" y="0"/>
                    <a:pt x="23" y="1"/>
                  </a:cubicBezTo>
                  <a:cubicBezTo>
                    <a:pt x="29" y="7"/>
                    <a:pt x="29" y="7"/>
                    <a:pt x="29" y="7"/>
                  </a:cubicBezTo>
                  <a:cubicBezTo>
                    <a:pt x="35" y="1"/>
                    <a:pt x="35" y="1"/>
                    <a:pt x="35" y="1"/>
                  </a:cubicBezTo>
                  <a:cubicBezTo>
                    <a:pt x="37" y="0"/>
                    <a:pt x="39" y="0"/>
                    <a:pt x="40" y="1"/>
                  </a:cubicBezTo>
                  <a:cubicBezTo>
                    <a:pt x="46" y="7"/>
                    <a:pt x="46" y="7"/>
                    <a:pt x="46" y="7"/>
                  </a:cubicBezTo>
                  <a:cubicBezTo>
                    <a:pt x="52" y="1"/>
                    <a:pt x="52" y="1"/>
                    <a:pt x="52" y="1"/>
                  </a:cubicBezTo>
                  <a:cubicBezTo>
                    <a:pt x="54" y="0"/>
                    <a:pt x="56" y="0"/>
                    <a:pt x="57" y="1"/>
                  </a:cubicBezTo>
                  <a:cubicBezTo>
                    <a:pt x="63" y="7"/>
                    <a:pt x="63" y="7"/>
                    <a:pt x="63" y="7"/>
                  </a:cubicBezTo>
                  <a:cubicBezTo>
                    <a:pt x="69" y="1"/>
                    <a:pt x="69" y="1"/>
                    <a:pt x="69" y="1"/>
                  </a:cubicBezTo>
                  <a:cubicBezTo>
                    <a:pt x="71" y="0"/>
                    <a:pt x="73" y="0"/>
                    <a:pt x="74" y="1"/>
                  </a:cubicBezTo>
                  <a:cubicBezTo>
                    <a:pt x="76" y="2"/>
                    <a:pt x="76" y="5"/>
                    <a:pt x="74" y="6"/>
                  </a:cubicBezTo>
                  <a:cubicBezTo>
                    <a:pt x="66" y="14"/>
                    <a:pt x="66" y="14"/>
                    <a:pt x="66" y="14"/>
                  </a:cubicBezTo>
                  <a:cubicBezTo>
                    <a:pt x="64" y="16"/>
                    <a:pt x="62" y="16"/>
                    <a:pt x="61" y="14"/>
                  </a:cubicBezTo>
                  <a:cubicBezTo>
                    <a:pt x="55" y="8"/>
                    <a:pt x="55" y="8"/>
                    <a:pt x="55" y="8"/>
                  </a:cubicBezTo>
                  <a:cubicBezTo>
                    <a:pt x="49" y="14"/>
                    <a:pt x="49" y="14"/>
                    <a:pt x="49" y="14"/>
                  </a:cubicBezTo>
                  <a:cubicBezTo>
                    <a:pt x="47" y="16"/>
                    <a:pt x="45" y="16"/>
                    <a:pt x="44" y="14"/>
                  </a:cubicBezTo>
                  <a:cubicBezTo>
                    <a:pt x="38" y="8"/>
                    <a:pt x="38" y="8"/>
                    <a:pt x="38" y="8"/>
                  </a:cubicBezTo>
                  <a:cubicBezTo>
                    <a:pt x="32" y="14"/>
                    <a:pt x="32" y="14"/>
                    <a:pt x="32" y="14"/>
                  </a:cubicBezTo>
                  <a:cubicBezTo>
                    <a:pt x="30" y="16"/>
                    <a:pt x="28" y="16"/>
                    <a:pt x="27" y="14"/>
                  </a:cubicBezTo>
                  <a:cubicBezTo>
                    <a:pt x="21" y="8"/>
                    <a:pt x="21" y="8"/>
                    <a:pt x="21" y="8"/>
                  </a:cubicBezTo>
                  <a:cubicBezTo>
                    <a:pt x="15" y="14"/>
                    <a:pt x="15" y="14"/>
                    <a:pt x="15" y="14"/>
                  </a:cubicBezTo>
                  <a:cubicBezTo>
                    <a:pt x="14" y="15"/>
                    <a:pt x="13" y="15"/>
                    <a:pt x="12" y="15"/>
                  </a:cubicBezTo>
                  <a:close/>
                </a:path>
              </a:pathLst>
            </a:custGeom>
            <a:solidFill>
              <a:srgbClr val="9132A6"/>
            </a:solidFill>
            <a:ln>
              <a:noFill/>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1" name="Line 60"/>
            <p:cNvSpPr>
              <a:spLocks noChangeShapeType="1"/>
            </p:cNvSpPr>
            <p:nvPr/>
          </p:nvSpPr>
          <p:spPr bwMode="auto">
            <a:xfrm>
              <a:off x="6108701" y="3473450"/>
              <a:ext cx="0" cy="3384550"/>
            </a:xfrm>
            <a:prstGeom prst="line">
              <a:avLst/>
            </a:prstGeom>
            <a:noFill/>
            <a:ln w="106363" cap="flat">
              <a:solidFill>
                <a:srgbClr val="16A1CA"/>
              </a:solidFill>
              <a:prstDash val="solid"/>
              <a:miter lim="800000"/>
              <a:headEnd/>
              <a:tailEnd/>
            </a:ln>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2" name="Freeform 61"/>
            <p:cNvSpPr>
              <a:spLocks/>
            </p:cNvSpPr>
            <p:nvPr/>
          </p:nvSpPr>
          <p:spPr bwMode="auto">
            <a:xfrm>
              <a:off x="5851526" y="3351213"/>
              <a:ext cx="511175" cy="68263"/>
            </a:xfrm>
            <a:custGeom>
              <a:avLst/>
              <a:gdLst>
                <a:gd name="T0" fmla="*/ 216 w 231"/>
                <a:gd name="T1" fmla="*/ 31 h 31"/>
                <a:gd name="T2" fmla="*/ 15 w 231"/>
                <a:gd name="T3" fmla="*/ 31 h 31"/>
                <a:gd name="T4" fmla="*/ 0 w 231"/>
                <a:gd name="T5" fmla="*/ 16 h 31"/>
                <a:gd name="T6" fmla="*/ 0 w 231"/>
                <a:gd name="T7" fmla="*/ 16 h 31"/>
                <a:gd name="T8" fmla="*/ 15 w 231"/>
                <a:gd name="T9" fmla="*/ 0 h 31"/>
                <a:gd name="T10" fmla="*/ 216 w 231"/>
                <a:gd name="T11" fmla="*/ 0 h 31"/>
                <a:gd name="T12" fmla="*/ 231 w 231"/>
                <a:gd name="T13" fmla="*/ 16 h 31"/>
                <a:gd name="T14" fmla="*/ 231 w 231"/>
                <a:gd name="T15" fmla="*/ 16 h 31"/>
                <a:gd name="T16" fmla="*/ 216 w 231"/>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 h="31">
                  <a:moveTo>
                    <a:pt x="216" y="31"/>
                  </a:moveTo>
                  <a:cubicBezTo>
                    <a:pt x="15" y="31"/>
                    <a:pt x="15" y="31"/>
                    <a:pt x="15" y="31"/>
                  </a:cubicBezTo>
                  <a:cubicBezTo>
                    <a:pt x="7" y="31"/>
                    <a:pt x="0" y="24"/>
                    <a:pt x="0" y="16"/>
                  </a:cubicBezTo>
                  <a:cubicBezTo>
                    <a:pt x="0" y="16"/>
                    <a:pt x="0" y="16"/>
                    <a:pt x="0" y="16"/>
                  </a:cubicBezTo>
                  <a:cubicBezTo>
                    <a:pt x="0" y="7"/>
                    <a:pt x="7" y="0"/>
                    <a:pt x="15" y="0"/>
                  </a:cubicBezTo>
                  <a:cubicBezTo>
                    <a:pt x="216" y="0"/>
                    <a:pt x="216" y="0"/>
                    <a:pt x="216" y="0"/>
                  </a:cubicBezTo>
                  <a:cubicBezTo>
                    <a:pt x="224" y="0"/>
                    <a:pt x="231" y="7"/>
                    <a:pt x="231" y="16"/>
                  </a:cubicBezTo>
                  <a:cubicBezTo>
                    <a:pt x="231" y="16"/>
                    <a:pt x="231" y="16"/>
                    <a:pt x="231" y="16"/>
                  </a:cubicBezTo>
                  <a:cubicBezTo>
                    <a:pt x="231" y="24"/>
                    <a:pt x="224" y="31"/>
                    <a:pt x="216" y="31"/>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3" name="Freeform 62"/>
            <p:cNvSpPr>
              <a:spLocks/>
            </p:cNvSpPr>
            <p:nvPr/>
          </p:nvSpPr>
          <p:spPr bwMode="auto">
            <a:xfrm>
              <a:off x="5937251" y="3446463"/>
              <a:ext cx="339725" cy="68263"/>
            </a:xfrm>
            <a:custGeom>
              <a:avLst/>
              <a:gdLst>
                <a:gd name="T0" fmla="*/ 141 w 153"/>
                <a:gd name="T1" fmla="*/ 31 h 31"/>
                <a:gd name="T2" fmla="*/ 12 w 153"/>
                <a:gd name="T3" fmla="*/ 31 h 31"/>
                <a:gd name="T4" fmla="*/ 0 w 153"/>
                <a:gd name="T5" fmla="*/ 18 h 31"/>
                <a:gd name="T6" fmla="*/ 0 w 153"/>
                <a:gd name="T7" fmla="*/ 13 h 31"/>
                <a:gd name="T8" fmla="*/ 12 w 153"/>
                <a:gd name="T9" fmla="*/ 0 h 31"/>
                <a:gd name="T10" fmla="*/ 141 w 153"/>
                <a:gd name="T11" fmla="*/ 0 h 31"/>
                <a:gd name="T12" fmla="*/ 153 w 153"/>
                <a:gd name="T13" fmla="*/ 13 h 31"/>
                <a:gd name="T14" fmla="*/ 153 w 153"/>
                <a:gd name="T15" fmla="*/ 18 h 31"/>
                <a:gd name="T16" fmla="*/ 141 w 153"/>
                <a:gd name="T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3" h="31">
                  <a:moveTo>
                    <a:pt x="141" y="31"/>
                  </a:moveTo>
                  <a:cubicBezTo>
                    <a:pt x="12" y="31"/>
                    <a:pt x="12" y="31"/>
                    <a:pt x="12" y="31"/>
                  </a:cubicBezTo>
                  <a:cubicBezTo>
                    <a:pt x="5" y="31"/>
                    <a:pt x="0" y="25"/>
                    <a:pt x="0" y="18"/>
                  </a:cubicBezTo>
                  <a:cubicBezTo>
                    <a:pt x="0" y="13"/>
                    <a:pt x="0" y="13"/>
                    <a:pt x="0" y="13"/>
                  </a:cubicBezTo>
                  <a:cubicBezTo>
                    <a:pt x="0" y="6"/>
                    <a:pt x="5" y="0"/>
                    <a:pt x="12" y="0"/>
                  </a:cubicBezTo>
                  <a:cubicBezTo>
                    <a:pt x="141" y="0"/>
                    <a:pt x="141" y="0"/>
                    <a:pt x="141" y="0"/>
                  </a:cubicBezTo>
                  <a:cubicBezTo>
                    <a:pt x="148" y="0"/>
                    <a:pt x="153" y="6"/>
                    <a:pt x="153" y="13"/>
                  </a:cubicBezTo>
                  <a:cubicBezTo>
                    <a:pt x="153" y="18"/>
                    <a:pt x="153" y="18"/>
                    <a:pt x="153" y="18"/>
                  </a:cubicBezTo>
                  <a:cubicBezTo>
                    <a:pt x="153" y="25"/>
                    <a:pt x="148" y="31"/>
                    <a:pt x="141" y="31"/>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4" name="Freeform 63"/>
            <p:cNvSpPr>
              <a:spLocks/>
            </p:cNvSpPr>
            <p:nvPr/>
          </p:nvSpPr>
          <p:spPr bwMode="auto">
            <a:xfrm>
              <a:off x="5851526" y="3259138"/>
              <a:ext cx="511175" cy="66675"/>
            </a:xfrm>
            <a:custGeom>
              <a:avLst/>
              <a:gdLst>
                <a:gd name="T0" fmla="*/ 216 w 231"/>
                <a:gd name="T1" fmla="*/ 30 h 30"/>
                <a:gd name="T2" fmla="*/ 15 w 231"/>
                <a:gd name="T3" fmla="*/ 30 h 30"/>
                <a:gd name="T4" fmla="*/ 0 w 231"/>
                <a:gd name="T5" fmla="*/ 15 h 30"/>
                <a:gd name="T6" fmla="*/ 0 w 231"/>
                <a:gd name="T7" fmla="*/ 15 h 30"/>
                <a:gd name="T8" fmla="*/ 15 w 231"/>
                <a:gd name="T9" fmla="*/ 0 h 30"/>
                <a:gd name="T10" fmla="*/ 216 w 231"/>
                <a:gd name="T11" fmla="*/ 0 h 30"/>
                <a:gd name="T12" fmla="*/ 231 w 231"/>
                <a:gd name="T13" fmla="*/ 15 h 30"/>
                <a:gd name="T14" fmla="*/ 231 w 231"/>
                <a:gd name="T15" fmla="*/ 15 h 30"/>
                <a:gd name="T16" fmla="*/ 216 w 231"/>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 h="30">
                  <a:moveTo>
                    <a:pt x="216" y="30"/>
                  </a:moveTo>
                  <a:cubicBezTo>
                    <a:pt x="15" y="30"/>
                    <a:pt x="15" y="30"/>
                    <a:pt x="15" y="30"/>
                  </a:cubicBezTo>
                  <a:cubicBezTo>
                    <a:pt x="7" y="30"/>
                    <a:pt x="0" y="23"/>
                    <a:pt x="0" y="15"/>
                  </a:cubicBezTo>
                  <a:cubicBezTo>
                    <a:pt x="0" y="15"/>
                    <a:pt x="0" y="15"/>
                    <a:pt x="0" y="15"/>
                  </a:cubicBezTo>
                  <a:cubicBezTo>
                    <a:pt x="0" y="7"/>
                    <a:pt x="7" y="0"/>
                    <a:pt x="15" y="0"/>
                  </a:cubicBezTo>
                  <a:cubicBezTo>
                    <a:pt x="216" y="0"/>
                    <a:pt x="216" y="0"/>
                    <a:pt x="216" y="0"/>
                  </a:cubicBezTo>
                  <a:cubicBezTo>
                    <a:pt x="224" y="0"/>
                    <a:pt x="231" y="7"/>
                    <a:pt x="231" y="15"/>
                  </a:cubicBezTo>
                  <a:cubicBezTo>
                    <a:pt x="231" y="15"/>
                    <a:pt x="231" y="15"/>
                    <a:pt x="231" y="15"/>
                  </a:cubicBezTo>
                  <a:cubicBezTo>
                    <a:pt x="231" y="23"/>
                    <a:pt x="224" y="30"/>
                    <a:pt x="216" y="30"/>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5" name="Freeform 64"/>
            <p:cNvSpPr>
              <a:spLocks noEditPoints="1"/>
            </p:cNvSpPr>
            <p:nvPr/>
          </p:nvSpPr>
          <p:spPr bwMode="auto">
            <a:xfrm>
              <a:off x="5514976" y="1682750"/>
              <a:ext cx="1184275" cy="1549400"/>
            </a:xfrm>
            <a:custGeom>
              <a:avLst/>
              <a:gdLst>
                <a:gd name="T0" fmla="*/ 382 w 535"/>
                <a:gd name="T1" fmla="*/ 669 h 700"/>
                <a:gd name="T2" fmla="*/ 379 w 535"/>
                <a:gd name="T3" fmla="*/ 669 h 700"/>
                <a:gd name="T4" fmla="*/ 535 w 535"/>
                <a:gd name="T5" fmla="*/ 248 h 700"/>
                <a:gd name="T6" fmla="*/ 268 w 535"/>
                <a:gd name="T7" fmla="*/ 0 h 700"/>
                <a:gd name="T8" fmla="*/ 0 w 535"/>
                <a:gd name="T9" fmla="*/ 248 h 700"/>
                <a:gd name="T10" fmla="*/ 156 w 535"/>
                <a:gd name="T11" fmla="*/ 669 h 700"/>
                <a:gd name="T12" fmla="*/ 154 w 535"/>
                <a:gd name="T13" fmla="*/ 669 h 700"/>
                <a:gd name="T14" fmla="*/ 136 w 535"/>
                <a:gd name="T15" fmla="*/ 684 h 700"/>
                <a:gd name="T16" fmla="*/ 154 w 535"/>
                <a:gd name="T17" fmla="*/ 700 h 700"/>
                <a:gd name="T18" fmla="*/ 382 w 535"/>
                <a:gd name="T19" fmla="*/ 700 h 700"/>
                <a:gd name="T20" fmla="*/ 399 w 535"/>
                <a:gd name="T21" fmla="*/ 684 h 700"/>
                <a:gd name="T22" fmla="*/ 382 w 535"/>
                <a:gd name="T23" fmla="*/ 669 h 700"/>
                <a:gd name="T24" fmla="*/ 254 w 535"/>
                <a:gd name="T25" fmla="*/ 656 h 700"/>
                <a:gd name="T26" fmla="*/ 245 w 535"/>
                <a:gd name="T27" fmla="*/ 665 h 700"/>
                <a:gd name="T28" fmla="*/ 235 w 535"/>
                <a:gd name="T29" fmla="*/ 656 h 700"/>
                <a:gd name="T30" fmla="*/ 235 w 535"/>
                <a:gd name="T31" fmla="*/ 556 h 700"/>
                <a:gd name="T32" fmla="*/ 180 w 535"/>
                <a:gd name="T33" fmla="*/ 467 h 700"/>
                <a:gd name="T34" fmla="*/ 183 w 535"/>
                <a:gd name="T35" fmla="*/ 454 h 700"/>
                <a:gd name="T36" fmla="*/ 196 w 535"/>
                <a:gd name="T37" fmla="*/ 457 h 700"/>
                <a:gd name="T38" fmla="*/ 252 w 535"/>
                <a:gd name="T39" fmla="*/ 548 h 700"/>
                <a:gd name="T40" fmla="*/ 254 w 535"/>
                <a:gd name="T41" fmla="*/ 553 h 700"/>
                <a:gd name="T42" fmla="*/ 254 w 535"/>
                <a:gd name="T43" fmla="*/ 656 h 700"/>
                <a:gd name="T44" fmla="*/ 355 w 535"/>
                <a:gd name="T45" fmla="*/ 467 h 700"/>
                <a:gd name="T46" fmla="*/ 300 w 535"/>
                <a:gd name="T47" fmla="*/ 556 h 700"/>
                <a:gd name="T48" fmla="*/ 300 w 535"/>
                <a:gd name="T49" fmla="*/ 656 h 700"/>
                <a:gd name="T50" fmla="*/ 291 w 535"/>
                <a:gd name="T51" fmla="*/ 665 h 700"/>
                <a:gd name="T52" fmla="*/ 281 w 535"/>
                <a:gd name="T53" fmla="*/ 656 h 700"/>
                <a:gd name="T54" fmla="*/ 281 w 535"/>
                <a:gd name="T55" fmla="*/ 553 h 700"/>
                <a:gd name="T56" fmla="*/ 283 w 535"/>
                <a:gd name="T57" fmla="*/ 548 h 700"/>
                <a:gd name="T58" fmla="*/ 340 w 535"/>
                <a:gd name="T59" fmla="*/ 457 h 700"/>
                <a:gd name="T60" fmla="*/ 353 w 535"/>
                <a:gd name="T61" fmla="*/ 454 h 700"/>
                <a:gd name="T62" fmla="*/ 355 w 535"/>
                <a:gd name="T63" fmla="*/ 467 h 700"/>
                <a:gd name="T64" fmla="*/ 348 w 535"/>
                <a:gd name="T65" fmla="*/ 426 h 700"/>
                <a:gd name="T66" fmla="*/ 188 w 535"/>
                <a:gd name="T67" fmla="*/ 426 h 700"/>
                <a:gd name="T68" fmla="*/ 178 w 535"/>
                <a:gd name="T69" fmla="*/ 417 h 700"/>
                <a:gd name="T70" fmla="*/ 188 w 535"/>
                <a:gd name="T71" fmla="*/ 407 h 700"/>
                <a:gd name="T72" fmla="*/ 348 w 535"/>
                <a:gd name="T73" fmla="*/ 407 h 700"/>
                <a:gd name="T74" fmla="*/ 357 w 535"/>
                <a:gd name="T75" fmla="*/ 417 h 700"/>
                <a:gd name="T76" fmla="*/ 348 w 535"/>
                <a:gd name="T77" fmla="*/ 426 h 700"/>
                <a:gd name="T78" fmla="*/ 348 w 535"/>
                <a:gd name="T79" fmla="*/ 385 h 700"/>
                <a:gd name="T80" fmla="*/ 188 w 535"/>
                <a:gd name="T81" fmla="*/ 385 h 700"/>
                <a:gd name="T82" fmla="*/ 178 w 535"/>
                <a:gd name="T83" fmla="*/ 375 h 700"/>
                <a:gd name="T84" fmla="*/ 188 w 535"/>
                <a:gd name="T85" fmla="*/ 366 h 700"/>
                <a:gd name="T86" fmla="*/ 348 w 535"/>
                <a:gd name="T87" fmla="*/ 366 h 700"/>
                <a:gd name="T88" fmla="*/ 357 w 535"/>
                <a:gd name="T89" fmla="*/ 375 h 700"/>
                <a:gd name="T90" fmla="*/ 348 w 535"/>
                <a:gd name="T91" fmla="*/ 385 h 700"/>
                <a:gd name="T92" fmla="*/ 348 w 535"/>
                <a:gd name="T93" fmla="*/ 344 h 700"/>
                <a:gd name="T94" fmla="*/ 188 w 535"/>
                <a:gd name="T95" fmla="*/ 344 h 700"/>
                <a:gd name="T96" fmla="*/ 178 w 535"/>
                <a:gd name="T97" fmla="*/ 334 h 700"/>
                <a:gd name="T98" fmla="*/ 188 w 535"/>
                <a:gd name="T99" fmla="*/ 325 h 700"/>
                <a:gd name="T100" fmla="*/ 348 w 535"/>
                <a:gd name="T101" fmla="*/ 325 h 700"/>
                <a:gd name="T102" fmla="*/ 357 w 535"/>
                <a:gd name="T103" fmla="*/ 334 h 700"/>
                <a:gd name="T104" fmla="*/ 348 w 535"/>
                <a:gd name="T105" fmla="*/ 344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35" h="700">
                  <a:moveTo>
                    <a:pt x="382" y="669"/>
                  </a:moveTo>
                  <a:cubicBezTo>
                    <a:pt x="379" y="669"/>
                    <a:pt x="379" y="669"/>
                    <a:pt x="379" y="669"/>
                  </a:cubicBezTo>
                  <a:cubicBezTo>
                    <a:pt x="379" y="506"/>
                    <a:pt x="535" y="405"/>
                    <a:pt x="535" y="248"/>
                  </a:cubicBezTo>
                  <a:cubicBezTo>
                    <a:pt x="535" y="137"/>
                    <a:pt x="426" y="0"/>
                    <a:pt x="268" y="0"/>
                  </a:cubicBezTo>
                  <a:cubicBezTo>
                    <a:pt x="88" y="0"/>
                    <a:pt x="0" y="137"/>
                    <a:pt x="0" y="248"/>
                  </a:cubicBezTo>
                  <a:cubicBezTo>
                    <a:pt x="0" y="405"/>
                    <a:pt x="156" y="506"/>
                    <a:pt x="156" y="669"/>
                  </a:cubicBezTo>
                  <a:cubicBezTo>
                    <a:pt x="154" y="669"/>
                    <a:pt x="154" y="669"/>
                    <a:pt x="154" y="669"/>
                  </a:cubicBezTo>
                  <a:cubicBezTo>
                    <a:pt x="144" y="669"/>
                    <a:pt x="136" y="676"/>
                    <a:pt x="136" y="684"/>
                  </a:cubicBezTo>
                  <a:cubicBezTo>
                    <a:pt x="136" y="693"/>
                    <a:pt x="144" y="700"/>
                    <a:pt x="154" y="700"/>
                  </a:cubicBezTo>
                  <a:cubicBezTo>
                    <a:pt x="382" y="700"/>
                    <a:pt x="382" y="700"/>
                    <a:pt x="382" y="700"/>
                  </a:cubicBezTo>
                  <a:cubicBezTo>
                    <a:pt x="391" y="700"/>
                    <a:pt x="399" y="693"/>
                    <a:pt x="399" y="684"/>
                  </a:cubicBezTo>
                  <a:cubicBezTo>
                    <a:pt x="399" y="676"/>
                    <a:pt x="391" y="669"/>
                    <a:pt x="382" y="669"/>
                  </a:cubicBezTo>
                  <a:close/>
                  <a:moveTo>
                    <a:pt x="254" y="656"/>
                  </a:moveTo>
                  <a:cubicBezTo>
                    <a:pt x="254" y="661"/>
                    <a:pt x="250" y="665"/>
                    <a:pt x="245" y="665"/>
                  </a:cubicBezTo>
                  <a:cubicBezTo>
                    <a:pt x="239" y="665"/>
                    <a:pt x="235" y="661"/>
                    <a:pt x="235" y="656"/>
                  </a:cubicBezTo>
                  <a:cubicBezTo>
                    <a:pt x="235" y="556"/>
                    <a:pt x="235" y="556"/>
                    <a:pt x="235" y="556"/>
                  </a:cubicBezTo>
                  <a:cubicBezTo>
                    <a:pt x="180" y="467"/>
                    <a:pt x="180" y="467"/>
                    <a:pt x="180" y="467"/>
                  </a:cubicBezTo>
                  <a:cubicBezTo>
                    <a:pt x="177" y="463"/>
                    <a:pt x="178" y="457"/>
                    <a:pt x="183" y="454"/>
                  </a:cubicBezTo>
                  <a:cubicBezTo>
                    <a:pt x="187" y="452"/>
                    <a:pt x="193" y="453"/>
                    <a:pt x="196" y="457"/>
                  </a:cubicBezTo>
                  <a:cubicBezTo>
                    <a:pt x="252" y="548"/>
                    <a:pt x="252" y="548"/>
                    <a:pt x="252" y="548"/>
                  </a:cubicBezTo>
                  <a:cubicBezTo>
                    <a:pt x="253" y="549"/>
                    <a:pt x="254" y="551"/>
                    <a:pt x="254" y="553"/>
                  </a:cubicBezTo>
                  <a:lnTo>
                    <a:pt x="254" y="656"/>
                  </a:lnTo>
                  <a:close/>
                  <a:moveTo>
                    <a:pt x="355" y="467"/>
                  </a:moveTo>
                  <a:cubicBezTo>
                    <a:pt x="300" y="556"/>
                    <a:pt x="300" y="556"/>
                    <a:pt x="300" y="556"/>
                  </a:cubicBezTo>
                  <a:cubicBezTo>
                    <a:pt x="300" y="656"/>
                    <a:pt x="300" y="656"/>
                    <a:pt x="300" y="656"/>
                  </a:cubicBezTo>
                  <a:cubicBezTo>
                    <a:pt x="300" y="661"/>
                    <a:pt x="296" y="665"/>
                    <a:pt x="291" y="665"/>
                  </a:cubicBezTo>
                  <a:cubicBezTo>
                    <a:pt x="286" y="665"/>
                    <a:pt x="281" y="661"/>
                    <a:pt x="281" y="656"/>
                  </a:cubicBezTo>
                  <a:cubicBezTo>
                    <a:pt x="281" y="553"/>
                    <a:pt x="281" y="553"/>
                    <a:pt x="281" y="553"/>
                  </a:cubicBezTo>
                  <a:cubicBezTo>
                    <a:pt x="281" y="551"/>
                    <a:pt x="282" y="549"/>
                    <a:pt x="283" y="548"/>
                  </a:cubicBezTo>
                  <a:cubicBezTo>
                    <a:pt x="340" y="457"/>
                    <a:pt x="340" y="457"/>
                    <a:pt x="340" y="457"/>
                  </a:cubicBezTo>
                  <a:cubicBezTo>
                    <a:pt x="342" y="453"/>
                    <a:pt x="348" y="452"/>
                    <a:pt x="353" y="454"/>
                  </a:cubicBezTo>
                  <a:cubicBezTo>
                    <a:pt x="357" y="457"/>
                    <a:pt x="358" y="463"/>
                    <a:pt x="355" y="467"/>
                  </a:cubicBezTo>
                  <a:close/>
                  <a:moveTo>
                    <a:pt x="348" y="426"/>
                  </a:moveTo>
                  <a:cubicBezTo>
                    <a:pt x="188" y="426"/>
                    <a:pt x="188" y="426"/>
                    <a:pt x="188" y="426"/>
                  </a:cubicBezTo>
                  <a:cubicBezTo>
                    <a:pt x="183" y="426"/>
                    <a:pt x="178" y="422"/>
                    <a:pt x="178" y="417"/>
                  </a:cubicBezTo>
                  <a:cubicBezTo>
                    <a:pt x="178" y="411"/>
                    <a:pt x="183" y="407"/>
                    <a:pt x="188" y="407"/>
                  </a:cubicBezTo>
                  <a:cubicBezTo>
                    <a:pt x="348" y="407"/>
                    <a:pt x="348" y="407"/>
                    <a:pt x="348" y="407"/>
                  </a:cubicBezTo>
                  <a:cubicBezTo>
                    <a:pt x="353" y="407"/>
                    <a:pt x="357" y="411"/>
                    <a:pt x="357" y="417"/>
                  </a:cubicBezTo>
                  <a:cubicBezTo>
                    <a:pt x="357" y="422"/>
                    <a:pt x="353" y="426"/>
                    <a:pt x="348" y="426"/>
                  </a:cubicBezTo>
                  <a:close/>
                  <a:moveTo>
                    <a:pt x="348" y="385"/>
                  </a:moveTo>
                  <a:cubicBezTo>
                    <a:pt x="188" y="385"/>
                    <a:pt x="188" y="385"/>
                    <a:pt x="188" y="385"/>
                  </a:cubicBezTo>
                  <a:cubicBezTo>
                    <a:pt x="183" y="385"/>
                    <a:pt x="178" y="381"/>
                    <a:pt x="178" y="375"/>
                  </a:cubicBezTo>
                  <a:cubicBezTo>
                    <a:pt x="178" y="370"/>
                    <a:pt x="183" y="366"/>
                    <a:pt x="188" y="366"/>
                  </a:cubicBezTo>
                  <a:cubicBezTo>
                    <a:pt x="348" y="366"/>
                    <a:pt x="348" y="366"/>
                    <a:pt x="348" y="366"/>
                  </a:cubicBezTo>
                  <a:cubicBezTo>
                    <a:pt x="353" y="366"/>
                    <a:pt x="357" y="370"/>
                    <a:pt x="357" y="375"/>
                  </a:cubicBezTo>
                  <a:cubicBezTo>
                    <a:pt x="357" y="381"/>
                    <a:pt x="353" y="385"/>
                    <a:pt x="348" y="385"/>
                  </a:cubicBezTo>
                  <a:close/>
                  <a:moveTo>
                    <a:pt x="348" y="344"/>
                  </a:moveTo>
                  <a:cubicBezTo>
                    <a:pt x="188" y="344"/>
                    <a:pt x="188" y="344"/>
                    <a:pt x="188" y="344"/>
                  </a:cubicBezTo>
                  <a:cubicBezTo>
                    <a:pt x="183" y="344"/>
                    <a:pt x="178" y="339"/>
                    <a:pt x="178" y="334"/>
                  </a:cubicBezTo>
                  <a:cubicBezTo>
                    <a:pt x="178" y="329"/>
                    <a:pt x="183" y="325"/>
                    <a:pt x="188" y="325"/>
                  </a:cubicBezTo>
                  <a:cubicBezTo>
                    <a:pt x="348" y="325"/>
                    <a:pt x="348" y="325"/>
                    <a:pt x="348" y="325"/>
                  </a:cubicBezTo>
                  <a:cubicBezTo>
                    <a:pt x="353" y="325"/>
                    <a:pt x="357" y="329"/>
                    <a:pt x="357" y="334"/>
                  </a:cubicBezTo>
                  <a:cubicBezTo>
                    <a:pt x="357" y="339"/>
                    <a:pt x="353" y="344"/>
                    <a:pt x="348" y="344"/>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6" name="Freeform 65"/>
            <p:cNvSpPr>
              <a:spLocks/>
            </p:cNvSpPr>
            <p:nvPr/>
          </p:nvSpPr>
          <p:spPr bwMode="auto">
            <a:xfrm>
              <a:off x="6061076" y="1241425"/>
              <a:ext cx="69850" cy="1023938"/>
            </a:xfrm>
            <a:custGeom>
              <a:avLst/>
              <a:gdLst>
                <a:gd name="T0" fmla="*/ 31 w 31"/>
                <a:gd name="T1" fmla="*/ 17 h 462"/>
                <a:gd name="T2" fmla="*/ 21 w 31"/>
                <a:gd name="T3" fmla="*/ 462 h 462"/>
                <a:gd name="T4" fmla="*/ 0 w 31"/>
                <a:gd name="T5" fmla="*/ 17 h 462"/>
                <a:gd name="T6" fmla="*/ 15 w 31"/>
                <a:gd name="T7" fmla="*/ 1 h 462"/>
                <a:gd name="T8" fmla="*/ 31 w 31"/>
                <a:gd name="T9" fmla="*/ 16 h 462"/>
                <a:gd name="T10" fmla="*/ 31 w 31"/>
                <a:gd name="T11" fmla="*/ 17 h 462"/>
              </a:gdLst>
              <a:ahLst/>
              <a:cxnLst>
                <a:cxn ang="0">
                  <a:pos x="T0" y="T1"/>
                </a:cxn>
                <a:cxn ang="0">
                  <a:pos x="T2" y="T3"/>
                </a:cxn>
                <a:cxn ang="0">
                  <a:pos x="T4" y="T5"/>
                </a:cxn>
                <a:cxn ang="0">
                  <a:pos x="T6" y="T7"/>
                </a:cxn>
                <a:cxn ang="0">
                  <a:pos x="T8" y="T9"/>
                </a:cxn>
                <a:cxn ang="0">
                  <a:pos x="T10" y="T11"/>
                </a:cxn>
              </a:cxnLst>
              <a:rect l="0" t="0" r="r" b="b"/>
              <a:pathLst>
                <a:path w="31" h="462">
                  <a:moveTo>
                    <a:pt x="31" y="17"/>
                  </a:moveTo>
                  <a:cubicBezTo>
                    <a:pt x="21" y="462"/>
                    <a:pt x="21" y="462"/>
                    <a:pt x="21" y="462"/>
                  </a:cubicBezTo>
                  <a:cubicBezTo>
                    <a:pt x="0" y="17"/>
                    <a:pt x="0" y="17"/>
                    <a:pt x="0" y="17"/>
                  </a:cubicBezTo>
                  <a:cubicBezTo>
                    <a:pt x="0" y="9"/>
                    <a:pt x="6" y="1"/>
                    <a:pt x="15" y="1"/>
                  </a:cubicBezTo>
                  <a:cubicBezTo>
                    <a:pt x="24" y="0"/>
                    <a:pt x="31" y="7"/>
                    <a:pt x="31" y="16"/>
                  </a:cubicBezTo>
                  <a:cubicBezTo>
                    <a:pt x="31" y="16"/>
                    <a:pt x="31" y="16"/>
                    <a:pt x="31" y="17"/>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7" name="Freeform 66"/>
            <p:cNvSpPr>
              <a:spLocks/>
            </p:cNvSpPr>
            <p:nvPr/>
          </p:nvSpPr>
          <p:spPr bwMode="auto">
            <a:xfrm>
              <a:off x="5719763" y="1301750"/>
              <a:ext cx="388938" cy="963613"/>
            </a:xfrm>
            <a:custGeom>
              <a:avLst/>
              <a:gdLst>
                <a:gd name="T0" fmla="*/ 32 w 175"/>
                <a:gd name="T1" fmla="*/ 13 h 435"/>
                <a:gd name="T2" fmla="*/ 175 w 175"/>
                <a:gd name="T3" fmla="*/ 435 h 435"/>
                <a:gd name="T4" fmla="*/ 3 w 175"/>
                <a:gd name="T5" fmla="*/ 24 h 435"/>
                <a:gd name="T6" fmla="*/ 11 w 175"/>
                <a:gd name="T7" fmla="*/ 4 h 435"/>
                <a:gd name="T8" fmla="*/ 32 w 175"/>
                <a:gd name="T9" fmla="*/ 12 h 435"/>
                <a:gd name="T10" fmla="*/ 32 w 175"/>
                <a:gd name="T11" fmla="*/ 13 h 435"/>
              </a:gdLst>
              <a:ahLst/>
              <a:cxnLst>
                <a:cxn ang="0">
                  <a:pos x="T0" y="T1"/>
                </a:cxn>
                <a:cxn ang="0">
                  <a:pos x="T2" y="T3"/>
                </a:cxn>
                <a:cxn ang="0">
                  <a:pos x="T4" y="T5"/>
                </a:cxn>
                <a:cxn ang="0">
                  <a:pos x="T6" y="T7"/>
                </a:cxn>
                <a:cxn ang="0">
                  <a:pos x="T8" y="T9"/>
                </a:cxn>
                <a:cxn ang="0">
                  <a:pos x="T10" y="T11"/>
                </a:cxn>
              </a:cxnLst>
              <a:rect l="0" t="0" r="r" b="b"/>
              <a:pathLst>
                <a:path w="175" h="435">
                  <a:moveTo>
                    <a:pt x="32" y="13"/>
                  </a:moveTo>
                  <a:cubicBezTo>
                    <a:pt x="175" y="435"/>
                    <a:pt x="175" y="435"/>
                    <a:pt x="175" y="435"/>
                  </a:cubicBezTo>
                  <a:cubicBezTo>
                    <a:pt x="3" y="24"/>
                    <a:pt x="3" y="24"/>
                    <a:pt x="3" y="24"/>
                  </a:cubicBezTo>
                  <a:cubicBezTo>
                    <a:pt x="0" y="16"/>
                    <a:pt x="3" y="7"/>
                    <a:pt x="11" y="4"/>
                  </a:cubicBezTo>
                  <a:cubicBezTo>
                    <a:pt x="19" y="0"/>
                    <a:pt x="29" y="4"/>
                    <a:pt x="32" y="12"/>
                  </a:cubicBezTo>
                  <a:cubicBezTo>
                    <a:pt x="32" y="12"/>
                    <a:pt x="32" y="13"/>
                    <a:pt x="32" y="13"/>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8" name="Freeform 67"/>
            <p:cNvSpPr>
              <a:spLocks/>
            </p:cNvSpPr>
            <p:nvPr/>
          </p:nvSpPr>
          <p:spPr bwMode="auto">
            <a:xfrm>
              <a:off x="5426076" y="1479550"/>
              <a:ext cx="682625" cy="785813"/>
            </a:xfrm>
            <a:custGeom>
              <a:avLst/>
              <a:gdLst>
                <a:gd name="T0" fmla="*/ 29 w 308"/>
                <a:gd name="T1" fmla="*/ 7 h 355"/>
                <a:gd name="T2" fmla="*/ 308 w 308"/>
                <a:gd name="T3" fmla="*/ 355 h 355"/>
                <a:gd name="T4" fmla="*/ 6 w 308"/>
                <a:gd name="T5" fmla="*/ 28 h 355"/>
                <a:gd name="T6" fmla="*/ 7 w 308"/>
                <a:gd name="T7" fmla="*/ 5 h 355"/>
                <a:gd name="T8" fmla="*/ 29 w 308"/>
                <a:gd name="T9" fmla="*/ 6 h 355"/>
                <a:gd name="T10" fmla="*/ 29 w 308"/>
                <a:gd name="T11" fmla="*/ 7 h 355"/>
              </a:gdLst>
              <a:ahLst/>
              <a:cxnLst>
                <a:cxn ang="0">
                  <a:pos x="T0" y="T1"/>
                </a:cxn>
                <a:cxn ang="0">
                  <a:pos x="T2" y="T3"/>
                </a:cxn>
                <a:cxn ang="0">
                  <a:pos x="T4" y="T5"/>
                </a:cxn>
                <a:cxn ang="0">
                  <a:pos x="T6" y="T7"/>
                </a:cxn>
                <a:cxn ang="0">
                  <a:pos x="T8" y="T9"/>
                </a:cxn>
                <a:cxn ang="0">
                  <a:pos x="T10" y="T11"/>
                </a:cxn>
              </a:cxnLst>
              <a:rect l="0" t="0" r="r" b="b"/>
              <a:pathLst>
                <a:path w="308" h="355">
                  <a:moveTo>
                    <a:pt x="29" y="7"/>
                  </a:moveTo>
                  <a:cubicBezTo>
                    <a:pt x="308" y="355"/>
                    <a:pt x="308" y="355"/>
                    <a:pt x="308" y="355"/>
                  </a:cubicBezTo>
                  <a:cubicBezTo>
                    <a:pt x="6" y="28"/>
                    <a:pt x="6" y="28"/>
                    <a:pt x="6" y="28"/>
                  </a:cubicBezTo>
                  <a:cubicBezTo>
                    <a:pt x="0" y="21"/>
                    <a:pt x="0" y="11"/>
                    <a:pt x="7" y="5"/>
                  </a:cubicBezTo>
                  <a:cubicBezTo>
                    <a:pt x="13" y="0"/>
                    <a:pt x="23" y="0"/>
                    <a:pt x="29" y="6"/>
                  </a:cubicBezTo>
                  <a:cubicBezTo>
                    <a:pt x="29" y="7"/>
                    <a:pt x="29" y="7"/>
                    <a:pt x="29" y="7"/>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89" name="Freeform 68"/>
            <p:cNvSpPr>
              <a:spLocks/>
            </p:cNvSpPr>
            <p:nvPr/>
          </p:nvSpPr>
          <p:spPr bwMode="auto">
            <a:xfrm>
              <a:off x="5207001" y="1743075"/>
              <a:ext cx="901700" cy="522288"/>
            </a:xfrm>
            <a:custGeom>
              <a:avLst/>
              <a:gdLst>
                <a:gd name="T0" fmla="*/ 26 w 407"/>
                <a:gd name="T1" fmla="*/ 4 h 236"/>
                <a:gd name="T2" fmla="*/ 407 w 407"/>
                <a:gd name="T3" fmla="*/ 236 h 236"/>
                <a:gd name="T4" fmla="*/ 11 w 407"/>
                <a:gd name="T5" fmla="*/ 32 h 236"/>
                <a:gd name="T6" fmla="*/ 4 w 407"/>
                <a:gd name="T7" fmla="*/ 11 h 236"/>
                <a:gd name="T8" fmla="*/ 25 w 407"/>
                <a:gd name="T9" fmla="*/ 4 h 236"/>
                <a:gd name="T10" fmla="*/ 26 w 407"/>
                <a:gd name="T11" fmla="*/ 4 h 236"/>
              </a:gdLst>
              <a:ahLst/>
              <a:cxnLst>
                <a:cxn ang="0">
                  <a:pos x="T0" y="T1"/>
                </a:cxn>
                <a:cxn ang="0">
                  <a:pos x="T2" y="T3"/>
                </a:cxn>
                <a:cxn ang="0">
                  <a:pos x="T4" y="T5"/>
                </a:cxn>
                <a:cxn ang="0">
                  <a:pos x="T6" y="T7"/>
                </a:cxn>
                <a:cxn ang="0">
                  <a:pos x="T8" y="T9"/>
                </a:cxn>
                <a:cxn ang="0">
                  <a:pos x="T10" y="T11"/>
                </a:cxn>
              </a:cxnLst>
              <a:rect l="0" t="0" r="r" b="b"/>
              <a:pathLst>
                <a:path w="407" h="236">
                  <a:moveTo>
                    <a:pt x="26" y="4"/>
                  </a:moveTo>
                  <a:cubicBezTo>
                    <a:pt x="407" y="236"/>
                    <a:pt x="407" y="236"/>
                    <a:pt x="407" y="236"/>
                  </a:cubicBezTo>
                  <a:cubicBezTo>
                    <a:pt x="11" y="32"/>
                    <a:pt x="11" y="32"/>
                    <a:pt x="11" y="32"/>
                  </a:cubicBezTo>
                  <a:cubicBezTo>
                    <a:pt x="3" y="28"/>
                    <a:pt x="0" y="18"/>
                    <a:pt x="4" y="11"/>
                  </a:cubicBezTo>
                  <a:cubicBezTo>
                    <a:pt x="8" y="3"/>
                    <a:pt x="17" y="0"/>
                    <a:pt x="25" y="4"/>
                  </a:cubicBezTo>
                  <a:cubicBezTo>
                    <a:pt x="25" y="4"/>
                    <a:pt x="26" y="4"/>
                    <a:pt x="26" y="4"/>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0" name="Freeform 69"/>
            <p:cNvSpPr>
              <a:spLocks/>
            </p:cNvSpPr>
            <p:nvPr/>
          </p:nvSpPr>
          <p:spPr bwMode="auto">
            <a:xfrm>
              <a:off x="5095876" y="2066925"/>
              <a:ext cx="1012825" cy="198438"/>
            </a:xfrm>
            <a:custGeom>
              <a:avLst/>
              <a:gdLst>
                <a:gd name="T0" fmla="*/ 20 w 457"/>
                <a:gd name="T1" fmla="*/ 2 h 89"/>
                <a:gd name="T2" fmla="*/ 457 w 457"/>
                <a:gd name="T3" fmla="*/ 89 h 89"/>
                <a:gd name="T4" fmla="*/ 15 w 457"/>
                <a:gd name="T5" fmla="*/ 32 h 89"/>
                <a:gd name="T6" fmla="*/ 1 w 457"/>
                <a:gd name="T7" fmla="*/ 15 h 89"/>
                <a:gd name="T8" fmla="*/ 19 w 457"/>
                <a:gd name="T9" fmla="*/ 1 h 89"/>
                <a:gd name="T10" fmla="*/ 20 w 457"/>
                <a:gd name="T11" fmla="*/ 2 h 89"/>
              </a:gdLst>
              <a:ahLst/>
              <a:cxnLst>
                <a:cxn ang="0">
                  <a:pos x="T0" y="T1"/>
                </a:cxn>
                <a:cxn ang="0">
                  <a:pos x="T2" y="T3"/>
                </a:cxn>
                <a:cxn ang="0">
                  <a:pos x="T4" y="T5"/>
                </a:cxn>
                <a:cxn ang="0">
                  <a:pos x="T6" y="T7"/>
                </a:cxn>
                <a:cxn ang="0">
                  <a:pos x="T8" y="T9"/>
                </a:cxn>
                <a:cxn ang="0">
                  <a:pos x="T10" y="T11"/>
                </a:cxn>
              </a:cxnLst>
              <a:rect l="0" t="0" r="r" b="b"/>
              <a:pathLst>
                <a:path w="457" h="89">
                  <a:moveTo>
                    <a:pt x="20" y="2"/>
                  </a:moveTo>
                  <a:cubicBezTo>
                    <a:pt x="457" y="89"/>
                    <a:pt x="457" y="89"/>
                    <a:pt x="457" y="89"/>
                  </a:cubicBezTo>
                  <a:cubicBezTo>
                    <a:pt x="15" y="32"/>
                    <a:pt x="15" y="32"/>
                    <a:pt x="15" y="32"/>
                  </a:cubicBezTo>
                  <a:cubicBezTo>
                    <a:pt x="6" y="31"/>
                    <a:pt x="0" y="23"/>
                    <a:pt x="1" y="15"/>
                  </a:cubicBezTo>
                  <a:cubicBezTo>
                    <a:pt x="2" y="6"/>
                    <a:pt x="10" y="0"/>
                    <a:pt x="19" y="1"/>
                  </a:cubicBezTo>
                  <a:cubicBezTo>
                    <a:pt x="19" y="1"/>
                    <a:pt x="19" y="1"/>
                    <a:pt x="20" y="2"/>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1" name="Freeform 70"/>
            <p:cNvSpPr>
              <a:spLocks/>
            </p:cNvSpPr>
            <p:nvPr/>
          </p:nvSpPr>
          <p:spPr bwMode="auto">
            <a:xfrm>
              <a:off x="5097463" y="2265363"/>
              <a:ext cx="1011238" cy="220663"/>
            </a:xfrm>
            <a:custGeom>
              <a:avLst/>
              <a:gdLst>
                <a:gd name="T0" fmla="*/ 15 w 456"/>
                <a:gd name="T1" fmla="*/ 67 h 100"/>
                <a:gd name="T2" fmla="*/ 456 w 456"/>
                <a:gd name="T3" fmla="*/ 0 h 100"/>
                <a:gd name="T4" fmla="*/ 21 w 456"/>
                <a:gd name="T5" fmla="*/ 98 h 100"/>
                <a:gd name="T6" fmla="*/ 2 w 456"/>
                <a:gd name="T7" fmla="*/ 86 h 100"/>
                <a:gd name="T8" fmla="*/ 14 w 456"/>
                <a:gd name="T9" fmla="*/ 67 h 100"/>
                <a:gd name="T10" fmla="*/ 15 w 456"/>
                <a:gd name="T11" fmla="*/ 67 h 100"/>
              </a:gdLst>
              <a:ahLst/>
              <a:cxnLst>
                <a:cxn ang="0">
                  <a:pos x="T0" y="T1"/>
                </a:cxn>
                <a:cxn ang="0">
                  <a:pos x="T2" y="T3"/>
                </a:cxn>
                <a:cxn ang="0">
                  <a:pos x="T4" y="T5"/>
                </a:cxn>
                <a:cxn ang="0">
                  <a:pos x="T6" y="T7"/>
                </a:cxn>
                <a:cxn ang="0">
                  <a:pos x="T8" y="T9"/>
                </a:cxn>
                <a:cxn ang="0">
                  <a:pos x="T10" y="T11"/>
                </a:cxn>
              </a:cxnLst>
              <a:rect l="0" t="0" r="r" b="b"/>
              <a:pathLst>
                <a:path w="456" h="100">
                  <a:moveTo>
                    <a:pt x="15" y="67"/>
                  </a:moveTo>
                  <a:cubicBezTo>
                    <a:pt x="456" y="0"/>
                    <a:pt x="456" y="0"/>
                    <a:pt x="456" y="0"/>
                  </a:cubicBezTo>
                  <a:cubicBezTo>
                    <a:pt x="21" y="98"/>
                    <a:pt x="21" y="98"/>
                    <a:pt x="21" y="98"/>
                  </a:cubicBezTo>
                  <a:cubicBezTo>
                    <a:pt x="12" y="100"/>
                    <a:pt x="4" y="95"/>
                    <a:pt x="2" y="86"/>
                  </a:cubicBezTo>
                  <a:cubicBezTo>
                    <a:pt x="0" y="78"/>
                    <a:pt x="5" y="69"/>
                    <a:pt x="14" y="67"/>
                  </a:cubicBezTo>
                  <a:cubicBezTo>
                    <a:pt x="14" y="67"/>
                    <a:pt x="15" y="67"/>
                    <a:pt x="15" y="67"/>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2" name="Freeform 71"/>
            <p:cNvSpPr>
              <a:spLocks/>
            </p:cNvSpPr>
            <p:nvPr/>
          </p:nvSpPr>
          <p:spPr bwMode="auto">
            <a:xfrm>
              <a:off x="5218113" y="2265363"/>
              <a:ext cx="890588" cy="544513"/>
            </a:xfrm>
            <a:custGeom>
              <a:avLst/>
              <a:gdLst>
                <a:gd name="T0" fmla="*/ 10 w 402"/>
                <a:gd name="T1" fmla="*/ 214 h 246"/>
                <a:gd name="T2" fmla="*/ 402 w 402"/>
                <a:gd name="T3" fmla="*/ 0 h 246"/>
                <a:gd name="T4" fmla="*/ 26 w 402"/>
                <a:gd name="T5" fmla="*/ 241 h 246"/>
                <a:gd name="T6" fmla="*/ 5 w 402"/>
                <a:gd name="T7" fmla="*/ 236 h 246"/>
                <a:gd name="T8" fmla="*/ 9 w 402"/>
                <a:gd name="T9" fmla="*/ 214 h 246"/>
                <a:gd name="T10" fmla="*/ 10 w 402"/>
                <a:gd name="T11" fmla="*/ 214 h 246"/>
              </a:gdLst>
              <a:ahLst/>
              <a:cxnLst>
                <a:cxn ang="0">
                  <a:pos x="T0" y="T1"/>
                </a:cxn>
                <a:cxn ang="0">
                  <a:pos x="T2" y="T3"/>
                </a:cxn>
                <a:cxn ang="0">
                  <a:pos x="T4" y="T5"/>
                </a:cxn>
                <a:cxn ang="0">
                  <a:pos x="T6" y="T7"/>
                </a:cxn>
                <a:cxn ang="0">
                  <a:pos x="T8" y="T9"/>
                </a:cxn>
                <a:cxn ang="0">
                  <a:pos x="T10" y="T11"/>
                </a:cxn>
              </a:cxnLst>
              <a:rect l="0" t="0" r="r" b="b"/>
              <a:pathLst>
                <a:path w="402" h="246">
                  <a:moveTo>
                    <a:pt x="10" y="214"/>
                  </a:moveTo>
                  <a:cubicBezTo>
                    <a:pt x="402" y="0"/>
                    <a:pt x="402" y="0"/>
                    <a:pt x="402" y="0"/>
                  </a:cubicBezTo>
                  <a:cubicBezTo>
                    <a:pt x="26" y="241"/>
                    <a:pt x="26" y="241"/>
                    <a:pt x="26" y="241"/>
                  </a:cubicBezTo>
                  <a:cubicBezTo>
                    <a:pt x="19" y="246"/>
                    <a:pt x="9" y="243"/>
                    <a:pt x="5" y="236"/>
                  </a:cubicBezTo>
                  <a:cubicBezTo>
                    <a:pt x="0" y="229"/>
                    <a:pt x="2" y="219"/>
                    <a:pt x="9" y="214"/>
                  </a:cubicBezTo>
                  <a:cubicBezTo>
                    <a:pt x="10" y="214"/>
                    <a:pt x="10" y="214"/>
                    <a:pt x="10" y="214"/>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3" name="Freeform 72"/>
            <p:cNvSpPr>
              <a:spLocks/>
            </p:cNvSpPr>
            <p:nvPr/>
          </p:nvSpPr>
          <p:spPr bwMode="auto">
            <a:xfrm>
              <a:off x="5441951" y="2265363"/>
              <a:ext cx="666750" cy="803275"/>
            </a:xfrm>
            <a:custGeom>
              <a:avLst/>
              <a:gdLst>
                <a:gd name="T0" fmla="*/ 6 w 301"/>
                <a:gd name="T1" fmla="*/ 335 h 363"/>
                <a:gd name="T2" fmla="*/ 301 w 301"/>
                <a:gd name="T3" fmla="*/ 0 h 363"/>
                <a:gd name="T4" fmla="*/ 30 w 301"/>
                <a:gd name="T5" fmla="*/ 355 h 363"/>
                <a:gd name="T6" fmla="*/ 8 w 301"/>
                <a:gd name="T7" fmla="*/ 358 h 363"/>
                <a:gd name="T8" fmla="*/ 5 w 301"/>
                <a:gd name="T9" fmla="*/ 336 h 363"/>
                <a:gd name="T10" fmla="*/ 6 w 301"/>
                <a:gd name="T11" fmla="*/ 335 h 363"/>
              </a:gdLst>
              <a:ahLst/>
              <a:cxnLst>
                <a:cxn ang="0">
                  <a:pos x="T0" y="T1"/>
                </a:cxn>
                <a:cxn ang="0">
                  <a:pos x="T2" y="T3"/>
                </a:cxn>
                <a:cxn ang="0">
                  <a:pos x="T4" y="T5"/>
                </a:cxn>
                <a:cxn ang="0">
                  <a:pos x="T6" y="T7"/>
                </a:cxn>
                <a:cxn ang="0">
                  <a:pos x="T8" y="T9"/>
                </a:cxn>
                <a:cxn ang="0">
                  <a:pos x="T10" y="T11"/>
                </a:cxn>
              </a:cxnLst>
              <a:rect l="0" t="0" r="r" b="b"/>
              <a:pathLst>
                <a:path w="301" h="363">
                  <a:moveTo>
                    <a:pt x="6" y="335"/>
                  </a:moveTo>
                  <a:cubicBezTo>
                    <a:pt x="301" y="0"/>
                    <a:pt x="301" y="0"/>
                    <a:pt x="301" y="0"/>
                  </a:cubicBezTo>
                  <a:cubicBezTo>
                    <a:pt x="30" y="355"/>
                    <a:pt x="30" y="355"/>
                    <a:pt x="30" y="355"/>
                  </a:cubicBezTo>
                  <a:cubicBezTo>
                    <a:pt x="25" y="362"/>
                    <a:pt x="15" y="363"/>
                    <a:pt x="8" y="358"/>
                  </a:cubicBezTo>
                  <a:cubicBezTo>
                    <a:pt x="1" y="352"/>
                    <a:pt x="0" y="343"/>
                    <a:pt x="5" y="336"/>
                  </a:cubicBezTo>
                  <a:cubicBezTo>
                    <a:pt x="6" y="335"/>
                    <a:pt x="6" y="335"/>
                    <a:pt x="6" y="335"/>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4" name="Freeform 73"/>
            <p:cNvSpPr>
              <a:spLocks/>
            </p:cNvSpPr>
            <p:nvPr/>
          </p:nvSpPr>
          <p:spPr bwMode="auto">
            <a:xfrm>
              <a:off x="6108701" y="2265363"/>
              <a:ext cx="679450" cy="787400"/>
            </a:xfrm>
            <a:custGeom>
              <a:avLst/>
              <a:gdLst>
                <a:gd name="T0" fmla="*/ 278 w 307"/>
                <a:gd name="T1" fmla="*/ 349 h 356"/>
                <a:gd name="T2" fmla="*/ 0 w 307"/>
                <a:gd name="T3" fmla="*/ 0 h 356"/>
                <a:gd name="T4" fmla="*/ 302 w 307"/>
                <a:gd name="T5" fmla="*/ 328 h 356"/>
                <a:gd name="T6" fmla="*/ 301 w 307"/>
                <a:gd name="T7" fmla="*/ 350 h 356"/>
                <a:gd name="T8" fmla="*/ 279 w 307"/>
                <a:gd name="T9" fmla="*/ 349 h 356"/>
                <a:gd name="T10" fmla="*/ 278 w 307"/>
                <a:gd name="T11" fmla="*/ 349 h 356"/>
              </a:gdLst>
              <a:ahLst/>
              <a:cxnLst>
                <a:cxn ang="0">
                  <a:pos x="T0" y="T1"/>
                </a:cxn>
                <a:cxn ang="0">
                  <a:pos x="T2" y="T3"/>
                </a:cxn>
                <a:cxn ang="0">
                  <a:pos x="T4" y="T5"/>
                </a:cxn>
                <a:cxn ang="0">
                  <a:pos x="T6" y="T7"/>
                </a:cxn>
                <a:cxn ang="0">
                  <a:pos x="T8" y="T9"/>
                </a:cxn>
                <a:cxn ang="0">
                  <a:pos x="T10" y="T11"/>
                </a:cxn>
              </a:cxnLst>
              <a:rect l="0" t="0" r="r" b="b"/>
              <a:pathLst>
                <a:path w="307" h="356">
                  <a:moveTo>
                    <a:pt x="278" y="349"/>
                  </a:moveTo>
                  <a:cubicBezTo>
                    <a:pt x="0" y="0"/>
                    <a:pt x="0" y="0"/>
                    <a:pt x="0" y="0"/>
                  </a:cubicBezTo>
                  <a:cubicBezTo>
                    <a:pt x="302" y="328"/>
                    <a:pt x="302" y="328"/>
                    <a:pt x="302" y="328"/>
                  </a:cubicBezTo>
                  <a:cubicBezTo>
                    <a:pt x="307" y="334"/>
                    <a:pt x="307" y="344"/>
                    <a:pt x="301" y="350"/>
                  </a:cubicBezTo>
                  <a:cubicBezTo>
                    <a:pt x="294" y="356"/>
                    <a:pt x="284" y="356"/>
                    <a:pt x="279" y="349"/>
                  </a:cubicBezTo>
                  <a:cubicBezTo>
                    <a:pt x="278" y="349"/>
                    <a:pt x="278" y="349"/>
                    <a:pt x="278" y="349"/>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5" name="Freeform 74"/>
            <p:cNvSpPr>
              <a:spLocks/>
            </p:cNvSpPr>
            <p:nvPr/>
          </p:nvSpPr>
          <p:spPr bwMode="auto">
            <a:xfrm>
              <a:off x="6108701" y="2265363"/>
              <a:ext cx="898525" cy="523875"/>
            </a:xfrm>
            <a:custGeom>
              <a:avLst/>
              <a:gdLst>
                <a:gd name="T0" fmla="*/ 380 w 406"/>
                <a:gd name="T1" fmla="*/ 232 h 237"/>
                <a:gd name="T2" fmla="*/ 0 w 406"/>
                <a:gd name="T3" fmla="*/ 0 h 237"/>
                <a:gd name="T4" fmla="*/ 395 w 406"/>
                <a:gd name="T5" fmla="*/ 205 h 237"/>
                <a:gd name="T6" fmla="*/ 402 w 406"/>
                <a:gd name="T7" fmla="*/ 226 h 237"/>
                <a:gd name="T8" fmla="*/ 381 w 406"/>
                <a:gd name="T9" fmla="*/ 233 h 237"/>
                <a:gd name="T10" fmla="*/ 380 w 406"/>
                <a:gd name="T11" fmla="*/ 232 h 237"/>
              </a:gdLst>
              <a:ahLst/>
              <a:cxnLst>
                <a:cxn ang="0">
                  <a:pos x="T0" y="T1"/>
                </a:cxn>
                <a:cxn ang="0">
                  <a:pos x="T2" y="T3"/>
                </a:cxn>
                <a:cxn ang="0">
                  <a:pos x="T4" y="T5"/>
                </a:cxn>
                <a:cxn ang="0">
                  <a:pos x="T6" y="T7"/>
                </a:cxn>
                <a:cxn ang="0">
                  <a:pos x="T8" y="T9"/>
                </a:cxn>
                <a:cxn ang="0">
                  <a:pos x="T10" y="T11"/>
                </a:cxn>
              </a:cxnLst>
              <a:rect l="0" t="0" r="r" b="b"/>
              <a:pathLst>
                <a:path w="406" h="237">
                  <a:moveTo>
                    <a:pt x="380" y="232"/>
                  </a:moveTo>
                  <a:cubicBezTo>
                    <a:pt x="0" y="0"/>
                    <a:pt x="0" y="0"/>
                    <a:pt x="0" y="0"/>
                  </a:cubicBezTo>
                  <a:cubicBezTo>
                    <a:pt x="395" y="205"/>
                    <a:pt x="395" y="205"/>
                    <a:pt x="395" y="205"/>
                  </a:cubicBezTo>
                  <a:cubicBezTo>
                    <a:pt x="403" y="209"/>
                    <a:pt x="406" y="218"/>
                    <a:pt x="402" y="226"/>
                  </a:cubicBezTo>
                  <a:cubicBezTo>
                    <a:pt x="398" y="234"/>
                    <a:pt x="389" y="237"/>
                    <a:pt x="381" y="233"/>
                  </a:cubicBezTo>
                  <a:cubicBezTo>
                    <a:pt x="381" y="233"/>
                    <a:pt x="380" y="233"/>
                    <a:pt x="380" y="232"/>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6" name="Freeform 75"/>
            <p:cNvSpPr>
              <a:spLocks/>
            </p:cNvSpPr>
            <p:nvPr/>
          </p:nvSpPr>
          <p:spPr bwMode="auto">
            <a:xfrm>
              <a:off x="6108701" y="2265363"/>
              <a:ext cx="1009650" cy="198438"/>
            </a:xfrm>
            <a:custGeom>
              <a:avLst/>
              <a:gdLst>
                <a:gd name="T0" fmla="*/ 437 w 456"/>
                <a:gd name="T1" fmla="*/ 88 h 90"/>
                <a:gd name="T2" fmla="*/ 0 w 456"/>
                <a:gd name="T3" fmla="*/ 0 h 90"/>
                <a:gd name="T4" fmla="*/ 442 w 456"/>
                <a:gd name="T5" fmla="*/ 57 h 90"/>
                <a:gd name="T6" fmla="*/ 455 w 456"/>
                <a:gd name="T7" fmla="*/ 75 h 90"/>
                <a:gd name="T8" fmla="*/ 438 w 456"/>
                <a:gd name="T9" fmla="*/ 88 h 90"/>
                <a:gd name="T10" fmla="*/ 437 w 456"/>
                <a:gd name="T11" fmla="*/ 88 h 90"/>
              </a:gdLst>
              <a:ahLst/>
              <a:cxnLst>
                <a:cxn ang="0">
                  <a:pos x="T0" y="T1"/>
                </a:cxn>
                <a:cxn ang="0">
                  <a:pos x="T2" y="T3"/>
                </a:cxn>
                <a:cxn ang="0">
                  <a:pos x="T4" y="T5"/>
                </a:cxn>
                <a:cxn ang="0">
                  <a:pos x="T6" y="T7"/>
                </a:cxn>
                <a:cxn ang="0">
                  <a:pos x="T8" y="T9"/>
                </a:cxn>
                <a:cxn ang="0">
                  <a:pos x="T10" y="T11"/>
                </a:cxn>
              </a:cxnLst>
              <a:rect l="0" t="0" r="r" b="b"/>
              <a:pathLst>
                <a:path w="456" h="90">
                  <a:moveTo>
                    <a:pt x="437" y="88"/>
                  </a:moveTo>
                  <a:cubicBezTo>
                    <a:pt x="0" y="0"/>
                    <a:pt x="0" y="0"/>
                    <a:pt x="0" y="0"/>
                  </a:cubicBezTo>
                  <a:cubicBezTo>
                    <a:pt x="442" y="57"/>
                    <a:pt x="442" y="57"/>
                    <a:pt x="442" y="57"/>
                  </a:cubicBezTo>
                  <a:cubicBezTo>
                    <a:pt x="450" y="58"/>
                    <a:pt x="456" y="66"/>
                    <a:pt x="455" y="75"/>
                  </a:cubicBezTo>
                  <a:cubicBezTo>
                    <a:pt x="454" y="83"/>
                    <a:pt x="446" y="90"/>
                    <a:pt x="438" y="88"/>
                  </a:cubicBezTo>
                  <a:cubicBezTo>
                    <a:pt x="437" y="88"/>
                    <a:pt x="437" y="88"/>
                    <a:pt x="437" y="88"/>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7" name="Freeform 76"/>
            <p:cNvSpPr>
              <a:spLocks/>
            </p:cNvSpPr>
            <p:nvPr/>
          </p:nvSpPr>
          <p:spPr bwMode="auto">
            <a:xfrm>
              <a:off x="6108701" y="2046288"/>
              <a:ext cx="1008063" cy="219075"/>
            </a:xfrm>
            <a:custGeom>
              <a:avLst/>
              <a:gdLst>
                <a:gd name="T0" fmla="*/ 440 w 455"/>
                <a:gd name="T1" fmla="*/ 33 h 99"/>
                <a:gd name="T2" fmla="*/ 0 w 455"/>
                <a:gd name="T3" fmla="*/ 99 h 99"/>
                <a:gd name="T4" fmla="*/ 434 w 455"/>
                <a:gd name="T5" fmla="*/ 2 h 99"/>
                <a:gd name="T6" fmla="*/ 453 w 455"/>
                <a:gd name="T7" fmla="*/ 14 h 99"/>
                <a:gd name="T8" fmla="*/ 441 w 455"/>
                <a:gd name="T9" fmla="*/ 32 h 99"/>
                <a:gd name="T10" fmla="*/ 440 w 455"/>
                <a:gd name="T11" fmla="*/ 33 h 99"/>
              </a:gdLst>
              <a:ahLst/>
              <a:cxnLst>
                <a:cxn ang="0">
                  <a:pos x="T0" y="T1"/>
                </a:cxn>
                <a:cxn ang="0">
                  <a:pos x="T2" y="T3"/>
                </a:cxn>
                <a:cxn ang="0">
                  <a:pos x="T4" y="T5"/>
                </a:cxn>
                <a:cxn ang="0">
                  <a:pos x="T6" y="T7"/>
                </a:cxn>
                <a:cxn ang="0">
                  <a:pos x="T8" y="T9"/>
                </a:cxn>
                <a:cxn ang="0">
                  <a:pos x="T10" y="T11"/>
                </a:cxn>
              </a:cxnLst>
              <a:rect l="0" t="0" r="r" b="b"/>
              <a:pathLst>
                <a:path w="455" h="99">
                  <a:moveTo>
                    <a:pt x="440" y="33"/>
                  </a:moveTo>
                  <a:cubicBezTo>
                    <a:pt x="0" y="99"/>
                    <a:pt x="0" y="99"/>
                    <a:pt x="0" y="99"/>
                  </a:cubicBezTo>
                  <a:cubicBezTo>
                    <a:pt x="434" y="2"/>
                    <a:pt x="434" y="2"/>
                    <a:pt x="434" y="2"/>
                  </a:cubicBezTo>
                  <a:cubicBezTo>
                    <a:pt x="443" y="0"/>
                    <a:pt x="451" y="5"/>
                    <a:pt x="453" y="14"/>
                  </a:cubicBezTo>
                  <a:cubicBezTo>
                    <a:pt x="455" y="22"/>
                    <a:pt x="450" y="30"/>
                    <a:pt x="441" y="32"/>
                  </a:cubicBezTo>
                  <a:cubicBezTo>
                    <a:pt x="441" y="32"/>
                    <a:pt x="441" y="32"/>
                    <a:pt x="440" y="33"/>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8" name="Freeform 77"/>
            <p:cNvSpPr>
              <a:spLocks/>
            </p:cNvSpPr>
            <p:nvPr/>
          </p:nvSpPr>
          <p:spPr bwMode="auto">
            <a:xfrm>
              <a:off x="6108701" y="1722438"/>
              <a:ext cx="887413" cy="542925"/>
            </a:xfrm>
            <a:custGeom>
              <a:avLst/>
              <a:gdLst>
                <a:gd name="T0" fmla="*/ 391 w 401"/>
                <a:gd name="T1" fmla="*/ 32 h 245"/>
                <a:gd name="T2" fmla="*/ 0 w 401"/>
                <a:gd name="T3" fmla="*/ 245 h 245"/>
                <a:gd name="T4" fmla="*/ 375 w 401"/>
                <a:gd name="T5" fmla="*/ 5 h 245"/>
                <a:gd name="T6" fmla="*/ 396 w 401"/>
                <a:gd name="T7" fmla="*/ 10 h 245"/>
                <a:gd name="T8" fmla="*/ 392 w 401"/>
                <a:gd name="T9" fmla="*/ 31 h 245"/>
                <a:gd name="T10" fmla="*/ 391 w 401"/>
                <a:gd name="T11" fmla="*/ 32 h 245"/>
              </a:gdLst>
              <a:ahLst/>
              <a:cxnLst>
                <a:cxn ang="0">
                  <a:pos x="T0" y="T1"/>
                </a:cxn>
                <a:cxn ang="0">
                  <a:pos x="T2" y="T3"/>
                </a:cxn>
                <a:cxn ang="0">
                  <a:pos x="T4" y="T5"/>
                </a:cxn>
                <a:cxn ang="0">
                  <a:pos x="T6" y="T7"/>
                </a:cxn>
                <a:cxn ang="0">
                  <a:pos x="T8" y="T9"/>
                </a:cxn>
                <a:cxn ang="0">
                  <a:pos x="T10" y="T11"/>
                </a:cxn>
              </a:cxnLst>
              <a:rect l="0" t="0" r="r" b="b"/>
              <a:pathLst>
                <a:path w="401" h="245">
                  <a:moveTo>
                    <a:pt x="391" y="32"/>
                  </a:moveTo>
                  <a:cubicBezTo>
                    <a:pt x="0" y="245"/>
                    <a:pt x="0" y="245"/>
                    <a:pt x="0" y="245"/>
                  </a:cubicBezTo>
                  <a:cubicBezTo>
                    <a:pt x="375" y="5"/>
                    <a:pt x="375" y="5"/>
                    <a:pt x="375" y="5"/>
                  </a:cubicBezTo>
                  <a:cubicBezTo>
                    <a:pt x="382" y="0"/>
                    <a:pt x="392" y="2"/>
                    <a:pt x="396" y="10"/>
                  </a:cubicBezTo>
                  <a:cubicBezTo>
                    <a:pt x="401" y="17"/>
                    <a:pt x="399" y="27"/>
                    <a:pt x="392" y="31"/>
                  </a:cubicBezTo>
                  <a:cubicBezTo>
                    <a:pt x="391" y="31"/>
                    <a:pt x="391" y="32"/>
                    <a:pt x="391" y="32"/>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199" name="Freeform 78"/>
            <p:cNvSpPr>
              <a:spLocks/>
            </p:cNvSpPr>
            <p:nvPr/>
          </p:nvSpPr>
          <p:spPr bwMode="auto">
            <a:xfrm>
              <a:off x="6108701" y="1463675"/>
              <a:ext cx="663575" cy="801688"/>
            </a:xfrm>
            <a:custGeom>
              <a:avLst/>
              <a:gdLst>
                <a:gd name="T0" fmla="*/ 294 w 300"/>
                <a:gd name="T1" fmla="*/ 28 h 362"/>
                <a:gd name="T2" fmla="*/ 0 w 300"/>
                <a:gd name="T3" fmla="*/ 362 h 362"/>
                <a:gd name="T4" fmla="*/ 270 w 300"/>
                <a:gd name="T5" fmla="*/ 8 h 362"/>
                <a:gd name="T6" fmla="*/ 292 w 300"/>
                <a:gd name="T7" fmla="*/ 5 h 362"/>
                <a:gd name="T8" fmla="*/ 295 w 300"/>
                <a:gd name="T9" fmla="*/ 27 h 362"/>
                <a:gd name="T10" fmla="*/ 294 w 300"/>
                <a:gd name="T11" fmla="*/ 28 h 362"/>
              </a:gdLst>
              <a:ahLst/>
              <a:cxnLst>
                <a:cxn ang="0">
                  <a:pos x="T0" y="T1"/>
                </a:cxn>
                <a:cxn ang="0">
                  <a:pos x="T2" y="T3"/>
                </a:cxn>
                <a:cxn ang="0">
                  <a:pos x="T4" y="T5"/>
                </a:cxn>
                <a:cxn ang="0">
                  <a:pos x="T6" y="T7"/>
                </a:cxn>
                <a:cxn ang="0">
                  <a:pos x="T8" y="T9"/>
                </a:cxn>
                <a:cxn ang="0">
                  <a:pos x="T10" y="T11"/>
                </a:cxn>
              </a:cxnLst>
              <a:rect l="0" t="0" r="r" b="b"/>
              <a:pathLst>
                <a:path w="300" h="362">
                  <a:moveTo>
                    <a:pt x="294" y="28"/>
                  </a:moveTo>
                  <a:cubicBezTo>
                    <a:pt x="0" y="362"/>
                    <a:pt x="0" y="362"/>
                    <a:pt x="0" y="362"/>
                  </a:cubicBezTo>
                  <a:cubicBezTo>
                    <a:pt x="270" y="8"/>
                    <a:pt x="270" y="8"/>
                    <a:pt x="270" y="8"/>
                  </a:cubicBezTo>
                  <a:cubicBezTo>
                    <a:pt x="275" y="1"/>
                    <a:pt x="285" y="0"/>
                    <a:pt x="292" y="5"/>
                  </a:cubicBezTo>
                  <a:cubicBezTo>
                    <a:pt x="299" y="10"/>
                    <a:pt x="300" y="20"/>
                    <a:pt x="295" y="27"/>
                  </a:cubicBezTo>
                  <a:cubicBezTo>
                    <a:pt x="295" y="27"/>
                    <a:pt x="294" y="28"/>
                    <a:pt x="294" y="28"/>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sp>
          <p:nvSpPr>
            <p:cNvPr id="200" name="Freeform 79"/>
            <p:cNvSpPr>
              <a:spLocks/>
            </p:cNvSpPr>
            <p:nvPr/>
          </p:nvSpPr>
          <p:spPr bwMode="auto">
            <a:xfrm>
              <a:off x="6108701" y="1295400"/>
              <a:ext cx="365125" cy="969963"/>
            </a:xfrm>
            <a:custGeom>
              <a:avLst/>
              <a:gdLst>
                <a:gd name="T0" fmla="*/ 162 w 165"/>
                <a:gd name="T1" fmla="*/ 23 h 438"/>
                <a:gd name="T2" fmla="*/ 0 w 165"/>
                <a:gd name="T3" fmla="*/ 438 h 438"/>
                <a:gd name="T4" fmla="*/ 132 w 165"/>
                <a:gd name="T5" fmla="*/ 13 h 438"/>
                <a:gd name="T6" fmla="*/ 152 w 165"/>
                <a:gd name="T7" fmla="*/ 3 h 438"/>
                <a:gd name="T8" fmla="*/ 162 w 165"/>
                <a:gd name="T9" fmla="*/ 22 h 438"/>
                <a:gd name="T10" fmla="*/ 162 w 165"/>
                <a:gd name="T11" fmla="*/ 23 h 438"/>
              </a:gdLst>
              <a:ahLst/>
              <a:cxnLst>
                <a:cxn ang="0">
                  <a:pos x="T0" y="T1"/>
                </a:cxn>
                <a:cxn ang="0">
                  <a:pos x="T2" y="T3"/>
                </a:cxn>
                <a:cxn ang="0">
                  <a:pos x="T4" y="T5"/>
                </a:cxn>
                <a:cxn ang="0">
                  <a:pos x="T6" y="T7"/>
                </a:cxn>
                <a:cxn ang="0">
                  <a:pos x="T8" y="T9"/>
                </a:cxn>
                <a:cxn ang="0">
                  <a:pos x="T10" y="T11"/>
                </a:cxn>
              </a:cxnLst>
              <a:rect l="0" t="0" r="r" b="b"/>
              <a:pathLst>
                <a:path w="165" h="438">
                  <a:moveTo>
                    <a:pt x="162" y="23"/>
                  </a:moveTo>
                  <a:cubicBezTo>
                    <a:pt x="0" y="438"/>
                    <a:pt x="0" y="438"/>
                    <a:pt x="0" y="438"/>
                  </a:cubicBezTo>
                  <a:cubicBezTo>
                    <a:pt x="132" y="13"/>
                    <a:pt x="132" y="13"/>
                    <a:pt x="132" y="13"/>
                  </a:cubicBezTo>
                  <a:cubicBezTo>
                    <a:pt x="135" y="5"/>
                    <a:pt x="144" y="0"/>
                    <a:pt x="152" y="3"/>
                  </a:cubicBezTo>
                  <a:cubicBezTo>
                    <a:pt x="160" y="5"/>
                    <a:pt x="165" y="14"/>
                    <a:pt x="162" y="22"/>
                  </a:cubicBezTo>
                  <a:cubicBezTo>
                    <a:pt x="162" y="23"/>
                    <a:pt x="162" y="23"/>
                    <a:pt x="162" y="23"/>
                  </a:cubicBezTo>
                  <a:close/>
                </a:path>
              </a:pathLst>
            </a:custGeom>
            <a:solidFill>
              <a:srgbClr val="16A1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defRPr/>
              </a:pPr>
              <a:endParaRPr lang="en-US" kern="0" dirty="0">
                <a:solidFill>
                  <a:prstClr val="black"/>
                </a:solidFill>
                <a:latin typeface="Arial" panose="020B0604020202020204" pitchFamily="34" charset="0"/>
                <a:cs typeface="Arial" panose="020B0604020202020204" pitchFamily="34" charset="0"/>
              </a:endParaRPr>
            </a:p>
          </p:txBody>
        </p:sp>
      </p:grpSp>
      <p:sp>
        <p:nvSpPr>
          <p:cNvPr id="203" name="Rectangle 82"/>
          <p:cNvSpPr/>
          <p:nvPr/>
        </p:nvSpPr>
        <p:spPr>
          <a:xfrm>
            <a:off x="7833320" y="3935572"/>
            <a:ext cx="2160000" cy="246221"/>
          </a:xfrm>
          <a:prstGeom prst="rect">
            <a:avLst/>
          </a:prstGeom>
        </p:spPr>
        <p:txBody>
          <a:bodyPr wrap="square">
            <a:spAutoFit/>
          </a:bodyPr>
          <a:lstStyle/>
          <a:p>
            <a:r>
              <a:rPr lang="es-ES" sz="1000" dirty="0">
                <a:solidFill>
                  <a:prstClr val="black"/>
                </a:solidFill>
                <a:latin typeface="Avenir 65" panose="02000600000000000000" pitchFamily="2" charset="0"/>
                <a:cs typeface="Arial" panose="020B0604020202020204" pitchFamily="34" charset="0"/>
              </a:rPr>
              <a:t>Optimizar Call to Action</a:t>
            </a:r>
          </a:p>
        </p:txBody>
      </p:sp>
      <p:sp>
        <p:nvSpPr>
          <p:cNvPr id="204" name="Rectangle 83"/>
          <p:cNvSpPr/>
          <p:nvPr/>
        </p:nvSpPr>
        <p:spPr>
          <a:xfrm>
            <a:off x="1283070" y="1511411"/>
            <a:ext cx="2733826" cy="400110"/>
          </a:xfrm>
          <a:prstGeom prst="rect">
            <a:avLst/>
          </a:prstGeom>
        </p:spPr>
        <p:txBody>
          <a:bodyPr wrap="square">
            <a:spAutoFit/>
          </a:bodyPr>
          <a:lstStyle/>
          <a:p>
            <a:r>
              <a:rPr lang="es-ES" sz="1000" dirty="0">
                <a:solidFill>
                  <a:prstClr val="black"/>
                </a:solidFill>
                <a:latin typeface="Avenir 65" panose="02000600000000000000" pitchFamily="2" charset="0"/>
                <a:cs typeface="Arial" panose="020B0604020202020204" pitchFamily="34" charset="0"/>
              </a:rPr>
              <a:t>Segmentación limitada a edad del Cliente y km del vehículo</a:t>
            </a:r>
          </a:p>
        </p:txBody>
      </p:sp>
      <p:sp>
        <p:nvSpPr>
          <p:cNvPr id="206" name="Rectangle 81"/>
          <p:cNvSpPr/>
          <p:nvPr/>
        </p:nvSpPr>
        <p:spPr>
          <a:xfrm>
            <a:off x="-402720" y="4898146"/>
            <a:ext cx="2160000" cy="246221"/>
          </a:xfrm>
          <a:prstGeom prst="rect">
            <a:avLst/>
          </a:prstGeom>
        </p:spPr>
        <p:txBody>
          <a:bodyPr wrap="square">
            <a:spAutoFit/>
          </a:bodyPr>
          <a:lstStyle/>
          <a:p>
            <a:pPr algn="r"/>
            <a:r>
              <a:rPr lang="es-ES" sz="1000" dirty="0">
                <a:solidFill>
                  <a:prstClr val="black"/>
                </a:solidFill>
                <a:latin typeface="Avenir 65" panose="02000600000000000000" pitchFamily="2" charset="0"/>
                <a:cs typeface="Arial" panose="020B0604020202020204" pitchFamily="34" charset="0"/>
              </a:rPr>
              <a:t>Click to Call</a:t>
            </a:r>
          </a:p>
        </p:txBody>
      </p:sp>
      <p:sp>
        <p:nvSpPr>
          <p:cNvPr id="208" name="Rectangle 81"/>
          <p:cNvSpPr/>
          <p:nvPr/>
        </p:nvSpPr>
        <p:spPr>
          <a:xfrm>
            <a:off x="6564543" y="2531396"/>
            <a:ext cx="2691950" cy="400110"/>
          </a:xfrm>
          <a:prstGeom prst="rect">
            <a:avLst/>
          </a:prstGeom>
        </p:spPr>
        <p:txBody>
          <a:bodyPr wrap="square">
            <a:spAutoFit/>
          </a:bodyPr>
          <a:lstStyle/>
          <a:p>
            <a:r>
              <a:rPr lang="es-ES" sz="1000" dirty="0">
                <a:solidFill>
                  <a:prstClr val="black"/>
                </a:solidFill>
                <a:latin typeface="Avenir 65" panose="02000600000000000000" pitchFamily="2" charset="0"/>
                <a:cs typeface="Arial" panose="020B0604020202020204" pitchFamily="34" charset="0"/>
              </a:rPr>
              <a:t>Adecuar el formato de la comunicación a los usuarios de Smartphones</a:t>
            </a:r>
          </a:p>
        </p:txBody>
      </p:sp>
      <p:sp>
        <p:nvSpPr>
          <p:cNvPr id="209" name="Rectangle 82"/>
          <p:cNvSpPr/>
          <p:nvPr/>
        </p:nvSpPr>
        <p:spPr>
          <a:xfrm>
            <a:off x="-447360" y="3861050"/>
            <a:ext cx="2160000" cy="246221"/>
          </a:xfrm>
          <a:prstGeom prst="rect">
            <a:avLst/>
          </a:prstGeom>
        </p:spPr>
        <p:txBody>
          <a:bodyPr wrap="square">
            <a:spAutoFit/>
          </a:bodyPr>
          <a:lstStyle/>
          <a:p>
            <a:pPr algn="r"/>
            <a:r>
              <a:rPr lang="es-ES" sz="1000" dirty="0">
                <a:solidFill>
                  <a:prstClr val="black"/>
                </a:solidFill>
                <a:latin typeface="Avenir 65" panose="02000600000000000000" pitchFamily="2" charset="0"/>
                <a:cs typeface="Arial" panose="020B0604020202020204" pitchFamily="34" charset="0"/>
              </a:rPr>
              <a:t>Optimizar Landing Page</a:t>
            </a:r>
          </a:p>
        </p:txBody>
      </p:sp>
      <p:sp>
        <p:nvSpPr>
          <p:cNvPr id="211" name="Rectangle 80"/>
          <p:cNvSpPr/>
          <p:nvPr/>
        </p:nvSpPr>
        <p:spPr>
          <a:xfrm>
            <a:off x="431881" y="5983398"/>
            <a:ext cx="2304016" cy="400110"/>
          </a:xfrm>
          <a:prstGeom prst="rect">
            <a:avLst/>
          </a:prstGeom>
        </p:spPr>
        <p:txBody>
          <a:bodyPr wrap="square">
            <a:spAutoFit/>
          </a:bodyPr>
          <a:lstStyle/>
          <a:p>
            <a:pPr algn="r"/>
            <a:r>
              <a:rPr lang="es-ES" sz="1000" dirty="0">
                <a:solidFill>
                  <a:prstClr val="black"/>
                </a:solidFill>
                <a:latin typeface="Avenir 65" panose="02000600000000000000" pitchFamily="2" charset="0"/>
                <a:cs typeface="Arial" panose="020B0604020202020204" pitchFamily="34" charset="0"/>
              </a:rPr>
              <a:t>Análisis de Canales para </a:t>
            </a:r>
          </a:p>
          <a:p>
            <a:pPr algn="r"/>
            <a:r>
              <a:rPr lang="es-ES" sz="1000" dirty="0">
                <a:solidFill>
                  <a:prstClr val="black"/>
                </a:solidFill>
                <a:latin typeface="Avenir 65" panose="02000600000000000000" pitchFamily="2" charset="0"/>
                <a:cs typeface="Arial" panose="020B0604020202020204" pitchFamily="34" charset="0"/>
              </a:rPr>
              <a:t>Alcanzar publico objetivo</a:t>
            </a:r>
          </a:p>
        </p:txBody>
      </p:sp>
      <p:sp>
        <p:nvSpPr>
          <p:cNvPr id="214" name="Rectangle 80"/>
          <p:cNvSpPr/>
          <p:nvPr/>
        </p:nvSpPr>
        <p:spPr>
          <a:xfrm>
            <a:off x="6024860" y="5974229"/>
            <a:ext cx="2160000" cy="246221"/>
          </a:xfrm>
          <a:prstGeom prst="rect">
            <a:avLst/>
          </a:prstGeom>
        </p:spPr>
        <p:txBody>
          <a:bodyPr wrap="square">
            <a:spAutoFit/>
          </a:bodyPr>
          <a:lstStyle/>
          <a:p>
            <a:pPr algn="r"/>
            <a:r>
              <a:rPr lang="es-ES" sz="1000" dirty="0">
                <a:solidFill>
                  <a:prstClr val="black"/>
                </a:solidFill>
                <a:latin typeface="Avenir 65" panose="02000600000000000000" pitchFamily="2" charset="0"/>
                <a:cs typeface="Arial" panose="020B0604020202020204" pitchFamily="34" charset="0"/>
              </a:rPr>
              <a:t>Gestión de Cross-Selling</a:t>
            </a:r>
          </a:p>
        </p:txBody>
      </p:sp>
      <p:sp>
        <p:nvSpPr>
          <p:cNvPr id="94" name="Rectangle 83"/>
          <p:cNvSpPr/>
          <p:nvPr/>
        </p:nvSpPr>
        <p:spPr>
          <a:xfrm>
            <a:off x="5529064" y="1498988"/>
            <a:ext cx="3010714" cy="400110"/>
          </a:xfrm>
          <a:prstGeom prst="rect">
            <a:avLst/>
          </a:prstGeom>
        </p:spPr>
        <p:txBody>
          <a:bodyPr wrap="square">
            <a:spAutoFit/>
          </a:bodyPr>
          <a:lstStyle/>
          <a:p>
            <a:r>
              <a:rPr lang="es-ES" sz="1000" dirty="0">
                <a:solidFill>
                  <a:prstClr val="black"/>
                </a:solidFill>
                <a:latin typeface="Avenir 65" panose="02000600000000000000" pitchFamily="2" charset="0"/>
                <a:cs typeface="Arial" panose="020B0604020202020204" pitchFamily="34" charset="0"/>
              </a:rPr>
              <a:t>No se establece un Mapa de Contacto, sólo se contacta ofreciendo pack cerrado</a:t>
            </a:r>
          </a:p>
        </p:txBody>
      </p:sp>
      <p:sp>
        <p:nvSpPr>
          <p:cNvPr id="95" name="Rectangle 81"/>
          <p:cNvSpPr/>
          <p:nvPr/>
        </p:nvSpPr>
        <p:spPr>
          <a:xfrm>
            <a:off x="668278" y="2513735"/>
            <a:ext cx="2412551" cy="553998"/>
          </a:xfrm>
          <a:prstGeom prst="rect">
            <a:avLst/>
          </a:prstGeom>
        </p:spPr>
        <p:txBody>
          <a:bodyPr wrap="square">
            <a:spAutoFit/>
          </a:bodyPr>
          <a:lstStyle/>
          <a:p>
            <a:pPr algn="r"/>
            <a:r>
              <a:rPr lang="es-ES" sz="1000" dirty="0">
                <a:solidFill>
                  <a:prstClr val="black"/>
                </a:solidFill>
                <a:latin typeface="Avenir 65" panose="02000600000000000000" pitchFamily="2" charset="0"/>
                <a:cs typeface="Arial" panose="020B0604020202020204" pitchFamily="34" charset="0"/>
              </a:rPr>
              <a:t>Canal de Comunicación: A través de carta, hay poca efectividad, falta definir prioridades </a:t>
            </a:r>
          </a:p>
        </p:txBody>
      </p:sp>
      <p:sp>
        <p:nvSpPr>
          <p:cNvPr id="96" name="Rectangle 81"/>
          <p:cNvSpPr/>
          <p:nvPr/>
        </p:nvSpPr>
        <p:spPr>
          <a:xfrm>
            <a:off x="6880734" y="4635067"/>
            <a:ext cx="2169748" cy="553998"/>
          </a:xfrm>
          <a:prstGeom prst="rect">
            <a:avLst/>
          </a:prstGeom>
        </p:spPr>
        <p:txBody>
          <a:bodyPr wrap="square">
            <a:spAutoFit/>
          </a:bodyPr>
          <a:lstStyle/>
          <a:p>
            <a:r>
              <a:rPr lang="es-ES" sz="1000" dirty="0">
                <a:solidFill>
                  <a:prstClr val="black"/>
                </a:solidFill>
                <a:latin typeface="Avenir 65" panose="02000600000000000000" pitchFamily="2" charset="0"/>
                <a:cs typeface="Arial" panose="020B0604020202020204" pitchFamily="34" charset="0"/>
              </a:rPr>
              <a:t>Ampliar alcance de la segmentación con otros productos y servicios adicionales</a:t>
            </a:r>
          </a:p>
        </p:txBody>
      </p:sp>
      <p:sp>
        <p:nvSpPr>
          <p:cNvPr id="98" name="97 CuadroTexto"/>
          <p:cNvSpPr txBox="1"/>
          <p:nvPr/>
        </p:nvSpPr>
        <p:spPr>
          <a:xfrm>
            <a:off x="116463" y="116634"/>
            <a:ext cx="9673075" cy="584775"/>
          </a:xfrm>
          <a:prstGeom prst="rect">
            <a:avLst/>
          </a:prstGeom>
          <a:noFill/>
        </p:spPr>
        <p:txBody>
          <a:bodyPr wrap="square" rtlCol="0">
            <a:spAutoFit/>
          </a:bodyPr>
          <a:lstStyle/>
          <a:p>
            <a:pPr algn="ctr"/>
            <a:r>
              <a:rPr lang="es-ES" sz="1200" dirty="0">
                <a:solidFill>
                  <a:srgbClr val="323232"/>
                </a:solidFill>
                <a:latin typeface="Avenir 35" panose="00000400000000000000" pitchFamily="2" charset="0"/>
              </a:rPr>
              <a:t>Caso 2: campaña de recuperación de clientes</a:t>
            </a:r>
          </a:p>
          <a:p>
            <a:pPr algn="ctr"/>
            <a:r>
              <a:rPr lang="es-ES" sz="2000" b="1" dirty="0">
                <a:solidFill>
                  <a:srgbClr val="323232"/>
                </a:solidFill>
                <a:latin typeface="Avenir 35" panose="00000400000000000000" pitchFamily="2" charset="0"/>
              </a:rPr>
              <a:t>PROBLEMÁTICA</a:t>
            </a:r>
          </a:p>
        </p:txBody>
      </p:sp>
      <p:sp>
        <p:nvSpPr>
          <p:cNvPr id="93"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34</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13351166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110 Grupo"/>
          <p:cNvGrpSpPr/>
          <p:nvPr/>
        </p:nvGrpSpPr>
        <p:grpSpPr>
          <a:xfrm>
            <a:off x="162662" y="4797152"/>
            <a:ext cx="1638139" cy="465623"/>
            <a:chOff x="5667356" y="4248600"/>
            <a:chExt cx="942591" cy="465623"/>
          </a:xfrm>
        </p:grpSpPr>
        <p:sp>
          <p:nvSpPr>
            <p:cNvPr id="112" name="111 Rectángulo redondeado"/>
            <p:cNvSpPr/>
            <p:nvPr/>
          </p:nvSpPr>
          <p:spPr>
            <a:xfrm>
              <a:off x="5689007" y="4248600"/>
              <a:ext cx="854064" cy="465623"/>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latin typeface="Avenir 35" panose="00000400000000000000" pitchFamily="2" charset="0"/>
              </a:endParaRPr>
            </a:p>
          </p:txBody>
        </p:sp>
        <p:sp>
          <p:nvSpPr>
            <p:cNvPr id="113" name="112 CuadroTexto"/>
            <p:cNvSpPr txBox="1"/>
            <p:nvPr/>
          </p:nvSpPr>
          <p:spPr>
            <a:xfrm>
              <a:off x="5667356" y="4436631"/>
              <a:ext cx="942591" cy="200055"/>
            </a:xfrm>
            <a:prstGeom prst="rect">
              <a:avLst/>
            </a:prstGeom>
            <a:noFill/>
            <a:ln>
              <a:noFill/>
            </a:ln>
          </p:spPr>
          <p:txBody>
            <a:bodyPr wrap="square" rtlCol="0">
              <a:spAutoFit/>
            </a:bodyPr>
            <a:lstStyle/>
            <a:p>
              <a:pPr algn="ctr"/>
              <a:r>
                <a:rPr lang="es-ES" sz="700" dirty="0">
                  <a:latin typeface="Avenir 35" panose="00000400000000000000" pitchFamily="2" charset="0"/>
                </a:rPr>
                <a:t>SEGMENTO POTENCIAL 1</a:t>
              </a:r>
            </a:p>
          </p:txBody>
        </p:sp>
      </p:grpSp>
      <p:grpSp>
        <p:nvGrpSpPr>
          <p:cNvPr id="105" name="104 Grupo"/>
          <p:cNvGrpSpPr/>
          <p:nvPr/>
        </p:nvGrpSpPr>
        <p:grpSpPr>
          <a:xfrm>
            <a:off x="1918781" y="4816073"/>
            <a:ext cx="1638139" cy="465623"/>
            <a:chOff x="5667356" y="4390132"/>
            <a:chExt cx="942591" cy="465623"/>
          </a:xfrm>
        </p:grpSpPr>
        <p:sp>
          <p:nvSpPr>
            <p:cNvPr id="106" name="105 Rectángulo redondeado"/>
            <p:cNvSpPr/>
            <p:nvPr/>
          </p:nvSpPr>
          <p:spPr>
            <a:xfrm>
              <a:off x="5689007" y="4390132"/>
              <a:ext cx="854064" cy="465623"/>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latin typeface="Avenir 35" panose="00000400000000000000" pitchFamily="2" charset="0"/>
              </a:endParaRPr>
            </a:p>
          </p:txBody>
        </p:sp>
        <p:sp>
          <p:nvSpPr>
            <p:cNvPr id="107" name="106 CuadroTexto"/>
            <p:cNvSpPr txBox="1"/>
            <p:nvPr/>
          </p:nvSpPr>
          <p:spPr>
            <a:xfrm>
              <a:off x="5667356" y="4580491"/>
              <a:ext cx="942591" cy="200055"/>
            </a:xfrm>
            <a:prstGeom prst="rect">
              <a:avLst/>
            </a:prstGeom>
            <a:noFill/>
            <a:ln>
              <a:noFill/>
            </a:ln>
          </p:spPr>
          <p:txBody>
            <a:bodyPr wrap="square" rtlCol="0">
              <a:spAutoFit/>
            </a:bodyPr>
            <a:lstStyle/>
            <a:p>
              <a:pPr algn="ctr"/>
              <a:r>
                <a:rPr lang="es-ES" sz="700" dirty="0">
                  <a:latin typeface="Avenir 35" panose="00000400000000000000" pitchFamily="2" charset="0"/>
                </a:rPr>
                <a:t>SEGMENTO POTENCIAL 2</a:t>
              </a:r>
            </a:p>
          </p:txBody>
        </p:sp>
      </p:grpSp>
      <p:sp>
        <p:nvSpPr>
          <p:cNvPr id="75" name="74 CuadroTexto"/>
          <p:cNvSpPr txBox="1"/>
          <p:nvPr/>
        </p:nvSpPr>
        <p:spPr>
          <a:xfrm>
            <a:off x="116463" y="116634"/>
            <a:ext cx="9673075" cy="584775"/>
          </a:xfrm>
          <a:prstGeom prst="rect">
            <a:avLst/>
          </a:prstGeom>
          <a:noFill/>
        </p:spPr>
        <p:txBody>
          <a:bodyPr wrap="square" rtlCol="0">
            <a:spAutoFit/>
          </a:bodyPr>
          <a:lstStyle/>
          <a:p>
            <a:pPr algn="ctr"/>
            <a:r>
              <a:rPr lang="es-ES" sz="1200" dirty="0">
                <a:solidFill>
                  <a:srgbClr val="323232"/>
                </a:solidFill>
                <a:latin typeface="Avenir 35" panose="00000400000000000000" pitchFamily="2" charset="0"/>
              </a:rPr>
              <a:t>Caso 2: campaña de recuperación de clientes</a:t>
            </a:r>
          </a:p>
          <a:p>
            <a:pPr algn="ctr"/>
            <a:r>
              <a:rPr lang="es-ES" sz="2000" b="1" dirty="0">
                <a:solidFill>
                  <a:srgbClr val="323232"/>
                </a:solidFill>
                <a:latin typeface="Avenir 35" panose="00000400000000000000" pitchFamily="2" charset="0"/>
              </a:rPr>
              <a:t>SEGMENTACIÓN VS MICRO-SEGMENTACIÓN</a:t>
            </a:r>
          </a:p>
        </p:txBody>
      </p:sp>
      <p:grpSp>
        <p:nvGrpSpPr>
          <p:cNvPr id="6" name="5 Grupo"/>
          <p:cNvGrpSpPr/>
          <p:nvPr/>
        </p:nvGrpSpPr>
        <p:grpSpPr>
          <a:xfrm>
            <a:off x="5385048" y="1789213"/>
            <a:ext cx="3838447" cy="2215851"/>
            <a:chOff x="2324962" y="2255956"/>
            <a:chExt cx="3543182" cy="2183387"/>
          </a:xfrm>
        </p:grpSpPr>
        <p:sp>
          <p:nvSpPr>
            <p:cNvPr id="2" name="1 Rectángulo redondeado"/>
            <p:cNvSpPr/>
            <p:nvPr/>
          </p:nvSpPr>
          <p:spPr>
            <a:xfrm>
              <a:off x="2324962" y="2255956"/>
              <a:ext cx="3543182" cy="2183387"/>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latin typeface="Avenir 35" panose="00000400000000000000" pitchFamily="2" charset="0"/>
              </a:endParaRPr>
            </a:p>
          </p:txBody>
        </p:sp>
        <p:sp>
          <p:nvSpPr>
            <p:cNvPr id="5" name="4 Rectángulo"/>
            <p:cNvSpPr/>
            <p:nvPr/>
          </p:nvSpPr>
          <p:spPr>
            <a:xfrm>
              <a:off x="2530876" y="3124665"/>
              <a:ext cx="3131354" cy="646331"/>
            </a:xfrm>
            <a:prstGeom prst="rect">
              <a:avLst/>
            </a:prstGeom>
          </p:spPr>
          <p:txBody>
            <a:bodyPr wrap="square">
              <a:spAutoFit/>
            </a:bodyPr>
            <a:lstStyle/>
            <a:p>
              <a:pPr marL="171450" indent="-171450">
                <a:buFont typeface="Wingdings" panose="05000000000000000000" pitchFamily="2" charset="2"/>
                <a:buChar char="v"/>
              </a:pPr>
              <a:r>
                <a:rPr lang="es-ES" sz="1200" dirty="0">
                  <a:latin typeface="Avenir 35" panose="00000400000000000000" pitchFamily="2" charset="0"/>
                </a:rPr>
                <a:t>Modelos de vehículo: A, B, C, E y ML </a:t>
              </a:r>
            </a:p>
            <a:p>
              <a:pPr marL="171450" indent="-171450">
                <a:buFont typeface="Wingdings" panose="05000000000000000000" pitchFamily="2" charset="2"/>
                <a:buChar char="v"/>
              </a:pPr>
              <a:r>
                <a:rPr lang="es-ES" sz="1200" dirty="0">
                  <a:latin typeface="Avenir 35" panose="00000400000000000000" pitchFamily="2" charset="0"/>
                </a:rPr>
                <a:t>Antigüedad vehículo: ≥ 5 años </a:t>
              </a:r>
            </a:p>
            <a:p>
              <a:pPr marL="171450" indent="-171450">
                <a:buFont typeface="Wingdings" panose="05000000000000000000" pitchFamily="2" charset="2"/>
                <a:buChar char="v"/>
              </a:pPr>
              <a:r>
                <a:rPr lang="es-ES" sz="1200" dirty="0">
                  <a:latin typeface="Avenir 35" panose="00000400000000000000" pitchFamily="2" charset="0"/>
                </a:rPr>
                <a:t>Última visita al taller oficial: 27-39 meses </a:t>
              </a:r>
            </a:p>
          </p:txBody>
        </p:sp>
      </p:grpSp>
      <p:sp>
        <p:nvSpPr>
          <p:cNvPr id="8" name="7 Rectángulo"/>
          <p:cNvSpPr/>
          <p:nvPr/>
        </p:nvSpPr>
        <p:spPr>
          <a:xfrm>
            <a:off x="5574700" y="3604954"/>
            <a:ext cx="3353228" cy="400110"/>
          </a:xfrm>
          <a:prstGeom prst="rect">
            <a:avLst/>
          </a:prstGeom>
        </p:spPr>
        <p:txBody>
          <a:bodyPr wrap="square">
            <a:spAutoFit/>
          </a:bodyPr>
          <a:lstStyle/>
          <a:p>
            <a:pPr algn="ctr"/>
            <a:r>
              <a:rPr lang="es-ES" sz="1000" b="1" i="1" dirty="0">
                <a:latin typeface="Avenir 35" panose="00000400000000000000" pitchFamily="2" charset="0"/>
              </a:rPr>
              <a:t>Mensaje uniforme</a:t>
            </a:r>
            <a:r>
              <a:rPr lang="es-ES" sz="1000" dirty="0">
                <a:latin typeface="Avenir 35" panose="00000400000000000000" pitchFamily="2" charset="0"/>
              </a:rPr>
              <a:t>: Packs de mantenimiento a precio especial+ Obsequio</a:t>
            </a:r>
          </a:p>
        </p:txBody>
      </p:sp>
      <p:pic>
        <p:nvPicPr>
          <p:cNvPr id="10" name="9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74830" y="3269871"/>
            <a:ext cx="383895" cy="354365"/>
          </a:xfrm>
          <a:prstGeom prst="rect">
            <a:avLst/>
          </a:prstGeom>
        </p:spPr>
      </p:pic>
      <p:sp>
        <p:nvSpPr>
          <p:cNvPr id="19" name="18 CuadroTexto"/>
          <p:cNvSpPr txBox="1"/>
          <p:nvPr/>
        </p:nvSpPr>
        <p:spPr>
          <a:xfrm>
            <a:off x="6902916" y="2009232"/>
            <a:ext cx="1648444" cy="523220"/>
          </a:xfrm>
          <a:prstGeom prst="rect">
            <a:avLst/>
          </a:prstGeom>
          <a:noFill/>
        </p:spPr>
        <p:txBody>
          <a:bodyPr wrap="square" rtlCol="0">
            <a:spAutoFit/>
          </a:bodyPr>
          <a:lstStyle/>
          <a:p>
            <a:r>
              <a:rPr lang="es-ES" sz="1400" dirty="0">
                <a:latin typeface="Avenir 35" panose="00000400000000000000" pitchFamily="2" charset="0"/>
              </a:rPr>
              <a:t>SEGMENTO ACTUAL</a:t>
            </a:r>
          </a:p>
        </p:txBody>
      </p:sp>
      <p:sp>
        <p:nvSpPr>
          <p:cNvPr id="7169" name="7168 Rectángulo"/>
          <p:cNvSpPr/>
          <p:nvPr/>
        </p:nvSpPr>
        <p:spPr>
          <a:xfrm>
            <a:off x="5961112" y="4509119"/>
            <a:ext cx="2682406" cy="144623"/>
          </a:xfrm>
          <a:prstGeom prst="rect">
            <a:avLst/>
          </a:prstGeom>
          <a:solidFill>
            <a:srgbClr val="3CB2C3"/>
          </a:solidFill>
          <a:ln w="12700">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bg1"/>
                </a:solidFill>
                <a:latin typeface="Avenir 35" panose="00000400000000000000" pitchFamily="2" charset="0"/>
              </a:rPr>
              <a:t>Última visita al taller oficial 27-39 meses </a:t>
            </a:r>
          </a:p>
        </p:txBody>
      </p:sp>
      <p:sp>
        <p:nvSpPr>
          <p:cNvPr id="146" name="145 Rectángulo"/>
          <p:cNvSpPr/>
          <p:nvPr/>
        </p:nvSpPr>
        <p:spPr>
          <a:xfrm>
            <a:off x="5963828" y="4761071"/>
            <a:ext cx="2682406" cy="144623"/>
          </a:xfrm>
          <a:prstGeom prst="rect">
            <a:avLst/>
          </a:prstGeom>
          <a:solidFill>
            <a:srgbClr val="3CB2C3"/>
          </a:solidFill>
          <a:ln w="12700">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bg1"/>
                </a:solidFill>
                <a:latin typeface="Avenir 35" panose="00000400000000000000" pitchFamily="2" charset="0"/>
              </a:rPr>
              <a:t>Antigüedad vehículo ≥ 5 años </a:t>
            </a:r>
          </a:p>
        </p:txBody>
      </p:sp>
      <p:sp>
        <p:nvSpPr>
          <p:cNvPr id="165" name="164 Rectángulo"/>
          <p:cNvSpPr/>
          <p:nvPr/>
        </p:nvSpPr>
        <p:spPr>
          <a:xfrm>
            <a:off x="5963828" y="5013023"/>
            <a:ext cx="2682406" cy="144623"/>
          </a:xfrm>
          <a:prstGeom prst="rect">
            <a:avLst/>
          </a:prstGeom>
          <a:solidFill>
            <a:srgbClr val="3CB2C3"/>
          </a:solidFill>
          <a:ln w="12700">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bg1"/>
                </a:solidFill>
                <a:latin typeface="Avenir 35" panose="00000400000000000000" pitchFamily="2" charset="0"/>
              </a:rPr>
              <a:t>Grupo edad: 40-50 años  </a:t>
            </a:r>
          </a:p>
        </p:txBody>
      </p:sp>
      <p:sp>
        <p:nvSpPr>
          <p:cNvPr id="167" name="166 Rectángulo"/>
          <p:cNvSpPr/>
          <p:nvPr/>
        </p:nvSpPr>
        <p:spPr>
          <a:xfrm>
            <a:off x="5963828" y="5264975"/>
            <a:ext cx="2682406" cy="144623"/>
          </a:xfrm>
          <a:prstGeom prst="rect">
            <a:avLst/>
          </a:prstGeom>
          <a:solidFill>
            <a:srgbClr val="3CB2C3"/>
          </a:solidFill>
          <a:ln w="12700">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bg1"/>
                </a:solidFill>
                <a:latin typeface="Avenir 35" panose="00000400000000000000" pitchFamily="2" charset="0"/>
              </a:rPr>
              <a:t>Km del vehículo: Entro 100,000 y 200,000</a:t>
            </a:r>
          </a:p>
        </p:txBody>
      </p:sp>
      <p:sp>
        <p:nvSpPr>
          <p:cNvPr id="168" name="167 Rectángulo"/>
          <p:cNvSpPr/>
          <p:nvPr/>
        </p:nvSpPr>
        <p:spPr>
          <a:xfrm>
            <a:off x="5963828" y="5516927"/>
            <a:ext cx="2682406" cy="144623"/>
          </a:xfrm>
          <a:prstGeom prst="rect">
            <a:avLst/>
          </a:prstGeom>
          <a:solidFill>
            <a:srgbClr val="0086AC"/>
          </a:solidFill>
          <a:ln w="12700">
            <a:solidFill>
              <a:srgbClr val="008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bg1"/>
                </a:solidFill>
                <a:latin typeface="Avenir 35" panose="00000400000000000000" pitchFamily="2" charset="0"/>
              </a:rPr>
              <a:t>Nº de vehículos: 1</a:t>
            </a:r>
          </a:p>
        </p:txBody>
      </p:sp>
      <p:pic>
        <p:nvPicPr>
          <p:cNvPr id="169" name="168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8984" y="6303779"/>
            <a:ext cx="236787" cy="218574"/>
          </a:xfrm>
          <a:prstGeom prst="rect">
            <a:avLst/>
          </a:prstGeom>
        </p:spPr>
      </p:pic>
      <p:pic>
        <p:nvPicPr>
          <p:cNvPr id="170" name="169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82832" y="6307486"/>
            <a:ext cx="253044" cy="233579"/>
          </a:xfrm>
          <a:prstGeom prst="rect">
            <a:avLst/>
          </a:prstGeom>
        </p:spPr>
      </p:pic>
      <p:grpSp>
        <p:nvGrpSpPr>
          <p:cNvPr id="171" name="170 Grupo"/>
          <p:cNvGrpSpPr/>
          <p:nvPr/>
        </p:nvGrpSpPr>
        <p:grpSpPr>
          <a:xfrm>
            <a:off x="318333" y="5512885"/>
            <a:ext cx="1316072" cy="1076382"/>
            <a:chOff x="4343328" y="1896565"/>
            <a:chExt cx="1214836" cy="1076383"/>
          </a:xfrm>
        </p:grpSpPr>
        <p:sp>
          <p:nvSpPr>
            <p:cNvPr id="172" name="171 Llamada rectangular redondeada"/>
            <p:cNvSpPr/>
            <p:nvPr/>
          </p:nvSpPr>
          <p:spPr>
            <a:xfrm>
              <a:off x="4499992" y="2049917"/>
              <a:ext cx="1008112" cy="923031"/>
            </a:xfrm>
            <a:prstGeom prst="wedgeRoundRectCallou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latin typeface="Avenir 35" panose="00000400000000000000" pitchFamily="2" charset="0"/>
              </a:endParaRPr>
            </a:p>
          </p:txBody>
        </p:sp>
        <p:sp>
          <p:nvSpPr>
            <p:cNvPr id="173" name="172 Rectángulo"/>
            <p:cNvSpPr/>
            <p:nvPr/>
          </p:nvSpPr>
          <p:spPr>
            <a:xfrm>
              <a:off x="4343328" y="1896565"/>
              <a:ext cx="1214836" cy="938720"/>
            </a:xfrm>
            <a:prstGeom prst="rect">
              <a:avLst/>
            </a:prstGeom>
          </p:spPr>
          <p:txBody>
            <a:bodyPr wrap="square">
              <a:spAutoFit/>
            </a:bodyPr>
            <a:lstStyle/>
            <a:p>
              <a:pPr algn="ctr"/>
              <a:endParaRPr lang="es-ES" sz="1000" dirty="0">
                <a:latin typeface="Avenir 35" panose="00000400000000000000" pitchFamily="2" charset="0"/>
              </a:endParaRPr>
            </a:p>
            <a:p>
              <a:pPr algn="ctr"/>
              <a:r>
                <a:rPr lang="es-ES" sz="700" dirty="0">
                  <a:latin typeface="Avenir 35" panose="00000400000000000000" pitchFamily="2" charset="0"/>
                </a:rPr>
                <a:t>Oferta 1</a:t>
              </a:r>
            </a:p>
            <a:p>
              <a:pPr algn="ctr"/>
              <a:r>
                <a:rPr lang="es-ES" sz="700" dirty="0">
                  <a:latin typeface="Avenir 35" panose="00000400000000000000" pitchFamily="2" charset="0"/>
                </a:rPr>
                <a:t>+</a:t>
              </a:r>
            </a:p>
            <a:p>
              <a:pPr algn="ctr"/>
              <a:r>
                <a:rPr lang="es-ES" sz="700" dirty="0">
                  <a:latin typeface="Avenir 35" panose="00000400000000000000" pitchFamily="2" charset="0"/>
                </a:rPr>
                <a:t>Mensaje 1</a:t>
              </a:r>
            </a:p>
            <a:p>
              <a:pPr algn="ctr"/>
              <a:r>
                <a:rPr lang="es-ES" sz="700" dirty="0">
                  <a:latin typeface="Avenir 35" panose="00000400000000000000" pitchFamily="2" charset="0"/>
                </a:rPr>
                <a:t>+</a:t>
              </a:r>
            </a:p>
            <a:p>
              <a:pPr algn="ctr"/>
              <a:r>
                <a:rPr lang="es-ES" sz="700" dirty="0">
                  <a:latin typeface="Avenir 35" panose="00000400000000000000" pitchFamily="2" charset="0"/>
                </a:rPr>
                <a:t>Diseño 1</a:t>
              </a:r>
            </a:p>
            <a:p>
              <a:pPr algn="ctr"/>
              <a:endParaRPr lang="es-ES" sz="1000" dirty="0">
                <a:latin typeface="Avenir 35" panose="00000400000000000000" pitchFamily="2" charset="0"/>
              </a:endParaRPr>
            </a:p>
          </p:txBody>
        </p:sp>
      </p:grpSp>
      <p:grpSp>
        <p:nvGrpSpPr>
          <p:cNvPr id="205" name="204 Grupo"/>
          <p:cNvGrpSpPr/>
          <p:nvPr/>
        </p:nvGrpSpPr>
        <p:grpSpPr>
          <a:xfrm>
            <a:off x="3674901" y="4799352"/>
            <a:ext cx="1638139" cy="465623"/>
            <a:chOff x="5667356" y="4248600"/>
            <a:chExt cx="942591" cy="465623"/>
          </a:xfrm>
        </p:grpSpPr>
        <p:sp>
          <p:nvSpPr>
            <p:cNvPr id="208" name="207 Rectángulo redondeado"/>
            <p:cNvSpPr/>
            <p:nvPr/>
          </p:nvSpPr>
          <p:spPr>
            <a:xfrm>
              <a:off x="5689007" y="4248600"/>
              <a:ext cx="854064" cy="465623"/>
            </a:xfrm>
            <a:prstGeom prst="roundRec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latin typeface="Avenir 35" panose="00000400000000000000" pitchFamily="2" charset="0"/>
              </a:endParaRPr>
            </a:p>
          </p:txBody>
        </p:sp>
        <p:sp>
          <p:nvSpPr>
            <p:cNvPr id="207" name="206 CuadroTexto"/>
            <p:cNvSpPr txBox="1"/>
            <p:nvPr/>
          </p:nvSpPr>
          <p:spPr>
            <a:xfrm>
              <a:off x="5667356" y="4449042"/>
              <a:ext cx="942591" cy="200055"/>
            </a:xfrm>
            <a:prstGeom prst="rect">
              <a:avLst/>
            </a:prstGeom>
            <a:noFill/>
            <a:ln>
              <a:noFill/>
            </a:ln>
          </p:spPr>
          <p:txBody>
            <a:bodyPr wrap="square" rtlCol="0">
              <a:spAutoFit/>
            </a:bodyPr>
            <a:lstStyle/>
            <a:p>
              <a:pPr algn="ctr"/>
              <a:r>
                <a:rPr lang="es-ES" sz="700" dirty="0">
                  <a:latin typeface="Avenir 35" panose="00000400000000000000" pitchFamily="2" charset="0"/>
                </a:rPr>
                <a:t>SEGMENTO POTENCIAL 3</a:t>
              </a:r>
            </a:p>
          </p:txBody>
        </p:sp>
      </p:grpSp>
      <p:sp>
        <p:nvSpPr>
          <p:cNvPr id="217" name="216 Rectángulo"/>
          <p:cNvSpPr/>
          <p:nvPr/>
        </p:nvSpPr>
        <p:spPr>
          <a:xfrm>
            <a:off x="5963828" y="5768880"/>
            <a:ext cx="2682406" cy="144623"/>
          </a:xfrm>
          <a:prstGeom prst="rect">
            <a:avLst/>
          </a:prstGeom>
          <a:solidFill>
            <a:srgbClr val="0086AC"/>
          </a:solidFill>
          <a:ln w="12700">
            <a:solidFill>
              <a:srgbClr val="008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bg1"/>
                </a:solidFill>
                <a:latin typeface="Avenir 35" panose="00000400000000000000" pitchFamily="2" charset="0"/>
              </a:rPr>
              <a:t>Tipo de relación con el taller: 2 revisiones</a:t>
            </a:r>
          </a:p>
        </p:txBody>
      </p:sp>
      <p:pic>
        <p:nvPicPr>
          <p:cNvPr id="7171" name="Picture 3"/>
          <p:cNvPicPr>
            <a:picLocks noChangeAspect="1" noChangeArrowheads="1"/>
          </p:cNvPicPr>
          <p:nvPr/>
        </p:nvPicPr>
        <p:blipFill>
          <a:blip r:embed="rId7">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8193360" y="1556792"/>
            <a:ext cx="1402070" cy="915785"/>
          </a:xfrm>
          <a:prstGeom prst="rect">
            <a:avLst/>
          </a:prstGeom>
          <a:solidFill>
            <a:srgbClr val="0097B7"/>
          </a:solidFill>
          <a:ln w="9525">
            <a:noFill/>
            <a:miter lim="800000"/>
            <a:headEnd/>
            <a:tailEnd/>
          </a:ln>
          <a:effectLst/>
        </p:spPr>
      </p:pic>
      <p:sp>
        <p:nvSpPr>
          <p:cNvPr id="221" name="220 Rectángulo"/>
          <p:cNvSpPr/>
          <p:nvPr/>
        </p:nvSpPr>
        <p:spPr>
          <a:xfrm>
            <a:off x="5963828" y="6020833"/>
            <a:ext cx="2682406" cy="144623"/>
          </a:xfrm>
          <a:prstGeom prst="rect">
            <a:avLst/>
          </a:prstGeom>
          <a:solidFill>
            <a:srgbClr val="0086AC"/>
          </a:solidFill>
          <a:ln w="12700">
            <a:solidFill>
              <a:srgbClr val="008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bg1"/>
                </a:solidFill>
                <a:latin typeface="Avenir 35" panose="00000400000000000000" pitchFamily="2" charset="0"/>
              </a:rPr>
              <a:t>Interactuación con ventas: No</a:t>
            </a:r>
          </a:p>
        </p:txBody>
      </p:sp>
      <p:pic>
        <p:nvPicPr>
          <p:cNvPr id="7174" name="7173 Imagen"/>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31707" y="6275282"/>
            <a:ext cx="308403" cy="284680"/>
          </a:xfrm>
          <a:prstGeom prst="rect">
            <a:avLst/>
          </a:prstGeom>
        </p:spPr>
      </p:pic>
      <p:sp>
        <p:nvSpPr>
          <p:cNvPr id="226" name="225 Rectángulo"/>
          <p:cNvSpPr/>
          <p:nvPr/>
        </p:nvSpPr>
        <p:spPr>
          <a:xfrm rot="5400000">
            <a:off x="7920300" y="5393893"/>
            <a:ext cx="2160241" cy="390698"/>
          </a:xfrm>
          <a:prstGeom prst="rect">
            <a:avLst/>
          </a:prstGeom>
          <a:solidFill>
            <a:srgbClr val="3CB2C3"/>
          </a:solid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dirty="0">
                <a:solidFill>
                  <a:schemeClr val="bg1"/>
                </a:solidFill>
                <a:latin typeface="Avenir 35" panose="00000400000000000000" pitchFamily="2" charset="0"/>
              </a:rPr>
              <a:t>VARIABLES </a:t>
            </a:r>
          </a:p>
        </p:txBody>
      </p:sp>
      <p:sp>
        <p:nvSpPr>
          <p:cNvPr id="227" name="226 Rectángulo"/>
          <p:cNvSpPr/>
          <p:nvPr/>
        </p:nvSpPr>
        <p:spPr>
          <a:xfrm>
            <a:off x="128464" y="4472566"/>
            <a:ext cx="5112568" cy="186904"/>
          </a:xfrm>
          <a:prstGeom prst="rect">
            <a:avLst/>
          </a:prstGeom>
          <a:solidFill>
            <a:srgbClr val="3CB2C3"/>
          </a:solid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solidFill>
                  <a:schemeClr val="bg1"/>
                </a:solidFill>
                <a:latin typeface="Avenir 35" panose="00000400000000000000" pitchFamily="2" charset="0"/>
              </a:rPr>
              <a:t>MENSAJES, FORMATO, CANALES </a:t>
            </a:r>
          </a:p>
        </p:txBody>
      </p:sp>
      <p:sp>
        <p:nvSpPr>
          <p:cNvPr id="7175" name="7174 CuadroTexto"/>
          <p:cNvSpPr txBox="1"/>
          <p:nvPr/>
        </p:nvSpPr>
        <p:spPr>
          <a:xfrm>
            <a:off x="214137" y="687048"/>
            <a:ext cx="9087681" cy="507831"/>
          </a:xfrm>
          <a:prstGeom prst="rect">
            <a:avLst/>
          </a:prstGeom>
          <a:noFill/>
        </p:spPr>
        <p:txBody>
          <a:bodyPr wrap="square" rtlCol="0">
            <a:spAutoFit/>
          </a:bodyPr>
          <a:lstStyle/>
          <a:p>
            <a:pPr algn="ctr"/>
            <a:r>
              <a:rPr lang="es-ES" sz="900" dirty="0">
                <a:solidFill>
                  <a:srgbClr val="323232"/>
                </a:solidFill>
                <a:latin typeface="Avenir 35" panose="00000400000000000000" pitchFamily="2" charset="0"/>
              </a:rPr>
              <a:t>Proponemos la inclusión de nuevas variables críticas para la posterior segmentación de clientes,  variables que se suman a aquellas ya contempladas en el caso (última visita al taller y antigüedad del vehículo), con el fin de obtener unos perfiles más definidos que permitan realizar unas campañas más personalizadas en mensaje, canal, formato para cada target</a:t>
            </a:r>
          </a:p>
        </p:txBody>
      </p:sp>
      <p:sp>
        <p:nvSpPr>
          <p:cNvPr id="229" name="228 Rectángulo"/>
          <p:cNvSpPr/>
          <p:nvPr/>
        </p:nvSpPr>
        <p:spPr>
          <a:xfrm>
            <a:off x="5961112" y="6272786"/>
            <a:ext cx="2682406" cy="144623"/>
          </a:xfrm>
          <a:prstGeom prst="rect">
            <a:avLst/>
          </a:prstGeom>
          <a:solidFill>
            <a:srgbClr val="0086AC"/>
          </a:solidFill>
          <a:ln w="12700">
            <a:solidFill>
              <a:srgbClr val="008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bg1"/>
                </a:solidFill>
                <a:latin typeface="Avenir 35" panose="00000400000000000000" pitchFamily="2" charset="0"/>
              </a:rPr>
              <a:t>Modelo de vehículo: Clase M</a:t>
            </a:r>
          </a:p>
        </p:txBody>
      </p:sp>
      <p:sp>
        <p:nvSpPr>
          <p:cNvPr id="230" name="229 Rectángulo"/>
          <p:cNvSpPr/>
          <p:nvPr/>
        </p:nvSpPr>
        <p:spPr>
          <a:xfrm>
            <a:off x="5961112" y="6524739"/>
            <a:ext cx="2682406" cy="144623"/>
          </a:xfrm>
          <a:prstGeom prst="rect">
            <a:avLst/>
          </a:prstGeom>
          <a:solidFill>
            <a:srgbClr val="0086AC"/>
          </a:solidFill>
          <a:ln w="12700">
            <a:solidFill>
              <a:srgbClr val="008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bg1"/>
                </a:solidFill>
                <a:latin typeface="Avenir 35" panose="00000400000000000000" pitchFamily="2" charset="0"/>
              </a:rPr>
              <a:t>Geolocalización</a:t>
            </a:r>
          </a:p>
        </p:txBody>
      </p:sp>
      <p:sp>
        <p:nvSpPr>
          <p:cNvPr id="231" name="230 Rectángulo"/>
          <p:cNvSpPr/>
          <p:nvPr/>
        </p:nvSpPr>
        <p:spPr>
          <a:xfrm>
            <a:off x="134238" y="5373216"/>
            <a:ext cx="5106794" cy="216628"/>
          </a:xfrm>
          <a:prstGeom prst="rect">
            <a:avLst/>
          </a:prstGeom>
          <a:solidFill>
            <a:srgbClr val="3CB2C3"/>
          </a:solid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solidFill>
                  <a:schemeClr val="bg1"/>
                </a:solidFill>
                <a:latin typeface="Avenir 35" panose="00000400000000000000" pitchFamily="2" charset="0"/>
              </a:rPr>
              <a:t>ANALÍTICA, TESTING A/B</a:t>
            </a:r>
          </a:p>
        </p:txBody>
      </p:sp>
      <p:sp>
        <p:nvSpPr>
          <p:cNvPr id="233" name="232 Rectángulo"/>
          <p:cNvSpPr/>
          <p:nvPr/>
        </p:nvSpPr>
        <p:spPr>
          <a:xfrm>
            <a:off x="3819100" y="5661835"/>
            <a:ext cx="1349924" cy="630942"/>
          </a:xfrm>
          <a:prstGeom prst="rect">
            <a:avLst/>
          </a:prstGeom>
        </p:spPr>
        <p:txBody>
          <a:bodyPr wrap="square">
            <a:spAutoFit/>
          </a:bodyPr>
          <a:lstStyle/>
          <a:p>
            <a:pPr algn="ctr"/>
            <a:r>
              <a:rPr lang="es-ES" sz="700" dirty="0">
                <a:latin typeface="Avenir 35" panose="00000400000000000000" pitchFamily="2" charset="0"/>
              </a:rPr>
              <a:t>Oferta 3</a:t>
            </a:r>
          </a:p>
          <a:p>
            <a:pPr algn="ctr"/>
            <a:r>
              <a:rPr lang="es-ES" sz="700" dirty="0">
                <a:latin typeface="Avenir 35" panose="00000400000000000000" pitchFamily="2" charset="0"/>
              </a:rPr>
              <a:t>+</a:t>
            </a:r>
          </a:p>
          <a:p>
            <a:pPr algn="ctr"/>
            <a:r>
              <a:rPr lang="es-ES" sz="700" dirty="0">
                <a:latin typeface="Avenir 35" panose="00000400000000000000" pitchFamily="2" charset="0"/>
              </a:rPr>
              <a:t>Mensaje  3</a:t>
            </a:r>
          </a:p>
          <a:p>
            <a:pPr algn="ctr"/>
            <a:r>
              <a:rPr lang="es-ES" sz="700" dirty="0">
                <a:latin typeface="Avenir 35" panose="00000400000000000000" pitchFamily="2" charset="0"/>
              </a:rPr>
              <a:t>+</a:t>
            </a:r>
          </a:p>
          <a:p>
            <a:pPr algn="ctr"/>
            <a:r>
              <a:rPr lang="es-ES" sz="700" dirty="0">
                <a:latin typeface="Avenir 35" panose="00000400000000000000" pitchFamily="2" charset="0"/>
              </a:rPr>
              <a:t>Diseño 3</a:t>
            </a:r>
          </a:p>
        </p:txBody>
      </p:sp>
      <p:sp>
        <p:nvSpPr>
          <p:cNvPr id="67" name="66 Rectángulo"/>
          <p:cNvSpPr/>
          <p:nvPr/>
        </p:nvSpPr>
        <p:spPr>
          <a:xfrm>
            <a:off x="2072680" y="5685608"/>
            <a:ext cx="1349924" cy="630942"/>
          </a:xfrm>
          <a:prstGeom prst="rect">
            <a:avLst/>
          </a:prstGeom>
        </p:spPr>
        <p:txBody>
          <a:bodyPr wrap="square">
            <a:spAutoFit/>
          </a:bodyPr>
          <a:lstStyle/>
          <a:p>
            <a:pPr algn="ctr"/>
            <a:r>
              <a:rPr lang="es-ES" sz="700" dirty="0">
                <a:latin typeface="Avenir 35" panose="00000400000000000000" pitchFamily="2" charset="0"/>
              </a:rPr>
              <a:t>Oferta 2</a:t>
            </a:r>
          </a:p>
          <a:p>
            <a:pPr algn="ctr"/>
            <a:r>
              <a:rPr lang="es-ES" sz="700" dirty="0">
                <a:latin typeface="Avenir 35" panose="00000400000000000000" pitchFamily="2" charset="0"/>
              </a:rPr>
              <a:t>+</a:t>
            </a:r>
          </a:p>
          <a:p>
            <a:pPr algn="ctr"/>
            <a:r>
              <a:rPr lang="es-ES" sz="700" dirty="0">
                <a:latin typeface="Avenir 35" panose="00000400000000000000" pitchFamily="2" charset="0"/>
              </a:rPr>
              <a:t>Mensaje 2</a:t>
            </a:r>
          </a:p>
          <a:p>
            <a:pPr algn="ctr"/>
            <a:r>
              <a:rPr lang="es-ES" sz="700" dirty="0">
                <a:latin typeface="Avenir 35" panose="00000400000000000000" pitchFamily="2" charset="0"/>
              </a:rPr>
              <a:t>+</a:t>
            </a:r>
          </a:p>
          <a:p>
            <a:pPr algn="ctr"/>
            <a:r>
              <a:rPr lang="es-ES" sz="700" dirty="0">
                <a:latin typeface="Avenir 35" panose="00000400000000000000" pitchFamily="2" charset="0"/>
              </a:rPr>
              <a:t>Diseño 2</a:t>
            </a:r>
          </a:p>
        </p:txBody>
      </p:sp>
      <p:sp>
        <p:nvSpPr>
          <p:cNvPr id="68" name="67 Llamada rectangular redondeada"/>
          <p:cNvSpPr/>
          <p:nvPr/>
        </p:nvSpPr>
        <p:spPr>
          <a:xfrm>
            <a:off x="2196781" y="5661387"/>
            <a:ext cx="1092121" cy="923031"/>
          </a:xfrm>
          <a:prstGeom prst="wedgeRoundRectCallou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latin typeface="Avenir 35" panose="00000400000000000000" pitchFamily="2" charset="0"/>
            </a:endParaRPr>
          </a:p>
        </p:txBody>
      </p:sp>
      <p:sp>
        <p:nvSpPr>
          <p:cNvPr id="69" name="68 Llamada rectangular redondeada"/>
          <p:cNvSpPr/>
          <p:nvPr/>
        </p:nvSpPr>
        <p:spPr>
          <a:xfrm>
            <a:off x="3932887" y="5674321"/>
            <a:ext cx="1092121" cy="923031"/>
          </a:xfrm>
          <a:prstGeom prst="wedgeRoundRectCallout">
            <a:avLst/>
          </a:prstGeom>
          <a:noFill/>
          <a:ln>
            <a:solidFill>
              <a:srgbClr val="3CB2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latin typeface="Avenir 35" panose="00000400000000000000" pitchFamily="2" charset="0"/>
            </a:endParaRPr>
          </a:p>
        </p:txBody>
      </p:sp>
      <p:pic>
        <p:nvPicPr>
          <p:cNvPr id="70" name="Picture 2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240110" y="6303780"/>
            <a:ext cx="245527" cy="2409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 name="Picture 2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494965" y="6318970"/>
            <a:ext cx="245527" cy="2409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 name="71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73474" y="6303779"/>
            <a:ext cx="236787" cy="218574"/>
          </a:xfrm>
          <a:prstGeom prst="rect">
            <a:avLst/>
          </a:prstGeom>
        </p:spPr>
      </p:pic>
      <p:pic>
        <p:nvPicPr>
          <p:cNvPr id="73" name="Picture 2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787284" y="6303780"/>
            <a:ext cx="245527" cy="2409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6"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815648" y="1844824"/>
            <a:ext cx="879459" cy="7945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7" name="76 Imagen"/>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098785" y="1680398"/>
            <a:ext cx="313343" cy="289240"/>
          </a:xfrm>
          <a:prstGeom prst="rect">
            <a:avLst/>
          </a:prstGeom>
        </p:spPr>
      </p:pic>
      <p:pic>
        <p:nvPicPr>
          <p:cNvPr id="6147" name="Picture 3"/>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28464" y="4698592"/>
            <a:ext cx="256684" cy="2518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928664" y="4717093"/>
            <a:ext cx="204013" cy="2333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9" name="Picture 5"/>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656856" y="4716727"/>
            <a:ext cx="221788" cy="221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 name="Rectangle 81"/>
          <p:cNvSpPr/>
          <p:nvPr>
            <p:custDataLst>
              <p:tags r:id="rId1"/>
            </p:custDataLst>
          </p:nvPr>
        </p:nvSpPr>
        <p:spPr>
          <a:xfrm>
            <a:off x="61839" y="4166670"/>
            <a:ext cx="9499673" cy="232537"/>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lt1"/>
                </a:solidFill>
                <a:latin typeface="Avenir 35" panose="00000400000000000000" pitchFamily="2" charset="0"/>
              </a:rPr>
              <a:t>Resolución: micro-segmentación</a:t>
            </a:r>
          </a:p>
        </p:txBody>
      </p:sp>
      <p:sp>
        <p:nvSpPr>
          <p:cNvPr id="62" name="Rectangle 81"/>
          <p:cNvSpPr/>
          <p:nvPr>
            <p:custDataLst>
              <p:tags r:id="rId2"/>
            </p:custDataLst>
          </p:nvPr>
        </p:nvSpPr>
        <p:spPr>
          <a:xfrm>
            <a:off x="175715" y="1232551"/>
            <a:ext cx="9385797" cy="253955"/>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lt1"/>
                </a:solidFill>
                <a:latin typeface="Avenir 35" panose="00000400000000000000" pitchFamily="2" charset="0"/>
              </a:rPr>
              <a:t>Situación inicial : segmentación</a:t>
            </a:r>
          </a:p>
        </p:txBody>
      </p:sp>
      <p:grpSp>
        <p:nvGrpSpPr>
          <p:cNvPr id="59" name="58 Grupo"/>
          <p:cNvGrpSpPr/>
          <p:nvPr/>
        </p:nvGrpSpPr>
        <p:grpSpPr>
          <a:xfrm>
            <a:off x="265610" y="2403662"/>
            <a:ext cx="1428762" cy="788187"/>
            <a:chOff x="4128770" y="1196752"/>
            <a:chExt cx="2454743" cy="1382498"/>
          </a:xfrm>
        </p:grpSpPr>
        <p:grpSp>
          <p:nvGrpSpPr>
            <p:cNvPr id="60" name="Group 167"/>
            <p:cNvGrpSpPr/>
            <p:nvPr/>
          </p:nvGrpSpPr>
          <p:grpSpPr>
            <a:xfrm>
              <a:off x="4128770" y="1196752"/>
              <a:ext cx="2454743" cy="1382498"/>
              <a:chOff x="-1" y="0"/>
              <a:chExt cx="2454742" cy="1382497"/>
            </a:xfrm>
          </p:grpSpPr>
          <p:sp>
            <p:nvSpPr>
              <p:cNvPr id="66" name="Shape 159"/>
              <p:cNvSpPr/>
              <p:nvPr/>
            </p:nvSpPr>
            <p:spPr>
              <a:xfrm>
                <a:off x="408224" y="217724"/>
                <a:ext cx="1807030" cy="1164773"/>
              </a:xfrm>
              <a:prstGeom prst="rect">
                <a:avLst/>
              </a:prstGeom>
              <a:noFill/>
              <a:ln w="3175" cap="flat">
                <a:solidFill>
                  <a:srgbClr val="66FF99"/>
                </a:solidFill>
                <a:custDash>
                  <a:ds d="100000" sp="200000"/>
                </a:custDash>
                <a:bevel/>
              </a:ln>
              <a:effectLst/>
            </p:spPr>
            <p:txBody>
              <a:bodyPr wrap="square" lIns="0" tIns="0" rIns="0" bIns="0" numCol="1" anchor="ctr">
                <a:noAutofit/>
              </a:bodyPr>
              <a:lstStyle/>
              <a:p>
                <a:pPr lvl="0">
                  <a:defRPr>
                    <a:latin typeface="+mn-lt"/>
                    <a:ea typeface="+mn-ea"/>
                    <a:cs typeface="+mn-cs"/>
                    <a:sym typeface="Helvetica Neue"/>
                  </a:defRPr>
                </a:pPr>
                <a:endParaRPr dirty="0">
                  <a:latin typeface="Avenir 35" panose="00000400000000000000" pitchFamily="2" charset="0"/>
                </a:endParaRPr>
              </a:p>
            </p:txBody>
          </p:sp>
          <p:sp>
            <p:nvSpPr>
              <p:cNvPr id="74" name="Shape 160"/>
              <p:cNvSpPr/>
              <p:nvPr/>
            </p:nvSpPr>
            <p:spPr>
              <a:xfrm>
                <a:off x="527966" y="108867"/>
                <a:ext cx="1926775" cy="1159329"/>
              </a:xfrm>
              <a:prstGeom prst="rect">
                <a:avLst/>
              </a:prstGeom>
              <a:solidFill>
                <a:srgbClr val="3CB2C3"/>
              </a:solidFill>
              <a:ln w="3175" cap="flat">
                <a:solidFill>
                  <a:srgbClr val="000000">
                    <a:alpha val="0"/>
                  </a:srgbClr>
                </a:solidFill>
                <a:prstDash val="solid"/>
                <a:bevel/>
              </a:ln>
              <a:effectLst/>
            </p:spPr>
            <p:txBody>
              <a:bodyPr wrap="square" lIns="0" tIns="0" rIns="0" bIns="0" numCol="1" anchor="ctr">
                <a:noAutofit/>
              </a:bodyPr>
              <a:lstStyle/>
              <a:p>
                <a:pPr lvl="0">
                  <a:defRPr>
                    <a:latin typeface="+mn-lt"/>
                    <a:ea typeface="+mn-ea"/>
                    <a:cs typeface="+mn-cs"/>
                    <a:sym typeface="Helvetica Neue"/>
                  </a:defRPr>
                </a:pPr>
                <a:endParaRPr dirty="0">
                  <a:latin typeface="Avenir 35" panose="00000400000000000000" pitchFamily="2" charset="0"/>
                </a:endParaRPr>
              </a:p>
            </p:txBody>
          </p:sp>
          <p:grpSp>
            <p:nvGrpSpPr>
              <p:cNvPr id="78" name="Group 164"/>
              <p:cNvGrpSpPr/>
              <p:nvPr/>
            </p:nvGrpSpPr>
            <p:grpSpPr>
              <a:xfrm>
                <a:off x="914409" y="251936"/>
                <a:ext cx="1540332" cy="693632"/>
                <a:chOff x="16328" y="-77851"/>
                <a:chExt cx="1540330" cy="693631"/>
              </a:xfrm>
            </p:grpSpPr>
            <p:sp>
              <p:nvSpPr>
                <p:cNvPr id="80" name="Shape 161"/>
                <p:cNvSpPr/>
                <p:nvPr/>
              </p:nvSpPr>
              <p:spPr>
                <a:xfrm>
                  <a:off x="16328" y="-77851"/>
                  <a:ext cx="1540330" cy="377892"/>
                </a:xfrm>
                <a:prstGeom prst="rect">
                  <a:avLst/>
                </a:prstGeom>
                <a:noFill/>
                <a:ln w="3175"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spAutoFit/>
                </a:bodyPr>
                <a:lstStyle>
                  <a:lvl1pPr algn="l">
                    <a:defRPr sz="1400">
                      <a:solidFill>
                        <a:srgbClr val="FFFFFF"/>
                      </a:solidFill>
                      <a:latin typeface="Arial"/>
                      <a:ea typeface="Arial"/>
                      <a:cs typeface="Arial"/>
                      <a:sym typeface="Arial"/>
                    </a:defRPr>
                  </a:lvl1pPr>
                </a:lstStyle>
                <a:p>
                  <a:pPr lvl="0">
                    <a:defRPr sz="1800">
                      <a:solidFill>
                        <a:srgbClr val="000000"/>
                      </a:solidFill>
                    </a:defRPr>
                  </a:pPr>
                  <a:endParaRPr sz="1400" dirty="0">
                    <a:solidFill>
                      <a:srgbClr val="FFFFFF"/>
                    </a:solidFill>
                    <a:latin typeface="Avenir 35" panose="00000400000000000000" pitchFamily="2" charset="0"/>
                  </a:endParaRPr>
                </a:p>
              </p:txBody>
            </p:sp>
            <p:sp>
              <p:nvSpPr>
                <p:cNvPr id="81" name="Shape 162"/>
                <p:cNvSpPr/>
                <p:nvPr/>
              </p:nvSpPr>
              <p:spPr>
                <a:xfrm>
                  <a:off x="41481" y="21950"/>
                  <a:ext cx="1412147" cy="593830"/>
                </a:xfrm>
                <a:prstGeom prst="rect">
                  <a:avLst/>
                </a:prstGeom>
                <a:noFill/>
                <a:ln w="3175"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spAutoFit/>
                </a:bodyPr>
                <a:lstStyle>
                  <a:lvl1pPr algn="l">
                    <a:defRPr sz="3000" b="1">
                      <a:solidFill>
                        <a:srgbClr val="FFFFFF"/>
                      </a:solidFill>
                      <a:latin typeface="Arial"/>
                      <a:ea typeface="Arial"/>
                      <a:cs typeface="Arial"/>
                      <a:sym typeface="Arial"/>
                    </a:defRPr>
                  </a:lvl1pPr>
                </a:lstStyle>
                <a:p>
                  <a:pPr lvl="0">
                    <a:defRPr sz="1800" b="0">
                      <a:solidFill>
                        <a:srgbClr val="000000"/>
                      </a:solidFill>
                    </a:defRPr>
                  </a:pPr>
                  <a:r>
                    <a:rPr lang="es-ES" sz="1100" b="0" dirty="0">
                      <a:solidFill>
                        <a:srgbClr val="FFFFFF"/>
                      </a:solidFill>
                      <a:latin typeface="Avenir 35" panose="00000400000000000000" pitchFamily="2" charset="0"/>
                    </a:rPr>
                    <a:t>CLIENTE DUBITATIVO</a:t>
                  </a:r>
                  <a:endParaRPr sz="1100" b="0" dirty="0">
                    <a:solidFill>
                      <a:srgbClr val="FFFFFF"/>
                    </a:solidFill>
                    <a:latin typeface="Avenir 35" panose="00000400000000000000" pitchFamily="2" charset="0"/>
                  </a:endParaRPr>
                </a:p>
              </p:txBody>
            </p:sp>
          </p:grpSp>
          <p:sp>
            <p:nvSpPr>
              <p:cNvPr id="79" name="Shape 165"/>
              <p:cNvSpPr/>
              <p:nvPr/>
            </p:nvSpPr>
            <p:spPr>
              <a:xfrm>
                <a:off x="-1" y="0"/>
                <a:ext cx="816410" cy="81640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3175" cap="flat">
                <a:solidFill>
                  <a:srgbClr val="66FF99"/>
                </a:solidFill>
                <a:custDash>
                  <a:ds d="100000" sp="200000"/>
                </a:custDash>
                <a:bevel/>
              </a:ln>
              <a:effectLst/>
            </p:spPr>
            <p:txBody>
              <a:bodyPr wrap="square" lIns="0" tIns="0" rIns="0" bIns="0" numCol="1" anchor="ctr">
                <a:noAutofit/>
              </a:bodyPr>
              <a:lstStyle/>
              <a:p>
                <a:pPr lvl="0">
                  <a:defRPr>
                    <a:latin typeface="+mn-lt"/>
                    <a:ea typeface="+mn-ea"/>
                    <a:cs typeface="+mn-cs"/>
                    <a:sym typeface="Helvetica Neue"/>
                  </a:defRPr>
                </a:pPr>
                <a:endParaRPr dirty="0">
                  <a:latin typeface="Avenir 35" panose="00000400000000000000" pitchFamily="2" charset="0"/>
                </a:endParaRPr>
              </a:p>
            </p:txBody>
          </p:sp>
        </p:grpSp>
        <p:pic>
          <p:nvPicPr>
            <p:cNvPr id="63" name="62 Imagen"/>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351679" y="1425981"/>
              <a:ext cx="386962" cy="386962"/>
            </a:xfrm>
            <a:prstGeom prst="rect">
              <a:avLst/>
            </a:prstGeom>
          </p:spPr>
        </p:pic>
        <p:pic>
          <p:nvPicPr>
            <p:cNvPr id="64" name="63 Imagen"/>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674279" y="1568438"/>
              <a:ext cx="222626" cy="222626"/>
            </a:xfrm>
            <a:prstGeom prst="rect">
              <a:avLst/>
            </a:prstGeom>
          </p:spPr>
        </p:pic>
      </p:grpSp>
      <p:grpSp>
        <p:nvGrpSpPr>
          <p:cNvPr id="82" name="81 Grupo"/>
          <p:cNvGrpSpPr/>
          <p:nvPr/>
        </p:nvGrpSpPr>
        <p:grpSpPr>
          <a:xfrm>
            <a:off x="272480" y="1511446"/>
            <a:ext cx="1421889" cy="759790"/>
            <a:chOff x="4225477" y="2933686"/>
            <a:chExt cx="2310419" cy="1436927"/>
          </a:xfrm>
        </p:grpSpPr>
        <p:grpSp>
          <p:nvGrpSpPr>
            <p:cNvPr id="83" name="Group 176"/>
            <p:cNvGrpSpPr/>
            <p:nvPr/>
          </p:nvGrpSpPr>
          <p:grpSpPr>
            <a:xfrm>
              <a:off x="4225477" y="2933686"/>
              <a:ext cx="2310419" cy="1436927"/>
              <a:chOff x="102148" y="0"/>
              <a:chExt cx="2310418" cy="1436925"/>
            </a:xfrm>
          </p:grpSpPr>
          <p:sp>
            <p:nvSpPr>
              <p:cNvPr id="88" name="Shape 169"/>
              <p:cNvSpPr/>
              <p:nvPr/>
            </p:nvSpPr>
            <p:spPr>
              <a:xfrm>
                <a:off x="945211" y="53160"/>
                <a:ext cx="1467355" cy="2"/>
              </a:xfrm>
              <a:prstGeom prst="line">
                <a:avLst/>
              </a:prstGeom>
              <a:noFill/>
              <a:ln w="3175" cap="flat">
                <a:noFill/>
                <a:prstDash val="solid"/>
                <a:bevel/>
              </a:ln>
              <a:effectLst/>
            </p:spPr>
            <p:txBody>
              <a:bodyPr wrap="square" lIns="0" tIns="0" rIns="0" bIns="0" numCol="1" anchor="t">
                <a:noAutofit/>
              </a:bodyPr>
              <a:lstStyle/>
              <a:p>
                <a:pPr lvl="0" algn="l" defTabSz="457200">
                  <a:defRPr sz="600">
                    <a:latin typeface="+mj-lt"/>
                    <a:ea typeface="+mj-ea"/>
                    <a:cs typeface="+mj-cs"/>
                    <a:sym typeface="Helvetica"/>
                  </a:defRPr>
                </a:pPr>
                <a:endParaRPr dirty="0">
                  <a:latin typeface="Avenir 35" panose="00000400000000000000" pitchFamily="2" charset="0"/>
                </a:endParaRPr>
              </a:p>
            </p:txBody>
          </p:sp>
          <p:sp>
            <p:nvSpPr>
              <p:cNvPr id="89" name="Shape 170"/>
              <p:cNvSpPr/>
              <p:nvPr/>
            </p:nvSpPr>
            <p:spPr>
              <a:xfrm>
                <a:off x="408224" y="195953"/>
                <a:ext cx="1926773" cy="1240972"/>
              </a:xfrm>
              <a:prstGeom prst="rect">
                <a:avLst/>
              </a:prstGeom>
              <a:noFill/>
              <a:ln w="3175" cap="flat">
                <a:noFill/>
                <a:custDash>
                  <a:ds d="100000" sp="200000"/>
                </a:custDash>
                <a:bevel/>
              </a:ln>
              <a:effectLst/>
            </p:spPr>
            <p:txBody>
              <a:bodyPr wrap="square" lIns="0" tIns="0" rIns="0" bIns="0" numCol="1" anchor="ctr">
                <a:noAutofit/>
              </a:bodyPr>
              <a:lstStyle/>
              <a:p>
                <a:pPr lvl="0">
                  <a:defRPr>
                    <a:latin typeface="+mn-lt"/>
                    <a:ea typeface="+mn-ea"/>
                    <a:cs typeface="+mn-cs"/>
                    <a:sym typeface="Helvetica Neue"/>
                  </a:defRPr>
                </a:pPr>
                <a:endParaRPr dirty="0">
                  <a:latin typeface="Avenir 35" panose="00000400000000000000" pitchFamily="2" charset="0"/>
                </a:endParaRPr>
              </a:p>
            </p:txBody>
          </p:sp>
          <p:sp>
            <p:nvSpPr>
              <p:cNvPr id="90" name="Shape 171"/>
              <p:cNvSpPr/>
              <p:nvPr/>
            </p:nvSpPr>
            <p:spPr>
              <a:xfrm>
                <a:off x="527967" y="108867"/>
                <a:ext cx="1884599" cy="1224644"/>
              </a:xfrm>
              <a:prstGeom prst="rect">
                <a:avLst/>
              </a:prstGeom>
              <a:solidFill>
                <a:srgbClr val="0097B7"/>
              </a:solidFill>
              <a:ln w="3175" cap="flat">
                <a:noFill/>
                <a:prstDash val="solid"/>
                <a:bevel/>
              </a:ln>
              <a:effectLst/>
            </p:spPr>
            <p:txBody>
              <a:bodyPr wrap="square" lIns="0" tIns="0" rIns="0" bIns="0" numCol="1" anchor="ctr">
                <a:noAutofit/>
              </a:bodyPr>
              <a:lstStyle/>
              <a:p>
                <a:pPr lvl="0">
                  <a:defRPr>
                    <a:latin typeface="+mn-lt"/>
                    <a:ea typeface="+mn-ea"/>
                    <a:cs typeface="+mn-cs"/>
                    <a:sym typeface="Helvetica Neue"/>
                  </a:defRPr>
                </a:pPr>
                <a:endParaRPr dirty="0">
                  <a:latin typeface="Avenir 35" panose="00000400000000000000" pitchFamily="2" charset="0"/>
                </a:endParaRPr>
              </a:p>
            </p:txBody>
          </p:sp>
          <p:sp>
            <p:nvSpPr>
              <p:cNvPr id="91" name="Shape 172"/>
              <p:cNvSpPr/>
              <p:nvPr/>
            </p:nvSpPr>
            <p:spPr>
              <a:xfrm>
                <a:off x="102148" y="0"/>
                <a:ext cx="701954" cy="81640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3175" cap="flat">
                <a:noFill/>
                <a:custDash>
                  <a:ds d="100000" sp="200000"/>
                </a:custDash>
                <a:bevel/>
              </a:ln>
              <a:effectLst/>
            </p:spPr>
            <p:txBody>
              <a:bodyPr wrap="square" lIns="0" tIns="0" rIns="0" bIns="0" numCol="1" anchor="ctr">
                <a:noAutofit/>
              </a:bodyPr>
              <a:lstStyle/>
              <a:p>
                <a:pPr lvl="0">
                  <a:defRPr>
                    <a:latin typeface="+mn-lt"/>
                    <a:ea typeface="+mn-ea"/>
                    <a:cs typeface="+mn-cs"/>
                    <a:sym typeface="Helvetica Neue"/>
                  </a:defRPr>
                </a:pPr>
                <a:endParaRPr dirty="0">
                  <a:latin typeface="Avenir 35" panose="00000400000000000000" pitchFamily="2" charset="0"/>
                </a:endParaRPr>
              </a:p>
            </p:txBody>
          </p:sp>
        </p:grpSp>
        <p:pic>
          <p:nvPicPr>
            <p:cNvPr id="84" name="83 Imagen"/>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4324205" y="3148410"/>
              <a:ext cx="386962" cy="386962"/>
            </a:xfrm>
            <a:prstGeom prst="rect">
              <a:avLst/>
            </a:prstGeom>
            <a:ln>
              <a:noFill/>
            </a:ln>
          </p:spPr>
        </p:pic>
        <p:sp>
          <p:nvSpPr>
            <p:cNvPr id="85" name="Shape 162"/>
            <p:cNvSpPr/>
            <p:nvPr/>
          </p:nvSpPr>
          <p:spPr>
            <a:xfrm>
              <a:off x="5012138" y="3484370"/>
              <a:ext cx="1496355" cy="320139"/>
            </a:xfrm>
            <a:prstGeom prst="rect">
              <a:avLst/>
            </a:prstGeom>
            <a:noFill/>
            <a:ln w="3175"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spAutoFit/>
            </a:bodyPr>
            <a:lstStyle>
              <a:lvl1pPr algn="l">
                <a:defRPr sz="3000" b="1">
                  <a:solidFill>
                    <a:srgbClr val="FFFFFF"/>
                  </a:solidFill>
                  <a:latin typeface="Arial"/>
                  <a:ea typeface="Arial"/>
                  <a:cs typeface="Arial"/>
                  <a:sym typeface="Arial"/>
                </a:defRPr>
              </a:lvl1pPr>
            </a:lstStyle>
            <a:p>
              <a:pPr lvl="0">
                <a:defRPr sz="1800" b="0">
                  <a:solidFill>
                    <a:srgbClr val="000000"/>
                  </a:solidFill>
                </a:defRPr>
              </a:pPr>
              <a:r>
                <a:rPr lang="es-ES" sz="1100" b="0" dirty="0">
                  <a:solidFill>
                    <a:srgbClr val="FFFFFF"/>
                  </a:solidFill>
                  <a:latin typeface="Avenir 35" panose="00000400000000000000" pitchFamily="2" charset="0"/>
                </a:rPr>
                <a:t>CLIENTE FIEL</a:t>
              </a:r>
              <a:endParaRPr sz="1100" b="0" dirty="0">
                <a:solidFill>
                  <a:srgbClr val="FFFFFF"/>
                </a:solidFill>
                <a:latin typeface="Avenir 35" panose="00000400000000000000" pitchFamily="2" charset="0"/>
              </a:endParaRPr>
            </a:p>
          </p:txBody>
        </p:sp>
        <p:pic>
          <p:nvPicPr>
            <p:cNvPr id="86" name="85 Imagen"/>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4600607" y="3246133"/>
              <a:ext cx="289240" cy="289240"/>
            </a:xfrm>
            <a:prstGeom prst="rect">
              <a:avLst/>
            </a:prstGeom>
            <a:ln>
              <a:noFill/>
            </a:ln>
          </p:spPr>
        </p:pic>
      </p:grpSp>
      <p:grpSp>
        <p:nvGrpSpPr>
          <p:cNvPr id="92" name="91 Grupo"/>
          <p:cNvGrpSpPr/>
          <p:nvPr/>
        </p:nvGrpSpPr>
        <p:grpSpPr>
          <a:xfrm>
            <a:off x="312137" y="3326780"/>
            <a:ext cx="1411539" cy="818911"/>
            <a:chOff x="4450447" y="4797154"/>
            <a:chExt cx="2202063" cy="1436927"/>
          </a:xfrm>
        </p:grpSpPr>
        <p:grpSp>
          <p:nvGrpSpPr>
            <p:cNvPr id="93" name="Group 185"/>
            <p:cNvGrpSpPr/>
            <p:nvPr/>
          </p:nvGrpSpPr>
          <p:grpSpPr>
            <a:xfrm>
              <a:off x="4450447" y="4797154"/>
              <a:ext cx="2155356" cy="1436927"/>
              <a:chOff x="174200" y="0"/>
              <a:chExt cx="2155354" cy="1436925"/>
            </a:xfrm>
          </p:grpSpPr>
          <p:sp>
            <p:nvSpPr>
              <p:cNvPr id="98" name="Shape 178"/>
              <p:cNvSpPr/>
              <p:nvPr/>
            </p:nvSpPr>
            <p:spPr>
              <a:xfrm>
                <a:off x="408224" y="195953"/>
                <a:ext cx="1807030" cy="1240972"/>
              </a:xfrm>
              <a:prstGeom prst="rect">
                <a:avLst/>
              </a:prstGeom>
              <a:noFill/>
              <a:ln w="3175" cap="flat">
                <a:solidFill>
                  <a:srgbClr val="66FF99"/>
                </a:solidFill>
                <a:custDash>
                  <a:ds d="100000" sp="200000"/>
                </a:custDash>
                <a:bevel/>
              </a:ln>
              <a:effectLst/>
            </p:spPr>
            <p:txBody>
              <a:bodyPr wrap="square" lIns="0" tIns="0" rIns="0" bIns="0" numCol="1" anchor="ctr">
                <a:noAutofit/>
              </a:bodyPr>
              <a:lstStyle/>
              <a:p>
                <a:pPr lvl="0">
                  <a:defRPr>
                    <a:latin typeface="+mn-lt"/>
                    <a:ea typeface="+mn-ea"/>
                    <a:cs typeface="+mn-cs"/>
                    <a:sym typeface="Helvetica Neue"/>
                  </a:defRPr>
                </a:pPr>
                <a:endParaRPr dirty="0">
                  <a:latin typeface="Avenir 35" panose="00000400000000000000" pitchFamily="2" charset="0"/>
                </a:endParaRPr>
              </a:p>
            </p:txBody>
          </p:sp>
          <p:sp>
            <p:nvSpPr>
              <p:cNvPr id="99" name="Shape 179"/>
              <p:cNvSpPr/>
              <p:nvPr/>
            </p:nvSpPr>
            <p:spPr>
              <a:xfrm>
                <a:off x="527967" y="108867"/>
                <a:ext cx="1801587" cy="1224644"/>
              </a:xfrm>
              <a:prstGeom prst="rect">
                <a:avLst/>
              </a:prstGeom>
              <a:solidFill>
                <a:srgbClr val="0097B7"/>
              </a:solidFill>
              <a:ln w="3175" cap="flat">
                <a:solidFill>
                  <a:srgbClr val="000000">
                    <a:alpha val="0"/>
                  </a:srgbClr>
                </a:solidFill>
                <a:prstDash val="solid"/>
                <a:bevel/>
              </a:ln>
              <a:effectLst/>
            </p:spPr>
            <p:txBody>
              <a:bodyPr wrap="square" lIns="0" tIns="0" rIns="0" bIns="0" numCol="1" anchor="ctr">
                <a:noAutofit/>
              </a:bodyPr>
              <a:lstStyle/>
              <a:p>
                <a:pPr lvl="0">
                  <a:defRPr>
                    <a:latin typeface="+mn-lt"/>
                    <a:ea typeface="+mn-ea"/>
                    <a:cs typeface="+mn-cs"/>
                    <a:sym typeface="Helvetica Neue"/>
                  </a:defRPr>
                </a:pPr>
                <a:endParaRPr dirty="0">
                  <a:latin typeface="Avenir 35" panose="00000400000000000000" pitchFamily="2" charset="0"/>
                </a:endParaRPr>
              </a:p>
            </p:txBody>
          </p:sp>
          <p:sp>
            <p:nvSpPr>
              <p:cNvPr id="100" name="Shape 180"/>
              <p:cNvSpPr/>
              <p:nvPr/>
            </p:nvSpPr>
            <p:spPr>
              <a:xfrm>
                <a:off x="174200" y="0"/>
                <a:ext cx="724484" cy="81640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3175" cap="flat">
                <a:solidFill>
                  <a:srgbClr val="66FF99"/>
                </a:solidFill>
                <a:custDash>
                  <a:ds d="100000" sp="200000"/>
                </a:custDash>
                <a:bevel/>
              </a:ln>
              <a:effectLst/>
            </p:spPr>
            <p:txBody>
              <a:bodyPr wrap="square" lIns="0" tIns="0" rIns="0" bIns="0" numCol="1" anchor="ctr">
                <a:noAutofit/>
              </a:bodyPr>
              <a:lstStyle/>
              <a:p>
                <a:pPr lvl="0">
                  <a:defRPr>
                    <a:latin typeface="+mn-lt"/>
                    <a:ea typeface="+mn-ea"/>
                    <a:cs typeface="+mn-cs"/>
                    <a:sym typeface="Helvetica Neue"/>
                  </a:defRPr>
                </a:pPr>
                <a:endParaRPr dirty="0">
                  <a:latin typeface="Avenir 35" panose="00000400000000000000" pitchFamily="2" charset="0"/>
                </a:endParaRPr>
              </a:p>
            </p:txBody>
          </p:sp>
        </p:grpSp>
        <p:pic>
          <p:nvPicPr>
            <p:cNvPr id="94" name="93 Imagen"/>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4471681" y="5028208"/>
              <a:ext cx="386962" cy="386962"/>
            </a:xfrm>
            <a:prstGeom prst="rect">
              <a:avLst/>
            </a:prstGeom>
          </p:spPr>
        </p:pic>
        <p:sp>
          <p:nvSpPr>
            <p:cNvPr id="95" name="Shape 162"/>
            <p:cNvSpPr/>
            <p:nvPr/>
          </p:nvSpPr>
          <p:spPr>
            <a:xfrm>
              <a:off x="5156155" y="5192620"/>
              <a:ext cx="1496355" cy="648060"/>
            </a:xfrm>
            <a:prstGeom prst="rect">
              <a:avLst/>
            </a:prstGeom>
            <a:noFill/>
            <a:ln w="3175"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spAutoFit/>
            </a:bodyPr>
            <a:lstStyle>
              <a:lvl1pPr algn="l">
                <a:defRPr sz="3000" b="1">
                  <a:solidFill>
                    <a:srgbClr val="FFFFFF"/>
                  </a:solidFill>
                  <a:latin typeface="Arial"/>
                  <a:ea typeface="Arial"/>
                  <a:cs typeface="Arial"/>
                  <a:sym typeface="Arial"/>
                </a:defRPr>
              </a:lvl1pPr>
            </a:lstStyle>
            <a:p>
              <a:pPr lvl="0">
                <a:defRPr sz="1800" b="0">
                  <a:solidFill>
                    <a:srgbClr val="000000"/>
                  </a:solidFill>
                </a:defRPr>
              </a:pPr>
              <a:r>
                <a:rPr lang="es-ES" sz="1200" b="0" dirty="0">
                  <a:solidFill>
                    <a:srgbClr val="FFFFFF"/>
                  </a:solidFill>
                  <a:latin typeface="Avenir 35" panose="00000400000000000000" pitchFamily="2" charset="0"/>
                </a:rPr>
                <a:t>CLIENTE </a:t>
              </a:r>
            </a:p>
            <a:p>
              <a:pPr lvl="0">
                <a:defRPr sz="1800" b="0">
                  <a:solidFill>
                    <a:srgbClr val="000000"/>
                  </a:solidFill>
                </a:defRPr>
              </a:pPr>
              <a:r>
                <a:rPr lang="es-ES" sz="1200" b="0" dirty="0">
                  <a:solidFill>
                    <a:srgbClr val="FFFFFF"/>
                  </a:solidFill>
                  <a:latin typeface="Avenir 35" panose="00000400000000000000" pitchFamily="2" charset="0"/>
                </a:rPr>
                <a:t>PERDIDO</a:t>
              </a:r>
              <a:endParaRPr sz="1200" b="0" dirty="0">
                <a:solidFill>
                  <a:srgbClr val="FFFFFF"/>
                </a:solidFill>
                <a:latin typeface="Avenir 35" panose="00000400000000000000" pitchFamily="2" charset="0"/>
              </a:endParaRPr>
            </a:p>
          </p:txBody>
        </p:sp>
        <p:pic>
          <p:nvPicPr>
            <p:cNvPr id="96" name="95 Imagen"/>
            <p:cNvPicPr>
              <a:picLocks noChangeAspect="1"/>
            </p:cNvPicPr>
            <p:nvPr/>
          </p:nvPicPr>
          <p:blipFill>
            <a:blip cstate="print">
              <a:extLst>
                <a:ext uri="{28A0092B-C50C-407E-A947-70E740481C1C}">
                  <a14:useLocalDpi xmlns:a14="http://schemas.microsoft.com/office/drawing/2010/main" val="0"/>
                </a:ext>
              </a:extLst>
            </a:blip>
            <a:stretch>
              <a:fillRect/>
            </a:stretch>
          </p:blipFill>
          <p:spPr>
            <a:xfrm rot="13175344">
              <a:off x="4779961" y="5078087"/>
              <a:ext cx="323424" cy="323424"/>
            </a:xfrm>
            <a:prstGeom prst="rect">
              <a:avLst/>
            </a:prstGeom>
          </p:spPr>
        </p:pic>
      </p:grpSp>
      <p:sp>
        <p:nvSpPr>
          <p:cNvPr id="101" name="100 CuadroTexto"/>
          <p:cNvSpPr txBox="1"/>
          <p:nvPr/>
        </p:nvSpPr>
        <p:spPr>
          <a:xfrm>
            <a:off x="1808979" y="1744004"/>
            <a:ext cx="1584176" cy="415498"/>
          </a:xfrm>
          <a:prstGeom prst="rect">
            <a:avLst/>
          </a:prstGeom>
          <a:noFill/>
        </p:spPr>
        <p:txBody>
          <a:bodyPr wrap="square" rtlCol="0">
            <a:spAutoFit/>
          </a:bodyPr>
          <a:lstStyle/>
          <a:p>
            <a:r>
              <a:rPr lang="es-ES" sz="1000" dirty="0">
                <a:solidFill>
                  <a:schemeClr val="bg1">
                    <a:lumMod val="50000"/>
                  </a:schemeClr>
                </a:solidFill>
                <a:latin typeface="Avenir 35" panose="00000400000000000000" pitchFamily="2" charset="0"/>
              </a:rPr>
              <a:t>Acude al taller oficial</a:t>
            </a:r>
          </a:p>
          <a:p>
            <a:r>
              <a:rPr lang="es-ES" sz="1000" dirty="0">
                <a:solidFill>
                  <a:schemeClr val="bg1">
                    <a:lumMod val="50000"/>
                  </a:schemeClr>
                </a:solidFill>
                <a:latin typeface="Avenir 35" panose="00000400000000000000" pitchFamily="2" charset="0"/>
              </a:rPr>
              <a:t>con frecuencia</a:t>
            </a:r>
          </a:p>
        </p:txBody>
      </p:sp>
      <p:sp>
        <p:nvSpPr>
          <p:cNvPr id="102" name="101 CuadroTexto"/>
          <p:cNvSpPr txBox="1"/>
          <p:nvPr/>
        </p:nvSpPr>
        <p:spPr>
          <a:xfrm>
            <a:off x="1738234" y="2534350"/>
            <a:ext cx="2118236" cy="553998"/>
          </a:xfrm>
          <a:prstGeom prst="rect">
            <a:avLst/>
          </a:prstGeom>
          <a:noFill/>
        </p:spPr>
        <p:txBody>
          <a:bodyPr wrap="square" rtlCol="0">
            <a:spAutoFit/>
          </a:bodyPr>
          <a:lstStyle/>
          <a:p>
            <a:r>
              <a:rPr lang="es-ES" sz="1000" dirty="0">
                <a:solidFill>
                  <a:schemeClr val="bg1">
                    <a:lumMod val="50000"/>
                  </a:schemeClr>
                </a:solidFill>
                <a:latin typeface="Avenir 35" panose="00000400000000000000" pitchFamily="2" charset="0"/>
              </a:rPr>
              <a:t>Lleva meses/años  sin ir al taller oficial pero no tanto como para darlo por perdido </a:t>
            </a:r>
          </a:p>
        </p:txBody>
      </p:sp>
      <p:sp>
        <p:nvSpPr>
          <p:cNvPr id="103" name="102 CuadroTexto"/>
          <p:cNvSpPr txBox="1"/>
          <p:nvPr/>
        </p:nvSpPr>
        <p:spPr>
          <a:xfrm>
            <a:off x="1808978" y="3584324"/>
            <a:ext cx="2009669" cy="415498"/>
          </a:xfrm>
          <a:prstGeom prst="rect">
            <a:avLst/>
          </a:prstGeom>
          <a:noFill/>
        </p:spPr>
        <p:txBody>
          <a:bodyPr wrap="square" rtlCol="0">
            <a:spAutoFit/>
          </a:bodyPr>
          <a:lstStyle/>
          <a:p>
            <a:r>
              <a:rPr lang="es-ES" sz="1000" dirty="0">
                <a:solidFill>
                  <a:schemeClr val="bg1">
                    <a:lumMod val="50000"/>
                  </a:schemeClr>
                </a:solidFill>
                <a:latin typeface="Avenir 35" panose="00000400000000000000" pitchFamily="2" charset="0"/>
              </a:rPr>
              <a:t>Lleva años sin acudir y se da por perdido </a:t>
            </a:r>
          </a:p>
        </p:txBody>
      </p:sp>
      <p:cxnSp>
        <p:nvCxnSpPr>
          <p:cNvPr id="4" name="3 Conector angular"/>
          <p:cNvCxnSpPr>
            <a:endCxn id="2" idx="1"/>
          </p:cNvCxnSpPr>
          <p:nvPr/>
        </p:nvCxnSpPr>
        <p:spPr>
          <a:xfrm>
            <a:off x="3856470" y="2811349"/>
            <a:ext cx="1528578" cy="85790"/>
          </a:xfrm>
          <a:prstGeom prst="bentConnector3">
            <a:avLst/>
          </a:prstGeom>
          <a:ln w="28575">
            <a:solidFill>
              <a:srgbClr val="0086AC"/>
            </a:solidFill>
            <a:tailEnd type="arrow"/>
          </a:ln>
        </p:spPr>
        <p:style>
          <a:lnRef idx="1">
            <a:schemeClr val="accent1"/>
          </a:lnRef>
          <a:fillRef idx="0">
            <a:schemeClr val="accent1"/>
          </a:fillRef>
          <a:effectRef idx="0">
            <a:schemeClr val="accent1"/>
          </a:effectRef>
          <a:fontRef idx="minor">
            <a:schemeClr val="tx1"/>
          </a:fontRef>
        </p:style>
      </p:cxnSp>
      <p:sp>
        <p:nvSpPr>
          <p:cNvPr id="104" name="Shape 162"/>
          <p:cNvSpPr/>
          <p:nvPr/>
        </p:nvSpPr>
        <p:spPr>
          <a:xfrm>
            <a:off x="8424594" y="1816108"/>
            <a:ext cx="920894" cy="338554"/>
          </a:xfrm>
          <a:prstGeom prst="rect">
            <a:avLst/>
          </a:prstGeom>
          <a:noFill/>
          <a:ln w="3175"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spAutoFit/>
          </a:bodyPr>
          <a:lstStyle>
            <a:lvl1pPr algn="l">
              <a:defRPr sz="3000" b="1">
                <a:solidFill>
                  <a:srgbClr val="FFFFFF"/>
                </a:solidFill>
                <a:latin typeface="Arial"/>
                <a:ea typeface="Arial"/>
                <a:cs typeface="Arial"/>
                <a:sym typeface="Arial"/>
              </a:defRPr>
            </a:lvl1pPr>
          </a:lstStyle>
          <a:p>
            <a:pPr lvl="0">
              <a:defRPr sz="1800" b="0">
                <a:solidFill>
                  <a:srgbClr val="000000"/>
                </a:solidFill>
              </a:defRPr>
            </a:pPr>
            <a:r>
              <a:rPr lang="es-ES" sz="1100" b="1" dirty="0">
                <a:solidFill>
                  <a:srgbClr val="FFFFFF"/>
                </a:solidFill>
                <a:latin typeface="Avenir 35" panose="00000400000000000000" pitchFamily="2" charset="0"/>
              </a:rPr>
              <a:t>CLIENTE DUBITATITVO</a:t>
            </a:r>
            <a:endParaRPr sz="1100" b="1" dirty="0">
              <a:solidFill>
                <a:srgbClr val="FFFFFF"/>
              </a:solidFill>
              <a:latin typeface="Avenir 35" panose="00000400000000000000" pitchFamily="2" charset="0"/>
            </a:endParaRPr>
          </a:p>
        </p:txBody>
      </p:sp>
      <p:sp>
        <p:nvSpPr>
          <p:cNvPr id="87"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35</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1678555036"/>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16 Rectángulo"/>
          <p:cNvSpPr/>
          <p:nvPr/>
        </p:nvSpPr>
        <p:spPr>
          <a:xfrm>
            <a:off x="8023050" y="1085049"/>
            <a:ext cx="1612047" cy="429871"/>
          </a:xfrm>
          <a:prstGeom prst="rect">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CLIENTE + POTENCIAL</a:t>
            </a:r>
          </a:p>
        </p:txBody>
      </p:sp>
      <p:sp>
        <p:nvSpPr>
          <p:cNvPr id="13" name="AutoShape 5" descr="http://image005.flaticon.com/41/svg/55/55010.svg"/>
          <p:cNvSpPr>
            <a:spLocks noChangeAspect="1" noChangeArrowheads="1"/>
          </p:cNvSpPr>
          <p:nvPr/>
        </p:nvSpPr>
        <p:spPr bwMode="auto">
          <a:xfrm>
            <a:off x="168540" y="-335497"/>
            <a:ext cx="330200" cy="406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p>
        </p:txBody>
      </p:sp>
      <p:sp>
        <p:nvSpPr>
          <p:cNvPr id="16" name="AutoShape 7" descr="http://image005.flaticon.com/41/svg/55/55010.svg"/>
          <p:cNvSpPr>
            <a:spLocks noChangeAspect="1" noChangeArrowheads="1"/>
          </p:cNvSpPr>
          <p:nvPr/>
        </p:nvSpPr>
        <p:spPr bwMode="auto">
          <a:xfrm>
            <a:off x="333640" y="-132297"/>
            <a:ext cx="330200" cy="406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p>
        </p:txBody>
      </p:sp>
      <p:sp>
        <p:nvSpPr>
          <p:cNvPr id="17" name="AutoShape 10" descr="Teléfono celular en posición horizontal icono gratis"/>
          <p:cNvSpPr>
            <a:spLocks noChangeAspect="1" noChangeArrowheads="1"/>
          </p:cNvSpPr>
          <p:nvPr/>
        </p:nvSpPr>
        <p:spPr bwMode="auto">
          <a:xfrm>
            <a:off x="901296" y="836712"/>
            <a:ext cx="330200" cy="406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latin typeface="Avenir 35" panose="00000400000000000000" pitchFamily="2" charset="0"/>
            </a:endParaRPr>
          </a:p>
        </p:txBody>
      </p:sp>
      <p:sp>
        <p:nvSpPr>
          <p:cNvPr id="1035" name="AutoShape 19" descr="Resultado de imagen de icono facebook"/>
          <p:cNvSpPr>
            <a:spLocks noChangeAspect="1" noChangeArrowheads="1"/>
          </p:cNvSpPr>
          <p:nvPr/>
        </p:nvSpPr>
        <p:spPr bwMode="auto">
          <a:xfrm>
            <a:off x="607202" y="836712"/>
            <a:ext cx="330200" cy="406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latin typeface="Avenir 35" panose="00000400000000000000" pitchFamily="2" charset="0"/>
            </a:endParaRPr>
          </a:p>
        </p:txBody>
      </p:sp>
      <p:pic>
        <p:nvPicPr>
          <p:cNvPr id="38" name="37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50311" y="2529004"/>
            <a:ext cx="247191" cy="304235"/>
          </a:xfrm>
          <a:prstGeom prst="rect">
            <a:avLst/>
          </a:prstGeom>
        </p:spPr>
      </p:pic>
      <p:pic>
        <p:nvPicPr>
          <p:cNvPr id="42"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47520" y="3229995"/>
            <a:ext cx="322242" cy="2974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42 CuadroTexto"/>
          <p:cNvSpPr txBox="1"/>
          <p:nvPr/>
        </p:nvSpPr>
        <p:spPr>
          <a:xfrm>
            <a:off x="6825318" y="3607550"/>
            <a:ext cx="720423" cy="307777"/>
          </a:xfrm>
          <a:prstGeom prst="rect">
            <a:avLst/>
          </a:prstGeom>
          <a:solidFill>
            <a:srgbClr val="4BACC6">
              <a:alpha val="30196"/>
            </a:srgbClr>
          </a:solidFill>
        </p:spPr>
        <p:txBody>
          <a:bodyPr wrap="square" rtlCol="0">
            <a:spAutoFit/>
          </a:bodyPr>
          <a:lstStyle/>
          <a:p>
            <a:pPr algn="ctr"/>
            <a:r>
              <a:rPr lang="es-ES" sz="700" dirty="0">
                <a:latin typeface="Avenir 35" panose="00000400000000000000" pitchFamily="2" charset="0"/>
              </a:rPr>
              <a:t>Cita agenda</a:t>
            </a:r>
          </a:p>
          <a:p>
            <a:pPr algn="ctr"/>
            <a:r>
              <a:rPr lang="es-ES" sz="700" dirty="0">
                <a:latin typeface="Avenir 35" panose="00000400000000000000" pitchFamily="2" charset="0"/>
              </a:rPr>
              <a:t>móvil</a:t>
            </a:r>
          </a:p>
        </p:txBody>
      </p:sp>
      <p:grpSp>
        <p:nvGrpSpPr>
          <p:cNvPr id="47" name="46 Grupo"/>
          <p:cNvGrpSpPr/>
          <p:nvPr/>
        </p:nvGrpSpPr>
        <p:grpSpPr>
          <a:xfrm>
            <a:off x="7784468" y="3221316"/>
            <a:ext cx="373975" cy="345208"/>
            <a:chOff x="8015722" y="1844824"/>
            <a:chExt cx="345208" cy="345208"/>
          </a:xfrm>
        </p:grpSpPr>
        <p:pic>
          <p:nvPicPr>
            <p:cNvPr id="48"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15722" y="1844824"/>
              <a:ext cx="345208" cy="345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35808" y="1940297"/>
              <a:ext cx="121969" cy="1695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50" name="49 Grupo"/>
          <p:cNvGrpSpPr/>
          <p:nvPr/>
        </p:nvGrpSpPr>
        <p:grpSpPr>
          <a:xfrm>
            <a:off x="3607870" y="2645946"/>
            <a:ext cx="373974" cy="345208"/>
            <a:chOff x="8316415" y="1852469"/>
            <a:chExt cx="345208" cy="345208"/>
          </a:xfrm>
        </p:grpSpPr>
        <p:pic>
          <p:nvPicPr>
            <p:cNvPr id="51"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16415" y="1852469"/>
              <a:ext cx="345208" cy="345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2" name="51 CuadroTexto"/>
            <p:cNvSpPr txBox="1"/>
            <p:nvPr/>
          </p:nvSpPr>
          <p:spPr>
            <a:xfrm>
              <a:off x="8357878" y="1929698"/>
              <a:ext cx="288837" cy="169277"/>
            </a:xfrm>
            <a:prstGeom prst="rect">
              <a:avLst/>
            </a:prstGeom>
            <a:noFill/>
          </p:spPr>
          <p:txBody>
            <a:bodyPr wrap="none" rtlCol="0">
              <a:spAutoFit/>
            </a:bodyPr>
            <a:lstStyle/>
            <a:p>
              <a:r>
                <a:rPr lang="es-ES" sz="500" dirty="0">
                  <a:latin typeface="Avenir 35" panose="00000400000000000000" pitchFamily="2" charset="0"/>
                </a:rPr>
                <a:t>SMS</a:t>
              </a:r>
            </a:p>
          </p:txBody>
        </p:sp>
      </p:grpSp>
      <p:pic>
        <p:nvPicPr>
          <p:cNvPr id="54" name="53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962168" y="3237133"/>
            <a:ext cx="311014" cy="287091"/>
          </a:xfrm>
          <a:prstGeom prst="rect">
            <a:avLst/>
          </a:prstGeom>
        </p:spPr>
      </p:pic>
      <p:sp>
        <p:nvSpPr>
          <p:cNvPr id="89" name="88 CuadroTexto"/>
          <p:cNvSpPr txBox="1"/>
          <p:nvPr/>
        </p:nvSpPr>
        <p:spPr>
          <a:xfrm>
            <a:off x="771556" y="2657507"/>
            <a:ext cx="858095" cy="307777"/>
          </a:xfrm>
          <a:prstGeom prst="rect">
            <a:avLst/>
          </a:prstGeom>
          <a:solidFill>
            <a:srgbClr val="4BACC6">
              <a:alpha val="30196"/>
            </a:srgbClr>
          </a:solidFill>
        </p:spPr>
        <p:txBody>
          <a:bodyPr wrap="square" rtlCol="0">
            <a:spAutoFit/>
          </a:bodyPr>
          <a:lstStyle/>
          <a:p>
            <a:pPr algn="ctr"/>
            <a:r>
              <a:rPr lang="es-ES" sz="700" dirty="0">
                <a:latin typeface="Avenir 35" panose="00000400000000000000" pitchFamily="2" charset="0"/>
              </a:rPr>
              <a:t>SEGUNDA</a:t>
            </a:r>
          </a:p>
          <a:p>
            <a:pPr algn="ctr"/>
            <a:r>
              <a:rPr lang="es-ES" sz="700" dirty="0">
                <a:latin typeface="Avenir 35" panose="00000400000000000000" pitchFamily="2" charset="0"/>
              </a:rPr>
              <a:t>SEMANA</a:t>
            </a:r>
          </a:p>
        </p:txBody>
      </p:sp>
      <p:sp>
        <p:nvSpPr>
          <p:cNvPr id="90" name="89 CuadroTexto"/>
          <p:cNvSpPr txBox="1"/>
          <p:nvPr/>
        </p:nvSpPr>
        <p:spPr>
          <a:xfrm>
            <a:off x="2342193" y="2649818"/>
            <a:ext cx="858095" cy="307777"/>
          </a:xfrm>
          <a:prstGeom prst="rect">
            <a:avLst/>
          </a:prstGeom>
          <a:solidFill>
            <a:srgbClr val="4BACC6">
              <a:alpha val="30196"/>
            </a:srgbClr>
          </a:solidFill>
        </p:spPr>
        <p:txBody>
          <a:bodyPr wrap="square" rtlCol="0">
            <a:spAutoFit/>
          </a:bodyPr>
          <a:lstStyle/>
          <a:p>
            <a:pPr algn="ctr"/>
            <a:r>
              <a:rPr lang="es-ES" sz="700" dirty="0">
                <a:latin typeface="Avenir 35" panose="00000400000000000000" pitchFamily="2" charset="0"/>
              </a:rPr>
              <a:t>QUINTA</a:t>
            </a:r>
          </a:p>
          <a:p>
            <a:pPr algn="ctr"/>
            <a:r>
              <a:rPr lang="es-ES" sz="700" dirty="0">
                <a:latin typeface="Avenir 35" panose="00000400000000000000" pitchFamily="2" charset="0"/>
              </a:rPr>
              <a:t>SEMANA</a:t>
            </a:r>
          </a:p>
        </p:txBody>
      </p:sp>
      <p:sp>
        <p:nvSpPr>
          <p:cNvPr id="96" name="95 CuadroTexto"/>
          <p:cNvSpPr txBox="1"/>
          <p:nvPr/>
        </p:nvSpPr>
        <p:spPr>
          <a:xfrm>
            <a:off x="398058" y="2316131"/>
            <a:ext cx="9237037" cy="200055"/>
          </a:xfrm>
          <a:prstGeom prst="rect">
            <a:avLst/>
          </a:prstGeom>
          <a:solidFill>
            <a:schemeClr val="bg1"/>
          </a:solidFill>
          <a:ln w="12700">
            <a:noFill/>
          </a:ln>
        </p:spPr>
        <p:txBody>
          <a:bodyPr wrap="square" rtlCol="0">
            <a:spAutoFit/>
          </a:bodyPr>
          <a:lstStyle/>
          <a:p>
            <a:pPr algn="ctr"/>
            <a:r>
              <a:rPr lang="es-ES" sz="700" dirty="0">
                <a:latin typeface="Avenir 35" panose="00000400000000000000" pitchFamily="2" charset="0"/>
              </a:rPr>
              <a:t>ENAMORAR AL CLIENTE – ESTRATEGIA DE CONTENIDOS </a:t>
            </a:r>
          </a:p>
        </p:txBody>
      </p:sp>
      <p:sp>
        <p:nvSpPr>
          <p:cNvPr id="97" name="96 CuadroTexto"/>
          <p:cNvSpPr txBox="1"/>
          <p:nvPr/>
        </p:nvSpPr>
        <p:spPr>
          <a:xfrm>
            <a:off x="406024" y="3282378"/>
            <a:ext cx="1531739" cy="307777"/>
          </a:xfrm>
          <a:prstGeom prst="rect">
            <a:avLst/>
          </a:prstGeom>
          <a:solidFill>
            <a:schemeClr val="bg1"/>
          </a:solidFill>
          <a:ln w="12700">
            <a:noFill/>
          </a:ln>
        </p:spPr>
        <p:txBody>
          <a:bodyPr wrap="square" rtlCol="0">
            <a:spAutoFit/>
          </a:bodyPr>
          <a:lstStyle/>
          <a:p>
            <a:pPr algn="ctr"/>
            <a:r>
              <a:rPr lang="es-ES" sz="700" dirty="0">
                <a:latin typeface="Avenir 35" panose="00000400000000000000" pitchFamily="2" charset="0"/>
              </a:rPr>
              <a:t>PRIMERA TOMA DE CONTACTO DEL CLIENTE CON SU OFERTA</a:t>
            </a:r>
          </a:p>
        </p:txBody>
      </p:sp>
      <p:sp>
        <p:nvSpPr>
          <p:cNvPr id="22" name="21 Rectángulo"/>
          <p:cNvSpPr/>
          <p:nvPr/>
        </p:nvSpPr>
        <p:spPr>
          <a:xfrm>
            <a:off x="398058" y="5365875"/>
            <a:ext cx="9237037" cy="246221"/>
          </a:xfrm>
          <a:prstGeom prst="rect">
            <a:avLst/>
          </a:prstGeom>
          <a:solidFill>
            <a:schemeClr val="bg1"/>
          </a:solidFill>
          <a:ln w="12700">
            <a:noFill/>
          </a:ln>
        </p:spPr>
        <p:txBody>
          <a:bodyPr wrap="square" rtlCol="0">
            <a:spAutoFit/>
          </a:bodyPr>
          <a:lstStyle/>
          <a:p>
            <a:pPr algn="ctr"/>
            <a:r>
              <a:rPr lang="es-ES" sz="1000" dirty="0">
                <a:latin typeface="Avenir 35" panose="00000400000000000000" pitchFamily="2" charset="0"/>
              </a:rPr>
              <a:t>CERRAR CITA CLIENTES  NO CONVIERTAN EN LANDING</a:t>
            </a:r>
          </a:p>
        </p:txBody>
      </p:sp>
      <p:sp>
        <p:nvSpPr>
          <p:cNvPr id="114" name="113 CuadroTexto"/>
          <p:cNvSpPr txBox="1"/>
          <p:nvPr/>
        </p:nvSpPr>
        <p:spPr>
          <a:xfrm>
            <a:off x="8585715" y="3603429"/>
            <a:ext cx="1191821" cy="738664"/>
          </a:xfrm>
          <a:prstGeom prst="rect">
            <a:avLst/>
          </a:prstGeom>
          <a:solidFill>
            <a:srgbClr val="4BACC6">
              <a:alpha val="30196"/>
            </a:srgbClr>
          </a:solidFill>
        </p:spPr>
        <p:txBody>
          <a:bodyPr wrap="square" rtlCol="0">
            <a:spAutoFit/>
          </a:bodyPr>
          <a:lstStyle>
            <a:defPPr>
              <a:defRPr lang="es-ES"/>
            </a:defPPr>
            <a:lvl1pPr algn="ctr">
              <a:defRPr sz="800"/>
            </a:lvl1pPr>
          </a:lstStyle>
          <a:p>
            <a:r>
              <a:rPr lang="es-ES" sz="700" dirty="0">
                <a:latin typeface="Avenir 35" panose="00000400000000000000" pitchFamily="2" charset="0"/>
              </a:rPr>
              <a:t>Agradecimiento </a:t>
            </a:r>
          </a:p>
          <a:p>
            <a:r>
              <a:rPr lang="es-ES" sz="700" dirty="0">
                <a:latin typeface="Avenir 35" panose="00000400000000000000" pitchFamily="2" charset="0"/>
              </a:rPr>
              <a:t>encuesta satisfacción</a:t>
            </a:r>
          </a:p>
          <a:p>
            <a:r>
              <a:rPr lang="es-ES" sz="700" dirty="0">
                <a:latin typeface="Avenir 35" panose="00000400000000000000" pitchFamily="2" charset="0"/>
              </a:rPr>
              <a:t>24/48 horas</a:t>
            </a:r>
          </a:p>
          <a:p>
            <a:r>
              <a:rPr lang="es-ES" sz="700" b="1" dirty="0">
                <a:latin typeface="Avenir 35" panose="00000400000000000000" pitchFamily="2" charset="0"/>
              </a:rPr>
              <a:t>Pass Car App</a:t>
            </a:r>
          </a:p>
          <a:p>
            <a:r>
              <a:rPr lang="es-ES" sz="700" dirty="0">
                <a:latin typeface="Avenir 35" panose="00000400000000000000" pitchFamily="2" charset="0"/>
              </a:rPr>
              <a:t>próxima visita</a:t>
            </a:r>
          </a:p>
          <a:p>
            <a:r>
              <a:rPr lang="es-ES" sz="700" dirty="0">
                <a:latin typeface="Avenir 35" panose="00000400000000000000" pitchFamily="2" charset="0"/>
              </a:rPr>
              <a:t>resumen revisión</a:t>
            </a:r>
          </a:p>
        </p:txBody>
      </p:sp>
      <p:sp>
        <p:nvSpPr>
          <p:cNvPr id="28" name="27 Rectángulo"/>
          <p:cNvSpPr/>
          <p:nvPr/>
        </p:nvSpPr>
        <p:spPr>
          <a:xfrm>
            <a:off x="411720" y="1085102"/>
            <a:ext cx="7559736" cy="430379"/>
          </a:xfrm>
          <a:prstGeom prst="rect">
            <a:avLst/>
          </a:prstGeom>
          <a:solidFill>
            <a:srgbClr val="3C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LEAD</a:t>
            </a:r>
          </a:p>
        </p:txBody>
      </p:sp>
      <p:sp>
        <p:nvSpPr>
          <p:cNvPr id="118" name="117 Rectángulo"/>
          <p:cNvSpPr/>
          <p:nvPr/>
        </p:nvSpPr>
        <p:spPr>
          <a:xfrm>
            <a:off x="411719" y="1575791"/>
            <a:ext cx="5446539" cy="24102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PREVENTA</a:t>
            </a:r>
          </a:p>
        </p:txBody>
      </p:sp>
      <p:sp>
        <p:nvSpPr>
          <p:cNvPr id="119" name="118 Rectángulo"/>
          <p:cNvSpPr/>
          <p:nvPr/>
        </p:nvSpPr>
        <p:spPr>
          <a:xfrm>
            <a:off x="5936267" y="1580657"/>
            <a:ext cx="2035189" cy="24102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VENTA</a:t>
            </a:r>
          </a:p>
        </p:txBody>
      </p:sp>
      <p:sp>
        <p:nvSpPr>
          <p:cNvPr id="120" name="119 Rectángulo"/>
          <p:cNvSpPr/>
          <p:nvPr/>
        </p:nvSpPr>
        <p:spPr>
          <a:xfrm>
            <a:off x="8023050" y="1580657"/>
            <a:ext cx="1612047" cy="24102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FIDELIZACIÓN</a:t>
            </a:r>
          </a:p>
        </p:txBody>
      </p:sp>
      <p:sp>
        <p:nvSpPr>
          <p:cNvPr id="122" name="121 CuadroTexto"/>
          <p:cNvSpPr txBox="1"/>
          <p:nvPr/>
        </p:nvSpPr>
        <p:spPr>
          <a:xfrm>
            <a:off x="7592795" y="3634206"/>
            <a:ext cx="860512" cy="307777"/>
          </a:xfrm>
          <a:prstGeom prst="rect">
            <a:avLst/>
          </a:prstGeom>
          <a:solidFill>
            <a:srgbClr val="4BACC6">
              <a:alpha val="30196"/>
            </a:srgbClr>
          </a:solidFill>
        </p:spPr>
        <p:txBody>
          <a:bodyPr wrap="square" rtlCol="0">
            <a:spAutoFit/>
          </a:bodyPr>
          <a:lstStyle>
            <a:defPPr>
              <a:defRPr lang="es-ES"/>
            </a:defPPr>
            <a:lvl1pPr algn="ctr">
              <a:defRPr sz="800"/>
            </a:lvl1pPr>
          </a:lstStyle>
          <a:p>
            <a:r>
              <a:rPr lang="es-ES" sz="700" dirty="0">
                <a:latin typeface="Avenir 35" panose="00000400000000000000" pitchFamily="2" charset="0"/>
              </a:rPr>
              <a:t>Recordatorio Cita</a:t>
            </a:r>
          </a:p>
        </p:txBody>
      </p:sp>
      <p:sp>
        <p:nvSpPr>
          <p:cNvPr id="124" name="123 Rectángulo"/>
          <p:cNvSpPr/>
          <p:nvPr/>
        </p:nvSpPr>
        <p:spPr>
          <a:xfrm>
            <a:off x="411720" y="2043861"/>
            <a:ext cx="9223375" cy="241023"/>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Newsletter Bimensual </a:t>
            </a:r>
          </a:p>
        </p:txBody>
      </p:sp>
      <p:sp>
        <p:nvSpPr>
          <p:cNvPr id="125" name="124 CuadroTexto"/>
          <p:cNvSpPr txBox="1"/>
          <p:nvPr/>
        </p:nvSpPr>
        <p:spPr>
          <a:xfrm>
            <a:off x="972220" y="2108000"/>
            <a:ext cx="858095" cy="307777"/>
          </a:xfrm>
          <a:prstGeom prst="rect">
            <a:avLst/>
          </a:prstGeom>
          <a:solidFill>
            <a:schemeClr val="bg1"/>
          </a:solidFill>
        </p:spPr>
        <p:txBody>
          <a:bodyPr wrap="square" rtlCol="0">
            <a:spAutoFit/>
          </a:bodyPr>
          <a:lstStyle/>
          <a:p>
            <a:pPr algn="ctr"/>
            <a:r>
              <a:rPr lang="es-ES" sz="700" dirty="0">
                <a:latin typeface="Avenir 35" panose="00000400000000000000" pitchFamily="2" charset="0"/>
              </a:rPr>
              <a:t>PRIMER CONTACTO</a:t>
            </a:r>
          </a:p>
        </p:txBody>
      </p:sp>
      <p:sp>
        <p:nvSpPr>
          <p:cNvPr id="126" name="125 Rectángulo"/>
          <p:cNvSpPr/>
          <p:nvPr/>
        </p:nvSpPr>
        <p:spPr>
          <a:xfrm>
            <a:off x="406098" y="2995328"/>
            <a:ext cx="1531665" cy="241023"/>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latin typeface="Avenir 35" panose="00000400000000000000" pitchFamily="2" charset="0"/>
              </a:rPr>
              <a:t>Comunicación + oferta</a:t>
            </a:r>
          </a:p>
        </p:txBody>
      </p:sp>
      <p:sp>
        <p:nvSpPr>
          <p:cNvPr id="127" name="126 CuadroTexto"/>
          <p:cNvSpPr txBox="1"/>
          <p:nvPr/>
        </p:nvSpPr>
        <p:spPr>
          <a:xfrm>
            <a:off x="2005372" y="3283112"/>
            <a:ext cx="1531739" cy="415498"/>
          </a:xfrm>
          <a:prstGeom prst="rect">
            <a:avLst/>
          </a:prstGeom>
          <a:solidFill>
            <a:schemeClr val="bg1"/>
          </a:solidFill>
          <a:ln w="12700">
            <a:noFill/>
          </a:ln>
        </p:spPr>
        <p:txBody>
          <a:bodyPr wrap="square" rtlCol="0">
            <a:spAutoFit/>
          </a:bodyPr>
          <a:lstStyle/>
          <a:p>
            <a:pPr algn="ctr"/>
            <a:r>
              <a:rPr lang="es-ES" sz="700" dirty="0">
                <a:latin typeface="Avenir 35" panose="00000400000000000000" pitchFamily="2" charset="0"/>
              </a:rPr>
              <a:t>RECORDATORIO DE LA OFERTA INCLUYENDO PROMOCIÓN DE REGALO FÍSICO</a:t>
            </a:r>
          </a:p>
        </p:txBody>
      </p:sp>
      <p:sp>
        <p:nvSpPr>
          <p:cNvPr id="128" name="127 Rectángulo"/>
          <p:cNvSpPr/>
          <p:nvPr/>
        </p:nvSpPr>
        <p:spPr>
          <a:xfrm>
            <a:off x="2005446" y="2996062"/>
            <a:ext cx="1531665" cy="241023"/>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latin typeface="Avenir 35" panose="00000400000000000000" pitchFamily="2" charset="0"/>
              </a:rPr>
              <a:t>Cupón oferta + regalo</a:t>
            </a:r>
          </a:p>
        </p:txBody>
      </p:sp>
      <p:sp>
        <p:nvSpPr>
          <p:cNvPr id="129" name="128 CuadroTexto"/>
          <p:cNvSpPr txBox="1"/>
          <p:nvPr/>
        </p:nvSpPr>
        <p:spPr>
          <a:xfrm>
            <a:off x="3944643" y="2654436"/>
            <a:ext cx="858095" cy="307777"/>
          </a:xfrm>
          <a:prstGeom prst="rect">
            <a:avLst/>
          </a:prstGeom>
          <a:solidFill>
            <a:srgbClr val="4BACC6">
              <a:alpha val="30196"/>
            </a:srgbClr>
          </a:solidFill>
        </p:spPr>
        <p:txBody>
          <a:bodyPr wrap="square" rtlCol="0">
            <a:spAutoFit/>
          </a:bodyPr>
          <a:lstStyle/>
          <a:p>
            <a:pPr algn="ctr"/>
            <a:r>
              <a:rPr lang="es-ES" sz="700" dirty="0">
                <a:latin typeface="Avenir 35" panose="00000400000000000000" pitchFamily="2" charset="0"/>
              </a:rPr>
              <a:t>SEPTIMA</a:t>
            </a:r>
          </a:p>
          <a:p>
            <a:pPr algn="ctr"/>
            <a:r>
              <a:rPr lang="es-ES" sz="700" dirty="0">
                <a:latin typeface="Avenir 35" panose="00000400000000000000" pitchFamily="2" charset="0"/>
              </a:rPr>
              <a:t>SEMANA</a:t>
            </a:r>
          </a:p>
        </p:txBody>
      </p:sp>
      <p:sp>
        <p:nvSpPr>
          <p:cNvPr id="130" name="129 CuadroTexto"/>
          <p:cNvSpPr txBox="1"/>
          <p:nvPr/>
        </p:nvSpPr>
        <p:spPr>
          <a:xfrm>
            <a:off x="3607822" y="3287730"/>
            <a:ext cx="1531739" cy="307777"/>
          </a:xfrm>
          <a:prstGeom prst="rect">
            <a:avLst/>
          </a:prstGeom>
          <a:solidFill>
            <a:schemeClr val="bg1"/>
          </a:solidFill>
          <a:ln w="12700">
            <a:noFill/>
          </a:ln>
        </p:spPr>
        <p:txBody>
          <a:bodyPr wrap="square" rtlCol="0">
            <a:spAutoFit/>
          </a:bodyPr>
          <a:lstStyle/>
          <a:p>
            <a:pPr algn="ctr"/>
            <a:r>
              <a:rPr lang="es-ES" sz="700" dirty="0">
                <a:latin typeface="Avenir 35" panose="00000400000000000000" pitchFamily="2" charset="0"/>
              </a:rPr>
              <a:t>RECORDATORIO Y AVISO DE ÚLTIMOS DÍAS DE LA OFERTA.</a:t>
            </a:r>
          </a:p>
        </p:txBody>
      </p:sp>
      <p:sp>
        <p:nvSpPr>
          <p:cNvPr id="131" name="130 Rectángulo"/>
          <p:cNvSpPr/>
          <p:nvPr/>
        </p:nvSpPr>
        <p:spPr>
          <a:xfrm>
            <a:off x="3607896" y="3000680"/>
            <a:ext cx="1531665" cy="241023"/>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latin typeface="Avenir 35" panose="00000400000000000000" pitchFamily="2" charset="0"/>
              </a:rPr>
              <a:t>SMS</a:t>
            </a:r>
          </a:p>
        </p:txBody>
      </p:sp>
      <p:sp>
        <p:nvSpPr>
          <p:cNvPr id="135" name="134 CuadroTexto"/>
          <p:cNvSpPr txBox="1"/>
          <p:nvPr/>
        </p:nvSpPr>
        <p:spPr>
          <a:xfrm>
            <a:off x="5571010" y="2663961"/>
            <a:ext cx="858095" cy="307777"/>
          </a:xfrm>
          <a:prstGeom prst="rect">
            <a:avLst/>
          </a:prstGeom>
          <a:solidFill>
            <a:srgbClr val="4BACC6">
              <a:alpha val="30196"/>
            </a:srgbClr>
          </a:solidFill>
        </p:spPr>
        <p:txBody>
          <a:bodyPr wrap="square" rtlCol="0">
            <a:spAutoFit/>
          </a:bodyPr>
          <a:lstStyle/>
          <a:p>
            <a:pPr algn="ctr"/>
            <a:r>
              <a:rPr lang="es-ES" sz="700" dirty="0">
                <a:latin typeface="Avenir 35" panose="00000400000000000000" pitchFamily="2" charset="0"/>
              </a:rPr>
              <a:t>TODA CAMPAÑA</a:t>
            </a:r>
          </a:p>
        </p:txBody>
      </p:sp>
      <p:sp>
        <p:nvSpPr>
          <p:cNvPr id="136" name="135 CuadroTexto"/>
          <p:cNvSpPr txBox="1"/>
          <p:nvPr/>
        </p:nvSpPr>
        <p:spPr>
          <a:xfrm>
            <a:off x="5234189" y="3297254"/>
            <a:ext cx="1531739" cy="523220"/>
          </a:xfrm>
          <a:prstGeom prst="rect">
            <a:avLst/>
          </a:prstGeom>
          <a:solidFill>
            <a:schemeClr val="bg1"/>
          </a:solidFill>
          <a:ln w="12700">
            <a:noFill/>
          </a:ln>
        </p:spPr>
        <p:txBody>
          <a:bodyPr wrap="square" rtlCol="0">
            <a:spAutoFit/>
          </a:bodyPr>
          <a:lstStyle/>
          <a:p>
            <a:pPr algn="ctr"/>
            <a:r>
              <a:rPr lang="es-ES" sz="700" dirty="0">
                <a:latin typeface="Avenir 35" panose="00000400000000000000" pitchFamily="2" charset="0"/>
              </a:rPr>
              <a:t>POSIBILITAR LA CITA ONLINE  O TELEFÓNICA POR PARTE DEL CLIENTE EN EL MOMENTO DE LA VERDAD</a:t>
            </a:r>
          </a:p>
        </p:txBody>
      </p:sp>
      <p:sp>
        <p:nvSpPr>
          <p:cNvPr id="137" name="136 Rectángulo"/>
          <p:cNvSpPr/>
          <p:nvPr/>
        </p:nvSpPr>
        <p:spPr>
          <a:xfrm>
            <a:off x="5234263" y="3010205"/>
            <a:ext cx="1531665" cy="241023"/>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latin typeface="Avenir 35" panose="00000400000000000000" pitchFamily="2" charset="0"/>
              </a:rPr>
              <a:t>LANDIN PAGE</a:t>
            </a:r>
          </a:p>
        </p:txBody>
      </p:sp>
      <p:sp>
        <p:nvSpPr>
          <p:cNvPr id="138" name="137 CuadroTexto"/>
          <p:cNvSpPr txBox="1"/>
          <p:nvPr/>
        </p:nvSpPr>
        <p:spPr>
          <a:xfrm>
            <a:off x="8127024" y="2880678"/>
            <a:ext cx="719100" cy="200055"/>
          </a:xfrm>
          <a:prstGeom prst="rect">
            <a:avLst/>
          </a:prstGeom>
          <a:solidFill>
            <a:srgbClr val="4BACC6">
              <a:alpha val="30196"/>
            </a:srgbClr>
          </a:solidFill>
        </p:spPr>
        <p:txBody>
          <a:bodyPr wrap="square" rtlCol="0">
            <a:spAutoFit/>
          </a:bodyPr>
          <a:lstStyle>
            <a:defPPr>
              <a:defRPr lang="es-ES"/>
            </a:defPPr>
            <a:lvl1pPr algn="ctr">
              <a:defRPr sz="800"/>
            </a:lvl1pPr>
          </a:lstStyle>
          <a:p>
            <a:r>
              <a:rPr lang="es-ES" sz="700" dirty="0">
                <a:latin typeface="Avenir 35" panose="00000400000000000000" pitchFamily="2" charset="0"/>
              </a:rPr>
              <a:t>Recogida</a:t>
            </a:r>
          </a:p>
        </p:txBody>
      </p:sp>
      <p:sp>
        <p:nvSpPr>
          <p:cNvPr id="139" name="138 Rectángulo"/>
          <p:cNvSpPr/>
          <p:nvPr/>
        </p:nvSpPr>
        <p:spPr>
          <a:xfrm>
            <a:off x="411721" y="5073922"/>
            <a:ext cx="9223375" cy="241023"/>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Call Center – INICIO PROCESO DEALER</a:t>
            </a:r>
          </a:p>
        </p:txBody>
      </p:sp>
      <p:sp>
        <p:nvSpPr>
          <p:cNvPr id="141" name="140 Rectángulo"/>
          <p:cNvSpPr/>
          <p:nvPr/>
        </p:nvSpPr>
        <p:spPr>
          <a:xfrm>
            <a:off x="408377" y="5960299"/>
            <a:ext cx="9237037" cy="246221"/>
          </a:xfrm>
          <a:prstGeom prst="rect">
            <a:avLst/>
          </a:prstGeom>
          <a:solidFill>
            <a:schemeClr val="bg1"/>
          </a:solidFill>
          <a:ln w="12700">
            <a:noFill/>
          </a:ln>
        </p:spPr>
        <p:txBody>
          <a:bodyPr wrap="square" rtlCol="0">
            <a:spAutoFit/>
          </a:bodyPr>
          <a:lstStyle/>
          <a:p>
            <a:pPr algn="ctr"/>
            <a:r>
              <a:rPr lang="es-ES" sz="1000" dirty="0">
                <a:latin typeface="Avenir 35" panose="00000400000000000000" pitchFamily="2" charset="0"/>
              </a:rPr>
              <a:t>Remarketing de AdWords para anuncios de la Red de Búsqueda</a:t>
            </a:r>
          </a:p>
        </p:txBody>
      </p:sp>
      <p:sp>
        <p:nvSpPr>
          <p:cNvPr id="142" name="141 Rectángulo"/>
          <p:cNvSpPr/>
          <p:nvPr/>
        </p:nvSpPr>
        <p:spPr>
          <a:xfrm>
            <a:off x="422040" y="5668346"/>
            <a:ext cx="9223375" cy="241023"/>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Cookies</a:t>
            </a:r>
          </a:p>
        </p:txBody>
      </p:sp>
      <p:sp>
        <p:nvSpPr>
          <p:cNvPr id="144" name="143 Rectángulo"/>
          <p:cNvSpPr/>
          <p:nvPr/>
        </p:nvSpPr>
        <p:spPr>
          <a:xfrm>
            <a:off x="7076119" y="6262585"/>
            <a:ext cx="2558571" cy="24102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Atención al Cliente</a:t>
            </a:r>
          </a:p>
        </p:txBody>
      </p:sp>
      <p:sp>
        <p:nvSpPr>
          <p:cNvPr id="146" name="145 CuadroTexto"/>
          <p:cNvSpPr txBox="1"/>
          <p:nvPr/>
        </p:nvSpPr>
        <p:spPr>
          <a:xfrm>
            <a:off x="1401268" y="5460968"/>
            <a:ext cx="858095" cy="307777"/>
          </a:xfrm>
          <a:prstGeom prst="rect">
            <a:avLst/>
          </a:prstGeom>
          <a:solidFill>
            <a:schemeClr val="bg1"/>
          </a:solidFill>
        </p:spPr>
        <p:txBody>
          <a:bodyPr wrap="square" rtlCol="0">
            <a:spAutoFit/>
          </a:bodyPr>
          <a:lstStyle/>
          <a:p>
            <a:pPr algn="ctr"/>
            <a:r>
              <a:rPr lang="es-ES" sz="700" dirty="0">
                <a:latin typeface="Avenir 35" panose="00000400000000000000" pitchFamily="2" charset="0"/>
              </a:rPr>
              <a:t>TODA</a:t>
            </a:r>
          </a:p>
          <a:p>
            <a:pPr algn="ctr"/>
            <a:r>
              <a:rPr lang="es-ES" sz="700" dirty="0">
                <a:latin typeface="Avenir 35" panose="00000400000000000000" pitchFamily="2" charset="0"/>
              </a:rPr>
              <a:t>CAMPAÑA</a:t>
            </a:r>
          </a:p>
        </p:txBody>
      </p:sp>
      <p:sp>
        <p:nvSpPr>
          <p:cNvPr id="46" name="45 CuadroTexto"/>
          <p:cNvSpPr txBox="1"/>
          <p:nvPr/>
        </p:nvSpPr>
        <p:spPr>
          <a:xfrm>
            <a:off x="3596007" y="4457767"/>
            <a:ext cx="3169921" cy="415498"/>
          </a:xfrm>
          <a:prstGeom prst="rect">
            <a:avLst/>
          </a:prstGeom>
          <a:solidFill>
            <a:schemeClr val="bg1"/>
          </a:solidFill>
          <a:ln w="12700">
            <a:noFill/>
          </a:ln>
        </p:spPr>
        <p:txBody>
          <a:bodyPr wrap="square" rtlCol="0">
            <a:spAutoFit/>
          </a:bodyPr>
          <a:lstStyle/>
          <a:p>
            <a:pPr algn="ctr"/>
            <a:r>
              <a:rPr lang="es-ES" sz="700" dirty="0">
                <a:latin typeface="Avenir 35" panose="00000400000000000000" pitchFamily="2" charset="0"/>
              </a:rPr>
              <a:t>SEM</a:t>
            </a:r>
          </a:p>
          <a:p>
            <a:pPr algn="ctr"/>
            <a:r>
              <a:rPr lang="es-ES" sz="700" dirty="0">
                <a:latin typeface="Avenir 35" panose="00000400000000000000" pitchFamily="2" charset="0"/>
              </a:rPr>
              <a:t>Search Remarketing</a:t>
            </a:r>
          </a:p>
          <a:p>
            <a:pPr algn="ctr"/>
            <a:endParaRPr lang="es-ES" sz="700" dirty="0">
              <a:latin typeface="Avenir 35" panose="00000400000000000000" pitchFamily="2" charset="0"/>
            </a:endParaRPr>
          </a:p>
        </p:txBody>
      </p:sp>
      <p:sp>
        <p:nvSpPr>
          <p:cNvPr id="53" name="52 Rectángulo"/>
          <p:cNvSpPr/>
          <p:nvPr/>
        </p:nvSpPr>
        <p:spPr>
          <a:xfrm>
            <a:off x="3603877" y="4170717"/>
            <a:ext cx="3169768" cy="241023"/>
          </a:xfrm>
          <a:prstGeom prst="rect">
            <a:avLst/>
          </a:prstGeom>
          <a:solidFill>
            <a:srgbClr val="0086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latin typeface="Avenir 35" panose="00000400000000000000" pitchFamily="2" charset="0"/>
              </a:rPr>
              <a:t>Remarketing </a:t>
            </a:r>
          </a:p>
        </p:txBody>
      </p:sp>
      <p:pic>
        <p:nvPicPr>
          <p:cNvPr id="55" name="54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8991" y="2691376"/>
            <a:ext cx="311014" cy="287091"/>
          </a:xfrm>
          <a:prstGeom prst="rect">
            <a:avLst/>
          </a:prstGeom>
        </p:spPr>
      </p:pic>
      <p:pic>
        <p:nvPicPr>
          <p:cNvPr id="56" name="55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97960" y="2701282"/>
            <a:ext cx="311014" cy="287091"/>
          </a:xfrm>
          <a:prstGeom prst="rect">
            <a:avLst/>
          </a:prstGeom>
        </p:spPr>
      </p:pic>
      <p:pic>
        <p:nvPicPr>
          <p:cNvPr id="57" name="56 Imagen"/>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213770" y="2706233"/>
            <a:ext cx="348550" cy="321738"/>
          </a:xfrm>
          <a:prstGeom prst="rect">
            <a:avLst/>
          </a:prstGeom>
        </p:spPr>
      </p:pic>
      <p:pic>
        <p:nvPicPr>
          <p:cNvPr id="58" name="57 Imagen"/>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40531" y="4505153"/>
            <a:ext cx="482679" cy="366891"/>
          </a:xfrm>
          <a:prstGeom prst="rect">
            <a:avLst/>
          </a:prstGeom>
        </p:spPr>
      </p:pic>
      <p:pic>
        <p:nvPicPr>
          <p:cNvPr id="59" name="Picture 2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67893" y="4722220"/>
            <a:ext cx="324617" cy="299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0" name="59 CuadroTexto"/>
          <p:cNvSpPr txBox="1"/>
          <p:nvPr/>
        </p:nvSpPr>
        <p:spPr>
          <a:xfrm>
            <a:off x="116463" y="116636"/>
            <a:ext cx="9673075" cy="584775"/>
          </a:xfrm>
          <a:prstGeom prst="rect">
            <a:avLst/>
          </a:prstGeom>
          <a:noFill/>
        </p:spPr>
        <p:txBody>
          <a:bodyPr wrap="square" rtlCol="0">
            <a:spAutoFit/>
          </a:bodyPr>
          <a:lstStyle/>
          <a:p>
            <a:pPr algn="ctr"/>
            <a:r>
              <a:rPr lang="es-ES" sz="1200" dirty="0">
                <a:solidFill>
                  <a:schemeClr val="bg1">
                    <a:lumMod val="50000"/>
                  </a:schemeClr>
                </a:solidFill>
                <a:latin typeface="Century Gothic" panose="020B0502020202020204" pitchFamily="34" charset="0"/>
              </a:rPr>
              <a:t>CASO 2: CAMPAÑA DE RECUPERACIÓN DE CLIENTES</a:t>
            </a:r>
          </a:p>
          <a:p>
            <a:pPr algn="ctr"/>
            <a:r>
              <a:rPr lang="es-ES" sz="2000" dirty="0">
                <a:solidFill>
                  <a:schemeClr val="tx1">
                    <a:lumMod val="50000"/>
                    <a:lumOff val="50000"/>
                  </a:schemeClr>
                </a:solidFill>
                <a:latin typeface="Century Gothic" panose="020B0502020202020204" pitchFamily="34" charset="0"/>
              </a:rPr>
              <a:t>SEGMENTACIÓN VS MICRO-SEGMENTACIÓN</a:t>
            </a:r>
          </a:p>
        </p:txBody>
      </p:sp>
      <p:sp>
        <p:nvSpPr>
          <p:cNvPr id="63" name="Slide Number Placeholder 2"/>
          <p:cNvSpPr txBox="1">
            <a:spLocks/>
          </p:cNvSpPr>
          <p:nvPr/>
        </p:nvSpPr>
        <p:spPr>
          <a:xfrm>
            <a:off x="7545288" y="6657849"/>
            <a:ext cx="2311400" cy="208848"/>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36</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3982033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74 CuadroTexto"/>
          <p:cNvSpPr txBox="1"/>
          <p:nvPr/>
        </p:nvSpPr>
        <p:spPr>
          <a:xfrm>
            <a:off x="116463" y="116635"/>
            <a:ext cx="9673075" cy="584775"/>
          </a:xfrm>
          <a:prstGeom prst="rect">
            <a:avLst/>
          </a:prstGeom>
          <a:noFill/>
        </p:spPr>
        <p:txBody>
          <a:bodyPr wrap="square" rtlCol="0">
            <a:spAutoFit/>
          </a:bodyPr>
          <a:lstStyle/>
          <a:p>
            <a:pPr algn="ctr"/>
            <a:r>
              <a:rPr lang="es-ES" sz="1200" dirty="0">
                <a:solidFill>
                  <a:schemeClr val="bg1">
                    <a:lumMod val="50000"/>
                  </a:schemeClr>
                </a:solidFill>
                <a:latin typeface="Century Gothic" panose="020B0502020202020204" pitchFamily="34" charset="0"/>
              </a:rPr>
              <a:t>CASO 2: CAMPAÑA DE RECUPERACIÓN DE CLIENTES</a:t>
            </a:r>
          </a:p>
          <a:p>
            <a:pPr algn="ctr"/>
            <a:r>
              <a:rPr lang="es-ES" sz="2000" dirty="0">
                <a:solidFill>
                  <a:schemeClr val="tx1">
                    <a:lumMod val="50000"/>
                    <a:lumOff val="50000"/>
                  </a:schemeClr>
                </a:solidFill>
                <a:latin typeface="Century Gothic" panose="020B0502020202020204" pitchFamily="34" charset="0"/>
              </a:rPr>
              <a:t>RESOLUCIÓN</a:t>
            </a:r>
          </a:p>
        </p:txBody>
      </p:sp>
      <p:cxnSp>
        <p:nvCxnSpPr>
          <p:cNvPr id="4" name="3 Conector recto"/>
          <p:cNvCxnSpPr/>
          <p:nvPr/>
        </p:nvCxnSpPr>
        <p:spPr>
          <a:xfrm>
            <a:off x="4088904" y="1652803"/>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70 Conector recto"/>
          <p:cNvCxnSpPr/>
          <p:nvPr/>
        </p:nvCxnSpPr>
        <p:spPr>
          <a:xfrm>
            <a:off x="6609184" y="1652803"/>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75 Conector recto"/>
          <p:cNvCxnSpPr/>
          <p:nvPr/>
        </p:nvCxnSpPr>
        <p:spPr>
          <a:xfrm>
            <a:off x="272480" y="1796819"/>
            <a:ext cx="9393462" cy="0"/>
          </a:xfrm>
          <a:prstGeom prst="line">
            <a:avLst/>
          </a:prstGeom>
          <a:ln w="28575">
            <a:solidFill>
              <a:srgbClr val="0086AC"/>
            </a:solidFill>
            <a:prstDash val="sysDot"/>
          </a:ln>
        </p:spPr>
        <p:style>
          <a:lnRef idx="1">
            <a:schemeClr val="accent1"/>
          </a:lnRef>
          <a:fillRef idx="0">
            <a:schemeClr val="accent1"/>
          </a:fillRef>
          <a:effectRef idx="0">
            <a:schemeClr val="accent1"/>
          </a:effectRef>
          <a:fontRef idx="minor">
            <a:schemeClr val="tx1"/>
          </a:fontRef>
        </p:style>
      </p:cxnSp>
      <p:sp>
        <p:nvSpPr>
          <p:cNvPr id="10" name="9 CuadroTexto"/>
          <p:cNvSpPr txBox="1"/>
          <p:nvPr/>
        </p:nvSpPr>
        <p:spPr>
          <a:xfrm>
            <a:off x="4288906" y="1487424"/>
            <a:ext cx="2106234" cy="276999"/>
          </a:xfrm>
          <a:prstGeom prst="rect">
            <a:avLst/>
          </a:prstGeom>
          <a:noFill/>
        </p:spPr>
        <p:txBody>
          <a:bodyPr wrap="square" rtlCol="0">
            <a:spAutoFit/>
          </a:bodyPr>
          <a:lstStyle>
            <a:defPPr>
              <a:defRPr lang="es-ES"/>
            </a:defPPr>
            <a:lvl1pPr algn="ctr">
              <a:defRPr sz="1200" b="1">
                <a:latin typeface="Avenir 65" panose="02000600000000000000" pitchFamily="2" charset="0"/>
              </a:defRPr>
            </a:lvl1pPr>
          </a:lstStyle>
          <a:p>
            <a:r>
              <a:rPr lang="es-ES" dirty="0"/>
              <a:t>CONSIDERACIÓN</a:t>
            </a:r>
          </a:p>
        </p:txBody>
      </p:sp>
      <p:sp>
        <p:nvSpPr>
          <p:cNvPr id="11" name="10 CuadroTexto"/>
          <p:cNvSpPr txBox="1"/>
          <p:nvPr/>
        </p:nvSpPr>
        <p:spPr>
          <a:xfrm>
            <a:off x="6205789" y="1493481"/>
            <a:ext cx="2106234" cy="276999"/>
          </a:xfrm>
          <a:prstGeom prst="rect">
            <a:avLst/>
          </a:prstGeom>
          <a:noFill/>
        </p:spPr>
        <p:txBody>
          <a:bodyPr wrap="square" rtlCol="0">
            <a:spAutoFit/>
          </a:bodyPr>
          <a:lstStyle>
            <a:defPPr>
              <a:defRPr lang="es-ES"/>
            </a:defPPr>
            <a:lvl1pPr algn="ctr">
              <a:defRPr sz="1200" b="1">
                <a:latin typeface="Avenir 65" panose="02000600000000000000" pitchFamily="2" charset="0"/>
              </a:defRPr>
            </a:lvl1pPr>
          </a:lstStyle>
          <a:p>
            <a:r>
              <a:rPr lang="es-ES" dirty="0"/>
              <a:t>CONVERSIÓN</a:t>
            </a:r>
          </a:p>
        </p:txBody>
      </p:sp>
      <p:cxnSp>
        <p:nvCxnSpPr>
          <p:cNvPr id="12" name="11 Conector recto"/>
          <p:cNvCxnSpPr/>
          <p:nvPr/>
        </p:nvCxnSpPr>
        <p:spPr>
          <a:xfrm>
            <a:off x="584515" y="1796819"/>
            <a:ext cx="0" cy="144016"/>
          </a:xfrm>
          <a:prstGeom prst="line">
            <a:avLst/>
          </a:prstGeom>
        </p:spPr>
        <p:style>
          <a:lnRef idx="1">
            <a:schemeClr val="accent1"/>
          </a:lnRef>
          <a:fillRef idx="0">
            <a:schemeClr val="accent1"/>
          </a:fillRef>
          <a:effectRef idx="0">
            <a:schemeClr val="accent1"/>
          </a:effectRef>
          <a:fontRef idx="minor">
            <a:schemeClr val="tx1"/>
          </a:fontRef>
        </p:style>
      </p:cxnSp>
      <p:sp>
        <p:nvSpPr>
          <p:cNvPr id="3" name="2 CuadroTexto"/>
          <p:cNvSpPr txBox="1"/>
          <p:nvPr/>
        </p:nvSpPr>
        <p:spPr>
          <a:xfrm>
            <a:off x="194471" y="1892830"/>
            <a:ext cx="780087" cy="338554"/>
          </a:xfrm>
          <a:prstGeom prst="rect">
            <a:avLst/>
          </a:prstGeom>
          <a:noFill/>
        </p:spPr>
        <p:txBody>
          <a:bodyPr wrap="square" rtlCol="0">
            <a:spAutoFit/>
          </a:bodyPr>
          <a:lstStyle/>
          <a:p>
            <a:pPr algn="ctr"/>
            <a:r>
              <a:rPr lang="es-ES" sz="800" dirty="0"/>
              <a:t>Inicio campaña</a:t>
            </a:r>
          </a:p>
        </p:txBody>
      </p:sp>
      <p:cxnSp>
        <p:nvCxnSpPr>
          <p:cNvPr id="48" name="47 Conector recto"/>
          <p:cNvCxnSpPr/>
          <p:nvPr/>
        </p:nvCxnSpPr>
        <p:spPr>
          <a:xfrm>
            <a:off x="8091692" y="1796819"/>
            <a:ext cx="0" cy="144016"/>
          </a:xfrm>
          <a:prstGeom prst="line">
            <a:avLst/>
          </a:prstGeom>
        </p:spPr>
        <p:style>
          <a:lnRef idx="1">
            <a:schemeClr val="accent1"/>
          </a:lnRef>
          <a:fillRef idx="0">
            <a:schemeClr val="accent1"/>
          </a:fillRef>
          <a:effectRef idx="0">
            <a:schemeClr val="accent1"/>
          </a:effectRef>
          <a:fontRef idx="minor">
            <a:schemeClr val="tx1"/>
          </a:fontRef>
        </p:style>
      </p:cxnSp>
      <p:pic>
        <p:nvPicPr>
          <p:cNvPr id="31" name="30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5680" y="1072993"/>
            <a:ext cx="247191" cy="304235"/>
          </a:xfrm>
          <a:prstGeom prst="rect">
            <a:avLst/>
          </a:prstGeom>
        </p:spPr>
      </p:pic>
      <p:cxnSp>
        <p:nvCxnSpPr>
          <p:cNvPr id="52" name="51 Conector recto"/>
          <p:cNvCxnSpPr/>
          <p:nvPr/>
        </p:nvCxnSpPr>
        <p:spPr>
          <a:xfrm>
            <a:off x="9272247" y="1796819"/>
            <a:ext cx="0" cy="144016"/>
          </a:xfrm>
          <a:prstGeom prst="line">
            <a:avLst/>
          </a:prstGeom>
        </p:spPr>
        <p:style>
          <a:lnRef idx="1">
            <a:schemeClr val="accent1"/>
          </a:lnRef>
          <a:fillRef idx="0">
            <a:schemeClr val="accent1"/>
          </a:fillRef>
          <a:effectRef idx="0">
            <a:schemeClr val="accent1"/>
          </a:effectRef>
          <a:fontRef idx="minor">
            <a:schemeClr val="tx1"/>
          </a:fontRef>
        </p:style>
      </p:cxnSp>
      <p:sp>
        <p:nvSpPr>
          <p:cNvPr id="5" name="4 CuadroTexto"/>
          <p:cNvSpPr txBox="1"/>
          <p:nvPr/>
        </p:nvSpPr>
        <p:spPr>
          <a:xfrm>
            <a:off x="272480" y="932724"/>
            <a:ext cx="702078" cy="584775"/>
          </a:xfrm>
          <a:prstGeom prst="rect">
            <a:avLst/>
          </a:prstGeom>
          <a:solidFill>
            <a:srgbClr val="3CB2C3"/>
          </a:solidFill>
        </p:spPr>
        <p:txBody>
          <a:bodyPr wrap="square" rtlCol="0">
            <a:spAutoFit/>
          </a:bodyPr>
          <a:lstStyle>
            <a:defPPr>
              <a:defRPr lang="es-ES"/>
            </a:defPPr>
            <a:lvl1pPr algn="ctr">
              <a:defRPr sz="800">
                <a:solidFill>
                  <a:schemeClr val="bg1"/>
                </a:solidFill>
                <a:latin typeface="Avenir 35" panose="00000400000000000000" pitchFamily="2" charset="0"/>
              </a:defRPr>
            </a:lvl1pPr>
          </a:lstStyle>
          <a:p>
            <a:r>
              <a:rPr lang="es-ES" dirty="0"/>
              <a:t>27-39 meses sin paso por taller</a:t>
            </a:r>
          </a:p>
        </p:txBody>
      </p:sp>
      <p:sp>
        <p:nvSpPr>
          <p:cNvPr id="70" name="69 CuadroTexto"/>
          <p:cNvSpPr txBox="1"/>
          <p:nvPr/>
        </p:nvSpPr>
        <p:spPr>
          <a:xfrm>
            <a:off x="3195765" y="4047456"/>
            <a:ext cx="702078" cy="461665"/>
          </a:xfrm>
          <a:prstGeom prst="rect">
            <a:avLst/>
          </a:prstGeom>
          <a:solidFill>
            <a:srgbClr val="4BACC6"/>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3</a:t>
            </a:r>
          </a:p>
          <a:p>
            <a:r>
              <a:rPr lang="es-ES" dirty="0">
                <a:latin typeface="Avenir 35" panose="00000400000000000000" pitchFamily="2" charset="0"/>
              </a:rPr>
              <a:t>semanas tras inicio</a:t>
            </a:r>
          </a:p>
        </p:txBody>
      </p:sp>
      <p:grpSp>
        <p:nvGrpSpPr>
          <p:cNvPr id="97" name="96 Grupo"/>
          <p:cNvGrpSpPr/>
          <p:nvPr/>
        </p:nvGrpSpPr>
        <p:grpSpPr>
          <a:xfrm>
            <a:off x="7329264" y="2698572"/>
            <a:ext cx="1299332" cy="658420"/>
            <a:chOff x="2877360" y="2355726"/>
            <a:chExt cx="1478617" cy="863744"/>
          </a:xfrm>
        </p:grpSpPr>
        <p:sp>
          <p:nvSpPr>
            <p:cNvPr id="98" name="97 CuadroTexto"/>
            <p:cNvSpPr txBox="1"/>
            <p:nvPr/>
          </p:nvSpPr>
          <p:spPr>
            <a:xfrm>
              <a:off x="2877361" y="2640319"/>
              <a:ext cx="1478616" cy="444130"/>
            </a:xfrm>
            <a:prstGeom prst="rect">
              <a:avLst/>
            </a:prstGeom>
            <a:noFill/>
            <a:ln>
              <a:noFill/>
            </a:ln>
          </p:spPr>
          <p:txBody>
            <a:bodyPr wrap="square" rtlCol="0">
              <a:spAutoFit/>
            </a:bodyPr>
            <a:lstStyle/>
            <a:p>
              <a:pPr algn="ctr"/>
              <a:r>
                <a:rPr lang="es-ES" sz="800" dirty="0">
                  <a:latin typeface="Avenir 35" panose="00000400000000000000" pitchFamily="2" charset="0"/>
                </a:rPr>
                <a:t>Solicita cita online </a:t>
              </a:r>
            </a:p>
            <a:p>
              <a:pPr algn="ctr"/>
              <a:r>
                <a:rPr lang="es-ES" sz="800" dirty="0">
                  <a:latin typeface="Avenir 35" panose="00000400000000000000" pitchFamily="2" charset="0"/>
                </a:rPr>
                <a:t>en el taller</a:t>
              </a:r>
            </a:p>
          </p:txBody>
        </p:sp>
        <p:sp>
          <p:nvSpPr>
            <p:cNvPr id="108" name="107 Rectángulo redondeado"/>
            <p:cNvSpPr/>
            <p:nvPr/>
          </p:nvSpPr>
          <p:spPr>
            <a:xfrm>
              <a:off x="2877360" y="2355726"/>
              <a:ext cx="1478616" cy="863744"/>
            </a:xfrm>
            <a:prstGeom prst="round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800" dirty="0">
                <a:solidFill>
                  <a:schemeClr val="tx1"/>
                </a:solidFill>
                <a:latin typeface="Avenir 35" panose="00000400000000000000" pitchFamily="2" charset="0"/>
              </a:endParaRPr>
            </a:p>
          </p:txBody>
        </p:sp>
      </p:grpSp>
      <p:pic>
        <p:nvPicPr>
          <p:cNvPr id="110" name="Picture 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27880" y="2420888"/>
            <a:ext cx="315744" cy="291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3" name="112 CuadroTexto"/>
          <p:cNvSpPr txBox="1"/>
          <p:nvPr/>
        </p:nvSpPr>
        <p:spPr>
          <a:xfrm>
            <a:off x="3078960" y="2477514"/>
            <a:ext cx="894797" cy="338554"/>
          </a:xfrm>
          <a:prstGeom prst="rect">
            <a:avLst/>
          </a:prstGeom>
          <a:solidFill>
            <a:srgbClr val="4BACC6"/>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Landing page</a:t>
            </a:r>
          </a:p>
          <a:p>
            <a:r>
              <a:rPr lang="es-ES" dirty="0">
                <a:latin typeface="Avenir 35" panose="00000400000000000000" pitchFamily="2" charset="0"/>
              </a:rPr>
              <a:t>Call to Action</a:t>
            </a:r>
          </a:p>
        </p:txBody>
      </p:sp>
      <p:pic>
        <p:nvPicPr>
          <p:cNvPr id="114" name="113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88020" y="2843688"/>
            <a:ext cx="517567" cy="477754"/>
          </a:xfrm>
          <a:prstGeom prst="rect">
            <a:avLst/>
          </a:prstGeom>
        </p:spPr>
      </p:pic>
      <p:sp>
        <p:nvSpPr>
          <p:cNvPr id="120" name="119 CuadroTexto"/>
          <p:cNvSpPr txBox="1"/>
          <p:nvPr/>
        </p:nvSpPr>
        <p:spPr>
          <a:xfrm>
            <a:off x="1137244" y="4085372"/>
            <a:ext cx="583814"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abre</a:t>
            </a:r>
          </a:p>
        </p:txBody>
      </p:sp>
      <p:sp>
        <p:nvSpPr>
          <p:cNvPr id="123" name="122 CuadroTexto"/>
          <p:cNvSpPr txBox="1"/>
          <p:nvPr/>
        </p:nvSpPr>
        <p:spPr>
          <a:xfrm>
            <a:off x="7085227" y="5351651"/>
            <a:ext cx="1170130" cy="338554"/>
          </a:xfrm>
          <a:prstGeom prst="rect">
            <a:avLst/>
          </a:prstGeom>
          <a:solidFill>
            <a:srgbClr val="4BACC6"/>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SMS con enlace </a:t>
            </a:r>
          </a:p>
          <a:p>
            <a:r>
              <a:rPr lang="es-ES" dirty="0">
                <a:latin typeface="Avenir 35" panose="00000400000000000000" pitchFamily="2" charset="0"/>
              </a:rPr>
              <a:t>a la landing page</a:t>
            </a:r>
          </a:p>
        </p:txBody>
      </p:sp>
      <p:sp>
        <p:nvSpPr>
          <p:cNvPr id="128" name="127 CuadroTexto"/>
          <p:cNvSpPr txBox="1"/>
          <p:nvPr/>
        </p:nvSpPr>
        <p:spPr>
          <a:xfrm>
            <a:off x="7802616" y="6164136"/>
            <a:ext cx="579006"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clic </a:t>
            </a:r>
          </a:p>
        </p:txBody>
      </p:sp>
      <p:pic>
        <p:nvPicPr>
          <p:cNvPr id="130" name="Picture 2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36363" y="6225698"/>
            <a:ext cx="324617" cy="299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1" name="130 CuadroTexto"/>
          <p:cNvSpPr txBox="1"/>
          <p:nvPr/>
        </p:nvSpPr>
        <p:spPr>
          <a:xfrm>
            <a:off x="5231161" y="2862327"/>
            <a:ext cx="530915" cy="215444"/>
          </a:xfrm>
          <a:prstGeom prst="rect">
            <a:avLst/>
          </a:prstGeom>
          <a:noFill/>
        </p:spPr>
        <p:txBody>
          <a:bodyPr wrap="none" rtlCol="0">
            <a:spAutoFit/>
          </a:bodyPr>
          <a:lstStyle/>
          <a:p>
            <a:pPr algn="ctr"/>
            <a:r>
              <a:rPr lang="es-ES" sz="800" dirty="0">
                <a:latin typeface="Avenir 35" panose="00000400000000000000" pitchFamily="2" charset="0"/>
              </a:rPr>
              <a:t>cookies</a:t>
            </a:r>
          </a:p>
        </p:txBody>
      </p:sp>
      <p:pic>
        <p:nvPicPr>
          <p:cNvPr id="138" name="137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51193" y="2996952"/>
            <a:ext cx="311014" cy="287091"/>
          </a:xfrm>
          <a:prstGeom prst="rect">
            <a:avLst/>
          </a:prstGeom>
        </p:spPr>
      </p:pic>
      <p:sp>
        <p:nvSpPr>
          <p:cNvPr id="139" name="138 CuadroTexto"/>
          <p:cNvSpPr txBox="1"/>
          <p:nvPr/>
        </p:nvSpPr>
        <p:spPr>
          <a:xfrm>
            <a:off x="1190043" y="3378478"/>
            <a:ext cx="1051615" cy="338554"/>
          </a:xfrm>
          <a:prstGeom prst="rect">
            <a:avLst/>
          </a:prstGeom>
          <a:solidFill>
            <a:srgbClr val="4BACC6"/>
          </a:solidFill>
        </p:spPr>
        <p:txBody>
          <a:bodyPr wrap="square" rtlCol="0">
            <a:spAutoFit/>
          </a:bodyPr>
          <a:lstStyle/>
          <a:p>
            <a:pPr algn="ctr"/>
            <a:r>
              <a:rPr lang="es-ES" sz="800" dirty="0">
                <a:solidFill>
                  <a:schemeClr val="bg1"/>
                </a:solidFill>
                <a:latin typeface="Avenir 35" panose="00000400000000000000" pitchFamily="2" charset="0"/>
              </a:rPr>
              <a:t>Comunicación + oferta</a:t>
            </a:r>
          </a:p>
        </p:txBody>
      </p:sp>
      <p:cxnSp>
        <p:nvCxnSpPr>
          <p:cNvPr id="23" name="22 Conector recto de flecha"/>
          <p:cNvCxnSpPr>
            <a:stCxn id="114" idx="3"/>
            <a:endCxn id="98" idx="1"/>
          </p:cNvCxnSpPr>
          <p:nvPr/>
        </p:nvCxnSpPr>
        <p:spPr>
          <a:xfrm>
            <a:off x="3805587" y="3082565"/>
            <a:ext cx="3523678" cy="2225"/>
          </a:xfrm>
          <a:prstGeom prst="straightConnector1">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29 Conector recto de flecha"/>
          <p:cNvCxnSpPr>
            <a:stCxn id="139" idx="2"/>
            <a:endCxn id="283" idx="0"/>
          </p:cNvCxnSpPr>
          <p:nvPr/>
        </p:nvCxnSpPr>
        <p:spPr>
          <a:xfrm flipH="1">
            <a:off x="1715850" y="3717032"/>
            <a:ext cx="1" cy="826929"/>
          </a:xfrm>
          <a:prstGeom prst="straightConnector1">
            <a:avLst/>
          </a:prstGeom>
          <a:ln>
            <a:solidFill>
              <a:srgbClr val="0086AC"/>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2" name="141 CuadroTexto"/>
          <p:cNvSpPr txBox="1"/>
          <p:nvPr/>
        </p:nvSpPr>
        <p:spPr>
          <a:xfrm>
            <a:off x="2780854" y="2852936"/>
            <a:ext cx="404278" cy="215444"/>
          </a:xfrm>
          <a:prstGeom prst="rect">
            <a:avLst/>
          </a:prstGeom>
          <a:noFill/>
        </p:spPr>
        <p:txBody>
          <a:bodyPr wrap="none" rtlCol="0">
            <a:spAutoFit/>
          </a:bodyPr>
          <a:lstStyle/>
          <a:p>
            <a:pPr algn="ctr"/>
            <a:r>
              <a:rPr lang="es-ES" sz="800" dirty="0">
                <a:latin typeface="Avenir 35" panose="00000400000000000000" pitchFamily="2" charset="0"/>
              </a:rPr>
              <a:t>Click</a:t>
            </a:r>
          </a:p>
        </p:txBody>
      </p:sp>
      <p:sp>
        <p:nvSpPr>
          <p:cNvPr id="144" name="143 CuadroTexto"/>
          <p:cNvSpPr txBox="1"/>
          <p:nvPr/>
        </p:nvSpPr>
        <p:spPr>
          <a:xfrm>
            <a:off x="2661597" y="4276172"/>
            <a:ext cx="546945"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Clic</a:t>
            </a:r>
          </a:p>
        </p:txBody>
      </p:sp>
      <p:sp>
        <p:nvSpPr>
          <p:cNvPr id="145" name="144 CuadroTexto"/>
          <p:cNvSpPr txBox="1"/>
          <p:nvPr/>
        </p:nvSpPr>
        <p:spPr>
          <a:xfrm>
            <a:off x="4351973" y="4209093"/>
            <a:ext cx="885179" cy="461665"/>
          </a:xfrm>
          <a:prstGeom prst="rect">
            <a:avLst/>
          </a:prstGeom>
          <a:solidFill>
            <a:srgbClr val="4BACC6"/>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Cupón Oferta</a:t>
            </a:r>
          </a:p>
          <a:p>
            <a:r>
              <a:rPr lang="es-ES" dirty="0">
                <a:latin typeface="Avenir 35" panose="00000400000000000000" pitchFamily="2" charset="0"/>
              </a:rPr>
              <a:t>+</a:t>
            </a:r>
          </a:p>
          <a:p>
            <a:r>
              <a:rPr lang="es-ES" dirty="0">
                <a:latin typeface="Avenir 35" panose="00000400000000000000" pitchFamily="2" charset="0"/>
              </a:rPr>
              <a:t>Obsequio</a:t>
            </a:r>
          </a:p>
        </p:txBody>
      </p:sp>
      <p:pic>
        <p:nvPicPr>
          <p:cNvPr id="146" name="145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30490" y="3861048"/>
            <a:ext cx="311014" cy="287091"/>
          </a:xfrm>
          <a:prstGeom prst="rect">
            <a:avLst/>
          </a:prstGeom>
        </p:spPr>
      </p:pic>
      <p:sp>
        <p:nvSpPr>
          <p:cNvPr id="150" name="149 CuadroTexto"/>
          <p:cNvSpPr txBox="1"/>
          <p:nvPr/>
        </p:nvSpPr>
        <p:spPr>
          <a:xfrm>
            <a:off x="5529064" y="3295437"/>
            <a:ext cx="894797" cy="338554"/>
          </a:xfrm>
          <a:prstGeom prst="rect">
            <a:avLst/>
          </a:prstGeom>
          <a:solidFill>
            <a:srgbClr val="4BACC6"/>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Landing page</a:t>
            </a:r>
          </a:p>
          <a:p>
            <a:r>
              <a:rPr lang="es-ES" dirty="0">
                <a:latin typeface="Avenir 35" panose="00000400000000000000" pitchFamily="2" charset="0"/>
              </a:rPr>
              <a:t>Call to Action</a:t>
            </a:r>
          </a:p>
        </p:txBody>
      </p:sp>
      <p:pic>
        <p:nvPicPr>
          <p:cNvPr id="151" name="150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96881" y="3585073"/>
            <a:ext cx="517567" cy="477754"/>
          </a:xfrm>
          <a:prstGeom prst="rect">
            <a:avLst/>
          </a:prstGeom>
        </p:spPr>
      </p:pic>
      <p:sp>
        <p:nvSpPr>
          <p:cNvPr id="152" name="151 CuadroTexto"/>
          <p:cNvSpPr txBox="1"/>
          <p:nvPr/>
        </p:nvSpPr>
        <p:spPr>
          <a:xfrm>
            <a:off x="7206869" y="3861048"/>
            <a:ext cx="530915" cy="215444"/>
          </a:xfrm>
          <a:prstGeom prst="rect">
            <a:avLst/>
          </a:prstGeom>
          <a:noFill/>
        </p:spPr>
        <p:txBody>
          <a:bodyPr wrap="none" rtlCol="0">
            <a:spAutoFit/>
          </a:bodyPr>
          <a:lstStyle/>
          <a:p>
            <a:pPr algn="ctr"/>
            <a:r>
              <a:rPr lang="es-ES" sz="800" dirty="0">
                <a:latin typeface="Avenir 35" panose="00000400000000000000" pitchFamily="2" charset="0"/>
              </a:rPr>
              <a:t>cookies</a:t>
            </a:r>
          </a:p>
        </p:txBody>
      </p:sp>
      <p:sp>
        <p:nvSpPr>
          <p:cNvPr id="163" name="162 CuadroTexto"/>
          <p:cNvSpPr txBox="1"/>
          <p:nvPr/>
        </p:nvSpPr>
        <p:spPr>
          <a:xfrm>
            <a:off x="8343233" y="4962654"/>
            <a:ext cx="894797" cy="338554"/>
          </a:xfrm>
          <a:prstGeom prst="rect">
            <a:avLst/>
          </a:prstGeom>
          <a:solidFill>
            <a:srgbClr val="4BACC6"/>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Landing page</a:t>
            </a:r>
          </a:p>
          <a:p>
            <a:r>
              <a:rPr lang="es-ES" dirty="0">
                <a:latin typeface="Avenir 35" panose="00000400000000000000" pitchFamily="2" charset="0"/>
              </a:rPr>
              <a:t>Call to Action</a:t>
            </a:r>
          </a:p>
        </p:txBody>
      </p:sp>
      <p:pic>
        <p:nvPicPr>
          <p:cNvPr id="164" name="163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31847" y="5290096"/>
            <a:ext cx="517567" cy="477754"/>
          </a:xfrm>
          <a:prstGeom prst="rect">
            <a:avLst/>
          </a:prstGeom>
        </p:spPr>
      </p:pic>
      <p:sp>
        <p:nvSpPr>
          <p:cNvPr id="165" name="164 CuadroTexto"/>
          <p:cNvSpPr txBox="1"/>
          <p:nvPr/>
        </p:nvSpPr>
        <p:spPr>
          <a:xfrm>
            <a:off x="8172266" y="3861048"/>
            <a:ext cx="530915" cy="215444"/>
          </a:xfrm>
          <a:prstGeom prst="rect">
            <a:avLst/>
          </a:prstGeom>
          <a:noFill/>
        </p:spPr>
        <p:txBody>
          <a:bodyPr wrap="none" rtlCol="0">
            <a:spAutoFit/>
          </a:bodyPr>
          <a:lstStyle/>
          <a:p>
            <a:pPr algn="ctr"/>
            <a:r>
              <a:rPr lang="es-ES" sz="800" dirty="0">
                <a:latin typeface="Avenir 35" panose="00000400000000000000" pitchFamily="2" charset="0"/>
              </a:rPr>
              <a:t>cookies</a:t>
            </a:r>
          </a:p>
        </p:txBody>
      </p:sp>
      <p:cxnSp>
        <p:nvCxnSpPr>
          <p:cNvPr id="176" name="175 Conector recto de flecha"/>
          <p:cNvCxnSpPr>
            <a:stCxn id="151" idx="2"/>
            <a:endCxn id="271" idx="0"/>
          </p:cNvCxnSpPr>
          <p:nvPr/>
        </p:nvCxnSpPr>
        <p:spPr>
          <a:xfrm flipH="1">
            <a:off x="6055664" y="4062827"/>
            <a:ext cx="1" cy="1227269"/>
          </a:xfrm>
          <a:prstGeom prst="straightConnector1">
            <a:avLst/>
          </a:prstGeom>
          <a:ln>
            <a:solidFill>
              <a:schemeClr val="bg1">
                <a:lumMod val="50000"/>
              </a:schemeClr>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78" name="177 CuadroTexto"/>
          <p:cNvSpPr txBox="1"/>
          <p:nvPr/>
        </p:nvSpPr>
        <p:spPr>
          <a:xfrm rot="5400000">
            <a:off x="5853360" y="4570460"/>
            <a:ext cx="628698"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cierra</a:t>
            </a:r>
          </a:p>
        </p:txBody>
      </p:sp>
      <p:sp>
        <p:nvSpPr>
          <p:cNvPr id="188" name="187 CuadroTexto"/>
          <p:cNvSpPr txBox="1"/>
          <p:nvPr/>
        </p:nvSpPr>
        <p:spPr>
          <a:xfrm>
            <a:off x="8252859" y="5536317"/>
            <a:ext cx="354584" cy="215444"/>
          </a:xfrm>
          <a:prstGeom prst="rect">
            <a:avLst/>
          </a:prstGeom>
          <a:noFill/>
        </p:spPr>
        <p:txBody>
          <a:bodyPr wrap="none" rtlCol="0">
            <a:spAutoFit/>
          </a:bodyPr>
          <a:lstStyle/>
          <a:p>
            <a:pPr algn="ctr"/>
            <a:r>
              <a:rPr lang="es-ES" sz="800" dirty="0">
                <a:latin typeface="Avenir 35" panose="00000400000000000000" pitchFamily="2" charset="0"/>
              </a:rPr>
              <a:t>Clic</a:t>
            </a:r>
          </a:p>
        </p:txBody>
      </p:sp>
      <p:sp>
        <p:nvSpPr>
          <p:cNvPr id="194" name="193 CuadroTexto"/>
          <p:cNvSpPr txBox="1"/>
          <p:nvPr/>
        </p:nvSpPr>
        <p:spPr>
          <a:xfrm rot="5400000">
            <a:off x="8602110" y="5883207"/>
            <a:ext cx="655950"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cierra</a:t>
            </a:r>
          </a:p>
        </p:txBody>
      </p:sp>
      <p:sp>
        <p:nvSpPr>
          <p:cNvPr id="195" name="AutoShape 2" descr="Resultado de imagen de icono calendario"/>
          <p:cNvSpPr>
            <a:spLocks noChangeAspect="1" noChangeArrowheads="1"/>
          </p:cNvSpPr>
          <p:nvPr/>
        </p:nvSpPr>
        <p:spPr bwMode="auto">
          <a:xfrm>
            <a:off x="168540" y="-136525"/>
            <a:ext cx="321602"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p>
        </p:txBody>
      </p:sp>
      <p:pic>
        <p:nvPicPr>
          <p:cNvPr id="7171" name="Picture 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779657" y="1838630"/>
            <a:ext cx="322242" cy="2974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9" name="198 CuadroTexto"/>
          <p:cNvSpPr txBox="1"/>
          <p:nvPr/>
        </p:nvSpPr>
        <p:spPr>
          <a:xfrm>
            <a:off x="7146690" y="1163054"/>
            <a:ext cx="1101020" cy="307777"/>
          </a:xfrm>
          <a:prstGeom prst="rect">
            <a:avLst/>
          </a:prstGeom>
          <a:solidFill>
            <a:srgbClr val="4BACC6"/>
          </a:solidFill>
        </p:spPr>
        <p:txBody>
          <a:bodyPr wrap="square" rtlCol="0">
            <a:spAutoFit/>
          </a:bodyPr>
          <a:lstStyle>
            <a:defPPr>
              <a:defRPr lang="es-ES"/>
            </a:defPPr>
            <a:lvl1pPr algn="ctr">
              <a:defRPr sz="700">
                <a:solidFill>
                  <a:schemeClr val="bg1"/>
                </a:solidFill>
                <a:latin typeface="Century Gothic" panose="020B0502020202020204" pitchFamily="34" charset="0"/>
              </a:defRPr>
            </a:lvl1pPr>
          </a:lstStyle>
          <a:p>
            <a:r>
              <a:rPr lang="es-ES" dirty="0"/>
              <a:t>Cita agenda</a:t>
            </a:r>
          </a:p>
          <a:p>
            <a:r>
              <a:rPr lang="es-ES" dirty="0"/>
              <a:t>móvil</a:t>
            </a:r>
          </a:p>
        </p:txBody>
      </p:sp>
      <p:cxnSp>
        <p:nvCxnSpPr>
          <p:cNvPr id="200" name="199 Conector recto"/>
          <p:cNvCxnSpPr/>
          <p:nvPr/>
        </p:nvCxnSpPr>
        <p:spPr>
          <a:xfrm>
            <a:off x="8724844" y="1637267"/>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1" name="200 Conector recto"/>
          <p:cNvCxnSpPr/>
          <p:nvPr/>
        </p:nvCxnSpPr>
        <p:spPr>
          <a:xfrm>
            <a:off x="7937529" y="1633481"/>
            <a:ext cx="0" cy="144016"/>
          </a:xfrm>
          <a:prstGeom prst="line">
            <a:avLst/>
          </a:prstGeom>
        </p:spPr>
        <p:style>
          <a:lnRef idx="1">
            <a:schemeClr val="accent1"/>
          </a:lnRef>
          <a:fillRef idx="0">
            <a:schemeClr val="accent1"/>
          </a:fillRef>
          <a:effectRef idx="0">
            <a:schemeClr val="accent1"/>
          </a:effectRef>
          <a:fontRef idx="minor">
            <a:schemeClr val="tx1"/>
          </a:fontRef>
        </p:style>
      </p:cxnSp>
      <p:sp>
        <p:nvSpPr>
          <p:cNvPr id="203" name="202 CuadroTexto"/>
          <p:cNvSpPr txBox="1"/>
          <p:nvPr/>
        </p:nvSpPr>
        <p:spPr>
          <a:xfrm>
            <a:off x="8237823" y="2232857"/>
            <a:ext cx="382907" cy="200055"/>
          </a:xfrm>
          <a:prstGeom prst="rect">
            <a:avLst/>
          </a:prstGeom>
          <a:solidFill>
            <a:srgbClr val="4BACC6"/>
          </a:solidFill>
        </p:spPr>
        <p:txBody>
          <a:bodyPr wrap="square" rtlCol="0">
            <a:spAutoFit/>
          </a:bodyPr>
          <a:lstStyle>
            <a:defPPr>
              <a:defRPr lang="es-ES"/>
            </a:defPPr>
            <a:lvl1pPr algn="ctr">
              <a:defRPr sz="700">
                <a:solidFill>
                  <a:schemeClr val="bg1"/>
                </a:solidFill>
                <a:latin typeface="Century Gothic" panose="020B0502020202020204" pitchFamily="34" charset="0"/>
              </a:defRPr>
            </a:lvl1pPr>
          </a:lstStyle>
          <a:p>
            <a:r>
              <a:rPr lang="es-ES" dirty="0">
                <a:latin typeface="Avenir 35" panose="00000400000000000000" pitchFamily="2" charset="0"/>
              </a:rPr>
              <a:t>Cita</a:t>
            </a:r>
          </a:p>
        </p:txBody>
      </p:sp>
      <p:grpSp>
        <p:nvGrpSpPr>
          <p:cNvPr id="208" name="207 Grupo"/>
          <p:cNvGrpSpPr/>
          <p:nvPr/>
        </p:nvGrpSpPr>
        <p:grpSpPr>
          <a:xfrm>
            <a:off x="8233992" y="1844824"/>
            <a:ext cx="373975" cy="345208"/>
            <a:chOff x="8015722" y="1844824"/>
            <a:chExt cx="345208" cy="345208"/>
          </a:xfrm>
        </p:grpSpPr>
        <p:pic>
          <p:nvPicPr>
            <p:cNvPr id="210" name="Picture 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015722" y="1844824"/>
              <a:ext cx="345208" cy="345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1" name="Picture 6"/>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135808" y="1940297"/>
              <a:ext cx="121969" cy="1695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07" name="206 Grupo"/>
          <p:cNvGrpSpPr/>
          <p:nvPr/>
        </p:nvGrpSpPr>
        <p:grpSpPr>
          <a:xfrm>
            <a:off x="8559743" y="1852469"/>
            <a:ext cx="373975" cy="345208"/>
            <a:chOff x="8316415" y="1852469"/>
            <a:chExt cx="345208" cy="345208"/>
          </a:xfrm>
        </p:grpSpPr>
        <p:pic>
          <p:nvPicPr>
            <p:cNvPr id="212" name="Picture 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316415" y="1852469"/>
              <a:ext cx="345208" cy="345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6" name="205 CuadroTexto"/>
            <p:cNvSpPr txBox="1"/>
            <p:nvPr/>
          </p:nvSpPr>
          <p:spPr>
            <a:xfrm>
              <a:off x="8332234" y="1929698"/>
              <a:ext cx="296236" cy="184666"/>
            </a:xfrm>
            <a:prstGeom prst="rect">
              <a:avLst/>
            </a:prstGeom>
            <a:noFill/>
          </p:spPr>
          <p:txBody>
            <a:bodyPr wrap="none" rtlCol="0">
              <a:spAutoFit/>
            </a:bodyPr>
            <a:lstStyle/>
            <a:p>
              <a:r>
                <a:rPr lang="es-ES" sz="600" dirty="0"/>
                <a:t>SMS</a:t>
              </a:r>
            </a:p>
          </p:txBody>
        </p:sp>
      </p:grpSp>
      <p:sp>
        <p:nvSpPr>
          <p:cNvPr id="217" name="216 CuadroTexto"/>
          <p:cNvSpPr txBox="1"/>
          <p:nvPr/>
        </p:nvSpPr>
        <p:spPr>
          <a:xfrm>
            <a:off x="8371582" y="1440274"/>
            <a:ext cx="719100" cy="200055"/>
          </a:xfrm>
          <a:prstGeom prst="rect">
            <a:avLst/>
          </a:prstGeom>
          <a:solidFill>
            <a:srgbClr val="4BACC6"/>
          </a:solidFill>
        </p:spPr>
        <p:txBody>
          <a:bodyPr wrap="square" rtlCol="0">
            <a:spAutoFit/>
          </a:bodyPr>
          <a:lstStyle>
            <a:defPPr>
              <a:defRPr lang="es-ES"/>
            </a:defPPr>
            <a:lvl1pPr algn="ctr">
              <a:defRPr sz="700">
                <a:solidFill>
                  <a:schemeClr val="bg1"/>
                </a:solidFill>
                <a:latin typeface="Century Gothic" panose="020B0502020202020204" pitchFamily="34" charset="0"/>
              </a:defRPr>
            </a:lvl1pPr>
          </a:lstStyle>
          <a:p>
            <a:r>
              <a:rPr lang="es-ES" dirty="0"/>
              <a:t>Recogida</a:t>
            </a:r>
          </a:p>
        </p:txBody>
      </p:sp>
      <p:grpSp>
        <p:nvGrpSpPr>
          <p:cNvPr id="219" name="218 Grupo"/>
          <p:cNvGrpSpPr/>
          <p:nvPr/>
        </p:nvGrpSpPr>
        <p:grpSpPr>
          <a:xfrm>
            <a:off x="7422139" y="4956000"/>
            <a:ext cx="373975" cy="345208"/>
            <a:chOff x="8316415" y="1852469"/>
            <a:chExt cx="345208" cy="345208"/>
          </a:xfrm>
        </p:grpSpPr>
        <p:pic>
          <p:nvPicPr>
            <p:cNvPr id="220" name="Picture 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316415" y="1852469"/>
              <a:ext cx="345208" cy="345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1" name="220 CuadroTexto"/>
            <p:cNvSpPr txBox="1"/>
            <p:nvPr/>
          </p:nvSpPr>
          <p:spPr>
            <a:xfrm>
              <a:off x="8332234" y="1929698"/>
              <a:ext cx="313992" cy="184666"/>
            </a:xfrm>
            <a:prstGeom prst="rect">
              <a:avLst/>
            </a:prstGeom>
            <a:noFill/>
          </p:spPr>
          <p:txBody>
            <a:bodyPr wrap="none" rtlCol="0">
              <a:spAutoFit/>
            </a:bodyPr>
            <a:lstStyle/>
            <a:p>
              <a:r>
                <a:rPr lang="es-ES" sz="600" dirty="0">
                  <a:latin typeface="Avenir 35" panose="00000400000000000000" pitchFamily="2" charset="0"/>
                </a:rPr>
                <a:t>SMS</a:t>
              </a:r>
            </a:p>
          </p:txBody>
        </p:sp>
      </p:grpSp>
      <p:pic>
        <p:nvPicPr>
          <p:cNvPr id="222" name="221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166489" y="1962526"/>
            <a:ext cx="311014" cy="287091"/>
          </a:xfrm>
          <a:prstGeom prst="rect">
            <a:avLst/>
          </a:prstGeom>
        </p:spPr>
      </p:pic>
      <p:sp>
        <p:nvSpPr>
          <p:cNvPr id="225" name="224 CuadroTexto"/>
          <p:cNvSpPr txBox="1"/>
          <p:nvPr/>
        </p:nvSpPr>
        <p:spPr>
          <a:xfrm>
            <a:off x="8687151" y="2446829"/>
            <a:ext cx="1191821" cy="738664"/>
          </a:xfrm>
          <a:prstGeom prst="rect">
            <a:avLst/>
          </a:prstGeom>
          <a:solidFill>
            <a:srgbClr val="4BACC6"/>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sz="700" dirty="0">
                <a:latin typeface="Avenir 35" panose="00000400000000000000" pitchFamily="2" charset="0"/>
              </a:rPr>
              <a:t>Agradecimiento </a:t>
            </a:r>
          </a:p>
          <a:p>
            <a:r>
              <a:rPr lang="es-ES" sz="700" dirty="0">
                <a:latin typeface="Avenir 35" panose="00000400000000000000" pitchFamily="2" charset="0"/>
              </a:rPr>
              <a:t>encuesta satisfacción</a:t>
            </a:r>
          </a:p>
          <a:p>
            <a:r>
              <a:rPr lang="es-ES" sz="700" dirty="0">
                <a:latin typeface="Avenir 35" panose="00000400000000000000" pitchFamily="2" charset="0"/>
              </a:rPr>
              <a:t>24/48 horas</a:t>
            </a:r>
          </a:p>
          <a:p>
            <a:r>
              <a:rPr lang="es-ES" sz="700" dirty="0">
                <a:latin typeface="Avenir 35" panose="00000400000000000000" pitchFamily="2" charset="0"/>
              </a:rPr>
              <a:t>Pass Car App</a:t>
            </a:r>
          </a:p>
          <a:p>
            <a:r>
              <a:rPr lang="es-ES" sz="700" dirty="0">
                <a:latin typeface="Avenir 35" panose="00000400000000000000" pitchFamily="2" charset="0"/>
              </a:rPr>
              <a:t>próxima visita</a:t>
            </a:r>
          </a:p>
          <a:p>
            <a:r>
              <a:rPr lang="es-ES" sz="700" dirty="0">
                <a:latin typeface="Avenir 35" panose="00000400000000000000" pitchFamily="2" charset="0"/>
              </a:rPr>
              <a:t>resumen revisión</a:t>
            </a:r>
          </a:p>
        </p:txBody>
      </p:sp>
      <p:pic>
        <p:nvPicPr>
          <p:cNvPr id="239"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7839" y="2284746"/>
            <a:ext cx="313352" cy="2936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0" name="239 CuadroTexto"/>
          <p:cNvSpPr txBox="1"/>
          <p:nvPr/>
        </p:nvSpPr>
        <p:spPr>
          <a:xfrm>
            <a:off x="6407" y="2550534"/>
            <a:ext cx="1293944" cy="461665"/>
          </a:xfrm>
          <a:prstGeom prst="rect">
            <a:avLst/>
          </a:prstGeom>
          <a:noFill/>
        </p:spPr>
        <p:txBody>
          <a:bodyPr wrap="none" rtlCol="0">
            <a:spAutoFit/>
          </a:bodyPr>
          <a:lstStyle/>
          <a:p>
            <a:pPr algn="ctr"/>
            <a:r>
              <a:rPr lang="es-ES" sz="800" dirty="0">
                <a:latin typeface="Avenir 35" panose="00000400000000000000" pitchFamily="2" charset="0"/>
              </a:rPr>
              <a:t>Establecer 1º Contacto</a:t>
            </a:r>
          </a:p>
          <a:p>
            <a:pPr algn="ctr"/>
            <a:r>
              <a:rPr lang="es-ES" sz="800" dirty="0">
                <a:latin typeface="Avenir 35" panose="00000400000000000000" pitchFamily="2" charset="0"/>
              </a:rPr>
              <a:t>Presentación Newsletter</a:t>
            </a:r>
          </a:p>
          <a:p>
            <a:pPr algn="ctr"/>
            <a:r>
              <a:rPr lang="es-ES" sz="800" dirty="0">
                <a:latin typeface="Avenir 35" panose="00000400000000000000" pitchFamily="2" charset="0"/>
              </a:rPr>
              <a:t>Estrategia Contenidos</a:t>
            </a:r>
          </a:p>
        </p:txBody>
      </p:sp>
      <p:pic>
        <p:nvPicPr>
          <p:cNvPr id="241" name="Picture 15"/>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54748" y="3249426"/>
            <a:ext cx="168963" cy="1559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2" name="Picture 16"/>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39631" y="3249426"/>
            <a:ext cx="190628" cy="175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3" name="Picture 17"/>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50093" y="3265840"/>
            <a:ext cx="176757" cy="163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7" name="236 Abrir llave"/>
          <p:cNvSpPr/>
          <p:nvPr/>
        </p:nvSpPr>
        <p:spPr>
          <a:xfrm rot="16200000">
            <a:off x="524194" y="2757522"/>
            <a:ext cx="172673" cy="655880"/>
          </a:xfrm>
          <a:prstGeom prst="leftBrac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latin typeface="Avenir 35" panose="00000400000000000000" pitchFamily="2" charset="0"/>
            </a:endParaRPr>
          </a:p>
        </p:txBody>
      </p:sp>
      <p:sp>
        <p:nvSpPr>
          <p:cNvPr id="259" name="258 CuadroTexto"/>
          <p:cNvSpPr txBox="1"/>
          <p:nvPr/>
        </p:nvSpPr>
        <p:spPr>
          <a:xfrm>
            <a:off x="893189" y="1487424"/>
            <a:ext cx="2106234" cy="276999"/>
          </a:xfrm>
          <a:prstGeom prst="rect">
            <a:avLst/>
          </a:prstGeom>
          <a:noFill/>
        </p:spPr>
        <p:txBody>
          <a:bodyPr wrap="square" rtlCol="0">
            <a:spAutoFit/>
          </a:bodyPr>
          <a:lstStyle>
            <a:defPPr>
              <a:defRPr lang="es-ES"/>
            </a:defPPr>
            <a:lvl1pPr algn="ctr">
              <a:defRPr sz="1200" b="1">
                <a:latin typeface="Avenir 65" panose="02000600000000000000" pitchFamily="2" charset="0"/>
              </a:defRPr>
            </a:lvl1pPr>
          </a:lstStyle>
          <a:p>
            <a:r>
              <a:rPr lang="es-ES" dirty="0"/>
              <a:t>ATRACCIÓN </a:t>
            </a:r>
          </a:p>
        </p:txBody>
      </p:sp>
      <p:sp>
        <p:nvSpPr>
          <p:cNvPr id="262" name="261 CuadroTexto"/>
          <p:cNvSpPr txBox="1"/>
          <p:nvPr/>
        </p:nvSpPr>
        <p:spPr>
          <a:xfrm rot="5400000">
            <a:off x="4649597" y="5098397"/>
            <a:ext cx="583814"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abre</a:t>
            </a:r>
          </a:p>
        </p:txBody>
      </p:sp>
      <p:cxnSp>
        <p:nvCxnSpPr>
          <p:cNvPr id="255" name="254 Conector recto de flecha"/>
          <p:cNvCxnSpPr>
            <a:stCxn id="145" idx="2"/>
            <a:endCxn id="285" idx="0"/>
          </p:cNvCxnSpPr>
          <p:nvPr/>
        </p:nvCxnSpPr>
        <p:spPr>
          <a:xfrm>
            <a:off x="4794563" y="4670758"/>
            <a:ext cx="0" cy="953183"/>
          </a:xfrm>
          <a:prstGeom prst="straightConnector1">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8" name="267 Conector recto de flecha"/>
          <p:cNvCxnSpPr>
            <a:stCxn id="114" idx="2"/>
            <a:endCxn id="70" idx="0"/>
          </p:cNvCxnSpPr>
          <p:nvPr/>
        </p:nvCxnSpPr>
        <p:spPr>
          <a:xfrm>
            <a:off x="3546804" y="3321442"/>
            <a:ext cx="0" cy="726014"/>
          </a:xfrm>
          <a:prstGeom prst="straightConnector1">
            <a:avLst/>
          </a:prstGeom>
          <a:ln>
            <a:solidFill>
              <a:srgbClr val="0086AC"/>
            </a:solidFill>
            <a:tailEnd type="arrow"/>
          </a:ln>
        </p:spPr>
        <p:style>
          <a:lnRef idx="1">
            <a:schemeClr val="accent1"/>
          </a:lnRef>
          <a:fillRef idx="0">
            <a:schemeClr val="accent1"/>
          </a:fillRef>
          <a:effectRef idx="0">
            <a:schemeClr val="accent1"/>
          </a:effectRef>
          <a:fontRef idx="minor">
            <a:schemeClr val="tx1"/>
          </a:fontRef>
        </p:style>
      </p:cxnSp>
      <p:sp>
        <p:nvSpPr>
          <p:cNvPr id="269" name="268 CuadroTexto"/>
          <p:cNvSpPr txBox="1"/>
          <p:nvPr/>
        </p:nvSpPr>
        <p:spPr>
          <a:xfrm rot="5400000">
            <a:off x="3369890" y="3567695"/>
            <a:ext cx="655950"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cierra</a:t>
            </a:r>
          </a:p>
        </p:txBody>
      </p:sp>
      <p:sp>
        <p:nvSpPr>
          <p:cNvPr id="271" name="270 CuadroTexto"/>
          <p:cNvSpPr txBox="1"/>
          <p:nvPr/>
        </p:nvSpPr>
        <p:spPr>
          <a:xfrm>
            <a:off x="5704625" y="5290096"/>
            <a:ext cx="702078" cy="338554"/>
          </a:xfrm>
          <a:prstGeom prst="rect">
            <a:avLst/>
          </a:prstGeom>
          <a:solidFill>
            <a:srgbClr val="4BACC6"/>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5 semanas tras inicio</a:t>
            </a:r>
          </a:p>
        </p:txBody>
      </p:sp>
      <p:pic>
        <p:nvPicPr>
          <p:cNvPr id="283" name="Picture 2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53541" y="4543961"/>
            <a:ext cx="324617" cy="299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5" name="Picture 2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32254" y="5623941"/>
            <a:ext cx="324617" cy="299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7" name="16 Conector angular"/>
          <p:cNvCxnSpPr>
            <a:stCxn id="139" idx="3"/>
            <a:endCxn id="114" idx="1"/>
          </p:cNvCxnSpPr>
          <p:nvPr/>
        </p:nvCxnSpPr>
        <p:spPr>
          <a:xfrm flipV="1">
            <a:off x="2241658" y="3082565"/>
            <a:ext cx="1046362" cy="465190"/>
          </a:xfrm>
          <a:prstGeom prst="bentConnector3">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5" name="104 Conector angular"/>
          <p:cNvCxnSpPr>
            <a:stCxn id="139" idx="3"/>
            <a:endCxn id="70" idx="1"/>
          </p:cNvCxnSpPr>
          <p:nvPr/>
        </p:nvCxnSpPr>
        <p:spPr>
          <a:xfrm>
            <a:off x="2241658" y="3547755"/>
            <a:ext cx="954107" cy="730534"/>
          </a:xfrm>
          <a:prstGeom prst="bentConnector3">
            <a:avLst>
              <a:gd name="adj1" fmla="val 50000"/>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1" name="110 CuadroTexto"/>
          <p:cNvSpPr txBox="1"/>
          <p:nvPr/>
        </p:nvSpPr>
        <p:spPr>
          <a:xfrm>
            <a:off x="2269451" y="3342039"/>
            <a:ext cx="409086" cy="215444"/>
          </a:xfrm>
          <a:prstGeom prst="rect">
            <a:avLst/>
          </a:prstGeom>
          <a:noFill/>
        </p:spPr>
        <p:txBody>
          <a:bodyPr wrap="none" rtlCol="0">
            <a:spAutoFit/>
          </a:bodyPr>
          <a:lstStyle/>
          <a:p>
            <a:pPr algn="ctr"/>
            <a:r>
              <a:rPr lang="es-ES" sz="800" dirty="0">
                <a:latin typeface="Avenir 35" panose="00000400000000000000" pitchFamily="2" charset="0"/>
              </a:rPr>
              <a:t>Abre</a:t>
            </a:r>
          </a:p>
        </p:txBody>
      </p:sp>
      <p:sp>
        <p:nvSpPr>
          <p:cNvPr id="103" name="102 CuadroTexto"/>
          <p:cNvSpPr txBox="1"/>
          <p:nvPr/>
        </p:nvSpPr>
        <p:spPr>
          <a:xfrm>
            <a:off x="5354436" y="3645024"/>
            <a:ext cx="404278" cy="215444"/>
          </a:xfrm>
          <a:prstGeom prst="rect">
            <a:avLst/>
          </a:prstGeom>
          <a:noFill/>
        </p:spPr>
        <p:txBody>
          <a:bodyPr wrap="none" rtlCol="0">
            <a:spAutoFit/>
          </a:bodyPr>
          <a:lstStyle/>
          <a:p>
            <a:pPr algn="ctr"/>
            <a:r>
              <a:rPr lang="es-ES" sz="800" dirty="0">
                <a:latin typeface="Avenir 35" panose="00000400000000000000" pitchFamily="2" charset="0"/>
              </a:rPr>
              <a:t>Click</a:t>
            </a:r>
          </a:p>
        </p:txBody>
      </p:sp>
      <p:sp>
        <p:nvSpPr>
          <p:cNvPr id="104" name="103 CuadroTexto"/>
          <p:cNvSpPr txBox="1"/>
          <p:nvPr/>
        </p:nvSpPr>
        <p:spPr>
          <a:xfrm rot="5400000">
            <a:off x="5315024" y="4872705"/>
            <a:ext cx="546945" cy="215444"/>
          </a:xfrm>
          <a:prstGeom prst="rect">
            <a:avLst/>
          </a:prstGeom>
          <a:noFill/>
        </p:spPr>
        <p:txBody>
          <a:bodyPr wrap="none" rtlCol="0">
            <a:spAutoFit/>
          </a:bodyPr>
          <a:lstStyle/>
          <a:p>
            <a:pPr algn="ctr"/>
            <a:r>
              <a:rPr lang="es-ES" sz="800" dirty="0">
                <a:solidFill>
                  <a:srgbClr val="FF0000"/>
                </a:solidFill>
                <a:latin typeface="Avenir 35" panose="00000400000000000000" pitchFamily="2" charset="0"/>
              </a:rPr>
              <a:t>NO Clic</a:t>
            </a:r>
          </a:p>
        </p:txBody>
      </p:sp>
      <p:cxnSp>
        <p:nvCxnSpPr>
          <p:cNvPr id="106" name="105 Conector angular"/>
          <p:cNvCxnSpPr>
            <a:stCxn id="145" idx="3"/>
            <a:endCxn id="151" idx="1"/>
          </p:cNvCxnSpPr>
          <p:nvPr/>
        </p:nvCxnSpPr>
        <p:spPr>
          <a:xfrm flipV="1">
            <a:off x="5237152" y="3823950"/>
            <a:ext cx="559729" cy="615976"/>
          </a:xfrm>
          <a:prstGeom prst="bentConnector3">
            <a:avLst>
              <a:gd name="adj1" fmla="val 50000"/>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106 Conector angular"/>
          <p:cNvCxnSpPr>
            <a:stCxn id="145" idx="3"/>
            <a:endCxn id="271" idx="1"/>
          </p:cNvCxnSpPr>
          <p:nvPr/>
        </p:nvCxnSpPr>
        <p:spPr>
          <a:xfrm>
            <a:off x="5237152" y="4439926"/>
            <a:ext cx="467473" cy="1019447"/>
          </a:xfrm>
          <a:prstGeom prst="bentConnector3">
            <a:avLst>
              <a:gd name="adj1" fmla="val 50000"/>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9" name="108 CuadroTexto"/>
          <p:cNvSpPr txBox="1"/>
          <p:nvPr/>
        </p:nvSpPr>
        <p:spPr>
          <a:xfrm>
            <a:off x="5158623" y="4293676"/>
            <a:ext cx="409086" cy="215444"/>
          </a:xfrm>
          <a:prstGeom prst="rect">
            <a:avLst/>
          </a:prstGeom>
          <a:noFill/>
        </p:spPr>
        <p:txBody>
          <a:bodyPr wrap="none" rtlCol="0">
            <a:spAutoFit/>
          </a:bodyPr>
          <a:lstStyle/>
          <a:p>
            <a:pPr algn="ctr"/>
            <a:r>
              <a:rPr lang="es-ES" sz="800" dirty="0">
                <a:latin typeface="Avenir 35" panose="00000400000000000000" pitchFamily="2" charset="0"/>
              </a:rPr>
              <a:t>Abre</a:t>
            </a:r>
          </a:p>
        </p:txBody>
      </p:sp>
      <p:cxnSp>
        <p:nvCxnSpPr>
          <p:cNvPr id="24" name="23 Conector angular"/>
          <p:cNvCxnSpPr>
            <a:stCxn id="151" idx="3"/>
            <a:endCxn id="108" idx="2"/>
          </p:cNvCxnSpPr>
          <p:nvPr/>
        </p:nvCxnSpPr>
        <p:spPr>
          <a:xfrm flipV="1">
            <a:off x="6314448" y="3356992"/>
            <a:ext cx="1664482" cy="466958"/>
          </a:xfrm>
          <a:prstGeom prst="bentConnector2">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9" name="228 Conector recto de flecha"/>
          <p:cNvCxnSpPr>
            <a:stCxn id="271" idx="3"/>
            <a:endCxn id="123" idx="1"/>
          </p:cNvCxnSpPr>
          <p:nvPr/>
        </p:nvCxnSpPr>
        <p:spPr>
          <a:xfrm>
            <a:off x="6406703" y="5459373"/>
            <a:ext cx="678524" cy="61555"/>
          </a:xfrm>
          <a:prstGeom prst="straightConnector1">
            <a:avLst/>
          </a:prstGeom>
          <a:ln>
            <a:solidFill>
              <a:srgbClr val="0086AC"/>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4" name="233 Conector angular"/>
          <p:cNvCxnSpPr>
            <a:stCxn id="70" idx="3"/>
            <a:endCxn id="145" idx="1"/>
          </p:cNvCxnSpPr>
          <p:nvPr/>
        </p:nvCxnSpPr>
        <p:spPr>
          <a:xfrm>
            <a:off x="3897843" y="4278289"/>
            <a:ext cx="454130" cy="161637"/>
          </a:xfrm>
          <a:prstGeom prst="bentConnector3">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6" name="245 Conector angular"/>
          <p:cNvCxnSpPr>
            <a:stCxn id="123" idx="2"/>
            <a:endCxn id="130" idx="1"/>
          </p:cNvCxnSpPr>
          <p:nvPr/>
        </p:nvCxnSpPr>
        <p:spPr>
          <a:xfrm rot="16200000" flipH="1">
            <a:off x="7810669" y="5549827"/>
            <a:ext cx="685316" cy="966071"/>
          </a:xfrm>
          <a:prstGeom prst="bentConnector2">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9" name="248 Conector recto de flecha"/>
          <p:cNvCxnSpPr>
            <a:stCxn id="164" idx="2"/>
            <a:endCxn id="130" idx="0"/>
          </p:cNvCxnSpPr>
          <p:nvPr/>
        </p:nvCxnSpPr>
        <p:spPr>
          <a:xfrm>
            <a:off x="8790631" y="5767850"/>
            <a:ext cx="8041" cy="457848"/>
          </a:xfrm>
          <a:prstGeom prst="straightConnector1">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4" name="253 Conector recto de flecha"/>
          <p:cNvCxnSpPr>
            <a:stCxn id="123" idx="3"/>
            <a:endCxn id="164" idx="1"/>
          </p:cNvCxnSpPr>
          <p:nvPr/>
        </p:nvCxnSpPr>
        <p:spPr>
          <a:xfrm>
            <a:off x="8255357" y="5520928"/>
            <a:ext cx="276490" cy="8045"/>
          </a:xfrm>
          <a:prstGeom prst="straightConnector1">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81" name="7180 Conector angular"/>
          <p:cNvCxnSpPr>
            <a:stCxn id="163" idx="0"/>
            <a:endCxn id="108" idx="2"/>
          </p:cNvCxnSpPr>
          <p:nvPr/>
        </p:nvCxnSpPr>
        <p:spPr>
          <a:xfrm rot="16200000" flipV="1">
            <a:off x="7581950" y="3753972"/>
            <a:ext cx="1605662" cy="811702"/>
          </a:xfrm>
          <a:prstGeom prst="bentConnector3">
            <a:avLst>
              <a:gd name="adj1" fmla="val 50000"/>
            </a:avLst>
          </a:prstGeom>
          <a:ln>
            <a:solidFill>
              <a:srgbClr val="0086AC"/>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0" name="169 Conector recto"/>
          <p:cNvCxnSpPr/>
          <p:nvPr/>
        </p:nvCxnSpPr>
        <p:spPr>
          <a:xfrm>
            <a:off x="4088904" y="1810909"/>
            <a:ext cx="0" cy="4568671"/>
          </a:xfrm>
          <a:prstGeom prst="line">
            <a:avLst/>
          </a:prstGeom>
          <a:ln w="28575">
            <a:solidFill>
              <a:srgbClr val="0086AC"/>
            </a:solidFill>
            <a:prstDash val="sysDot"/>
          </a:ln>
        </p:spPr>
        <p:style>
          <a:lnRef idx="1">
            <a:schemeClr val="accent1"/>
          </a:lnRef>
          <a:fillRef idx="0">
            <a:schemeClr val="accent1"/>
          </a:fillRef>
          <a:effectRef idx="0">
            <a:schemeClr val="accent1"/>
          </a:effectRef>
          <a:fontRef idx="minor">
            <a:schemeClr val="tx1"/>
          </a:fontRef>
        </p:style>
      </p:cxnSp>
      <p:cxnSp>
        <p:nvCxnSpPr>
          <p:cNvPr id="172" name="171 Conector recto"/>
          <p:cNvCxnSpPr/>
          <p:nvPr/>
        </p:nvCxnSpPr>
        <p:spPr>
          <a:xfrm>
            <a:off x="6609184" y="1810909"/>
            <a:ext cx="0" cy="4568671"/>
          </a:xfrm>
          <a:prstGeom prst="line">
            <a:avLst/>
          </a:prstGeom>
          <a:ln w="28575">
            <a:solidFill>
              <a:srgbClr val="0086AC"/>
            </a:solidFill>
            <a:prstDash val="sysDot"/>
          </a:ln>
        </p:spPr>
        <p:style>
          <a:lnRef idx="1">
            <a:schemeClr val="accent1"/>
          </a:lnRef>
          <a:fillRef idx="0">
            <a:schemeClr val="accent1"/>
          </a:fillRef>
          <a:effectRef idx="0">
            <a:schemeClr val="accent1"/>
          </a:effectRef>
          <a:fontRef idx="minor">
            <a:schemeClr val="tx1"/>
          </a:fontRef>
        </p:style>
      </p:cxnSp>
      <p:sp>
        <p:nvSpPr>
          <p:cNvPr id="95" name="Slide Number Placeholder 2"/>
          <p:cNvSpPr txBox="1">
            <a:spLocks/>
          </p:cNvSpPr>
          <p:nvPr/>
        </p:nvSpPr>
        <p:spPr>
          <a:xfrm>
            <a:off x="7545288" y="6657849"/>
            <a:ext cx="2311400" cy="208848"/>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37</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356278207"/>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utoShape 5" descr="http://image005.flaticon.com/41/svg/55/55010.svg"/>
          <p:cNvSpPr>
            <a:spLocks noChangeAspect="1" noChangeArrowheads="1"/>
          </p:cNvSpPr>
          <p:nvPr/>
        </p:nvSpPr>
        <p:spPr bwMode="auto">
          <a:xfrm>
            <a:off x="168540" y="-335497"/>
            <a:ext cx="330200" cy="406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p>
        </p:txBody>
      </p:sp>
      <p:sp>
        <p:nvSpPr>
          <p:cNvPr id="16" name="AutoShape 7" descr="http://image005.flaticon.com/41/svg/55/55010.svg"/>
          <p:cNvSpPr>
            <a:spLocks noChangeAspect="1" noChangeArrowheads="1"/>
          </p:cNvSpPr>
          <p:nvPr/>
        </p:nvSpPr>
        <p:spPr bwMode="auto">
          <a:xfrm>
            <a:off x="333640" y="-132297"/>
            <a:ext cx="330200" cy="406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p>
        </p:txBody>
      </p:sp>
      <p:sp>
        <p:nvSpPr>
          <p:cNvPr id="17" name="AutoShape 10" descr="Teléfono celular en posición horizontal icono gratis"/>
          <p:cNvSpPr>
            <a:spLocks noChangeAspect="1" noChangeArrowheads="1"/>
          </p:cNvSpPr>
          <p:nvPr/>
        </p:nvSpPr>
        <p:spPr bwMode="auto">
          <a:xfrm>
            <a:off x="932142" y="1328580"/>
            <a:ext cx="330200" cy="406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latin typeface="Avenir 35" panose="00000400000000000000" pitchFamily="2" charset="0"/>
            </a:endParaRPr>
          </a:p>
        </p:txBody>
      </p:sp>
      <p:cxnSp>
        <p:nvCxnSpPr>
          <p:cNvPr id="157" name="156 Conector recto"/>
          <p:cNvCxnSpPr/>
          <p:nvPr/>
        </p:nvCxnSpPr>
        <p:spPr>
          <a:xfrm flipV="1">
            <a:off x="83659" y="1717343"/>
            <a:ext cx="9510856" cy="59947"/>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58" name="157 CuadroTexto"/>
          <p:cNvSpPr txBox="1"/>
          <p:nvPr/>
        </p:nvSpPr>
        <p:spPr>
          <a:xfrm>
            <a:off x="2091384" y="1459842"/>
            <a:ext cx="2106234" cy="276999"/>
          </a:xfrm>
          <a:prstGeom prst="rect">
            <a:avLst/>
          </a:prstGeom>
          <a:noFill/>
        </p:spPr>
        <p:txBody>
          <a:bodyPr wrap="square" rtlCol="0">
            <a:spAutoFit/>
          </a:bodyPr>
          <a:lstStyle>
            <a:defPPr>
              <a:defRPr lang="es-ES"/>
            </a:defPPr>
            <a:lvl1pPr algn="ctr">
              <a:defRPr sz="1200" b="1">
                <a:latin typeface="Avenir 65" panose="02000600000000000000" pitchFamily="2" charset="0"/>
              </a:defRPr>
            </a:lvl1pPr>
          </a:lstStyle>
          <a:p>
            <a:r>
              <a:rPr lang="es-ES" dirty="0"/>
              <a:t>ATRACCIÓN</a:t>
            </a:r>
          </a:p>
        </p:txBody>
      </p:sp>
      <p:sp>
        <p:nvSpPr>
          <p:cNvPr id="159" name="158 CuadroTexto"/>
          <p:cNvSpPr txBox="1"/>
          <p:nvPr/>
        </p:nvSpPr>
        <p:spPr>
          <a:xfrm>
            <a:off x="5421052" y="1460734"/>
            <a:ext cx="2106234" cy="276999"/>
          </a:xfrm>
          <a:prstGeom prst="rect">
            <a:avLst/>
          </a:prstGeom>
          <a:noFill/>
        </p:spPr>
        <p:txBody>
          <a:bodyPr wrap="square" rtlCol="0">
            <a:spAutoFit/>
          </a:bodyPr>
          <a:lstStyle>
            <a:defPPr>
              <a:defRPr lang="es-ES"/>
            </a:defPPr>
            <a:lvl1pPr algn="ctr">
              <a:defRPr sz="1200" b="1">
                <a:latin typeface="Avenir 65" panose="02000600000000000000" pitchFamily="2" charset="0"/>
              </a:defRPr>
            </a:lvl1pPr>
          </a:lstStyle>
          <a:p>
            <a:r>
              <a:rPr lang="es-ES" dirty="0"/>
              <a:t>CONSIDERACIÓN</a:t>
            </a:r>
          </a:p>
        </p:txBody>
      </p:sp>
      <p:sp>
        <p:nvSpPr>
          <p:cNvPr id="1035" name="AutoShape 19" descr="Resultado de imagen de icono facebook"/>
          <p:cNvSpPr>
            <a:spLocks noChangeAspect="1" noChangeArrowheads="1"/>
          </p:cNvSpPr>
          <p:nvPr/>
        </p:nvSpPr>
        <p:spPr bwMode="auto">
          <a:xfrm>
            <a:off x="638048" y="1328580"/>
            <a:ext cx="330200" cy="406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dirty="0">
              <a:latin typeface="Avenir 35" panose="00000400000000000000" pitchFamily="2" charset="0"/>
            </a:endParaRPr>
          </a:p>
        </p:txBody>
      </p:sp>
      <p:cxnSp>
        <p:nvCxnSpPr>
          <p:cNvPr id="208" name="207 Conector recto"/>
          <p:cNvCxnSpPr/>
          <p:nvPr/>
        </p:nvCxnSpPr>
        <p:spPr>
          <a:xfrm>
            <a:off x="7976382" y="1777290"/>
            <a:ext cx="0" cy="3057946"/>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09" name="208 CuadroTexto"/>
          <p:cNvSpPr txBox="1"/>
          <p:nvPr/>
        </p:nvSpPr>
        <p:spPr>
          <a:xfrm>
            <a:off x="7761312" y="1454376"/>
            <a:ext cx="2106234" cy="276999"/>
          </a:xfrm>
          <a:prstGeom prst="rect">
            <a:avLst/>
          </a:prstGeom>
          <a:noFill/>
        </p:spPr>
        <p:txBody>
          <a:bodyPr wrap="square" rtlCol="0">
            <a:spAutoFit/>
          </a:bodyPr>
          <a:lstStyle>
            <a:defPPr>
              <a:defRPr lang="es-ES"/>
            </a:defPPr>
            <a:lvl1pPr algn="ctr">
              <a:defRPr sz="1200" b="1">
                <a:latin typeface="Avenir 65" panose="02000600000000000000" pitchFamily="2" charset="0"/>
              </a:defRPr>
            </a:lvl1pPr>
          </a:lstStyle>
          <a:p>
            <a:r>
              <a:rPr lang="es-ES" dirty="0"/>
              <a:t>CONVERSIÓN</a:t>
            </a:r>
          </a:p>
        </p:txBody>
      </p:sp>
      <p:cxnSp>
        <p:nvCxnSpPr>
          <p:cNvPr id="253" name="252 Conector recto"/>
          <p:cNvCxnSpPr/>
          <p:nvPr/>
        </p:nvCxnSpPr>
        <p:spPr>
          <a:xfrm>
            <a:off x="1366690" y="1993958"/>
            <a:ext cx="6281" cy="5058188"/>
          </a:xfrm>
          <a:prstGeom prst="line">
            <a:avLst/>
          </a:prstGeom>
          <a:ln w="12700">
            <a:solidFill>
              <a:schemeClr val="bg1">
                <a:lumMod val="9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55" name="254 CuadroTexto"/>
          <p:cNvSpPr txBox="1"/>
          <p:nvPr/>
        </p:nvSpPr>
        <p:spPr>
          <a:xfrm>
            <a:off x="83659" y="107921"/>
            <a:ext cx="9673075" cy="584775"/>
          </a:xfrm>
          <a:prstGeom prst="rect">
            <a:avLst/>
          </a:prstGeom>
          <a:noFill/>
        </p:spPr>
        <p:txBody>
          <a:bodyPr wrap="square" rtlCol="0">
            <a:spAutoFit/>
          </a:bodyPr>
          <a:lstStyle/>
          <a:p>
            <a:pPr algn="ctr"/>
            <a:r>
              <a:rPr lang="es-ES" sz="1200" dirty="0">
                <a:solidFill>
                  <a:srgbClr val="323232"/>
                </a:solidFill>
                <a:latin typeface="Avenir 35" panose="00000400000000000000" pitchFamily="2" charset="0"/>
              </a:rPr>
              <a:t>Situación ideal</a:t>
            </a:r>
          </a:p>
          <a:p>
            <a:pPr algn="ctr"/>
            <a:r>
              <a:rPr lang="es-ES" sz="2000" b="1" dirty="0">
                <a:solidFill>
                  <a:srgbClr val="323232"/>
                </a:solidFill>
                <a:latin typeface="Avenir 35" panose="00000400000000000000" pitchFamily="2" charset="0"/>
              </a:rPr>
              <a:t>POSVENTA</a:t>
            </a:r>
          </a:p>
        </p:txBody>
      </p:sp>
      <p:pic>
        <p:nvPicPr>
          <p:cNvPr id="9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583" y="2958296"/>
            <a:ext cx="959288" cy="9127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8" name="117 CuadroTexto"/>
          <p:cNvSpPr txBox="1"/>
          <p:nvPr/>
        </p:nvSpPr>
        <p:spPr>
          <a:xfrm>
            <a:off x="3418598" y="2423108"/>
            <a:ext cx="530915" cy="215444"/>
          </a:xfrm>
          <a:prstGeom prst="rect">
            <a:avLst/>
          </a:prstGeom>
          <a:noFill/>
        </p:spPr>
        <p:txBody>
          <a:bodyPr wrap="none" rtlCol="0">
            <a:spAutoFit/>
          </a:bodyPr>
          <a:lstStyle/>
          <a:p>
            <a:pPr algn="ctr"/>
            <a:r>
              <a:rPr lang="es-ES" sz="800" dirty="0">
                <a:latin typeface="Avenir 35" panose="00000400000000000000" pitchFamily="2" charset="0"/>
              </a:rPr>
              <a:t>cookies</a:t>
            </a:r>
          </a:p>
        </p:txBody>
      </p:sp>
      <p:cxnSp>
        <p:nvCxnSpPr>
          <p:cNvPr id="211" name="210 Conector recto"/>
          <p:cNvCxnSpPr/>
          <p:nvPr/>
        </p:nvCxnSpPr>
        <p:spPr>
          <a:xfrm>
            <a:off x="1366690" y="2365996"/>
            <a:ext cx="6281" cy="3793641"/>
          </a:xfrm>
          <a:prstGeom prst="line">
            <a:avLst/>
          </a:prstGeom>
          <a:ln w="12700">
            <a:solidFill>
              <a:schemeClr val="bg1">
                <a:lumMod val="9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23" name="222 Conector recto"/>
          <p:cNvCxnSpPr/>
          <p:nvPr/>
        </p:nvCxnSpPr>
        <p:spPr>
          <a:xfrm>
            <a:off x="5265035" y="1810909"/>
            <a:ext cx="0" cy="3024327"/>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 name="1 Rectángulo"/>
          <p:cNvSpPr/>
          <p:nvPr/>
        </p:nvSpPr>
        <p:spPr>
          <a:xfrm>
            <a:off x="1598628" y="2171945"/>
            <a:ext cx="7848186" cy="6089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latin typeface="Avenir 35" panose="00000400000000000000" pitchFamily="2" charset="0"/>
            </a:endParaRPr>
          </a:p>
        </p:txBody>
      </p:sp>
      <p:pic>
        <p:nvPicPr>
          <p:cNvPr id="231"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7599" y="1882907"/>
            <a:ext cx="313352" cy="2936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3" name="232 CuadroTexto"/>
          <p:cNvSpPr txBox="1"/>
          <p:nvPr/>
        </p:nvSpPr>
        <p:spPr>
          <a:xfrm>
            <a:off x="1500356" y="2192914"/>
            <a:ext cx="1284327" cy="461665"/>
          </a:xfrm>
          <a:prstGeom prst="rect">
            <a:avLst/>
          </a:prstGeom>
          <a:solidFill>
            <a:srgbClr val="4BACC6"/>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Bimensual</a:t>
            </a:r>
          </a:p>
          <a:p>
            <a:r>
              <a:rPr lang="es-ES" dirty="0">
                <a:latin typeface="Avenir 35" panose="00000400000000000000" pitchFamily="2" charset="0"/>
              </a:rPr>
              <a:t>Newsletter</a:t>
            </a:r>
          </a:p>
          <a:p>
            <a:r>
              <a:rPr lang="es-ES" dirty="0">
                <a:latin typeface="Avenir 35" panose="00000400000000000000" pitchFamily="2" charset="0"/>
              </a:rPr>
              <a:t>Estrategia Contenidos</a:t>
            </a:r>
          </a:p>
        </p:txBody>
      </p:sp>
      <p:pic>
        <p:nvPicPr>
          <p:cNvPr id="234" name="Picture 1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33026" y="1976889"/>
            <a:ext cx="301823" cy="2786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3" name="Picture 1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08326" y="2261936"/>
            <a:ext cx="340519"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4" name="Picture 1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220710" y="2555564"/>
            <a:ext cx="315744" cy="291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5" name="244 CuadroTexto"/>
          <p:cNvSpPr txBox="1"/>
          <p:nvPr/>
        </p:nvSpPr>
        <p:spPr>
          <a:xfrm>
            <a:off x="2755062" y="2329042"/>
            <a:ext cx="332143" cy="215444"/>
          </a:xfrm>
          <a:prstGeom prst="rect">
            <a:avLst/>
          </a:prstGeom>
          <a:noFill/>
        </p:spPr>
        <p:txBody>
          <a:bodyPr wrap="none" rtlCol="0">
            <a:spAutoFit/>
          </a:bodyPr>
          <a:lstStyle/>
          <a:p>
            <a:pPr algn="ctr"/>
            <a:r>
              <a:rPr lang="es-ES" sz="800" dirty="0">
                <a:latin typeface="Avenir 35" panose="00000400000000000000" pitchFamily="2" charset="0"/>
              </a:rPr>
              <a:t>clic</a:t>
            </a:r>
          </a:p>
        </p:txBody>
      </p:sp>
      <p:sp>
        <p:nvSpPr>
          <p:cNvPr id="248" name="247 Abrir llave"/>
          <p:cNvSpPr/>
          <p:nvPr/>
        </p:nvSpPr>
        <p:spPr>
          <a:xfrm>
            <a:off x="2991154" y="1992702"/>
            <a:ext cx="235052" cy="870321"/>
          </a:xfrm>
          <a:prstGeom prst="lef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latin typeface="Avenir 35" panose="00000400000000000000" pitchFamily="2" charset="0"/>
            </a:endParaRPr>
          </a:p>
        </p:txBody>
      </p:sp>
      <p:cxnSp>
        <p:nvCxnSpPr>
          <p:cNvPr id="249" name="248 Conector recto de flecha"/>
          <p:cNvCxnSpPr/>
          <p:nvPr/>
        </p:nvCxnSpPr>
        <p:spPr>
          <a:xfrm flipV="1">
            <a:off x="3958766" y="2464424"/>
            <a:ext cx="5119449" cy="12012"/>
          </a:xfrm>
          <a:prstGeom prst="straightConnector1">
            <a:avLst/>
          </a:prstGeom>
          <a:ln w="57150">
            <a:solidFill>
              <a:srgbClr val="0086AC"/>
            </a:solidFill>
            <a:tailEnd type="arrow"/>
          </a:ln>
        </p:spPr>
        <p:style>
          <a:lnRef idx="1">
            <a:schemeClr val="accent1"/>
          </a:lnRef>
          <a:fillRef idx="0">
            <a:schemeClr val="accent1"/>
          </a:fillRef>
          <a:effectRef idx="0">
            <a:schemeClr val="accent1"/>
          </a:effectRef>
          <a:fontRef idx="minor">
            <a:schemeClr val="tx1"/>
          </a:fontRef>
        </p:style>
      </p:cxnSp>
      <p:sp>
        <p:nvSpPr>
          <p:cNvPr id="252" name="251 Rectángulo"/>
          <p:cNvSpPr/>
          <p:nvPr/>
        </p:nvSpPr>
        <p:spPr>
          <a:xfrm>
            <a:off x="1593428" y="3068960"/>
            <a:ext cx="7848186" cy="5362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latin typeface="Avenir 35" panose="00000400000000000000" pitchFamily="2" charset="0"/>
            </a:endParaRPr>
          </a:p>
        </p:txBody>
      </p:sp>
      <p:pic>
        <p:nvPicPr>
          <p:cNvPr id="254" name="253 Imagen"/>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459574" y="2966574"/>
            <a:ext cx="387193" cy="268057"/>
          </a:xfrm>
          <a:prstGeom prst="rect">
            <a:avLst/>
          </a:prstGeom>
        </p:spPr>
      </p:pic>
      <p:pic>
        <p:nvPicPr>
          <p:cNvPr id="259" name="Picture 2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531205" y="3205288"/>
            <a:ext cx="226821" cy="2093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0" name="259 CuadroTexto"/>
          <p:cNvSpPr txBox="1"/>
          <p:nvPr/>
        </p:nvSpPr>
        <p:spPr>
          <a:xfrm>
            <a:off x="1496616" y="3223549"/>
            <a:ext cx="761748" cy="307777"/>
          </a:xfrm>
          <a:prstGeom prst="rect">
            <a:avLst/>
          </a:prstGeom>
          <a:solidFill>
            <a:srgbClr val="4BACC6"/>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sz="700" dirty="0">
                <a:latin typeface="Avenir 35" panose="00000400000000000000" pitchFamily="2" charset="0"/>
              </a:rPr>
              <a:t>Estrategia </a:t>
            </a:r>
          </a:p>
          <a:p>
            <a:r>
              <a:rPr lang="es-ES" sz="700" dirty="0">
                <a:latin typeface="Avenir 35" panose="00000400000000000000" pitchFamily="2" charset="0"/>
              </a:rPr>
              <a:t>Contenidos</a:t>
            </a:r>
          </a:p>
        </p:txBody>
      </p:sp>
      <p:pic>
        <p:nvPicPr>
          <p:cNvPr id="261" name="Picture 2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547050" y="3414661"/>
            <a:ext cx="226821" cy="2093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2" name="261 Abrir llave"/>
          <p:cNvSpPr/>
          <p:nvPr/>
        </p:nvSpPr>
        <p:spPr>
          <a:xfrm>
            <a:off x="2299680" y="2937822"/>
            <a:ext cx="235052" cy="870321"/>
          </a:xfrm>
          <a:prstGeom prst="lef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latin typeface="Avenir 35" panose="00000400000000000000" pitchFamily="2" charset="0"/>
            </a:endParaRPr>
          </a:p>
        </p:txBody>
      </p:sp>
      <p:sp>
        <p:nvSpPr>
          <p:cNvPr id="263" name="262 Abrir llave"/>
          <p:cNvSpPr/>
          <p:nvPr/>
        </p:nvSpPr>
        <p:spPr>
          <a:xfrm>
            <a:off x="3251123" y="2956803"/>
            <a:ext cx="235052" cy="870321"/>
          </a:xfrm>
          <a:prstGeom prst="lef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latin typeface="Avenir 35" panose="00000400000000000000" pitchFamily="2" charset="0"/>
            </a:endParaRPr>
          </a:p>
        </p:txBody>
      </p:sp>
      <p:pic>
        <p:nvPicPr>
          <p:cNvPr id="264" name="Picture 1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79443" y="3003942"/>
            <a:ext cx="301823" cy="2786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5" name="Picture 1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67126" y="3332577"/>
            <a:ext cx="315744" cy="291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6" name="265 CuadroTexto"/>
          <p:cNvSpPr txBox="1"/>
          <p:nvPr/>
        </p:nvSpPr>
        <p:spPr>
          <a:xfrm>
            <a:off x="2865081" y="3223934"/>
            <a:ext cx="332143" cy="215444"/>
          </a:xfrm>
          <a:prstGeom prst="rect">
            <a:avLst/>
          </a:prstGeom>
          <a:noFill/>
        </p:spPr>
        <p:txBody>
          <a:bodyPr wrap="none" rtlCol="0">
            <a:spAutoFit/>
          </a:bodyPr>
          <a:lstStyle/>
          <a:p>
            <a:pPr algn="ctr"/>
            <a:r>
              <a:rPr lang="es-ES" sz="800" dirty="0">
                <a:latin typeface="Avenir 35" panose="00000400000000000000" pitchFamily="2" charset="0"/>
              </a:rPr>
              <a:t>clic</a:t>
            </a:r>
          </a:p>
        </p:txBody>
      </p:sp>
      <p:cxnSp>
        <p:nvCxnSpPr>
          <p:cNvPr id="267" name="266 Conector recto de flecha"/>
          <p:cNvCxnSpPr/>
          <p:nvPr/>
        </p:nvCxnSpPr>
        <p:spPr>
          <a:xfrm flipV="1">
            <a:off x="3968011" y="3323989"/>
            <a:ext cx="5119449" cy="12012"/>
          </a:xfrm>
          <a:prstGeom prst="straightConnector1">
            <a:avLst/>
          </a:prstGeom>
          <a:ln w="57150">
            <a:solidFill>
              <a:srgbClr val="0086AC"/>
            </a:solidFill>
            <a:tailEnd type="arrow"/>
          </a:ln>
        </p:spPr>
        <p:style>
          <a:lnRef idx="1">
            <a:schemeClr val="accent1"/>
          </a:lnRef>
          <a:fillRef idx="0">
            <a:schemeClr val="accent1"/>
          </a:fillRef>
          <a:effectRef idx="0">
            <a:schemeClr val="accent1"/>
          </a:effectRef>
          <a:fontRef idx="minor">
            <a:schemeClr val="tx1"/>
          </a:fontRef>
        </p:style>
      </p:cxnSp>
      <p:sp>
        <p:nvSpPr>
          <p:cNvPr id="268" name="267 CuadroTexto"/>
          <p:cNvSpPr txBox="1"/>
          <p:nvPr/>
        </p:nvSpPr>
        <p:spPr>
          <a:xfrm rot="5400000">
            <a:off x="8947991" y="2737923"/>
            <a:ext cx="1347401" cy="215444"/>
          </a:xfrm>
          <a:prstGeom prst="rect">
            <a:avLst/>
          </a:prstGeom>
          <a:solidFill>
            <a:srgbClr val="4BACC6"/>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dirty="0">
                <a:latin typeface="Avenir 35" panose="00000400000000000000" pitchFamily="2" charset="0"/>
              </a:rPr>
              <a:t>cookies</a:t>
            </a:r>
          </a:p>
        </p:txBody>
      </p:sp>
      <p:sp>
        <p:nvSpPr>
          <p:cNvPr id="271" name="270 CuadroTexto"/>
          <p:cNvSpPr txBox="1"/>
          <p:nvPr/>
        </p:nvSpPr>
        <p:spPr>
          <a:xfrm>
            <a:off x="1354093" y="1268760"/>
            <a:ext cx="788426" cy="461665"/>
          </a:xfrm>
          <a:prstGeom prst="rect">
            <a:avLst/>
          </a:prstGeom>
          <a:solidFill>
            <a:srgbClr val="4BACC6">
              <a:alpha val="30196"/>
            </a:srgbClr>
          </a:solidFill>
        </p:spPr>
        <p:txBody>
          <a:bodyPr wrap="square" rtlCol="0">
            <a:spAutoFit/>
          </a:bodyPr>
          <a:lstStyle/>
          <a:p>
            <a:pPr algn="ctr"/>
            <a:r>
              <a:rPr lang="es-ES" sz="800" dirty="0">
                <a:latin typeface="Avenir 35" panose="00000400000000000000" pitchFamily="2" charset="0"/>
              </a:rPr>
              <a:t>1 semana paso por taller</a:t>
            </a:r>
          </a:p>
        </p:txBody>
      </p:sp>
      <p:sp>
        <p:nvSpPr>
          <p:cNvPr id="274" name="273 Rectángulo"/>
          <p:cNvSpPr/>
          <p:nvPr/>
        </p:nvSpPr>
        <p:spPr>
          <a:xfrm>
            <a:off x="1568624" y="3936307"/>
            <a:ext cx="7848186" cy="6448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latin typeface="Avenir 35" panose="00000400000000000000" pitchFamily="2" charset="0"/>
            </a:endParaRPr>
          </a:p>
        </p:txBody>
      </p:sp>
      <p:sp>
        <p:nvSpPr>
          <p:cNvPr id="275" name="274 CuadroTexto"/>
          <p:cNvSpPr txBox="1"/>
          <p:nvPr/>
        </p:nvSpPr>
        <p:spPr>
          <a:xfrm>
            <a:off x="1475314" y="4005064"/>
            <a:ext cx="1608134" cy="523220"/>
          </a:xfrm>
          <a:prstGeom prst="rect">
            <a:avLst/>
          </a:prstGeom>
          <a:solidFill>
            <a:srgbClr val="4BACC6"/>
          </a:solidFill>
        </p:spPr>
        <p:txBody>
          <a:bodyPr wrap="square" rtlCol="0">
            <a:spAutoFit/>
          </a:bodyPr>
          <a:lstStyle>
            <a:defPPr>
              <a:defRPr lang="es-ES"/>
            </a:defPPr>
            <a:lvl1pPr algn="ctr">
              <a:defRPr sz="800">
                <a:solidFill>
                  <a:schemeClr val="bg1"/>
                </a:solidFill>
                <a:latin typeface="Century Gothic" panose="020B0502020202020204" pitchFamily="34" charset="0"/>
              </a:defRPr>
            </a:lvl1pPr>
          </a:lstStyle>
          <a:p>
            <a:r>
              <a:rPr lang="es-ES" sz="700" dirty="0">
                <a:latin typeface="Avenir 35" panose="00000400000000000000" pitchFamily="2" charset="0"/>
              </a:rPr>
              <a:t>Informativo</a:t>
            </a:r>
          </a:p>
          <a:p>
            <a:r>
              <a:rPr lang="es-ES" sz="700" dirty="0">
                <a:latin typeface="Avenir 35" panose="00000400000000000000" pitchFamily="2" charset="0"/>
              </a:rPr>
              <a:t>Ventajas taller MCB</a:t>
            </a:r>
          </a:p>
          <a:p>
            <a:r>
              <a:rPr lang="es-ES" sz="700" dirty="0">
                <a:latin typeface="Avenir 35" panose="00000400000000000000" pitchFamily="2" charset="0"/>
              </a:rPr>
              <a:t>Otros servicios posventa</a:t>
            </a:r>
          </a:p>
          <a:p>
            <a:r>
              <a:rPr lang="es-ES" sz="700" dirty="0">
                <a:latin typeface="Avenir 35" panose="00000400000000000000" pitchFamily="2" charset="0"/>
              </a:rPr>
              <a:t>Invitación eventos / pruebas</a:t>
            </a:r>
          </a:p>
        </p:txBody>
      </p:sp>
      <p:pic>
        <p:nvPicPr>
          <p:cNvPr id="277" name="276 Imagen"/>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258335" y="4114215"/>
            <a:ext cx="311014" cy="287091"/>
          </a:xfrm>
          <a:prstGeom prst="rect">
            <a:avLst/>
          </a:prstGeom>
        </p:spPr>
      </p:pic>
      <p:cxnSp>
        <p:nvCxnSpPr>
          <p:cNvPr id="278" name="277 Conector recto de flecha"/>
          <p:cNvCxnSpPr/>
          <p:nvPr/>
        </p:nvCxnSpPr>
        <p:spPr>
          <a:xfrm flipV="1">
            <a:off x="3958765" y="4260668"/>
            <a:ext cx="5119449" cy="12012"/>
          </a:xfrm>
          <a:prstGeom prst="straightConnector1">
            <a:avLst/>
          </a:prstGeom>
          <a:ln w="57150">
            <a:solidFill>
              <a:srgbClr val="0086AC"/>
            </a:solidFill>
            <a:tailEnd type="arrow"/>
          </a:ln>
        </p:spPr>
        <p:style>
          <a:lnRef idx="1">
            <a:schemeClr val="accent1"/>
          </a:lnRef>
          <a:fillRef idx="0">
            <a:schemeClr val="accent1"/>
          </a:fillRef>
          <a:effectRef idx="0">
            <a:schemeClr val="accent1"/>
          </a:effectRef>
          <a:fontRef idx="minor">
            <a:schemeClr val="tx1"/>
          </a:fontRef>
        </p:style>
      </p:cxnSp>
      <p:grpSp>
        <p:nvGrpSpPr>
          <p:cNvPr id="76" name="Group 167"/>
          <p:cNvGrpSpPr/>
          <p:nvPr/>
        </p:nvGrpSpPr>
        <p:grpSpPr>
          <a:xfrm>
            <a:off x="91140" y="5736839"/>
            <a:ext cx="1598025" cy="900000"/>
            <a:chOff x="-1" y="0"/>
            <a:chExt cx="2454742" cy="1382497"/>
          </a:xfrm>
        </p:grpSpPr>
        <p:sp>
          <p:nvSpPr>
            <p:cNvPr id="78" name="Shape 158"/>
            <p:cNvSpPr/>
            <p:nvPr/>
          </p:nvSpPr>
          <p:spPr>
            <a:xfrm>
              <a:off x="582396" y="163296"/>
              <a:ext cx="1801587" cy="1159329"/>
            </a:xfrm>
            <a:prstGeom prst="rect">
              <a:avLst/>
            </a:prstGeom>
            <a:gradFill flip="none" rotWithShape="1">
              <a:gsLst>
                <a:gs pos="0">
                  <a:srgbClr val="688FD0">
                    <a:alpha val="20000"/>
                  </a:srgbClr>
                </a:gs>
                <a:gs pos="100000">
                  <a:srgbClr val="688FD0">
                    <a:alpha val="14600"/>
                  </a:srgbClr>
                </a:gs>
              </a:gsLst>
              <a:lin ang="3600000" scaled="0"/>
            </a:gradFill>
            <a:ln w="3175" cap="flat">
              <a:solidFill>
                <a:srgbClr val="000000">
                  <a:alpha val="0"/>
                </a:srgbClr>
              </a:solidFill>
              <a:prstDash val="solid"/>
              <a:bevel/>
            </a:ln>
            <a:effectLst/>
          </p:spPr>
          <p:txBody>
            <a:bodyPr wrap="square" lIns="0" tIns="0" rIns="0" bIns="0" numCol="1" anchor="ctr">
              <a:noAutofit/>
            </a:bodyPr>
            <a:lstStyle/>
            <a:p>
              <a:pPr lvl="0">
                <a:defRPr>
                  <a:latin typeface="+mn-lt"/>
                  <a:ea typeface="+mn-ea"/>
                  <a:cs typeface="+mn-cs"/>
                  <a:sym typeface="Helvetica Neue"/>
                </a:defRPr>
              </a:pPr>
              <a:endParaRPr sz="1400" dirty="0">
                <a:latin typeface="Avenir 35" panose="00000400000000000000" pitchFamily="2" charset="0"/>
              </a:endParaRPr>
            </a:p>
          </p:txBody>
        </p:sp>
        <p:sp>
          <p:nvSpPr>
            <p:cNvPr id="79" name="Shape 159"/>
            <p:cNvSpPr/>
            <p:nvPr/>
          </p:nvSpPr>
          <p:spPr>
            <a:xfrm>
              <a:off x="408224" y="217724"/>
              <a:ext cx="1807030" cy="1164773"/>
            </a:xfrm>
            <a:prstGeom prst="rect">
              <a:avLst/>
            </a:prstGeom>
            <a:noFill/>
            <a:ln w="3175" cap="flat">
              <a:solidFill>
                <a:srgbClr val="66FF99"/>
              </a:solidFill>
              <a:custDash>
                <a:ds d="100000" sp="200000"/>
              </a:custDash>
              <a:bevel/>
            </a:ln>
            <a:effectLst/>
          </p:spPr>
          <p:txBody>
            <a:bodyPr wrap="square" lIns="0" tIns="0" rIns="0" bIns="0" numCol="1" anchor="ctr">
              <a:noAutofit/>
            </a:bodyPr>
            <a:lstStyle/>
            <a:p>
              <a:pPr lvl="0">
                <a:defRPr>
                  <a:latin typeface="+mn-lt"/>
                  <a:ea typeface="+mn-ea"/>
                  <a:cs typeface="+mn-cs"/>
                  <a:sym typeface="Helvetica Neue"/>
                </a:defRPr>
              </a:pPr>
              <a:endParaRPr sz="1400" dirty="0">
                <a:latin typeface="Avenir 35" panose="00000400000000000000" pitchFamily="2" charset="0"/>
              </a:endParaRPr>
            </a:p>
          </p:txBody>
        </p:sp>
        <p:sp>
          <p:nvSpPr>
            <p:cNvPr id="80" name="Shape 160"/>
            <p:cNvSpPr/>
            <p:nvPr/>
          </p:nvSpPr>
          <p:spPr>
            <a:xfrm>
              <a:off x="527967" y="108867"/>
              <a:ext cx="1801587" cy="1159330"/>
            </a:xfrm>
            <a:prstGeom prst="rect">
              <a:avLst/>
            </a:prstGeom>
            <a:solidFill>
              <a:srgbClr val="0097B7"/>
            </a:solidFill>
            <a:ln w="3175" cap="flat">
              <a:solidFill>
                <a:srgbClr val="0086AC">
                  <a:alpha val="0"/>
                </a:srgbClr>
              </a:solidFill>
              <a:prstDash val="solid"/>
              <a:bevel/>
            </a:ln>
            <a:effectLst/>
          </p:spPr>
          <p:txBody>
            <a:bodyPr wrap="square" lIns="0" tIns="0" rIns="0" bIns="0" numCol="1" anchor="ctr">
              <a:noAutofit/>
            </a:bodyPr>
            <a:lstStyle/>
            <a:p>
              <a:pPr lvl="0">
                <a:defRPr>
                  <a:latin typeface="+mn-lt"/>
                  <a:ea typeface="+mn-ea"/>
                  <a:cs typeface="+mn-cs"/>
                  <a:sym typeface="Helvetica Neue"/>
                </a:defRPr>
              </a:pPr>
              <a:endParaRPr sz="1400" dirty="0">
                <a:latin typeface="Avenir 35" panose="00000400000000000000" pitchFamily="2" charset="0"/>
              </a:endParaRPr>
            </a:p>
          </p:txBody>
        </p:sp>
        <p:grpSp>
          <p:nvGrpSpPr>
            <p:cNvPr id="81" name="Group 164"/>
            <p:cNvGrpSpPr/>
            <p:nvPr/>
          </p:nvGrpSpPr>
          <p:grpSpPr>
            <a:xfrm>
              <a:off x="905520" y="310869"/>
              <a:ext cx="1549221" cy="848791"/>
              <a:chOff x="7439" y="-18918"/>
              <a:chExt cx="1549219" cy="848790"/>
            </a:xfrm>
          </p:grpSpPr>
          <p:sp>
            <p:nvSpPr>
              <p:cNvPr id="83" name="Shape 161"/>
              <p:cNvSpPr/>
              <p:nvPr/>
            </p:nvSpPr>
            <p:spPr>
              <a:xfrm>
                <a:off x="16328" y="-18918"/>
                <a:ext cx="1540330" cy="260027"/>
              </a:xfrm>
              <a:prstGeom prst="rect">
                <a:avLst/>
              </a:prstGeom>
              <a:noFill/>
              <a:ln w="3175"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spAutoFit/>
              </a:bodyPr>
              <a:lstStyle>
                <a:lvl1pPr algn="l">
                  <a:defRPr sz="1400">
                    <a:solidFill>
                      <a:srgbClr val="FFFFFF"/>
                    </a:solidFill>
                    <a:latin typeface="Arial"/>
                    <a:ea typeface="Arial"/>
                    <a:cs typeface="Arial"/>
                    <a:sym typeface="Arial"/>
                  </a:defRPr>
                </a:lvl1pPr>
              </a:lstStyle>
              <a:p>
                <a:pPr lvl="0">
                  <a:defRPr sz="1800">
                    <a:solidFill>
                      <a:srgbClr val="000000"/>
                    </a:solidFill>
                  </a:defRPr>
                </a:pPr>
                <a:endParaRPr sz="1100" dirty="0">
                  <a:solidFill>
                    <a:srgbClr val="FFFFFF"/>
                  </a:solidFill>
                  <a:latin typeface="Avenir 35" panose="00000400000000000000" pitchFamily="2" charset="0"/>
                </a:endParaRPr>
              </a:p>
            </p:txBody>
          </p:sp>
          <p:sp>
            <p:nvSpPr>
              <p:cNvPr id="84" name="Shape 162"/>
              <p:cNvSpPr/>
              <p:nvPr/>
            </p:nvSpPr>
            <p:spPr>
              <a:xfrm>
                <a:off x="7439" y="357094"/>
                <a:ext cx="1297320" cy="472778"/>
              </a:xfrm>
              <a:prstGeom prst="rect">
                <a:avLst/>
              </a:prstGeom>
              <a:noFill/>
              <a:ln w="3175"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spAutoFit/>
              </a:bodyPr>
              <a:lstStyle>
                <a:lvl1pPr algn="l">
                  <a:defRPr sz="3000" b="1">
                    <a:solidFill>
                      <a:srgbClr val="FFFFFF"/>
                    </a:solidFill>
                    <a:latin typeface="Arial"/>
                    <a:ea typeface="Arial"/>
                    <a:cs typeface="Arial"/>
                    <a:sym typeface="Arial"/>
                  </a:defRPr>
                </a:lvl1pPr>
              </a:lstStyle>
              <a:p>
                <a:pPr lvl="0">
                  <a:defRPr sz="1800" b="0">
                    <a:solidFill>
                      <a:srgbClr val="000000"/>
                    </a:solidFill>
                  </a:defRPr>
                </a:pPr>
                <a:r>
                  <a:rPr lang="es-ES" sz="1000" b="0" dirty="0">
                    <a:solidFill>
                      <a:srgbClr val="FFFFFF"/>
                    </a:solidFill>
                    <a:latin typeface="Avenir 35" panose="00000400000000000000" pitchFamily="2" charset="0"/>
                  </a:rPr>
                  <a:t>ESTRATEGIA CRM</a:t>
                </a:r>
                <a:endParaRPr sz="1000" b="0" dirty="0">
                  <a:solidFill>
                    <a:srgbClr val="FFFFFF"/>
                  </a:solidFill>
                  <a:latin typeface="Avenir 35" panose="00000400000000000000" pitchFamily="2" charset="0"/>
                </a:endParaRPr>
              </a:p>
            </p:txBody>
          </p:sp>
        </p:grpSp>
        <p:sp>
          <p:nvSpPr>
            <p:cNvPr id="82" name="Shape 165"/>
            <p:cNvSpPr/>
            <p:nvPr/>
          </p:nvSpPr>
          <p:spPr>
            <a:xfrm>
              <a:off x="-1" y="0"/>
              <a:ext cx="816410" cy="81640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3175" cap="flat">
              <a:solidFill>
                <a:srgbClr val="66FF99"/>
              </a:solidFill>
              <a:custDash>
                <a:ds d="100000" sp="200000"/>
              </a:custDash>
              <a:bevel/>
            </a:ln>
            <a:effectLst/>
          </p:spPr>
          <p:txBody>
            <a:bodyPr wrap="square" lIns="0" tIns="0" rIns="0" bIns="0" numCol="1" anchor="ctr">
              <a:noAutofit/>
            </a:bodyPr>
            <a:lstStyle/>
            <a:p>
              <a:pPr lvl="0">
                <a:defRPr>
                  <a:latin typeface="+mn-lt"/>
                  <a:ea typeface="+mn-ea"/>
                  <a:cs typeface="+mn-cs"/>
                  <a:sym typeface="Helvetica Neue"/>
                </a:defRPr>
              </a:pPr>
              <a:endParaRPr sz="1400" dirty="0">
                <a:latin typeface="Avenir 35" panose="00000400000000000000" pitchFamily="2" charset="0"/>
              </a:endParaRPr>
            </a:p>
          </p:txBody>
        </p:sp>
      </p:grpSp>
      <p:sp>
        <p:nvSpPr>
          <p:cNvPr id="105" name="104 CuadroTexto"/>
          <p:cNvSpPr txBox="1"/>
          <p:nvPr/>
        </p:nvSpPr>
        <p:spPr>
          <a:xfrm>
            <a:off x="1622526" y="5794799"/>
            <a:ext cx="1451014" cy="646331"/>
          </a:xfrm>
          <a:prstGeom prst="rect">
            <a:avLst/>
          </a:prstGeom>
          <a:noFill/>
        </p:spPr>
        <p:txBody>
          <a:bodyPr wrap="square" rtlCol="0">
            <a:spAutoFit/>
          </a:bodyPr>
          <a:lstStyle/>
          <a:p>
            <a:r>
              <a:rPr lang="es-ES" sz="900" dirty="0">
                <a:latin typeface="Avenir 35" panose="00000400000000000000" pitchFamily="2" charset="0"/>
              </a:rPr>
              <a:t>Determinar la base de la estrategia relacional identificando los pilares básicos.  </a:t>
            </a:r>
          </a:p>
        </p:txBody>
      </p:sp>
      <p:grpSp>
        <p:nvGrpSpPr>
          <p:cNvPr id="85" name="84 Grupo"/>
          <p:cNvGrpSpPr>
            <a:grpSpLocks noChangeAspect="1"/>
          </p:cNvGrpSpPr>
          <p:nvPr/>
        </p:nvGrpSpPr>
        <p:grpSpPr>
          <a:xfrm>
            <a:off x="6595415" y="5736839"/>
            <a:ext cx="1540904" cy="900000"/>
            <a:chOff x="4123328" y="2933686"/>
            <a:chExt cx="2460185" cy="1436927"/>
          </a:xfrm>
        </p:grpSpPr>
        <p:grpSp>
          <p:nvGrpSpPr>
            <p:cNvPr id="86" name="Group 176"/>
            <p:cNvGrpSpPr/>
            <p:nvPr/>
          </p:nvGrpSpPr>
          <p:grpSpPr>
            <a:xfrm>
              <a:off x="4123328" y="2933686"/>
              <a:ext cx="2460185" cy="1436927"/>
              <a:chOff x="-1" y="0"/>
              <a:chExt cx="2460184" cy="1436925"/>
            </a:xfrm>
          </p:grpSpPr>
          <p:sp>
            <p:nvSpPr>
              <p:cNvPr id="89" name="Shape 168"/>
              <p:cNvSpPr/>
              <p:nvPr/>
            </p:nvSpPr>
            <p:spPr>
              <a:xfrm>
                <a:off x="582395" y="163296"/>
                <a:ext cx="1877788" cy="1224643"/>
              </a:xfrm>
              <a:prstGeom prst="rect">
                <a:avLst/>
              </a:prstGeom>
              <a:gradFill flip="none" rotWithShape="1">
                <a:gsLst>
                  <a:gs pos="0">
                    <a:srgbClr val="688FD0">
                      <a:alpha val="20000"/>
                    </a:srgbClr>
                  </a:gs>
                  <a:gs pos="100000">
                    <a:srgbClr val="688FD0">
                      <a:alpha val="14600"/>
                    </a:srgbClr>
                  </a:gs>
                </a:gsLst>
                <a:lin ang="3600000" scaled="0"/>
              </a:gradFill>
              <a:ln w="3175" cap="flat">
                <a:solidFill>
                  <a:srgbClr val="000000">
                    <a:alpha val="0"/>
                  </a:srgbClr>
                </a:solidFill>
                <a:prstDash val="solid"/>
                <a:bevel/>
              </a:ln>
              <a:effectLst/>
            </p:spPr>
            <p:txBody>
              <a:bodyPr wrap="square" lIns="0" tIns="0" rIns="0" bIns="0" numCol="1" anchor="ctr">
                <a:noAutofit/>
              </a:bodyPr>
              <a:lstStyle/>
              <a:p>
                <a:pPr lvl="0">
                  <a:defRPr>
                    <a:latin typeface="+mn-lt"/>
                    <a:ea typeface="+mn-ea"/>
                    <a:cs typeface="+mn-cs"/>
                    <a:sym typeface="Helvetica Neue"/>
                  </a:defRPr>
                </a:pPr>
                <a:endParaRPr sz="1400" dirty="0">
                  <a:latin typeface="Avenir 35" panose="00000400000000000000" pitchFamily="2" charset="0"/>
                </a:endParaRPr>
              </a:p>
            </p:txBody>
          </p:sp>
          <p:sp>
            <p:nvSpPr>
              <p:cNvPr id="90" name="Shape 169"/>
              <p:cNvSpPr/>
              <p:nvPr/>
            </p:nvSpPr>
            <p:spPr>
              <a:xfrm>
                <a:off x="945211" y="53160"/>
                <a:ext cx="1467355" cy="2"/>
              </a:xfrm>
              <a:prstGeom prst="line">
                <a:avLst/>
              </a:prstGeom>
              <a:noFill/>
              <a:ln w="3175" cap="flat">
                <a:solidFill>
                  <a:srgbClr val="FFFFFF"/>
                </a:solidFill>
                <a:prstDash val="solid"/>
                <a:bevel/>
              </a:ln>
              <a:effectLst/>
            </p:spPr>
            <p:txBody>
              <a:bodyPr wrap="square" lIns="0" tIns="0" rIns="0" bIns="0" numCol="1" anchor="t">
                <a:noAutofit/>
              </a:bodyPr>
              <a:lstStyle/>
              <a:p>
                <a:pPr lvl="0" algn="l" defTabSz="457200">
                  <a:defRPr sz="600">
                    <a:latin typeface="+mj-lt"/>
                    <a:ea typeface="+mj-ea"/>
                    <a:cs typeface="+mj-cs"/>
                    <a:sym typeface="Helvetica"/>
                  </a:defRPr>
                </a:pPr>
                <a:endParaRPr sz="400" dirty="0">
                  <a:latin typeface="Avenir 35" panose="00000400000000000000" pitchFamily="2" charset="0"/>
                </a:endParaRPr>
              </a:p>
            </p:txBody>
          </p:sp>
          <p:sp>
            <p:nvSpPr>
              <p:cNvPr id="91" name="Shape 170"/>
              <p:cNvSpPr/>
              <p:nvPr/>
            </p:nvSpPr>
            <p:spPr>
              <a:xfrm>
                <a:off x="408224" y="195953"/>
                <a:ext cx="1926773" cy="1240972"/>
              </a:xfrm>
              <a:prstGeom prst="rect">
                <a:avLst/>
              </a:prstGeom>
              <a:noFill/>
              <a:ln w="3175" cap="flat">
                <a:solidFill>
                  <a:srgbClr val="66FF99"/>
                </a:solidFill>
                <a:custDash>
                  <a:ds d="100000" sp="200000"/>
                </a:custDash>
                <a:bevel/>
              </a:ln>
              <a:effectLst/>
            </p:spPr>
            <p:txBody>
              <a:bodyPr wrap="square" lIns="0" tIns="0" rIns="0" bIns="0" numCol="1" anchor="ctr">
                <a:noAutofit/>
              </a:bodyPr>
              <a:lstStyle/>
              <a:p>
                <a:pPr lvl="0">
                  <a:defRPr>
                    <a:latin typeface="+mn-lt"/>
                    <a:ea typeface="+mn-ea"/>
                    <a:cs typeface="+mn-cs"/>
                    <a:sym typeface="Helvetica Neue"/>
                  </a:defRPr>
                </a:pPr>
                <a:endParaRPr sz="1400" dirty="0">
                  <a:latin typeface="Avenir 35" panose="00000400000000000000" pitchFamily="2" charset="0"/>
                </a:endParaRPr>
              </a:p>
            </p:txBody>
          </p:sp>
          <p:sp>
            <p:nvSpPr>
              <p:cNvPr id="92" name="Shape 171"/>
              <p:cNvSpPr/>
              <p:nvPr/>
            </p:nvSpPr>
            <p:spPr>
              <a:xfrm>
                <a:off x="527967" y="108867"/>
                <a:ext cx="1884599" cy="1224644"/>
              </a:xfrm>
              <a:prstGeom prst="rect">
                <a:avLst/>
              </a:prstGeom>
              <a:solidFill>
                <a:srgbClr val="3CB2C3"/>
              </a:solidFill>
              <a:ln w="3175" cap="flat">
                <a:solidFill>
                  <a:srgbClr val="000000">
                    <a:alpha val="0"/>
                  </a:srgbClr>
                </a:solidFill>
                <a:prstDash val="solid"/>
                <a:bevel/>
              </a:ln>
              <a:effectLst/>
            </p:spPr>
            <p:txBody>
              <a:bodyPr wrap="square" lIns="0" tIns="0" rIns="0" bIns="0" numCol="1" anchor="ctr">
                <a:noAutofit/>
              </a:bodyPr>
              <a:lstStyle/>
              <a:p>
                <a:pPr lvl="0">
                  <a:defRPr>
                    <a:latin typeface="+mn-lt"/>
                    <a:ea typeface="+mn-ea"/>
                    <a:cs typeface="+mn-cs"/>
                    <a:sym typeface="Helvetica Neue"/>
                  </a:defRPr>
                </a:pPr>
                <a:endParaRPr sz="1400" dirty="0">
                  <a:latin typeface="Avenir 35" panose="00000400000000000000" pitchFamily="2" charset="0"/>
                </a:endParaRPr>
              </a:p>
            </p:txBody>
          </p:sp>
          <p:sp>
            <p:nvSpPr>
              <p:cNvPr id="93" name="Shape 172"/>
              <p:cNvSpPr/>
              <p:nvPr/>
            </p:nvSpPr>
            <p:spPr>
              <a:xfrm>
                <a:off x="-1" y="0"/>
                <a:ext cx="816410" cy="81640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3175" cap="flat">
                <a:solidFill>
                  <a:srgbClr val="66FF99"/>
                </a:solidFill>
                <a:custDash>
                  <a:ds d="100000" sp="200000"/>
                </a:custDash>
                <a:bevel/>
              </a:ln>
              <a:effectLst/>
            </p:spPr>
            <p:txBody>
              <a:bodyPr wrap="square" lIns="0" tIns="0" rIns="0" bIns="0" numCol="1" anchor="ctr">
                <a:noAutofit/>
              </a:bodyPr>
              <a:lstStyle/>
              <a:p>
                <a:pPr lvl="0">
                  <a:defRPr>
                    <a:latin typeface="+mn-lt"/>
                    <a:ea typeface="+mn-ea"/>
                    <a:cs typeface="+mn-cs"/>
                    <a:sym typeface="Helvetica Neue"/>
                  </a:defRPr>
                </a:pPr>
                <a:endParaRPr sz="1400" dirty="0">
                  <a:latin typeface="Avenir 35" panose="00000400000000000000" pitchFamily="2" charset="0"/>
                </a:endParaRPr>
              </a:p>
            </p:txBody>
          </p:sp>
        </p:grpSp>
        <p:sp>
          <p:nvSpPr>
            <p:cNvPr id="88" name="Shape 162"/>
            <p:cNvSpPr/>
            <p:nvPr/>
          </p:nvSpPr>
          <p:spPr>
            <a:xfrm>
              <a:off x="5012139" y="3879138"/>
              <a:ext cx="1496355" cy="245695"/>
            </a:xfrm>
            <a:prstGeom prst="rect">
              <a:avLst/>
            </a:prstGeom>
            <a:noFill/>
            <a:ln w="3175"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spAutoFit/>
            </a:bodyPr>
            <a:lstStyle>
              <a:lvl1pPr algn="l">
                <a:defRPr sz="3000" b="1">
                  <a:solidFill>
                    <a:srgbClr val="FFFFFF"/>
                  </a:solidFill>
                  <a:latin typeface="Arial"/>
                  <a:ea typeface="Arial"/>
                  <a:cs typeface="Arial"/>
                  <a:sym typeface="Arial"/>
                </a:defRPr>
              </a:lvl1pPr>
            </a:lstStyle>
            <a:p>
              <a:pPr lvl="0">
                <a:defRPr sz="1800" b="0">
                  <a:solidFill>
                    <a:srgbClr val="000000"/>
                  </a:solidFill>
                </a:defRPr>
              </a:pPr>
              <a:r>
                <a:rPr lang="es-ES" sz="1000" b="0" dirty="0">
                  <a:solidFill>
                    <a:srgbClr val="FFFFFF"/>
                  </a:solidFill>
                  <a:latin typeface="Avenir 35" panose="00000400000000000000" pitchFamily="2" charset="0"/>
                </a:rPr>
                <a:t>RELACIÓN</a:t>
              </a:r>
              <a:endParaRPr sz="1000" b="0" dirty="0">
                <a:solidFill>
                  <a:srgbClr val="FFFFFF"/>
                </a:solidFill>
                <a:latin typeface="Avenir 35" panose="00000400000000000000" pitchFamily="2" charset="0"/>
              </a:endParaRPr>
            </a:p>
          </p:txBody>
        </p:sp>
      </p:grpSp>
      <p:pic>
        <p:nvPicPr>
          <p:cNvPr id="104" name="103 Imagen"/>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814788" y="5977311"/>
            <a:ext cx="222626" cy="222626"/>
          </a:xfrm>
          <a:prstGeom prst="rect">
            <a:avLst/>
          </a:prstGeom>
        </p:spPr>
      </p:pic>
      <p:sp>
        <p:nvSpPr>
          <p:cNvPr id="106" name="105 CuadroTexto"/>
          <p:cNvSpPr txBox="1"/>
          <p:nvPr/>
        </p:nvSpPr>
        <p:spPr>
          <a:xfrm>
            <a:off x="8123871" y="5777727"/>
            <a:ext cx="1691222" cy="646331"/>
          </a:xfrm>
          <a:prstGeom prst="rect">
            <a:avLst/>
          </a:prstGeom>
          <a:noFill/>
        </p:spPr>
        <p:txBody>
          <a:bodyPr wrap="square" rtlCol="0">
            <a:spAutoFit/>
          </a:bodyPr>
          <a:lstStyle>
            <a:defPPr>
              <a:defRPr lang="es-ES"/>
            </a:defPPr>
            <a:lvl1pPr>
              <a:defRPr sz="900">
                <a:latin typeface="Century Gothic" panose="020B0502020202020204" pitchFamily="34" charset="0"/>
              </a:defRPr>
            </a:lvl1pPr>
          </a:lstStyle>
          <a:p>
            <a:r>
              <a:rPr lang="es-ES" b="1" dirty="0">
                <a:latin typeface="Avenir 35" panose="00000400000000000000" pitchFamily="2" charset="0"/>
              </a:rPr>
              <a:t>Customer Centric</a:t>
            </a:r>
            <a:r>
              <a:rPr lang="es-ES" dirty="0">
                <a:latin typeface="Avenir 35" panose="00000400000000000000" pitchFamily="2" charset="0"/>
              </a:rPr>
              <a:t>: Desarrollar contenido específico para los distintos segmentos de cliente identificados</a:t>
            </a:r>
          </a:p>
        </p:txBody>
      </p:sp>
      <p:grpSp>
        <p:nvGrpSpPr>
          <p:cNvPr id="94" name="93 Grupo"/>
          <p:cNvGrpSpPr>
            <a:grpSpLocks noChangeAspect="1"/>
          </p:cNvGrpSpPr>
          <p:nvPr/>
        </p:nvGrpSpPr>
        <p:grpSpPr>
          <a:xfrm>
            <a:off x="3403813" y="5736839"/>
            <a:ext cx="1493178" cy="900000"/>
            <a:chOff x="4276246" y="4797154"/>
            <a:chExt cx="2383986" cy="1436927"/>
          </a:xfrm>
        </p:grpSpPr>
        <p:grpSp>
          <p:nvGrpSpPr>
            <p:cNvPr id="95" name="Group 185"/>
            <p:cNvGrpSpPr/>
            <p:nvPr/>
          </p:nvGrpSpPr>
          <p:grpSpPr>
            <a:xfrm>
              <a:off x="4276246" y="4797154"/>
              <a:ext cx="2383986" cy="1436927"/>
              <a:chOff x="-1" y="0"/>
              <a:chExt cx="2383984" cy="1436925"/>
            </a:xfrm>
          </p:grpSpPr>
          <p:sp>
            <p:nvSpPr>
              <p:cNvPr id="99" name="Shape 177"/>
              <p:cNvSpPr/>
              <p:nvPr/>
            </p:nvSpPr>
            <p:spPr>
              <a:xfrm>
                <a:off x="582396" y="163296"/>
                <a:ext cx="1801587" cy="1224643"/>
              </a:xfrm>
              <a:prstGeom prst="rect">
                <a:avLst/>
              </a:prstGeom>
              <a:gradFill flip="none" rotWithShape="1">
                <a:gsLst>
                  <a:gs pos="0">
                    <a:srgbClr val="688FD0">
                      <a:alpha val="20000"/>
                    </a:srgbClr>
                  </a:gs>
                  <a:gs pos="100000">
                    <a:srgbClr val="688FD0">
                      <a:alpha val="14600"/>
                    </a:srgbClr>
                  </a:gs>
                </a:gsLst>
                <a:lin ang="3600000" scaled="0"/>
              </a:gradFill>
              <a:ln w="3175" cap="flat">
                <a:solidFill>
                  <a:srgbClr val="000000">
                    <a:alpha val="0"/>
                  </a:srgbClr>
                </a:solidFill>
                <a:prstDash val="solid"/>
                <a:bevel/>
              </a:ln>
              <a:effectLst/>
            </p:spPr>
            <p:txBody>
              <a:bodyPr wrap="square" lIns="0" tIns="0" rIns="0" bIns="0" numCol="1" anchor="ctr">
                <a:noAutofit/>
              </a:bodyPr>
              <a:lstStyle/>
              <a:p>
                <a:pPr lvl="0">
                  <a:defRPr>
                    <a:latin typeface="+mn-lt"/>
                    <a:ea typeface="+mn-ea"/>
                    <a:cs typeface="+mn-cs"/>
                    <a:sym typeface="Helvetica Neue"/>
                  </a:defRPr>
                </a:pPr>
                <a:endParaRPr sz="1400" dirty="0">
                  <a:latin typeface="Avenir 35" panose="00000400000000000000" pitchFamily="2" charset="0"/>
                </a:endParaRPr>
              </a:p>
            </p:txBody>
          </p:sp>
          <p:sp>
            <p:nvSpPr>
              <p:cNvPr id="100" name="Shape 178"/>
              <p:cNvSpPr/>
              <p:nvPr/>
            </p:nvSpPr>
            <p:spPr>
              <a:xfrm>
                <a:off x="408224" y="195953"/>
                <a:ext cx="1807030" cy="1240972"/>
              </a:xfrm>
              <a:prstGeom prst="rect">
                <a:avLst/>
              </a:prstGeom>
              <a:noFill/>
              <a:ln w="3175" cap="flat">
                <a:solidFill>
                  <a:srgbClr val="66FF99"/>
                </a:solidFill>
                <a:custDash>
                  <a:ds d="100000" sp="200000"/>
                </a:custDash>
                <a:bevel/>
              </a:ln>
              <a:effectLst/>
            </p:spPr>
            <p:txBody>
              <a:bodyPr wrap="square" lIns="0" tIns="0" rIns="0" bIns="0" numCol="1" anchor="ctr">
                <a:noAutofit/>
              </a:bodyPr>
              <a:lstStyle/>
              <a:p>
                <a:pPr lvl="0">
                  <a:defRPr>
                    <a:latin typeface="+mn-lt"/>
                    <a:ea typeface="+mn-ea"/>
                    <a:cs typeface="+mn-cs"/>
                    <a:sym typeface="Helvetica Neue"/>
                  </a:defRPr>
                </a:pPr>
                <a:endParaRPr sz="1400" dirty="0">
                  <a:latin typeface="Avenir 35" panose="00000400000000000000" pitchFamily="2" charset="0"/>
                </a:endParaRPr>
              </a:p>
            </p:txBody>
          </p:sp>
          <p:sp>
            <p:nvSpPr>
              <p:cNvPr id="101" name="Shape 179"/>
              <p:cNvSpPr/>
              <p:nvPr/>
            </p:nvSpPr>
            <p:spPr>
              <a:xfrm>
                <a:off x="527967" y="108867"/>
                <a:ext cx="1801587" cy="1224644"/>
              </a:xfrm>
              <a:prstGeom prst="rect">
                <a:avLst/>
              </a:prstGeom>
              <a:solidFill>
                <a:srgbClr val="3CB2C3"/>
              </a:solidFill>
              <a:ln w="3175" cap="flat">
                <a:solidFill>
                  <a:srgbClr val="000000">
                    <a:alpha val="0"/>
                  </a:srgbClr>
                </a:solidFill>
                <a:prstDash val="solid"/>
                <a:bevel/>
              </a:ln>
              <a:effectLst/>
            </p:spPr>
            <p:txBody>
              <a:bodyPr wrap="square" lIns="0" tIns="0" rIns="0" bIns="0" numCol="1" anchor="ctr">
                <a:noAutofit/>
              </a:bodyPr>
              <a:lstStyle/>
              <a:p>
                <a:pPr lvl="0">
                  <a:defRPr>
                    <a:latin typeface="+mn-lt"/>
                    <a:ea typeface="+mn-ea"/>
                    <a:cs typeface="+mn-cs"/>
                    <a:sym typeface="Helvetica Neue"/>
                  </a:defRPr>
                </a:pPr>
                <a:endParaRPr sz="1400" dirty="0">
                  <a:latin typeface="Avenir 35" panose="00000400000000000000" pitchFamily="2" charset="0"/>
                </a:endParaRPr>
              </a:p>
            </p:txBody>
          </p:sp>
          <p:sp>
            <p:nvSpPr>
              <p:cNvPr id="102" name="Shape 180"/>
              <p:cNvSpPr/>
              <p:nvPr/>
            </p:nvSpPr>
            <p:spPr>
              <a:xfrm>
                <a:off x="-1" y="0"/>
                <a:ext cx="816410" cy="81640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3175" cap="flat">
                <a:solidFill>
                  <a:srgbClr val="66FF99"/>
                </a:solidFill>
                <a:custDash>
                  <a:ds d="100000" sp="200000"/>
                </a:custDash>
                <a:bevel/>
              </a:ln>
              <a:effectLst/>
            </p:spPr>
            <p:txBody>
              <a:bodyPr wrap="square" lIns="0" tIns="0" rIns="0" bIns="0" numCol="1" anchor="ctr">
                <a:noAutofit/>
              </a:bodyPr>
              <a:lstStyle/>
              <a:p>
                <a:pPr lvl="0">
                  <a:defRPr>
                    <a:latin typeface="+mn-lt"/>
                    <a:ea typeface="+mn-ea"/>
                    <a:cs typeface="+mn-cs"/>
                    <a:sym typeface="Helvetica Neue"/>
                  </a:defRPr>
                </a:pPr>
                <a:endParaRPr sz="1400" dirty="0">
                  <a:latin typeface="Avenir 35" panose="00000400000000000000" pitchFamily="2" charset="0"/>
                </a:endParaRPr>
              </a:p>
            </p:txBody>
          </p:sp>
        </p:grpSp>
        <p:sp>
          <p:nvSpPr>
            <p:cNvPr id="98" name="Shape 162"/>
            <p:cNvSpPr/>
            <p:nvPr/>
          </p:nvSpPr>
          <p:spPr>
            <a:xfrm>
              <a:off x="4965561" y="5670512"/>
              <a:ext cx="1496355" cy="257981"/>
            </a:xfrm>
            <a:prstGeom prst="rect">
              <a:avLst/>
            </a:prstGeom>
            <a:noFill/>
            <a:ln w="3175"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spAutoFit/>
            </a:bodyPr>
            <a:lstStyle>
              <a:lvl1pPr algn="l">
                <a:defRPr sz="3000" b="1">
                  <a:solidFill>
                    <a:srgbClr val="FFFFFF"/>
                  </a:solidFill>
                  <a:latin typeface="Arial"/>
                  <a:ea typeface="Arial"/>
                  <a:cs typeface="Arial"/>
                  <a:sym typeface="Arial"/>
                </a:defRPr>
              </a:lvl1pPr>
            </a:lstStyle>
            <a:p>
              <a:pPr lvl="0">
                <a:defRPr sz="1800" b="0">
                  <a:solidFill>
                    <a:srgbClr val="000000"/>
                  </a:solidFill>
                </a:defRPr>
              </a:pPr>
              <a:r>
                <a:rPr lang="es-ES" sz="1050" b="0" dirty="0">
                  <a:solidFill>
                    <a:srgbClr val="FFFFFF"/>
                  </a:solidFill>
                  <a:latin typeface="Avenir 35" panose="00000400000000000000" pitchFamily="2" charset="0"/>
                </a:rPr>
                <a:t>FIDELIZACIÓN</a:t>
              </a:r>
              <a:endParaRPr sz="1050" b="0" dirty="0">
                <a:solidFill>
                  <a:srgbClr val="FFFFFF"/>
                </a:solidFill>
                <a:latin typeface="Avenir 35" panose="00000400000000000000" pitchFamily="2" charset="0"/>
              </a:endParaRPr>
            </a:p>
          </p:txBody>
        </p:sp>
      </p:grpSp>
      <p:sp>
        <p:nvSpPr>
          <p:cNvPr id="107" name="106 CuadroTexto"/>
          <p:cNvSpPr txBox="1"/>
          <p:nvPr/>
        </p:nvSpPr>
        <p:spPr>
          <a:xfrm>
            <a:off x="4852287" y="5800607"/>
            <a:ext cx="1412856" cy="646331"/>
          </a:xfrm>
          <a:prstGeom prst="rect">
            <a:avLst/>
          </a:prstGeom>
          <a:noFill/>
        </p:spPr>
        <p:txBody>
          <a:bodyPr wrap="square" rtlCol="0">
            <a:spAutoFit/>
          </a:bodyPr>
          <a:lstStyle>
            <a:defPPr>
              <a:defRPr lang="es-ES"/>
            </a:defPPr>
            <a:lvl1pPr>
              <a:defRPr sz="900">
                <a:latin typeface="Century Gothic" panose="020B0502020202020204" pitchFamily="34" charset="0"/>
              </a:defRPr>
            </a:lvl1pPr>
          </a:lstStyle>
          <a:p>
            <a:r>
              <a:rPr lang="es-ES" dirty="0">
                <a:latin typeface="Avenir 35" panose="00000400000000000000" pitchFamily="2" charset="0"/>
              </a:rPr>
              <a:t>Establecer un modelo de relación para los distintos segmentos de cliente identificados</a:t>
            </a:r>
          </a:p>
        </p:txBody>
      </p:sp>
      <p:sp>
        <p:nvSpPr>
          <p:cNvPr id="110" name="109 Abrir llave"/>
          <p:cNvSpPr/>
          <p:nvPr/>
        </p:nvSpPr>
        <p:spPr>
          <a:xfrm>
            <a:off x="1255445" y="2096253"/>
            <a:ext cx="235052" cy="2556883"/>
          </a:xfrm>
          <a:prstGeom prst="lef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latin typeface="Avenir 35" panose="00000400000000000000" pitchFamily="2" charset="0"/>
            </a:endParaRPr>
          </a:p>
        </p:txBody>
      </p:sp>
      <p:sp>
        <p:nvSpPr>
          <p:cNvPr id="113" name="112 Rectángulo"/>
          <p:cNvSpPr/>
          <p:nvPr/>
        </p:nvSpPr>
        <p:spPr>
          <a:xfrm>
            <a:off x="104428" y="5373216"/>
            <a:ext cx="9697145" cy="241023"/>
          </a:xfrm>
          <a:prstGeom prst="rect">
            <a:avLst/>
          </a:prstGeom>
          <a:solidFill>
            <a:srgbClr val="32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latin typeface="Avenir 35" panose="00000400000000000000" pitchFamily="2" charset="0"/>
              </a:rPr>
              <a:t>Cambio a Visión Customer Centric…</a:t>
            </a:r>
          </a:p>
        </p:txBody>
      </p:sp>
      <p:sp>
        <p:nvSpPr>
          <p:cNvPr id="111" name="Freeform 151"/>
          <p:cNvSpPr>
            <a:spLocks noEditPoints="1"/>
          </p:cNvSpPr>
          <p:nvPr/>
        </p:nvSpPr>
        <p:spPr bwMode="auto">
          <a:xfrm>
            <a:off x="227097" y="5875808"/>
            <a:ext cx="282989" cy="283829"/>
          </a:xfrm>
          <a:custGeom>
            <a:avLst/>
            <a:gdLst>
              <a:gd name="T0" fmla="*/ 92 w 185"/>
              <a:gd name="T1" fmla="*/ 0 h 186"/>
              <a:gd name="T2" fmla="*/ 0 w 185"/>
              <a:gd name="T3" fmla="*/ 93 h 186"/>
              <a:gd name="T4" fmla="*/ 92 w 185"/>
              <a:gd name="T5" fmla="*/ 186 h 186"/>
              <a:gd name="T6" fmla="*/ 185 w 185"/>
              <a:gd name="T7" fmla="*/ 93 h 186"/>
              <a:gd name="T8" fmla="*/ 92 w 185"/>
              <a:gd name="T9" fmla="*/ 0 h 186"/>
              <a:gd name="T10" fmla="*/ 92 w 185"/>
              <a:gd name="T11" fmla="*/ 178 h 186"/>
              <a:gd name="T12" fmla="*/ 37 w 185"/>
              <a:gd name="T13" fmla="*/ 157 h 186"/>
              <a:gd name="T14" fmla="*/ 67 w 185"/>
              <a:gd name="T15" fmla="*/ 139 h 186"/>
              <a:gd name="T16" fmla="*/ 80 w 185"/>
              <a:gd name="T17" fmla="*/ 108 h 186"/>
              <a:gd name="T18" fmla="*/ 77 w 185"/>
              <a:gd name="T19" fmla="*/ 101 h 186"/>
              <a:gd name="T20" fmla="*/ 67 w 185"/>
              <a:gd name="T21" fmla="*/ 63 h 186"/>
              <a:gd name="T22" fmla="*/ 88 w 185"/>
              <a:gd name="T23" fmla="*/ 37 h 186"/>
              <a:gd name="T24" fmla="*/ 101 w 185"/>
              <a:gd name="T25" fmla="*/ 35 h 186"/>
              <a:gd name="T26" fmla="*/ 105 w 185"/>
              <a:gd name="T27" fmla="*/ 34 h 186"/>
              <a:gd name="T28" fmla="*/ 122 w 185"/>
              <a:gd name="T29" fmla="*/ 64 h 186"/>
              <a:gd name="T30" fmla="*/ 113 w 185"/>
              <a:gd name="T31" fmla="*/ 100 h 186"/>
              <a:gd name="T32" fmla="*/ 109 w 185"/>
              <a:gd name="T33" fmla="*/ 108 h 186"/>
              <a:gd name="T34" fmla="*/ 107 w 185"/>
              <a:gd name="T35" fmla="*/ 124 h 186"/>
              <a:gd name="T36" fmla="*/ 126 w 185"/>
              <a:gd name="T37" fmla="*/ 141 h 186"/>
              <a:gd name="T38" fmla="*/ 148 w 185"/>
              <a:gd name="T39" fmla="*/ 157 h 186"/>
              <a:gd name="T40" fmla="*/ 92 w 185"/>
              <a:gd name="T41" fmla="*/ 178 h 186"/>
              <a:gd name="T42" fmla="*/ 154 w 185"/>
              <a:gd name="T43" fmla="*/ 151 h 186"/>
              <a:gd name="T44" fmla="*/ 129 w 185"/>
              <a:gd name="T45" fmla="*/ 133 h 186"/>
              <a:gd name="T46" fmla="*/ 115 w 185"/>
              <a:gd name="T47" fmla="*/ 121 h 186"/>
              <a:gd name="T48" fmla="*/ 117 w 185"/>
              <a:gd name="T49" fmla="*/ 111 h 186"/>
              <a:gd name="T50" fmla="*/ 121 w 185"/>
              <a:gd name="T51" fmla="*/ 104 h 186"/>
              <a:gd name="T52" fmla="*/ 130 w 185"/>
              <a:gd name="T53" fmla="*/ 64 h 186"/>
              <a:gd name="T54" fmla="*/ 105 w 185"/>
              <a:gd name="T55" fmla="*/ 26 h 186"/>
              <a:gd name="T56" fmla="*/ 98 w 185"/>
              <a:gd name="T57" fmla="*/ 27 h 186"/>
              <a:gd name="T58" fmla="*/ 88 w 185"/>
              <a:gd name="T59" fmla="*/ 29 h 186"/>
              <a:gd name="T60" fmla="*/ 59 w 185"/>
              <a:gd name="T61" fmla="*/ 63 h 186"/>
              <a:gd name="T62" fmla="*/ 69 w 185"/>
              <a:gd name="T63" fmla="*/ 105 h 186"/>
              <a:gd name="T64" fmla="*/ 73 w 185"/>
              <a:gd name="T65" fmla="*/ 111 h 186"/>
              <a:gd name="T66" fmla="*/ 63 w 185"/>
              <a:gd name="T67" fmla="*/ 131 h 186"/>
              <a:gd name="T68" fmla="*/ 31 w 185"/>
              <a:gd name="T69" fmla="*/ 151 h 186"/>
              <a:gd name="T70" fmla="*/ 8 w 185"/>
              <a:gd name="T71" fmla="*/ 93 h 186"/>
              <a:gd name="T72" fmla="*/ 92 w 185"/>
              <a:gd name="T73" fmla="*/ 9 h 186"/>
              <a:gd name="T74" fmla="*/ 177 w 185"/>
              <a:gd name="T75" fmla="*/ 93 h 186"/>
              <a:gd name="T76" fmla="*/ 154 w 185"/>
              <a:gd name="T77" fmla="*/ 15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5" h="186">
                <a:moveTo>
                  <a:pt x="92" y="0"/>
                </a:moveTo>
                <a:cubicBezTo>
                  <a:pt x="41" y="0"/>
                  <a:pt x="0" y="42"/>
                  <a:pt x="0" y="93"/>
                </a:cubicBezTo>
                <a:cubicBezTo>
                  <a:pt x="0" y="145"/>
                  <a:pt x="41" y="186"/>
                  <a:pt x="92" y="186"/>
                </a:cubicBezTo>
                <a:cubicBezTo>
                  <a:pt x="144" y="186"/>
                  <a:pt x="185" y="145"/>
                  <a:pt x="185" y="93"/>
                </a:cubicBezTo>
                <a:cubicBezTo>
                  <a:pt x="185" y="42"/>
                  <a:pt x="144" y="0"/>
                  <a:pt x="92" y="0"/>
                </a:cubicBezTo>
                <a:close/>
                <a:moveTo>
                  <a:pt x="92" y="178"/>
                </a:moveTo>
                <a:cubicBezTo>
                  <a:pt x="71" y="178"/>
                  <a:pt x="52" y="170"/>
                  <a:pt x="37" y="157"/>
                </a:cubicBezTo>
                <a:cubicBezTo>
                  <a:pt x="49" y="147"/>
                  <a:pt x="54" y="145"/>
                  <a:pt x="67" y="139"/>
                </a:cubicBezTo>
                <a:cubicBezTo>
                  <a:pt x="81" y="133"/>
                  <a:pt x="86" y="121"/>
                  <a:pt x="80" y="108"/>
                </a:cubicBezTo>
                <a:cubicBezTo>
                  <a:pt x="79" y="105"/>
                  <a:pt x="78" y="103"/>
                  <a:pt x="77" y="101"/>
                </a:cubicBezTo>
                <a:cubicBezTo>
                  <a:pt x="72" y="93"/>
                  <a:pt x="67" y="84"/>
                  <a:pt x="67" y="63"/>
                </a:cubicBezTo>
                <a:cubicBezTo>
                  <a:pt x="67" y="38"/>
                  <a:pt x="79" y="38"/>
                  <a:pt x="88" y="37"/>
                </a:cubicBezTo>
                <a:cubicBezTo>
                  <a:pt x="95" y="37"/>
                  <a:pt x="98" y="36"/>
                  <a:pt x="101" y="35"/>
                </a:cubicBezTo>
                <a:cubicBezTo>
                  <a:pt x="102" y="35"/>
                  <a:pt x="103" y="34"/>
                  <a:pt x="105" y="34"/>
                </a:cubicBezTo>
                <a:cubicBezTo>
                  <a:pt x="113" y="34"/>
                  <a:pt x="122" y="42"/>
                  <a:pt x="122" y="64"/>
                </a:cubicBezTo>
                <a:cubicBezTo>
                  <a:pt x="122" y="85"/>
                  <a:pt x="118" y="91"/>
                  <a:pt x="113" y="100"/>
                </a:cubicBezTo>
                <a:cubicBezTo>
                  <a:pt x="112" y="102"/>
                  <a:pt x="111" y="105"/>
                  <a:pt x="109" y="108"/>
                </a:cubicBezTo>
                <a:cubicBezTo>
                  <a:pt x="106" y="114"/>
                  <a:pt x="106" y="119"/>
                  <a:pt x="107" y="124"/>
                </a:cubicBezTo>
                <a:cubicBezTo>
                  <a:pt x="110" y="130"/>
                  <a:pt x="116" y="136"/>
                  <a:pt x="126" y="141"/>
                </a:cubicBezTo>
                <a:cubicBezTo>
                  <a:pt x="134" y="145"/>
                  <a:pt x="143" y="152"/>
                  <a:pt x="148" y="157"/>
                </a:cubicBezTo>
                <a:cubicBezTo>
                  <a:pt x="133" y="170"/>
                  <a:pt x="114" y="178"/>
                  <a:pt x="92" y="178"/>
                </a:cubicBezTo>
                <a:close/>
                <a:moveTo>
                  <a:pt x="154" y="151"/>
                </a:moveTo>
                <a:cubicBezTo>
                  <a:pt x="149" y="146"/>
                  <a:pt x="139" y="137"/>
                  <a:pt x="129" y="133"/>
                </a:cubicBezTo>
                <a:cubicBezTo>
                  <a:pt x="121" y="129"/>
                  <a:pt x="117" y="125"/>
                  <a:pt x="115" y="121"/>
                </a:cubicBezTo>
                <a:cubicBezTo>
                  <a:pt x="114" y="118"/>
                  <a:pt x="115" y="115"/>
                  <a:pt x="117" y="111"/>
                </a:cubicBezTo>
                <a:cubicBezTo>
                  <a:pt x="118" y="108"/>
                  <a:pt x="120" y="106"/>
                  <a:pt x="121" y="104"/>
                </a:cubicBezTo>
                <a:cubicBezTo>
                  <a:pt x="126" y="94"/>
                  <a:pt x="130" y="88"/>
                  <a:pt x="130" y="64"/>
                </a:cubicBezTo>
                <a:cubicBezTo>
                  <a:pt x="130" y="28"/>
                  <a:pt x="109" y="26"/>
                  <a:pt x="105" y="26"/>
                </a:cubicBezTo>
                <a:cubicBezTo>
                  <a:pt x="102" y="26"/>
                  <a:pt x="100" y="27"/>
                  <a:pt x="98" y="27"/>
                </a:cubicBezTo>
                <a:cubicBezTo>
                  <a:pt x="96" y="28"/>
                  <a:pt x="93" y="29"/>
                  <a:pt x="88" y="29"/>
                </a:cubicBezTo>
                <a:cubicBezTo>
                  <a:pt x="78" y="29"/>
                  <a:pt x="59" y="29"/>
                  <a:pt x="59" y="63"/>
                </a:cubicBezTo>
                <a:cubicBezTo>
                  <a:pt x="59" y="86"/>
                  <a:pt x="65" y="96"/>
                  <a:pt x="69" y="105"/>
                </a:cubicBezTo>
                <a:cubicBezTo>
                  <a:pt x="71" y="107"/>
                  <a:pt x="72" y="109"/>
                  <a:pt x="73" y="111"/>
                </a:cubicBezTo>
                <a:cubicBezTo>
                  <a:pt x="77" y="120"/>
                  <a:pt x="74" y="127"/>
                  <a:pt x="63" y="131"/>
                </a:cubicBezTo>
                <a:cubicBezTo>
                  <a:pt x="50" y="137"/>
                  <a:pt x="44" y="140"/>
                  <a:pt x="31" y="151"/>
                </a:cubicBezTo>
                <a:cubicBezTo>
                  <a:pt x="17" y="136"/>
                  <a:pt x="8" y="116"/>
                  <a:pt x="8" y="93"/>
                </a:cubicBezTo>
                <a:cubicBezTo>
                  <a:pt x="8" y="47"/>
                  <a:pt x="46" y="9"/>
                  <a:pt x="92" y="9"/>
                </a:cubicBezTo>
                <a:cubicBezTo>
                  <a:pt x="139" y="9"/>
                  <a:pt x="177" y="47"/>
                  <a:pt x="177" y="93"/>
                </a:cubicBezTo>
                <a:cubicBezTo>
                  <a:pt x="177" y="116"/>
                  <a:pt x="168" y="136"/>
                  <a:pt x="154" y="151"/>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112" name="Freeform 151"/>
          <p:cNvSpPr>
            <a:spLocks noEditPoints="1"/>
          </p:cNvSpPr>
          <p:nvPr/>
        </p:nvSpPr>
        <p:spPr bwMode="auto">
          <a:xfrm>
            <a:off x="3514878" y="5848326"/>
            <a:ext cx="282989" cy="283829"/>
          </a:xfrm>
          <a:custGeom>
            <a:avLst/>
            <a:gdLst>
              <a:gd name="T0" fmla="*/ 92 w 185"/>
              <a:gd name="T1" fmla="*/ 0 h 186"/>
              <a:gd name="T2" fmla="*/ 0 w 185"/>
              <a:gd name="T3" fmla="*/ 93 h 186"/>
              <a:gd name="T4" fmla="*/ 92 w 185"/>
              <a:gd name="T5" fmla="*/ 186 h 186"/>
              <a:gd name="T6" fmla="*/ 185 w 185"/>
              <a:gd name="T7" fmla="*/ 93 h 186"/>
              <a:gd name="T8" fmla="*/ 92 w 185"/>
              <a:gd name="T9" fmla="*/ 0 h 186"/>
              <a:gd name="T10" fmla="*/ 92 w 185"/>
              <a:gd name="T11" fmla="*/ 178 h 186"/>
              <a:gd name="T12" fmla="*/ 37 w 185"/>
              <a:gd name="T13" fmla="*/ 157 h 186"/>
              <a:gd name="T14" fmla="*/ 67 w 185"/>
              <a:gd name="T15" fmla="*/ 139 h 186"/>
              <a:gd name="T16" fmla="*/ 80 w 185"/>
              <a:gd name="T17" fmla="*/ 108 h 186"/>
              <a:gd name="T18" fmla="*/ 77 w 185"/>
              <a:gd name="T19" fmla="*/ 101 h 186"/>
              <a:gd name="T20" fmla="*/ 67 w 185"/>
              <a:gd name="T21" fmla="*/ 63 h 186"/>
              <a:gd name="T22" fmla="*/ 88 w 185"/>
              <a:gd name="T23" fmla="*/ 37 h 186"/>
              <a:gd name="T24" fmla="*/ 101 w 185"/>
              <a:gd name="T25" fmla="*/ 35 h 186"/>
              <a:gd name="T26" fmla="*/ 105 w 185"/>
              <a:gd name="T27" fmla="*/ 34 h 186"/>
              <a:gd name="T28" fmla="*/ 122 w 185"/>
              <a:gd name="T29" fmla="*/ 64 h 186"/>
              <a:gd name="T30" fmla="*/ 113 w 185"/>
              <a:gd name="T31" fmla="*/ 100 h 186"/>
              <a:gd name="T32" fmla="*/ 109 w 185"/>
              <a:gd name="T33" fmla="*/ 108 h 186"/>
              <a:gd name="T34" fmla="*/ 107 w 185"/>
              <a:gd name="T35" fmla="*/ 124 h 186"/>
              <a:gd name="T36" fmla="*/ 126 w 185"/>
              <a:gd name="T37" fmla="*/ 141 h 186"/>
              <a:gd name="T38" fmla="*/ 148 w 185"/>
              <a:gd name="T39" fmla="*/ 157 h 186"/>
              <a:gd name="T40" fmla="*/ 92 w 185"/>
              <a:gd name="T41" fmla="*/ 178 h 186"/>
              <a:gd name="T42" fmla="*/ 154 w 185"/>
              <a:gd name="T43" fmla="*/ 151 h 186"/>
              <a:gd name="T44" fmla="*/ 129 w 185"/>
              <a:gd name="T45" fmla="*/ 133 h 186"/>
              <a:gd name="T46" fmla="*/ 115 w 185"/>
              <a:gd name="T47" fmla="*/ 121 h 186"/>
              <a:gd name="T48" fmla="*/ 117 w 185"/>
              <a:gd name="T49" fmla="*/ 111 h 186"/>
              <a:gd name="T50" fmla="*/ 121 w 185"/>
              <a:gd name="T51" fmla="*/ 104 h 186"/>
              <a:gd name="T52" fmla="*/ 130 w 185"/>
              <a:gd name="T53" fmla="*/ 64 h 186"/>
              <a:gd name="T54" fmla="*/ 105 w 185"/>
              <a:gd name="T55" fmla="*/ 26 h 186"/>
              <a:gd name="T56" fmla="*/ 98 w 185"/>
              <a:gd name="T57" fmla="*/ 27 h 186"/>
              <a:gd name="T58" fmla="*/ 88 w 185"/>
              <a:gd name="T59" fmla="*/ 29 h 186"/>
              <a:gd name="T60" fmla="*/ 59 w 185"/>
              <a:gd name="T61" fmla="*/ 63 h 186"/>
              <a:gd name="T62" fmla="*/ 69 w 185"/>
              <a:gd name="T63" fmla="*/ 105 h 186"/>
              <a:gd name="T64" fmla="*/ 73 w 185"/>
              <a:gd name="T65" fmla="*/ 111 h 186"/>
              <a:gd name="T66" fmla="*/ 63 w 185"/>
              <a:gd name="T67" fmla="*/ 131 h 186"/>
              <a:gd name="T68" fmla="*/ 31 w 185"/>
              <a:gd name="T69" fmla="*/ 151 h 186"/>
              <a:gd name="T70" fmla="*/ 8 w 185"/>
              <a:gd name="T71" fmla="*/ 93 h 186"/>
              <a:gd name="T72" fmla="*/ 92 w 185"/>
              <a:gd name="T73" fmla="*/ 9 h 186"/>
              <a:gd name="T74" fmla="*/ 177 w 185"/>
              <a:gd name="T75" fmla="*/ 93 h 186"/>
              <a:gd name="T76" fmla="*/ 154 w 185"/>
              <a:gd name="T77" fmla="*/ 15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5" h="186">
                <a:moveTo>
                  <a:pt x="92" y="0"/>
                </a:moveTo>
                <a:cubicBezTo>
                  <a:pt x="41" y="0"/>
                  <a:pt x="0" y="42"/>
                  <a:pt x="0" y="93"/>
                </a:cubicBezTo>
                <a:cubicBezTo>
                  <a:pt x="0" y="145"/>
                  <a:pt x="41" y="186"/>
                  <a:pt x="92" y="186"/>
                </a:cubicBezTo>
                <a:cubicBezTo>
                  <a:pt x="144" y="186"/>
                  <a:pt x="185" y="145"/>
                  <a:pt x="185" y="93"/>
                </a:cubicBezTo>
                <a:cubicBezTo>
                  <a:pt x="185" y="42"/>
                  <a:pt x="144" y="0"/>
                  <a:pt x="92" y="0"/>
                </a:cubicBezTo>
                <a:close/>
                <a:moveTo>
                  <a:pt x="92" y="178"/>
                </a:moveTo>
                <a:cubicBezTo>
                  <a:pt x="71" y="178"/>
                  <a:pt x="52" y="170"/>
                  <a:pt x="37" y="157"/>
                </a:cubicBezTo>
                <a:cubicBezTo>
                  <a:pt x="49" y="147"/>
                  <a:pt x="54" y="145"/>
                  <a:pt x="67" y="139"/>
                </a:cubicBezTo>
                <a:cubicBezTo>
                  <a:pt x="81" y="133"/>
                  <a:pt x="86" y="121"/>
                  <a:pt x="80" y="108"/>
                </a:cubicBezTo>
                <a:cubicBezTo>
                  <a:pt x="79" y="105"/>
                  <a:pt x="78" y="103"/>
                  <a:pt x="77" y="101"/>
                </a:cubicBezTo>
                <a:cubicBezTo>
                  <a:pt x="72" y="93"/>
                  <a:pt x="67" y="84"/>
                  <a:pt x="67" y="63"/>
                </a:cubicBezTo>
                <a:cubicBezTo>
                  <a:pt x="67" y="38"/>
                  <a:pt x="79" y="38"/>
                  <a:pt x="88" y="37"/>
                </a:cubicBezTo>
                <a:cubicBezTo>
                  <a:pt x="95" y="37"/>
                  <a:pt x="98" y="36"/>
                  <a:pt x="101" y="35"/>
                </a:cubicBezTo>
                <a:cubicBezTo>
                  <a:pt x="102" y="35"/>
                  <a:pt x="103" y="34"/>
                  <a:pt x="105" y="34"/>
                </a:cubicBezTo>
                <a:cubicBezTo>
                  <a:pt x="113" y="34"/>
                  <a:pt x="122" y="42"/>
                  <a:pt x="122" y="64"/>
                </a:cubicBezTo>
                <a:cubicBezTo>
                  <a:pt x="122" y="85"/>
                  <a:pt x="118" y="91"/>
                  <a:pt x="113" y="100"/>
                </a:cubicBezTo>
                <a:cubicBezTo>
                  <a:pt x="112" y="102"/>
                  <a:pt x="111" y="105"/>
                  <a:pt x="109" y="108"/>
                </a:cubicBezTo>
                <a:cubicBezTo>
                  <a:pt x="106" y="114"/>
                  <a:pt x="106" y="119"/>
                  <a:pt x="107" y="124"/>
                </a:cubicBezTo>
                <a:cubicBezTo>
                  <a:pt x="110" y="130"/>
                  <a:pt x="116" y="136"/>
                  <a:pt x="126" y="141"/>
                </a:cubicBezTo>
                <a:cubicBezTo>
                  <a:pt x="134" y="145"/>
                  <a:pt x="143" y="152"/>
                  <a:pt x="148" y="157"/>
                </a:cubicBezTo>
                <a:cubicBezTo>
                  <a:pt x="133" y="170"/>
                  <a:pt x="114" y="178"/>
                  <a:pt x="92" y="178"/>
                </a:cubicBezTo>
                <a:close/>
                <a:moveTo>
                  <a:pt x="154" y="151"/>
                </a:moveTo>
                <a:cubicBezTo>
                  <a:pt x="149" y="146"/>
                  <a:pt x="139" y="137"/>
                  <a:pt x="129" y="133"/>
                </a:cubicBezTo>
                <a:cubicBezTo>
                  <a:pt x="121" y="129"/>
                  <a:pt x="117" y="125"/>
                  <a:pt x="115" y="121"/>
                </a:cubicBezTo>
                <a:cubicBezTo>
                  <a:pt x="114" y="118"/>
                  <a:pt x="115" y="115"/>
                  <a:pt x="117" y="111"/>
                </a:cubicBezTo>
                <a:cubicBezTo>
                  <a:pt x="118" y="108"/>
                  <a:pt x="120" y="106"/>
                  <a:pt x="121" y="104"/>
                </a:cubicBezTo>
                <a:cubicBezTo>
                  <a:pt x="126" y="94"/>
                  <a:pt x="130" y="88"/>
                  <a:pt x="130" y="64"/>
                </a:cubicBezTo>
                <a:cubicBezTo>
                  <a:pt x="130" y="28"/>
                  <a:pt x="109" y="26"/>
                  <a:pt x="105" y="26"/>
                </a:cubicBezTo>
                <a:cubicBezTo>
                  <a:pt x="102" y="26"/>
                  <a:pt x="100" y="27"/>
                  <a:pt x="98" y="27"/>
                </a:cubicBezTo>
                <a:cubicBezTo>
                  <a:pt x="96" y="28"/>
                  <a:pt x="93" y="29"/>
                  <a:pt x="88" y="29"/>
                </a:cubicBezTo>
                <a:cubicBezTo>
                  <a:pt x="78" y="29"/>
                  <a:pt x="59" y="29"/>
                  <a:pt x="59" y="63"/>
                </a:cubicBezTo>
                <a:cubicBezTo>
                  <a:pt x="59" y="86"/>
                  <a:pt x="65" y="96"/>
                  <a:pt x="69" y="105"/>
                </a:cubicBezTo>
                <a:cubicBezTo>
                  <a:pt x="71" y="107"/>
                  <a:pt x="72" y="109"/>
                  <a:pt x="73" y="111"/>
                </a:cubicBezTo>
                <a:cubicBezTo>
                  <a:pt x="77" y="120"/>
                  <a:pt x="74" y="127"/>
                  <a:pt x="63" y="131"/>
                </a:cubicBezTo>
                <a:cubicBezTo>
                  <a:pt x="50" y="137"/>
                  <a:pt x="44" y="140"/>
                  <a:pt x="31" y="151"/>
                </a:cubicBezTo>
                <a:cubicBezTo>
                  <a:pt x="17" y="136"/>
                  <a:pt x="8" y="116"/>
                  <a:pt x="8" y="93"/>
                </a:cubicBezTo>
                <a:cubicBezTo>
                  <a:pt x="8" y="47"/>
                  <a:pt x="46" y="9"/>
                  <a:pt x="92" y="9"/>
                </a:cubicBezTo>
                <a:cubicBezTo>
                  <a:pt x="139" y="9"/>
                  <a:pt x="177" y="47"/>
                  <a:pt x="177" y="93"/>
                </a:cubicBezTo>
                <a:cubicBezTo>
                  <a:pt x="177" y="116"/>
                  <a:pt x="168" y="136"/>
                  <a:pt x="154" y="151"/>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350" dirty="0"/>
          </a:p>
        </p:txBody>
      </p:sp>
      <p:pic>
        <p:nvPicPr>
          <p:cNvPr id="103" name="102 Imagen"/>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635598" y="5971449"/>
            <a:ext cx="222626" cy="222626"/>
          </a:xfrm>
          <a:prstGeom prst="rect">
            <a:avLst/>
          </a:prstGeom>
        </p:spPr>
      </p:pic>
      <p:sp>
        <p:nvSpPr>
          <p:cNvPr id="114" name="Freeform 151"/>
          <p:cNvSpPr>
            <a:spLocks noEditPoints="1"/>
          </p:cNvSpPr>
          <p:nvPr/>
        </p:nvSpPr>
        <p:spPr bwMode="auto">
          <a:xfrm>
            <a:off x="6709606" y="5858876"/>
            <a:ext cx="282989" cy="283829"/>
          </a:xfrm>
          <a:custGeom>
            <a:avLst/>
            <a:gdLst>
              <a:gd name="T0" fmla="*/ 92 w 185"/>
              <a:gd name="T1" fmla="*/ 0 h 186"/>
              <a:gd name="T2" fmla="*/ 0 w 185"/>
              <a:gd name="T3" fmla="*/ 93 h 186"/>
              <a:gd name="T4" fmla="*/ 92 w 185"/>
              <a:gd name="T5" fmla="*/ 186 h 186"/>
              <a:gd name="T6" fmla="*/ 185 w 185"/>
              <a:gd name="T7" fmla="*/ 93 h 186"/>
              <a:gd name="T8" fmla="*/ 92 w 185"/>
              <a:gd name="T9" fmla="*/ 0 h 186"/>
              <a:gd name="T10" fmla="*/ 92 w 185"/>
              <a:gd name="T11" fmla="*/ 178 h 186"/>
              <a:gd name="T12" fmla="*/ 37 w 185"/>
              <a:gd name="T13" fmla="*/ 157 h 186"/>
              <a:gd name="T14" fmla="*/ 67 w 185"/>
              <a:gd name="T15" fmla="*/ 139 h 186"/>
              <a:gd name="T16" fmla="*/ 80 w 185"/>
              <a:gd name="T17" fmla="*/ 108 h 186"/>
              <a:gd name="T18" fmla="*/ 77 w 185"/>
              <a:gd name="T19" fmla="*/ 101 h 186"/>
              <a:gd name="T20" fmla="*/ 67 w 185"/>
              <a:gd name="T21" fmla="*/ 63 h 186"/>
              <a:gd name="T22" fmla="*/ 88 w 185"/>
              <a:gd name="T23" fmla="*/ 37 h 186"/>
              <a:gd name="T24" fmla="*/ 101 w 185"/>
              <a:gd name="T25" fmla="*/ 35 h 186"/>
              <a:gd name="T26" fmla="*/ 105 w 185"/>
              <a:gd name="T27" fmla="*/ 34 h 186"/>
              <a:gd name="T28" fmla="*/ 122 w 185"/>
              <a:gd name="T29" fmla="*/ 64 h 186"/>
              <a:gd name="T30" fmla="*/ 113 w 185"/>
              <a:gd name="T31" fmla="*/ 100 h 186"/>
              <a:gd name="T32" fmla="*/ 109 w 185"/>
              <a:gd name="T33" fmla="*/ 108 h 186"/>
              <a:gd name="T34" fmla="*/ 107 w 185"/>
              <a:gd name="T35" fmla="*/ 124 h 186"/>
              <a:gd name="T36" fmla="*/ 126 w 185"/>
              <a:gd name="T37" fmla="*/ 141 h 186"/>
              <a:gd name="T38" fmla="*/ 148 w 185"/>
              <a:gd name="T39" fmla="*/ 157 h 186"/>
              <a:gd name="T40" fmla="*/ 92 w 185"/>
              <a:gd name="T41" fmla="*/ 178 h 186"/>
              <a:gd name="T42" fmla="*/ 154 w 185"/>
              <a:gd name="T43" fmla="*/ 151 h 186"/>
              <a:gd name="T44" fmla="*/ 129 w 185"/>
              <a:gd name="T45" fmla="*/ 133 h 186"/>
              <a:gd name="T46" fmla="*/ 115 w 185"/>
              <a:gd name="T47" fmla="*/ 121 h 186"/>
              <a:gd name="T48" fmla="*/ 117 w 185"/>
              <a:gd name="T49" fmla="*/ 111 h 186"/>
              <a:gd name="T50" fmla="*/ 121 w 185"/>
              <a:gd name="T51" fmla="*/ 104 h 186"/>
              <a:gd name="T52" fmla="*/ 130 w 185"/>
              <a:gd name="T53" fmla="*/ 64 h 186"/>
              <a:gd name="T54" fmla="*/ 105 w 185"/>
              <a:gd name="T55" fmla="*/ 26 h 186"/>
              <a:gd name="T56" fmla="*/ 98 w 185"/>
              <a:gd name="T57" fmla="*/ 27 h 186"/>
              <a:gd name="T58" fmla="*/ 88 w 185"/>
              <a:gd name="T59" fmla="*/ 29 h 186"/>
              <a:gd name="T60" fmla="*/ 59 w 185"/>
              <a:gd name="T61" fmla="*/ 63 h 186"/>
              <a:gd name="T62" fmla="*/ 69 w 185"/>
              <a:gd name="T63" fmla="*/ 105 h 186"/>
              <a:gd name="T64" fmla="*/ 73 w 185"/>
              <a:gd name="T65" fmla="*/ 111 h 186"/>
              <a:gd name="T66" fmla="*/ 63 w 185"/>
              <a:gd name="T67" fmla="*/ 131 h 186"/>
              <a:gd name="T68" fmla="*/ 31 w 185"/>
              <a:gd name="T69" fmla="*/ 151 h 186"/>
              <a:gd name="T70" fmla="*/ 8 w 185"/>
              <a:gd name="T71" fmla="*/ 93 h 186"/>
              <a:gd name="T72" fmla="*/ 92 w 185"/>
              <a:gd name="T73" fmla="*/ 9 h 186"/>
              <a:gd name="T74" fmla="*/ 177 w 185"/>
              <a:gd name="T75" fmla="*/ 93 h 186"/>
              <a:gd name="T76" fmla="*/ 154 w 185"/>
              <a:gd name="T77" fmla="*/ 15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5" h="186">
                <a:moveTo>
                  <a:pt x="92" y="0"/>
                </a:moveTo>
                <a:cubicBezTo>
                  <a:pt x="41" y="0"/>
                  <a:pt x="0" y="42"/>
                  <a:pt x="0" y="93"/>
                </a:cubicBezTo>
                <a:cubicBezTo>
                  <a:pt x="0" y="145"/>
                  <a:pt x="41" y="186"/>
                  <a:pt x="92" y="186"/>
                </a:cubicBezTo>
                <a:cubicBezTo>
                  <a:pt x="144" y="186"/>
                  <a:pt x="185" y="145"/>
                  <a:pt x="185" y="93"/>
                </a:cubicBezTo>
                <a:cubicBezTo>
                  <a:pt x="185" y="42"/>
                  <a:pt x="144" y="0"/>
                  <a:pt x="92" y="0"/>
                </a:cubicBezTo>
                <a:close/>
                <a:moveTo>
                  <a:pt x="92" y="178"/>
                </a:moveTo>
                <a:cubicBezTo>
                  <a:pt x="71" y="178"/>
                  <a:pt x="52" y="170"/>
                  <a:pt x="37" y="157"/>
                </a:cubicBezTo>
                <a:cubicBezTo>
                  <a:pt x="49" y="147"/>
                  <a:pt x="54" y="145"/>
                  <a:pt x="67" y="139"/>
                </a:cubicBezTo>
                <a:cubicBezTo>
                  <a:pt x="81" y="133"/>
                  <a:pt x="86" y="121"/>
                  <a:pt x="80" y="108"/>
                </a:cubicBezTo>
                <a:cubicBezTo>
                  <a:pt x="79" y="105"/>
                  <a:pt x="78" y="103"/>
                  <a:pt x="77" y="101"/>
                </a:cubicBezTo>
                <a:cubicBezTo>
                  <a:pt x="72" y="93"/>
                  <a:pt x="67" y="84"/>
                  <a:pt x="67" y="63"/>
                </a:cubicBezTo>
                <a:cubicBezTo>
                  <a:pt x="67" y="38"/>
                  <a:pt x="79" y="38"/>
                  <a:pt x="88" y="37"/>
                </a:cubicBezTo>
                <a:cubicBezTo>
                  <a:pt x="95" y="37"/>
                  <a:pt x="98" y="36"/>
                  <a:pt x="101" y="35"/>
                </a:cubicBezTo>
                <a:cubicBezTo>
                  <a:pt x="102" y="35"/>
                  <a:pt x="103" y="34"/>
                  <a:pt x="105" y="34"/>
                </a:cubicBezTo>
                <a:cubicBezTo>
                  <a:pt x="113" y="34"/>
                  <a:pt x="122" y="42"/>
                  <a:pt x="122" y="64"/>
                </a:cubicBezTo>
                <a:cubicBezTo>
                  <a:pt x="122" y="85"/>
                  <a:pt x="118" y="91"/>
                  <a:pt x="113" y="100"/>
                </a:cubicBezTo>
                <a:cubicBezTo>
                  <a:pt x="112" y="102"/>
                  <a:pt x="111" y="105"/>
                  <a:pt x="109" y="108"/>
                </a:cubicBezTo>
                <a:cubicBezTo>
                  <a:pt x="106" y="114"/>
                  <a:pt x="106" y="119"/>
                  <a:pt x="107" y="124"/>
                </a:cubicBezTo>
                <a:cubicBezTo>
                  <a:pt x="110" y="130"/>
                  <a:pt x="116" y="136"/>
                  <a:pt x="126" y="141"/>
                </a:cubicBezTo>
                <a:cubicBezTo>
                  <a:pt x="134" y="145"/>
                  <a:pt x="143" y="152"/>
                  <a:pt x="148" y="157"/>
                </a:cubicBezTo>
                <a:cubicBezTo>
                  <a:pt x="133" y="170"/>
                  <a:pt x="114" y="178"/>
                  <a:pt x="92" y="178"/>
                </a:cubicBezTo>
                <a:close/>
                <a:moveTo>
                  <a:pt x="154" y="151"/>
                </a:moveTo>
                <a:cubicBezTo>
                  <a:pt x="149" y="146"/>
                  <a:pt x="139" y="137"/>
                  <a:pt x="129" y="133"/>
                </a:cubicBezTo>
                <a:cubicBezTo>
                  <a:pt x="121" y="129"/>
                  <a:pt x="117" y="125"/>
                  <a:pt x="115" y="121"/>
                </a:cubicBezTo>
                <a:cubicBezTo>
                  <a:pt x="114" y="118"/>
                  <a:pt x="115" y="115"/>
                  <a:pt x="117" y="111"/>
                </a:cubicBezTo>
                <a:cubicBezTo>
                  <a:pt x="118" y="108"/>
                  <a:pt x="120" y="106"/>
                  <a:pt x="121" y="104"/>
                </a:cubicBezTo>
                <a:cubicBezTo>
                  <a:pt x="126" y="94"/>
                  <a:pt x="130" y="88"/>
                  <a:pt x="130" y="64"/>
                </a:cubicBezTo>
                <a:cubicBezTo>
                  <a:pt x="130" y="28"/>
                  <a:pt x="109" y="26"/>
                  <a:pt x="105" y="26"/>
                </a:cubicBezTo>
                <a:cubicBezTo>
                  <a:pt x="102" y="26"/>
                  <a:pt x="100" y="27"/>
                  <a:pt x="98" y="27"/>
                </a:cubicBezTo>
                <a:cubicBezTo>
                  <a:pt x="96" y="28"/>
                  <a:pt x="93" y="29"/>
                  <a:pt x="88" y="29"/>
                </a:cubicBezTo>
                <a:cubicBezTo>
                  <a:pt x="78" y="29"/>
                  <a:pt x="59" y="29"/>
                  <a:pt x="59" y="63"/>
                </a:cubicBezTo>
                <a:cubicBezTo>
                  <a:pt x="59" y="86"/>
                  <a:pt x="65" y="96"/>
                  <a:pt x="69" y="105"/>
                </a:cubicBezTo>
                <a:cubicBezTo>
                  <a:pt x="71" y="107"/>
                  <a:pt x="72" y="109"/>
                  <a:pt x="73" y="111"/>
                </a:cubicBezTo>
                <a:cubicBezTo>
                  <a:pt x="77" y="120"/>
                  <a:pt x="74" y="127"/>
                  <a:pt x="63" y="131"/>
                </a:cubicBezTo>
                <a:cubicBezTo>
                  <a:pt x="50" y="137"/>
                  <a:pt x="44" y="140"/>
                  <a:pt x="31" y="151"/>
                </a:cubicBezTo>
                <a:cubicBezTo>
                  <a:pt x="17" y="136"/>
                  <a:pt x="8" y="116"/>
                  <a:pt x="8" y="93"/>
                </a:cubicBezTo>
                <a:cubicBezTo>
                  <a:pt x="8" y="47"/>
                  <a:pt x="46" y="9"/>
                  <a:pt x="92" y="9"/>
                </a:cubicBezTo>
                <a:cubicBezTo>
                  <a:pt x="139" y="9"/>
                  <a:pt x="177" y="47"/>
                  <a:pt x="177" y="93"/>
                </a:cubicBezTo>
                <a:cubicBezTo>
                  <a:pt x="177" y="116"/>
                  <a:pt x="168" y="136"/>
                  <a:pt x="154" y="151"/>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87"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38</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16516768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Usersad.everis.int\enterprise_files\Spain\Madrid\Proyectos\Social and Connected Business\02.- PROYECTOS\INTERNOS\WEB EVERIS - 03112016\WEB EVERIS 03112016\02 RECURSOS WEB\FOTOS UNSPLASH\photo-1456306752358-361d2583e644.jpg"/>
          <p:cNvPicPr>
            <a:picLocks noChangeAspect="1" noChangeArrowheads="1"/>
          </p:cNvPicPr>
          <p:nvPr/>
        </p:nvPicPr>
        <p:blipFill rotWithShape="1">
          <a:blip r:embed="rId2">
            <a:extLst>
              <a:ext uri="{28A0092B-C50C-407E-A947-70E740481C1C}">
                <a14:useLocalDpi xmlns:a14="http://schemas.microsoft.com/office/drawing/2010/main" val="0"/>
              </a:ext>
            </a:extLst>
          </a:blip>
          <a:srcRect l="6655" t="3230" r="4456" b="5781"/>
          <a:stretch/>
        </p:blipFill>
        <p:spPr bwMode="auto">
          <a:xfrm>
            <a:off x="0" y="-1"/>
            <a:ext cx="9906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3 Rectángulo"/>
          <p:cNvSpPr/>
          <p:nvPr/>
        </p:nvSpPr>
        <p:spPr>
          <a:xfrm>
            <a:off x="0" y="0"/>
            <a:ext cx="9906000" cy="6858000"/>
          </a:xfrm>
          <a:prstGeom prst="rect">
            <a:avLst/>
          </a:prstGeom>
          <a:solidFill>
            <a:srgbClr val="32323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 name="Title 1"/>
          <p:cNvSpPr txBox="1">
            <a:spLocks/>
          </p:cNvSpPr>
          <p:nvPr/>
        </p:nvSpPr>
        <p:spPr>
          <a:xfrm>
            <a:off x="0" y="6429687"/>
            <a:ext cx="9905999" cy="369515"/>
          </a:xfrm>
          <a:prstGeom prst="rect">
            <a:avLst/>
          </a:prstGeom>
        </p:spPr>
        <p:txBody>
          <a:bodyPr vert="horz" lIns="91440" tIns="45720" rIns="91440" bIns="45720" rtlCol="0">
            <a:noAutofit/>
          </a:bodyPr>
          <a:lstStyle>
            <a:lvl1pPr indent="0" algn="ctr">
              <a:spcBef>
                <a:spcPct val="20000"/>
              </a:spcBef>
              <a:buFont typeface="Arial" panose="020B0604020202020204" pitchFamily="34" charset="0"/>
              <a:buNone/>
              <a:defRPr>
                <a:solidFill>
                  <a:schemeClr val="bg1"/>
                </a:solidFill>
                <a:latin typeface="HelveticaNeueLT Std Lt" pitchFamily="34" charset="0"/>
              </a:defRPr>
            </a:lvl1pPr>
            <a:lvl2pPr indent="0" algn="ctr">
              <a:spcBef>
                <a:spcPct val="20000"/>
              </a:spcBef>
              <a:buFont typeface="Arial" panose="020B0604020202020204" pitchFamily="34" charset="0"/>
              <a:buNone/>
              <a:defRPr sz="2800">
                <a:solidFill>
                  <a:schemeClr val="tx1">
                    <a:tint val="75000"/>
                  </a:schemeClr>
                </a:solidFill>
              </a:defRPr>
            </a:lvl2pPr>
            <a:lvl3pPr indent="0" algn="ctr">
              <a:spcBef>
                <a:spcPct val="20000"/>
              </a:spcBef>
              <a:buFont typeface="Arial" panose="020B0604020202020204" pitchFamily="34" charset="0"/>
              <a:buNone/>
              <a:defRPr sz="2400">
                <a:solidFill>
                  <a:schemeClr val="tx1">
                    <a:tint val="75000"/>
                  </a:schemeClr>
                </a:solidFill>
              </a:defRPr>
            </a:lvl3pPr>
            <a:lvl4pPr indent="0" algn="ctr">
              <a:spcBef>
                <a:spcPct val="20000"/>
              </a:spcBef>
              <a:buFont typeface="Arial" panose="020B0604020202020204" pitchFamily="34" charset="0"/>
              <a:buNone/>
              <a:defRPr sz="2000">
                <a:solidFill>
                  <a:schemeClr val="tx1">
                    <a:tint val="75000"/>
                  </a:schemeClr>
                </a:solidFill>
              </a:defRPr>
            </a:lvl4pPr>
            <a:lvl5pPr indent="0" algn="ctr">
              <a:spcBef>
                <a:spcPct val="20000"/>
              </a:spcBef>
              <a:buFont typeface="Arial" panose="020B0604020202020204" pitchFamily="34" charset="0"/>
              <a:buNone/>
              <a:defRPr sz="2000">
                <a:solidFill>
                  <a:schemeClr val="tx1">
                    <a:tint val="75000"/>
                  </a:schemeClr>
                </a:solidFill>
              </a:defRPr>
            </a:lvl5pPr>
            <a:lvl6pPr indent="0" algn="ctr">
              <a:spcBef>
                <a:spcPct val="20000"/>
              </a:spcBef>
              <a:buFont typeface="Arial" panose="020B0604020202020204" pitchFamily="34" charset="0"/>
              <a:buNone/>
              <a:defRPr sz="2000">
                <a:solidFill>
                  <a:schemeClr val="tx1">
                    <a:tint val="75000"/>
                  </a:schemeClr>
                </a:solidFill>
              </a:defRPr>
            </a:lvl6pPr>
            <a:lvl7pPr indent="0" algn="ctr">
              <a:spcBef>
                <a:spcPct val="20000"/>
              </a:spcBef>
              <a:buFont typeface="Arial" panose="020B0604020202020204" pitchFamily="34" charset="0"/>
              <a:buNone/>
              <a:defRPr sz="2000">
                <a:solidFill>
                  <a:schemeClr val="tx1">
                    <a:tint val="75000"/>
                  </a:schemeClr>
                </a:solidFill>
              </a:defRPr>
            </a:lvl7pPr>
            <a:lvl8pPr indent="0" algn="ctr">
              <a:spcBef>
                <a:spcPct val="20000"/>
              </a:spcBef>
              <a:buFont typeface="Arial" panose="020B0604020202020204" pitchFamily="34" charset="0"/>
              <a:buNone/>
              <a:defRPr sz="2000">
                <a:solidFill>
                  <a:schemeClr val="tx1">
                    <a:tint val="75000"/>
                  </a:schemeClr>
                </a:solidFill>
              </a:defRPr>
            </a:lvl8pPr>
            <a:lvl9pPr indent="0" algn="ctr">
              <a:spcBef>
                <a:spcPct val="20000"/>
              </a:spcBef>
              <a:buFont typeface="Arial" panose="020B0604020202020204" pitchFamily="34" charset="0"/>
              <a:buNone/>
              <a:defRPr sz="2000">
                <a:solidFill>
                  <a:schemeClr val="tx1">
                    <a:tint val="75000"/>
                  </a:schemeClr>
                </a:solidFill>
              </a:defRPr>
            </a:lvl9pPr>
          </a:lstStyle>
          <a:p>
            <a:r>
              <a:rPr lang="es-ES" sz="900" dirty="0">
                <a:latin typeface="HelveticaNeueLT Std Thin" pitchFamily="34" charset="0"/>
              </a:rPr>
              <a:t>Easy Money (Change </a:t>
            </a:r>
            <a:r>
              <a:rPr lang="es-ES" sz="900" dirty="0" err="1">
                <a:latin typeface="HelveticaNeueLT Std Thin" pitchFamily="34" charset="0"/>
              </a:rPr>
              <a:t>Perspective</a:t>
            </a:r>
            <a:r>
              <a:rPr lang="es-ES" sz="900" dirty="0">
                <a:latin typeface="HelveticaNeueLT Std Thin" pitchFamily="34" charset="0"/>
              </a:rPr>
              <a:t>)</a:t>
            </a:r>
            <a:br>
              <a:rPr lang="es-ES" sz="900" dirty="0">
                <a:latin typeface="HelveticaNeueLT Std Thin" pitchFamily="34" charset="0"/>
              </a:rPr>
            </a:br>
            <a:r>
              <a:rPr lang="es-ES" sz="900" dirty="0">
                <a:latin typeface="HelveticaNeueLT Std Thin" pitchFamily="34" charset="0"/>
              </a:rPr>
              <a:t>Servicios de externalización de la gestión del CRM</a:t>
            </a:r>
            <a:endParaRPr lang="en-US" sz="900" dirty="0">
              <a:latin typeface="HelveticaNeueLT Std Thin" pitchFamily="34" charset="0"/>
            </a:endParaRPr>
          </a:p>
        </p:txBody>
      </p:sp>
      <p:grpSp>
        <p:nvGrpSpPr>
          <p:cNvPr id="6" name="5 Grupo"/>
          <p:cNvGrpSpPr/>
          <p:nvPr/>
        </p:nvGrpSpPr>
        <p:grpSpPr>
          <a:xfrm>
            <a:off x="4767086" y="5013176"/>
            <a:ext cx="371827" cy="335014"/>
            <a:chOff x="4410121" y="6138871"/>
            <a:chExt cx="602194" cy="542573"/>
          </a:xfrm>
        </p:grpSpPr>
        <p:sp>
          <p:nvSpPr>
            <p:cNvPr id="7" name="Freeform 369"/>
            <p:cNvSpPr>
              <a:spLocks/>
            </p:cNvSpPr>
            <p:nvPr/>
          </p:nvSpPr>
          <p:spPr bwMode="auto">
            <a:xfrm>
              <a:off x="4410121" y="6381328"/>
              <a:ext cx="602194" cy="300116"/>
            </a:xfrm>
            <a:custGeom>
              <a:avLst/>
              <a:gdLst>
                <a:gd name="T0" fmla="*/ 164 w 169"/>
                <a:gd name="T1" fmla="*/ 0 h 84"/>
                <a:gd name="T2" fmla="*/ 161 w 169"/>
                <a:gd name="T3" fmla="*/ 1 h 84"/>
                <a:gd name="T4" fmla="*/ 84 w 169"/>
                <a:gd name="T5" fmla="*/ 74 h 84"/>
                <a:gd name="T6" fmla="*/ 7 w 169"/>
                <a:gd name="T7" fmla="*/ 1 h 84"/>
                <a:gd name="T8" fmla="*/ 4 w 169"/>
                <a:gd name="T9" fmla="*/ 0 h 84"/>
                <a:gd name="T10" fmla="*/ 0 w 169"/>
                <a:gd name="T11" fmla="*/ 4 h 84"/>
                <a:gd name="T12" fmla="*/ 1 w 169"/>
                <a:gd name="T13" fmla="*/ 7 h 84"/>
                <a:gd name="T14" fmla="*/ 81 w 169"/>
                <a:gd name="T15" fmla="*/ 83 h 84"/>
                <a:gd name="T16" fmla="*/ 84 w 169"/>
                <a:gd name="T17" fmla="*/ 84 h 84"/>
                <a:gd name="T18" fmla="*/ 87 w 169"/>
                <a:gd name="T19" fmla="*/ 83 h 84"/>
                <a:gd name="T20" fmla="*/ 167 w 169"/>
                <a:gd name="T21" fmla="*/ 7 h 84"/>
                <a:gd name="T22" fmla="*/ 169 w 169"/>
                <a:gd name="T23" fmla="*/ 4 h 84"/>
                <a:gd name="T24" fmla="*/ 164 w 169"/>
                <a:gd name="T2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84">
                  <a:moveTo>
                    <a:pt x="164" y="0"/>
                  </a:moveTo>
                  <a:cubicBezTo>
                    <a:pt x="163" y="0"/>
                    <a:pt x="162" y="0"/>
                    <a:pt x="161" y="1"/>
                  </a:cubicBezTo>
                  <a:cubicBezTo>
                    <a:pt x="84" y="74"/>
                    <a:pt x="84" y="74"/>
                    <a:pt x="84" y="74"/>
                  </a:cubicBezTo>
                  <a:cubicBezTo>
                    <a:pt x="7" y="1"/>
                    <a:pt x="7" y="1"/>
                    <a:pt x="7" y="1"/>
                  </a:cubicBezTo>
                  <a:cubicBezTo>
                    <a:pt x="6" y="0"/>
                    <a:pt x="5" y="0"/>
                    <a:pt x="4" y="0"/>
                  </a:cubicBezTo>
                  <a:cubicBezTo>
                    <a:pt x="2" y="0"/>
                    <a:pt x="0" y="2"/>
                    <a:pt x="0" y="4"/>
                  </a:cubicBezTo>
                  <a:cubicBezTo>
                    <a:pt x="0" y="5"/>
                    <a:pt x="0" y="6"/>
                    <a:pt x="1" y="7"/>
                  </a:cubicBezTo>
                  <a:cubicBezTo>
                    <a:pt x="81" y="83"/>
                    <a:pt x="81" y="83"/>
                    <a:pt x="81" y="83"/>
                  </a:cubicBezTo>
                  <a:cubicBezTo>
                    <a:pt x="82" y="84"/>
                    <a:pt x="83" y="84"/>
                    <a:pt x="84" y="84"/>
                  </a:cubicBezTo>
                  <a:cubicBezTo>
                    <a:pt x="85" y="84"/>
                    <a:pt x="86" y="84"/>
                    <a:pt x="87" y="83"/>
                  </a:cubicBezTo>
                  <a:cubicBezTo>
                    <a:pt x="167" y="7"/>
                    <a:pt x="167" y="7"/>
                    <a:pt x="167" y="7"/>
                  </a:cubicBezTo>
                  <a:cubicBezTo>
                    <a:pt x="168" y="6"/>
                    <a:pt x="169" y="5"/>
                    <a:pt x="169" y="4"/>
                  </a:cubicBezTo>
                  <a:cubicBezTo>
                    <a:pt x="169" y="2"/>
                    <a:pt x="167" y="0"/>
                    <a:pt x="164" y="0"/>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p>
          </p:txBody>
        </p:sp>
        <p:sp>
          <p:nvSpPr>
            <p:cNvPr id="8" name="Freeform 369"/>
            <p:cNvSpPr>
              <a:spLocks/>
            </p:cNvSpPr>
            <p:nvPr/>
          </p:nvSpPr>
          <p:spPr bwMode="auto">
            <a:xfrm>
              <a:off x="4410121" y="6138871"/>
              <a:ext cx="602194" cy="300116"/>
            </a:xfrm>
            <a:custGeom>
              <a:avLst/>
              <a:gdLst>
                <a:gd name="T0" fmla="*/ 164 w 169"/>
                <a:gd name="T1" fmla="*/ 0 h 84"/>
                <a:gd name="T2" fmla="*/ 161 w 169"/>
                <a:gd name="T3" fmla="*/ 1 h 84"/>
                <a:gd name="T4" fmla="*/ 84 w 169"/>
                <a:gd name="T5" fmla="*/ 74 h 84"/>
                <a:gd name="T6" fmla="*/ 7 w 169"/>
                <a:gd name="T7" fmla="*/ 1 h 84"/>
                <a:gd name="T8" fmla="*/ 4 w 169"/>
                <a:gd name="T9" fmla="*/ 0 h 84"/>
                <a:gd name="T10" fmla="*/ 0 w 169"/>
                <a:gd name="T11" fmla="*/ 4 h 84"/>
                <a:gd name="T12" fmla="*/ 1 w 169"/>
                <a:gd name="T13" fmla="*/ 7 h 84"/>
                <a:gd name="T14" fmla="*/ 81 w 169"/>
                <a:gd name="T15" fmla="*/ 83 h 84"/>
                <a:gd name="T16" fmla="*/ 84 w 169"/>
                <a:gd name="T17" fmla="*/ 84 h 84"/>
                <a:gd name="T18" fmla="*/ 87 w 169"/>
                <a:gd name="T19" fmla="*/ 83 h 84"/>
                <a:gd name="T20" fmla="*/ 167 w 169"/>
                <a:gd name="T21" fmla="*/ 7 h 84"/>
                <a:gd name="T22" fmla="*/ 169 w 169"/>
                <a:gd name="T23" fmla="*/ 4 h 84"/>
                <a:gd name="T24" fmla="*/ 164 w 169"/>
                <a:gd name="T2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84">
                  <a:moveTo>
                    <a:pt x="164" y="0"/>
                  </a:moveTo>
                  <a:cubicBezTo>
                    <a:pt x="163" y="0"/>
                    <a:pt x="162" y="0"/>
                    <a:pt x="161" y="1"/>
                  </a:cubicBezTo>
                  <a:cubicBezTo>
                    <a:pt x="84" y="74"/>
                    <a:pt x="84" y="74"/>
                    <a:pt x="84" y="74"/>
                  </a:cubicBezTo>
                  <a:cubicBezTo>
                    <a:pt x="7" y="1"/>
                    <a:pt x="7" y="1"/>
                    <a:pt x="7" y="1"/>
                  </a:cubicBezTo>
                  <a:cubicBezTo>
                    <a:pt x="6" y="0"/>
                    <a:pt x="5" y="0"/>
                    <a:pt x="4" y="0"/>
                  </a:cubicBezTo>
                  <a:cubicBezTo>
                    <a:pt x="2" y="0"/>
                    <a:pt x="0" y="2"/>
                    <a:pt x="0" y="4"/>
                  </a:cubicBezTo>
                  <a:cubicBezTo>
                    <a:pt x="0" y="5"/>
                    <a:pt x="0" y="6"/>
                    <a:pt x="1" y="7"/>
                  </a:cubicBezTo>
                  <a:cubicBezTo>
                    <a:pt x="81" y="83"/>
                    <a:pt x="81" y="83"/>
                    <a:pt x="81" y="83"/>
                  </a:cubicBezTo>
                  <a:cubicBezTo>
                    <a:pt x="82" y="84"/>
                    <a:pt x="83" y="84"/>
                    <a:pt x="84" y="84"/>
                  </a:cubicBezTo>
                  <a:cubicBezTo>
                    <a:pt x="85" y="84"/>
                    <a:pt x="86" y="84"/>
                    <a:pt x="87" y="83"/>
                  </a:cubicBezTo>
                  <a:cubicBezTo>
                    <a:pt x="167" y="7"/>
                    <a:pt x="167" y="7"/>
                    <a:pt x="167" y="7"/>
                  </a:cubicBezTo>
                  <a:cubicBezTo>
                    <a:pt x="168" y="6"/>
                    <a:pt x="169" y="5"/>
                    <a:pt x="169" y="4"/>
                  </a:cubicBezTo>
                  <a:cubicBezTo>
                    <a:pt x="169" y="2"/>
                    <a:pt x="167" y="0"/>
                    <a:pt x="164" y="0"/>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350" dirty="0"/>
            </a:p>
          </p:txBody>
        </p:sp>
      </p:grpSp>
      <p:sp>
        <p:nvSpPr>
          <p:cNvPr id="9" name="Title 1"/>
          <p:cNvSpPr txBox="1">
            <a:spLocks/>
          </p:cNvSpPr>
          <p:nvPr/>
        </p:nvSpPr>
        <p:spPr>
          <a:xfrm>
            <a:off x="0" y="3284984"/>
            <a:ext cx="9906000" cy="720080"/>
          </a:xfrm>
          <a:prstGeom prst="rect">
            <a:avLst/>
          </a:prstGeom>
        </p:spPr>
        <p:txBody>
          <a:bodyPr vert="horz" lIns="91440" tIns="45720" rIns="91440" bIns="45720" rtlCol="0">
            <a:noAutofit/>
          </a:bodyPr>
          <a:lstStyle>
            <a:lvl1pPr indent="0" algn="ctr">
              <a:spcBef>
                <a:spcPct val="20000"/>
              </a:spcBef>
              <a:buFont typeface="Arial" panose="020B0604020202020204" pitchFamily="34" charset="0"/>
              <a:buNone/>
              <a:defRPr>
                <a:solidFill>
                  <a:schemeClr val="bg1"/>
                </a:solidFill>
                <a:latin typeface="HelveticaNeueLT Std Lt" pitchFamily="34" charset="0"/>
              </a:defRPr>
            </a:lvl1pPr>
            <a:lvl2pPr indent="0" algn="ctr">
              <a:spcBef>
                <a:spcPct val="20000"/>
              </a:spcBef>
              <a:buFont typeface="Arial" panose="020B0604020202020204" pitchFamily="34" charset="0"/>
              <a:buNone/>
              <a:defRPr sz="2800">
                <a:solidFill>
                  <a:schemeClr val="tx1">
                    <a:tint val="75000"/>
                  </a:schemeClr>
                </a:solidFill>
              </a:defRPr>
            </a:lvl2pPr>
            <a:lvl3pPr indent="0" algn="ctr">
              <a:spcBef>
                <a:spcPct val="20000"/>
              </a:spcBef>
              <a:buFont typeface="Arial" panose="020B0604020202020204" pitchFamily="34" charset="0"/>
              <a:buNone/>
              <a:defRPr sz="2400">
                <a:solidFill>
                  <a:schemeClr val="tx1">
                    <a:tint val="75000"/>
                  </a:schemeClr>
                </a:solidFill>
              </a:defRPr>
            </a:lvl3pPr>
            <a:lvl4pPr indent="0" algn="ctr">
              <a:spcBef>
                <a:spcPct val="20000"/>
              </a:spcBef>
              <a:buFont typeface="Arial" panose="020B0604020202020204" pitchFamily="34" charset="0"/>
              <a:buNone/>
              <a:defRPr sz="2000">
                <a:solidFill>
                  <a:schemeClr val="tx1">
                    <a:tint val="75000"/>
                  </a:schemeClr>
                </a:solidFill>
              </a:defRPr>
            </a:lvl4pPr>
            <a:lvl5pPr indent="0" algn="ctr">
              <a:spcBef>
                <a:spcPct val="20000"/>
              </a:spcBef>
              <a:buFont typeface="Arial" panose="020B0604020202020204" pitchFamily="34" charset="0"/>
              <a:buNone/>
              <a:defRPr sz="2000">
                <a:solidFill>
                  <a:schemeClr val="tx1">
                    <a:tint val="75000"/>
                  </a:schemeClr>
                </a:solidFill>
              </a:defRPr>
            </a:lvl5pPr>
            <a:lvl6pPr indent="0" algn="ctr">
              <a:spcBef>
                <a:spcPct val="20000"/>
              </a:spcBef>
              <a:buFont typeface="Arial" panose="020B0604020202020204" pitchFamily="34" charset="0"/>
              <a:buNone/>
              <a:defRPr sz="2000">
                <a:solidFill>
                  <a:schemeClr val="tx1">
                    <a:tint val="75000"/>
                  </a:schemeClr>
                </a:solidFill>
              </a:defRPr>
            </a:lvl6pPr>
            <a:lvl7pPr indent="0" algn="ctr">
              <a:spcBef>
                <a:spcPct val="20000"/>
              </a:spcBef>
              <a:buFont typeface="Arial" panose="020B0604020202020204" pitchFamily="34" charset="0"/>
              <a:buNone/>
              <a:defRPr sz="2000">
                <a:solidFill>
                  <a:schemeClr val="tx1">
                    <a:tint val="75000"/>
                  </a:schemeClr>
                </a:solidFill>
              </a:defRPr>
            </a:lvl7pPr>
            <a:lvl8pPr indent="0" algn="ctr">
              <a:spcBef>
                <a:spcPct val="20000"/>
              </a:spcBef>
              <a:buFont typeface="Arial" panose="020B0604020202020204" pitchFamily="34" charset="0"/>
              <a:buNone/>
              <a:defRPr sz="2000">
                <a:solidFill>
                  <a:schemeClr val="tx1">
                    <a:tint val="75000"/>
                  </a:schemeClr>
                </a:solidFill>
              </a:defRPr>
            </a:lvl8pPr>
            <a:lvl9pPr indent="0" algn="ctr">
              <a:spcBef>
                <a:spcPct val="20000"/>
              </a:spcBef>
              <a:buFont typeface="Arial" panose="020B0604020202020204" pitchFamily="34" charset="0"/>
              <a:buNone/>
              <a:defRPr sz="2000">
                <a:solidFill>
                  <a:schemeClr val="tx1">
                    <a:tint val="75000"/>
                  </a:schemeClr>
                </a:solidFill>
              </a:defRPr>
            </a:lvl9pPr>
          </a:lstStyle>
          <a:p>
            <a:r>
              <a:rPr lang="es-ES" sz="3600" dirty="0">
                <a:latin typeface="Corporate A BQ" panose="02000503080000020004" pitchFamily="2" charset="0"/>
              </a:rPr>
              <a:t>Easy Money Benz</a:t>
            </a:r>
            <a:endParaRPr lang="en-US" sz="3600" dirty="0">
              <a:latin typeface="Corporate A BQ" panose="02000503080000020004" pitchFamily="2" charset="0"/>
            </a:endParaRPr>
          </a:p>
        </p:txBody>
      </p:sp>
      <p:sp>
        <p:nvSpPr>
          <p:cNvPr id="12" name="Title 1"/>
          <p:cNvSpPr txBox="1">
            <a:spLocks/>
          </p:cNvSpPr>
          <p:nvPr/>
        </p:nvSpPr>
        <p:spPr>
          <a:xfrm>
            <a:off x="0" y="3998249"/>
            <a:ext cx="9906000" cy="720080"/>
          </a:xfrm>
          <a:prstGeom prst="rect">
            <a:avLst/>
          </a:prstGeom>
        </p:spPr>
        <p:txBody>
          <a:bodyPr vert="horz" lIns="91440" tIns="45720" rIns="91440" bIns="45720" rtlCol="0">
            <a:noAutofit/>
          </a:bodyPr>
          <a:lstStyle>
            <a:lvl1pPr indent="0" algn="ctr">
              <a:spcBef>
                <a:spcPct val="20000"/>
              </a:spcBef>
              <a:buFont typeface="Arial" panose="020B0604020202020204" pitchFamily="34" charset="0"/>
              <a:buNone/>
              <a:defRPr>
                <a:solidFill>
                  <a:schemeClr val="bg1"/>
                </a:solidFill>
                <a:latin typeface="HelveticaNeueLT Std Lt" pitchFamily="34" charset="0"/>
              </a:defRPr>
            </a:lvl1pPr>
            <a:lvl2pPr indent="0" algn="ctr">
              <a:spcBef>
                <a:spcPct val="20000"/>
              </a:spcBef>
              <a:buFont typeface="Arial" panose="020B0604020202020204" pitchFamily="34" charset="0"/>
              <a:buNone/>
              <a:defRPr sz="2800">
                <a:solidFill>
                  <a:schemeClr val="tx1">
                    <a:tint val="75000"/>
                  </a:schemeClr>
                </a:solidFill>
              </a:defRPr>
            </a:lvl2pPr>
            <a:lvl3pPr indent="0" algn="ctr">
              <a:spcBef>
                <a:spcPct val="20000"/>
              </a:spcBef>
              <a:buFont typeface="Arial" panose="020B0604020202020204" pitchFamily="34" charset="0"/>
              <a:buNone/>
              <a:defRPr sz="2400">
                <a:solidFill>
                  <a:schemeClr val="tx1">
                    <a:tint val="75000"/>
                  </a:schemeClr>
                </a:solidFill>
              </a:defRPr>
            </a:lvl3pPr>
            <a:lvl4pPr indent="0" algn="ctr">
              <a:spcBef>
                <a:spcPct val="20000"/>
              </a:spcBef>
              <a:buFont typeface="Arial" panose="020B0604020202020204" pitchFamily="34" charset="0"/>
              <a:buNone/>
              <a:defRPr sz="2000">
                <a:solidFill>
                  <a:schemeClr val="tx1">
                    <a:tint val="75000"/>
                  </a:schemeClr>
                </a:solidFill>
              </a:defRPr>
            </a:lvl4pPr>
            <a:lvl5pPr indent="0" algn="ctr">
              <a:spcBef>
                <a:spcPct val="20000"/>
              </a:spcBef>
              <a:buFont typeface="Arial" panose="020B0604020202020204" pitchFamily="34" charset="0"/>
              <a:buNone/>
              <a:defRPr sz="2000">
                <a:solidFill>
                  <a:schemeClr val="tx1">
                    <a:tint val="75000"/>
                  </a:schemeClr>
                </a:solidFill>
              </a:defRPr>
            </a:lvl5pPr>
            <a:lvl6pPr indent="0" algn="ctr">
              <a:spcBef>
                <a:spcPct val="20000"/>
              </a:spcBef>
              <a:buFont typeface="Arial" panose="020B0604020202020204" pitchFamily="34" charset="0"/>
              <a:buNone/>
              <a:defRPr sz="2000">
                <a:solidFill>
                  <a:schemeClr val="tx1">
                    <a:tint val="75000"/>
                  </a:schemeClr>
                </a:solidFill>
              </a:defRPr>
            </a:lvl6pPr>
            <a:lvl7pPr indent="0" algn="ctr">
              <a:spcBef>
                <a:spcPct val="20000"/>
              </a:spcBef>
              <a:buFont typeface="Arial" panose="020B0604020202020204" pitchFamily="34" charset="0"/>
              <a:buNone/>
              <a:defRPr sz="2000">
                <a:solidFill>
                  <a:schemeClr val="tx1">
                    <a:tint val="75000"/>
                  </a:schemeClr>
                </a:solidFill>
              </a:defRPr>
            </a:lvl7pPr>
            <a:lvl8pPr indent="0" algn="ctr">
              <a:spcBef>
                <a:spcPct val="20000"/>
              </a:spcBef>
              <a:buFont typeface="Arial" panose="020B0604020202020204" pitchFamily="34" charset="0"/>
              <a:buNone/>
              <a:defRPr sz="2000">
                <a:solidFill>
                  <a:schemeClr val="tx1">
                    <a:tint val="75000"/>
                  </a:schemeClr>
                </a:solidFill>
              </a:defRPr>
            </a:lvl8pPr>
            <a:lvl9pPr indent="0" algn="ctr">
              <a:spcBef>
                <a:spcPct val="20000"/>
              </a:spcBef>
              <a:buFont typeface="Arial" panose="020B0604020202020204" pitchFamily="34" charset="0"/>
              <a:buNone/>
              <a:defRPr sz="2000">
                <a:solidFill>
                  <a:schemeClr val="tx1">
                    <a:tint val="75000"/>
                  </a:schemeClr>
                </a:solidFill>
              </a:defRPr>
            </a:lvl9pPr>
          </a:lstStyle>
          <a:p>
            <a:r>
              <a:rPr lang="es-ES" sz="5000" dirty="0">
                <a:latin typeface="Master Of Break" pitchFamily="2" charset="0"/>
              </a:rPr>
              <a:t>the key is always you</a:t>
            </a:r>
            <a:endParaRPr lang="en-US" sz="5000" dirty="0">
              <a:latin typeface="Master Of Break" pitchFamily="2" charset="0"/>
            </a:endParaRPr>
          </a:p>
        </p:txBody>
      </p:sp>
      <p:sp>
        <p:nvSpPr>
          <p:cNvPr id="13"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39</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30305724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Usersad.everis.int\enterprise_files\Spain\Madrid\Proyectos\Social and Connected Business\02.- PROYECTOS\INTERNOS\WEB EVERIS - 03112016\WEB EVERIS 03112016\02 RECURSOS WEB\FOTOS UNSPLASH\photo-1416339672936-7fe434088e8c.jpg"/>
          <p:cNvPicPr>
            <a:picLocks noChangeAspect="1" noChangeArrowheads="1"/>
          </p:cNvPicPr>
          <p:nvPr/>
        </p:nvPicPr>
        <p:blipFill rotWithShape="1">
          <a:blip r:embed="rId2">
            <a:extLst>
              <a:ext uri="{28A0092B-C50C-407E-A947-70E740481C1C}">
                <a14:useLocalDpi xmlns:a14="http://schemas.microsoft.com/office/drawing/2010/main" val="0"/>
              </a:ext>
            </a:extLst>
          </a:blip>
          <a:srcRect l="12948" r="12948"/>
          <a:stretch/>
        </p:blipFill>
        <p:spPr bwMode="auto">
          <a:xfrm>
            <a:off x="0" y="0"/>
            <a:ext cx="9906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p:cNvSpPr/>
          <p:nvPr/>
        </p:nvSpPr>
        <p:spPr>
          <a:xfrm rot="2700000">
            <a:off x="3208413" y="2964164"/>
            <a:ext cx="3489172" cy="3489172"/>
          </a:xfrm>
          <a:prstGeom prst="rect">
            <a:avLst/>
          </a:prstGeom>
          <a:solidFill>
            <a:srgbClr val="323232">
              <a:alpha val="69804"/>
            </a:srgbClr>
          </a:solidFill>
          <a:ln w="1016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3"/>
          <p:cNvSpPr/>
          <p:nvPr/>
        </p:nvSpPr>
        <p:spPr>
          <a:xfrm rot="2700000">
            <a:off x="3767257" y="322606"/>
            <a:ext cx="2371484" cy="2371484"/>
          </a:xfrm>
          <a:prstGeom prst="rect">
            <a:avLst/>
          </a:prstGeom>
          <a:solidFill>
            <a:srgbClr val="323232">
              <a:alpha val="40000"/>
            </a:srgb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5"/>
          <p:cNvCxnSpPr/>
          <p:nvPr/>
        </p:nvCxnSpPr>
        <p:spPr>
          <a:xfrm>
            <a:off x="4736879" y="4941739"/>
            <a:ext cx="56454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8 Rectángulo"/>
          <p:cNvSpPr/>
          <p:nvPr/>
        </p:nvSpPr>
        <p:spPr>
          <a:xfrm>
            <a:off x="3224808" y="4480769"/>
            <a:ext cx="3477234" cy="461665"/>
          </a:xfrm>
          <a:prstGeom prst="rect">
            <a:avLst/>
          </a:prstGeom>
        </p:spPr>
        <p:txBody>
          <a:bodyPr wrap="none">
            <a:spAutoFit/>
          </a:bodyPr>
          <a:lstStyle/>
          <a:p>
            <a:pPr>
              <a:spcBef>
                <a:spcPts val="1200"/>
              </a:spcBef>
              <a:buClr>
                <a:srgbClr val="323232"/>
              </a:buClr>
            </a:pPr>
            <a:r>
              <a:rPr lang="es-ES" sz="2400" dirty="0">
                <a:solidFill>
                  <a:schemeClr val="bg1"/>
                </a:solidFill>
                <a:latin typeface="Avenir 35" panose="00000400000000000000" pitchFamily="2" charset="0"/>
                <a:cs typeface="Arial" panose="020B0604020202020204" pitchFamily="34" charset="0"/>
              </a:rPr>
              <a:t>Resumen Metodológico</a:t>
            </a:r>
          </a:p>
        </p:txBody>
      </p:sp>
      <p:sp>
        <p:nvSpPr>
          <p:cNvPr id="5" name="Rectangle 2"/>
          <p:cNvSpPr/>
          <p:nvPr/>
        </p:nvSpPr>
        <p:spPr>
          <a:xfrm rot="2700000">
            <a:off x="4356670" y="2050714"/>
            <a:ext cx="1192658" cy="1192658"/>
          </a:xfrm>
          <a:prstGeom prst="rect">
            <a:avLst/>
          </a:prstGeom>
          <a:noFill/>
          <a:ln w="1016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12 Rectángulo"/>
          <p:cNvSpPr/>
          <p:nvPr/>
        </p:nvSpPr>
        <p:spPr>
          <a:xfrm>
            <a:off x="4728767" y="2429416"/>
            <a:ext cx="428322" cy="584775"/>
          </a:xfrm>
          <a:prstGeom prst="rect">
            <a:avLst/>
          </a:prstGeom>
        </p:spPr>
        <p:txBody>
          <a:bodyPr wrap="none">
            <a:spAutoFit/>
          </a:bodyPr>
          <a:lstStyle/>
          <a:p>
            <a:pPr>
              <a:spcBef>
                <a:spcPts val="1200"/>
              </a:spcBef>
              <a:buClr>
                <a:srgbClr val="323232"/>
              </a:buClr>
            </a:pPr>
            <a:r>
              <a:rPr lang="es-ES" sz="3200" b="1" dirty="0">
                <a:solidFill>
                  <a:schemeClr val="bg1"/>
                </a:solidFill>
                <a:latin typeface="Avenir 65" panose="02000600000000000000" pitchFamily="2" charset="0"/>
                <a:cs typeface="Arial" panose="020B0604020202020204" pitchFamily="34" charset="0"/>
              </a:rPr>
              <a:t>4</a:t>
            </a:r>
          </a:p>
        </p:txBody>
      </p:sp>
      <p:sp>
        <p:nvSpPr>
          <p:cNvPr id="10" name="Title 1"/>
          <p:cNvSpPr txBox="1">
            <a:spLocks/>
          </p:cNvSpPr>
          <p:nvPr/>
        </p:nvSpPr>
        <p:spPr>
          <a:xfrm>
            <a:off x="7297440" y="6381328"/>
            <a:ext cx="2608560" cy="369515"/>
          </a:xfrm>
          <a:prstGeom prst="rect">
            <a:avLst/>
          </a:prstGeom>
        </p:spPr>
        <p:txBody>
          <a:bodyPr vert="horz" lIns="91440" tIns="45720" rIns="91440" bIns="45720" rtlCol="0">
            <a:noAutofit/>
          </a:bodyPr>
          <a:lstStyle>
            <a:lvl1pPr indent="0" algn="ctr">
              <a:spcBef>
                <a:spcPct val="20000"/>
              </a:spcBef>
              <a:buFont typeface="Arial" panose="020B0604020202020204" pitchFamily="34" charset="0"/>
              <a:buNone/>
              <a:defRPr>
                <a:solidFill>
                  <a:schemeClr val="bg1"/>
                </a:solidFill>
                <a:latin typeface="HelveticaNeueLT Std Lt" pitchFamily="34" charset="0"/>
              </a:defRPr>
            </a:lvl1pPr>
            <a:lvl2pPr indent="0" algn="ctr">
              <a:spcBef>
                <a:spcPct val="20000"/>
              </a:spcBef>
              <a:buFont typeface="Arial" panose="020B0604020202020204" pitchFamily="34" charset="0"/>
              <a:buNone/>
              <a:defRPr sz="2800">
                <a:solidFill>
                  <a:schemeClr val="tx1">
                    <a:tint val="75000"/>
                  </a:schemeClr>
                </a:solidFill>
              </a:defRPr>
            </a:lvl2pPr>
            <a:lvl3pPr indent="0" algn="ctr">
              <a:spcBef>
                <a:spcPct val="20000"/>
              </a:spcBef>
              <a:buFont typeface="Arial" panose="020B0604020202020204" pitchFamily="34" charset="0"/>
              <a:buNone/>
              <a:defRPr sz="2400">
                <a:solidFill>
                  <a:schemeClr val="tx1">
                    <a:tint val="75000"/>
                  </a:schemeClr>
                </a:solidFill>
              </a:defRPr>
            </a:lvl3pPr>
            <a:lvl4pPr indent="0" algn="ctr">
              <a:spcBef>
                <a:spcPct val="20000"/>
              </a:spcBef>
              <a:buFont typeface="Arial" panose="020B0604020202020204" pitchFamily="34" charset="0"/>
              <a:buNone/>
              <a:defRPr sz="2000">
                <a:solidFill>
                  <a:schemeClr val="tx1">
                    <a:tint val="75000"/>
                  </a:schemeClr>
                </a:solidFill>
              </a:defRPr>
            </a:lvl4pPr>
            <a:lvl5pPr indent="0" algn="ctr">
              <a:spcBef>
                <a:spcPct val="20000"/>
              </a:spcBef>
              <a:buFont typeface="Arial" panose="020B0604020202020204" pitchFamily="34" charset="0"/>
              <a:buNone/>
              <a:defRPr sz="2000">
                <a:solidFill>
                  <a:schemeClr val="tx1">
                    <a:tint val="75000"/>
                  </a:schemeClr>
                </a:solidFill>
              </a:defRPr>
            </a:lvl5pPr>
            <a:lvl6pPr indent="0" algn="ctr">
              <a:spcBef>
                <a:spcPct val="20000"/>
              </a:spcBef>
              <a:buFont typeface="Arial" panose="020B0604020202020204" pitchFamily="34" charset="0"/>
              <a:buNone/>
              <a:defRPr sz="2000">
                <a:solidFill>
                  <a:schemeClr val="tx1">
                    <a:tint val="75000"/>
                  </a:schemeClr>
                </a:solidFill>
              </a:defRPr>
            </a:lvl6pPr>
            <a:lvl7pPr indent="0" algn="ctr">
              <a:spcBef>
                <a:spcPct val="20000"/>
              </a:spcBef>
              <a:buFont typeface="Arial" panose="020B0604020202020204" pitchFamily="34" charset="0"/>
              <a:buNone/>
              <a:defRPr sz="2000">
                <a:solidFill>
                  <a:schemeClr val="tx1">
                    <a:tint val="75000"/>
                  </a:schemeClr>
                </a:solidFill>
              </a:defRPr>
            </a:lvl7pPr>
            <a:lvl8pPr indent="0" algn="ctr">
              <a:spcBef>
                <a:spcPct val="20000"/>
              </a:spcBef>
              <a:buFont typeface="Arial" panose="020B0604020202020204" pitchFamily="34" charset="0"/>
              <a:buNone/>
              <a:defRPr sz="2000">
                <a:solidFill>
                  <a:schemeClr val="tx1">
                    <a:tint val="75000"/>
                  </a:schemeClr>
                </a:solidFill>
              </a:defRPr>
            </a:lvl8pPr>
            <a:lvl9pPr indent="0" algn="ctr">
              <a:spcBef>
                <a:spcPct val="20000"/>
              </a:spcBef>
              <a:buFont typeface="Arial" panose="020B0604020202020204" pitchFamily="34" charset="0"/>
              <a:buNone/>
              <a:defRPr sz="2000">
                <a:solidFill>
                  <a:schemeClr val="tx1">
                    <a:tint val="75000"/>
                  </a:schemeClr>
                </a:solidFill>
              </a:defRPr>
            </a:lvl9pPr>
          </a:lstStyle>
          <a:p>
            <a:r>
              <a:rPr lang="es-ES" sz="2000" dirty="0">
                <a:latin typeface="Master Of Break" pitchFamily="2" charset="0"/>
              </a:rPr>
              <a:t>the key is always you</a:t>
            </a:r>
            <a:endParaRPr lang="en-US" sz="2000" dirty="0">
              <a:latin typeface="Master Of Break" pitchFamily="2" charset="0"/>
            </a:endParaRPr>
          </a:p>
        </p:txBody>
      </p:sp>
      <p:sp>
        <p:nvSpPr>
          <p:cNvPr id="11"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40</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965248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6 CuadroTexto"/>
          <p:cNvSpPr txBox="1"/>
          <p:nvPr/>
        </p:nvSpPr>
        <p:spPr>
          <a:xfrm>
            <a:off x="632521" y="414018"/>
            <a:ext cx="866026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000" b="0" i="0" u="none" strike="noStrike" kern="1200" cap="none" spc="0" normalizeH="0" baseline="0" noProof="0" dirty="0">
                <a:ln>
                  <a:noFill/>
                </a:ln>
                <a:solidFill>
                  <a:prstClr val="black">
                    <a:lumMod val="65000"/>
                    <a:lumOff val="35000"/>
                  </a:prstClr>
                </a:solidFill>
                <a:effectLst/>
                <a:uLnTx/>
                <a:uFillTx/>
                <a:latin typeface="Avenir 35" panose="00000400000000000000" pitchFamily="2" charset="0"/>
                <a:ea typeface="+mn-ea"/>
                <a:cs typeface="+mn-cs"/>
              </a:rPr>
              <a:t>SUCCESS FEE</a:t>
            </a:r>
            <a:endParaRPr kumimoji="0" lang="es-ES" sz="1400" b="0" i="0" u="none" strike="noStrike" kern="1200" cap="none" spc="0" normalizeH="0" baseline="0" noProof="0" dirty="0">
              <a:ln>
                <a:noFill/>
              </a:ln>
              <a:solidFill>
                <a:prstClr val="black">
                  <a:lumMod val="65000"/>
                  <a:lumOff val="35000"/>
                </a:prstClr>
              </a:solidFill>
              <a:effectLst/>
              <a:uLnTx/>
              <a:uFillTx/>
              <a:latin typeface="Avenir 35" panose="00000400000000000000" pitchFamily="2" charset="0"/>
              <a:ea typeface="+mn-ea"/>
              <a:cs typeface="+mn-cs"/>
            </a:endParaRPr>
          </a:p>
        </p:txBody>
      </p:sp>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dirty="0" err="1">
                <a:ln>
                  <a:noFill/>
                </a:ln>
                <a:solidFill>
                  <a:prstClr val="white">
                    <a:lumMod val="50000"/>
                  </a:prstClr>
                </a:solidFill>
                <a:effectLst/>
                <a:uLnTx/>
                <a:uFillTx/>
                <a:latin typeface="Avenir 35" panose="00000400000000000000" pitchFamily="2" charset="0"/>
                <a:ea typeface="+mj-ea"/>
                <a:cs typeface="+mj-cs"/>
              </a:rPr>
              <a:t>Oferta</a:t>
            </a:r>
            <a:r>
              <a:rPr kumimoji="0" lang="en-US" sz="1600" b="0" i="0" u="none" strike="noStrike" kern="1200" cap="none" spc="0" normalizeH="0" baseline="0" noProof="0" dirty="0">
                <a:ln>
                  <a:noFill/>
                </a:ln>
                <a:solidFill>
                  <a:prstClr val="white">
                    <a:lumMod val="50000"/>
                  </a:prstClr>
                </a:solidFill>
                <a:effectLst/>
                <a:uLnTx/>
                <a:uFillTx/>
                <a:latin typeface="Avenir 35" panose="00000400000000000000" pitchFamily="2" charset="0"/>
                <a:ea typeface="+mj-ea"/>
                <a:cs typeface="+mj-cs"/>
              </a:rPr>
              <a:t> </a:t>
            </a:r>
            <a:r>
              <a:rPr kumimoji="0" lang="en-US" sz="1600" b="0" i="0" u="none" strike="noStrike" kern="1200" cap="none" spc="0" normalizeH="0" baseline="0" noProof="0" dirty="0" err="1">
                <a:ln>
                  <a:noFill/>
                </a:ln>
                <a:solidFill>
                  <a:prstClr val="white">
                    <a:lumMod val="50000"/>
                  </a:prstClr>
                </a:solidFill>
                <a:effectLst/>
                <a:uLnTx/>
                <a:uFillTx/>
                <a:latin typeface="Avenir 35" panose="00000400000000000000" pitchFamily="2" charset="0"/>
                <a:ea typeface="+mj-ea"/>
                <a:cs typeface="+mj-cs"/>
              </a:rPr>
              <a:t>Económica</a:t>
            </a:r>
            <a:endParaRPr kumimoji="0" lang="en-US" sz="1600" b="0" i="0" u="none" strike="noStrike" kern="1200" cap="none" spc="0" normalizeH="0" baseline="0" noProof="0" dirty="0">
              <a:ln>
                <a:noFill/>
              </a:ln>
              <a:solidFill>
                <a:prstClr val="white">
                  <a:lumMod val="50000"/>
                </a:prstClr>
              </a:solidFill>
              <a:effectLst/>
              <a:uLnTx/>
              <a:uFillTx/>
              <a:latin typeface="Avenir 35" panose="00000400000000000000" pitchFamily="2" charset="0"/>
              <a:ea typeface="+mj-ea"/>
              <a:cs typeface="+mj-cs"/>
            </a:endParaRPr>
          </a:p>
        </p:txBody>
      </p:sp>
      <p:sp>
        <p:nvSpPr>
          <p:cNvPr id="37" name="Slide Number Placeholder 2"/>
          <p:cNvSpPr>
            <a:spLocks noGrp="1"/>
          </p:cNvSpPr>
          <p:nvPr>
            <p:ph type="sldNum" sz="quarter" idx="4294967295"/>
          </p:nvPr>
        </p:nvSpPr>
        <p:spPr>
          <a:xfrm>
            <a:off x="6720840" y="6498391"/>
            <a:ext cx="2311400"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0061AB-E3E3-4B82-98B1-945D99ABF5FB}" type="slidenum">
              <a:rPr kumimoji="0" lang="es-ES" sz="1200" b="0" i="0" u="none" strike="noStrike" kern="1200" cap="none" spc="0" normalizeH="0" baseline="0" noProof="0" smtClean="0">
                <a:ln>
                  <a:noFill/>
                </a:ln>
                <a:solidFill>
                  <a:srgbClr val="000000">
                    <a:tint val="75000"/>
                  </a:srgbClr>
                </a:solidFill>
                <a:effectLst/>
                <a:uLnTx/>
                <a:uFillTx/>
                <a:latin typeface="Avenir 35" panose="000004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s-ES" sz="1200" b="0" i="0" u="none" strike="noStrike" kern="1200" cap="none" spc="0" normalizeH="0" baseline="0" noProof="0" dirty="0">
              <a:ln>
                <a:noFill/>
              </a:ln>
              <a:solidFill>
                <a:srgbClr val="000000">
                  <a:tint val="75000"/>
                </a:srgbClr>
              </a:solidFill>
              <a:effectLst/>
              <a:uLnTx/>
              <a:uFillTx/>
              <a:latin typeface="Avenir 35" panose="00000400000000000000" pitchFamily="2" charset="0"/>
              <a:ea typeface="+mn-ea"/>
              <a:cs typeface="+mn-cs"/>
            </a:endParaRPr>
          </a:p>
        </p:txBody>
      </p:sp>
      <p:sp>
        <p:nvSpPr>
          <p:cNvPr id="68" name="AutoShape 4"/>
          <p:cNvSpPr>
            <a:spLocks noChangeArrowheads="1"/>
          </p:cNvSpPr>
          <p:nvPr/>
        </p:nvSpPr>
        <p:spPr bwMode="auto">
          <a:xfrm>
            <a:off x="199508" y="861746"/>
            <a:ext cx="9526287" cy="593368"/>
          </a:xfrm>
          <a:prstGeom prst="roundRect">
            <a:avLst>
              <a:gd name="adj" fmla="val 12500"/>
            </a:avLst>
          </a:prstGeom>
        </p:spPr>
        <p:txBody>
          <a:bodyPr lIns="92583" tIns="46292" rIns="92583" bIns="46292" anchor="ctr">
            <a:normAutofit lnSpcReduction="10000"/>
          </a:bodyPr>
          <a:lstStyle/>
          <a:p>
            <a:pPr marL="0" marR="0" lvl="0" indent="0" algn="ctr" defTabSz="925830" rtl="0" eaLnBrk="0" fontAlgn="base" latinLnBrk="0" hangingPunct="0">
              <a:lnSpc>
                <a:spcPct val="110000"/>
              </a:lnSpc>
              <a:spcBef>
                <a:spcPct val="30000"/>
              </a:spcBef>
              <a:spcAft>
                <a:spcPct val="0"/>
              </a:spcAft>
              <a:buClrTx/>
              <a:buSzTx/>
              <a:buFontTx/>
              <a:buNone/>
              <a:tabLst/>
              <a:defRPr/>
            </a:pPr>
            <a:r>
              <a:rPr kumimoji="0" lang="es-ES" sz="1000" b="0" i="0" u="none" strike="noStrike" kern="1200" cap="none" spc="0" normalizeH="0" baseline="0" noProof="0" dirty="0">
                <a:ln>
                  <a:noFill/>
                </a:ln>
                <a:solidFill>
                  <a:srgbClr val="323232"/>
                </a:solidFill>
                <a:effectLst/>
                <a:uLnTx/>
                <a:uFillTx/>
                <a:latin typeface="Avenir 35" panose="00000400000000000000" pitchFamily="2" charset="0"/>
                <a:ea typeface="+mn-ea"/>
                <a:cs typeface="+mn-cs"/>
              </a:rPr>
              <a:t>Siguiendo lo indicado por BANCO y en nuestro interés de mostrar nuestro compromiso con el servicio y la confianza en nuestra capacidad para ayudar al área de Marketing de Mercedes a mejorar en su operación, proponemos un modelo de </a:t>
            </a:r>
            <a:r>
              <a:rPr kumimoji="0" lang="es-ES" sz="1000" b="0" i="0" u="none" strike="noStrike" kern="1200" cap="none" spc="0" normalizeH="0" baseline="0" noProof="0" dirty="0" err="1">
                <a:ln>
                  <a:noFill/>
                </a:ln>
                <a:solidFill>
                  <a:srgbClr val="323232"/>
                </a:solidFill>
                <a:effectLst/>
                <a:uLnTx/>
                <a:uFillTx/>
                <a:latin typeface="Avenir 35" panose="00000400000000000000" pitchFamily="2" charset="0"/>
                <a:ea typeface="+mn-ea"/>
                <a:cs typeface="+mn-cs"/>
              </a:rPr>
              <a:t>Success</a:t>
            </a:r>
            <a:r>
              <a:rPr kumimoji="0" lang="es-ES" sz="1000" b="0" i="0" u="none" strike="noStrike" kern="1200" cap="none" spc="0" normalizeH="0" baseline="0" noProof="0" dirty="0">
                <a:ln>
                  <a:noFill/>
                </a:ln>
                <a:solidFill>
                  <a:srgbClr val="323232"/>
                </a:solidFill>
                <a:effectLst/>
                <a:uLnTx/>
                <a:uFillTx/>
                <a:latin typeface="Avenir 35" panose="00000400000000000000" pitchFamily="2" charset="0"/>
                <a:ea typeface="+mn-ea"/>
                <a:cs typeface="+mn-cs"/>
              </a:rPr>
              <a:t> Fee, a través del cual, vinculamos parte del cobro de nuestros honorarios a la consecución de determinados objetivos.</a:t>
            </a:r>
          </a:p>
        </p:txBody>
      </p:sp>
      <p:sp>
        <p:nvSpPr>
          <p:cNvPr id="38" name="AutoShape 4"/>
          <p:cNvSpPr>
            <a:spLocks noChangeArrowheads="1"/>
          </p:cNvSpPr>
          <p:nvPr/>
        </p:nvSpPr>
        <p:spPr bwMode="auto">
          <a:xfrm>
            <a:off x="820127" y="5085184"/>
            <a:ext cx="8120056" cy="316068"/>
          </a:xfrm>
          <a:prstGeom prst="rect">
            <a:avLst/>
          </a:prstGeom>
          <a:noFill/>
        </p:spPr>
        <p:txBody>
          <a:bodyPr lIns="92583" tIns="46292" rIns="92583" bIns="46292" anchor="ctr">
            <a:noAutofit/>
          </a:bodyPr>
          <a:lstStyle/>
          <a:p>
            <a:pPr marL="0" marR="0" lvl="0" indent="0" algn="just" defTabSz="825500" rtl="0" eaLnBrk="0" fontAlgn="base" latinLnBrk="0" hangingPunct="0">
              <a:lnSpc>
                <a:spcPct val="110000"/>
              </a:lnSpc>
              <a:spcBef>
                <a:spcPct val="30000"/>
              </a:spcBef>
              <a:spcAft>
                <a:spcPct val="0"/>
              </a:spcAft>
              <a:buClrTx/>
              <a:buSzTx/>
              <a:buFontTx/>
              <a:buNone/>
              <a:tabLst/>
              <a:defRPr/>
            </a:pPr>
            <a:r>
              <a:rPr kumimoji="0" lang="es-ES" sz="1000" b="0" i="0" u="none" strike="noStrike" kern="0" cap="none" spc="0" normalizeH="0" baseline="0" noProof="0" dirty="0">
                <a:ln>
                  <a:noFill/>
                </a:ln>
                <a:solidFill>
                  <a:srgbClr val="323232"/>
                </a:solidFill>
                <a:effectLst/>
                <a:uLnTx/>
                <a:uFillTx/>
                <a:latin typeface="Avenir 35" panose="00000400000000000000" pitchFamily="2" charset="0"/>
                <a:ea typeface="+mn-ea"/>
                <a:cs typeface="+mn-cs"/>
                <a:sym typeface="Calibri"/>
              </a:rPr>
              <a:t>Los términos y condiciones finales del Fee se definirán conjuntamente con BANCO, tras la fase de </a:t>
            </a:r>
            <a:r>
              <a:rPr kumimoji="0" lang="es-ES" sz="1000" b="0" i="0" u="none" strike="noStrike" kern="0" cap="none" spc="0" normalizeH="0" baseline="0" noProof="0" dirty="0" err="1">
                <a:ln>
                  <a:noFill/>
                </a:ln>
                <a:solidFill>
                  <a:srgbClr val="323232"/>
                </a:solidFill>
                <a:effectLst/>
                <a:uLnTx/>
                <a:uFillTx/>
                <a:latin typeface="Avenir 35" panose="00000400000000000000" pitchFamily="2" charset="0"/>
                <a:ea typeface="+mn-ea"/>
                <a:cs typeface="+mn-cs"/>
                <a:sym typeface="Calibri"/>
              </a:rPr>
              <a:t>Due</a:t>
            </a:r>
            <a:r>
              <a:rPr kumimoji="0" lang="es-ES" sz="1000" b="0" i="0" u="none" strike="noStrike" kern="0" cap="none" spc="0" normalizeH="0" baseline="0" noProof="0" dirty="0">
                <a:ln>
                  <a:noFill/>
                </a:ln>
                <a:solidFill>
                  <a:srgbClr val="323232"/>
                </a:solidFill>
                <a:effectLst/>
                <a:uLnTx/>
                <a:uFillTx/>
                <a:latin typeface="Avenir 35" panose="00000400000000000000" pitchFamily="2" charset="0"/>
                <a:ea typeface="+mn-ea"/>
                <a:cs typeface="+mn-cs"/>
                <a:sym typeface="Calibri"/>
              </a:rPr>
              <a:t> </a:t>
            </a:r>
            <a:r>
              <a:rPr kumimoji="0" lang="es-ES" sz="1000" b="0" i="0" u="none" strike="noStrike" kern="0" cap="none" spc="0" normalizeH="0" baseline="0" noProof="0" dirty="0" err="1">
                <a:ln>
                  <a:noFill/>
                </a:ln>
                <a:solidFill>
                  <a:srgbClr val="323232"/>
                </a:solidFill>
                <a:effectLst/>
                <a:uLnTx/>
                <a:uFillTx/>
                <a:latin typeface="Avenir 35" panose="00000400000000000000" pitchFamily="2" charset="0"/>
                <a:ea typeface="+mn-ea"/>
                <a:cs typeface="+mn-cs"/>
                <a:sym typeface="Calibri"/>
              </a:rPr>
              <a:t>Dilligence</a:t>
            </a:r>
            <a:r>
              <a:rPr kumimoji="0" lang="es-ES" sz="1000" b="0" i="0" u="none" strike="noStrike" kern="0" cap="none" spc="0" normalizeH="0" baseline="0" noProof="0" dirty="0">
                <a:ln>
                  <a:noFill/>
                </a:ln>
                <a:solidFill>
                  <a:srgbClr val="323232"/>
                </a:solidFill>
                <a:effectLst/>
                <a:uLnTx/>
                <a:uFillTx/>
                <a:latin typeface="Avenir 35" panose="00000400000000000000" pitchFamily="2" charset="0"/>
                <a:ea typeface="+mn-ea"/>
                <a:cs typeface="+mn-cs"/>
                <a:sym typeface="Calibri"/>
              </a:rPr>
              <a:t>.</a:t>
            </a:r>
          </a:p>
        </p:txBody>
      </p:sp>
      <p:sp>
        <p:nvSpPr>
          <p:cNvPr id="73" name="72 CuadroTexto"/>
          <p:cNvSpPr txBox="1"/>
          <p:nvPr/>
        </p:nvSpPr>
        <p:spPr>
          <a:xfrm>
            <a:off x="705282" y="1524920"/>
            <a:ext cx="4184347" cy="307777"/>
          </a:xfrm>
          <a:prstGeom prst="rect">
            <a:avLst/>
          </a:prstGeom>
          <a:noFill/>
        </p:spPr>
        <p:txBody>
          <a:bodyPr wrap="square" rtlCol="0" anchor="ctr">
            <a:spAutoFit/>
          </a:bodyPr>
          <a:lstStyle>
            <a:defPPr>
              <a:defRPr lang="es-ES"/>
            </a:defPPr>
            <a:lvl1pPr defTabSz="925830">
              <a:defRPr sz="1400" b="1">
                <a:solidFill>
                  <a:srgbClr val="0097B7"/>
                </a:solidFill>
                <a:latin typeface="Avenir 65" panose="02000600000000000000" pitchFamily="2" charset="0"/>
                <a:ea typeface="Microsoft Himalaya" pitchFamily="2" charset="0"/>
                <a:cs typeface="Microsoft Himalaya" pitchFamily="2" charset="0"/>
              </a:defRPr>
            </a:lvl1pPr>
          </a:lstStyle>
          <a:p>
            <a:pPr marL="0" marR="0" lvl="0" indent="0" algn="l" defTabSz="92583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dirty="0">
                <a:ln>
                  <a:noFill/>
                </a:ln>
                <a:solidFill>
                  <a:srgbClr val="0097B7"/>
                </a:solidFill>
                <a:effectLst/>
                <a:uLnTx/>
                <a:uFillTx/>
                <a:latin typeface="Avenir 65" panose="02000600000000000000" pitchFamily="2" charset="0"/>
                <a:ea typeface="Microsoft Himalaya" pitchFamily="2" charset="0"/>
                <a:cs typeface="Microsoft Himalaya" pitchFamily="2" charset="0"/>
              </a:rPr>
              <a:t>MODELO DE SUCCESS FEE</a:t>
            </a:r>
            <a:endParaRPr kumimoji="0" lang="ca-ES" sz="1400" b="1" i="0" u="none" strike="noStrike" kern="1200" cap="none" spc="0" normalizeH="0" baseline="0" noProof="0" dirty="0">
              <a:ln>
                <a:noFill/>
              </a:ln>
              <a:solidFill>
                <a:srgbClr val="0097B7"/>
              </a:solidFill>
              <a:effectLst/>
              <a:uLnTx/>
              <a:uFillTx/>
              <a:latin typeface="Avenir 65" panose="02000600000000000000" pitchFamily="2" charset="0"/>
              <a:ea typeface="Microsoft Himalaya" pitchFamily="2" charset="0"/>
              <a:cs typeface="Microsoft Himalaya" pitchFamily="2" charset="0"/>
            </a:endParaRPr>
          </a:p>
        </p:txBody>
      </p:sp>
      <p:cxnSp>
        <p:nvCxnSpPr>
          <p:cNvPr id="74" name="73 Conector recto"/>
          <p:cNvCxnSpPr/>
          <p:nvPr/>
        </p:nvCxnSpPr>
        <p:spPr>
          <a:xfrm>
            <a:off x="485800" y="1860260"/>
            <a:ext cx="8283624" cy="0"/>
          </a:xfrm>
          <a:prstGeom prst="line">
            <a:avLst/>
          </a:prstGeom>
          <a:noFill/>
          <a:ln w="9525" cap="flat" cmpd="sng" algn="ctr">
            <a:solidFill>
              <a:schemeClr val="tx1">
                <a:lumMod val="50000"/>
                <a:lumOff val="50000"/>
              </a:schemeClr>
            </a:solidFill>
            <a:prstDash val="solid"/>
          </a:ln>
          <a:effectLst/>
        </p:spPr>
      </p:cxnSp>
      <p:grpSp>
        <p:nvGrpSpPr>
          <p:cNvPr id="2" name="1 Grupo"/>
          <p:cNvGrpSpPr/>
          <p:nvPr/>
        </p:nvGrpSpPr>
        <p:grpSpPr>
          <a:xfrm>
            <a:off x="578096" y="2871560"/>
            <a:ext cx="3562528" cy="330686"/>
            <a:chOff x="488504" y="1988840"/>
            <a:chExt cx="3562528" cy="330686"/>
          </a:xfrm>
          <a:solidFill>
            <a:schemeClr val="tx1">
              <a:lumMod val="50000"/>
              <a:lumOff val="50000"/>
            </a:schemeClr>
          </a:solidFill>
        </p:grpSpPr>
        <p:sp>
          <p:nvSpPr>
            <p:cNvPr id="100" name="99 Rectángulo"/>
            <p:cNvSpPr/>
            <p:nvPr/>
          </p:nvSpPr>
          <p:spPr>
            <a:xfrm>
              <a:off x="488504" y="2009366"/>
              <a:ext cx="3562528" cy="285597"/>
            </a:xfrm>
            <a:prstGeom prst="rect">
              <a:avLst/>
            </a:prstGeom>
            <a:grpFill/>
            <a:ln w="9525" cap="flat" cmpd="sng" algn="ctr">
              <a:no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Calibri"/>
                <a:ea typeface="+mn-ea"/>
                <a:cs typeface="+mn-cs"/>
              </a:endParaRPr>
            </a:p>
          </p:txBody>
        </p:sp>
        <p:sp>
          <p:nvSpPr>
            <p:cNvPr id="104" name="2 Subtítulo"/>
            <p:cNvSpPr txBox="1">
              <a:spLocks/>
            </p:cNvSpPr>
            <p:nvPr/>
          </p:nvSpPr>
          <p:spPr>
            <a:xfrm>
              <a:off x="488504" y="1988840"/>
              <a:ext cx="3562528" cy="330686"/>
            </a:xfrm>
            <a:prstGeom prst="rect">
              <a:avLst/>
            </a:prstGeom>
            <a:grpFill/>
          </p:spPr>
          <p:txBody>
            <a:bodyPr lIns="92583" tIns="46292" rIns="92583" bIns="46292" anchor="ctr">
              <a:noAutofit/>
            </a:bodyPr>
            <a:lstStyle>
              <a:lvl1pPr marL="0" indent="0" algn="l" defTabSz="925830" rtl="0" eaLnBrk="1" fontAlgn="base" latinLnBrk="0" hangingPunct="1">
                <a:spcBef>
                  <a:spcPct val="0"/>
                </a:spcBef>
                <a:spcAft>
                  <a:spcPct val="0"/>
                </a:spcAft>
                <a:buFont typeface="Arial" pitchFamily="34" charset="0"/>
                <a:buNone/>
                <a:defRPr lang="en-US" sz="2400" b="0" kern="1200" dirty="0">
                  <a:solidFill>
                    <a:srgbClr val="42727F"/>
                  </a:solidFill>
                  <a:latin typeface="Arial Narrow" pitchFamily="34" charset="0"/>
                  <a:ea typeface="+mn-ea"/>
                  <a:cs typeface="Calibri" pitchFamily="34" charset="0"/>
                </a:defRPr>
              </a:lvl1pPr>
              <a:lvl2pPr marL="462915" indent="0" algn="ctr" defTabSz="925830" rtl="0" eaLnBrk="1" latinLnBrk="0" hangingPunct="1">
                <a:spcBef>
                  <a:spcPts val="203"/>
                </a:spcBef>
                <a:spcAft>
                  <a:spcPts val="203"/>
                </a:spcAft>
                <a:buFont typeface="Arial" pitchFamily="34" charset="0"/>
                <a:buNone/>
                <a:defRPr lang="en-US" sz="1600" b="0" kern="1200">
                  <a:solidFill>
                    <a:schemeClr val="tx1">
                      <a:tint val="75000"/>
                    </a:schemeClr>
                  </a:solidFill>
                  <a:latin typeface="Arial Narrow" pitchFamily="34" charset="0"/>
                  <a:ea typeface="+mn-ea"/>
                  <a:cs typeface="Calibri" pitchFamily="34" charset="0"/>
                </a:defRPr>
              </a:lvl2pPr>
              <a:lvl3pPr marL="925830" indent="0" algn="ctr" defTabSz="925830" rtl="0" eaLnBrk="1" latinLnBrk="0" hangingPunct="1">
                <a:spcBef>
                  <a:spcPts val="203"/>
                </a:spcBef>
                <a:spcAft>
                  <a:spcPts val="203"/>
                </a:spcAft>
                <a:buFont typeface="Arial" pitchFamily="34" charset="0"/>
                <a:buNone/>
                <a:defRPr lang="en-US" sz="1600" b="0" kern="1200">
                  <a:solidFill>
                    <a:schemeClr val="tx1">
                      <a:tint val="75000"/>
                    </a:schemeClr>
                  </a:solidFill>
                  <a:latin typeface="Arial Narrow" pitchFamily="34" charset="0"/>
                  <a:ea typeface="+mn-ea"/>
                  <a:cs typeface="Calibri" pitchFamily="34" charset="0"/>
                </a:defRPr>
              </a:lvl3pPr>
              <a:lvl4pPr marL="1388745" indent="0" algn="ctr" defTabSz="925830" rtl="0" eaLnBrk="1" latinLnBrk="0" hangingPunct="1">
                <a:spcBef>
                  <a:spcPts val="203"/>
                </a:spcBef>
                <a:spcAft>
                  <a:spcPts val="203"/>
                </a:spcAft>
                <a:buFont typeface="Arial" pitchFamily="34" charset="0"/>
                <a:buNone/>
                <a:defRPr lang="en-US" sz="1600" b="0" kern="1200">
                  <a:solidFill>
                    <a:schemeClr val="tx1">
                      <a:tint val="75000"/>
                    </a:schemeClr>
                  </a:solidFill>
                  <a:latin typeface="Arial Narrow" pitchFamily="34" charset="0"/>
                  <a:ea typeface="+mn-ea"/>
                  <a:cs typeface="Calibri" pitchFamily="34" charset="0"/>
                </a:defRPr>
              </a:lvl4pPr>
              <a:lvl5pPr marL="1851660" indent="0" algn="ctr" defTabSz="925830" rtl="0" eaLnBrk="1" latinLnBrk="0" hangingPunct="1">
                <a:spcBef>
                  <a:spcPts val="203"/>
                </a:spcBef>
                <a:spcAft>
                  <a:spcPts val="203"/>
                </a:spcAft>
                <a:buFont typeface="Arial" pitchFamily="34" charset="0"/>
                <a:buNone/>
                <a:defRPr lang="en-US" sz="1600" b="0" kern="1200">
                  <a:solidFill>
                    <a:schemeClr val="tx1">
                      <a:tint val="75000"/>
                    </a:schemeClr>
                  </a:solidFill>
                  <a:latin typeface="Arial Narrow" pitchFamily="34" charset="0"/>
                  <a:ea typeface="+mn-ea"/>
                  <a:cs typeface="Calibri" pitchFamily="34" charset="0"/>
                </a:defRPr>
              </a:lvl5pPr>
              <a:lvl6pPr marL="2314575" indent="0" algn="ctr" defTabSz="92583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77490" indent="0" algn="ctr" defTabSz="92583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40405" indent="0" algn="ctr" defTabSz="92583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703320" indent="0" algn="ctr" defTabSz="92583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ctr" defTabSz="925830" rtl="0" eaLnBrk="1" fontAlgn="base" latinLnBrk="0" hangingPunct="1">
                <a:lnSpc>
                  <a:spcPct val="100000"/>
                </a:lnSpc>
                <a:spcBef>
                  <a:spcPct val="0"/>
                </a:spcBef>
                <a:spcAft>
                  <a:spcPct val="0"/>
                </a:spcAft>
                <a:buClrTx/>
                <a:buSzTx/>
                <a:buFont typeface="Arial" pitchFamily="34" charset="0"/>
                <a:buNone/>
                <a:tabLst/>
                <a:defRPr/>
              </a:pPr>
              <a:r>
                <a:rPr kumimoji="0" lang="es-ES" sz="1400" b="0" i="0" u="none" strike="noStrike" kern="1200" cap="none" spc="0" normalizeH="0" baseline="0" noProof="0" dirty="0">
                  <a:ln>
                    <a:noFill/>
                  </a:ln>
                  <a:solidFill>
                    <a:prstClr val="white"/>
                  </a:solidFill>
                  <a:effectLst/>
                  <a:uLnTx/>
                  <a:uFillTx/>
                  <a:latin typeface="Avenir 65" panose="02000600000000000000" pitchFamily="2" charset="0"/>
                  <a:ea typeface="+mn-ea"/>
                  <a:cs typeface="Calibri" pitchFamily="34" charset="0"/>
                </a:rPr>
                <a:t>DESCOMPOSICIÓN DEL PRECIO</a:t>
              </a:r>
            </a:p>
          </p:txBody>
        </p:sp>
      </p:grpSp>
      <p:sp>
        <p:nvSpPr>
          <p:cNvPr id="49" name="48 Rectángulo redondeado"/>
          <p:cNvSpPr/>
          <p:nvPr/>
        </p:nvSpPr>
        <p:spPr>
          <a:xfrm>
            <a:off x="4448944" y="2272680"/>
            <a:ext cx="1224136" cy="504056"/>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SERVICIOS OPERACIÓN</a:t>
            </a:r>
          </a:p>
        </p:txBody>
      </p:sp>
      <p:sp>
        <p:nvSpPr>
          <p:cNvPr id="50" name="49 Rectángulo redondeado"/>
          <p:cNvSpPr/>
          <p:nvPr/>
        </p:nvSpPr>
        <p:spPr>
          <a:xfrm>
            <a:off x="5764622" y="2272681"/>
            <a:ext cx="916570" cy="504056"/>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5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200 €</a:t>
            </a:r>
          </a:p>
        </p:txBody>
      </p:sp>
      <p:sp>
        <p:nvSpPr>
          <p:cNvPr id="55" name="54 Rectángulo redondeado"/>
          <p:cNvSpPr/>
          <p:nvPr/>
        </p:nvSpPr>
        <p:spPr>
          <a:xfrm>
            <a:off x="5764622" y="1988840"/>
            <a:ext cx="916570" cy="207640"/>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Año 1</a:t>
            </a:r>
          </a:p>
        </p:txBody>
      </p:sp>
      <p:sp>
        <p:nvSpPr>
          <p:cNvPr id="56" name="55 Rectángulo redondeado"/>
          <p:cNvSpPr/>
          <p:nvPr/>
        </p:nvSpPr>
        <p:spPr>
          <a:xfrm>
            <a:off x="6825208" y="1988840"/>
            <a:ext cx="916570" cy="207640"/>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Año 2</a:t>
            </a:r>
          </a:p>
        </p:txBody>
      </p:sp>
      <p:sp>
        <p:nvSpPr>
          <p:cNvPr id="57" name="56 Rectángulo redondeado"/>
          <p:cNvSpPr/>
          <p:nvPr/>
        </p:nvSpPr>
        <p:spPr>
          <a:xfrm>
            <a:off x="7852854" y="1988840"/>
            <a:ext cx="916570" cy="207640"/>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Año 3</a:t>
            </a:r>
          </a:p>
        </p:txBody>
      </p:sp>
      <p:sp>
        <p:nvSpPr>
          <p:cNvPr id="58" name="57 Rectángulo redondeado"/>
          <p:cNvSpPr/>
          <p:nvPr/>
        </p:nvSpPr>
        <p:spPr>
          <a:xfrm>
            <a:off x="6825208" y="2272680"/>
            <a:ext cx="916570" cy="504056"/>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5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800 €</a:t>
            </a:r>
          </a:p>
        </p:txBody>
      </p:sp>
      <p:sp>
        <p:nvSpPr>
          <p:cNvPr id="59" name="58 Rectángulo redondeado"/>
          <p:cNvSpPr/>
          <p:nvPr/>
        </p:nvSpPr>
        <p:spPr>
          <a:xfrm>
            <a:off x="7852854" y="2272680"/>
            <a:ext cx="916570" cy="504056"/>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5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868 €</a:t>
            </a:r>
          </a:p>
        </p:txBody>
      </p:sp>
      <p:sp>
        <p:nvSpPr>
          <p:cNvPr id="40" name="AutoShape 4"/>
          <p:cNvSpPr>
            <a:spLocks noChangeArrowheads="1"/>
          </p:cNvSpPr>
          <p:nvPr/>
        </p:nvSpPr>
        <p:spPr bwMode="auto">
          <a:xfrm>
            <a:off x="578096" y="2196480"/>
            <a:ext cx="3562528" cy="652705"/>
          </a:xfrm>
          <a:prstGeom prst="roundRect">
            <a:avLst>
              <a:gd name="adj" fmla="val 12500"/>
            </a:avLst>
          </a:prstGeom>
        </p:spPr>
        <p:txBody>
          <a:bodyPr lIns="92583" tIns="46292" rIns="92583" bIns="46292" anchor="ctr">
            <a:normAutofit/>
          </a:bodyPr>
          <a:lstStyle/>
          <a:p>
            <a:pPr marL="0" marR="0" lvl="0" indent="0" algn="ctr" defTabSz="925830" rtl="0" eaLnBrk="0" fontAlgn="base" latinLnBrk="0" hangingPunct="0">
              <a:lnSpc>
                <a:spcPct val="110000"/>
              </a:lnSpc>
              <a:spcBef>
                <a:spcPct val="30000"/>
              </a:spcBef>
              <a:spcAft>
                <a:spcPct val="0"/>
              </a:spcAft>
              <a:buClrTx/>
              <a:buSzTx/>
              <a:buFontTx/>
              <a:buNone/>
              <a:tabLst/>
              <a:defRPr/>
            </a:pPr>
            <a:r>
              <a:rPr kumimoji="0" lang="es-ES" sz="1000" b="0" i="0" u="none" strike="noStrike" kern="1200" cap="none" spc="0" normalizeH="0" baseline="0" noProof="0" dirty="0">
                <a:ln>
                  <a:noFill/>
                </a:ln>
                <a:solidFill>
                  <a:srgbClr val="323232"/>
                </a:solidFill>
                <a:effectLst/>
                <a:uLnTx/>
                <a:uFillTx/>
                <a:latin typeface="Avenir 35" panose="00000400000000000000" pitchFamily="2" charset="0"/>
                <a:ea typeface="+mn-ea"/>
                <a:cs typeface="+mn-cs"/>
              </a:rPr>
              <a:t>El </a:t>
            </a:r>
            <a:r>
              <a:rPr kumimoji="0" lang="es-ES" sz="1000" b="0" i="0" u="none" strike="noStrike" kern="1200" cap="none" spc="0" normalizeH="0" baseline="0" noProof="0" dirty="0" err="1">
                <a:ln>
                  <a:noFill/>
                </a:ln>
                <a:solidFill>
                  <a:srgbClr val="323232"/>
                </a:solidFill>
                <a:effectLst/>
                <a:uLnTx/>
                <a:uFillTx/>
                <a:latin typeface="Avenir 35" panose="00000400000000000000" pitchFamily="2" charset="0"/>
                <a:ea typeface="+mn-ea"/>
                <a:cs typeface="+mn-cs"/>
              </a:rPr>
              <a:t>Fee</a:t>
            </a:r>
            <a:r>
              <a:rPr kumimoji="0" lang="es-ES" sz="1000" b="0" i="0" u="none" strike="noStrike" kern="1200" cap="none" spc="0" normalizeH="0" baseline="0" noProof="0" dirty="0">
                <a:ln>
                  <a:noFill/>
                </a:ln>
                <a:solidFill>
                  <a:srgbClr val="323232"/>
                </a:solidFill>
                <a:effectLst/>
                <a:uLnTx/>
                <a:uFillTx/>
                <a:latin typeface="Avenir 35" panose="00000400000000000000" pitchFamily="2" charset="0"/>
                <a:ea typeface="+mn-ea"/>
                <a:cs typeface="+mn-cs"/>
              </a:rPr>
              <a:t> se aplica sobre los importes relativos a los servicios de operación, constituyendo el resto de conceptos un precio fijo.</a:t>
            </a:r>
          </a:p>
        </p:txBody>
      </p:sp>
      <p:sp>
        <p:nvSpPr>
          <p:cNvPr id="41" name="AutoShape 4"/>
          <p:cNvSpPr>
            <a:spLocks noChangeArrowheads="1"/>
          </p:cNvSpPr>
          <p:nvPr/>
        </p:nvSpPr>
        <p:spPr bwMode="auto">
          <a:xfrm>
            <a:off x="598388" y="3251926"/>
            <a:ext cx="3542235" cy="539425"/>
          </a:xfrm>
          <a:prstGeom prst="roundRect">
            <a:avLst>
              <a:gd name="adj" fmla="val 12500"/>
            </a:avLst>
          </a:prstGeom>
        </p:spPr>
        <p:txBody>
          <a:bodyPr lIns="92583" tIns="46292" rIns="92583" bIns="46292" anchor="ctr">
            <a:normAutofit/>
          </a:bodyPr>
          <a:lstStyle/>
          <a:p>
            <a:pPr marL="0" marR="0" lvl="0" indent="0" algn="ctr" defTabSz="925830" rtl="0" eaLnBrk="0" fontAlgn="base" latinLnBrk="0" hangingPunct="0">
              <a:lnSpc>
                <a:spcPct val="110000"/>
              </a:lnSpc>
              <a:spcBef>
                <a:spcPct val="30000"/>
              </a:spcBef>
              <a:spcAft>
                <a:spcPct val="0"/>
              </a:spcAft>
              <a:buClrTx/>
              <a:buSzTx/>
              <a:buFontTx/>
              <a:buNone/>
              <a:tabLst/>
              <a:defRPr/>
            </a:pPr>
            <a:r>
              <a:rPr kumimoji="0" lang="es-ES" sz="1000" b="0" i="0" u="none" strike="noStrike" kern="1200" cap="none" spc="0" normalizeH="0" baseline="0" noProof="0" dirty="0">
                <a:ln>
                  <a:noFill/>
                </a:ln>
                <a:solidFill>
                  <a:srgbClr val="323232"/>
                </a:solidFill>
                <a:effectLst/>
                <a:uLnTx/>
                <a:uFillTx/>
                <a:latin typeface="Avenir 35" panose="00000400000000000000" pitchFamily="2" charset="0"/>
                <a:ea typeface="+mn-ea"/>
                <a:cs typeface="+mn-cs"/>
              </a:rPr>
              <a:t>Se vinculará un </a:t>
            </a:r>
            <a:r>
              <a:rPr kumimoji="0" lang="es-ES" sz="1050" b="1" i="0" u="none" strike="noStrike" kern="1200" cap="none" spc="0" normalizeH="0" baseline="0" noProof="0" dirty="0">
                <a:ln>
                  <a:noFill/>
                </a:ln>
                <a:solidFill>
                  <a:srgbClr val="323232"/>
                </a:solidFill>
                <a:effectLst/>
                <a:uLnTx/>
                <a:uFillTx/>
                <a:latin typeface="Avenir 65" panose="02000600000000000000" pitchFamily="2" charset="0"/>
                <a:ea typeface="+mn-ea"/>
                <a:cs typeface="+mn-cs"/>
              </a:rPr>
              <a:t>20% del precio total del servicio </a:t>
            </a:r>
            <a:r>
              <a:rPr kumimoji="0" lang="es-ES" sz="1000" b="0" i="0" u="none" strike="noStrike" kern="1200" cap="none" spc="0" normalizeH="0" baseline="0" noProof="0" dirty="0">
                <a:ln>
                  <a:noFill/>
                </a:ln>
                <a:solidFill>
                  <a:srgbClr val="323232"/>
                </a:solidFill>
                <a:effectLst/>
                <a:uLnTx/>
                <a:uFillTx/>
                <a:latin typeface="Avenir 35" panose="00000400000000000000" pitchFamily="2" charset="0"/>
                <a:ea typeface="+mn-ea"/>
                <a:cs typeface="+mn-cs"/>
              </a:rPr>
              <a:t>a la consecución de los objetivos que se definan. </a:t>
            </a:r>
          </a:p>
        </p:txBody>
      </p:sp>
      <p:sp>
        <p:nvSpPr>
          <p:cNvPr id="42" name="41 Rectángulo redondeado"/>
          <p:cNvSpPr/>
          <p:nvPr/>
        </p:nvSpPr>
        <p:spPr>
          <a:xfrm>
            <a:off x="4458088" y="3258695"/>
            <a:ext cx="1224136" cy="504056"/>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PRECIO BASE DEL SERVICIO (80%)</a:t>
            </a:r>
          </a:p>
        </p:txBody>
      </p:sp>
      <p:sp>
        <p:nvSpPr>
          <p:cNvPr id="51" name="50 Rectángulo redondeado"/>
          <p:cNvSpPr/>
          <p:nvPr/>
        </p:nvSpPr>
        <p:spPr>
          <a:xfrm>
            <a:off x="5773766" y="3258696"/>
            <a:ext cx="916570" cy="504056"/>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5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360 €</a:t>
            </a:r>
          </a:p>
        </p:txBody>
      </p:sp>
      <p:sp>
        <p:nvSpPr>
          <p:cNvPr id="52" name="51 Rectángulo redondeado"/>
          <p:cNvSpPr/>
          <p:nvPr/>
        </p:nvSpPr>
        <p:spPr>
          <a:xfrm>
            <a:off x="6834352" y="3258695"/>
            <a:ext cx="916570" cy="504056"/>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5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040 €</a:t>
            </a:r>
          </a:p>
        </p:txBody>
      </p:sp>
      <p:sp>
        <p:nvSpPr>
          <p:cNvPr id="53" name="52 Rectángulo redondeado"/>
          <p:cNvSpPr/>
          <p:nvPr/>
        </p:nvSpPr>
        <p:spPr>
          <a:xfrm>
            <a:off x="7861998" y="3258695"/>
            <a:ext cx="916570" cy="504056"/>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5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094 €</a:t>
            </a:r>
          </a:p>
        </p:txBody>
      </p:sp>
      <p:sp>
        <p:nvSpPr>
          <p:cNvPr id="54" name="53 Rectángulo redondeado"/>
          <p:cNvSpPr/>
          <p:nvPr/>
        </p:nvSpPr>
        <p:spPr>
          <a:xfrm>
            <a:off x="4458088" y="3906767"/>
            <a:ext cx="1224136" cy="504056"/>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SUCCESS FEE (20%)</a:t>
            </a:r>
          </a:p>
        </p:txBody>
      </p:sp>
      <p:sp>
        <p:nvSpPr>
          <p:cNvPr id="60" name="59 Rectángulo redondeado"/>
          <p:cNvSpPr/>
          <p:nvPr/>
        </p:nvSpPr>
        <p:spPr>
          <a:xfrm>
            <a:off x="5773766" y="3906768"/>
            <a:ext cx="916570" cy="504056"/>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5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.840€</a:t>
            </a:r>
          </a:p>
        </p:txBody>
      </p:sp>
      <p:sp>
        <p:nvSpPr>
          <p:cNvPr id="61" name="60 Rectángulo redondeado"/>
          <p:cNvSpPr/>
          <p:nvPr/>
        </p:nvSpPr>
        <p:spPr>
          <a:xfrm>
            <a:off x="6834352" y="3906767"/>
            <a:ext cx="916570" cy="504056"/>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5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60 €</a:t>
            </a:r>
          </a:p>
        </p:txBody>
      </p:sp>
      <p:sp>
        <p:nvSpPr>
          <p:cNvPr id="62" name="61 Rectángulo redondeado"/>
          <p:cNvSpPr/>
          <p:nvPr/>
        </p:nvSpPr>
        <p:spPr>
          <a:xfrm>
            <a:off x="7861998" y="3906767"/>
            <a:ext cx="916570" cy="504056"/>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5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74 €</a:t>
            </a:r>
          </a:p>
        </p:txBody>
      </p:sp>
      <p:sp>
        <p:nvSpPr>
          <p:cNvPr id="63" name="AutoShape 4"/>
          <p:cNvSpPr>
            <a:spLocks noChangeArrowheads="1"/>
          </p:cNvSpPr>
          <p:nvPr/>
        </p:nvSpPr>
        <p:spPr bwMode="auto">
          <a:xfrm>
            <a:off x="820127" y="5445224"/>
            <a:ext cx="8120056" cy="316068"/>
          </a:xfrm>
          <a:prstGeom prst="rect">
            <a:avLst/>
          </a:prstGeom>
          <a:noFill/>
        </p:spPr>
        <p:txBody>
          <a:bodyPr lIns="92583" tIns="46292" rIns="92583" bIns="46292" anchor="ctr">
            <a:noAutofit/>
          </a:bodyPr>
          <a:lstStyle/>
          <a:p>
            <a:pPr marL="0" marR="0" lvl="0" indent="0" algn="just" defTabSz="825500" rtl="0" eaLnBrk="0" fontAlgn="base" latinLnBrk="0" hangingPunct="0">
              <a:lnSpc>
                <a:spcPct val="110000"/>
              </a:lnSpc>
              <a:spcBef>
                <a:spcPct val="30000"/>
              </a:spcBef>
              <a:spcAft>
                <a:spcPct val="0"/>
              </a:spcAft>
              <a:buClrTx/>
              <a:buSzTx/>
              <a:buFontTx/>
              <a:buNone/>
              <a:tabLst/>
              <a:defRPr/>
            </a:pPr>
            <a:r>
              <a:rPr kumimoji="0" lang="es-ES" sz="1000" b="0" i="0" u="none" strike="noStrike" kern="0" cap="none" spc="0" normalizeH="0" baseline="0" noProof="0" dirty="0">
                <a:ln>
                  <a:noFill/>
                </a:ln>
                <a:solidFill>
                  <a:srgbClr val="323232"/>
                </a:solidFill>
                <a:effectLst/>
                <a:uLnTx/>
                <a:uFillTx/>
                <a:latin typeface="Avenir 35" panose="00000400000000000000" pitchFamily="2" charset="0"/>
                <a:ea typeface="+mn-ea"/>
                <a:cs typeface="+mn-cs"/>
                <a:sym typeface="Calibri"/>
              </a:rPr>
              <a:t>BANCO y GRUPO VI acordarán durante la fase de proyecto los mecanismos de medición de los indicadores de cumplimiento.</a:t>
            </a:r>
          </a:p>
        </p:txBody>
      </p:sp>
      <p:sp>
        <p:nvSpPr>
          <p:cNvPr id="76" name="2 Subtítulo"/>
          <p:cNvSpPr txBox="1">
            <a:spLocks/>
          </p:cNvSpPr>
          <p:nvPr/>
        </p:nvSpPr>
        <p:spPr>
          <a:xfrm>
            <a:off x="578096" y="4545478"/>
            <a:ext cx="3562528" cy="300624"/>
          </a:xfrm>
          <a:prstGeom prst="rect">
            <a:avLst/>
          </a:prstGeom>
          <a:solidFill>
            <a:schemeClr val="tx1">
              <a:lumMod val="50000"/>
              <a:lumOff val="50000"/>
            </a:schemeClr>
          </a:solidFill>
        </p:spPr>
        <p:txBody>
          <a:bodyPr lIns="92583" tIns="46292" rIns="92583" bIns="46292" anchor="ctr">
            <a:noAutofit/>
          </a:bodyPr>
          <a:lstStyle>
            <a:lvl1pPr marL="0" indent="0" algn="l" defTabSz="925830" rtl="0" eaLnBrk="1" fontAlgn="base" latinLnBrk="0" hangingPunct="1">
              <a:spcBef>
                <a:spcPct val="0"/>
              </a:spcBef>
              <a:spcAft>
                <a:spcPct val="0"/>
              </a:spcAft>
              <a:buFont typeface="Arial" pitchFamily="34" charset="0"/>
              <a:buNone/>
              <a:defRPr lang="en-US" sz="2400" b="0" kern="1200" dirty="0">
                <a:solidFill>
                  <a:srgbClr val="42727F"/>
                </a:solidFill>
                <a:latin typeface="Arial Narrow" pitchFamily="34" charset="0"/>
                <a:ea typeface="+mn-ea"/>
                <a:cs typeface="Calibri" pitchFamily="34" charset="0"/>
              </a:defRPr>
            </a:lvl1pPr>
            <a:lvl2pPr marL="462915" indent="0" algn="ctr" defTabSz="925830" rtl="0" eaLnBrk="1" latinLnBrk="0" hangingPunct="1">
              <a:spcBef>
                <a:spcPts val="203"/>
              </a:spcBef>
              <a:spcAft>
                <a:spcPts val="203"/>
              </a:spcAft>
              <a:buFont typeface="Arial" pitchFamily="34" charset="0"/>
              <a:buNone/>
              <a:defRPr lang="en-US" sz="1600" b="0" kern="1200">
                <a:solidFill>
                  <a:schemeClr val="tx1">
                    <a:tint val="75000"/>
                  </a:schemeClr>
                </a:solidFill>
                <a:latin typeface="Arial Narrow" pitchFamily="34" charset="0"/>
                <a:ea typeface="+mn-ea"/>
                <a:cs typeface="Calibri" pitchFamily="34" charset="0"/>
              </a:defRPr>
            </a:lvl2pPr>
            <a:lvl3pPr marL="925830" indent="0" algn="ctr" defTabSz="925830" rtl="0" eaLnBrk="1" latinLnBrk="0" hangingPunct="1">
              <a:spcBef>
                <a:spcPts val="203"/>
              </a:spcBef>
              <a:spcAft>
                <a:spcPts val="203"/>
              </a:spcAft>
              <a:buFont typeface="Arial" pitchFamily="34" charset="0"/>
              <a:buNone/>
              <a:defRPr lang="en-US" sz="1600" b="0" kern="1200">
                <a:solidFill>
                  <a:schemeClr val="tx1">
                    <a:tint val="75000"/>
                  </a:schemeClr>
                </a:solidFill>
                <a:latin typeface="Arial Narrow" pitchFamily="34" charset="0"/>
                <a:ea typeface="+mn-ea"/>
                <a:cs typeface="Calibri" pitchFamily="34" charset="0"/>
              </a:defRPr>
            </a:lvl3pPr>
            <a:lvl4pPr marL="1388745" indent="0" algn="ctr" defTabSz="925830" rtl="0" eaLnBrk="1" latinLnBrk="0" hangingPunct="1">
              <a:spcBef>
                <a:spcPts val="203"/>
              </a:spcBef>
              <a:spcAft>
                <a:spcPts val="203"/>
              </a:spcAft>
              <a:buFont typeface="Arial" pitchFamily="34" charset="0"/>
              <a:buNone/>
              <a:defRPr lang="en-US" sz="1600" b="0" kern="1200">
                <a:solidFill>
                  <a:schemeClr val="tx1">
                    <a:tint val="75000"/>
                  </a:schemeClr>
                </a:solidFill>
                <a:latin typeface="Arial Narrow" pitchFamily="34" charset="0"/>
                <a:ea typeface="+mn-ea"/>
                <a:cs typeface="Calibri" pitchFamily="34" charset="0"/>
              </a:defRPr>
            </a:lvl4pPr>
            <a:lvl5pPr marL="1851660" indent="0" algn="ctr" defTabSz="925830" rtl="0" eaLnBrk="1" latinLnBrk="0" hangingPunct="1">
              <a:spcBef>
                <a:spcPts val="203"/>
              </a:spcBef>
              <a:spcAft>
                <a:spcPts val="203"/>
              </a:spcAft>
              <a:buFont typeface="Arial" pitchFamily="34" charset="0"/>
              <a:buNone/>
              <a:defRPr lang="en-US" sz="1600" b="0" kern="1200">
                <a:solidFill>
                  <a:schemeClr val="tx1">
                    <a:tint val="75000"/>
                  </a:schemeClr>
                </a:solidFill>
                <a:latin typeface="Arial Narrow" pitchFamily="34" charset="0"/>
                <a:ea typeface="+mn-ea"/>
                <a:cs typeface="Calibri" pitchFamily="34" charset="0"/>
              </a:defRPr>
            </a:lvl5pPr>
            <a:lvl6pPr marL="2314575" indent="0" algn="ctr" defTabSz="92583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77490" indent="0" algn="ctr" defTabSz="92583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40405" indent="0" algn="ctr" defTabSz="92583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703320" indent="0" algn="ctr" defTabSz="92583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ctr" defTabSz="925830" rtl="0" eaLnBrk="1" fontAlgn="base" latinLnBrk="0" hangingPunct="1">
              <a:lnSpc>
                <a:spcPct val="100000"/>
              </a:lnSpc>
              <a:spcBef>
                <a:spcPct val="0"/>
              </a:spcBef>
              <a:spcAft>
                <a:spcPct val="0"/>
              </a:spcAft>
              <a:buClrTx/>
              <a:buSzTx/>
              <a:buFont typeface="Arial" pitchFamily="34" charset="0"/>
              <a:buNone/>
              <a:tabLst/>
              <a:defRPr/>
            </a:pPr>
            <a:r>
              <a:rPr kumimoji="0" lang="es-ES" sz="1600" b="0" i="0" u="none" strike="noStrike" kern="1200" cap="none" spc="0" normalizeH="0" baseline="0" noProof="0" dirty="0">
                <a:ln>
                  <a:noFill/>
                </a:ln>
                <a:solidFill>
                  <a:prstClr val="white"/>
                </a:solidFill>
                <a:effectLst/>
                <a:uLnTx/>
                <a:uFillTx/>
                <a:latin typeface="Avenir 65" panose="02000600000000000000" pitchFamily="2" charset="0"/>
                <a:ea typeface="+mn-ea"/>
                <a:cs typeface="Calibri" pitchFamily="34" charset="0"/>
              </a:rPr>
              <a:t>CONDICIONES GENERALES</a:t>
            </a:r>
          </a:p>
        </p:txBody>
      </p:sp>
      <p:sp>
        <p:nvSpPr>
          <p:cNvPr id="77" name="AutoShape 4"/>
          <p:cNvSpPr>
            <a:spLocks noChangeArrowheads="1"/>
          </p:cNvSpPr>
          <p:nvPr/>
        </p:nvSpPr>
        <p:spPr bwMode="auto">
          <a:xfrm>
            <a:off x="820127" y="5832423"/>
            <a:ext cx="8120056" cy="316068"/>
          </a:xfrm>
          <a:prstGeom prst="rect">
            <a:avLst/>
          </a:prstGeom>
          <a:noFill/>
        </p:spPr>
        <p:txBody>
          <a:bodyPr lIns="92583" tIns="46292" rIns="92583" bIns="46292" anchor="ctr">
            <a:noAutofit/>
          </a:bodyPr>
          <a:lstStyle/>
          <a:p>
            <a:pPr marL="0" marR="0" lvl="0" indent="0" algn="just" defTabSz="825500" rtl="0" eaLnBrk="0" fontAlgn="base" latinLnBrk="0" hangingPunct="0">
              <a:lnSpc>
                <a:spcPct val="110000"/>
              </a:lnSpc>
              <a:spcBef>
                <a:spcPct val="30000"/>
              </a:spcBef>
              <a:spcAft>
                <a:spcPct val="0"/>
              </a:spcAft>
              <a:buClrTx/>
              <a:buSzTx/>
              <a:buFontTx/>
              <a:buNone/>
              <a:tabLst/>
              <a:defRPr/>
            </a:pPr>
            <a:r>
              <a:rPr kumimoji="0" lang="es-ES" sz="1000" b="0" i="0" u="none" strike="noStrike" kern="0" cap="none" spc="0" normalizeH="0" baseline="0" noProof="0" dirty="0">
                <a:ln>
                  <a:noFill/>
                </a:ln>
                <a:solidFill>
                  <a:srgbClr val="323232"/>
                </a:solidFill>
                <a:effectLst/>
                <a:uLnTx/>
                <a:uFillTx/>
                <a:latin typeface="Avenir 35" panose="00000400000000000000" pitchFamily="2" charset="0"/>
                <a:ea typeface="+mn-ea"/>
                <a:cs typeface="+mn-cs"/>
                <a:sym typeface="Calibri"/>
              </a:rPr>
              <a:t>El </a:t>
            </a:r>
            <a:r>
              <a:rPr kumimoji="0" lang="es-ES" sz="1000" b="0" i="0" u="none" strike="noStrike" kern="0" cap="none" spc="0" normalizeH="0" baseline="0" noProof="0" dirty="0" err="1">
                <a:ln>
                  <a:noFill/>
                </a:ln>
                <a:solidFill>
                  <a:srgbClr val="323232"/>
                </a:solidFill>
                <a:effectLst/>
                <a:uLnTx/>
                <a:uFillTx/>
                <a:latin typeface="Avenir 35" panose="00000400000000000000" pitchFamily="2" charset="0"/>
                <a:ea typeface="+mn-ea"/>
                <a:cs typeface="+mn-cs"/>
                <a:sym typeface="Calibri"/>
              </a:rPr>
              <a:t>Fee</a:t>
            </a:r>
            <a:r>
              <a:rPr kumimoji="0" lang="es-ES" sz="1000" b="0" i="0" u="none" strike="noStrike" kern="0" cap="none" spc="0" normalizeH="0" baseline="0" noProof="0" dirty="0">
                <a:ln>
                  <a:noFill/>
                </a:ln>
                <a:solidFill>
                  <a:srgbClr val="323232"/>
                </a:solidFill>
                <a:effectLst/>
                <a:uLnTx/>
                <a:uFillTx/>
                <a:latin typeface="Avenir 35" panose="00000400000000000000" pitchFamily="2" charset="0"/>
                <a:ea typeface="+mn-ea"/>
                <a:cs typeface="+mn-cs"/>
                <a:sym typeface="Calibri"/>
              </a:rPr>
              <a:t> computará anualmente, de forma independiente para cada uno de los indicadores. Al cierre de cada uno de los 3 años de servicio, se calculará y liquidará el importe aplicable.</a:t>
            </a:r>
          </a:p>
        </p:txBody>
      </p:sp>
      <p:sp>
        <p:nvSpPr>
          <p:cNvPr id="44" name="Freeform 448"/>
          <p:cNvSpPr>
            <a:spLocks noEditPoints="1"/>
          </p:cNvSpPr>
          <p:nvPr/>
        </p:nvSpPr>
        <p:spPr bwMode="auto">
          <a:xfrm rot="5400000">
            <a:off x="598388" y="5155331"/>
            <a:ext cx="175773" cy="175773"/>
          </a:xfrm>
          <a:custGeom>
            <a:avLst/>
            <a:gdLst>
              <a:gd name="T0" fmla="*/ 0 w 185"/>
              <a:gd name="T1" fmla="*/ 101 h 185"/>
              <a:gd name="T2" fmla="*/ 11 w 185"/>
              <a:gd name="T3" fmla="*/ 116 h 185"/>
              <a:gd name="T4" fmla="*/ 48 w 185"/>
              <a:gd name="T5" fmla="*/ 21 h 185"/>
              <a:gd name="T6" fmla="*/ 30 w 185"/>
              <a:gd name="T7" fmla="*/ 24 h 185"/>
              <a:gd name="T8" fmla="*/ 48 w 185"/>
              <a:gd name="T9" fmla="*/ 21 h 185"/>
              <a:gd name="T10" fmla="*/ 3 w 185"/>
              <a:gd name="T11" fmla="*/ 67 h 185"/>
              <a:gd name="T12" fmla="*/ 8 w 185"/>
              <a:gd name="T13" fmla="*/ 85 h 185"/>
              <a:gd name="T14" fmla="*/ 30 w 185"/>
              <a:gd name="T15" fmla="*/ 161 h 185"/>
              <a:gd name="T16" fmla="*/ 48 w 185"/>
              <a:gd name="T17" fmla="*/ 164 h 185"/>
              <a:gd name="T18" fmla="*/ 30 w 185"/>
              <a:gd name="T19" fmla="*/ 161 h 185"/>
              <a:gd name="T20" fmla="*/ 19 w 185"/>
              <a:gd name="T21" fmla="*/ 148 h 185"/>
              <a:gd name="T22" fmla="*/ 17 w 185"/>
              <a:gd name="T23" fmla="*/ 130 h 185"/>
              <a:gd name="T24" fmla="*/ 141 w 185"/>
              <a:gd name="T25" fmla="*/ 14 h 185"/>
              <a:gd name="T26" fmla="*/ 123 w 185"/>
              <a:gd name="T27" fmla="*/ 14 h 185"/>
              <a:gd name="T28" fmla="*/ 141 w 185"/>
              <a:gd name="T29" fmla="*/ 14 h 185"/>
              <a:gd name="T30" fmla="*/ 75 w 185"/>
              <a:gd name="T31" fmla="*/ 1 h 185"/>
              <a:gd name="T32" fmla="*/ 61 w 185"/>
              <a:gd name="T33" fmla="*/ 14 h 185"/>
              <a:gd name="T34" fmla="*/ 108 w 185"/>
              <a:gd name="T35" fmla="*/ 9 h 185"/>
              <a:gd name="T36" fmla="*/ 92 w 185"/>
              <a:gd name="T37" fmla="*/ 0 h 185"/>
              <a:gd name="T38" fmla="*/ 92 w 185"/>
              <a:gd name="T39" fmla="*/ 0 h 185"/>
              <a:gd name="T40" fmla="*/ 108 w 185"/>
              <a:gd name="T41" fmla="*/ 9 h 185"/>
              <a:gd name="T42" fmla="*/ 18 w 185"/>
              <a:gd name="T43" fmla="*/ 37 h 185"/>
              <a:gd name="T44" fmla="*/ 16 w 185"/>
              <a:gd name="T45" fmla="*/ 55 h 185"/>
              <a:gd name="T46" fmla="*/ 168 w 185"/>
              <a:gd name="T47" fmla="*/ 130 h 185"/>
              <a:gd name="T48" fmla="*/ 181 w 185"/>
              <a:gd name="T49" fmla="*/ 118 h 185"/>
              <a:gd name="T50" fmla="*/ 168 w 185"/>
              <a:gd name="T51" fmla="*/ 130 h 185"/>
              <a:gd name="T52" fmla="*/ 75 w 185"/>
              <a:gd name="T53" fmla="*/ 184 h 185"/>
              <a:gd name="T54" fmla="*/ 62 w 185"/>
              <a:gd name="T55" fmla="*/ 171 h 185"/>
              <a:gd name="T56" fmla="*/ 181 w 185"/>
              <a:gd name="T57" fmla="*/ 67 h 185"/>
              <a:gd name="T58" fmla="*/ 168 w 185"/>
              <a:gd name="T59" fmla="*/ 55 h 185"/>
              <a:gd name="T60" fmla="*/ 181 w 185"/>
              <a:gd name="T61" fmla="*/ 67 h 185"/>
              <a:gd name="T62" fmla="*/ 177 w 185"/>
              <a:gd name="T63" fmla="*/ 85 h 185"/>
              <a:gd name="T64" fmla="*/ 177 w 185"/>
              <a:gd name="T65" fmla="*/ 100 h 185"/>
              <a:gd name="T66" fmla="*/ 185 w 185"/>
              <a:gd name="T67" fmla="*/ 92 h 185"/>
              <a:gd name="T68" fmla="*/ 149 w 185"/>
              <a:gd name="T69" fmla="*/ 155 h 185"/>
              <a:gd name="T70" fmla="*/ 166 w 185"/>
              <a:gd name="T71" fmla="*/ 148 h 185"/>
              <a:gd name="T72" fmla="*/ 149 w 185"/>
              <a:gd name="T73" fmla="*/ 155 h 185"/>
              <a:gd name="T74" fmla="*/ 166 w 185"/>
              <a:gd name="T75" fmla="*/ 37 h 185"/>
              <a:gd name="T76" fmla="*/ 149 w 185"/>
              <a:gd name="T77" fmla="*/ 30 h 185"/>
              <a:gd name="T78" fmla="*/ 92 w 185"/>
              <a:gd name="T79" fmla="*/ 177 h 185"/>
              <a:gd name="T80" fmla="*/ 109 w 185"/>
              <a:gd name="T81" fmla="*/ 183 h 185"/>
              <a:gd name="T82" fmla="*/ 92 w 185"/>
              <a:gd name="T83" fmla="*/ 177 h 185"/>
              <a:gd name="T84" fmla="*/ 97 w 185"/>
              <a:gd name="T85" fmla="*/ 56 h 185"/>
              <a:gd name="T86" fmla="*/ 126 w 185"/>
              <a:gd name="T87" fmla="*/ 84 h 185"/>
              <a:gd name="T88" fmla="*/ 129 w 185"/>
              <a:gd name="T89" fmla="*/ 77 h 185"/>
              <a:gd name="T90" fmla="*/ 92 w 185"/>
              <a:gd name="T91" fmla="*/ 42 h 185"/>
              <a:gd name="T92" fmla="*/ 56 w 185"/>
              <a:gd name="T93" fmla="*/ 77 h 185"/>
              <a:gd name="T94" fmla="*/ 59 w 185"/>
              <a:gd name="T95" fmla="*/ 84 h 185"/>
              <a:gd name="T96" fmla="*/ 88 w 185"/>
              <a:gd name="T97" fmla="*/ 56 h 185"/>
              <a:gd name="T98" fmla="*/ 92 w 185"/>
              <a:gd name="T99" fmla="*/ 143 h 185"/>
              <a:gd name="T100" fmla="*/ 123 w 185"/>
              <a:gd name="T101" fmla="*/ 171 h 185"/>
              <a:gd name="T102" fmla="*/ 141 w 185"/>
              <a:gd name="T103" fmla="*/ 171 h 185"/>
              <a:gd name="T104" fmla="*/ 123 w 185"/>
              <a:gd name="T105" fmla="*/ 17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5" h="185">
                <a:moveTo>
                  <a:pt x="8" y="101"/>
                </a:moveTo>
                <a:cubicBezTo>
                  <a:pt x="0" y="101"/>
                  <a:pt x="0" y="101"/>
                  <a:pt x="0" y="101"/>
                </a:cubicBezTo>
                <a:cubicBezTo>
                  <a:pt x="1" y="107"/>
                  <a:pt x="2" y="113"/>
                  <a:pt x="3" y="118"/>
                </a:cubicBezTo>
                <a:cubicBezTo>
                  <a:pt x="11" y="116"/>
                  <a:pt x="11" y="116"/>
                  <a:pt x="11" y="116"/>
                </a:cubicBezTo>
                <a:cubicBezTo>
                  <a:pt x="10" y="111"/>
                  <a:pt x="9" y="106"/>
                  <a:pt x="8" y="101"/>
                </a:cubicBezTo>
                <a:close/>
                <a:moveTo>
                  <a:pt x="48" y="21"/>
                </a:moveTo>
                <a:cubicBezTo>
                  <a:pt x="43" y="14"/>
                  <a:pt x="43" y="14"/>
                  <a:pt x="43" y="14"/>
                </a:cubicBezTo>
                <a:cubicBezTo>
                  <a:pt x="38" y="17"/>
                  <a:pt x="34" y="20"/>
                  <a:pt x="30" y="24"/>
                </a:cubicBezTo>
                <a:cubicBezTo>
                  <a:pt x="35" y="30"/>
                  <a:pt x="35" y="30"/>
                  <a:pt x="35" y="30"/>
                </a:cubicBezTo>
                <a:cubicBezTo>
                  <a:pt x="39" y="27"/>
                  <a:pt x="43" y="23"/>
                  <a:pt x="48" y="21"/>
                </a:cubicBezTo>
                <a:close/>
                <a:moveTo>
                  <a:pt x="11" y="70"/>
                </a:moveTo>
                <a:cubicBezTo>
                  <a:pt x="3" y="67"/>
                  <a:pt x="3" y="67"/>
                  <a:pt x="3" y="67"/>
                </a:cubicBezTo>
                <a:cubicBezTo>
                  <a:pt x="2" y="73"/>
                  <a:pt x="1" y="79"/>
                  <a:pt x="0" y="84"/>
                </a:cubicBezTo>
                <a:cubicBezTo>
                  <a:pt x="8" y="85"/>
                  <a:pt x="8" y="85"/>
                  <a:pt x="8" y="85"/>
                </a:cubicBezTo>
                <a:cubicBezTo>
                  <a:pt x="9" y="80"/>
                  <a:pt x="9" y="75"/>
                  <a:pt x="11" y="70"/>
                </a:cubicBezTo>
                <a:close/>
                <a:moveTo>
                  <a:pt x="30" y="161"/>
                </a:moveTo>
                <a:cubicBezTo>
                  <a:pt x="34" y="165"/>
                  <a:pt x="39" y="168"/>
                  <a:pt x="44" y="171"/>
                </a:cubicBezTo>
                <a:cubicBezTo>
                  <a:pt x="48" y="164"/>
                  <a:pt x="48" y="164"/>
                  <a:pt x="48" y="164"/>
                </a:cubicBezTo>
                <a:cubicBezTo>
                  <a:pt x="44" y="162"/>
                  <a:pt x="39" y="159"/>
                  <a:pt x="35" y="155"/>
                </a:cubicBezTo>
                <a:lnTo>
                  <a:pt x="30" y="161"/>
                </a:lnTo>
                <a:close/>
                <a:moveTo>
                  <a:pt x="9" y="134"/>
                </a:moveTo>
                <a:cubicBezTo>
                  <a:pt x="12" y="139"/>
                  <a:pt x="15" y="144"/>
                  <a:pt x="19" y="148"/>
                </a:cubicBezTo>
                <a:cubicBezTo>
                  <a:pt x="25" y="144"/>
                  <a:pt x="25" y="144"/>
                  <a:pt x="25" y="144"/>
                </a:cubicBezTo>
                <a:cubicBezTo>
                  <a:pt x="22" y="139"/>
                  <a:pt x="19" y="135"/>
                  <a:pt x="17" y="130"/>
                </a:cubicBezTo>
                <a:lnTo>
                  <a:pt x="9" y="134"/>
                </a:lnTo>
                <a:close/>
                <a:moveTo>
                  <a:pt x="141" y="14"/>
                </a:moveTo>
                <a:cubicBezTo>
                  <a:pt x="136" y="11"/>
                  <a:pt x="131" y="8"/>
                  <a:pt x="126" y="6"/>
                </a:cubicBezTo>
                <a:cubicBezTo>
                  <a:pt x="123" y="14"/>
                  <a:pt x="123" y="14"/>
                  <a:pt x="123" y="14"/>
                </a:cubicBezTo>
                <a:cubicBezTo>
                  <a:pt x="128" y="15"/>
                  <a:pt x="132" y="18"/>
                  <a:pt x="137" y="21"/>
                </a:cubicBezTo>
                <a:lnTo>
                  <a:pt x="141" y="14"/>
                </a:lnTo>
                <a:close/>
                <a:moveTo>
                  <a:pt x="76" y="9"/>
                </a:moveTo>
                <a:cubicBezTo>
                  <a:pt x="75" y="1"/>
                  <a:pt x="75" y="1"/>
                  <a:pt x="75" y="1"/>
                </a:cubicBezTo>
                <a:cubicBezTo>
                  <a:pt x="69" y="3"/>
                  <a:pt x="64" y="4"/>
                  <a:pt x="59" y="6"/>
                </a:cubicBezTo>
                <a:cubicBezTo>
                  <a:pt x="61" y="14"/>
                  <a:pt x="61" y="14"/>
                  <a:pt x="61" y="14"/>
                </a:cubicBezTo>
                <a:cubicBezTo>
                  <a:pt x="66" y="12"/>
                  <a:pt x="71" y="10"/>
                  <a:pt x="76" y="9"/>
                </a:cubicBezTo>
                <a:close/>
                <a:moveTo>
                  <a:pt x="108" y="9"/>
                </a:moveTo>
                <a:cubicBezTo>
                  <a:pt x="109" y="1"/>
                  <a:pt x="109" y="1"/>
                  <a:pt x="109" y="1"/>
                </a:cubicBezTo>
                <a:cubicBezTo>
                  <a:pt x="104" y="0"/>
                  <a:pt x="98" y="0"/>
                  <a:pt x="92" y="0"/>
                </a:cubicBezTo>
                <a:cubicBezTo>
                  <a:pt x="92" y="0"/>
                  <a:pt x="92" y="0"/>
                  <a:pt x="92" y="0"/>
                </a:cubicBezTo>
                <a:cubicBezTo>
                  <a:pt x="92" y="0"/>
                  <a:pt x="92" y="0"/>
                  <a:pt x="92" y="0"/>
                </a:cubicBezTo>
                <a:cubicBezTo>
                  <a:pt x="92" y="8"/>
                  <a:pt x="92" y="8"/>
                  <a:pt x="92" y="8"/>
                </a:cubicBezTo>
                <a:cubicBezTo>
                  <a:pt x="98" y="8"/>
                  <a:pt x="103" y="8"/>
                  <a:pt x="108" y="9"/>
                </a:cubicBezTo>
                <a:close/>
                <a:moveTo>
                  <a:pt x="25" y="42"/>
                </a:moveTo>
                <a:cubicBezTo>
                  <a:pt x="18" y="37"/>
                  <a:pt x="18" y="37"/>
                  <a:pt x="18" y="37"/>
                </a:cubicBezTo>
                <a:cubicBezTo>
                  <a:pt x="15" y="41"/>
                  <a:pt x="12" y="46"/>
                  <a:pt x="9" y="51"/>
                </a:cubicBezTo>
                <a:cubicBezTo>
                  <a:pt x="16" y="55"/>
                  <a:pt x="16" y="55"/>
                  <a:pt x="16" y="55"/>
                </a:cubicBezTo>
                <a:cubicBezTo>
                  <a:pt x="19" y="50"/>
                  <a:pt x="22" y="46"/>
                  <a:pt x="25" y="42"/>
                </a:cubicBezTo>
                <a:close/>
                <a:moveTo>
                  <a:pt x="168" y="130"/>
                </a:moveTo>
                <a:cubicBezTo>
                  <a:pt x="175" y="134"/>
                  <a:pt x="175" y="134"/>
                  <a:pt x="175" y="134"/>
                </a:cubicBezTo>
                <a:cubicBezTo>
                  <a:pt x="178" y="129"/>
                  <a:pt x="180" y="123"/>
                  <a:pt x="181" y="118"/>
                </a:cubicBezTo>
                <a:cubicBezTo>
                  <a:pt x="174" y="116"/>
                  <a:pt x="174" y="116"/>
                  <a:pt x="174" y="116"/>
                </a:cubicBezTo>
                <a:cubicBezTo>
                  <a:pt x="172" y="121"/>
                  <a:pt x="170" y="125"/>
                  <a:pt x="168" y="130"/>
                </a:cubicBezTo>
                <a:close/>
                <a:moveTo>
                  <a:pt x="59" y="179"/>
                </a:moveTo>
                <a:cubicBezTo>
                  <a:pt x="64" y="181"/>
                  <a:pt x="70" y="183"/>
                  <a:pt x="75" y="184"/>
                </a:cubicBezTo>
                <a:cubicBezTo>
                  <a:pt x="77" y="176"/>
                  <a:pt x="77" y="176"/>
                  <a:pt x="77" y="176"/>
                </a:cubicBezTo>
                <a:cubicBezTo>
                  <a:pt x="72" y="175"/>
                  <a:pt x="67" y="173"/>
                  <a:pt x="62" y="171"/>
                </a:cubicBezTo>
                <a:lnTo>
                  <a:pt x="59" y="179"/>
                </a:lnTo>
                <a:close/>
                <a:moveTo>
                  <a:pt x="181" y="67"/>
                </a:moveTo>
                <a:cubicBezTo>
                  <a:pt x="180" y="62"/>
                  <a:pt x="178" y="56"/>
                  <a:pt x="175" y="51"/>
                </a:cubicBezTo>
                <a:cubicBezTo>
                  <a:pt x="168" y="55"/>
                  <a:pt x="168" y="55"/>
                  <a:pt x="168" y="55"/>
                </a:cubicBezTo>
                <a:cubicBezTo>
                  <a:pt x="170" y="59"/>
                  <a:pt x="172" y="64"/>
                  <a:pt x="174" y="69"/>
                </a:cubicBezTo>
                <a:lnTo>
                  <a:pt x="181" y="67"/>
                </a:lnTo>
                <a:close/>
                <a:moveTo>
                  <a:pt x="185" y="84"/>
                </a:moveTo>
                <a:cubicBezTo>
                  <a:pt x="177" y="85"/>
                  <a:pt x="177" y="85"/>
                  <a:pt x="177" y="85"/>
                </a:cubicBezTo>
                <a:cubicBezTo>
                  <a:pt x="177" y="87"/>
                  <a:pt x="177" y="90"/>
                  <a:pt x="177" y="92"/>
                </a:cubicBezTo>
                <a:cubicBezTo>
                  <a:pt x="177" y="95"/>
                  <a:pt x="177" y="98"/>
                  <a:pt x="177" y="100"/>
                </a:cubicBezTo>
                <a:cubicBezTo>
                  <a:pt x="185" y="101"/>
                  <a:pt x="185" y="101"/>
                  <a:pt x="185" y="101"/>
                </a:cubicBezTo>
                <a:cubicBezTo>
                  <a:pt x="185" y="98"/>
                  <a:pt x="185" y="95"/>
                  <a:pt x="185" y="92"/>
                </a:cubicBezTo>
                <a:cubicBezTo>
                  <a:pt x="185" y="90"/>
                  <a:pt x="185" y="87"/>
                  <a:pt x="185" y="84"/>
                </a:cubicBezTo>
                <a:close/>
                <a:moveTo>
                  <a:pt x="149" y="155"/>
                </a:moveTo>
                <a:cubicBezTo>
                  <a:pt x="155" y="161"/>
                  <a:pt x="155" y="161"/>
                  <a:pt x="155" y="161"/>
                </a:cubicBezTo>
                <a:cubicBezTo>
                  <a:pt x="159" y="157"/>
                  <a:pt x="163" y="153"/>
                  <a:pt x="166" y="148"/>
                </a:cubicBezTo>
                <a:cubicBezTo>
                  <a:pt x="160" y="143"/>
                  <a:pt x="160" y="143"/>
                  <a:pt x="160" y="143"/>
                </a:cubicBezTo>
                <a:cubicBezTo>
                  <a:pt x="157" y="147"/>
                  <a:pt x="153" y="151"/>
                  <a:pt x="149" y="155"/>
                </a:cubicBezTo>
                <a:close/>
                <a:moveTo>
                  <a:pt x="160" y="41"/>
                </a:moveTo>
                <a:cubicBezTo>
                  <a:pt x="166" y="37"/>
                  <a:pt x="166" y="37"/>
                  <a:pt x="166" y="37"/>
                </a:cubicBezTo>
                <a:cubicBezTo>
                  <a:pt x="163" y="32"/>
                  <a:pt x="159" y="28"/>
                  <a:pt x="155" y="24"/>
                </a:cubicBezTo>
                <a:cubicBezTo>
                  <a:pt x="149" y="30"/>
                  <a:pt x="149" y="30"/>
                  <a:pt x="149" y="30"/>
                </a:cubicBezTo>
                <a:cubicBezTo>
                  <a:pt x="153" y="33"/>
                  <a:pt x="157" y="37"/>
                  <a:pt x="160" y="41"/>
                </a:cubicBezTo>
                <a:close/>
                <a:moveTo>
                  <a:pt x="92" y="177"/>
                </a:moveTo>
                <a:cubicBezTo>
                  <a:pt x="92" y="185"/>
                  <a:pt x="92" y="185"/>
                  <a:pt x="92" y="185"/>
                </a:cubicBezTo>
                <a:cubicBezTo>
                  <a:pt x="98" y="185"/>
                  <a:pt x="104" y="185"/>
                  <a:pt x="109" y="183"/>
                </a:cubicBezTo>
                <a:cubicBezTo>
                  <a:pt x="108" y="176"/>
                  <a:pt x="108" y="176"/>
                  <a:pt x="108" y="176"/>
                </a:cubicBezTo>
                <a:cubicBezTo>
                  <a:pt x="103" y="177"/>
                  <a:pt x="98" y="177"/>
                  <a:pt x="92" y="177"/>
                </a:cubicBezTo>
                <a:close/>
                <a:moveTo>
                  <a:pt x="97" y="139"/>
                </a:moveTo>
                <a:cubicBezTo>
                  <a:pt x="97" y="56"/>
                  <a:pt x="97" y="56"/>
                  <a:pt x="97" y="56"/>
                </a:cubicBezTo>
                <a:cubicBezTo>
                  <a:pt x="123" y="83"/>
                  <a:pt x="123" y="83"/>
                  <a:pt x="123" y="83"/>
                </a:cubicBezTo>
                <a:cubicBezTo>
                  <a:pt x="124" y="84"/>
                  <a:pt x="125" y="84"/>
                  <a:pt x="126" y="84"/>
                </a:cubicBezTo>
                <a:cubicBezTo>
                  <a:pt x="129" y="84"/>
                  <a:pt x="130" y="82"/>
                  <a:pt x="130" y="80"/>
                </a:cubicBezTo>
                <a:cubicBezTo>
                  <a:pt x="130" y="79"/>
                  <a:pt x="130" y="78"/>
                  <a:pt x="129" y="77"/>
                </a:cubicBezTo>
                <a:cubicBezTo>
                  <a:pt x="95" y="43"/>
                  <a:pt x="95" y="43"/>
                  <a:pt x="95" y="43"/>
                </a:cubicBezTo>
                <a:cubicBezTo>
                  <a:pt x="95" y="42"/>
                  <a:pt x="94" y="42"/>
                  <a:pt x="92" y="42"/>
                </a:cubicBezTo>
                <a:cubicBezTo>
                  <a:pt x="91" y="42"/>
                  <a:pt x="90" y="42"/>
                  <a:pt x="90" y="43"/>
                </a:cubicBezTo>
                <a:cubicBezTo>
                  <a:pt x="56" y="77"/>
                  <a:pt x="56" y="77"/>
                  <a:pt x="56" y="77"/>
                </a:cubicBezTo>
                <a:cubicBezTo>
                  <a:pt x="55" y="78"/>
                  <a:pt x="55" y="79"/>
                  <a:pt x="55" y="80"/>
                </a:cubicBezTo>
                <a:cubicBezTo>
                  <a:pt x="55" y="82"/>
                  <a:pt x="56" y="84"/>
                  <a:pt x="59" y="84"/>
                </a:cubicBezTo>
                <a:cubicBezTo>
                  <a:pt x="60" y="84"/>
                  <a:pt x="61" y="84"/>
                  <a:pt x="62" y="83"/>
                </a:cubicBezTo>
                <a:cubicBezTo>
                  <a:pt x="88" y="56"/>
                  <a:pt x="88" y="56"/>
                  <a:pt x="88" y="56"/>
                </a:cubicBezTo>
                <a:cubicBezTo>
                  <a:pt x="88" y="139"/>
                  <a:pt x="88" y="139"/>
                  <a:pt x="88" y="139"/>
                </a:cubicBezTo>
                <a:cubicBezTo>
                  <a:pt x="88" y="141"/>
                  <a:pt x="90" y="143"/>
                  <a:pt x="92" y="143"/>
                </a:cubicBezTo>
                <a:cubicBezTo>
                  <a:pt x="95" y="143"/>
                  <a:pt x="97" y="141"/>
                  <a:pt x="97" y="139"/>
                </a:cubicBezTo>
                <a:close/>
                <a:moveTo>
                  <a:pt x="123" y="171"/>
                </a:moveTo>
                <a:cubicBezTo>
                  <a:pt x="126" y="179"/>
                  <a:pt x="126" y="179"/>
                  <a:pt x="126" y="179"/>
                </a:cubicBezTo>
                <a:cubicBezTo>
                  <a:pt x="131" y="177"/>
                  <a:pt x="136" y="174"/>
                  <a:pt x="141" y="171"/>
                </a:cubicBezTo>
                <a:cubicBezTo>
                  <a:pt x="137" y="164"/>
                  <a:pt x="137" y="164"/>
                  <a:pt x="137" y="164"/>
                </a:cubicBezTo>
                <a:cubicBezTo>
                  <a:pt x="133" y="167"/>
                  <a:pt x="128" y="169"/>
                  <a:pt x="123" y="171"/>
                </a:cubicBez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45" name="Freeform 448"/>
          <p:cNvSpPr>
            <a:spLocks noEditPoints="1"/>
          </p:cNvSpPr>
          <p:nvPr/>
        </p:nvSpPr>
        <p:spPr bwMode="auto">
          <a:xfrm rot="5400000">
            <a:off x="598387" y="5515371"/>
            <a:ext cx="175773" cy="175773"/>
          </a:xfrm>
          <a:custGeom>
            <a:avLst/>
            <a:gdLst>
              <a:gd name="T0" fmla="*/ 0 w 185"/>
              <a:gd name="T1" fmla="*/ 101 h 185"/>
              <a:gd name="T2" fmla="*/ 11 w 185"/>
              <a:gd name="T3" fmla="*/ 116 h 185"/>
              <a:gd name="T4" fmla="*/ 48 w 185"/>
              <a:gd name="T5" fmla="*/ 21 h 185"/>
              <a:gd name="T6" fmla="*/ 30 w 185"/>
              <a:gd name="T7" fmla="*/ 24 h 185"/>
              <a:gd name="T8" fmla="*/ 48 w 185"/>
              <a:gd name="T9" fmla="*/ 21 h 185"/>
              <a:gd name="T10" fmla="*/ 3 w 185"/>
              <a:gd name="T11" fmla="*/ 67 h 185"/>
              <a:gd name="T12" fmla="*/ 8 w 185"/>
              <a:gd name="T13" fmla="*/ 85 h 185"/>
              <a:gd name="T14" fmla="*/ 30 w 185"/>
              <a:gd name="T15" fmla="*/ 161 h 185"/>
              <a:gd name="T16" fmla="*/ 48 w 185"/>
              <a:gd name="T17" fmla="*/ 164 h 185"/>
              <a:gd name="T18" fmla="*/ 30 w 185"/>
              <a:gd name="T19" fmla="*/ 161 h 185"/>
              <a:gd name="T20" fmla="*/ 19 w 185"/>
              <a:gd name="T21" fmla="*/ 148 h 185"/>
              <a:gd name="T22" fmla="*/ 17 w 185"/>
              <a:gd name="T23" fmla="*/ 130 h 185"/>
              <a:gd name="T24" fmla="*/ 141 w 185"/>
              <a:gd name="T25" fmla="*/ 14 h 185"/>
              <a:gd name="T26" fmla="*/ 123 w 185"/>
              <a:gd name="T27" fmla="*/ 14 h 185"/>
              <a:gd name="T28" fmla="*/ 141 w 185"/>
              <a:gd name="T29" fmla="*/ 14 h 185"/>
              <a:gd name="T30" fmla="*/ 75 w 185"/>
              <a:gd name="T31" fmla="*/ 1 h 185"/>
              <a:gd name="T32" fmla="*/ 61 w 185"/>
              <a:gd name="T33" fmla="*/ 14 h 185"/>
              <a:gd name="T34" fmla="*/ 108 w 185"/>
              <a:gd name="T35" fmla="*/ 9 h 185"/>
              <a:gd name="T36" fmla="*/ 92 w 185"/>
              <a:gd name="T37" fmla="*/ 0 h 185"/>
              <a:gd name="T38" fmla="*/ 92 w 185"/>
              <a:gd name="T39" fmla="*/ 0 h 185"/>
              <a:gd name="T40" fmla="*/ 108 w 185"/>
              <a:gd name="T41" fmla="*/ 9 h 185"/>
              <a:gd name="T42" fmla="*/ 18 w 185"/>
              <a:gd name="T43" fmla="*/ 37 h 185"/>
              <a:gd name="T44" fmla="*/ 16 w 185"/>
              <a:gd name="T45" fmla="*/ 55 h 185"/>
              <a:gd name="T46" fmla="*/ 168 w 185"/>
              <a:gd name="T47" fmla="*/ 130 h 185"/>
              <a:gd name="T48" fmla="*/ 181 w 185"/>
              <a:gd name="T49" fmla="*/ 118 h 185"/>
              <a:gd name="T50" fmla="*/ 168 w 185"/>
              <a:gd name="T51" fmla="*/ 130 h 185"/>
              <a:gd name="T52" fmla="*/ 75 w 185"/>
              <a:gd name="T53" fmla="*/ 184 h 185"/>
              <a:gd name="T54" fmla="*/ 62 w 185"/>
              <a:gd name="T55" fmla="*/ 171 h 185"/>
              <a:gd name="T56" fmla="*/ 181 w 185"/>
              <a:gd name="T57" fmla="*/ 67 h 185"/>
              <a:gd name="T58" fmla="*/ 168 w 185"/>
              <a:gd name="T59" fmla="*/ 55 h 185"/>
              <a:gd name="T60" fmla="*/ 181 w 185"/>
              <a:gd name="T61" fmla="*/ 67 h 185"/>
              <a:gd name="T62" fmla="*/ 177 w 185"/>
              <a:gd name="T63" fmla="*/ 85 h 185"/>
              <a:gd name="T64" fmla="*/ 177 w 185"/>
              <a:gd name="T65" fmla="*/ 100 h 185"/>
              <a:gd name="T66" fmla="*/ 185 w 185"/>
              <a:gd name="T67" fmla="*/ 92 h 185"/>
              <a:gd name="T68" fmla="*/ 149 w 185"/>
              <a:gd name="T69" fmla="*/ 155 h 185"/>
              <a:gd name="T70" fmla="*/ 166 w 185"/>
              <a:gd name="T71" fmla="*/ 148 h 185"/>
              <a:gd name="T72" fmla="*/ 149 w 185"/>
              <a:gd name="T73" fmla="*/ 155 h 185"/>
              <a:gd name="T74" fmla="*/ 166 w 185"/>
              <a:gd name="T75" fmla="*/ 37 h 185"/>
              <a:gd name="T76" fmla="*/ 149 w 185"/>
              <a:gd name="T77" fmla="*/ 30 h 185"/>
              <a:gd name="T78" fmla="*/ 92 w 185"/>
              <a:gd name="T79" fmla="*/ 177 h 185"/>
              <a:gd name="T80" fmla="*/ 109 w 185"/>
              <a:gd name="T81" fmla="*/ 183 h 185"/>
              <a:gd name="T82" fmla="*/ 92 w 185"/>
              <a:gd name="T83" fmla="*/ 177 h 185"/>
              <a:gd name="T84" fmla="*/ 97 w 185"/>
              <a:gd name="T85" fmla="*/ 56 h 185"/>
              <a:gd name="T86" fmla="*/ 126 w 185"/>
              <a:gd name="T87" fmla="*/ 84 h 185"/>
              <a:gd name="T88" fmla="*/ 129 w 185"/>
              <a:gd name="T89" fmla="*/ 77 h 185"/>
              <a:gd name="T90" fmla="*/ 92 w 185"/>
              <a:gd name="T91" fmla="*/ 42 h 185"/>
              <a:gd name="T92" fmla="*/ 56 w 185"/>
              <a:gd name="T93" fmla="*/ 77 h 185"/>
              <a:gd name="T94" fmla="*/ 59 w 185"/>
              <a:gd name="T95" fmla="*/ 84 h 185"/>
              <a:gd name="T96" fmla="*/ 88 w 185"/>
              <a:gd name="T97" fmla="*/ 56 h 185"/>
              <a:gd name="T98" fmla="*/ 92 w 185"/>
              <a:gd name="T99" fmla="*/ 143 h 185"/>
              <a:gd name="T100" fmla="*/ 123 w 185"/>
              <a:gd name="T101" fmla="*/ 171 h 185"/>
              <a:gd name="T102" fmla="*/ 141 w 185"/>
              <a:gd name="T103" fmla="*/ 171 h 185"/>
              <a:gd name="T104" fmla="*/ 123 w 185"/>
              <a:gd name="T105" fmla="*/ 17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5" h="185">
                <a:moveTo>
                  <a:pt x="8" y="101"/>
                </a:moveTo>
                <a:cubicBezTo>
                  <a:pt x="0" y="101"/>
                  <a:pt x="0" y="101"/>
                  <a:pt x="0" y="101"/>
                </a:cubicBezTo>
                <a:cubicBezTo>
                  <a:pt x="1" y="107"/>
                  <a:pt x="2" y="113"/>
                  <a:pt x="3" y="118"/>
                </a:cubicBezTo>
                <a:cubicBezTo>
                  <a:pt x="11" y="116"/>
                  <a:pt x="11" y="116"/>
                  <a:pt x="11" y="116"/>
                </a:cubicBezTo>
                <a:cubicBezTo>
                  <a:pt x="10" y="111"/>
                  <a:pt x="9" y="106"/>
                  <a:pt x="8" y="101"/>
                </a:cubicBezTo>
                <a:close/>
                <a:moveTo>
                  <a:pt x="48" y="21"/>
                </a:moveTo>
                <a:cubicBezTo>
                  <a:pt x="43" y="14"/>
                  <a:pt x="43" y="14"/>
                  <a:pt x="43" y="14"/>
                </a:cubicBezTo>
                <a:cubicBezTo>
                  <a:pt x="38" y="17"/>
                  <a:pt x="34" y="20"/>
                  <a:pt x="30" y="24"/>
                </a:cubicBezTo>
                <a:cubicBezTo>
                  <a:pt x="35" y="30"/>
                  <a:pt x="35" y="30"/>
                  <a:pt x="35" y="30"/>
                </a:cubicBezTo>
                <a:cubicBezTo>
                  <a:pt x="39" y="27"/>
                  <a:pt x="43" y="23"/>
                  <a:pt x="48" y="21"/>
                </a:cubicBezTo>
                <a:close/>
                <a:moveTo>
                  <a:pt x="11" y="70"/>
                </a:moveTo>
                <a:cubicBezTo>
                  <a:pt x="3" y="67"/>
                  <a:pt x="3" y="67"/>
                  <a:pt x="3" y="67"/>
                </a:cubicBezTo>
                <a:cubicBezTo>
                  <a:pt x="2" y="73"/>
                  <a:pt x="1" y="79"/>
                  <a:pt x="0" y="84"/>
                </a:cubicBezTo>
                <a:cubicBezTo>
                  <a:pt x="8" y="85"/>
                  <a:pt x="8" y="85"/>
                  <a:pt x="8" y="85"/>
                </a:cubicBezTo>
                <a:cubicBezTo>
                  <a:pt x="9" y="80"/>
                  <a:pt x="9" y="75"/>
                  <a:pt x="11" y="70"/>
                </a:cubicBezTo>
                <a:close/>
                <a:moveTo>
                  <a:pt x="30" y="161"/>
                </a:moveTo>
                <a:cubicBezTo>
                  <a:pt x="34" y="165"/>
                  <a:pt x="39" y="168"/>
                  <a:pt x="44" y="171"/>
                </a:cubicBezTo>
                <a:cubicBezTo>
                  <a:pt x="48" y="164"/>
                  <a:pt x="48" y="164"/>
                  <a:pt x="48" y="164"/>
                </a:cubicBezTo>
                <a:cubicBezTo>
                  <a:pt x="44" y="162"/>
                  <a:pt x="39" y="159"/>
                  <a:pt x="35" y="155"/>
                </a:cubicBezTo>
                <a:lnTo>
                  <a:pt x="30" y="161"/>
                </a:lnTo>
                <a:close/>
                <a:moveTo>
                  <a:pt x="9" y="134"/>
                </a:moveTo>
                <a:cubicBezTo>
                  <a:pt x="12" y="139"/>
                  <a:pt x="15" y="144"/>
                  <a:pt x="19" y="148"/>
                </a:cubicBezTo>
                <a:cubicBezTo>
                  <a:pt x="25" y="144"/>
                  <a:pt x="25" y="144"/>
                  <a:pt x="25" y="144"/>
                </a:cubicBezTo>
                <a:cubicBezTo>
                  <a:pt x="22" y="139"/>
                  <a:pt x="19" y="135"/>
                  <a:pt x="17" y="130"/>
                </a:cubicBezTo>
                <a:lnTo>
                  <a:pt x="9" y="134"/>
                </a:lnTo>
                <a:close/>
                <a:moveTo>
                  <a:pt x="141" y="14"/>
                </a:moveTo>
                <a:cubicBezTo>
                  <a:pt x="136" y="11"/>
                  <a:pt x="131" y="8"/>
                  <a:pt x="126" y="6"/>
                </a:cubicBezTo>
                <a:cubicBezTo>
                  <a:pt x="123" y="14"/>
                  <a:pt x="123" y="14"/>
                  <a:pt x="123" y="14"/>
                </a:cubicBezTo>
                <a:cubicBezTo>
                  <a:pt x="128" y="15"/>
                  <a:pt x="132" y="18"/>
                  <a:pt x="137" y="21"/>
                </a:cubicBezTo>
                <a:lnTo>
                  <a:pt x="141" y="14"/>
                </a:lnTo>
                <a:close/>
                <a:moveTo>
                  <a:pt x="76" y="9"/>
                </a:moveTo>
                <a:cubicBezTo>
                  <a:pt x="75" y="1"/>
                  <a:pt x="75" y="1"/>
                  <a:pt x="75" y="1"/>
                </a:cubicBezTo>
                <a:cubicBezTo>
                  <a:pt x="69" y="3"/>
                  <a:pt x="64" y="4"/>
                  <a:pt x="59" y="6"/>
                </a:cubicBezTo>
                <a:cubicBezTo>
                  <a:pt x="61" y="14"/>
                  <a:pt x="61" y="14"/>
                  <a:pt x="61" y="14"/>
                </a:cubicBezTo>
                <a:cubicBezTo>
                  <a:pt x="66" y="12"/>
                  <a:pt x="71" y="10"/>
                  <a:pt x="76" y="9"/>
                </a:cubicBezTo>
                <a:close/>
                <a:moveTo>
                  <a:pt x="108" y="9"/>
                </a:moveTo>
                <a:cubicBezTo>
                  <a:pt x="109" y="1"/>
                  <a:pt x="109" y="1"/>
                  <a:pt x="109" y="1"/>
                </a:cubicBezTo>
                <a:cubicBezTo>
                  <a:pt x="104" y="0"/>
                  <a:pt x="98" y="0"/>
                  <a:pt x="92" y="0"/>
                </a:cubicBezTo>
                <a:cubicBezTo>
                  <a:pt x="92" y="0"/>
                  <a:pt x="92" y="0"/>
                  <a:pt x="92" y="0"/>
                </a:cubicBezTo>
                <a:cubicBezTo>
                  <a:pt x="92" y="0"/>
                  <a:pt x="92" y="0"/>
                  <a:pt x="92" y="0"/>
                </a:cubicBezTo>
                <a:cubicBezTo>
                  <a:pt x="92" y="8"/>
                  <a:pt x="92" y="8"/>
                  <a:pt x="92" y="8"/>
                </a:cubicBezTo>
                <a:cubicBezTo>
                  <a:pt x="98" y="8"/>
                  <a:pt x="103" y="8"/>
                  <a:pt x="108" y="9"/>
                </a:cubicBezTo>
                <a:close/>
                <a:moveTo>
                  <a:pt x="25" y="42"/>
                </a:moveTo>
                <a:cubicBezTo>
                  <a:pt x="18" y="37"/>
                  <a:pt x="18" y="37"/>
                  <a:pt x="18" y="37"/>
                </a:cubicBezTo>
                <a:cubicBezTo>
                  <a:pt x="15" y="41"/>
                  <a:pt x="12" y="46"/>
                  <a:pt x="9" y="51"/>
                </a:cubicBezTo>
                <a:cubicBezTo>
                  <a:pt x="16" y="55"/>
                  <a:pt x="16" y="55"/>
                  <a:pt x="16" y="55"/>
                </a:cubicBezTo>
                <a:cubicBezTo>
                  <a:pt x="19" y="50"/>
                  <a:pt x="22" y="46"/>
                  <a:pt x="25" y="42"/>
                </a:cubicBezTo>
                <a:close/>
                <a:moveTo>
                  <a:pt x="168" y="130"/>
                </a:moveTo>
                <a:cubicBezTo>
                  <a:pt x="175" y="134"/>
                  <a:pt x="175" y="134"/>
                  <a:pt x="175" y="134"/>
                </a:cubicBezTo>
                <a:cubicBezTo>
                  <a:pt x="178" y="129"/>
                  <a:pt x="180" y="123"/>
                  <a:pt x="181" y="118"/>
                </a:cubicBezTo>
                <a:cubicBezTo>
                  <a:pt x="174" y="116"/>
                  <a:pt x="174" y="116"/>
                  <a:pt x="174" y="116"/>
                </a:cubicBezTo>
                <a:cubicBezTo>
                  <a:pt x="172" y="121"/>
                  <a:pt x="170" y="125"/>
                  <a:pt x="168" y="130"/>
                </a:cubicBezTo>
                <a:close/>
                <a:moveTo>
                  <a:pt x="59" y="179"/>
                </a:moveTo>
                <a:cubicBezTo>
                  <a:pt x="64" y="181"/>
                  <a:pt x="70" y="183"/>
                  <a:pt x="75" y="184"/>
                </a:cubicBezTo>
                <a:cubicBezTo>
                  <a:pt x="77" y="176"/>
                  <a:pt x="77" y="176"/>
                  <a:pt x="77" y="176"/>
                </a:cubicBezTo>
                <a:cubicBezTo>
                  <a:pt x="72" y="175"/>
                  <a:pt x="67" y="173"/>
                  <a:pt x="62" y="171"/>
                </a:cubicBezTo>
                <a:lnTo>
                  <a:pt x="59" y="179"/>
                </a:lnTo>
                <a:close/>
                <a:moveTo>
                  <a:pt x="181" y="67"/>
                </a:moveTo>
                <a:cubicBezTo>
                  <a:pt x="180" y="62"/>
                  <a:pt x="178" y="56"/>
                  <a:pt x="175" y="51"/>
                </a:cubicBezTo>
                <a:cubicBezTo>
                  <a:pt x="168" y="55"/>
                  <a:pt x="168" y="55"/>
                  <a:pt x="168" y="55"/>
                </a:cubicBezTo>
                <a:cubicBezTo>
                  <a:pt x="170" y="59"/>
                  <a:pt x="172" y="64"/>
                  <a:pt x="174" y="69"/>
                </a:cubicBezTo>
                <a:lnTo>
                  <a:pt x="181" y="67"/>
                </a:lnTo>
                <a:close/>
                <a:moveTo>
                  <a:pt x="185" y="84"/>
                </a:moveTo>
                <a:cubicBezTo>
                  <a:pt x="177" y="85"/>
                  <a:pt x="177" y="85"/>
                  <a:pt x="177" y="85"/>
                </a:cubicBezTo>
                <a:cubicBezTo>
                  <a:pt x="177" y="87"/>
                  <a:pt x="177" y="90"/>
                  <a:pt x="177" y="92"/>
                </a:cubicBezTo>
                <a:cubicBezTo>
                  <a:pt x="177" y="95"/>
                  <a:pt x="177" y="98"/>
                  <a:pt x="177" y="100"/>
                </a:cubicBezTo>
                <a:cubicBezTo>
                  <a:pt x="185" y="101"/>
                  <a:pt x="185" y="101"/>
                  <a:pt x="185" y="101"/>
                </a:cubicBezTo>
                <a:cubicBezTo>
                  <a:pt x="185" y="98"/>
                  <a:pt x="185" y="95"/>
                  <a:pt x="185" y="92"/>
                </a:cubicBezTo>
                <a:cubicBezTo>
                  <a:pt x="185" y="90"/>
                  <a:pt x="185" y="87"/>
                  <a:pt x="185" y="84"/>
                </a:cubicBezTo>
                <a:close/>
                <a:moveTo>
                  <a:pt x="149" y="155"/>
                </a:moveTo>
                <a:cubicBezTo>
                  <a:pt x="155" y="161"/>
                  <a:pt x="155" y="161"/>
                  <a:pt x="155" y="161"/>
                </a:cubicBezTo>
                <a:cubicBezTo>
                  <a:pt x="159" y="157"/>
                  <a:pt x="163" y="153"/>
                  <a:pt x="166" y="148"/>
                </a:cubicBezTo>
                <a:cubicBezTo>
                  <a:pt x="160" y="143"/>
                  <a:pt x="160" y="143"/>
                  <a:pt x="160" y="143"/>
                </a:cubicBezTo>
                <a:cubicBezTo>
                  <a:pt x="157" y="147"/>
                  <a:pt x="153" y="151"/>
                  <a:pt x="149" y="155"/>
                </a:cubicBezTo>
                <a:close/>
                <a:moveTo>
                  <a:pt x="160" y="41"/>
                </a:moveTo>
                <a:cubicBezTo>
                  <a:pt x="166" y="37"/>
                  <a:pt x="166" y="37"/>
                  <a:pt x="166" y="37"/>
                </a:cubicBezTo>
                <a:cubicBezTo>
                  <a:pt x="163" y="32"/>
                  <a:pt x="159" y="28"/>
                  <a:pt x="155" y="24"/>
                </a:cubicBezTo>
                <a:cubicBezTo>
                  <a:pt x="149" y="30"/>
                  <a:pt x="149" y="30"/>
                  <a:pt x="149" y="30"/>
                </a:cubicBezTo>
                <a:cubicBezTo>
                  <a:pt x="153" y="33"/>
                  <a:pt x="157" y="37"/>
                  <a:pt x="160" y="41"/>
                </a:cubicBezTo>
                <a:close/>
                <a:moveTo>
                  <a:pt x="92" y="177"/>
                </a:moveTo>
                <a:cubicBezTo>
                  <a:pt x="92" y="185"/>
                  <a:pt x="92" y="185"/>
                  <a:pt x="92" y="185"/>
                </a:cubicBezTo>
                <a:cubicBezTo>
                  <a:pt x="98" y="185"/>
                  <a:pt x="104" y="185"/>
                  <a:pt x="109" y="183"/>
                </a:cubicBezTo>
                <a:cubicBezTo>
                  <a:pt x="108" y="176"/>
                  <a:pt x="108" y="176"/>
                  <a:pt x="108" y="176"/>
                </a:cubicBezTo>
                <a:cubicBezTo>
                  <a:pt x="103" y="177"/>
                  <a:pt x="98" y="177"/>
                  <a:pt x="92" y="177"/>
                </a:cubicBezTo>
                <a:close/>
                <a:moveTo>
                  <a:pt x="97" y="139"/>
                </a:moveTo>
                <a:cubicBezTo>
                  <a:pt x="97" y="56"/>
                  <a:pt x="97" y="56"/>
                  <a:pt x="97" y="56"/>
                </a:cubicBezTo>
                <a:cubicBezTo>
                  <a:pt x="123" y="83"/>
                  <a:pt x="123" y="83"/>
                  <a:pt x="123" y="83"/>
                </a:cubicBezTo>
                <a:cubicBezTo>
                  <a:pt x="124" y="84"/>
                  <a:pt x="125" y="84"/>
                  <a:pt x="126" y="84"/>
                </a:cubicBezTo>
                <a:cubicBezTo>
                  <a:pt x="129" y="84"/>
                  <a:pt x="130" y="82"/>
                  <a:pt x="130" y="80"/>
                </a:cubicBezTo>
                <a:cubicBezTo>
                  <a:pt x="130" y="79"/>
                  <a:pt x="130" y="78"/>
                  <a:pt x="129" y="77"/>
                </a:cubicBezTo>
                <a:cubicBezTo>
                  <a:pt x="95" y="43"/>
                  <a:pt x="95" y="43"/>
                  <a:pt x="95" y="43"/>
                </a:cubicBezTo>
                <a:cubicBezTo>
                  <a:pt x="95" y="42"/>
                  <a:pt x="94" y="42"/>
                  <a:pt x="92" y="42"/>
                </a:cubicBezTo>
                <a:cubicBezTo>
                  <a:pt x="91" y="42"/>
                  <a:pt x="90" y="42"/>
                  <a:pt x="90" y="43"/>
                </a:cubicBezTo>
                <a:cubicBezTo>
                  <a:pt x="56" y="77"/>
                  <a:pt x="56" y="77"/>
                  <a:pt x="56" y="77"/>
                </a:cubicBezTo>
                <a:cubicBezTo>
                  <a:pt x="55" y="78"/>
                  <a:pt x="55" y="79"/>
                  <a:pt x="55" y="80"/>
                </a:cubicBezTo>
                <a:cubicBezTo>
                  <a:pt x="55" y="82"/>
                  <a:pt x="56" y="84"/>
                  <a:pt x="59" y="84"/>
                </a:cubicBezTo>
                <a:cubicBezTo>
                  <a:pt x="60" y="84"/>
                  <a:pt x="61" y="84"/>
                  <a:pt x="62" y="83"/>
                </a:cubicBezTo>
                <a:cubicBezTo>
                  <a:pt x="88" y="56"/>
                  <a:pt x="88" y="56"/>
                  <a:pt x="88" y="56"/>
                </a:cubicBezTo>
                <a:cubicBezTo>
                  <a:pt x="88" y="139"/>
                  <a:pt x="88" y="139"/>
                  <a:pt x="88" y="139"/>
                </a:cubicBezTo>
                <a:cubicBezTo>
                  <a:pt x="88" y="141"/>
                  <a:pt x="90" y="143"/>
                  <a:pt x="92" y="143"/>
                </a:cubicBezTo>
                <a:cubicBezTo>
                  <a:pt x="95" y="143"/>
                  <a:pt x="97" y="141"/>
                  <a:pt x="97" y="139"/>
                </a:cubicBezTo>
                <a:close/>
                <a:moveTo>
                  <a:pt x="123" y="171"/>
                </a:moveTo>
                <a:cubicBezTo>
                  <a:pt x="126" y="179"/>
                  <a:pt x="126" y="179"/>
                  <a:pt x="126" y="179"/>
                </a:cubicBezTo>
                <a:cubicBezTo>
                  <a:pt x="131" y="177"/>
                  <a:pt x="136" y="174"/>
                  <a:pt x="141" y="171"/>
                </a:cubicBezTo>
                <a:cubicBezTo>
                  <a:pt x="137" y="164"/>
                  <a:pt x="137" y="164"/>
                  <a:pt x="137" y="164"/>
                </a:cubicBezTo>
                <a:cubicBezTo>
                  <a:pt x="133" y="167"/>
                  <a:pt x="128" y="169"/>
                  <a:pt x="123" y="171"/>
                </a:cubicBez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46" name="Freeform 448"/>
          <p:cNvSpPr>
            <a:spLocks noEditPoints="1"/>
          </p:cNvSpPr>
          <p:nvPr/>
        </p:nvSpPr>
        <p:spPr bwMode="auto">
          <a:xfrm rot="5400000">
            <a:off x="598388" y="5902570"/>
            <a:ext cx="175773" cy="175773"/>
          </a:xfrm>
          <a:custGeom>
            <a:avLst/>
            <a:gdLst>
              <a:gd name="T0" fmla="*/ 0 w 185"/>
              <a:gd name="T1" fmla="*/ 101 h 185"/>
              <a:gd name="T2" fmla="*/ 11 w 185"/>
              <a:gd name="T3" fmla="*/ 116 h 185"/>
              <a:gd name="T4" fmla="*/ 48 w 185"/>
              <a:gd name="T5" fmla="*/ 21 h 185"/>
              <a:gd name="T6" fmla="*/ 30 w 185"/>
              <a:gd name="T7" fmla="*/ 24 h 185"/>
              <a:gd name="T8" fmla="*/ 48 w 185"/>
              <a:gd name="T9" fmla="*/ 21 h 185"/>
              <a:gd name="T10" fmla="*/ 3 w 185"/>
              <a:gd name="T11" fmla="*/ 67 h 185"/>
              <a:gd name="T12" fmla="*/ 8 w 185"/>
              <a:gd name="T13" fmla="*/ 85 h 185"/>
              <a:gd name="T14" fmla="*/ 30 w 185"/>
              <a:gd name="T15" fmla="*/ 161 h 185"/>
              <a:gd name="T16" fmla="*/ 48 w 185"/>
              <a:gd name="T17" fmla="*/ 164 h 185"/>
              <a:gd name="T18" fmla="*/ 30 w 185"/>
              <a:gd name="T19" fmla="*/ 161 h 185"/>
              <a:gd name="T20" fmla="*/ 19 w 185"/>
              <a:gd name="T21" fmla="*/ 148 h 185"/>
              <a:gd name="T22" fmla="*/ 17 w 185"/>
              <a:gd name="T23" fmla="*/ 130 h 185"/>
              <a:gd name="T24" fmla="*/ 141 w 185"/>
              <a:gd name="T25" fmla="*/ 14 h 185"/>
              <a:gd name="T26" fmla="*/ 123 w 185"/>
              <a:gd name="T27" fmla="*/ 14 h 185"/>
              <a:gd name="T28" fmla="*/ 141 w 185"/>
              <a:gd name="T29" fmla="*/ 14 h 185"/>
              <a:gd name="T30" fmla="*/ 75 w 185"/>
              <a:gd name="T31" fmla="*/ 1 h 185"/>
              <a:gd name="T32" fmla="*/ 61 w 185"/>
              <a:gd name="T33" fmla="*/ 14 h 185"/>
              <a:gd name="T34" fmla="*/ 108 w 185"/>
              <a:gd name="T35" fmla="*/ 9 h 185"/>
              <a:gd name="T36" fmla="*/ 92 w 185"/>
              <a:gd name="T37" fmla="*/ 0 h 185"/>
              <a:gd name="T38" fmla="*/ 92 w 185"/>
              <a:gd name="T39" fmla="*/ 0 h 185"/>
              <a:gd name="T40" fmla="*/ 108 w 185"/>
              <a:gd name="T41" fmla="*/ 9 h 185"/>
              <a:gd name="T42" fmla="*/ 18 w 185"/>
              <a:gd name="T43" fmla="*/ 37 h 185"/>
              <a:gd name="T44" fmla="*/ 16 w 185"/>
              <a:gd name="T45" fmla="*/ 55 h 185"/>
              <a:gd name="T46" fmla="*/ 168 w 185"/>
              <a:gd name="T47" fmla="*/ 130 h 185"/>
              <a:gd name="T48" fmla="*/ 181 w 185"/>
              <a:gd name="T49" fmla="*/ 118 h 185"/>
              <a:gd name="T50" fmla="*/ 168 w 185"/>
              <a:gd name="T51" fmla="*/ 130 h 185"/>
              <a:gd name="T52" fmla="*/ 75 w 185"/>
              <a:gd name="T53" fmla="*/ 184 h 185"/>
              <a:gd name="T54" fmla="*/ 62 w 185"/>
              <a:gd name="T55" fmla="*/ 171 h 185"/>
              <a:gd name="T56" fmla="*/ 181 w 185"/>
              <a:gd name="T57" fmla="*/ 67 h 185"/>
              <a:gd name="T58" fmla="*/ 168 w 185"/>
              <a:gd name="T59" fmla="*/ 55 h 185"/>
              <a:gd name="T60" fmla="*/ 181 w 185"/>
              <a:gd name="T61" fmla="*/ 67 h 185"/>
              <a:gd name="T62" fmla="*/ 177 w 185"/>
              <a:gd name="T63" fmla="*/ 85 h 185"/>
              <a:gd name="T64" fmla="*/ 177 w 185"/>
              <a:gd name="T65" fmla="*/ 100 h 185"/>
              <a:gd name="T66" fmla="*/ 185 w 185"/>
              <a:gd name="T67" fmla="*/ 92 h 185"/>
              <a:gd name="T68" fmla="*/ 149 w 185"/>
              <a:gd name="T69" fmla="*/ 155 h 185"/>
              <a:gd name="T70" fmla="*/ 166 w 185"/>
              <a:gd name="T71" fmla="*/ 148 h 185"/>
              <a:gd name="T72" fmla="*/ 149 w 185"/>
              <a:gd name="T73" fmla="*/ 155 h 185"/>
              <a:gd name="T74" fmla="*/ 166 w 185"/>
              <a:gd name="T75" fmla="*/ 37 h 185"/>
              <a:gd name="T76" fmla="*/ 149 w 185"/>
              <a:gd name="T77" fmla="*/ 30 h 185"/>
              <a:gd name="T78" fmla="*/ 92 w 185"/>
              <a:gd name="T79" fmla="*/ 177 h 185"/>
              <a:gd name="T80" fmla="*/ 109 w 185"/>
              <a:gd name="T81" fmla="*/ 183 h 185"/>
              <a:gd name="T82" fmla="*/ 92 w 185"/>
              <a:gd name="T83" fmla="*/ 177 h 185"/>
              <a:gd name="T84" fmla="*/ 97 w 185"/>
              <a:gd name="T85" fmla="*/ 56 h 185"/>
              <a:gd name="T86" fmla="*/ 126 w 185"/>
              <a:gd name="T87" fmla="*/ 84 h 185"/>
              <a:gd name="T88" fmla="*/ 129 w 185"/>
              <a:gd name="T89" fmla="*/ 77 h 185"/>
              <a:gd name="T90" fmla="*/ 92 w 185"/>
              <a:gd name="T91" fmla="*/ 42 h 185"/>
              <a:gd name="T92" fmla="*/ 56 w 185"/>
              <a:gd name="T93" fmla="*/ 77 h 185"/>
              <a:gd name="T94" fmla="*/ 59 w 185"/>
              <a:gd name="T95" fmla="*/ 84 h 185"/>
              <a:gd name="T96" fmla="*/ 88 w 185"/>
              <a:gd name="T97" fmla="*/ 56 h 185"/>
              <a:gd name="T98" fmla="*/ 92 w 185"/>
              <a:gd name="T99" fmla="*/ 143 h 185"/>
              <a:gd name="T100" fmla="*/ 123 w 185"/>
              <a:gd name="T101" fmla="*/ 171 h 185"/>
              <a:gd name="T102" fmla="*/ 141 w 185"/>
              <a:gd name="T103" fmla="*/ 171 h 185"/>
              <a:gd name="T104" fmla="*/ 123 w 185"/>
              <a:gd name="T105" fmla="*/ 17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5" h="185">
                <a:moveTo>
                  <a:pt x="8" y="101"/>
                </a:moveTo>
                <a:cubicBezTo>
                  <a:pt x="0" y="101"/>
                  <a:pt x="0" y="101"/>
                  <a:pt x="0" y="101"/>
                </a:cubicBezTo>
                <a:cubicBezTo>
                  <a:pt x="1" y="107"/>
                  <a:pt x="2" y="113"/>
                  <a:pt x="3" y="118"/>
                </a:cubicBezTo>
                <a:cubicBezTo>
                  <a:pt x="11" y="116"/>
                  <a:pt x="11" y="116"/>
                  <a:pt x="11" y="116"/>
                </a:cubicBezTo>
                <a:cubicBezTo>
                  <a:pt x="10" y="111"/>
                  <a:pt x="9" y="106"/>
                  <a:pt x="8" y="101"/>
                </a:cubicBezTo>
                <a:close/>
                <a:moveTo>
                  <a:pt x="48" y="21"/>
                </a:moveTo>
                <a:cubicBezTo>
                  <a:pt x="43" y="14"/>
                  <a:pt x="43" y="14"/>
                  <a:pt x="43" y="14"/>
                </a:cubicBezTo>
                <a:cubicBezTo>
                  <a:pt x="38" y="17"/>
                  <a:pt x="34" y="20"/>
                  <a:pt x="30" y="24"/>
                </a:cubicBezTo>
                <a:cubicBezTo>
                  <a:pt x="35" y="30"/>
                  <a:pt x="35" y="30"/>
                  <a:pt x="35" y="30"/>
                </a:cubicBezTo>
                <a:cubicBezTo>
                  <a:pt x="39" y="27"/>
                  <a:pt x="43" y="23"/>
                  <a:pt x="48" y="21"/>
                </a:cubicBezTo>
                <a:close/>
                <a:moveTo>
                  <a:pt x="11" y="70"/>
                </a:moveTo>
                <a:cubicBezTo>
                  <a:pt x="3" y="67"/>
                  <a:pt x="3" y="67"/>
                  <a:pt x="3" y="67"/>
                </a:cubicBezTo>
                <a:cubicBezTo>
                  <a:pt x="2" y="73"/>
                  <a:pt x="1" y="79"/>
                  <a:pt x="0" y="84"/>
                </a:cubicBezTo>
                <a:cubicBezTo>
                  <a:pt x="8" y="85"/>
                  <a:pt x="8" y="85"/>
                  <a:pt x="8" y="85"/>
                </a:cubicBezTo>
                <a:cubicBezTo>
                  <a:pt x="9" y="80"/>
                  <a:pt x="9" y="75"/>
                  <a:pt x="11" y="70"/>
                </a:cubicBezTo>
                <a:close/>
                <a:moveTo>
                  <a:pt x="30" y="161"/>
                </a:moveTo>
                <a:cubicBezTo>
                  <a:pt x="34" y="165"/>
                  <a:pt x="39" y="168"/>
                  <a:pt x="44" y="171"/>
                </a:cubicBezTo>
                <a:cubicBezTo>
                  <a:pt x="48" y="164"/>
                  <a:pt x="48" y="164"/>
                  <a:pt x="48" y="164"/>
                </a:cubicBezTo>
                <a:cubicBezTo>
                  <a:pt x="44" y="162"/>
                  <a:pt x="39" y="159"/>
                  <a:pt x="35" y="155"/>
                </a:cubicBezTo>
                <a:lnTo>
                  <a:pt x="30" y="161"/>
                </a:lnTo>
                <a:close/>
                <a:moveTo>
                  <a:pt x="9" y="134"/>
                </a:moveTo>
                <a:cubicBezTo>
                  <a:pt x="12" y="139"/>
                  <a:pt x="15" y="144"/>
                  <a:pt x="19" y="148"/>
                </a:cubicBezTo>
                <a:cubicBezTo>
                  <a:pt x="25" y="144"/>
                  <a:pt x="25" y="144"/>
                  <a:pt x="25" y="144"/>
                </a:cubicBezTo>
                <a:cubicBezTo>
                  <a:pt x="22" y="139"/>
                  <a:pt x="19" y="135"/>
                  <a:pt x="17" y="130"/>
                </a:cubicBezTo>
                <a:lnTo>
                  <a:pt x="9" y="134"/>
                </a:lnTo>
                <a:close/>
                <a:moveTo>
                  <a:pt x="141" y="14"/>
                </a:moveTo>
                <a:cubicBezTo>
                  <a:pt x="136" y="11"/>
                  <a:pt x="131" y="8"/>
                  <a:pt x="126" y="6"/>
                </a:cubicBezTo>
                <a:cubicBezTo>
                  <a:pt x="123" y="14"/>
                  <a:pt x="123" y="14"/>
                  <a:pt x="123" y="14"/>
                </a:cubicBezTo>
                <a:cubicBezTo>
                  <a:pt x="128" y="15"/>
                  <a:pt x="132" y="18"/>
                  <a:pt x="137" y="21"/>
                </a:cubicBezTo>
                <a:lnTo>
                  <a:pt x="141" y="14"/>
                </a:lnTo>
                <a:close/>
                <a:moveTo>
                  <a:pt x="76" y="9"/>
                </a:moveTo>
                <a:cubicBezTo>
                  <a:pt x="75" y="1"/>
                  <a:pt x="75" y="1"/>
                  <a:pt x="75" y="1"/>
                </a:cubicBezTo>
                <a:cubicBezTo>
                  <a:pt x="69" y="3"/>
                  <a:pt x="64" y="4"/>
                  <a:pt x="59" y="6"/>
                </a:cubicBezTo>
                <a:cubicBezTo>
                  <a:pt x="61" y="14"/>
                  <a:pt x="61" y="14"/>
                  <a:pt x="61" y="14"/>
                </a:cubicBezTo>
                <a:cubicBezTo>
                  <a:pt x="66" y="12"/>
                  <a:pt x="71" y="10"/>
                  <a:pt x="76" y="9"/>
                </a:cubicBezTo>
                <a:close/>
                <a:moveTo>
                  <a:pt x="108" y="9"/>
                </a:moveTo>
                <a:cubicBezTo>
                  <a:pt x="109" y="1"/>
                  <a:pt x="109" y="1"/>
                  <a:pt x="109" y="1"/>
                </a:cubicBezTo>
                <a:cubicBezTo>
                  <a:pt x="104" y="0"/>
                  <a:pt x="98" y="0"/>
                  <a:pt x="92" y="0"/>
                </a:cubicBezTo>
                <a:cubicBezTo>
                  <a:pt x="92" y="0"/>
                  <a:pt x="92" y="0"/>
                  <a:pt x="92" y="0"/>
                </a:cubicBezTo>
                <a:cubicBezTo>
                  <a:pt x="92" y="0"/>
                  <a:pt x="92" y="0"/>
                  <a:pt x="92" y="0"/>
                </a:cubicBezTo>
                <a:cubicBezTo>
                  <a:pt x="92" y="8"/>
                  <a:pt x="92" y="8"/>
                  <a:pt x="92" y="8"/>
                </a:cubicBezTo>
                <a:cubicBezTo>
                  <a:pt x="98" y="8"/>
                  <a:pt x="103" y="8"/>
                  <a:pt x="108" y="9"/>
                </a:cubicBezTo>
                <a:close/>
                <a:moveTo>
                  <a:pt x="25" y="42"/>
                </a:moveTo>
                <a:cubicBezTo>
                  <a:pt x="18" y="37"/>
                  <a:pt x="18" y="37"/>
                  <a:pt x="18" y="37"/>
                </a:cubicBezTo>
                <a:cubicBezTo>
                  <a:pt x="15" y="41"/>
                  <a:pt x="12" y="46"/>
                  <a:pt x="9" y="51"/>
                </a:cubicBezTo>
                <a:cubicBezTo>
                  <a:pt x="16" y="55"/>
                  <a:pt x="16" y="55"/>
                  <a:pt x="16" y="55"/>
                </a:cubicBezTo>
                <a:cubicBezTo>
                  <a:pt x="19" y="50"/>
                  <a:pt x="22" y="46"/>
                  <a:pt x="25" y="42"/>
                </a:cubicBezTo>
                <a:close/>
                <a:moveTo>
                  <a:pt x="168" y="130"/>
                </a:moveTo>
                <a:cubicBezTo>
                  <a:pt x="175" y="134"/>
                  <a:pt x="175" y="134"/>
                  <a:pt x="175" y="134"/>
                </a:cubicBezTo>
                <a:cubicBezTo>
                  <a:pt x="178" y="129"/>
                  <a:pt x="180" y="123"/>
                  <a:pt x="181" y="118"/>
                </a:cubicBezTo>
                <a:cubicBezTo>
                  <a:pt x="174" y="116"/>
                  <a:pt x="174" y="116"/>
                  <a:pt x="174" y="116"/>
                </a:cubicBezTo>
                <a:cubicBezTo>
                  <a:pt x="172" y="121"/>
                  <a:pt x="170" y="125"/>
                  <a:pt x="168" y="130"/>
                </a:cubicBezTo>
                <a:close/>
                <a:moveTo>
                  <a:pt x="59" y="179"/>
                </a:moveTo>
                <a:cubicBezTo>
                  <a:pt x="64" y="181"/>
                  <a:pt x="70" y="183"/>
                  <a:pt x="75" y="184"/>
                </a:cubicBezTo>
                <a:cubicBezTo>
                  <a:pt x="77" y="176"/>
                  <a:pt x="77" y="176"/>
                  <a:pt x="77" y="176"/>
                </a:cubicBezTo>
                <a:cubicBezTo>
                  <a:pt x="72" y="175"/>
                  <a:pt x="67" y="173"/>
                  <a:pt x="62" y="171"/>
                </a:cubicBezTo>
                <a:lnTo>
                  <a:pt x="59" y="179"/>
                </a:lnTo>
                <a:close/>
                <a:moveTo>
                  <a:pt x="181" y="67"/>
                </a:moveTo>
                <a:cubicBezTo>
                  <a:pt x="180" y="62"/>
                  <a:pt x="178" y="56"/>
                  <a:pt x="175" y="51"/>
                </a:cubicBezTo>
                <a:cubicBezTo>
                  <a:pt x="168" y="55"/>
                  <a:pt x="168" y="55"/>
                  <a:pt x="168" y="55"/>
                </a:cubicBezTo>
                <a:cubicBezTo>
                  <a:pt x="170" y="59"/>
                  <a:pt x="172" y="64"/>
                  <a:pt x="174" y="69"/>
                </a:cubicBezTo>
                <a:lnTo>
                  <a:pt x="181" y="67"/>
                </a:lnTo>
                <a:close/>
                <a:moveTo>
                  <a:pt x="185" y="84"/>
                </a:moveTo>
                <a:cubicBezTo>
                  <a:pt x="177" y="85"/>
                  <a:pt x="177" y="85"/>
                  <a:pt x="177" y="85"/>
                </a:cubicBezTo>
                <a:cubicBezTo>
                  <a:pt x="177" y="87"/>
                  <a:pt x="177" y="90"/>
                  <a:pt x="177" y="92"/>
                </a:cubicBezTo>
                <a:cubicBezTo>
                  <a:pt x="177" y="95"/>
                  <a:pt x="177" y="98"/>
                  <a:pt x="177" y="100"/>
                </a:cubicBezTo>
                <a:cubicBezTo>
                  <a:pt x="185" y="101"/>
                  <a:pt x="185" y="101"/>
                  <a:pt x="185" y="101"/>
                </a:cubicBezTo>
                <a:cubicBezTo>
                  <a:pt x="185" y="98"/>
                  <a:pt x="185" y="95"/>
                  <a:pt x="185" y="92"/>
                </a:cubicBezTo>
                <a:cubicBezTo>
                  <a:pt x="185" y="90"/>
                  <a:pt x="185" y="87"/>
                  <a:pt x="185" y="84"/>
                </a:cubicBezTo>
                <a:close/>
                <a:moveTo>
                  <a:pt x="149" y="155"/>
                </a:moveTo>
                <a:cubicBezTo>
                  <a:pt x="155" y="161"/>
                  <a:pt x="155" y="161"/>
                  <a:pt x="155" y="161"/>
                </a:cubicBezTo>
                <a:cubicBezTo>
                  <a:pt x="159" y="157"/>
                  <a:pt x="163" y="153"/>
                  <a:pt x="166" y="148"/>
                </a:cubicBezTo>
                <a:cubicBezTo>
                  <a:pt x="160" y="143"/>
                  <a:pt x="160" y="143"/>
                  <a:pt x="160" y="143"/>
                </a:cubicBezTo>
                <a:cubicBezTo>
                  <a:pt x="157" y="147"/>
                  <a:pt x="153" y="151"/>
                  <a:pt x="149" y="155"/>
                </a:cubicBezTo>
                <a:close/>
                <a:moveTo>
                  <a:pt x="160" y="41"/>
                </a:moveTo>
                <a:cubicBezTo>
                  <a:pt x="166" y="37"/>
                  <a:pt x="166" y="37"/>
                  <a:pt x="166" y="37"/>
                </a:cubicBezTo>
                <a:cubicBezTo>
                  <a:pt x="163" y="32"/>
                  <a:pt x="159" y="28"/>
                  <a:pt x="155" y="24"/>
                </a:cubicBezTo>
                <a:cubicBezTo>
                  <a:pt x="149" y="30"/>
                  <a:pt x="149" y="30"/>
                  <a:pt x="149" y="30"/>
                </a:cubicBezTo>
                <a:cubicBezTo>
                  <a:pt x="153" y="33"/>
                  <a:pt x="157" y="37"/>
                  <a:pt x="160" y="41"/>
                </a:cubicBezTo>
                <a:close/>
                <a:moveTo>
                  <a:pt x="92" y="177"/>
                </a:moveTo>
                <a:cubicBezTo>
                  <a:pt x="92" y="185"/>
                  <a:pt x="92" y="185"/>
                  <a:pt x="92" y="185"/>
                </a:cubicBezTo>
                <a:cubicBezTo>
                  <a:pt x="98" y="185"/>
                  <a:pt x="104" y="185"/>
                  <a:pt x="109" y="183"/>
                </a:cubicBezTo>
                <a:cubicBezTo>
                  <a:pt x="108" y="176"/>
                  <a:pt x="108" y="176"/>
                  <a:pt x="108" y="176"/>
                </a:cubicBezTo>
                <a:cubicBezTo>
                  <a:pt x="103" y="177"/>
                  <a:pt x="98" y="177"/>
                  <a:pt x="92" y="177"/>
                </a:cubicBezTo>
                <a:close/>
                <a:moveTo>
                  <a:pt x="97" y="139"/>
                </a:moveTo>
                <a:cubicBezTo>
                  <a:pt x="97" y="56"/>
                  <a:pt x="97" y="56"/>
                  <a:pt x="97" y="56"/>
                </a:cubicBezTo>
                <a:cubicBezTo>
                  <a:pt x="123" y="83"/>
                  <a:pt x="123" y="83"/>
                  <a:pt x="123" y="83"/>
                </a:cubicBezTo>
                <a:cubicBezTo>
                  <a:pt x="124" y="84"/>
                  <a:pt x="125" y="84"/>
                  <a:pt x="126" y="84"/>
                </a:cubicBezTo>
                <a:cubicBezTo>
                  <a:pt x="129" y="84"/>
                  <a:pt x="130" y="82"/>
                  <a:pt x="130" y="80"/>
                </a:cubicBezTo>
                <a:cubicBezTo>
                  <a:pt x="130" y="79"/>
                  <a:pt x="130" y="78"/>
                  <a:pt x="129" y="77"/>
                </a:cubicBezTo>
                <a:cubicBezTo>
                  <a:pt x="95" y="43"/>
                  <a:pt x="95" y="43"/>
                  <a:pt x="95" y="43"/>
                </a:cubicBezTo>
                <a:cubicBezTo>
                  <a:pt x="95" y="42"/>
                  <a:pt x="94" y="42"/>
                  <a:pt x="92" y="42"/>
                </a:cubicBezTo>
                <a:cubicBezTo>
                  <a:pt x="91" y="42"/>
                  <a:pt x="90" y="42"/>
                  <a:pt x="90" y="43"/>
                </a:cubicBezTo>
                <a:cubicBezTo>
                  <a:pt x="56" y="77"/>
                  <a:pt x="56" y="77"/>
                  <a:pt x="56" y="77"/>
                </a:cubicBezTo>
                <a:cubicBezTo>
                  <a:pt x="55" y="78"/>
                  <a:pt x="55" y="79"/>
                  <a:pt x="55" y="80"/>
                </a:cubicBezTo>
                <a:cubicBezTo>
                  <a:pt x="55" y="82"/>
                  <a:pt x="56" y="84"/>
                  <a:pt x="59" y="84"/>
                </a:cubicBezTo>
                <a:cubicBezTo>
                  <a:pt x="60" y="84"/>
                  <a:pt x="61" y="84"/>
                  <a:pt x="62" y="83"/>
                </a:cubicBezTo>
                <a:cubicBezTo>
                  <a:pt x="88" y="56"/>
                  <a:pt x="88" y="56"/>
                  <a:pt x="88" y="56"/>
                </a:cubicBezTo>
                <a:cubicBezTo>
                  <a:pt x="88" y="139"/>
                  <a:pt x="88" y="139"/>
                  <a:pt x="88" y="139"/>
                </a:cubicBezTo>
                <a:cubicBezTo>
                  <a:pt x="88" y="141"/>
                  <a:pt x="90" y="143"/>
                  <a:pt x="92" y="143"/>
                </a:cubicBezTo>
                <a:cubicBezTo>
                  <a:pt x="95" y="143"/>
                  <a:pt x="97" y="141"/>
                  <a:pt x="97" y="139"/>
                </a:cubicBezTo>
                <a:close/>
                <a:moveTo>
                  <a:pt x="123" y="171"/>
                </a:moveTo>
                <a:cubicBezTo>
                  <a:pt x="126" y="179"/>
                  <a:pt x="126" y="179"/>
                  <a:pt x="126" y="179"/>
                </a:cubicBezTo>
                <a:cubicBezTo>
                  <a:pt x="131" y="177"/>
                  <a:pt x="136" y="174"/>
                  <a:pt x="141" y="171"/>
                </a:cubicBezTo>
                <a:cubicBezTo>
                  <a:pt x="137" y="164"/>
                  <a:pt x="137" y="164"/>
                  <a:pt x="137" y="164"/>
                </a:cubicBezTo>
                <a:cubicBezTo>
                  <a:pt x="133" y="167"/>
                  <a:pt x="128" y="169"/>
                  <a:pt x="123" y="171"/>
                </a:cubicBezTo>
                <a:close/>
              </a:path>
            </a:pathLst>
          </a:custGeom>
          <a:solidFill>
            <a:srgbClr val="323232"/>
          </a:soli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39" name="Freeform 93"/>
          <p:cNvSpPr>
            <a:spLocks noEditPoints="1"/>
          </p:cNvSpPr>
          <p:nvPr/>
        </p:nvSpPr>
        <p:spPr bwMode="auto">
          <a:xfrm>
            <a:off x="703967" y="4593492"/>
            <a:ext cx="157634" cy="204596"/>
          </a:xfrm>
          <a:custGeom>
            <a:avLst/>
            <a:gdLst>
              <a:gd name="T0" fmla="*/ 486 w 486"/>
              <a:gd name="T1" fmla="*/ 163 h 630"/>
              <a:gd name="T2" fmla="*/ 485 w 486"/>
              <a:gd name="T3" fmla="*/ 161 h 630"/>
              <a:gd name="T4" fmla="*/ 484 w 486"/>
              <a:gd name="T5" fmla="*/ 160 h 630"/>
              <a:gd name="T6" fmla="*/ 326 w 486"/>
              <a:gd name="T7" fmla="*/ 2 h 630"/>
              <a:gd name="T8" fmla="*/ 325 w 486"/>
              <a:gd name="T9" fmla="*/ 1 h 630"/>
              <a:gd name="T10" fmla="*/ 323 w 486"/>
              <a:gd name="T11" fmla="*/ 1 h 630"/>
              <a:gd name="T12" fmla="*/ 122 w 486"/>
              <a:gd name="T13" fmla="*/ 0 h 630"/>
              <a:gd name="T14" fmla="*/ 115 w 486"/>
              <a:gd name="T15" fmla="*/ 137 h 630"/>
              <a:gd name="T16" fmla="*/ 0 w 486"/>
              <a:gd name="T17" fmla="*/ 144 h 630"/>
              <a:gd name="T18" fmla="*/ 7 w 486"/>
              <a:gd name="T19" fmla="*/ 630 h 630"/>
              <a:gd name="T20" fmla="*/ 372 w 486"/>
              <a:gd name="T21" fmla="*/ 623 h 630"/>
              <a:gd name="T22" fmla="*/ 479 w 486"/>
              <a:gd name="T23" fmla="*/ 493 h 630"/>
              <a:gd name="T24" fmla="*/ 486 w 486"/>
              <a:gd name="T25" fmla="*/ 165 h 630"/>
              <a:gd name="T26" fmla="*/ 329 w 486"/>
              <a:gd name="T27" fmla="*/ 24 h 630"/>
              <a:gd name="T28" fmla="*/ 329 w 486"/>
              <a:gd name="T29" fmla="*/ 158 h 630"/>
              <a:gd name="T30" fmla="*/ 358 w 486"/>
              <a:gd name="T31" fmla="*/ 616 h 630"/>
              <a:gd name="T32" fmla="*/ 14 w 486"/>
              <a:gd name="T33" fmla="*/ 151 h 630"/>
              <a:gd name="T34" fmla="*/ 200 w 486"/>
              <a:gd name="T35" fmla="*/ 302 h 630"/>
              <a:gd name="T36" fmla="*/ 358 w 486"/>
              <a:gd name="T37" fmla="*/ 309 h 630"/>
              <a:gd name="T38" fmla="*/ 348 w 486"/>
              <a:gd name="T39" fmla="*/ 295 h 630"/>
              <a:gd name="T40" fmla="*/ 214 w 486"/>
              <a:gd name="T41" fmla="*/ 161 h 630"/>
              <a:gd name="T42" fmla="*/ 372 w 486"/>
              <a:gd name="T43" fmla="*/ 479 h 630"/>
              <a:gd name="T44" fmla="*/ 372 w 486"/>
              <a:gd name="T45" fmla="*/ 301 h 630"/>
              <a:gd name="T46" fmla="*/ 371 w 486"/>
              <a:gd name="T47" fmla="*/ 299 h 630"/>
              <a:gd name="T48" fmla="*/ 371 w 486"/>
              <a:gd name="T49" fmla="*/ 298 h 630"/>
              <a:gd name="T50" fmla="*/ 212 w 486"/>
              <a:gd name="T51" fmla="*/ 139 h 630"/>
              <a:gd name="T52" fmla="*/ 211 w 486"/>
              <a:gd name="T53" fmla="*/ 138 h 630"/>
              <a:gd name="T54" fmla="*/ 210 w 486"/>
              <a:gd name="T55" fmla="*/ 138 h 630"/>
              <a:gd name="T56" fmla="*/ 207 w 486"/>
              <a:gd name="T57" fmla="*/ 137 h 630"/>
              <a:gd name="T58" fmla="*/ 129 w 486"/>
              <a:gd name="T59" fmla="*/ 14 h 630"/>
              <a:gd name="T60" fmla="*/ 315 w 486"/>
              <a:gd name="T61" fmla="*/ 165 h 630"/>
              <a:gd name="T62" fmla="*/ 472 w 486"/>
              <a:gd name="T63" fmla="*/ 172 h 630"/>
              <a:gd name="T64" fmla="*/ 372 w 486"/>
              <a:gd name="T65" fmla="*/ 479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6" h="630">
                <a:moveTo>
                  <a:pt x="486" y="164"/>
                </a:moveTo>
                <a:cubicBezTo>
                  <a:pt x="486" y="163"/>
                  <a:pt x="486" y="163"/>
                  <a:pt x="486" y="163"/>
                </a:cubicBezTo>
                <a:cubicBezTo>
                  <a:pt x="486" y="162"/>
                  <a:pt x="486" y="162"/>
                  <a:pt x="486" y="162"/>
                </a:cubicBezTo>
                <a:cubicBezTo>
                  <a:pt x="486" y="162"/>
                  <a:pt x="486" y="162"/>
                  <a:pt x="485" y="161"/>
                </a:cubicBezTo>
                <a:cubicBezTo>
                  <a:pt x="485" y="161"/>
                  <a:pt x="485" y="161"/>
                  <a:pt x="485" y="161"/>
                </a:cubicBezTo>
                <a:cubicBezTo>
                  <a:pt x="485" y="161"/>
                  <a:pt x="485" y="160"/>
                  <a:pt x="484" y="160"/>
                </a:cubicBezTo>
                <a:cubicBezTo>
                  <a:pt x="327" y="2"/>
                  <a:pt x="327" y="2"/>
                  <a:pt x="327" y="2"/>
                </a:cubicBezTo>
                <a:cubicBezTo>
                  <a:pt x="327" y="2"/>
                  <a:pt x="326" y="2"/>
                  <a:pt x="326" y="2"/>
                </a:cubicBezTo>
                <a:cubicBezTo>
                  <a:pt x="326" y="2"/>
                  <a:pt x="326" y="2"/>
                  <a:pt x="326" y="1"/>
                </a:cubicBezTo>
                <a:cubicBezTo>
                  <a:pt x="325" y="1"/>
                  <a:pt x="325" y="1"/>
                  <a:pt x="325" y="1"/>
                </a:cubicBezTo>
                <a:cubicBezTo>
                  <a:pt x="324" y="1"/>
                  <a:pt x="324" y="1"/>
                  <a:pt x="324" y="1"/>
                </a:cubicBezTo>
                <a:cubicBezTo>
                  <a:pt x="324" y="1"/>
                  <a:pt x="324" y="1"/>
                  <a:pt x="323" y="1"/>
                </a:cubicBezTo>
                <a:cubicBezTo>
                  <a:pt x="323" y="0"/>
                  <a:pt x="322" y="0"/>
                  <a:pt x="322" y="0"/>
                </a:cubicBezTo>
                <a:cubicBezTo>
                  <a:pt x="122" y="0"/>
                  <a:pt x="122" y="0"/>
                  <a:pt x="122" y="0"/>
                </a:cubicBezTo>
                <a:cubicBezTo>
                  <a:pt x="118" y="0"/>
                  <a:pt x="115" y="4"/>
                  <a:pt x="115" y="7"/>
                </a:cubicBezTo>
                <a:cubicBezTo>
                  <a:pt x="115" y="137"/>
                  <a:pt x="115" y="137"/>
                  <a:pt x="115" y="137"/>
                </a:cubicBezTo>
                <a:cubicBezTo>
                  <a:pt x="7" y="137"/>
                  <a:pt x="7" y="137"/>
                  <a:pt x="7" y="137"/>
                </a:cubicBezTo>
                <a:cubicBezTo>
                  <a:pt x="3" y="137"/>
                  <a:pt x="0" y="141"/>
                  <a:pt x="0" y="144"/>
                </a:cubicBezTo>
                <a:cubicBezTo>
                  <a:pt x="0" y="623"/>
                  <a:pt x="0" y="623"/>
                  <a:pt x="0" y="623"/>
                </a:cubicBezTo>
                <a:cubicBezTo>
                  <a:pt x="0" y="626"/>
                  <a:pt x="3" y="630"/>
                  <a:pt x="7" y="630"/>
                </a:cubicBezTo>
                <a:cubicBezTo>
                  <a:pt x="365" y="630"/>
                  <a:pt x="365" y="630"/>
                  <a:pt x="365" y="630"/>
                </a:cubicBezTo>
                <a:cubicBezTo>
                  <a:pt x="369" y="630"/>
                  <a:pt x="372" y="626"/>
                  <a:pt x="372" y="623"/>
                </a:cubicBezTo>
                <a:cubicBezTo>
                  <a:pt x="372" y="493"/>
                  <a:pt x="372" y="493"/>
                  <a:pt x="372" y="493"/>
                </a:cubicBezTo>
                <a:cubicBezTo>
                  <a:pt x="479" y="493"/>
                  <a:pt x="479" y="493"/>
                  <a:pt x="479" y="493"/>
                </a:cubicBezTo>
                <a:cubicBezTo>
                  <a:pt x="483" y="493"/>
                  <a:pt x="486" y="489"/>
                  <a:pt x="486" y="486"/>
                </a:cubicBezTo>
                <a:cubicBezTo>
                  <a:pt x="486" y="165"/>
                  <a:pt x="486" y="165"/>
                  <a:pt x="486" y="165"/>
                </a:cubicBezTo>
                <a:cubicBezTo>
                  <a:pt x="486" y="164"/>
                  <a:pt x="486" y="164"/>
                  <a:pt x="486" y="164"/>
                </a:cubicBezTo>
                <a:close/>
                <a:moveTo>
                  <a:pt x="329" y="24"/>
                </a:moveTo>
                <a:cubicBezTo>
                  <a:pt x="463" y="158"/>
                  <a:pt x="463" y="158"/>
                  <a:pt x="463" y="158"/>
                </a:cubicBezTo>
                <a:cubicBezTo>
                  <a:pt x="329" y="158"/>
                  <a:pt x="329" y="158"/>
                  <a:pt x="329" y="158"/>
                </a:cubicBezTo>
                <a:lnTo>
                  <a:pt x="329" y="24"/>
                </a:lnTo>
                <a:close/>
                <a:moveTo>
                  <a:pt x="358" y="616"/>
                </a:moveTo>
                <a:cubicBezTo>
                  <a:pt x="14" y="616"/>
                  <a:pt x="14" y="616"/>
                  <a:pt x="14" y="616"/>
                </a:cubicBezTo>
                <a:cubicBezTo>
                  <a:pt x="14" y="151"/>
                  <a:pt x="14" y="151"/>
                  <a:pt x="14" y="151"/>
                </a:cubicBezTo>
                <a:cubicBezTo>
                  <a:pt x="200" y="151"/>
                  <a:pt x="200" y="151"/>
                  <a:pt x="200" y="151"/>
                </a:cubicBezTo>
                <a:cubicBezTo>
                  <a:pt x="200" y="302"/>
                  <a:pt x="200" y="302"/>
                  <a:pt x="200" y="302"/>
                </a:cubicBezTo>
                <a:cubicBezTo>
                  <a:pt x="200" y="306"/>
                  <a:pt x="203" y="309"/>
                  <a:pt x="207" y="309"/>
                </a:cubicBezTo>
                <a:cubicBezTo>
                  <a:pt x="358" y="309"/>
                  <a:pt x="358" y="309"/>
                  <a:pt x="358" y="309"/>
                </a:cubicBezTo>
                <a:lnTo>
                  <a:pt x="358" y="616"/>
                </a:lnTo>
                <a:close/>
                <a:moveTo>
                  <a:pt x="348" y="295"/>
                </a:moveTo>
                <a:cubicBezTo>
                  <a:pt x="214" y="295"/>
                  <a:pt x="214" y="295"/>
                  <a:pt x="214" y="295"/>
                </a:cubicBezTo>
                <a:cubicBezTo>
                  <a:pt x="214" y="161"/>
                  <a:pt x="214" y="161"/>
                  <a:pt x="214" y="161"/>
                </a:cubicBezTo>
                <a:lnTo>
                  <a:pt x="348" y="295"/>
                </a:lnTo>
                <a:close/>
                <a:moveTo>
                  <a:pt x="372" y="479"/>
                </a:moveTo>
                <a:cubicBezTo>
                  <a:pt x="372" y="302"/>
                  <a:pt x="372" y="302"/>
                  <a:pt x="372" y="302"/>
                </a:cubicBezTo>
                <a:cubicBezTo>
                  <a:pt x="372" y="301"/>
                  <a:pt x="372" y="301"/>
                  <a:pt x="372" y="301"/>
                </a:cubicBezTo>
                <a:cubicBezTo>
                  <a:pt x="372" y="300"/>
                  <a:pt x="371" y="300"/>
                  <a:pt x="371" y="300"/>
                </a:cubicBezTo>
                <a:cubicBezTo>
                  <a:pt x="371" y="299"/>
                  <a:pt x="371" y="299"/>
                  <a:pt x="371" y="299"/>
                </a:cubicBezTo>
                <a:cubicBezTo>
                  <a:pt x="371" y="299"/>
                  <a:pt x="371" y="299"/>
                  <a:pt x="371" y="298"/>
                </a:cubicBezTo>
                <a:cubicBezTo>
                  <a:pt x="371" y="298"/>
                  <a:pt x="371" y="298"/>
                  <a:pt x="371" y="298"/>
                </a:cubicBezTo>
                <a:cubicBezTo>
                  <a:pt x="370" y="298"/>
                  <a:pt x="370" y="297"/>
                  <a:pt x="370" y="297"/>
                </a:cubicBezTo>
                <a:cubicBezTo>
                  <a:pt x="212" y="139"/>
                  <a:pt x="212" y="139"/>
                  <a:pt x="212" y="139"/>
                </a:cubicBezTo>
                <a:cubicBezTo>
                  <a:pt x="212" y="139"/>
                  <a:pt x="211" y="139"/>
                  <a:pt x="211" y="139"/>
                </a:cubicBezTo>
                <a:cubicBezTo>
                  <a:pt x="211" y="139"/>
                  <a:pt x="211" y="138"/>
                  <a:pt x="211" y="138"/>
                </a:cubicBezTo>
                <a:cubicBezTo>
                  <a:pt x="211" y="138"/>
                  <a:pt x="210" y="138"/>
                  <a:pt x="210" y="138"/>
                </a:cubicBezTo>
                <a:cubicBezTo>
                  <a:pt x="210" y="138"/>
                  <a:pt x="210" y="138"/>
                  <a:pt x="210" y="138"/>
                </a:cubicBezTo>
                <a:cubicBezTo>
                  <a:pt x="209" y="138"/>
                  <a:pt x="209" y="138"/>
                  <a:pt x="209" y="138"/>
                </a:cubicBezTo>
                <a:cubicBezTo>
                  <a:pt x="208" y="137"/>
                  <a:pt x="208" y="137"/>
                  <a:pt x="207" y="137"/>
                </a:cubicBezTo>
                <a:cubicBezTo>
                  <a:pt x="129" y="137"/>
                  <a:pt x="129" y="137"/>
                  <a:pt x="129" y="137"/>
                </a:cubicBezTo>
                <a:cubicBezTo>
                  <a:pt x="129" y="14"/>
                  <a:pt x="129" y="14"/>
                  <a:pt x="129" y="14"/>
                </a:cubicBezTo>
                <a:cubicBezTo>
                  <a:pt x="315" y="14"/>
                  <a:pt x="315" y="14"/>
                  <a:pt x="315" y="14"/>
                </a:cubicBezTo>
                <a:cubicBezTo>
                  <a:pt x="315" y="165"/>
                  <a:pt x="315" y="165"/>
                  <a:pt x="315" y="165"/>
                </a:cubicBezTo>
                <a:cubicBezTo>
                  <a:pt x="315" y="169"/>
                  <a:pt x="318" y="172"/>
                  <a:pt x="322" y="172"/>
                </a:cubicBezTo>
                <a:cubicBezTo>
                  <a:pt x="472" y="172"/>
                  <a:pt x="472" y="172"/>
                  <a:pt x="472" y="172"/>
                </a:cubicBezTo>
                <a:cubicBezTo>
                  <a:pt x="472" y="479"/>
                  <a:pt x="472" y="479"/>
                  <a:pt x="472" y="479"/>
                </a:cubicBezTo>
                <a:lnTo>
                  <a:pt x="372" y="479"/>
                </a:ln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Freeform 110"/>
          <p:cNvSpPr>
            <a:spLocks noEditPoints="1"/>
          </p:cNvSpPr>
          <p:nvPr/>
        </p:nvSpPr>
        <p:spPr bwMode="auto">
          <a:xfrm>
            <a:off x="710610" y="2927265"/>
            <a:ext cx="184449" cy="206626"/>
          </a:xfrm>
          <a:custGeom>
            <a:avLst/>
            <a:gdLst>
              <a:gd name="T0" fmla="*/ 196 w 577"/>
              <a:gd name="T1" fmla="*/ 432 h 646"/>
              <a:gd name="T2" fmla="*/ 292 w 577"/>
              <a:gd name="T3" fmla="*/ 304 h 646"/>
              <a:gd name="T4" fmla="*/ 361 w 577"/>
              <a:gd name="T5" fmla="*/ 355 h 646"/>
              <a:gd name="T6" fmla="*/ 292 w 577"/>
              <a:gd name="T7" fmla="*/ 318 h 646"/>
              <a:gd name="T8" fmla="*/ 210 w 577"/>
              <a:gd name="T9" fmla="*/ 432 h 646"/>
              <a:gd name="T10" fmla="*/ 351 w 577"/>
              <a:gd name="T11" fmla="*/ 511 h 646"/>
              <a:gd name="T12" fmla="*/ 363 w 577"/>
              <a:gd name="T13" fmla="*/ 519 h 646"/>
              <a:gd name="T14" fmla="*/ 299 w 577"/>
              <a:gd name="T15" fmla="*/ 406 h 646"/>
              <a:gd name="T16" fmla="*/ 169 w 577"/>
              <a:gd name="T17" fmla="*/ 399 h 646"/>
              <a:gd name="T18" fmla="*/ 169 w 577"/>
              <a:gd name="T19" fmla="*/ 413 h 646"/>
              <a:gd name="T20" fmla="*/ 299 w 577"/>
              <a:gd name="T21" fmla="*/ 406 h 646"/>
              <a:gd name="T22" fmla="*/ 299 w 577"/>
              <a:gd name="T23" fmla="*/ 460 h 646"/>
              <a:gd name="T24" fmla="*/ 169 w 577"/>
              <a:gd name="T25" fmla="*/ 453 h 646"/>
              <a:gd name="T26" fmla="*/ 169 w 577"/>
              <a:gd name="T27" fmla="*/ 467 h 646"/>
              <a:gd name="T28" fmla="*/ 364 w 577"/>
              <a:gd name="T29" fmla="*/ 219 h 646"/>
              <a:gd name="T30" fmla="*/ 350 w 577"/>
              <a:gd name="T31" fmla="*/ 216 h 646"/>
              <a:gd name="T32" fmla="*/ 226 w 577"/>
              <a:gd name="T33" fmla="*/ 216 h 646"/>
              <a:gd name="T34" fmla="*/ 213 w 577"/>
              <a:gd name="T35" fmla="*/ 219 h 646"/>
              <a:gd name="T36" fmla="*/ 364 w 577"/>
              <a:gd name="T37" fmla="*/ 219 h 646"/>
              <a:gd name="T38" fmla="*/ 364 w 577"/>
              <a:gd name="T39" fmla="*/ 213 h 646"/>
              <a:gd name="T40" fmla="*/ 447 w 577"/>
              <a:gd name="T41" fmla="*/ 80 h 646"/>
              <a:gd name="T42" fmla="*/ 430 w 577"/>
              <a:gd name="T43" fmla="*/ 37 h 646"/>
              <a:gd name="T44" fmla="*/ 377 w 577"/>
              <a:gd name="T45" fmla="*/ 51 h 646"/>
              <a:gd name="T46" fmla="*/ 341 w 577"/>
              <a:gd name="T47" fmla="*/ 28 h 646"/>
              <a:gd name="T48" fmla="*/ 236 w 577"/>
              <a:gd name="T49" fmla="*/ 28 h 646"/>
              <a:gd name="T50" fmla="*/ 200 w 577"/>
              <a:gd name="T51" fmla="*/ 51 h 646"/>
              <a:gd name="T52" fmla="*/ 185 w 577"/>
              <a:gd name="T53" fmla="*/ 47 h 646"/>
              <a:gd name="T54" fmla="*/ 119 w 577"/>
              <a:gd name="T55" fmla="*/ 51 h 646"/>
              <a:gd name="T56" fmla="*/ 134 w 577"/>
              <a:gd name="T57" fmla="*/ 83 h 646"/>
              <a:gd name="T58" fmla="*/ 0 w 577"/>
              <a:gd name="T59" fmla="*/ 462 h 646"/>
              <a:gd name="T60" fmla="*/ 577 w 577"/>
              <a:gd name="T61" fmla="*/ 462 h 646"/>
              <a:gd name="T62" fmla="*/ 200 w 577"/>
              <a:gd name="T63" fmla="*/ 65 h 646"/>
              <a:gd name="T64" fmla="*/ 243 w 577"/>
              <a:gd name="T65" fmla="*/ 41 h 646"/>
              <a:gd name="T66" fmla="*/ 288 w 577"/>
              <a:gd name="T67" fmla="*/ 14 h 646"/>
              <a:gd name="T68" fmla="*/ 334 w 577"/>
              <a:gd name="T69" fmla="*/ 41 h 646"/>
              <a:gd name="T70" fmla="*/ 398 w 577"/>
              <a:gd name="T71" fmla="*/ 59 h 646"/>
              <a:gd name="T72" fmla="*/ 445 w 577"/>
              <a:gd name="T73" fmla="*/ 56 h 646"/>
              <a:gd name="T74" fmla="*/ 435 w 577"/>
              <a:gd name="T75" fmla="*/ 72 h 646"/>
              <a:gd name="T76" fmla="*/ 355 w 577"/>
              <a:gd name="T77" fmla="*/ 224 h 646"/>
              <a:gd name="T78" fmla="*/ 288 w 577"/>
              <a:gd name="T79" fmla="*/ 632 h 646"/>
              <a:gd name="T80" fmla="*/ 222 w 577"/>
              <a:gd name="T81" fmla="*/ 224 h 646"/>
              <a:gd name="T82" fmla="*/ 142 w 577"/>
              <a:gd name="T83" fmla="*/ 72 h 646"/>
              <a:gd name="T84" fmla="*/ 132 w 577"/>
              <a:gd name="T85" fmla="*/ 56 h 646"/>
              <a:gd name="T86" fmla="*/ 179 w 577"/>
              <a:gd name="T87" fmla="*/ 59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77" h="646">
                <a:moveTo>
                  <a:pt x="292" y="561"/>
                </a:moveTo>
                <a:cubicBezTo>
                  <a:pt x="233" y="561"/>
                  <a:pt x="196" y="510"/>
                  <a:pt x="196" y="432"/>
                </a:cubicBezTo>
                <a:cubicBezTo>
                  <a:pt x="196" y="395"/>
                  <a:pt x="204" y="363"/>
                  <a:pt x="221" y="340"/>
                </a:cubicBezTo>
                <a:cubicBezTo>
                  <a:pt x="238" y="316"/>
                  <a:pt x="263" y="304"/>
                  <a:pt x="292" y="304"/>
                </a:cubicBezTo>
                <a:cubicBezTo>
                  <a:pt x="320" y="304"/>
                  <a:pt x="344" y="317"/>
                  <a:pt x="363" y="345"/>
                </a:cubicBezTo>
                <a:cubicBezTo>
                  <a:pt x="365" y="348"/>
                  <a:pt x="364" y="353"/>
                  <a:pt x="361" y="355"/>
                </a:cubicBezTo>
                <a:cubicBezTo>
                  <a:pt x="358" y="357"/>
                  <a:pt x="354" y="356"/>
                  <a:pt x="351" y="353"/>
                </a:cubicBezTo>
                <a:cubicBezTo>
                  <a:pt x="335" y="329"/>
                  <a:pt x="316" y="318"/>
                  <a:pt x="292" y="318"/>
                </a:cubicBezTo>
                <a:cubicBezTo>
                  <a:pt x="267" y="318"/>
                  <a:pt x="247" y="328"/>
                  <a:pt x="232" y="348"/>
                </a:cubicBezTo>
                <a:cubicBezTo>
                  <a:pt x="218" y="369"/>
                  <a:pt x="210" y="398"/>
                  <a:pt x="210" y="432"/>
                </a:cubicBezTo>
                <a:cubicBezTo>
                  <a:pt x="210" y="502"/>
                  <a:pt x="242" y="547"/>
                  <a:pt x="292" y="547"/>
                </a:cubicBezTo>
                <a:cubicBezTo>
                  <a:pt x="316" y="547"/>
                  <a:pt x="335" y="535"/>
                  <a:pt x="351" y="511"/>
                </a:cubicBezTo>
                <a:cubicBezTo>
                  <a:pt x="354" y="508"/>
                  <a:pt x="358" y="507"/>
                  <a:pt x="361" y="509"/>
                </a:cubicBezTo>
                <a:cubicBezTo>
                  <a:pt x="364" y="512"/>
                  <a:pt x="365" y="516"/>
                  <a:pt x="363" y="519"/>
                </a:cubicBezTo>
                <a:cubicBezTo>
                  <a:pt x="344" y="547"/>
                  <a:pt x="320" y="561"/>
                  <a:pt x="292" y="561"/>
                </a:cubicBezTo>
                <a:close/>
                <a:moveTo>
                  <a:pt x="299" y="406"/>
                </a:moveTo>
                <a:cubicBezTo>
                  <a:pt x="299" y="402"/>
                  <a:pt x="296" y="399"/>
                  <a:pt x="292" y="399"/>
                </a:cubicBezTo>
                <a:cubicBezTo>
                  <a:pt x="169" y="399"/>
                  <a:pt x="169" y="399"/>
                  <a:pt x="169" y="399"/>
                </a:cubicBezTo>
                <a:cubicBezTo>
                  <a:pt x="165" y="399"/>
                  <a:pt x="162" y="402"/>
                  <a:pt x="162" y="406"/>
                </a:cubicBezTo>
                <a:cubicBezTo>
                  <a:pt x="162" y="410"/>
                  <a:pt x="165" y="413"/>
                  <a:pt x="169" y="413"/>
                </a:cubicBezTo>
                <a:cubicBezTo>
                  <a:pt x="292" y="413"/>
                  <a:pt x="292" y="413"/>
                  <a:pt x="292" y="413"/>
                </a:cubicBezTo>
                <a:cubicBezTo>
                  <a:pt x="296" y="413"/>
                  <a:pt x="299" y="410"/>
                  <a:pt x="299" y="406"/>
                </a:cubicBezTo>
                <a:close/>
                <a:moveTo>
                  <a:pt x="292" y="467"/>
                </a:moveTo>
                <a:cubicBezTo>
                  <a:pt x="296" y="467"/>
                  <a:pt x="299" y="464"/>
                  <a:pt x="299" y="460"/>
                </a:cubicBezTo>
                <a:cubicBezTo>
                  <a:pt x="299" y="456"/>
                  <a:pt x="296" y="453"/>
                  <a:pt x="292" y="453"/>
                </a:cubicBezTo>
                <a:cubicBezTo>
                  <a:pt x="169" y="453"/>
                  <a:pt x="169" y="453"/>
                  <a:pt x="169" y="453"/>
                </a:cubicBezTo>
                <a:cubicBezTo>
                  <a:pt x="165" y="453"/>
                  <a:pt x="162" y="456"/>
                  <a:pt x="162" y="460"/>
                </a:cubicBezTo>
                <a:cubicBezTo>
                  <a:pt x="162" y="464"/>
                  <a:pt x="165" y="467"/>
                  <a:pt x="169" y="467"/>
                </a:cubicBezTo>
                <a:lnTo>
                  <a:pt x="292" y="467"/>
                </a:lnTo>
                <a:close/>
                <a:moveTo>
                  <a:pt x="364" y="219"/>
                </a:moveTo>
                <a:cubicBezTo>
                  <a:pt x="350" y="216"/>
                  <a:pt x="350" y="216"/>
                  <a:pt x="350" y="216"/>
                </a:cubicBezTo>
                <a:cubicBezTo>
                  <a:pt x="350" y="216"/>
                  <a:pt x="350" y="216"/>
                  <a:pt x="350" y="216"/>
                </a:cubicBezTo>
                <a:cubicBezTo>
                  <a:pt x="350" y="216"/>
                  <a:pt x="344" y="231"/>
                  <a:pt x="288" y="231"/>
                </a:cubicBezTo>
                <a:cubicBezTo>
                  <a:pt x="233" y="231"/>
                  <a:pt x="227" y="216"/>
                  <a:pt x="226" y="216"/>
                </a:cubicBezTo>
                <a:cubicBezTo>
                  <a:pt x="227" y="216"/>
                  <a:pt x="227" y="216"/>
                  <a:pt x="227" y="216"/>
                </a:cubicBezTo>
                <a:cubicBezTo>
                  <a:pt x="213" y="219"/>
                  <a:pt x="213" y="219"/>
                  <a:pt x="213" y="219"/>
                </a:cubicBezTo>
                <a:cubicBezTo>
                  <a:pt x="214" y="224"/>
                  <a:pt x="222" y="245"/>
                  <a:pt x="288" y="245"/>
                </a:cubicBezTo>
                <a:cubicBezTo>
                  <a:pt x="355" y="245"/>
                  <a:pt x="363" y="224"/>
                  <a:pt x="364" y="219"/>
                </a:cubicBezTo>
                <a:close/>
                <a:moveTo>
                  <a:pt x="577" y="462"/>
                </a:moveTo>
                <a:cubicBezTo>
                  <a:pt x="577" y="344"/>
                  <a:pt x="452" y="245"/>
                  <a:pt x="364" y="213"/>
                </a:cubicBezTo>
                <a:cubicBezTo>
                  <a:pt x="366" y="181"/>
                  <a:pt x="381" y="134"/>
                  <a:pt x="443" y="83"/>
                </a:cubicBezTo>
                <a:cubicBezTo>
                  <a:pt x="445" y="81"/>
                  <a:pt x="447" y="80"/>
                  <a:pt x="447" y="80"/>
                </a:cubicBezTo>
                <a:cubicBezTo>
                  <a:pt x="461" y="67"/>
                  <a:pt x="461" y="57"/>
                  <a:pt x="458" y="51"/>
                </a:cubicBezTo>
                <a:cubicBezTo>
                  <a:pt x="455" y="42"/>
                  <a:pt x="444" y="37"/>
                  <a:pt x="430" y="37"/>
                </a:cubicBezTo>
                <a:cubicBezTo>
                  <a:pt x="418" y="37"/>
                  <a:pt x="405" y="41"/>
                  <a:pt x="392" y="47"/>
                </a:cubicBezTo>
                <a:cubicBezTo>
                  <a:pt x="387" y="49"/>
                  <a:pt x="382" y="51"/>
                  <a:pt x="377" y="51"/>
                </a:cubicBezTo>
                <a:cubicBezTo>
                  <a:pt x="365" y="51"/>
                  <a:pt x="355" y="43"/>
                  <a:pt x="344" y="31"/>
                </a:cubicBezTo>
                <a:cubicBezTo>
                  <a:pt x="341" y="28"/>
                  <a:pt x="341" y="28"/>
                  <a:pt x="341" y="28"/>
                </a:cubicBezTo>
                <a:cubicBezTo>
                  <a:pt x="328" y="15"/>
                  <a:pt x="314" y="0"/>
                  <a:pt x="288" y="0"/>
                </a:cubicBezTo>
                <a:cubicBezTo>
                  <a:pt x="263" y="0"/>
                  <a:pt x="249" y="15"/>
                  <a:pt x="236" y="28"/>
                </a:cubicBezTo>
                <a:cubicBezTo>
                  <a:pt x="233" y="31"/>
                  <a:pt x="233" y="31"/>
                  <a:pt x="233" y="31"/>
                </a:cubicBezTo>
                <a:cubicBezTo>
                  <a:pt x="222" y="43"/>
                  <a:pt x="212" y="51"/>
                  <a:pt x="200" y="51"/>
                </a:cubicBezTo>
                <a:cubicBezTo>
                  <a:pt x="200" y="51"/>
                  <a:pt x="200" y="51"/>
                  <a:pt x="200" y="51"/>
                </a:cubicBezTo>
                <a:cubicBezTo>
                  <a:pt x="195" y="51"/>
                  <a:pt x="190" y="49"/>
                  <a:pt x="185" y="47"/>
                </a:cubicBezTo>
                <a:cubicBezTo>
                  <a:pt x="172" y="41"/>
                  <a:pt x="159" y="37"/>
                  <a:pt x="147" y="37"/>
                </a:cubicBezTo>
                <a:cubicBezTo>
                  <a:pt x="133" y="37"/>
                  <a:pt x="122" y="42"/>
                  <a:pt x="119" y="51"/>
                </a:cubicBezTo>
                <a:cubicBezTo>
                  <a:pt x="116" y="57"/>
                  <a:pt x="116" y="67"/>
                  <a:pt x="130" y="80"/>
                </a:cubicBezTo>
                <a:cubicBezTo>
                  <a:pt x="130" y="80"/>
                  <a:pt x="132" y="81"/>
                  <a:pt x="134" y="83"/>
                </a:cubicBezTo>
                <a:cubicBezTo>
                  <a:pt x="196" y="134"/>
                  <a:pt x="211" y="181"/>
                  <a:pt x="213" y="213"/>
                </a:cubicBezTo>
                <a:cubicBezTo>
                  <a:pt x="125" y="245"/>
                  <a:pt x="0" y="344"/>
                  <a:pt x="0" y="462"/>
                </a:cubicBezTo>
                <a:cubicBezTo>
                  <a:pt x="0" y="579"/>
                  <a:pt x="47" y="646"/>
                  <a:pt x="288" y="646"/>
                </a:cubicBezTo>
                <a:cubicBezTo>
                  <a:pt x="530" y="646"/>
                  <a:pt x="577" y="579"/>
                  <a:pt x="577" y="462"/>
                </a:cubicBezTo>
                <a:close/>
                <a:moveTo>
                  <a:pt x="179" y="59"/>
                </a:moveTo>
                <a:cubicBezTo>
                  <a:pt x="186" y="63"/>
                  <a:pt x="193" y="65"/>
                  <a:pt x="200" y="65"/>
                </a:cubicBezTo>
                <a:cubicBezTo>
                  <a:pt x="200" y="65"/>
                  <a:pt x="200" y="65"/>
                  <a:pt x="200" y="65"/>
                </a:cubicBezTo>
                <a:cubicBezTo>
                  <a:pt x="218" y="65"/>
                  <a:pt x="231" y="53"/>
                  <a:pt x="243" y="41"/>
                </a:cubicBezTo>
                <a:cubicBezTo>
                  <a:pt x="246" y="37"/>
                  <a:pt x="246" y="37"/>
                  <a:pt x="246" y="37"/>
                </a:cubicBezTo>
                <a:cubicBezTo>
                  <a:pt x="258" y="25"/>
                  <a:pt x="269" y="14"/>
                  <a:pt x="288" y="14"/>
                </a:cubicBezTo>
                <a:cubicBezTo>
                  <a:pt x="308" y="14"/>
                  <a:pt x="319" y="25"/>
                  <a:pt x="331" y="37"/>
                </a:cubicBezTo>
                <a:cubicBezTo>
                  <a:pt x="334" y="41"/>
                  <a:pt x="334" y="41"/>
                  <a:pt x="334" y="41"/>
                </a:cubicBezTo>
                <a:cubicBezTo>
                  <a:pt x="346" y="53"/>
                  <a:pt x="359" y="65"/>
                  <a:pt x="377" y="65"/>
                </a:cubicBezTo>
                <a:cubicBezTo>
                  <a:pt x="384" y="65"/>
                  <a:pt x="391" y="63"/>
                  <a:pt x="398" y="59"/>
                </a:cubicBezTo>
                <a:cubicBezTo>
                  <a:pt x="409" y="54"/>
                  <a:pt x="420" y="51"/>
                  <a:pt x="430" y="51"/>
                </a:cubicBezTo>
                <a:cubicBezTo>
                  <a:pt x="439" y="51"/>
                  <a:pt x="444" y="54"/>
                  <a:pt x="445" y="56"/>
                </a:cubicBezTo>
                <a:cubicBezTo>
                  <a:pt x="446" y="58"/>
                  <a:pt x="444" y="63"/>
                  <a:pt x="438" y="70"/>
                </a:cubicBezTo>
                <a:cubicBezTo>
                  <a:pt x="437" y="70"/>
                  <a:pt x="436" y="71"/>
                  <a:pt x="435" y="72"/>
                </a:cubicBezTo>
                <a:cubicBezTo>
                  <a:pt x="365" y="129"/>
                  <a:pt x="350" y="183"/>
                  <a:pt x="350" y="218"/>
                </a:cubicBezTo>
                <a:cubicBezTo>
                  <a:pt x="350" y="221"/>
                  <a:pt x="352" y="223"/>
                  <a:pt x="355" y="224"/>
                </a:cubicBezTo>
                <a:cubicBezTo>
                  <a:pt x="439" y="253"/>
                  <a:pt x="563" y="349"/>
                  <a:pt x="563" y="462"/>
                </a:cubicBezTo>
                <a:cubicBezTo>
                  <a:pt x="563" y="573"/>
                  <a:pt x="519" y="632"/>
                  <a:pt x="288" y="632"/>
                </a:cubicBezTo>
                <a:cubicBezTo>
                  <a:pt x="58" y="632"/>
                  <a:pt x="14" y="573"/>
                  <a:pt x="14" y="462"/>
                </a:cubicBezTo>
                <a:cubicBezTo>
                  <a:pt x="14" y="349"/>
                  <a:pt x="138" y="253"/>
                  <a:pt x="222" y="224"/>
                </a:cubicBezTo>
                <a:cubicBezTo>
                  <a:pt x="225" y="223"/>
                  <a:pt x="227" y="221"/>
                  <a:pt x="227" y="218"/>
                </a:cubicBezTo>
                <a:cubicBezTo>
                  <a:pt x="227" y="183"/>
                  <a:pt x="212" y="129"/>
                  <a:pt x="142" y="72"/>
                </a:cubicBezTo>
                <a:cubicBezTo>
                  <a:pt x="141" y="71"/>
                  <a:pt x="140" y="70"/>
                  <a:pt x="139" y="70"/>
                </a:cubicBezTo>
                <a:cubicBezTo>
                  <a:pt x="133" y="63"/>
                  <a:pt x="131" y="58"/>
                  <a:pt x="132" y="56"/>
                </a:cubicBezTo>
                <a:cubicBezTo>
                  <a:pt x="133" y="54"/>
                  <a:pt x="138" y="51"/>
                  <a:pt x="147" y="51"/>
                </a:cubicBezTo>
                <a:cubicBezTo>
                  <a:pt x="157" y="51"/>
                  <a:pt x="168" y="54"/>
                  <a:pt x="179" y="59"/>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Freeform 76"/>
          <p:cNvSpPr>
            <a:spLocks noEditPoints="1"/>
          </p:cNvSpPr>
          <p:nvPr/>
        </p:nvSpPr>
        <p:spPr bwMode="auto">
          <a:xfrm>
            <a:off x="525184" y="1565069"/>
            <a:ext cx="185426" cy="245331"/>
          </a:xfrm>
          <a:custGeom>
            <a:avLst/>
            <a:gdLst>
              <a:gd name="T0" fmla="*/ 328 w 479"/>
              <a:gd name="T1" fmla="*/ 438 h 633"/>
              <a:gd name="T2" fmla="*/ 152 w 479"/>
              <a:gd name="T3" fmla="*/ 438 h 633"/>
              <a:gd name="T4" fmla="*/ 129 w 479"/>
              <a:gd name="T5" fmla="*/ 422 h 633"/>
              <a:gd name="T6" fmla="*/ 75 w 479"/>
              <a:gd name="T7" fmla="*/ 254 h 633"/>
              <a:gd name="T8" fmla="*/ 84 w 479"/>
              <a:gd name="T9" fmla="*/ 228 h 633"/>
              <a:gd name="T10" fmla="*/ 226 w 479"/>
              <a:gd name="T11" fmla="*/ 125 h 633"/>
              <a:gd name="T12" fmla="*/ 254 w 479"/>
              <a:gd name="T13" fmla="*/ 125 h 633"/>
              <a:gd name="T14" fmla="*/ 396 w 479"/>
              <a:gd name="T15" fmla="*/ 228 h 633"/>
              <a:gd name="T16" fmla="*/ 405 w 479"/>
              <a:gd name="T17" fmla="*/ 254 h 633"/>
              <a:gd name="T18" fmla="*/ 350 w 479"/>
              <a:gd name="T19" fmla="*/ 422 h 633"/>
              <a:gd name="T20" fmla="*/ 335 w 479"/>
              <a:gd name="T21" fmla="*/ 440 h 633"/>
              <a:gd name="T22" fmla="*/ 243 w 479"/>
              <a:gd name="T23" fmla="*/ 378 h 633"/>
              <a:gd name="T24" fmla="*/ 336 w 479"/>
              <a:gd name="T25" fmla="*/ 425 h 633"/>
              <a:gd name="T26" fmla="*/ 319 w 479"/>
              <a:gd name="T27" fmla="*/ 323 h 633"/>
              <a:gd name="T28" fmla="*/ 395 w 479"/>
              <a:gd name="T29" fmla="*/ 244 h 633"/>
              <a:gd name="T30" fmla="*/ 394 w 479"/>
              <a:gd name="T31" fmla="*/ 242 h 633"/>
              <a:gd name="T32" fmla="*/ 287 w 479"/>
              <a:gd name="T33" fmla="*/ 223 h 633"/>
              <a:gd name="T34" fmla="*/ 238 w 479"/>
              <a:gd name="T35" fmla="*/ 131 h 633"/>
              <a:gd name="T36" fmla="*/ 188 w 479"/>
              <a:gd name="T37" fmla="*/ 227 h 633"/>
              <a:gd name="T38" fmla="*/ 84 w 479"/>
              <a:gd name="T39" fmla="*/ 243 h 633"/>
              <a:gd name="T40" fmla="*/ 159 w 479"/>
              <a:gd name="T41" fmla="*/ 316 h 633"/>
              <a:gd name="T42" fmla="*/ 143 w 479"/>
              <a:gd name="T43" fmla="*/ 424 h 633"/>
              <a:gd name="T44" fmla="*/ 145 w 479"/>
              <a:gd name="T45" fmla="*/ 426 h 633"/>
              <a:gd name="T46" fmla="*/ 240 w 479"/>
              <a:gd name="T47" fmla="*/ 377 h 633"/>
              <a:gd name="T48" fmla="*/ 238 w 479"/>
              <a:gd name="T49" fmla="*/ 633 h 633"/>
              <a:gd name="T50" fmla="*/ 0 w 479"/>
              <a:gd name="T51" fmla="*/ 435 h 633"/>
              <a:gd name="T52" fmla="*/ 5 w 479"/>
              <a:gd name="T53" fmla="*/ 39 h 633"/>
              <a:gd name="T54" fmla="*/ 474 w 479"/>
              <a:gd name="T55" fmla="*/ 39 h 633"/>
              <a:gd name="T56" fmla="*/ 479 w 479"/>
              <a:gd name="T57" fmla="*/ 435 h 633"/>
              <a:gd name="T58" fmla="*/ 241 w 479"/>
              <a:gd name="T59" fmla="*/ 633 h 633"/>
              <a:gd name="T60" fmla="*/ 14 w 479"/>
              <a:gd name="T61" fmla="*/ 51 h 633"/>
              <a:gd name="T62" fmla="*/ 111 w 479"/>
              <a:gd name="T63" fmla="*/ 542 h 633"/>
              <a:gd name="T64" fmla="*/ 465 w 479"/>
              <a:gd name="T65" fmla="*/ 435 h 633"/>
              <a:gd name="T66" fmla="*/ 240 w 479"/>
              <a:gd name="T67" fmla="*/ 14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9" h="633">
                <a:moveTo>
                  <a:pt x="335" y="440"/>
                </a:moveTo>
                <a:cubicBezTo>
                  <a:pt x="332" y="440"/>
                  <a:pt x="330" y="439"/>
                  <a:pt x="328" y="438"/>
                </a:cubicBezTo>
                <a:cubicBezTo>
                  <a:pt x="240" y="392"/>
                  <a:pt x="240" y="392"/>
                  <a:pt x="240" y="392"/>
                </a:cubicBezTo>
                <a:cubicBezTo>
                  <a:pt x="152" y="438"/>
                  <a:pt x="152" y="438"/>
                  <a:pt x="152" y="438"/>
                </a:cubicBezTo>
                <a:cubicBezTo>
                  <a:pt x="147" y="441"/>
                  <a:pt x="140" y="440"/>
                  <a:pt x="136" y="437"/>
                </a:cubicBezTo>
                <a:cubicBezTo>
                  <a:pt x="131" y="433"/>
                  <a:pt x="128" y="428"/>
                  <a:pt x="129" y="422"/>
                </a:cubicBezTo>
                <a:cubicBezTo>
                  <a:pt x="146" y="324"/>
                  <a:pt x="146" y="324"/>
                  <a:pt x="146" y="324"/>
                </a:cubicBezTo>
                <a:cubicBezTo>
                  <a:pt x="75" y="254"/>
                  <a:pt x="75" y="254"/>
                  <a:pt x="75" y="254"/>
                </a:cubicBezTo>
                <a:cubicBezTo>
                  <a:pt x="71" y="250"/>
                  <a:pt x="69" y="244"/>
                  <a:pt x="71" y="239"/>
                </a:cubicBezTo>
                <a:cubicBezTo>
                  <a:pt x="73" y="233"/>
                  <a:pt x="78" y="229"/>
                  <a:pt x="84" y="228"/>
                </a:cubicBezTo>
                <a:cubicBezTo>
                  <a:pt x="182" y="214"/>
                  <a:pt x="182" y="214"/>
                  <a:pt x="182" y="214"/>
                </a:cubicBezTo>
                <a:cubicBezTo>
                  <a:pt x="226" y="125"/>
                  <a:pt x="226" y="125"/>
                  <a:pt x="226" y="125"/>
                </a:cubicBezTo>
                <a:cubicBezTo>
                  <a:pt x="228" y="119"/>
                  <a:pt x="234" y="116"/>
                  <a:pt x="240" y="116"/>
                </a:cubicBezTo>
                <a:cubicBezTo>
                  <a:pt x="246" y="116"/>
                  <a:pt x="251" y="119"/>
                  <a:pt x="254" y="125"/>
                </a:cubicBezTo>
                <a:cubicBezTo>
                  <a:pt x="298" y="214"/>
                  <a:pt x="298" y="214"/>
                  <a:pt x="298" y="214"/>
                </a:cubicBezTo>
                <a:cubicBezTo>
                  <a:pt x="396" y="228"/>
                  <a:pt x="396" y="228"/>
                  <a:pt x="396" y="228"/>
                </a:cubicBezTo>
                <a:cubicBezTo>
                  <a:pt x="402" y="229"/>
                  <a:pt x="407" y="233"/>
                  <a:pt x="408" y="239"/>
                </a:cubicBezTo>
                <a:cubicBezTo>
                  <a:pt x="410" y="244"/>
                  <a:pt x="409" y="250"/>
                  <a:pt x="405" y="254"/>
                </a:cubicBezTo>
                <a:cubicBezTo>
                  <a:pt x="333" y="324"/>
                  <a:pt x="333" y="324"/>
                  <a:pt x="333" y="324"/>
                </a:cubicBezTo>
                <a:cubicBezTo>
                  <a:pt x="350" y="422"/>
                  <a:pt x="350" y="422"/>
                  <a:pt x="350" y="422"/>
                </a:cubicBezTo>
                <a:cubicBezTo>
                  <a:pt x="351" y="427"/>
                  <a:pt x="349" y="433"/>
                  <a:pt x="344" y="437"/>
                </a:cubicBezTo>
                <a:cubicBezTo>
                  <a:pt x="341" y="439"/>
                  <a:pt x="338" y="440"/>
                  <a:pt x="335" y="440"/>
                </a:cubicBezTo>
                <a:close/>
                <a:moveTo>
                  <a:pt x="240" y="377"/>
                </a:moveTo>
                <a:cubicBezTo>
                  <a:pt x="241" y="377"/>
                  <a:pt x="242" y="377"/>
                  <a:pt x="243" y="378"/>
                </a:cubicBezTo>
                <a:cubicBezTo>
                  <a:pt x="334" y="426"/>
                  <a:pt x="334" y="426"/>
                  <a:pt x="334" y="426"/>
                </a:cubicBezTo>
                <a:cubicBezTo>
                  <a:pt x="335" y="426"/>
                  <a:pt x="335" y="426"/>
                  <a:pt x="336" y="425"/>
                </a:cubicBezTo>
                <a:cubicBezTo>
                  <a:pt x="336" y="425"/>
                  <a:pt x="336" y="425"/>
                  <a:pt x="336" y="424"/>
                </a:cubicBezTo>
                <a:cubicBezTo>
                  <a:pt x="319" y="323"/>
                  <a:pt x="319" y="323"/>
                  <a:pt x="319" y="323"/>
                </a:cubicBezTo>
                <a:cubicBezTo>
                  <a:pt x="319" y="320"/>
                  <a:pt x="319" y="318"/>
                  <a:pt x="321" y="316"/>
                </a:cubicBezTo>
                <a:cubicBezTo>
                  <a:pt x="395" y="244"/>
                  <a:pt x="395" y="244"/>
                  <a:pt x="395" y="244"/>
                </a:cubicBezTo>
                <a:cubicBezTo>
                  <a:pt x="395" y="244"/>
                  <a:pt x="395" y="243"/>
                  <a:pt x="395" y="243"/>
                </a:cubicBezTo>
                <a:cubicBezTo>
                  <a:pt x="395" y="242"/>
                  <a:pt x="394" y="242"/>
                  <a:pt x="394" y="242"/>
                </a:cubicBezTo>
                <a:cubicBezTo>
                  <a:pt x="292" y="227"/>
                  <a:pt x="292" y="227"/>
                  <a:pt x="292" y="227"/>
                </a:cubicBezTo>
                <a:cubicBezTo>
                  <a:pt x="290" y="227"/>
                  <a:pt x="288" y="225"/>
                  <a:pt x="287" y="223"/>
                </a:cubicBezTo>
                <a:cubicBezTo>
                  <a:pt x="241" y="131"/>
                  <a:pt x="241" y="131"/>
                  <a:pt x="241" y="131"/>
                </a:cubicBezTo>
                <a:cubicBezTo>
                  <a:pt x="241" y="130"/>
                  <a:pt x="239" y="130"/>
                  <a:pt x="238" y="131"/>
                </a:cubicBezTo>
                <a:cubicBezTo>
                  <a:pt x="193" y="223"/>
                  <a:pt x="193" y="223"/>
                  <a:pt x="193" y="223"/>
                </a:cubicBezTo>
                <a:cubicBezTo>
                  <a:pt x="192" y="225"/>
                  <a:pt x="190" y="227"/>
                  <a:pt x="188" y="227"/>
                </a:cubicBezTo>
                <a:cubicBezTo>
                  <a:pt x="86" y="242"/>
                  <a:pt x="86" y="242"/>
                  <a:pt x="86" y="242"/>
                </a:cubicBezTo>
                <a:cubicBezTo>
                  <a:pt x="85" y="242"/>
                  <a:pt x="85" y="242"/>
                  <a:pt x="84" y="243"/>
                </a:cubicBezTo>
                <a:cubicBezTo>
                  <a:pt x="84" y="243"/>
                  <a:pt x="84" y="244"/>
                  <a:pt x="85" y="244"/>
                </a:cubicBezTo>
                <a:cubicBezTo>
                  <a:pt x="159" y="316"/>
                  <a:pt x="159" y="316"/>
                  <a:pt x="159" y="316"/>
                </a:cubicBezTo>
                <a:cubicBezTo>
                  <a:pt x="160" y="318"/>
                  <a:pt x="161" y="320"/>
                  <a:pt x="161" y="323"/>
                </a:cubicBezTo>
                <a:cubicBezTo>
                  <a:pt x="143" y="424"/>
                  <a:pt x="143" y="424"/>
                  <a:pt x="143" y="424"/>
                </a:cubicBezTo>
                <a:cubicBezTo>
                  <a:pt x="143" y="425"/>
                  <a:pt x="143" y="425"/>
                  <a:pt x="144" y="425"/>
                </a:cubicBezTo>
                <a:cubicBezTo>
                  <a:pt x="144" y="426"/>
                  <a:pt x="145" y="426"/>
                  <a:pt x="145" y="426"/>
                </a:cubicBezTo>
                <a:cubicBezTo>
                  <a:pt x="236" y="378"/>
                  <a:pt x="236" y="378"/>
                  <a:pt x="236" y="378"/>
                </a:cubicBezTo>
                <a:cubicBezTo>
                  <a:pt x="238" y="377"/>
                  <a:pt x="239" y="377"/>
                  <a:pt x="240" y="377"/>
                </a:cubicBezTo>
                <a:close/>
                <a:moveTo>
                  <a:pt x="240" y="633"/>
                </a:moveTo>
                <a:cubicBezTo>
                  <a:pt x="239" y="633"/>
                  <a:pt x="239" y="633"/>
                  <a:pt x="238" y="633"/>
                </a:cubicBezTo>
                <a:cubicBezTo>
                  <a:pt x="215" y="628"/>
                  <a:pt x="155" y="593"/>
                  <a:pt x="103" y="553"/>
                </a:cubicBezTo>
                <a:cubicBezTo>
                  <a:pt x="14" y="486"/>
                  <a:pt x="0" y="450"/>
                  <a:pt x="0" y="435"/>
                </a:cubicBezTo>
                <a:cubicBezTo>
                  <a:pt x="0" y="46"/>
                  <a:pt x="0" y="46"/>
                  <a:pt x="0" y="46"/>
                </a:cubicBezTo>
                <a:cubicBezTo>
                  <a:pt x="0" y="43"/>
                  <a:pt x="2" y="40"/>
                  <a:pt x="5" y="39"/>
                </a:cubicBezTo>
                <a:cubicBezTo>
                  <a:pt x="92" y="13"/>
                  <a:pt x="168" y="0"/>
                  <a:pt x="240" y="0"/>
                </a:cubicBezTo>
                <a:cubicBezTo>
                  <a:pt x="327" y="0"/>
                  <a:pt x="415" y="21"/>
                  <a:pt x="474" y="39"/>
                </a:cubicBezTo>
                <a:cubicBezTo>
                  <a:pt x="477" y="40"/>
                  <a:pt x="479" y="43"/>
                  <a:pt x="479" y="46"/>
                </a:cubicBezTo>
                <a:cubicBezTo>
                  <a:pt x="479" y="435"/>
                  <a:pt x="479" y="435"/>
                  <a:pt x="479" y="435"/>
                </a:cubicBezTo>
                <a:cubicBezTo>
                  <a:pt x="479" y="477"/>
                  <a:pt x="422" y="526"/>
                  <a:pt x="374" y="560"/>
                </a:cubicBezTo>
                <a:cubicBezTo>
                  <a:pt x="321" y="598"/>
                  <a:pt x="261" y="629"/>
                  <a:pt x="241" y="633"/>
                </a:cubicBezTo>
                <a:cubicBezTo>
                  <a:pt x="241" y="633"/>
                  <a:pt x="240" y="633"/>
                  <a:pt x="240" y="633"/>
                </a:cubicBezTo>
                <a:close/>
                <a:moveTo>
                  <a:pt x="14" y="51"/>
                </a:moveTo>
                <a:cubicBezTo>
                  <a:pt x="14" y="435"/>
                  <a:pt x="14" y="435"/>
                  <a:pt x="14" y="435"/>
                </a:cubicBezTo>
                <a:cubicBezTo>
                  <a:pt x="14" y="456"/>
                  <a:pt x="51" y="496"/>
                  <a:pt x="111" y="542"/>
                </a:cubicBezTo>
                <a:cubicBezTo>
                  <a:pt x="166" y="583"/>
                  <a:pt x="220" y="614"/>
                  <a:pt x="240" y="619"/>
                </a:cubicBezTo>
                <a:cubicBezTo>
                  <a:pt x="281" y="609"/>
                  <a:pt x="465" y="499"/>
                  <a:pt x="465" y="435"/>
                </a:cubicBezTo>
                <a:cubicBezTo>
                  <a:pt x="465" y="51"/>
                  <a:pt x="465" y="51"/>
                  <a:pt x="465" y="51"/>
                </a:cubicBezTo>
                <a:cubicBezTo>
                  <a:pt x="407" y="34"/>
                  <a:pt x="323" y="14"/>
                  <a:pt x="240" y="14"/>
                </a:cubicBezTo>
                <a:cubicBezTo>
                  <a:pt x="171" y="14"/>
                  <a:pt x="97" y="26"/>
                  <a:pt x="14" y="51"/>
                </a:cubicBezTo>
                <a:close/>
              </a:path>
            </a:pathLst>
          </a:custGeom>
          <a:solidFill>
            <a:srgbClr val="0086AC"/>
          </a:soli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941581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6 CuadroTexto"/>
          <p:cNvSpPr txBox="1"/>
          <p:nvPr/>
        </p:nvSpPr>
        <p:spPr>
          <a:xfrm>
            <a:off x="632521" y="414018"/>
            <a:ext cx="866026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000" b="0" i="0" u="none" strike="noStrike" kern="1200" cap="none" spc="0" normalizeH="0" baseline="0" noProof="0" dirty="0">
                <a:ln>
                  <a:noFill/>
                </a:ln>
                <a:solidFill>
                  <a:prstClr val="black">
                    <a:lumMod val="65000"/>
                    <a:lumOff val="35000"/>
                  </a:prstClr>
                </a:solidFill>
                <a:effectLst/>
                <a:uLnTx/>
                <a:uFillTx/>
                <a:latin typeface="Avenir 35" panose="00000400000000000000" pitchFamily="2" charset="0"/>
                <a:ea typeface="+mn-ea"/>
                <a:cs typeface="+mn-cs"/>
              </a:rPr>
              <a:t>SUCCESS FEE</a:t>
            </a:r>
            <a:endParaRPr kumimoji="0" lang="es-ES" sz="1400" b="0" i="0" u="none" strike="noStrike" kern="1200" cap="none" spc="0" normalizeH="0" baseline="0" noProof="0" dirty="0">
              <a:ln>
                <a:noFill/>
              </a:ln>
              <a:solidFill>
                <a:prstClr val="black">
                  <a:lumMod val="65000"/>
                  <a:lumOff val="35000"/>
                </a:prstClr>
              </a:solidFill>
              <a:effectLst/>
              <a:uLnTx/>
              <a:uFillTx/>
              <a:latin typeface="Avenir 35" panose="00000400000000000000" pitchFamily="2" charset="0"/>
              <a:ea typeface="+mn-ea"/>
              <a:cs typeface="+mn-cs"/>
            </a:endParaRPr>
          </a:p>
        </p:txBody>
      </p:sp>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dirty="0" err="1">
                <a:ln>
                  <a:noFill/>
                </a:ln>
                <a:solidFill>
                  <a:prstClr val="white">
                    <a:lumMod val="50000"/>
                  </a:prstClr>
                </a:solidFill>
                <a:effectLst/>
                <a:uLnTx/>
                <a:uFillTx/>
                <a:latin typeface="Avenir 35" panose="00000400000000000000" pitchFamily="2" charset="0"/>
                <a:ea typeface="+mj-ea"/>
                <a:cs typeface="+mj-cs"/>
              </a:rPr>
              <a:t>Oferta</a:t>
            </a:r>
            <a:r>
              <a:rPr kumimoji="0" lang="en-US" sz="1600" b="0" i="0" u="none" strike="noStrike" kern="1200" cap="none" spc="0" normalizeH="0" baseline="0" noProof="0" dirty="0">
                <a:ln>
                  <a:noFill/>
                </a:ln>
                <a:solidFill>
                  <a:prstClr val="white">
                    <a:lumMod val="50000"/>
                  </a:prstClr>
                </a:solidFill>
                <a:effectLst/>
                <a:uLnTx/>
                <a:uFillTx/>
                <a:latin typeface="Avenir 35" panose="00000400000000000000" pitchFamily="2" charset="0"/>
                <a:ea typeface="+mj-ea"/>
                <a:cs typeface="+mj-cs"/>
              </a:rPr>
              <a:t> </a:t>
            </a:r>
            <a:r>
              <a:rPr kumimoji="0" lang="en-US" sz="1600" b="0" i="0" u="none" strike="noStrike" kern="1200" cap="none" spc="0" normalizeH="0" baseline="0" noProof="0" dirty="0" err="1">
                <a:ln>
                  <a:noFill/>
                </a:ln>
                <a:solidFill>
                  <a:prstClr val="white">
                    <a:lumMod val="50000"/>
                  </a:prstClr>
                </a:solidFill>
                <a:effectLst/>
                <a:uLnTx/>
                <a:uFillTx/>
                <a:latin typeface="Avenir 35" panose="00000400000000000000" pitchFamily="2" charset="0"/>
                <a:ea typeface="+mj-ea"/>
                <a:cs typeface="+mj-cs"/>
              </a:rPr>
              <a:t>Económica</a:t>
            </a:r>
            <a:endParaRPr kumimoji="0" lang="en-US" sz="1600" b="0" i="0" u="none" strike="noStrike" kern="1200" cap="none" spc="0" normalizeH="0" baseline="0" noProof="0" dirty="0">
              <a:ln>
                <a:noFill/>
              </a:ln>
              <a:solidFill>
                <a:prstClr val="white">
                  <a:lumMod val="50000"/>
                </a:prstClr>
              </a:solidFill>
              <a:effectLst/>
              <a:uLnTx/>
              <a:uFillTx/>
              <a:latin typeface="Avenir 35" panose="00000400000000000000" pitchFamily="2" charset="0"/>
              <a:ea typeface="+mj-ea"/>
              <a:cs typeface="+mj-cs"/>
            </a:endParaRPr>
          </a:p>
        </p:txBody>
      </p:sp>
      <p:sp>
        <p:nvSpPr>
          <p:cNvPr id="37" name="Slide Number Placeholder 2"/>
          <p:cNvSpPr>
            <a:spLocks noGrp="1"/>
          </p:cNvSpPr>
          <p:nvPr>
            <p:ph type="sldNum" sz="quarter" idx="4294967295"/>
          </p:nvPr>
        </p:nvSpPr>
        <p:spPr>
          <a:xfrm>
            <a:off x="6720840" y="6561762"/>
            <a:ext cx="2311400" cy="246221"/>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0061AB-E3E3-4B82-98B1-945D99ABF5FB}" type="slidenum">
              <a:rPr kumimoji="0" lang="es-ES" sz="1200" b="0" i="0" u="none" strike="noStrike" kern="1200" cap="none" spc="0" normalizeH="0" baseline="0" noProof="0" smtClean="0">
                <a:ln>
                  <a:noFill/>
                </a:ln>
                <a:solidFill>
                  <a:srgbClr val="000000">
                    <a:tint val="75000"/>
                  </a:srgbClr>
                </a:solidFill>
                <a:effectLst/>
                <a:uLnTx/>
                <a:uFillTx/>
                <a:latin typeface="Avenir 35" panose="000004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s-ES" sz="1200" b="0" i="0" u="none" strike="noStrike" kern="1200" cap="none" spc="0" normalizeH="0" baseline="0" noProof="0" dirty="0">
              <a:ln>
                <a:noFill/>
              </a:ln>
              <a:solidFill>
                <a:srgbClr val="000000">
                  <a:tint val="75000"/>
                </a:srgbClr>
              </a:solidFill>
              <a:effectLst/>
              <a:uLnTx/>
              <a:uFillTx/>
              <a:latin typeface="Avenir 35" panose="00000400000000000000" pitchFamily="2" charset="0"/>
              <a:ea typeface="+mn-ea"/>
              <a:cs typeface="+mn-cs"/>
            </a:endParaRPr>
          </a:p>
        </p:txBody>
      </p:sp>
      <p:sp>
        <p:nvSpPr>
          <p:cNvPr id="68" name="AutoShape 4"/>
          <p:cNvSpPr>
            <a:spLocks noChangeArrowheads="1"/>
          </p:cNvSpPr>
          <p:nvPr/>
        </p:nvSpPr>
        <p:spPr bwMode="auto">
          <a:xfrm>
            <a:off x="199508" y="908369"/>
            <a:ext cx="9526287" cy="445805"/>
          </a:xfrm>
          <a:prstGeom prst="roundRect">
            <a:avLst>
              <a:gd name="adj" fmla="val 12500"/>
            </a:avLst>
          </a:prstGeom>
        </p:spPr>
        <p:txBody>
          <a:bodyPr lIns="92583" tIns="46292" rIns="92583" bIns="46292" anchor="ctr">
            <a:normAutofit lnSpcReduction="10000"/>
          </a:bodyPr>
          <a:lstStyle/>
          <a:p>
            <a:pPr marL="0" marR="0" lvl="0" indent="0" algn="ctr" defTabSz="925830" rtl="0" eaLnBrk="0" fontAlgn="base" latinLnBrk="0" hangingPunct="0">
              <a:lnSpc>
                <a:spcPct val="110000"/>
              </a:lnSpc>
              <a:spcBef>
                <a:spcPct val="30000"/>
              </a:spcBef>
              <a:spcAft>
                <a:spcPct val="0"/>
              </a:spcAft>
              <a:buClrTx/>
              <a:buSzTx/>
              <a:buFontTx/>
              <a:buNone/>
              <a:tabLst/>
              <a:defRPr/>
            </a:pPr>
            <a:r>
              <a:rPr kumimoji="0" lang="es-ES" sz="1000" b="0" i="0" u="none" strike="noStrike" kern="1200" cap="none" spc="0" normalizeH="0" baseline="0" noProof="0" dirty="0">
                <a:ln>
                  <a:noFill/>
                </a:ln>
                <a:solidFill>
                  <a:srgbClr val="323232"/>
                </a:solidFill>
                <a:effectLst/>
                <a:uLnTx/>
                <a:uFillTx/>
                <a:latin typeface="Avenir 35" panose="00000400000000000000" pitchFamily="2" charset="0"/>
                <a:ea typeface="+mn-ea"/>
                <a:cs typeface="+mn-cs"/>
              </a:rPr>
              <a:t>Se detalla a continuación una primera propuesta de indicadores a los que se vincula la parte variable de nuestros servicios. La estructura final de los mismos, se definirá conjuntamente con BANCO en fases posteriores</a:t>
            </a:r>
          </a:p>
        </p:txBody>
      </p:sp>
      <p:sp>
        <p:nvSpPr>
          <p:cNvPr id="73" name="72 CuadroTexto"/>
          <p:cNvSpPr txBox="1"/>
          <p:nvPr/>
        </p:nvSpPr>
        <p:spPr>
          <a:xfrm>
            <a:off x="834257" y="1556792"/>
            <a:ext cx="4184347" cy="307777"/>
          </a:xfrm>
          <a:prstGeom prst="rect">
            <a:avLst/>
          </a:prstGeom>
          <a:noFill/>
        </p:spPr>
        <p:txBody>
          <a:bodyPr wrap="square" rtlCol="0">
            <a:spAutoFit/>
          </a:bodyPr>
          <a:lstStyle>
            <a:defPPr>
              <a:defRPr lang="es-ES"/>
            </a:defPPr>
            <a:lvl1pPr defTabSz="925830">
              <a:defRPr sz="1400" b="1">
                <a:solidFill>
                  <a:srgbClr val="0097B7"/>
                </a:solidFill>
                <a:latin typeface="Avenir 65" panose="02000600000000000000" pitchFamily="2" charset="0"/>
                <a:ea typeface="Microsoft Himalaya" pitchFamily="2" charset="0"/>
                <a:cs typeface="Microsoft Himalaya" pitchFamily="2" charset="0"/>
              </a:defRPr>
            </a:lvl1pPr>
          </a:lstStyle>
          <a:p>
            <a:pPr marL="0" marR="0" lvl="0" indent="0" algn="l" defTabSz="92583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dirty="0">
                <a:ln>
                  <a:noFill/>
                </a:ln>
                <a:solidFill>
                  <a:srgbClr val="0097B7"/>
                </a:solidFill>
                <a:effectLst/>
                <a:uLnTx/>
                <a:uFillTx/>
                <a:latin typeface="Avenir 65" panose="02000600000000000000" pitchFamily="2" charset="0"/>
                <a:ea typeface="Microsoft Himalaya" pitchFamily="2" charset="0"/>
                <a:cs typeface="Microsoft Himalaya" pitchFamily="2" charset="0"/>
              </a:rPr>
              <a:t>INDICADORES DE MEDICIÓN</a:t>
            </a:r>
            <a:endParaRPr kumimoji="0" lang="ca-ES" sz="1400" b="1" i="0" u="none" strike="noStrike" kern="1200" cap="none" spc="0" normalizeH="0" baseline="0" noProof="0" dirty="0">
              <a:ln>
                <a:noFill/>
              </a:ln>
              <a:solidFill>
                <a:srgbClr val="0097B7"/>
              </a:solidFill>
              <a:effectLst/>
              <a:uLnTx/>
              <a:uFillTx/>
              <a:latin typeface="Avenir 65" panose="02000600000000000000" pitchFamily="2" charset="0"/>
              <a:ea typeface="Microsoft Himalaya" pitchFamily="2" charset="0"/>
              <a:cs typeface="Microsoft Himalaya" pitchFamily="2" charset="0"/>
            </a:endParaRPr>
          </a:p>
        </p:txBody>
      </p:sp>
      <p:cxnSp>
        <p:nvCxnSpPr>
          <p:cNvPr id="74" name="73 Conector recto"/>
          <p:cNvCxnSpPr/>
          <p:nvPr/>
        </p:nvCxnSpPr>
        <p:spPr>
          <a:xfrm>
            <a:off x="485800" y="1860260"/>
            <a:ext cx="9200194" cy="0"/>
          </a:xfrm>
          <a:prstGeom prst="line">
            <a:avLst/>
          </a:prstGeom>
          <a:noFill/>
          <a:ln w="9525" cap="flat" cmpd="sng" algn="ctr">
            <a:solidFill>
              <a:schemeClr val="tx1">
                <a:lumMod val="50000"/>
                <a:lumOff val="50000"/>
              </a:schemeClr>
            </a:solidFill>
            <a:prstDash val="solid"/>
          </a:ln>
          <a:effectLst/>
        </p:spPr>
      </p:cxnSp>
      <p:sp>
        <p:nvSpPr>
          <p:cNvPr id="49" name="48 Rectángulo redondeado"/>
          <p:cNvSpPr/>
          <p:nvPr/>
        </p:nvSpPr>
        <p:spPr>
          <a:xfrm>
            <a:off x="1856656" y="2276871"/>
            <a:ext cx="1296144" cy="910309"/>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 Clientes contactados con éxito</a:t>
            </a:r>
          </a:p>
        </p:txBody>
      </p:sp>
      <p:sp>
        <p:nvSpPr>
          <p:cNvPr id="50" name="49 Rectángulo redondeado"/>
          <p:cNvSpPr/>
          <p:nvPr/>
        </p:nvSpPr>
        <p:spPr>
          <a:xfrm>
            <a:off x="508038" y="2276871"/>
            <a:ext cx="1296144" cy="910309"/>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EFECTIVIDAD CAMPAÑAS</a:t>
            </a:r>
          </a:p>
        </p:txBody>
      </p:sp>
      <p:sp>
        <p:nvSpPr>
          <p:cNvPr id="55" name="54 Rectángulo redondeado"/>
          <p:cNvSpPr/>
          <p:nvPr/>
        </p:nvSpPr>
        <p:spPr>
          <a:xfrm>
            <a:off x="508038" y="1988840"/>
            <a:ext cx="1296144" cy="207640"/>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Tipo</a:t>
            </a:r>
          </a:p>
        </p:txBody>
      </p:sp>
      <p:sp>
        <p:nvSpPr>
          <p:cNvPr id="39" name="38 Rectángulo redondeado"/>
          <p:cNvSpPr/>
          <p:nvPr/>
        </p:nvSpPr>
        <p:spPr>
          <a:xfrm>
            <a:off x="1856656" y="1988840"/>
            <a:ext cx="1296144" cy="207640"/>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Indicador</a:t>
            </a:r>
          </a:p>
        </p:txBody>
      </p:sp>
      <p:sp>
        <p:nvSpPr>
          <p:cNvPr id="44" name="43 Rectángulo redondeado"/>
          <p:cNvSpPr/>
          <p:nvPr/>
        </p:nvSpPr>
        <p:spPr>
          <a:xfrm>
            <a:off x="3224808" y="1988840"/>
            <a:ext cx="1296144" cy="207640"/>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Área de Aplicación</a:t>
            </a:r>
          </a:p>
        </p:txBody>
      </p:sp>
      <p:sp>
        <p:nvSpPr>
          <p:cNvPr id="45" name="44 Rectángulo redondeado"/>
          <p:cNvSpPr/>
          <p:nvPr/>
        </p:nvSpPr>
        <p:spPr>
          <a:xfrm>
            <a:off x="4592960" y="1988840"/>
            <a:ext cx="1296144" cy="207640"/>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Objetivo</a:t>
            </a:r>
          </a:p>
        </p:txBody>
      </p:sp>
      <p:sp>
        <p:nvSpPr>
          <p:cNvPr id="46" name="45 Rectángulo redondeado"/>
          <p:cNvSpPr/>
          <p:nvPr/>
        </p:nvSpPr>
        <p:spPr>
          <a:xfrm>
            <a:off x="5961112" y="1988840"/>
            <a:ext cx="1116871" cy="207640"/>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Valor de Referencia</a:t>
            </a:r>
          </a:p>
        </p:txBody>
      </p:sp>
      <p:sp>
        <p:nvSpPr>
          <p:cNvPr id="47" name="46 Rectángulo redondeado"/>
          <p:cNvSpPr/>
          <p:nvPr/>
        </p:nvSpPr>
        <p:spPr>
          <a:xfrm>
            <a:off x="7165714" y="1988840"/>
            <a:ext cx="1116659" cy="207640"/>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1"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Valor Objetivo</a:t>
            </a:r>
          </a:p>
        </p:txBody>
      </p:sp>
      <p:sp>
        <p:nvSpPr>
          <p:cNvPr id="48" name="47 Rectángulo redondeado"/>
          <p:cNvSpPr/>
          <p:nvPr/>
        </p:nvSpPr>
        <p:spPr>
          <a:xfrm>
            <a:off x="8389850" y="1988840"/>
            <a:ext cx="1296144" cy="207640"/>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1" i="0" u="none" strike="noStrike" kern="1200" cap="none" spc="0" normalizeH="0" baseline="0" noProof="0" dirty="0" err="1">
                <a:ln>
                  <a:noFill/>
                </a:ln>
                <a:solidFill>
                  <a:prstClr val="white"/>
                </a:solidFill>
                <a:effectLst/>
                <a:uLnTx/>
                <a:uFillTx/>
                <a:latin typeface="Avenir 65" panose="02000600000000000000" pitchFamily="2" charset="0"/>
                <a:ea typeface="+mn-ea"/>
                <a:cs typeface="+mn-cs"/>
              </a:rPr>
              <a:t>Fee</a:t>
            </a:r>
            <a:r>
              <a:rPr kumimoji="0" lang="es-ES" sz="900" b="1"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 Asociado</a:t>
            </a:r>
          </a:p>
        </p:txBody>
      </p:sp>
      <p:sp>
        <p:nvSpPr>
          <p:cNvPr id="64" name="63 Rectángulo redondeado"/>
          <p:cNvSpPr/>
          <p:nvPr/>
        </p:nvSpPr>
        <p:spPr>
          <a:xfrm>
            <a:off x="3224808" y="2276871"/>
            <a:ext cx="1296144" cy="910309"/>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Campañas email, on-line, Social CRM</a:t>
            </a:r>
          </a:p>
        </p:txBody>
      </p:sp>
      <p:sp>
        <p:nvSpPr>
          <p:cNvPr id="65" name="64 Rectángulo redondeado"/>
          <p:cNvSpPr/>
          <p:nvPr/>
        </p:nvSpPr>
        <p:spPr>
          <a:xfrm>
            <a:off x="4592960" y="2276871"/>
            <a:ext cx="1296144" cy="910309"/>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Aumento del ratio de clientes contactados (realizan acción tras campaña)</a:t>
            </a:r>
          </a:p>
        </p:txBody>
      </p:sp>
      <p:sp>
        <p:nvSpPr>
          <p:cNvPr id="66" name="65 Rectángulo redondeado"/>
          <p:cNvSpPr/>
          <p:nvPr/>
        </p:nvSpPr>
        <p:spPr>
          <a:xfrm>
            <a:off x="5961112" y="2276871"/>
            <a:ext cx="1116871" cy="910309"/>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TBD</a:t>
            </a:r>
          </a:p>
        </p:txBody>
      </p:sp>
      <p:sp>
        <p:nvSpPr>
          <p:cNvPr id="81" name="80 Rectángulo redondeado"/>
          <p:cNvSpPr/>
          <p:nvPr/>
        </p:nvSpPr>
        <p:spPr>
          <a:xfrm>
            <a:off x="1837122" y="3454794"/>
            <a:ext cx="1296144" cy="910309"/>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 Clientes Renovadores</a:t>
            </a:r>
          </a:p>
        </p:txBody>
      </p:sp>
      <p:sp>
        <p:nvSpPr>
          <p:cNvPr id="82" name="81 Rectángulo redondeado"/>
          <p:cNvSpPr/>
          <p:nvPr/>
        </p:nvSpPr>
        <p:spPr>
          <a:xfrm>
            <a:off x="488504" y="3454794"/>
            <a:ext cx="1296144" cy="910309"/>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FIDELIZACIÓN VENTAS</a:t>
            </a:r>
          </a:p>
        </p:txBody>
      </p:sp>
      <p:sp>
        <p:nvSpPr>
          <p:cNvPr id="83" name="82 Rectángulo redondeado"/>
          <p:cNvSpPr/>
          <p:nvPr/>
        </p:nvSpPr>
        <p:spPr>
          <a:xfrm>
            <a:off x="7165714" y="3454795"/>
            <a:ext cx="1116658"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X&lt;+20%</a:t>
            </a:r>
          </a:p>
        </p:txBody>
      </p:sp>
      <p:sp>
        <p:nvSpPr>
          <p:cNvPr id="84" name="83 Rectángulo redondeado"/>
          <p:cNvSpPr/>
          <p:nvPr/>
        </p:nvSpPr>
        <p:spPr>
          <a:xfrm>
            <a:off x="3205274" y="3454794"/>
            <a:ext cx="1296144" cy="910309"/>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Campañas Fidelización Ventas </a:t>
            </a:r>
          </a:p>
        </p:txBody>
      </p:sp>
      <p:sp>
        <p:nvSpPr>
          <p:cNvPr id="85" name="84 Rectángulo redondeado"/>
          <p:cNvSpPr/>
          <p:nvPr/>
        </p:nvSpPr>
        <p:spPr>
          <a:xfrm>
            <a:off x="4573426" y="3454794"/>
            <a:ext cx="1296144" cy="910309"/>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Aumento del ratio de clientes que renuevan con BANCO</a:t>
            </a:r>
          </a:p>
        </p:txBody>
      </p:sp>
      <p:sp>
        <p:nvSpPr>
          <p:cNvPr id="86" name="85 Rectángulo redondeado"/>
          <p:cNvSpPr/>
          <p:nvPr/>
        </p:nvSpPr>
        <p:spPr>
          <a:xfrm>
            <a:off x="5941578" y="3454794"/>
            <a:ext cx="1116871" cy="910309"/>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1%</a:t>
            </a:r>
          </a:p>
        </p:txBody>
      </p:sp>
      <p:sp>
        <p:nvSpPr>
          <p:cNvPr id="87" name="86 Rectángulo redondeado"/>
          <p:cNvSpPr/>
          <p:nvPr/>
        </p:nvSpPr>
        <p:spPr>
          <a:xfrm>
            <a:off x="8389850" y="3454795"/>
            <a:ext cx="1296144"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NA</a:t>
            </a:r>
          </a:p>
        </p:txBody>
      </p:sp>
      <p:sp>
        <p:nvSpPr>
          <p:cNvPr id="88" name="87 Rectángulo redondeado"/>
          <p:cNvSpPr/>
          <p:nvPr/>
        </p:nvSpPr>
        <p:spPr>
          <a:xfrm>
            <a:off x="7165714" y="3768622"/>
            <a:ext cx="1116658"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+20%&lt;X&lt;+40%</a:t>
            </a:r>
          </a:p>
        </p:txBody>
      </p:sp>
      <p:sp>
        <p:nvSpPr>
          <p:cNvPr id="89" name="88 Rectángulo redondeado"/>
          <p:cNvSpPr/>
          <p:nvPr/>
        </p:nvSpPr>
        <p:spPr>
          <a:xfrm>
            <a:off x="8389850" y="3768622"/>
            <a:ext cx="1296144"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5% </a:t>
            </a:r>
          </a:p>
        </p:txBody>
      </p:sp>
      <p:sp>
        <p:nvSpPr>
          <p:cNvPr id="90" name="89 Rectángulo redondeado"/>
          <p:cNvSpPr/>
          <p:nvPr/>
        </p:nvSpPr>
        <p:spPr>
          <a:xfrm>
            <a:off x="7165714" y="4102867"/>
            <a:ext cx="1116658"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X&gt;+40%</a:t>
            </a:r>
          </a:p>
        </p:txBody>
      </p:sp>
      <p:sp>
        <p:nvSpPr>
          <p:cNvPr id="91" name="90 Rectángulo redondeado"/>
          <p:cNvSpPr/>
          <p:nvPr/>
        </p:nvSpPr>
        <p:spPr>
          <a:xfrm>
            <a:off x="8389850" y="4102867"/>
            <a:ext cx="1296144"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10%</a:t>
            </a:r>
          </a:p>
        </p:txBody>
      </p:sp>
      <p:sp>
        <p:nvSpPr>
          <p:cNvPr id="92" name="91 Rectángulo redondeado"/>
          <p:cNvSpPr/>
          <p:nvPr/>
        </p:nvSpPr>
        <p:spPr>
          <a:xfrm>
            <a:off x="1837122" y="4644499"/>
            <a:ext cx="1296144" cy="910309"/>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 Clientes Fieles a Posventa</a:t>
            </a:r>
          </a:p>
        </p:txBody>
      </p:sp>
      <p:sp>
        <p:nvSpPr>
          <p:cNvPr id="93" name="92 Rectángulo redondeado"/>
          <p:cNvSpPr/>
          <p:nvPr/>
        </p:nvSpPr>
        <p:spPr>
          <a:xfrm>
            <a:off x="488504" y="4644499"/>
            <a:ext cx="1296144" cy="910309"/>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FIDELIZACIÓN POSVENTA</a:t>
            </a:r>
          </a:p>
        </p:txBody>
      </p:sp>
      <p:sp>
        <p:nvSpPr>
          <p:cNvPr id="95" name="94 Rectángulo redondeado"/>
          <p:cNvSpPr/>
          <p:nvPr/>
        </p:nvSpPr>
        <p:spPr>
          <a:xfrm>
            <a:off x="3205274" y="4644499"/>
            <a:ext cx="1296144" cy="910309"/>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Campañas Fidelización Posventa</a:t>
            </a:r>
          </a:p>
        </p:txBody>
      </p:sp>
      <p:sp>
        <p:nvSpPr>
          <p:cNvPr id="96" name="95 Rectángulo redondeado"/>
          <p:cNvSpPr/>
          <p:nvPr/>
        </p:nvSpPr>
        <p:spPr>
          <a:xfrm>
            <a:off x="4573426" y="4644499"/>
            <a:ext cx="1296144" cy="910309"/>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Aumento del ratio de clientes que pasan por taller</a:t>
            </a:r>
          </a:p>
        </p:txBody>
      </p:sp>
      <p:sp>
        <p:nvSpPr>
          <p:cNvPr id="97" name="96 Rectángulo redondeado"/>
          <p:cNvSpPr/>
          <p:nvPr/>
        </p:nvSpPr>
        <p:spPr>
          <a:xfrm>
            <a:off x="5941578" y="4644499"/>
            <a:ext cx="1116871" cy="910309"/>
          </a:xfrm>
          <a:prstGeom prst="roundRect">
            <a:avLst/>
          </a:prstGeom>
          <a:solidFill>
            <a:sysClr val="window" lastClr="FFFFFF"/>
          </a:solidFill>
          <a:ln w="12700" cap="flat" cmpd="sng" algn="ctr">
            <a:solidFill>
              <a:srgbClr val="56BDD4"/>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4%</a:t>
            </a:r>
          </a:p>
        </p:txBody>
      </p:sp>
      <p:sp>
        <p:nvSpPr>
          <p:cNvPr id="105" name="104 Rectángulo redondeado"/>
          <p:cNvSpPr/>
          <p:nvPr/>
        </p:nvSpPr>
        <p:spPr>
          <a:xfrm>
            <a:off x="7165714" y="4644499"/>
            <a:ext cx="1116658"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X&lt;+20%</a:t>
            </a:r>
          </a:p>
        </p:txBody>
      </p:sp>
      <p:sp>
        <p:nvSpPr>
          <p:cNvPr id="106" name="105 Rectángulo redondeado"/>
          <p:cNvSpPr/>
          <p:nvPr/>
        </p:nvSpPr>
        <p:spPr>
          <a:xfrm>
            <a:off x="8389850" y="4644499"/>
            <a:ext cx="1296144"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NA</a:t>
            </a:r>
          </a:p>
        </p:txBody>
      </p:sp>
      <p:sp>
        <p:nvSpPr>
          <p:cNvPr id="107" name="106 Rectángulo redondeado"/>
          <p:cNvSpPr/>
          <p:nvPr/>
        </p:nvSpPr>
        <p:spPr>
          <a:xfrm>
            <a:off x="7165714" y="4958326"/>
            <a:ext cx="1116658"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+20%&lt;X&lt;+40%</a:t>
            </a:r>
          </a:p>
        </p:txBody>
      </p:sp>
      <p:sp>
        <p:nvSpPr>
          <p:cNvPr id="108" name="107 Rectángulo redondeado"/>
          <p:cNvSpPr/>
          <p:nvPr/>
        </p:nvSpPr>
        <p:spPr>
          <a:xfrm>
            <a:off x="8389850" y="4958326"/>
            <a:ext cx="1296144"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5% </a:t>
            </a:r>
          </a:p>
        </p:txBody>
      </p:sp>
      <p:sp>
        <p:nvSpPr>
          <p:cNvPr id="109" name="108 Rectángulo redondeado"/>
          <p:cNvSpPr/>
          <p:nvPr/>
        </p:nvSpPr>
        <p:spPr>
          <a:xfrm>
            <a:off x="7165714" y="5292571"/>
            <a:ext cx="1116658"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X&gt;+40%</a:t>
            </a:r>
          </a:p>
        </p:txBody>
      </p:sp>
      <p:sp>
        <p:nvSpPr>
          <p:cNvPr id="110" name="109 Rectángulo redondeado"/>
          <p:cNvSpPr/>
          <p:nvPr/>
        </p:nvSpPr>
        <p:spPr>
          <a:xfrm>
            <a:off x="8389850" y="5292571"/>
            <a:ext cx="1296144"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10%</a:t>
            </a:r>
          </a:p>
        </p:txBody>
      </p:sp>
      <p:sp>
        <p:nvSpPr>
          <p:cNvPr id="111" name="110 Rectángulo redondeado"/>
          <p:cNvSpPr/>
          <p:nvPr/>
        </p:nvSpPr>
        <p:spPr>
          <a:xfrm>
            <a:off x="7165714" y="2276872"/>
            <a:ext cx="1116658"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X&lt;+30%</a:t>
            </a:r>
          </a:p>
        </p:txBody>
      </p:sp>
      <p:sp>
        <p:nvSpPr>
          <p:cNvPr id="112" name="111 Rectángulo redondeado"/>
          <p:cNvSpPr/>
          <p:nvPr/>
        </p:nvSpPr>
        <p:spPr>
          <a:xfrm>
            <a:off x="8389850" y="2276872"/>
            <a:ext cx="1296144"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NA</a:t>
            </a:r>
          </a:p>
        </p:txBody>
      </p:sp>
      <p:sp>
        <p:nvSpPr>
          <p:cNvPr id="113" name="112 Rectángulo redondeado"/>
          <p:cNvSpPr/>
          <p:nvPr/>
        </p:nvSpPr>
        <p:spPr>
          <a:xfrm>
            <a:off x="7165714" y="2590699"/>
            <a:ext cx="1116658"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+30%&lt;X&lt;+60%</a:t>
            </a:r>
          </a:p>
        </p:txBody>
      </p:sp>
      <p:sp>
        <p:nvSpPr>
          <p:cNvPr id="114" name="113 Rectángulo redondeado"/>
          <p:cNvSpPr/>
          <p:nvPr/>
        </p:nvSpPr>
        <p:spPr>
          <a:xfrm>
            <a:off x="8389850" y="2590699"/>
            <a:ext cx="1296144"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10% </a:t>
            </a:r>
          </a:p>
        </p:txBody>
      </p:sp>
      <p:sp>
        <p:nvSpPr>
          <p:cNvPr id="115" name="114 Rectángulo redondeado"/>
          <p:cNvSpPr/>
          <p:nvPr/>
        </p:nvSpPr>
        <p:spPr>
          <a:xfrm>
            <a:off x="7165714" y="2924944"/>
            <a:ext cx="1116658"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X&gt;+60%</a:t>
            </a:r>
          </a:p>
        </p:txBody>
      </p:sp>
      <p:sp>
        <p:nvSpPr>
          <p:cNvPr id="116" name="115 Rectángulo redondeado"/>
          <p:cNvSpPr/>
          <p:nvPr/>
        </p:nvSpPr>
        <p:spPr>
          <a:xfrm>
            <a:off x="8389850" y="2924944"/>
            <a:ext cx="1296144" cy="262237"/>
          </a:xfrm>
          <a:prstGeom prst="roundRect">
            <a:avLst/>
          </a:prstGeom>
          <a:solidFill>
            <a:srgbClr val="3CB2C3"/>
          </a:solidFill>
          <a:ln w="25400" cap="flat" cmpd="sng" algn="ctr">
            <a:solidFill>
              <a:srgbClr val="3CB2C3"/>
            </a:solidFill>
            <a:prstDash val="solid"/>
          </a:ln>
          <a:effectLst/>
        </p:spPr>
        <p:txBody>
          <a:bodyPr rtlCol="0" anchor="ct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prstClr val="white"/>
                </a:solidFill>
                <a:effectLst/>
                <a:uLnTx/>
                <a:uFillTx/>
                <a:latin typeface="Avenir 65" panose="02000600000000000000" pitchFamily="2" charset="0"/>
                <a:ea typeface="+mn-ea"/>
                <a:cs typeface="+mn-cs"/>
              </a:rPr>
              <a:t>20%</a:t>
            </a:r>
          </a:p>
        </p:txBody>
      </p:sp>
      <p:sp>
        <p:nvSpPr>
          <p:cNvPr id="52" name="Freeform 9"/>
          <p:cNvSpPr>
            <a:spLocks/>
          </p:cNvSpPr>
          <p:nvPr/>
        </p:nvSpPr>
        <p:spPr bwMode="auto">
          <a:xfrm rot="20266849" flipH="1" flipV="1">
            <a:off x="6284178" y="5610738"/>
            <a:ext cx="1283475" cy="1079160"/>
          </a:xfrm>
          <a:custGeom>
            <a:avLst/>
            <a:gdLst>
              <a:gd name="T0" fmla="*/ 232 w 458"/>
              <a:gd name="T1" fmla="*/ 0 h 408"/>
              <a:gd name="T2" fmla="*/ 15 w 458"/>
              <a:gd name="T3" fmla="*/ 178 h 408"/>
              <a:gd name="T4" fmla="*/ 62 w 458"/>
              <a:gd name="T5" fmla="*/ 315 h 408"/>
              <a:gd name="T6" fmla="*/ 0 w 458"/>
              <a:gd name="T7" fmla="*/ 377 h 408"/>
              <a:gd name="T8" fmla="*/ 113 w 458"/>
              <a:gd name="T9" fmla="*/ 367 h 408"/>
              <a:gd name="T10" fmla="*/ 232 w 458"/>
              <a:gd name="T11" fmla="*/ 408 h 408"/>
              <a:gd name="T12" fmla="*/ 458 w 458"/>
              <a:gd name="T13" fmla="*/ 225 h 408"/>
              <a:gd name="T14" fmla="*/ 232 w 458"/>
              <a:gd name="T15" fmla="*/ 0 h 4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8" h="408">
                <a:moveTo>
                  <a:pt x="232" y="0"/>
                </a:moveTo>
                <a:cubicBezTo>
                  <a:pt x="111" y="0"/>
                  <a:pt x="15" y="65"/>
                  <a:pt x="15" y="178"/>
                </a:cubicBezTo>
                <a:cubicBezTo>
                  <a:pt x="15" y="226"/>
                  <a:pt x="33" y="275"/>
                  <a:pt x="62" y="315"/>
                </a:cubicBezTo>
                <a:cubicBezTo>
                  <a:pt x="45" y="340"/>
                  <a:pt x="22" y="363"/>
                  <a:pt x="0" y="377"/>
                </a:cubicBezTo>
                <a:cubicBezTo>
                  <a:pt x="31" y="382"/>
                  <a:pt x="77" y="375"/>
                  <a:pt x="113" y="367"/>
                </a:cubicBezTo>
                <a:cubicBezTo>
                  <a:pt x="147" y="392"/>
                  <a:pt x="188" y="408"/>
                  <a:pt x="232" y="408"/>
                </a:cubicBezTo>
                <a:cubicBezTo>
                  <a:pt x="353" y="408"/>
                  <a:pt x="458" y="337"/>
                  <a:pt x="458" y="225"/>
                </a:cubicBezTo>
                <a:cubicBezTo>
                  <a:pt x="458" y="112"/>
                  <a:pt x="353" y="0"/>
                  <a:pt x="232" y="0"/>
                </a:cubicBezTo>
                <a:close/>
              </a:path>
            </a:pathLst>
          </a:custGeom>
          <a:solidFill>
            <a:srgbClr val="9AAE0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1 Rectángulo"/>
          <p:cNvSpPr/>
          <p:nvPr/>
        </p:nvSpPr>
        <p:spPr>
          <a:xfrm>
            <a:off x="6219386" y="5835304"/>
            <a:ext cx="1376846" cy="707886"/>
          </a:xfrm>
          <a:prstGeom prst="rect">
            <a:avLst/>
          </a:prstGeom>
        </p:spPr>
        <p:txBody>
          <a:bodyPr wrap="square">
            <a:spAutoFit/>
          </a:bodyP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 de incremento sobre el valor del indicador el año anterior.</a:t>
            </a:r>
          </a:p>
        </p:txBody>
      </p:sp>
      <p:sp>
        <p:nvSpPr>
          <p:cNvPr id="56" name="Freeform 9"/>
          <p:cNvSpPr>
            <a:spLocks/>
          </p:cNvSpPr>
          <p:nvPr/>
        </p:nvSpPr>
        <p:spPr bwMode="auto">
          <a:xfrm rot="20266849" flipH="1" flipV="1">
            <a:off x="7830346" y="5649667"/>
            <a:ext cx="1283475" cy="1079160"/>
          </a:xfrm>
          <a:custGeom>
            <a:avLst/>
            <a:gdLst>
              <a:gd name="T0" fmla="*/ 232 w 458"/>
              <a:gd name="T1" fmla="*/ 0 h 408"/>
              <a:gd name="T2" fmla="*/ 15 w 458"/>
              <a:gd name="T3" fmla="*/ 178 h 408"/>
              <a:gd name="T4" fmla="*/ 62 w 458"/>
              <a:gd name="T5" fmla="*/ 315 h 408"/>
              <a:gd name="T6" fmla="*/ 0 w 458"/>
              <a:gd name="T7" fmla="*/ 377 h 408"/>
              <a:gd name="T8" fmla="*/ 113 w 458"/>
              <a:gd name="T9" fmla="*/ 367 h 408"/>
              <a:gd name="T10" fmla="*/ 232 w 458"/>
              <a:gd name="T11" fmla="*/ 408 h 408"/>
              <a:gd name="T12" fmla="*/ 458 w 458"/>
              <a:gd name="T13" fmla="*/ 225 h 408"/>
              <a:gd name="T14" fmla="*/ 232 w 458"/>
              <a:gd name="T15" fmla="*/ 0 h 4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8" h="408">
                <a:moveTo>
                  <a:pt x="232" y="0"/>
                </a:moveTo>
                <a:cubicBezTo>
                  <a:pt x="111" y="0"/>
                  <a:pt x="15" y="65"/>
                  <a:pt x="15" y="178"/>
                </a:cubicBezTo>
                <a:cubicBezTo>
                  <a:pt x="15" y="226"/>
                  <a:pt x="33" y="275"/>
                  <a:pt x="62" y="315"/>
                </a:cubicBezTo>
                <a:cubicBezTo>
                  <a:pt x="45" y="340"/>
                  <a:pt x="22" y="363"/>
                  <a:pt x="0" y="377"/>
                </a:cubicBezTo>
                <a:cubicBezTo>
                  <a:pt x="31" y="382"/>
                  <a:pt x="77" y="375"/>
                  <a:pt x="113" y="367"/>
                </a:cubicBezTo>
                <a:cubicBezTo>
                  <a:pt x="147" y="392"/>
                  <a:pt x="188" y="408"/>
                  <a:pt x="232" y="408"/>
                </a:cubicBezTo>
                <a:cubicBezTo>
                  <a:pt x="353" y="408"/>
                  <a:pt x="458" y="337"/>
                  <a:pt x="458" y="225"/>
                </a:cubicBezTo>
                <a:cubicBezTo>
                  <a:pt x="458" y="112"/>
                  <a:pt x="353" y="0"/>
                  <a:pt x="232" y="0"/>
                </a:cubicBezTo>
                <a:close/>
              </a:path>
            </a:pathLst>
          </a:custGeom>
          <a:solidFill>
            <a:srgbClr val="9AAE0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2 Rectángulo"/>
          <p:cNvSpPr/>
          <p:nvPr/>
        </p:nvSpPr>
        <p:spPr>
          <a:xfrm>
            <a:off x="7861124" y="5859998"/>
            <a:ext cx="1185707" cy="707886"/>
          </a:xfrm>
          <a:prstGeom prst="rect">
            <a:avLst/>
          </a:prstGeom>
        </p:spPr>
        <p:txBody>
          <a:bodyPr wrap="square">
            <a:spAutoFit/>
          </a:bodyPr>
          <a:lstStyle/>
          <a:p>
            <a:pPr marL="0" marR="0" lvl="0" indent="0" algn="ctr" defTabSz="92583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prstClr val="black">
                    <a:lumMod val="75000"/>
                    <a:lumOff val="25000"/>
                  </a:prstClr>
                </a:solidFill>
                <a:effectLst/>
                <a:uLnTx/>
                <a:uFillTx/>
                <a:latin typeface="Avenir 35" panose="00000400000000000000" pitchFamily="2" charset="0"/>
                <a:ea typeface="+mn-ea"/>
                <a:cs typeface="+mn-cs"/>
              </a:rPr>
              <a:t>% sobre el coste total de servicios del año correspondiente.</a:t>
            </a:r>
          </a:p>
        </p:txBody>
      </p:sp>
      <p:sp>
        <p:nvSpPr>
          <p:cNvPr id="54" name="Freeform 105"/>
          <p:cNvSpPr>
            <a:spLocks noEditPoints="1"/>
          </p:cNvSpPr>
          <p:nvPr/>
        </p:nvSpPr>
        <p:spPr bwMode="auto">
          <a:xfrm>
            <a:off x="524607" y="1624582"/>
            <a:ext cx="298770" cy="172195"/>
          </a:xfrm>
          <a:custGeom>
            <a:avLst/>
            <a:gdLst>
              <a:gd name="T0" fmla="*/ 751 w 773"/>
              <a:gd name="T1" fmla="*/ 6 h 445"/>
              <a:gd name="T2" fmla="*/ 751 w 773"/>
              <a:gd name="T3" fmla="*/ 5 h 445"/>
              <a:gd name="T4" fmla="*/ 750 w 773"/>
              <a:gd name="T5" fmla="*/ 3 h 445"/>
              <a:gd name="T6" fmla="*/ 749 w 773"/>
              <a:gd name="T7" fmla="*/ 2 h 445"/>
              <a:gd name="T8" fmla="*/ 747 w 773"/>
              <a:gd name="T9" fmla="*/ 1 h 445"/>
              <a:gd name="T10" fmla="*/ 747 w 773"/>
              <a:gd name="T11" fmla="*/ 1 h 445"/>
              <a:gd name="T12" fmla="*/ 745 w 773"/>
              <a:gd name="T13" fmla="*/ 0 h 445"/>
              <a:gd name="T14" fmla="*/ 744 w 773"/>
              <a:gd name="T15" fmla="*/ 0 h 445"/>
              <a:gd name="T16" fmla="*/ 742 w 773"/>
              <a:gd name="T17" fmla="*/ 1 h 445"/>
              <a:gd name="T18" fmla="*/ 740 w 773"/>
              <a:gd name="T19" fmla="*/ 2 h 445"/>
              <a:gd name="T20" fmla="*/ 626 w 773"/>
              <a:gd name="T21" fmla="*/ 87 h 445"/>
              <a:gd name="T22" fmla="*/ 634 w 773"/>
              <a:gd name="T23" fmla="*/ 99 h 445"/>
              <a:gd name="T24" fmla="*/ 649 w 773"/>
              <a:gd name="T25" fmla="*/ 211 h 445"/>
              <a:gd name="T26" fmla="*/ 581 w 773"/>
              <a:gd name="T27" fmla="*/ 234 h 445"/>
              <a:gd name="T28" fmla="*/ 484 w 773"/>
              <a:gd name="T29" fmla="*/ 165 h 445"/>
              <a:gd name="T30" fmla="*/ 374 w 773"/>
              <a:gd name="T31" fmla="*/ 165 h 445"/>
              <a:gd name="T32" fmla="*/ 331 w 773"/>
              <a:gd name="T33" fmla="*/ 338 h 445"/>
              <a:gd name="T34" fmla="*/ 281 w 773"/>
              <a:gd name="T35" fmla="*/ 345 h 445"/>
              <a:gd name="T36" fmla="*/ 205 w 773"/>
              <a:gd name="T37" fmla="*/ 210 h 445"/>
              <a:gd name="T38" fmla="*/ 95 w 773"/>
              <a:gd name="T39" fmla="*/ 210 h 445"/>
              <a:gd name="T40" fmla="*/ 2 w 773"/>
              <a:gd name="T41" fmla="*/ 385 h 445"/>
              <a:gd name="T42" fmla="*/ 8 w 773"/>
              <a:gd name="T43" fmla="*/ 397 h 445"/>
              <a:gd name="T44" fmla="*/ 120 w 773"/>
              <a:gd name="T45" fmla="*/ 256 h 445"/>
              <a:gd name="T46" fmla="*/ 181 w 773"/>
              <a:gd name="T47" fmla="*/ 255 h 445"/>
              <a:gd name="T48" fmla="*/ 258 w 773"/>
              <a:gd name="T49" fmla="*/ 390 h 445"/>
              <a:gd name="T50" fmla="*/ 368 w 773"/>
              <a:gd name="T51" fmla="*/ 390 h 445"/>
              <a:gd name="T52" fmla="*/ 406 w 773"/>
              <a:gd name="T53" fmla="*/ 215 h 445"/>
              <a:gd name="T54" fmla="*/ 478 w 773"/>
              <a:gd name="T55" fmla="*/ 191 h 445"/>
              <a:gd name="T56" fmla="*/ 573 w 773"/>
              <a:gd name="T57" fmla="*/ 261 h 445"/>
              <a:gd name="T58" fmla="*/ 683 w 773"/>
              <a:gd name="T59" fmla="*/ 261 h 445"/>
              <a:gd name="T60" fmla="*/ 741 w 773"/>
              <a:gd name="T61" fmla="*/ 33 h 445"/>
              <a:gd name="T62" fmla="*/ 765 w 773"/>
              <a:gd name="T63" fmla="*/ 160 h 445"/>
              <a:gd name="T64" fmla="*/ 772 w 773"/>
              <a:gd name="T65" fmla="*/ 152 h 445"/>
              <a:gd name="T66" fmla="*/ 150 w 773"/>
              <a:gd name="T67" fmla="*/ 169 h 445"/>
              <a:gd name="T68" fmla="*/ 177 w 773"/>
              <a:gd name="T69" fmla="*/ 240 h 445"/>
              <a:gd name="T70" fmla="*/ 177 w 773"/>
              <a:gd name="T71" fmla="*/ 240 h 445"/>
              <a:gd name="T72" fmla="*/ 109 w 773"/>
              <a:gd name="T73" fmla="*/ 210 h 445"/>
              <a:gd name="T74" fmla="*/ 313 w 773"/>
              <a:gd name="T75" fmla="*/ 431 h 445"/>
              <a:gd name="T76" fmla="*/ 313 w 773"/>
              <a:gd name="T77" fmla="*/ 349 h 445"/>
              <a:gd name="T78" fmla="*/ 429 w 773"/>
              <a:gd name="T79" fmla="*/ 206 h 445"/>
              <a:gd name="T80" fmla="*/ 429 w 773"/>
              <a:gd name="T81" fmla="*/ 124 h 445"/>
              <a:gd name="T82" fmla="*/ 429 w 773"/>
              <a:gd name="T83" fmla="*/ 206 h 445"/>
              <a:gd name="T84" fmla="*/ 628 w 773"/>
              <a:gd name="T85" fmla="*/ 302 h 445"/>
              <a:gd name="T86" fmla="*/ 628 w 773"/>
              <a:gd name="T87" fmla="*/ 22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3" h="445">
                <a:moveTo>
                  <a:pt x="772" y="152"/>
                </a:moveTo>
                <a:cubicBezTo>
                  <a:pt x="751" y="6"/>
                  <a:pt x="751" y="6"/>
                  <a:pt x="751" y="6"/>
                </a:cubicBezTo>
                <a:cubicBezTo>
                  <a:pt x="751" y="6"/>
                  <a:pt x="751" y="6"/>
                  <a:pt x="751" y="6"/>
                </a:cubicBezTo>
                <a:cubicBezTo>
                  <a:pt x="751" y="6"/>
                  <a:pt x="751" y="5"/>
                  <a:pt x="751" y="5"/>
                </a:cubicBezTo>
                <a:cubicBezTo>
                  <a:pt x="751" y="5"/>
                  <a:pt x="751" y="4"/>
                  <a:pt x="751" y="4"/>
                </a:cubicBezTo>
                <a:cubicBezTo>
                  <a:pt x="750" y="4"/>
                  <a:pt x="750" y="4"/>
                  <a:pt x="750" y="3"/>
                </a:cubicBezTo>
                <a:cubicBezTo>
                  <a:pt x="750" y="3"/>
                  <a:pt x="750" y="3"/>
                  <a:pt x="750" y="3"/>
                </a:cubicBezTo>
                <a:cubicBezTo>
                  <a:pt x="749" y="3"/>
                  <a:pt x="749" y="2"/>
                  <a:pt x="749" y="2"/>
                </a:cubicBezTo>
                <a:cubicBezTo>
                  <a:pt x="749" y="2"/>
                  <a:pt x="749" y="2"/>
                  <a:pt x="749" y="2"/>
                </a:cubicBezTo>
                <a:cubicBezTo>
                  <a:pt x="748" y="1"/>
                  <a:pt x="748" y="1"/>
                  <a:pt x="747" y="1"/>
                </a:cubicBezTo>
                <a:cubicBezTo>
                  <a:pt x="747" y="1"/>
                  <a:pt x="747" y="1"/>
                  <a:pt x="747" y="1"/>
                </a:cubicBezTo>
                <a:cubicBezTo>
                  <a:pt x="747" y="1"/>
                  <a:pt x="747" y="1"/>
                  <a:pt x="747" y="1"/>
                </a:cubicBezTo>
                <a:cubicBezTo>
                  <a:pt x="747" y="1"/>
                  <a:pt x="747" y="1"/>
                  <a:pt x="747" y="1"/>
                </a:cubicBezTo>
                <a:cubicBezTo>
                  <a:pt x="746" y="1"/>
                  <a:pt x="746" y="1"/>
                  <a:pt x="745" y="0"/>
                </a:cubicBezTo>
                <a:cubicBezTo>
                  <a:pt x="745" y="0"/>
                  <a:pt x="745" y="0"/>
                  <a:pt x="745" y="0"/>
                </a:cubicBezTo>
                <a:cubicBezTo>
                  <a:pt x="745" y="0"/>
                  <a:pt x="744" y="0"/>
                  <a:pt x="744" y="0"/>
                </a:cubicBezTo>
                <a:cubicBezTo>
                  <a:pt x="744" y="0"/>
                  <a:pt x="743" y="0"/>
                  <a:pt x="743" y="0"/>
                </a:cubicBezTo>
                <a:cubicBezTo>
                  <a:pt x="743" y="1"/>
                  <a:pt x="742" y="1"/>
                  <a:pt x="742" y="1"/>
                </a:cubicBezTo>
                <a:cubicBezTo>
                  <a:pt x="742" y="1"/>
                  <a:pt x="742" y="1"/>
                  <a:pt x="742" y="1"/>
                </a:cubicBezTo>
                <a:cubicBezTo>
                  <a:pt x="741" y="1"/>
                  <a:pt x="741" y="1"/>
                  <a:pt x="740" y="2"/>
                </a:cubicBezTo>
                <a:cubicBezTo>
                  <a:pt x="740" y="2"/>
                  <a:pt x="740" y="2"/>
                  <a:pt x="740" y="2"/>
                </a:cubicBezTo>
                <a:cubicBezTo>
                  <a:pt x="626" y="87"/>
                  <a:pt x="626" y="87"/>
                  <a:pt x="626" y="87"/>
                </a:cubicBezTo>
                <a:cubicBezTo>
                  <a:pt x="623" y="90"/>
                  <a:pt x="622" y="94"/>
                  <a:pt x="625" y="97"/>
                </a:cubicBezTo>
                <a:cubicBezTo>
                  <a:pt x="627" y="100"/>
                  <a:pt x="631" y="101"/>
                  <a:pt x="634" y="99"/>
                </a:cubicBezTo>
                <a:cubicBezTo>
                  <a:pt x="728" y="29"/>
                  <a:pt x="728" y="29"/>
                  <a:pt x="728" y="29"/>
                </a:cubicBezTo>
                <a:cubicBezTo>
                  <a:pt x="649" y="211"/>
                  <a:pt x="649" y="211"/>
                  <a:pt x="649" y="211"/>
                </a:cubicBezTo>
                <a:cubicBezTo>
                  <a:pt x="643" y="208"/>
                  <a:pt x="636" y="206"/>
                  <a:pt x="628" y="206"/>
                </a:cubicBezTo>
                <a:cubicBezTo>
                  <a:pt x="608" y="206"/>
                  <a:pt x="590" y="218"/>
                  <a:pt x="581" y="234"/>
                </a:cubicBezTo>
                <a:cubicBezTo>
                  <a:pt x="482" y="177"/>
                  <a:pt x="482" y="177"/>
                  <a:pt x="482" y="177"/>
                </a:cubicBezTo>
                <a:cubicBezTo>
                  <a:pt x="483" y="173"/>
                  <a:pt x="484" y="169"/>
                  <a:pt x="484" y="165"/>
                </a:cubicBezTo>
                <a:cubicBezTo>
                  <a:pt x="484" y="135"/>
                  <a:pt x="459" y="110"/>
                  <a:pt x="429" y="110"/>
                </a:cubicBezTo>
                <a:cubicBezTo>
                  <a:pt x="398" y="110"/>
                  <a:pt x="374" y="135"/>
                  <a:pt x="374" y="165"/>
                </a:cubicBezTo>
                <a:cubicBezTo>
                  <a:pt x="374" y="183"/>
                  <a:pt x="382" y="198"/>
                  <a:pt x="394" y="208"/>
                </a:cubicBezTo>
                <a:cubicBezTo>
                  <a:pt x="331" y="338"/>
                  <a:pt x="331" y="338"/>
                  <a:pt x="331" y="338"/>
                </a:cubicBezTo>
                <a:cubicBezTo>
                  <a:pt x="325" y="336"/>
                  <a:pt x="319" y="335"/>
                  <a:pt x="313" y="335"/>
                </a:cubicBezTo>
                <a:cubicBezTo>
                  <a:pt x="301" y="335"/>
                  <a:pt x="290" y="338"/>
                  <a:pt x="281" y="345"/>
                </a:cubicBezTo>
                <a:cubicBezTo>
                  <a:pt x="192" y="245"/>
                  <a:pt x="192" y="245"/>
                  <a:pt x="192" y="245"/>
                </a:cubicBezTo>
                <a:cubicBezTo>
                  <a:pt x="200" y="236"/>
                  <a:pt x="205" y="223"/>
                  <a:pt x="205" y="210"/>
                </a:cubicBezTo>
                <a:cubicBezTo>
                  <a:pt x="205" y="179"/>
                  <a:pt x="180" y="155"/>
                  <a:pt x="150" y="155"/>
                </a:cubicBezTo>
                <a:cubicBezTo>
                  <a:pt x="119" y="155"/>
                  <a:pt x="95" y="179"/>
                  <a:pt x="95" y="210"/>
                </a:cubicBezTo>
                <a:cubicBezTo>
                  <a:pt x="95" y="224"/>
                  <a:pt x="100" y="237"/>
                  <a:pt x="109" y="247"/>
                </a:cubicBezTo>
                <a:cubicBezTo>
                  <a:pt x="2" y="385"/>
                  <a:pt x="2" y="385"/>
                  <a:pt x="2" y="385"/>
                </a:cubicBezTo>
                <a:cubicBezTo>
                  <a:pt x="0" y="388"/>
                  <a:pt x="1" y="393"/>
                  <a:pt x="4" y="395"/>
                </a:cubicBezTo>
                <a:cubicBezTo>
                  <a:pt x="5" y="396"/>
                  <a:pt x="7" y="397"/>
                  <a:pt x="8" y="397"/>
                </a:cubicBezTo>
                <a:cubicBezTo>
                  <a:pt x="10" y="397"/>
                  <a:pt x="12" y="396"/>
                  <a:pt x="14" y="394"/>
                </a:cubicBezTo>
                <a:cubicBezTo>
                  <a:pt x="120" y="256"/>
                  <a:pt x="120" y="256"/>
                  <a:pt x="120" y="256"/>
                </a:cubicBezTo>
                <a:cubicBezTo>
                  <a:pt x="128" y="262"/>
                  <a:pt x="139" y="265"/>
                  <a:pt x="150" y="265"/>
                </a:cubicBezTo>
                <a:cubicBezTo>
                  <a:pt x="161" y="265"/>
                  <a:pt x="172" y="261"/>
                  <a:pt x="181" y="255"/>
                </a:cubicBezTo>
                <a:cubicBezTo>
                  <a:pt x="271" y="354"/>
                  <a:pt x="271" y="354"/>
                  <a:pt x="271" y="354"/>
                </a:cubicBezTo>
                <a:cubicBezTo>
                  <a:pt x="263" y="364"/>
                  <a:pt x="258" y="376"/>
                  <a:pt x="258" y="390"/>
                </a:cubicBezTo>
                <a:cubicBezTo>
                  <a:pt x="258" y="420"/>
                  <a:pt x="283" y="445"/>
                  <a:pt x="313" y="445"/>
                </a:cubicBezTo>
                <a:cubicBezTo>
                  <a:pt x="343" y="445"/>
                  <a:pt x="368" y="420"/>
                  <a:pt x="368" y="390"/>
                </a:cubicBezTo>
                <a:cubicBezTo>
                  <a:pt x="368" y="371"/>
                  <a:pt x="358" y="354"/>
                  <a:pt x="344" y="344"/>
                </a:cubicBezTo>
                <a:cubicBezTo>
                  <a:pt x="406" y="215"/>
                  <a:pt x="406" y="215"/>
                  <a:pt x="406" y="215"/>
                </a:cubicBezTo>
                <a:cubicBezTo>
                  <a:pt x="413" y="219"/>
                  <a:pt x="421" y="220"/>
                  <a:pt x="429" y="220"/>
                </a:cubicBezTo>
                <a:cubicBezTo>
                  <a:pt x="450" y="220"/>
                  <a:pt x="468" y="208"/>
                  <a:pt x="478" y="191"/>
                </a:cubicBezTo>
                <a:cubicBezTo>
                  <a:pt x="575" y="247"/>
                  <a:pt x="575" y="247"/>
                  <a:pt x="575" y="247"/>
                </a:cubicBezTo>
                <a:cubicBezTo>
                  <a:pt x="574" y="252"/>
                  <a:pt x="573" y="256"/>
                  <a:pt x="573" y="261"/>
                </a:cubicBezTo>
                <a:cubicBezTo>
                  <a:pt x="573" y="292"/>
                  <a:pt x="598" y="316"/>
                  <a:pt x="628" y="316"/>
                </a:cubicBezTo>
                <a:cubicBezTo>
                  <a:pt x="659" y="316"/>
                  <a:pt x="683" y="292"/>
                  <a:pt x="683" y="261"/>
                </a:cubicBezTo>
                <a:cubicBezTo>
                  <a:pt x="683" y="244"/>
                  <a:pt x="675" y="228"/>
                  <a:pt x="662" y="218"/>
                </a:cubicBezTo>
                <a:cubicBezTo>
                  <a:pt x="741" y="33"/>
                  <a:pt x="741" y="33"/>
                  <a:pt x="741" y="33"/>
                </a:cubicBezTo>
                <a:cubicBezTo>
                  <a:pt x="758" y="154"/>
                  <a:pt x="758" y="154"/>
                  <a:pt x="758" y="154"/>
                </a:cubicBezTo>
                <a:cubicBezTo>
                  <a:pt x="759" y="158"/>
                  <a:pt x="762" y="160"/>
                  <a:pt x="765" y="160"/>
                </a:cubicBezTo>
                <a:cubicBezTo>
                  <a:pt x="766" y="160"/>
                  <a:pt x="766" y="160"/>
                  <a:pt x="766" y="160"/>
                </a:cubicBezTo>
                <a:cubicBezTo>
                  <a:pt x="770" y="160"/>
                  <a:pt x="773" y="156"/>
                  <a:pt x="772" y="152"/>
                </a:cubicBezTo>
                <a:close/>
                <a:moveTo>
                  <a:pt x="109" y="210"/>
                </a:moveTo>
                <a:cubicBezTo>
                  <a:pt x="109" y="187"/>
                  <a:pt x="127" y="169"/>
                  <a:pt x="150" y="169"/>
                </a:cubicBezTo>
                <a:cubicBezTo>
                  <a:pt x="172" y="169"/>
                  <a:pt x="191" y="187"/>
                  <a:pt x="191" y="210"/>
                </a:cubicBezTo>
                <a:cubicBezTo>
                  <a:pt x="191" y="222"/>
                  <a:pt x="186" y="233"/>
                  <a:pt x="177" y="240"/>
                </a:cubicBezTo>
                <a:cubicBezTo>
                  <a:pt x="177" y="240"/>
                  <a:pt x="177" y="240"/>
                  <a:pt x="177" y="240"/>
                </a:cubicBezTo>
                <a:cubicBezTo>
                  <a:pt x="177" y="240"/>
                  <a:pt x="177" y="240"/>
                  <a:pt x="177" y="240"/>
                </a:cubicBezTo>
                <a:cubicBezTo>
                  <a:pt x="170" y="247"/>
                  <a:pt x="160" y="251"/>
                  <a:pt x="150" y="251"/>
                </a:cubicBezTo>
                <a:cubicBezTo>
                  <a:pt x="127" y="251"/>
                  <a:pt x="109" y="232"/>
                  <a:pt x="109" y="210"/>
                </a:cubicBezTo>
                <a:close/>
                <a:moveTo>
                  <a:pt x="354" y="390"/>
                </a:moveTo>
                <a:cubicBezTo>
                  <a:pt x="354" y="412"/>
                  <a:pt x="336" y="431"/>
                  <a:pt x="313" y="431"/>
                </a:cubicBezTo>
                <a:cubicBezTo>
                  <a:pt x="290" y="431"/>
                  <a:pt x="272" y="412"/>
                  <a:pt x="272" y="390"/>
                </a:cubicBezTo>
                <a:cubicBezTo>
                  <a:pt x="272" y="367"/>
                  <a:pt x="290" y="349"/>
                  <a:pt x="313" y="349"/>
                </a:cubicBezTo>
                <a:cubicBezTo>
                  <a:pt x="336" y="349"/>
                  <a:pt x="354" y="367"/>
                  <a:pt x="354" y="390"/>
                </a:cubicBezTo>
                <a:close/>
                <a:moveTo>
                  <a:pt x="429" y="206"/>
                </a:moveTo>
                <a:cubicBezTo>
                  <a:pt x="406" y="206"/>
                  <a:pt x="388" y="188"/>
                  <a:pt x="388" y="165"/>
                </a:cubicBezTo>
                <a:cubicBezTo>
                  <a:pt x="388" y="143"/>
                  <a:pt x="406" y="124"/>
                  <a:pt x="429" y="124"/>
                </a:cubicBezTo>
                <a:cubicBezTo>
                  <a:pt x="451" y="124"/>
                  <a:pt x="470" y="143"/>
                  <a:pt x="470" y="165"/>
                </a:cubicBezTo>
                <a:cubicBezTo>
                  <a:pt x="470" y="188"/>
                  <a:pt x="451" y="206"/>
                  <a:pt x="429" y="206"/>
                </a:cubicBezTo>
                <a:close/>
                <a:moveTo>
                  <a:pt x="669" y="261"/>
                </a:moveTo>
                <a:cubicBezTo>
                  <a:pt x="669" y="284"/>
                  <a:pt x="651" y="302"/>
                  <a:pt x="628" y="302"/>
                </a:cubicBezTo>
                <a:cubicBezTo>
                  <a:pt x="606" y="302"/>
                  <a:pt x="587" y="284"/>
                  <a:pt x="587" y="261"/>
                </a:cubicBezTo>
                <a:cubicBezTo>
                  <a:pt x="587" y="239"/>
                  <a:pt x="606" y="220"/>
                  <a:pt x="628" y="220"/>
                </a:cubicBezTo>
                <a:cubicBezTo>
                  <a:pt x="651" y="220"/>
                  <a:pt x="669" y="239"/>
                  <a:pt x="669" y="261"/>
                </a:cubicBezTo>
                <a:close/>
              </a:path>
            </a:pathLst>
          </a:custGeom>
          <a:solidFill>
            <a:srgbClr val="0086AC"/>
          </a:soli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35921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300"/>
                                        <p:tgtEl>
                                          <p:spTgt spid="5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6"/>
                                        </p:tgtEl>
                                        <p:attrNameLst>
                                          <p:attrName>style.visibility</p:attrName>
                                        </p:attrNameLst>
                                      </p:cBhvr>
                                      <p:to>
                                        <p:strVal val="visible"/>
                                      </p:to>
                                    </p:set>
                                    <p:animEffect transition="in" filter="fade">
                                      <p:cBhvr>
                                        <p:cTn id="10" dur="3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40 Rectángulo"/>
          <p:cNvSpPr/>
          <p:nvPr/>
        </p:nvSpPr>
        <p:spPr>
          <a:xfrm>
            <a:off x="458234" y="2215216"/>
            <a:ext cx="1470430" cy="3527963"/>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36000" bIns="72000" rtlCol="0" anchor="t"/>
          <a:lstStyle/>
          <a:p>
            <a:pPr marL="171450" indent="-111125" defTabSz="825500">
              <a:spcAft>
                <a:spcPts val="300"/>
              </a:spcAft>
              <a:buFont typeface="Wingdings" pitchFamily="2" charset="2"/>
              <a:buChar char="§"/>
            </a:pPr>
            <a:r>
              <a:rPr lang="es-ES" sz="900" kern="0" dirty="0">
                <a:solidFill>
                  <a:srgbClr val="323232"/>
                </a:solidFill>
                <a:latin typeface="Avenir 65" panose="02000600000000000000" pitchFamily="2" charset="0"/>
                <a:cs typeface="Arial" pitchFamily="34" charset="0"/>
                <a:sym typeface="Calibri"/>
              </a:rPr>
              <a:t>Determinar objetivos de negocio</a:t>
            </a:r>
          </a:p>
          <a:p>
            <a:pPr marL="171450" indent="-111125" defTabSz="825500">
              <a:spcAft>
                <a:spcPts val="300"/>
              </a:spcAft>
              <a:buFont typeface="Wingdings" pitchFamily="2" charset="2"/>
              <a:buChar char="§"/>
            </a:pPr>
            <a:r>
              <a:rPr lang="es-ES" sz="900" kern="0" dirty="0">
                <a:solidFill>
                  <a:srgbClr val="323232"/>
                </a:solidFill>
                <a:latin typeface="Avenir 65" panose="02000600000000000000" pitchFamily="2" charset="0"/>
                <a:cs typeface="Arial" pitchFamily="34" charset="0"/>
                <a:sym typeface="Calibri"/>
              </a:rPr>
              <a:t>Evaluación de la Situación</a:t>
            </a:r>
          </a:p>
          <a:p>
            <a:pPr marL="171450" indent="-111125"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Determinar objetivos del Data Mining</a:t>
            </a:r>
          </a:p>
          <a:p>
            <a:pPr marL="171450" indent="-111125"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Producción de un plan de proyecto</a:t>
            </a:r>
          </a:p>
        </p:txBody>
      </p:sp>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Metodologías &amp; Herramientas</a:t>
            </a:r>
          </a:p>
          <a:p>
            <a:endParaRPr lang="en-US" dirty="0">
              <a:solidFill>
                <a:srgbClr val="323232"/>
              </a:solidFill>
              <a:latin typeface="Avenir 35" panose="00000400000000000000" pitchFamily="2" charset="0"/>
            </a:endParaRP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METODOLOGÍA - ANALYTICS</a:t>
            </a:r>
            <a:endParaRPr lang="es-ES" sz="1400" b="1" dirty="0">
              <a:solidFill>
                <a:srgbClr val="323232"/>
              </a:solidFill>
              <a:latin typeface="Avenir 35" panose="00000400000000000000" pitchFamily="2" charset="0"/>
            </a:endParaRPr>
          </a:p>
        </p:txBody>
      </p:sp>
      <p:sp>
        <p:nvSpPr>
          <p:cNvPr id="22" name="19 Rectángulo"/>
          <p:cNvSpPr/>
          <p:nvPr/>
        </p:nvSpPr>
        <p:spPr bwMode="auto">
          <a:xfrm>
            <a:off x="128496" y="2313714"/>
            <a:ext cx="288000" cy="1876545"/>
          </a:xfrm>
          <a:prstGeom prst="rect">
            <a:avLst/>
          </a:prstGeom>
          <a:solidFill>
            <a:srgbClr val="4BACC6"/>
          </a:solidFill>
          <a:ln w="12700" cap="flat" cmpd="sng" algn="ctr">
            <a:noFill/>
            <a:prstDash val="solid"/>
            <a:round/>
            <a:headEnd type="none" w="med" len="med"/>
            <a:tailEnd type="none" w="med" len="med"/>
          </a:ln>
          <a:effectLst/>
        </p:spPr>
        <p:txBody>
          <a:bodyPr vert="vert270" lIns="91350" tIns="45670" rIns="91350" bIns="45670" anchor="ctr"/>
          <a:lstStyle/>
          <a:p>
            <a:pPr algn="ctr" defTabSz="915052" eaLnBrk="0" hangingPunct="0">
              <a:spcBef>
                <a:spcPts val="300"/>
              </a:spcBef>
              <a:buClr>
                <a:srgbClr val="9AAE04"/>
              </a:buClr>
              <a:defRPr/>
            </a:pPr>
            <a:r>
              <a:rPr lang="es-ES" sz="1050" kern="0" dirty="0">
                <a:solidFill>
                  <a:schemeClr val="bg1"/>
                </a:solidFill>
                <a:latin typeface="Avenir 35" panose="00000400000000000000" pitchFamily="2" charset="0"/>
                <a:cs typeface="Arial" pitchFamily="34" charset="0"/>
              </a:rPr>
              <a:t>Actividades</a:t>
            </a:r>
          </a:p>
        </p:txBody>
      </p:sp>
      <p:sp>
        <p:nvSpPr>
          <p:cNvPr id="27" name="Chevron 118"/>
          <p:cNvSpPr/>
          <p:nvPr/>
        </p:nvSpPr>
        <p:spPr>
          <a:xfrm>
            <a:off x="488504" y="1517406"/>
            <a:ext cx="1584000" cy="644748"/>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r>
              <a:rPr lang="es-ES" sz="1000" dirty="0">
                <a:solidFill>
                  <a:srgbClr val="FFFFFF"/>
                </a:solidFill>
                <a:latin typeface="Avenir 35" panose="00000400000000000000" pitchFamily="2" charset="0"/>
                <a:cs typeface="Arial" pitchFamily="34" charset="0"/>
              </a:rPr>
              <a:t>Comprensión del Negocio</a:t>
            </a:r>
          </a:p>
        </p:txBody>
      </p:sp>
      <p:sp>
        <p:nvSpPr>
          <p:cNvPr id="28" name="Chevron 119"/>
          <p:cNvSpPr/>
          <p:nvPr/>
        </p:nvSpPr>
        <p:spPr>
          <a:xfrm>
            <a:off x="2043912" y="1517406"/>
            <a:ext cx="1584000" cy="646414"/>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Comprensión de los datos</a:t>
            </a:r>
            <a:endParaRPr lang="en-US" sz="1000" kern="0" dirty="0">
              <a:solidFill>
                <a:srgbClr val="FFFFFF"/>
              </a:solidFill>
              <a:latin typeface="Avenir 35" panose="00000400000000000000" pitchFamily="2" charset="0"/>
              <a:cs typeface="Arial" pitchFamily="34" charset="0"/>
            </a:endParaRPr>
          </a:p>
        </p:txBody>
      </p:sp>
      <p:sp>
        <p:nvSpPr>
          <p:cNvPr id="30" name="Chevron 121"/>
          <p:cNvSpPr/>
          <p:nvPr/>
        </p:nvSpPr>
        <p:spPr>
          <a:xfrm>
            <a:off x="5154728" y="1517406"/>
            <a:ext cx="1584000" cy="660142"/>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Modelado</a:t>
            </a:r>
            <a:endParaRPr lang="en-US" sz="1000" kern="0" dirty="0">
              <a:solidFill>
                <a:srgbClr val="FFFFFF"/>
              </a:solidFill>
              <a:latin typeface="Avenir 35" panose="00000400000000000000" pitchFamily="2" charset="0"/>
              <a:cs typeface="Arial" pitchFamily="34" charset="0"/>
            </a:endParaRPr>
          </a:p>
        </p:txBody>
      </p:sp>
      <p:sp>
        <p:nvSpPr>
          <p:cNvPr id="31" name="Chevron 122"/>
          <p:cNvSpPr/>
          <p:nvPr/>
        </p:nvSpPr>
        <p:spPr>
          <a:xfrm>
            <a:off x="3599320" y="1517406"/>
            <a:ext cx="1584000" cy="660142"/>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Preparación de los Datos</a:t>
            </a:r>
            <a:endParaRPr lang="en-US" sz="1000" kern="0" dirty="0">
              <a:solidFill>
                <a:srgbClr val="FFFFFF"/>
              </a:solidFill>
              <a:latin typeface="Avenir 35" panose="00000400000000000000" pitchFamily="2" charset="0"/>
              <a:cs typeface="Arial" pitchFamily="34" charset="0"/>
            </a:endParaRPr>
          </a:p>
        </p:txBody>
      </p:sp>
      <p:sp>
        <p:nvSpPr>
          <p:cNvPr id="32" name="31 Rectángulo"/>
          <p:cNvSpPr/>
          <p:nvPr/>
        </p:nvSpPr>
        <p:spPr bwMode="auto">
          <a:xfrm>
            <a:off x="128496" y="1517406"/>
            <a:ext cx="288000" cy="644748"/>
          </a:xfrm>
          <a:prstGeom prst="rect">
            <a:avLst/>
          </a:prstGeom>
          <a:solidFill>
            <a:srgbClr val="4BACC6"/>
          </a:solidFill>
          <a:ln w="12700" cap="flat" cmpd="sng" algn="ctr">
            <a:noFill/>
            <a:prstDash val="solid"/>
            <a:round/>
            <a:headEnd type="none" w="med" len="med"/>
            <a:tailEnd type="none" w="med" len="med"/>
          </a:ln>
          <a:effectLst/>
        </p:spPr>
        <p:txBody>
          <a:bodyPr vert="vert270" lIns="91350" tIns="45670" rIns="91350" bIns="45670" anchor="ctr"/>
          <a:lstStyle/>
          <a:p>
            <a:pPr algn="ctr" defTabSz="915052" eaLnBrk="0" hangingPunct="0">
              <a:spcBef>
                <a:spcPts val="300"/>
              </a:spcBef>
              <a:buClr>
                <a:srgbClr val="9AAE04"/>
              </a:buClr>
              <a:defRPr/>
            </a:pPr>
            <a:r>
              <a:rPr lang="es-ES" sz="1050" kern="0" dirty="0">
                <a:solidFill>
                  <a:schemeClr val="bg1"/>
                </a:solidFill>
                <a:latin typeface="Avenir 35" panose="00000400000000000000" pitchFamily="2" charset="0"/>
                <a:cs typeface="Arial" pitchFamily="34" charset="0"/>
              </a:rPr>
              <a:t>Fases</a:t>
            </a:r>
          </a:p>
        </p:txBody>
      </p:sp>
      <p:sp>
        <p:nvSpPr>
          <p:cNvPr id="42" name="41 Rectángulo"/>
          <p:cNvSpPr/>
          <p:nvPr/>
        </p:nvSpPr>
        <p:spPr>
          <a:xfrm>
            <a:off x="2072680" y="2215214"/>
            <a:ext cx="1368153" cy="3714368"/>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36000" bIns="72000" rtlCol="0" anchor="t"/>
          <a:lstStyle/>
          <a:p>
            <a:pPr marL="171450" indent="-130175" defTabSz="825500">
              <a:spcAft>
                <a:spcPts val="600"/>
              </a:spcAft>
              <a:buFont typeface="Wingdings" pitchFamily="2" charset="2"/>
              <a:buChar char="§"/>
            </a:pPr>
            <a:r>
              <a:rPr lang="es-ES" sz="900" kern="0" dirty="0">
                <a:solidFill>
                  <a:srgbClr val="323232"/>
                </a:solidFill>
                <a:latin typeface="Avenir 65" panose="02000600000000000000" pitchFamily="2" charset="0"/>
                <a:cs typeface="Arial" pitchFamily="34" charset="0"/>
                <a:sym typeface="Calibri"/>
              </a:rPr>
              <a:t>Recolección de datos iniciales</a:t>
            </a:r>
          </a:p>
          <a:p>
            <a:pPr marL="171450" indent="-130175" defTabSz="825500">
              <a:spcAft>
                <a:spcPts val="6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Descripción de los datos</a:t>
            </a:r>
            <a:endParaRPr lang="es-ES" sz="900" b="1" kern="0" dirty="0">
              <a:solidFill>
                <a:srgbClr val="323232"/>
              </a:solidFill>
              <a:latin typeface="Avenir 35" panose="00000400000000000000" pitchFamily="2" charset="0"/>
              <a:cs typeface="Arial" pitchFamily="34" charset="0"/>
              <a:sym typeface="Calibri"/>
            </a:endParaRPr>
          </a:p>
          <a:p>
            <a:pPr marL="171450" indent="-130175" defTabSz="825500">
              <a:spcAft>
                <a:spcPts val="6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Exploración de los datos</a:t>
            </a:r>
          </a:p>
          <a:p>
            <a:pPr marL="171450" indent="-130175" defTabSz="825500">
              <a:spcAft>
                <a:spcPts val="600"/>
              </a:spcAft>
              <a:buFont typeface="Wingdings" pitchFamily="2" charset="2"/>
              <a:buChar char="§"/>
            </a:pPr>
            <a:r>
              <a:rPr lang="es-ES" sz="900" kern="0" dirty="0">
                <a:solidFill>
                  <a:srgbClr val="323232"/>
                </a:solidFill>
                <a:latin typeface="Avenir 65" panose="02000600000000000000" pitchFamily="2" charset="0"/>
                <a:cs typeface="Arial" pitchFamily="34" charset="0"/>
                <a:sym typeface="Calibri"/>
              </a:rPr>
              <a:t>Verificación de la calidad de datos</a:t>
            </a:r>
          </a:p>
        </p:txBody>
      </p:sp>
      <p:sp>
        <p:nvSpPr>
          <p:cNvPr id="43" name="36 Rectángulo"/>
          <p:cNvSpPr/>
          <p:nvPr/>
        </p:nvSpPr>
        <p:spPr>
          <a:xfrm>
            <a:off x="3512842" y="2215214"/>
            <a:ext cx="1512168" cy="3852000"/>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0" bIns="72000" rtlCol="0" anchor="t"/>
          <a:lstStyle/>
          <a:p>
            <a:pPr marL="171450" indent="-130175"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Selección de los datos</a:t>
            </a:r>
          </a:p>
          <a:p>
            <a:pPr marL="171450" indent="-130175"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Limpieza de los datos</a:t>
            </a:r>
          </a:p>
          <a:p>
            <a:pPr marL="171450" indent="-130175"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Estructuración de los datos</a:t>
            </a:r>
          </a:p>
          <a:p>
            <a:pPr marL="171450" indent="-130175"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Integración de los datos</a:t>
            </a:r>
          </a:p>
        </p:txBody>
      </p:sp>
      <p:sp>
        <p:nvSpPr>
          <p:cNvPr id="44" name="36 Rectángulo"/>
          <p:cNvSpPr/>
          <p:nvPr/>
        </p:nvSpPr>
        <p:spPr>
          <a:xfrm>
            <a:off x="5183320" y="2215214"/>
            <a:ext cx="1425864" cy="3950090"/>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0" bIns="72000" rtlCol="0" anchor="t"/>
          <a:lstStyle/>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Selección de </a:t>
            </a:r>
            <a:r>
              <a:rPr lang="es-ES" sz="900" kern="0" dirty="0">
                <a:solidFill>
                  <a:srgbClr val="323232"/>
                </a:solidFill>
                <a:latin typeface="Avenir 65" panose="02000600000000000000" pitchFamily="2" charset="0"/>
                <a:cs typeface="Arial" pitchFamily="34" charset="0"/>
                <a:sym typeface="Calibri"/>
              </a:rPr>
              <a:t>técnica de modelado</a:t>
            </a:r>
          </a:p>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Generación del plan de prueba</a:t>
            </a:r>
          </a:p>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Construcción del modelo</a:t>
            </a:r>
          </a:p>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Evaluación del modelo</a:t>
            </a:r>
          </a:p>
          <a:p>
            <a:pPr marL="171450" indent="-171450" defTabSz="825500">
              <a:spcAft>
                <a:spcPts val="300"/>
              </a:spcAft>
              <a:buFont typeface="Wingdings" pitchFamily="2" charset="2"/>
              <a:buChar char="§"/>
            </a:pPr>
            <a:endParaRPr lang="es-ES" sz="900" kern="0" dirty="0">
              <a:solidFill>
                <a:srgbClr val="323232"/>
              </a:solidFill>
              <a:latin typeface="Avenir 35" panose="00000400000000000000" pitchFamily="2" charset="0"/>
              <a:cs typeface="Arial" pitchFamily="34" charset="0"/>
              <a:sym typeface="Calibri"/>
            </a:endParaRPr>
          </a:p>
          <a:p>
            <a:pPr marL="171450" indent="-171450" defTabSz="825500">
              <a:spcAft>
                <a:spcPts val="300"/>
              </a:spcAft>
              <a:buFont typeface="Wingdings" pitchFamily="2" charset="2"/>
              <a:buChar char="§"/>
            </a:pPr>
            <a:endParaRPr lang="es-ES" sz="900" kern="0" dirty="0">
              <a:solidFill>
                <a:srgbClr val="323232"/>
              </a:solidFill>
              <a:latin typeface="Avenir 35" panose="00000400000000000000" pitchFamily="2" charset="0"/>
              <a:cs typeface="Arial" pitchFamily="34" charset="0"/>
              <a:sym typeface="Calibri"/>
            </a:endParaRPr>
          </a:p>
        </p:txBody>
      </p:sp>
      <p:sp>
        <p:nvSpPr>
          <p:cNvPr id="4" name="3 Rectángulo"/>
          <p:cNvSpPr/>
          <p:nvPr/>
        </p:nvSpPr>
        <p:spPr>
          <a:xfrm>
            <a:off x="8250076" y="2215214"/>
            <a:ext cx="1415723" cy="1036772"/>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0" bIns="72000" rtlCol="0" anchor="t"/>
          <a:lstStyle/>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Plan de Implementación </a:t>
            </a:r>
          </a:p>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Monitorización y mantenimiento</a:t>
            </a:r>
          </a:p>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Informe Final</a:t>
            </a:r>
          </a:p>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Revisión del proyecto</a:t>
            </a:r>
          </a:p>
        </p:txBody>
      </p:sp>
      <p:sp>
        <p:nvSpPr>
          <p:cNvPr id="21" name="Chevron 121"/>
          <p:cNvSpPr/>
          <p:nvPr/>
        </p:nvSpPr>
        <p:spPr>
          <a:xfrm>
            <a:off x="6710136" y="1517406"/>
            <a:ext cx="1584000" cy="660142"/>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Evaluación</a:t>
            </a:r>
            <a:endParaRPr lang="en-US" sz="1000" kern="0" dirty="0">
              <a:solidFill>
                <a:srgbClr val="FFFFFF"/>
              </a:solidFill>
              <a:latin typeface="Avenir 35" panose="00000400000000000000" pitchFamily="2" charset="0"/>
              <a:cs typeface="Arial" pitchFamily="34" charset="0"/>
            </a:endParaRPr>
          </a:p>
        </p:txBody>
      </p:sp>
      <p:sp>
        <p:nvSpPr>
          <p:cNvPr id="20" name="AutoShape 4"/>
          <p:cNvSpPr>
            <a:spLocks noChangeArrowheads="1"/>
          </p:cNvSpPr>
          <p:nvPr/>
        </p:nvSpPr>
        <p:spPr bwMode="auto">
          <a:xfrm>
            <a:off x="632527" y="832079"/>
            <a:ext cx="8660261" cy="432048"/>
          </a:xfrm>
          <a:prstGeom prst="roundRect">
            <a:avLst>
              <a:gd name="adj" fmla="val 12500"/>
            </a:avLst>
          </a:prstGeom>
        </p:spPr>
        <p:txBody>
          <a:bodyPr lIns="92583" tIns="46292" rIns="92583" bIns="46292" anchor="ctr">
            <a:noAutofit/>
          </a:bodyPr>
          <a:lstStyle/>
          <a:p>
            <a:r>
              <a:rPr lang="es-ES" sz="1000" dirty="0">
                <a:solidFill>
                  <a:srgbClr val="505050"/>
                </a:solidFill>
                <a:latin typeface="Avenir 35" panose="00000400000000000000" pitchFamily="2" charset="0"/>
                <a:cs typeface="Arial" panose="020B0604020202020204" pitchFamily="34" charset="0"/>
              </a:rPr>
              <a:t>Proponemos la siguiente metodología End  to End desde la definición de la Estrategia hasta su ejecución de las Campañas . Por otro lado acompañamos dicha metodología con una  nueva visión “Customer  Centric” que nos aportar un punto de vista disruptivo. </a:t>
            </a:r>
          </a:p>
        </p:txBody>
      </p:sp>
      <p:sp>
        <p:nvSpPr>
          <p:cNvPr id="24" name="19 Rectángulo"/>
          <p:cNvSpPr/>
          <p:nvPr/>
        </p:nvSpPr>
        <p:spPr bwMode="auto">
          <a:xfrm>
            <a:off x="130469" y="4294204"/>
            <a:ext cx="288000" cy="1800200"/>
          </a:xfrm>
          <a:prstGeom prst="rect">
            <a:avLst/>
          </a:prstGeom>
          <a:solidFill>
            <a:srgbClr val="4BACC6"/>
          </a:solidFill>
          <a:ln w="12700" cap="flat" cmpd="sng" algn="ctr">
            <a:noFill/>
            <a:prstDash val="solid"/>
            <a:round/>
            <a:headEnd type="none" w="med" len="med"/>
            <a:tailEnd type="none" w="med" len="med"/>
          </a:ln>
          <a:effectLst/>
        </p:spPr>
        <p:txBody>
          <a:bodyPr vert="vert270" lIns="91350" tIns="45670" rIns="91350" bIns="45670" anchor="ctr"/>
          <a:lstStyle/>
          <a:p>
            <a:pPr algn="ctr" defTabSz="915052" eaLnBrk="0" hangingPunct="0">
              <a:spcBef>
                <a:spcPts val="300"/>
              </a:spcBef>
              <a:buClr>
                <a:srgbClr val="9AAE04"/>
              </a:buClr>
              <a:defRPr/>
            </a:pPr>
            <a:r>
              <a:rPr lang="es-ES" sz="1050" kern="0" dirty="0">
                <a:solidFill>
                  <a:schemeClr val="bg1"/>
                </a:solidFill>
                <a:latin typeface="Avenir 35" panose="00000400000000000000" pitchFamily="2" charset="0"/>
                <a:cs typeface="Arial" pitchFamily="34" charset="0"/>
              </a:rPr>
              <a:t>Entregables</a:t>
            </a:r>
          </a:p>
        </p:txBody>
      </p:sp>
      <p:graphicFrame>
        <p:nvGraphicFramePr>
          <p:cNvPr id="25" name="15 Tabla"/>
          <p:cNvGraphicFramePr>
            <a:graphicFrameLocks noGrp="1"/>
          </p:cNvGraphicFramePr>
          <p:nvPr>
            <p:extLst>
              <p:ext uri="{D42A27DB-BD31-4B8C-83A1-F6EECF244321}">
                <p14:modId xmlns:p14="http://schemas.microsoft.com/office/powerpoint/2010/main" val="1405257241"/>
              </p:ext>
            </p:extLst>
          </p:nvPr>
        </p:nvGraphicFramePr>
        <p:xfrm>
          <a:off x="488504" y="4586934"/>
          <a:ext cx="1189650" cy="1228680"/>
        </p:xfrm>
        <a:graphic>
          <a:graphicData uri="http://schemas.openxmlformats.org/drawingml/2006/table">
            <a:tbl>
              <a:tblPr firstRow="1" bandRow="1">
                <a:tableStyleId>{2D5ABB26-0587-4C30-8999-92F81FD0307C}</a:tableStyleId>
              </a:tblPr>
              <a:tblGrid>
                <a:gridCol w="1189650">
                  <a:extLst>
                    <a:ext uri="{9D8B030D-6E8A-4147-A177-3AD203B41FA5}">
                      <a16:colId xmlns:a16="http://schemas.microsoft.com/office/drawing/2014/main" val="20000"/>
                    </a:ext>
                  </a:extLst>
                </a:gridCol>
              </a:tblGrid>
              <a:tr h="360000">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Normas de Gestión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0000">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Calendario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60000">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Documento de extracción de los datos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26" name="15 Tabla"/>
          <p:cNvGraphicFramePr>
            <a:graphicFrameLocks noGrp="1"/>
          </p:cNvGraphicFramePr>
          <p:nvPr>
            <p:extLst>
              <p:ext uri="{D42A27DB-BD31-4B8C-83A1-F6EECF244321}">
                <p14:modId xmlns:p14="http://schemas.microsoft.com/office/powerpoint/2010/main" val="347196085"/>
              </p:ext>
            </p:extLst>
          </p:nvPr>
        </p:nvGraphicFramePr>
        <p:xfrm>
          <a:off x="2051166" y="4610406"/>
          <a:ext cx="1167602" cy="868680"/>
        </p:xfrm>
        <a:graphic>
          <a:graphicData uri="http://schemas.openxmlformats.org/drawingml/2006/table">
            <a:tbl>
              <a:tblPr firstRow="1" bandRow="1">
                <a:tableStyleId>{2D5ABB26-0587-4C30-8999-92F81FD0307C}</a:tableStyleId>
              </a:tblPr>
              <a:tblGrid>
                <a:gridCol w="1167602">
                  <a:extLst>
                    <a:ext uri="{9D8B030D-6E8A-4147-A177-3AD203B41FA5}">
                      <a16:colId xmlns:a16="http://schemas.microsoft.com/office/drawing/2014/main" val="20000"/>
                    </a:ext>
                  </a:extLst>
                </a:gridCol>
              </a:tblGrid>
              <a:tr h="0">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Diseño de modelos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0">
                <a:tc>
                  <a:txBody>
                    <a:bodyPr/>
                    <a:lstStyle/>
                    <a:p>
                      <a:pPr marL="171450" indent="-171450">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Informe de calidad de los datos maestros</a:t>
                      </a:r>
                      <a:endParaRPr lang="es-ES" sz="900" baseline="0" dirty="0">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graphicFrame>
        <p:nvGraphicFramePr>
          <p:cNvPr id="29" name="15 Tabla"/>
          <p:cNvGraphicFramePr>
            <a:graphicFrameLocks noGrp="1"/>
          </p:cNvGraphicFramePr>
          <p:nvPr>
            <p:extLst>
              <p:ext uri="{D42A27DB-BD31-4B8C-83A1-F6EECF244321}">
                <p14:modId xmlns:p14="http://schemas.microsoft.com/office/powerpoint/2010/main" val="3809135010"/>
              </p:ext>
            </p:extLst>
          </p:nvPr>
        </p:nvGraphicFramePr>
        <p:xfrm>
          <a:off x="3546390" y="4552750"/>
          <a:ext cx="1221419" cy="862920"/>
        </p:xfrm>
        <a:graphic>
          <a:graphicData uri="http://schemas.openxmlformats.org/drawingml/2006/table">
            <a:tbl>
              <a:tblPr firstRow="1" bandRow="1">
                <a:tableStyleId>{2D5ABB26-0587-4C30-8999-92F81FD0307C}</a:tableStyleId>
              </a:tblPr>
              <a:tblGrid>
                <a:gridCol w="1221419">
                  <a:extLst>
                    <a:ext uri="{9D8B030D-6E8A-4147-A177-3AD203B41FA5}">
                      <a16:colId xmlns:a16="http://schemas.microsoft.com/office/drawing/2014/main" val="20000"/>
                    </a:ext>
                  </a:extLst>
                </a:gridCol>
              </a:tblGrid>
              <a:tr h="360000">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Tablón de datos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0000">
                <a:tc>
                  <a:txBody>
                    <a:bodyPr/>
                    <a:lstStyle/>
                    <a:p>
                      <a:pPr marL="171450" indent="-171450">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Presentación de análisis</a:t>
                      </a:r>
                      <a:r>
                        <a:rPr lang="es-ES" sz="900" baseline="0" dirty="0">
                          <a:latin typeface="Avenir 35" panose="00000400000000000000" pitchFamily="2" charset="0"/>
                          <a:cs typeface="Arial" panose="020B0604020202020204" pitchFamily="34" charset="0"/>
                        </a:rPr>
                        <a:t> de la situación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graphicFrame>
        <p:nvGraphicFramePr>
          <p:cNvPr id="35" name="15 Tabla"/>
          <p:cNvGraphicFramePr>
            <a:graphicFrameLocks noGrp="1"/>
          </p:cNvGraphicFramePr>
          <p:nvPr>
            <p:extLst>
              <p:ext uri="{D42A27DB-BD31-4B8C-83A1-F6EECF244321}">
                <p14:modId xmlns:p14="http://schemas.microsoft.com/office/powerpoint/2010/main" val="1983495649"/>
              </p:ext>
            </p:extLst>
          </p:nvPr>
        </p:nvGraphicFramePr>
        <p:xfrm>
          <a:off x="5058558" y="4586934"/>
          <a:ext cx="1263341" cy="777882"/>
        </p:xfrm>
        <a:graphic>
          <a:graphicData uri="http://schemas.openxmlformats.org/drawingml/2006/table">
            <a:tbl>
              <a:tblPr firstRow="1" bandRow="1">
                <a:tableStyleId>{2D5ABB26-0587-4C30-8999-92F81FD0307C}</a:tableStyleId>
              </a:tblPr>
              <a:tblGrid>
                <a:gridCol w="1263341">
                  <a:extLst>
                    <a:ext uri="{9D8B030D-6E8A-4147-A177-3AD203B41FA5}">
                      <a16:colId xmlns:a16="http://schemas.microsoft.com/office/drawing/2014/main" val="20000"/>
                    </a:ext>
                  </a:extLst>
                </a:gridCol>
              </a:tblGrid>
              <a:tr h="417882">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Análisis de Importancia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0000">
                <a:tc>
                  <a:txBody>
                    <a:bodyPr/>
                    <a:lstStyle/>
                    <a:p>
                      <a:pPr marL="171450" indent="-171450">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Modelo analítico</a:t>
                      </a:r>
                      <a:endParaRPr lang="es-ES" sz="900" baseline="0" dirty="0">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graphicFrame>
        <p:nvGraphicFramePr>
          <p:cNvPr id="37" name="15 Tabla"/>
          <p:cNvGraphicFramePr>
            <a:graphicFrameLocks noGrp="1"/>
          </p:cNvGraphicFramePr>
          <p:nvPr>
            <p:extLst>
              <p:ext uri="{D42A27DB-BD31-4B8C-83A1-F6EECF244321}">
                <p14:modId xmlns:p14="http://schemas.microsoft.com/office/powerpoint/2010/main" val="1985469250"/>
              </p:ext>
            </p:extLst>
          </p:nvPr>
        </p:nvGraphicFramePr>
        <p:xfrm>
          <a:off x="6753200" y="4586934"/>
          <a:ext cx="1130168" cy="934968"/>
        </p:xfrm>
        <a:graphic>
          <a:graphicData uri="http://schemas.openxmlformats.org/drawingml/2006/table">
            <a:tbl>
              <a:tblPr firstRow="1" bandRow="1">
                <a:tableStyleId>{2D5ABB26-0587-4C30-8999-92F81FD0307C}</a:tableStyleId>
              </a:tblPr>
              <a:tblGrid>
                <a:gridCol w="1130168">
                  <a:extLst>
                    <a:ext uri="{9D8B030D-6E8A-4147-A177-3AD203B41FA5}">
                      <a16:colId xmlns:a16="http://schemas.microsoft.com/office/drawing/2014/main" val="20000"/>
                    </a:ext>
                  </a:extLst>
                </a:gridCol>
              </a:tblGrid>
              <a:tr h="432048">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Resultado de modelos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32048">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Programación</a:t>
                      </a:r>
                      <a:r>
                        <a:rPr lang="es-ES" sz="900" baseline="0" dirty="0">
                          <a:latin typeface="Avenir 35" panose="00000400000000000000" pitchFamily="2" charset="0"/>
                          <a:cs typeface="Arial" panose="020B0604020202020204" pitchFamily="34" charset="0"/>
                        </a:rPr>
                        <a:t> de modelos y ETLs</a:t>
                      </a:r>
                      <a:endParaRPr lang="es-ES" sz="900" dirty="0">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38" name="Chevron 121"/>
          <p:cNvSpPr/>
          <p:nvPr/>
        </p:nvSpPr>
        <p:spPr>
          <a:xfrm>
            <a:off x="8265544" y="1517406"/>
            <a:ext cx="1584000" cy="660142"/>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Despliegue</a:t>
            </a:r>
            <a:endParaRPr lang="en-US" sz="1000" kern="0" dirty="0">
              <a:solidFill>
                <a:srgbClr val="FFFFFF"/>
              </a:solidFill>
              <a:latin typeface="Avenir 35" panose="00000400000000000000" pitchFamily="2" charset="0"/>
              <a:cs typeface="Arial" pitchFamily="34" charset="0"/>
            </a:endParaRPr>
          </a:p>
        </p:txBody>
      </p:sp>
      <p:sp>
        <p:nvSpPr>
          <p:cNvPr id="39" name="36 Rectángulo"/>
          <p:cNvSpPr/>
          <p:nvPr/>
        </p:nvSpPr>
        <p:spPr>
          <a:xfrm>
            <a:off x="6789204" y="2215214"/>
            <a:ext cx="1425864" cy="3950090"/>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0" bIns="72000" rtlCol="0" anchor="t"/>
          <a:lstStyle/>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Evaluación de los resultados</a:t>
            </a:r>
          </a:p>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Proceso de revisión</a:t>
            </a:r>
          </a:p>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Determinación de fases futuras</a:t>
            </a:r>
          </a:p>
          <a:p>
            <a:pPr marL="171450" indent="-171450" defTabSz="825500">
              <a:spcAft>
                <a:spcPts val="300"/>
              </a:spcAft>
              <a:buFont typeface="Wingdings" pitchFamily="2" charset="2"/>
              <a:buChar char="§"/>
            </a:pPr>
            <a:endParaRPr lang="es-ES" sz="900" kern="0" dirty="0">
              <a:solidFill>
                <a:srgbClr val="323232"/>
              </a:solidFill>
              <a:latin typeface="Avenir 35" panose="00000400000000000000" pitchFamily="2" charset="0"/>
              <a:cs typeface="Arial" pitchFamily="34" charset="0"/>
              <a:sym typeface="Calibri"/>
            </a:endParaRPr>
          </a:p>
          <a:p>
            <a:pPr marL="171450" indent="-171450" defTabSz="825500">
              <a:spcAft>
                <a:spcPts val="300"/>
              </a:spcAft>
              <a:buFont typeface="Wingdings" pitchFamily="2" charset="2"/>
              <a:buChar char="§"/>
            </a:pPr>
            <a:endParaRPr lang="es-ES" sz="900" kern="0" dirty="0">
              <a:solidFill>
                <a:srgbClr val="323232"/>
              </a:solidFill>
              <a:latin typeface="Avenir 35" panose="00000400000000000000" pitchFamily="2" charset="0"/>
              <a:cs typeface="Arial" pitchFamily="34" charset="0"/>
              <a:sym typeface="Calibri"/>
            </a:endParaRPr>
          </a:p>
        </p:txBody>
      </p:sp>
      <p:graphicFrame>
        <p:nvGraphicFramePr>
          <p:cNvPr id="45" name="15 Tabla"/>
          <p:cNvGraphicFramePr>
            <a:graphicFrameLocks noGrp="1"/>
          </p:cNvGraphicFramePr>
          <p:nvPr>
            <p:extLst>
              <p:ext uri="{D42A27DB-BD31-4B8C-83A1-F6EECF244321}">
                <p14:modId xmlns:p14="http://schemas.microsoft.com/office/powerpoint/2010/main" val="4241644881"/>
              </p:ext>
            </p:extLst>
          </p:nvPr>
        </p:nvGraphicFramePr>
        <p:xfrm>
          <a:off x="8337463" y="4586934"/>
          <a:ext cx="1328333" cy="1085760"/>
        </p:xfrm>
        <a:graphic>
          <a:graphicData uri="http://schemas.openxmlformats.org/drawingml/2006/table">
            <a:tbl>
              <a:tblPr firstRow="1" bandRow="1">
                <a:tableStyleId>{2D5ABB26-0587-4C30-8999-92F81FD0307C}</a:tableStyleId>
              </a:tblPr>
              <a:tblGrid>
                <a:gridCol w="1328333">
                  <a:extLst>
                    <a:ext uri="{9D8B030D-6E8A-4147-A177-3AD203B41FA5}">
                      <a16:colId xmlns:a16="http://schemas.microsoft.com/office/drawing/2014/main" val="20000"/>
                    </a:ext>
                  </a:extLst>
                </a:gridCol>
              </a:tblGrid>
              <a:tr h="360000">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Informe Final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0000">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Diseño Funcional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60000">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Transferencia</a:t>
                      </a:r>
                      <a:r>
                        <a:rPr lang="es-ES" sz="900" baseline="0" dirty="0">
                          <a:latin typeface="Avenir 35" panose="00000400000000000000" pitchFamily="2" charset="0"/>
                          <a:cs typeface="Arial" panose="020B0604020202020204" pitchFamily="34" charset="0"/>
                        </a:rPr>
                        <a:t> de Conocimiento</a:t>
                      </a:r>
                      <a:endParaRPr lang="es-ES" sz="900" dirty="0">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40"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43</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10004899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40 Rectángulo"/>
          <p:cNvSpPr/>
          <p:nvPr/>
        </p:nvSpPr>
        <p:spPr>
          <a:xfrm>
            <a:off x="416496" y="2323671"/>
            <a:ext cx="1827293" cy="3527963"/>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36000" bIns="72000" rtlCol="0" anchor="t"/>
          <a:lstStyle/>
          <a:p>
            <a:pPr marL="171450" indent="-111125" defTabSz="825500">
              <a:spcAft>
                <a:spcPts val="300"/>
              </a:spcAft>
              <a:buFont typeface="Wingdings" pitchFamily="2" charset="2"/>
              <a:buChar char="§"/>
            </a:pPr>
            <a:r>
              <a:rPr lang="es-ES" sz="900" kern="0" dirty="0">
                <a:solidFill>
                  <a:srgbClr val="323232"/>
                </a:solidFill>
                <a:latin typeface="Avenir 65" panose="02000600000000000000" pitchFamily="2" charset="0"/>
                <a:cs typeface="Arial" pitchFamily="34" charset="0"/>
                <a:sym typeface="Calibri"/>
              </a:rPr>
              <a:t>Reunión de kick-off y revisión alcance </a:t>
            </a:r>
          </a:p>
          <a:p>
            <a:pPr marL="171450" indent="-111125" defTabSz="825500">
              <a:spcAft>
                <a:spcPts val="300"/>
              </a:spcAft>
              <a:buFont typeface="Wingdings" pitchFamily="2" charset="2"/>
              <a:buChar char="§"/>
            </a:pPr>
            <a:r>
              <a:rPr lang="es-ES" sz="900" kern="0" dirty="0">
                <a:solidFill>
                  <a:srgbClr val="323232"/>
                </a:solidFill>
                <a:latin typeface="Avenir 65" panose="02000600000000000000" pitchFamily="2" charset="0"/>
                <a:cs typeface="Arial" pitchFamily="34" charset="0"/>
                <a:sym typeface="Calibri"/>
              </a:rPr>
              <a:t>Plan de gestión y marco del proyecto de integración</a:t>
            </a:r>
          </a:p>
          <a:p>
            <a:pPr marL="171450" indent="-111125"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Documento con la </a:t>
            </a:r>
            <a:r>
              <a:rPr lang="es-ES" sz="900" kern="0" dirty="0">
                <a:solidFill>
                  <a:srgbClr val="323232"/>
                </a:solidFill>
                <a:latin typeface="Avenir 65" panose="02000600000000000000" pitchFamily="2" charset="0"/>
                <a:cs typeface="Arial" pitchFamily="34" charset="0"/>
                <a:sym typeface="Calibri"/>
              </a:rPr>
              <a:t>Planificación detallada del Proyecto de integración </a:t>
            </a:r>
            <a:r>
              <a:rPr lang="es-ES" sz="900" kern="0" dirty="0">
                <a:solidFill>
                  <a:srgbClr val="323232"/>
                </a:solidFill>
                <a:latin typeface="Avenir 35" panose="00000400000000000000" pitchFamily="2" charset="0"/>
                <a:cs typeface="Arial" pitchFamily="34" charset="0"/>
                <a:sym typeface="Calibri"/>
              </a:rPr>
              <a:t>(tareas, recursos, hitos).</a:t>
            </a:r>
          </a:p>
          <a:p>
            <a:pPr marL="171450" indent="-111125"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Planificar las reuniones y workshops para la toma de requerimientos con negocio y con el proveedor actual</a:t>
            </a:r>
          </a:p>
          <a:p>
            <a:pPr marL="171450" lvl="3" indent="-111125" defTabSz="825500">
              <a:spcAft>
                <a:spcPts val="200"/>
              </a:spcAft>
              <a:buFont typeface="Wingdings" panose="05000000000000000000" pitchFamily="2" charset="2"/>
              <a:buChar char="§"/>
            </a:pPr>
            <a:r>
              <a:rPr lang="es-ES" sz="900" kern="0" dirty="0">
                <a:solidFill>
                  <a:srgbClr val="323232"/>
                </a:solidFill>
                <a:latin typeface="Avenir 35" panose="00000400000000000000" pitchFamily="2" charset="0"/>
                <a:cs typeface="Arial" pitchFamily="34" charset="0"/>
                <a:sym typeface="Calibri"/>
              </a:rPr>
              <a:t>Preparación de los repositorios de datos necesarios para la construcción: Landing, Staging y Base</a:t>
            </a:r>
          </a:p>
        </p:txBody>
      </p:sp>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Metodologías &amp; Herramientas</a:t>
            </a:r>
          </a:p>
          <a:p>
            <a:endParaRPr lang="en-US" dirty="0">
              <a:solidFill>
                <a:srgbClr val="323232"/>
              </a:solidFill>
              <a:latin typeface="Avenir 35" panose="00000400000000000000" pitchFamily="2" charset="0"/>
            </a:endParaRP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METODOLOGÍA - INTEGRACIÓN</a:t>
            </a:r>
            <a:endParaRPr lang="es-ES" sz="1400" b="1" dirty="0">
              <a:solidFill>
                <a:srgbClr val="323232"/>
              </a:solidFill>
              <a:latin typeface="Avenir 35" panose="00000400000000000000" pitchFamily="2" charset="0"/>
            </a:endParaRPr>
          </a:p>
        </p:txBody>
      </p:sp>
      <p:sp>
        <p:nvSpPr>
          <p:cNvPr id="22" name="19 Rectángulo"/>
          <p:cNvSpPr/>
          <p:nvPr/>
        </p:nvSpPr>
        <p:spPr bwMode="auto">
          <a:xfrm>
            <a:off x="128496" y="2303364"/>
            <a:ext cx="288000" cy="2565797"/>
          </a:xfrm>
          <a:prstGeom prst="rect">
            <a:avLst/>
          </a:prstGeom>
          <a:solidFill>
            <a:srgbClr val="4BACC6"/>
          </a:solidFill>
          <a:ln w="12700" cap="flat" cmpd="sng" algn="ctr">
            <a:noFill/>
            <a:prstDash val="solid"/>
            <a:round/>
            <a:headEnd type="none" w="med" len="med"/>
            <a:tailEnd type="none" w="med" len="med"/>
          </a:ln>
          <a:effectLst/>
        </p:spPr>
        <p:txBody>
          <a:bodyPr vert="vert270" lIns="91350" tIns="45670" rIns="91350" bIns="45670" anchor="ctr"/>
          <a:lstStyle/>
          <a:p>
            <a:pPr algn="ctr" defTabSz="915052" eaLnBrk="0" hangingPunct="0">
              <a:spcBef>
                <a:spcPts val="300"/>
              </a:spcBef>
              <a:buClr>
                <a:srgbClr val="9AAE04"/>
              </a:buClr>
            </a:pPr>
            <a:r>
              <a:rPr lang="es-ES" sz="1050" kern="0" dirty="0">
                <a:solidFill>
                  <a:schemeClr val="bg1"/>
                </a:solidFill>
                <a:latin typeface="Avenir 35" panose="00000400000000000000" pitchFamily="2" charset="0"/>
                <a:cs typeface="Arial" pitchFamily="34" charset="0"/>
              </a:rPr>
              <a:t>Actividades</a:t>
            </a:r>
          </a:p>
        </p:txBody>
      </p:sp>
      <p:sp>
        <p:nvSpPr>
          <p:cNvPr id="27" name="Chevron 118"/>
          <p:cNvSpPr/>
          <p:nvPr/>
        </p:nvSpPr>
        <p:spPr>
          <a:xfrm>
            <a:off x="488504" y="1522450"/>
            <a:ext cx="1800000" cy="644748"/>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r>
              <a:rPr lang="es-ES" sz="1000" dirty="0">
                <a:solidFill>
                  <a:srgbClr val="FFFFFF"/>
                </a:solidFill>
                <a:latin typeface="Avenir 35" panose="00000400000000000000" pitchFamily="2" charset="0"/>
                <a:cs typeface="Arial" pitchFamily="34" charset="0"/>
              </a:rPr>
              <a:t>Preparación del proyecto &amp; definición e implantación de arquitectura</a:t>
            </a:r>
          </a:p>
        </p:txBody>
      </p:sp>
      <p:sp>
        <p:nvSpPr>
          <p:cNvPr id="28" name="Chevron 119"/>
          <p:cNvSpPr/>
          <p:nvPr/>
        </p:nvSpPr>
        <p:spPr>
          <a:xfrm>
            <a:off x="2324645" y="1522450"/>
            <a:ext cx="1800000" cy="646414"/>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Diseño Funcional &amp; Técnico</a:t>
            </a:r>
            <a:endParaRPr lang="en-US" sz="1000" kern="0" dirty="0">
              <a:solidFill>
                <a:srgbClr val="FFFFFF"/>
              </a:solidFill>
              <a:latin typeface="Avenir 35" panose="00000400000000000000" pitchFamily="2" charset="0"/>
              <a:cs typeface="Arial" pitchFamily="34" charset="0"/>
            </a:endParaRPr>
          </a:p>
        </p:txBody>
      </p:sp>
      <p:sp>
        <p:nvSpPr>
          <p:cNvPr id="30" name="Chevron 121"/>
          <p:cNvSpPr/>
          <p:nvPr/>
        </p:nvSpPr>
        <p:spPr>
          <a:xfrm>
            <a:off x="6249155" y="1522450"/>
            <a:ext cx="1800000" cy="660142"/>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Implantación</a:t>
            </a:r>
            <a:endParaRPr lang="en-US" sz="1000" kern="0" dirty="0">
              <a:solidFill>
                <a:srgbClr val="FFFFFF"/>
              </a:solidFill>
              <a:latin typeface="Avenir 35" panose="00000400000000000000" pitchFamily="2" charset="0"/>
              <a:cs typeface="Arial" pitchFamily="34" charset="0"/>
            </a:endParaRPr>
          </a:p>
        </p:txBody>
      </p:sp>
      <p:sp>
        <p:nvSpPr>
          <p:cNvPr id="31" name="Chevron 122"/>
          <p:cNvSpPr/>
          <p:nvPr/>
        </p:nvSpPr>
        <p:spPr>
          <a:xfrm>
            <a:off x="4160786" y="1522450"/>
            <a:ext cx="2052228" cy="660142"/>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Construcción &amp;  Pruebas</a:t>
            </a:r>
            <a:endParaRPr lang="en-US" sz="1000" kern="0" dirty="0">
              <a:solidFill>
                <a:srgbClr val="FFFFFF"/>
              </a:solidFill>
              <a:latin typeface="Avenir 35" panose="00000400000000000000" pitchFamily="2" charset="0"/>
              <a:cs typeface="Arial" pitchFamily="34" charset="0"/>
            </a:endParaRPr>
          </a:p>
        </p:txBody>
      </p:sp>
      <p:sp>
        <p:nvSpPr>
          <p:cNvPr id="32" name="31 Rectángulo"/>
          <p:cNvSpPr/>
          <p:nvPr/>
        </p:nvSpPr>
        <p:spPr bwMode="auto">
          <a:xfrm>
            <a:off x="128496" y="1522798"/>
            <a:ext cx="288000" cy="644400"/>
          </a:xfrm>
          <a:prstGeom prst="rect">
            <a:avLst/>
          </a:prstGeom>
          <a:solidFill>
            <a:srgbClr val="4BACC6"/>
          </a:solidFill>
          <a:ln w="12700" cap="flat" cmpd="sng" algn="ctr">
            <a:noFill/>
            <a:prstDash val="solid"/>
            <a:round/>
            <a:headEnd type="none" w="med" len="med"/>
            <a:tailEnd type="none" w="med" len="med"/>
          </a:ln>
          <a:effectLst/>
        </p:spPr>
        <p:txBody>
          <a:bodyPr vert="vert270" lIns="91350" tIns="45670" rIns="91350" bIns="45670" anchor="ctr"/>
          <a:lstStyle/>
          <a:p>
            <a:pPr algn="ctr" defTabSz="915052" eaLnBrk="0" hangingPunct="0">
              <a:spcBef>
                <a:spcPts val="300"/>
              </a:spcBef>
              <a:buClr>
                <a:srgbClr val="9AAE04"/>
              </a:buClr>
            </a:pPr>
            <a:r>
              <a:rPr lang="es-ES" sz="1050" kern="0" dirty="0">
                <a:solidFill>
                  <a:schemeClr val="bg1"/>
                </a:solidFill>
                <a:latin typeface="Avenir 35" panose="00000400000000000000" pitchFamily="2" charset="0"/>
                <a:cs typeface="Arial" pitchFamily="34" charset="0"/>
              </a:rPr>
              <a:t>Fases</a:t>
            </a:r>
          </a:p>
        </p:txBody>
      </p:sp>
      <p:sp>
        <p:nvSpPr>
          <p:cNvPr id="42" name="41 Rectángulo"/>
          <p:cNvSpPr/>
          <p:nvPr/>
        </p:nvSpPr>
        <p:spPr>
          <a:xfrm>
            <a:off x="2285527" y="2247594"/>
            <a:ext cx="1839118" cy="3714368"/>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36000" bIns="72000" rtlCol="0" anchor="t"/>
          <a:lstStyle/>
          <a:p>
            <a:pPr marL="171450" indent="-130175" defTabSz="825500">
              <a:spcAft>
                <a:spcPts val="600"/>
              </a:spcAft>
              <a:buFont typeface="Wingdings" pitchFamily="2" charset="2"/>
              <a:buChar char="§"/>
            </a:pPr>
            <a:r>
              <a:rPr lang="es-ES" sz="900" kern="0" dirty="0">
                <a:solidFill>
                  <a:srgbClr val="323232"/>
                </a:solidFill>
                <a:latin typeface="Avenir 65" panose="02000600000000000000" pitchFamily="2" charset="0"/>
                <a:cs typeface="Arial" pitchFamily="34" charset="0"/>
                <a:sym typeface="Calibri"/>
              </a:rPr>
              <a:t>Definición funcional y técnica de los datos maestros </a:t>
            </a:r>
            <a:r>
              <a:rPr lang="es-ES" sz="900" kern="0" dirty="0">
                <a:solidFill>
                  <a:srgbClr val="323232"/>
                </a:solidFill>
                <a:latin typeface="Avenir 35" panose="00000400000000000000" pitchFamily="2" charset="0"/>
                <a:cs typeface="Arial" pitchFamily="34" charset="0"/>
                <a:sym typeface="Calibri"/>
              </a:rPr>
              <a:t>de vehículo, cliente y entidades vinculadas,</a:t>
            </a:r>
          </a:p>
          <a:p>
            <a:pPr marL="171450" indent="-130175" defTabSz="825500">
              <a:spcAft>
                <a:spcPts val="6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 Inventario de las </a:t>
            </a:r>
            <a:r>
              <a:rPr lang="es-ES" sz="900" kern="0" dirty="0">
                <a:solidFill>
                  <a:srgbClr val="323232"/>
                </a:solidFill>
                <a:latin typeface="Avenir 65" panose="02000600000000000000" pitchFamily="2" charset="0"/>
                <a:cs typeface="Arial" pitchFamily="34" charset="0"/>
                <a:sym typeface="Calibri"/>
              </a:rPr>
              <a:t>reglas de negocio  </a:t>
            </a:r>
            <a:r>
              <a:rPr lang="es-ES" sz="900" kern="0" dirty="0">
                <a:solidFill>
                  <a:srgbClr val="323232"/>
                </a:solidFill>
                <a:latin typeface="Avenir 35" panose="00000400000000000000" pitchFamily="2" charset="0"/>
                <a:cs typeface="Arial" pitchFamily="34" charset="0"/>
                <a:sym typeface="Calibri"/>
              </a:rPr>
              <a:t>y definición del </a:t>
            </a:r>
            <a:r>
              <a:rPr lang="es-ES" sz="900" kern="0" dirty="0">
                <a:solidFill>
                  <a:srgbClr val="323232"/>
                </a:solidFill>
                <a:latin typeface="Avenir 65" panose="02000600000000000000" pitchFamily="2" charset="0"/>
                <a:cs typeface="Arial" pitchFamily="34" charset="0"/>
                <a:sym typeface="Calibri"/>
              </a:rPr>
              <a:t>sistema de monitorización de calidad</a:t>
            </a:r>
          </a:p>
          <a:p>
            <a:pPr marL="171450" indent="-130175" defTabSz="825500">
              <a:spcAft>
                <a:spcPts val="6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Definición del cálculo del scoring diario de clientes</a:t>
            </a:r>
          </a:p>
          <a:p>
            <a:pPr marL="171450" indent="-130175" defTabSz="825500">
              <a:spcAft>
                <a:spcPts val="600"/>
              </a:spcAft>
              <a:buFont typeface="Wingdings" pitchFamily="2" charset="2"/>
              <a:buChar char="§"/>
            </a:pPr>
            <a:r>
              <a:rPr lang="es-ES" sz="900" kern="0" dirty="0">
                <a:solidFill>
                  <a:srgbClr val="323232"/>
                </a:solidFill>
                <a:latin typeface="Avenir 65" panose="02000600000000000000" pitchFamily="2" charset="0"/>
                <a:cs typeface="Arial" pitchFamily="34" charset="0"/>
                <a:sym typeface="Calibri"/>
              </a:rPr>
              <a:t>Diseño técnico </a:t>
            </a:r>
            <a:r>
              <a:rPr lang="es-ES" sz="900" kern="0" dirty="0">
                <a:solidFill>
                  <a:srgbClr val="323232"/>
                </a:solidFill>
                <a:latin typeface="Avenir 35" panose="00000400000000000000" pitchFamily="2" charset="0"/>
                <a:cs typeface="Arial" pitchFamily="34" charset="0"/>
                <a:sym typeface="Calibri"/>
              </a:rPr>
              <a:t>de la herramienta, incluyendo el modelo de datos y modelo de seguridad</a:t>
            </a:r>
          </a:p>
          <a:p>
            <a:pPr marL="171450" indent="-130175" defTabSz="825500">
              <a:spcAft>
                <a:spcPts val="6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Definición de los </a:t>
            </a:r>
            <a:r>
              <a:rPr lang="es-ES" sz="900" kern="0" dirty="0">
                <a:solidFill>
                  <a:srgbClr val="323232"/>
                </a:solidFill>
                <a:latin typeface="Avenir 65" panose="02000600000000000000" pitchFamily="2" charset="0"/>
                <a:cs typeface="Arial" pitchFamily="34" charset="0"/>
                <a:sym typeface="Calibri"/>
              </a:rPr>
              <a:t>planes de prueba de integración</a:t>
            </a:r>
          </a:p>
        </p:txBody>
      </p:sp>
      <p:sp>
        <p:nvSpPr>
          <p:cNvPr id="43" name="36 Rectángulo"/>
          <p:cNvSpPr/>
          <p:nvPr/>
        </p:nvSpPr>
        <p:spPr>
          <a:xfrm>
            <a:off x="4193932" y="2204864"/>
            <a:ext cx="1767179" cy="3852000"/>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0" bIns="72000" rtlCol="0" anchor="t"/>
          <a:lstStyle/>
          <a:p>
            <a:pPr marL="171450" indent="-130175" defTabSz="825500">
              <a:spcAft>
                <a:spcPts val="300"/>
              </a:spcAft>
              <a:buFont typeface="Wingdings" pitchFamily="2" charset="2"/>
              <a:buChar char="§"/>
            </a:pPr>
            <a:r>
              <a:rPr lang="es-ES" sz="800" kern="0" dirty="0">
                <a:solidFill>
                  <a:srgbClr val="323232"/>
                </a:solidFill>
                <a:latin typeface="Avenir 35" panose="00000400000000000000" pitchFamily="2" charset="0"/>
                <a:cs typeface="Arial" pitchFamily="34" charset="0"/>
                <a:sym typeface="Calibri"/>
              </a:rPr>
              <a:t>Data profiling en sistemas origen (estadísticas)</a:t>
            </a:r>
          </a:p>
          <a:p>
            <a:pPr marL="171450" indent="-130175" defTabSz="825500">
              <a:spcAft>
                <a:spcPts val="300"/>
              </a:spcAft>
              <a:buFont typeface="Wingdings" pitchFamily="2" charset="2"/>
              <a:buChar char="§"/>
            </a:pPr>
            <a:r>
              <a:rPr lang="es-ES" sz="800" kern="0" dirty="0">
                <a:solidFill>
                  <a:srgbClr val="323232"/>
                </a:solidFill>
                <a:latin typeface="Avenir 35" panose="00000400000000000000" pitchFamily="2" charset="0"/>
                <a:cs typeface="Arial" pitchFamily="34" charset="0"/>
                <a:sym typeface="Calibri"/>
              </a:rPr>
              <a:t>Actualización del inventario de reglas de calidad </a:t>
            </a:r>
          </a:p>
          <a:p>
            <a:pPr marL="171450" indent="-130175" defTabSz="825500">
              <a:spcAft>
                <a:spcPts val="300"/>
              </a:spcAft>
              <a:buFont typeface="Wingdings" pitchFamily="2" charset="2"/>
              <a:buChar char="§"/>
            </a:pPr>
            <a:r>
              <a:rPr lang="es-ES" sz="800" kern="0" dirty="0">
                <a:solidFill>
                  <a:srgbClr val="323232"/>
                </a:solidFill>
                <a:latin typeface="Avenir 35" panose="00000400000000000000" pitchFamily="2" charset="0"/>
                <a:cs typeface="Arial" pitchFamily="34" charset="0"/>
                <a:sym typeface="Calibri"/>
              </a:rPr>
              <a:t>Modelado de datos y generación del catálogo de traducciones</a:t>
            </a:r>
          </a:p>
          <a:p>
            <a:pPr marL="171450" indent="-130175" defTabSz="825500">
              <a:spcAft>
                <a:spcPts val="300"/>
              </a:spcAft>
              <a:buFont typeface="Wingdings" pitchFamily="2" charset="2"/>
              <a:buChar char="§"/>
            </a:pPr>
            <a:r>
              <a:rPr lang="es-ES" sz="800" kern="0" dirty="0">
                <a:solidFill>
                  <a:srgbClr val="323232"/>
                </a:solidFill>
                <a:latin typeface="Avenir 35" panose="00000400000000000000" pitchFamily="2" charset="0"/>
                <a:cs typeface="Arial" pitchFamily="34" charset="0"/>
                <a:sym typeface="Calibri"/>
              </a:rPr>
              <a:t>Construcción del proceso ETL</a:t>
            </a:r>
          </a:p>
          <a:p>
            <a:pPr marL="171450" indent="-130175" defTabSz="825500">
              <a:spcAft>
                <a:spcPts val="300"/>
              </a:spcAft>
              <a:buFont typeface="Wingdings" pitchFamily="2" charset="2"/>
              <a:buChar char="§"/>
            </a:pPr>
            <a:r>
              <a:rPr lang="es-ES" sz="800" kern="0" dirty="0">
                <a:solidFill>
                  <a:srgbClr val="323232"/>
                </a:solidFill>
                <a:latin typeface="Avenir 35" panose="00000400000000000000" pitchFamily="2" charset="0"/>
                <a:cs typeface="Arial" pitchFamily="34" charset="0"/>
                <a:sym typeface="Calibri"/>
              </a:rPr>
              <a:t>Implementación de las reglas de calidad  y monitorización</a:t>
            </a:r>
          </a:p>
          <a:p>
            <a:pPr marL="171450" indent="-130175" defTabSz="825500">
              <a:spcAft>
                <a:spcPts val="300"/>
              </a:spcAft>
              <a:buFont typeface="Wingdings" pitchFamily="2" charset="2"/>
              <a:buChar char="§"/>
            </a:pPr>
            <a:r>
              <a:rPr lang="es-ES" sz="800" kern="0" dirty="0">
                <a:solidFill>
                  <a:srgbClr val="323232"/>
                </a:solidFill>
                <a:latin typeface="Avenir 35" panose="00000400000000000000" pitchFamily="2" charset="0"/>
                <a:cs typeface="Arial" pitchFamily="34" charset="0"/>
                <a:sym typeface="Calibri"/>
              </a:rPr>
              <a:t>Implementación del cálculo del scoring diario de clientes</a:t>
            </a:r>
          </a:p>
          <a:p>
            <a:pPr marL="171450" indent="-130175" defTabSz="825500">
              <a:spcAft>
                <a:spcPts val="300"/>
              </a:spcAft>
              <a:buFont typeface="Wingdings" pitchFamily="2" charset="2"/>
              <a:buChar char="§"/>
            </a:pPr>
            <a:r>
              <a:rPr lang="es-ES" sz="800" kern="0" dirty="0">
                <a:solidFill>
                  <a:srgbClr val="323232"/>
                </a:solidFill>
                <a:latin typeface="Avenir 35" panose="00000400000000000000" pitchFamily="2" charset="0"/>
                <a:cs typeface="Arial" pitchFamily="34" charset="0"/>
                <a:sym typeface="Calibri"/>
              </a:rPr>
              <a:t>Implementar trazabilidad del dato</a:t>
            </a:r>
          </a:p>
          <a:p>
            <a:pPr marL="171450" indent="-130175" defTabSz="825500">
              <a:spcAft>
                <a:spcPts val="300"/>
              </a:spcAft>
              <a:buFont typeface="Wingdings" pitchFamily="2" charset="2"/>
              <a:buChar char="§"/>
            </a:pPr>
            <a:r>
              <a:rPr lang="es-ES" sz="800" kern="0" dirty="0">
                <a:solidFill>
                  <a:srgbClr val="323232"/>
                </a:solidFill>
                <a:latin typeface="Avenir 35" panose="00000400000000000000" pitchFamily="2" charset="0"/>
                <a:cs typeface="Arial" pitchFamily="34" charset="0"/>
                <a:sym typeface="Calibri"/>
              </a:rPr>
              <a:t>Implementar seguridad del dato según LOPD</a:t>
            </a:r>
          </a:p>
          <a:p>
            <a:pPr marL="171450" indent="-130175" defTabSz="825500">
              <a:spcAft>
                <a:spcPts val="300"/>
              </a:spcAft>
              <a:buFont typeface="Wingdings" pitchFamily="2" charset="2"/>
              <a:buChar char="§"/>
            </a:pPr>
            <a:r>
              <a:rPr lang="es-ES" sz="800" kern="0" dirty="0">
                <a:solidFill>
                  <a:srgbClr val="323232"/>
                </a:solidFill>
                <a:latin typeface="Avenir 35" panose="00000400000000000000" pitchFamily="2" charset="0"/>
                <a:cs typeface="Arial" pitchFamily="34" charset="0"/>
                <a:sym typeface="Calibri"/>
              </a:rPr>
              <a:t>Ejecución de cargas para los datos maestros y para el histórico</a:t>
            </a:r>
          </a:p>
          <a:p>
            <a:pPr marL="171450" indent="-130175" defTabSz="825500">
              <a:spcAft>
                <a:spcPts val="300"/>
              </a:spcAft>
              <a:buFont typeface="Wingdings" pitchFamily="2" charset="2"/>
              <a:buChar char="§"/>
            </a:pPr>
            <a:r>
              <a:rPr lang="es-ES" sz="800" kern="0" dirty="0">
                <a:solidFill>
                  <a:srgbClr val="323232"/>
                </a:solidFill>
                <a:latin typeface="Avenir 35" panose="00000400000000000000" pitchFamily="2" charset="0"/>
                <a:cs typeface="Arial" pitchFamily="34" charset="0"/>
                <a:sym typeface="Calibri"/>
              </a:rPr>
              <a:t>Ejecución de pruebas integrales, </a:t>
            </a:r>
          </a:p>
          <a:p>
            <a:pPr marL="171450" indent="-171450" defTabSz="825500">
              <a:spcAft>
                <a:spcPts val="600"/>
              </a:spcAft>
              <a:buFont typeface="Wingdings" pitchFamily="2" charset="2"/>
              <a:buChar char="§"/>
            </a:pPr>
            <a:endParaRPr lang="es-ES" sz="800" kern="0" dirty="0">
              <a:solidFill>
                <a:srgbClr val="323232"/>
              </a:solidFill>
              <a:latin typeface="Avenir 35" panose="00000400000000000000" pitchFamily="2" charset="0"/>
              <a:cs typeface="Arial" pitchFamily="34" charset="0"/>
              <a:sym typeface="Calibri"/>
            </a:endParaRPr>
          </a:p>
        </p:txBody>
      </p:sp>
      <p:sp>
        <p:nvSpPr>
          <p:cNvPr id="44" name="36 Rectángulo"/>
          <p:cNvSpPr/>
          <p:nvPr/>
        </p:nvSpPr>
        <p:spPr>
          <a:xfrm>
            <a:off x="6159136" y="2204864"/>
            <a:ext cx="1656184" cy="3950090"/>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0" bIns="72000" rtlCol="0" anchor="t"/>
          <a:lstStyle/>
          <a:p>
            <a:pPr marL="171450" indent="-171450" defTabSz="825500">
              <a:spcAft>
                <a:spcPts val="300"/>
              </a:spcAft>
              <a:buFont typeface="Wingdings" pitchFamily="2" charset="2"/>
              <a:buChar char="§"/>
            </a:pPr>
            <a:r>
              <a:rPr lang="es-ES" sz="900" kern="0" dirty="0">
                <a:solidFill>
                  <a:srgbClr val="323232"/>
                </a:solidFill>
                <a:latin typeface="Avenir 65" panose="02000600000000000000" pitchFamily="2" charset="0"/>
                <a:cs typeface="Arial" pitchFamily="34" charset="0"/>
                <a:sym typeface="Calibri"/>
              </a:rPr>
              <a:t>Pase a producción </a:t>
            </a:r>
            <a:r>
              <a:rPr lang="es-ES" sz="900" kern="0" dirty="0">
                <a:solidFill>
                  <a:srgbClr val="323232"/>
                </a:solidFill>
                <a:latin typeface="Avenir 35" panose="00000400000000000000" pitchFamily="2" charset="0"/>
                <a:cs typeface="Arial" pitchFamily="34" charset="0"/>
                <a:sym typeface="Calibri"/>
              </a:rPr>
              <a:t>de los componentes desarrollados para la integración</a:t>
            </a:r>
          </a:p>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Ejecución de las cargas iniciales de datos maestros y su actividad en producción</a:t>
            </a:r>
          </a:p>
          <a:p>
            <a:pPr marL="171450" indent="-171450" defTabSz="825500">
              <a:spcAft>
                <a:spcPts val="300"/>
              </a:spcAft>
              <a:buFont typeface="Wingdings" pitchFamily="2" charset="2"/>
              <a:buChar char="§"/>
            </a:pPr>
            <a:r>
              <a:rPr lang="es-ES" sz="900" kern="0" dirty="0">
                <a:solidFill>
                  <a:srgbClr val="323232"/>
                </a:solidFill>
                <a:latin typeface="Avenir 65" panose="02000600000000000000" pitchFamily="2" charset="0"/>
                <a:cs typeface="Arial" pitchFamily="34" charset="0"/>
                <a:sym typeface="Calibri"/>
              </a:rPr>
              <a:t>Oficialización del Go-Live</a:t>
            </a:r>
          </a:p>
          <a:p>
            <a:pPr marL="171450" indent="-171450" defTabSz="825500">
              <a:spcAft>
                <a:spcPts val="300"/>
              </a:spcAft>
              <a:buFont typeface="Wingdings" pitchFamily="2" charset="2"/>
              <a:buChar char="§"/>
            </a:pPr>
            <a:r>
              <a:rPr lang="es-ES" sz="900" kern="0" dirty="0">
                <a:solidFill>
                  <a:srgbClr val="323232"/>
                </a:solidFill>
                <a:latin typeface="Avenir 65" panose="02000600000000000000" pitchFamily="2" charset="0"/>
                <a:cs typeface="Arial" pitchFamily="34" charset="0"/>
                <a:sym typeface="Calibri"/>
              </a:rPr>
              <a:t>Ejecución de Scripts de Analytics (Modelo de datos).</a:t>
            </a:r>
          </a:p>
          <a:p>
            <a:pPr marL="171450" indent="-171450" defTabSz="825500">
              <a:spcAft>
                <a:spcPts val="300"/>
              </a:spcAft>
              <a:buFont typeface="Wingdings" pitchFamily="2" charset="2"/>
              <a:buChar char="§"/>
            </a:pPr>
            <a:endParaRPr lang="es-ES" sz="900" kern="0" dirty="0">
              <a:solidFill>
                <a:srgbClr val="323232"/>
              </a:solidFill>
              <a:latin typeface="Avenir 35" panose="00000400000000000000" pitchFamily="2" charset="0"/>
              <a:cs typeface="Arial" pitchFamily="34" charset="0"/>
              <a:sym typeface="Calibri"/>
            </a:endParaRPr>
          </a:p>
          <a:p>
            <a:pPr marL="171450" indent="-171450" defTabSz="825500">
              <a:spcAft>
                <a:spcPts val="300"/>
              </a:spcAft>
              <a:buFont typeface="Wingdings" pitchFamily="2" charset="2"/>
              <a:buChar char="§"/>
            </a:pPr>
            <a:endParaRPr lang="es-ES" sz="900" kern="0" dirty="0">
              <a:solidFill>
                <a:srgbClr val="323232"/>
              </a:solidFill>
              <a:latin typeface="Avenir 35" panose="00000400000000000000" pitchFamily="2" charset="0"/>
              <a:cs typeface="Arial" pitchFamily="34" charset="0"/>
              <a:sym typeface="Calibri"/>
            </a:endParaRPr>
          </a:p>
        </p:txBody>
      </p:sp>
      <p:sp>
        <p:nvSpPr>
          <p:cNvPr id="4" name="3 Rectángulo"/>
          <p:cNvSpPr/>
          <p:nvPr/>
        </p:nvSpPr>
        <p:spPr>
          <a:xfrm>
            <a:off x="8019765" y="2204864"/>
            <a:ext cx="1702152" cy="784830"/>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0" bIns="72000" rtlCol="0" anchor="t"/>
          <a:lstStyle/>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Configuración de las cargas incrementales en producción</a:t>
            </a:r>
          </a:p>
          <a:p>
            <a:pPr marL="171450" indent="-171450" defTabSz="825500">
              <a:spcAft>
                <a:spcPts val="300"/>
              </a:spcAft>
              <a:buFont typeface="Wingdings" pitchFamily="2" charset="2"/>
              <a:buChar char="§"/>
            </a:pPr>
            <a:r>
              <a:rPr lang="es-ES" sz="900" kern="0" dirty="0">
                <a:solidFill>
                  <a:srgbClr val="323232"/>
                </a:solidFill>
                <a:latin typeface="Avenir 35" panose="00000400000000000000" pitchFamily="2" charset="0"/>
                <a:cs typeface="Arial" pitchFamily="34" charset="0"/>
                <a:sym typeface="Calibri"/>
              </a:rPr>
              <a:t>Traspaso al servicio de mantenimiento</a:t>
            </a:r>
          </a:p>
          <a:p>
            <a:pPr marL="171450" indent="-171450" defTabSz="825500">
              <a:spcAft>
                <a:spcPts val="300"/>
              </a:spcAft>
              <a:buFont typeface="Wingdings" pitchFamily="2" charset="2"/>
              <a:buChar char="§"/>
            </a:pPr>
            <a:endParaRPr lang="es-ES" sz="900" kern="0" dirty="0">
              <a:solidFill>
                <a:srgbClr val="323232"/>
              </a:solidFill>
              <a:latin typeface="Avenir 35" panose="00000400000000000000" pitchFamily="2" charset="0"/>
              <a:cs typeface="Arial" pitchFamily="34" charset="0"/>
              <a:sym typeface="Calibri"/>
            </a:endParaRPr>
          </a:p>
        </p:txBody>
      </p:sp>
      <p:sp>
        <p:nvSpPr>
          <p:cNvPr id="21" name="Chevron 121"/>
          <p:cNvSpPr/>
          <p:nvPr/>
        </p:nvSpPr>
        <p:spPr>
          <a:xfrm>
            <a:off x="8085297" y="1522450"/>
            <a:ext cx="1800000" cy="660142"/>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Traspaso a Modelo Servicio</a:t>
            </a:r>
            <a:endParaRPr lang="en-US" sz="1000" kern="0" dirty="0">
              <a:solidFill>
                <a:srgbClr val="FFFFFF"/>
              </a:solidFill>
              <a:latin typeface="Avenir 35" panose="00000400000000000000" pitchFamily="2" charset="0"/>
              <a:cs typeface="Arial" pitchFamily="34" charset="0"/>
            </a:endParaRPr>
          </a:p>
        </p:txBody>
      </p:sp>
      <p:sp>
        <p:nvSpPr>
          <p:cNvPr id="20" name="AutoShape 4"/>
          <p:cNvSpPr>
            <a:spLocks noChangeArrowheads="1"/>
          </p:cNvSpPr>
          <p:nvPr/>
        </p:nvSpPr>
        <p:spPr bwMode="auto">
          <a:xfrm>
            <a:off x="632527" y="832079"/>
            <a:ext cx="8660261" cy="432048"/>
          </a:xfrm>
          <a:prstGeom prst="roundRect">
            <a:avLst>
              <a:gd name="adj" fmla="val 12500"/>
            </a:avLst>
          </a:prstGeom>
        </p:spPr>
        <p:txBody>
          <a:bodyPr lIns="92583" tIns="46292" rIns="92583" bIns="46292" anchor="ctr">
            <a:noAutofit/>
          </a:bodyPr>
          <a:lstStyle/>
          <a:p>
            <a:pPr algn="ctr"/>
            <a:r>
              <a:rPr lang="es-ES" sz="1000" dirty="0">
                <a:solidFill>
                  <a:srgbClr val="505050"/>
                </a:solidFill>
                <a:latin typeface="Avenir 35" panose="00000400000000000000" pitchFamily="2" charset="0"/>
                <a:cs typeface="Arial" panose="020B0604020202020204" pitchFamily="34" charset="0"/>
              </a:rPr>
              <a:t>Proponemos una metodología de integración de los diferentes sistemas &amp; ficheros  detallada en las siguientes fases. En dicha integración vincularemos los entregables desarrollados en la fase anterior.</a:t>
            </a:r>
          </a:p>
        </p:txBody>
      </p:sp>
      <p:sp>
        <p:nvSpPr>
          <p:cNvPr id="24" name="19 Rectángulo"/>
          <p:cNvSpPr/>
          <p:nvPr/>
        </p:nvSpPr>
        <p:spPr bwMode="auto">
          <a:xfrm>
            <a:off x="129967" y="4941168"/>
            <a:ext cx="288000" cy="1800200"/>
          </a:xfrm>
          <a:prstGeom prst="rect">
            <a:avLst/>
          </a:prstGeom>
          <a:solidFill>
            <a:srgbClr val="4BACC6"/>
          </a:solidFill>
          <a:ln w="12700" cap="flat" cmpd="sng" algn="ctr">
            <a:noFill/>
            <a:prstDash val="solid"/>
            <a:round/>
            <a:headEnd type="none" w="med" len="med"/>
            <a:tailEnd type="none" w="med" len="med"/>
          </a:ln>
          <a:effectLst/>
        </p:spPr>
        <p:txBody>
          <a:bodyPr vert="vert270" lIns="91350" tIns="45670" rIns="91350" bIns="45670" anchor="ctr"/>
          <a:lstStyle/>
          <a:p>
            <a:pPr algn="ctr" defTabSz="915052" eaLnBrk="0" hangingPunct="0">
              <a:spcBef>
                <a:spcPts val="300"/>
              </a:spcBef>
              <a:buClr>
                <a:srgbClr val="9AAE04"/>
              </a:buClr>
            </a:pPr>
            <a:r>
              <a:rPr lang="es-ES" sz="1050" kern="0" dirty="0">
                <a:solidFill>
                  <a:schemeClr val="bg1"/>
                </a:solidFill>
                <a:latin typeface="Avenir 35" panose="00000400000000000000" pitchFamily="2" charset="0"/>
                <a:cs typeface="Arial" pitchFamily="34" charset="0"/>
              </a:rPr>
              <a:t>Entregables</a:t>
            </a:r>
          </a:p>
        </p:txBody>
      </p:sp>
      <p:graphicFrame>
        <p:nvGraphicFramePr>
          <p:cNvPr id="25" name="15 Tabla"/>
          <p:cNvGraphicFramePr>
            <a:graphicFrameLocks noGrp="1"/>
          </p:cNvGraphicFramePr>
          <p:nvPr>
            <p:extLst>
              <p:ext uri="{D42A27DB-BD31-4B8C-83A1-F6EECF244321}">
                <p14:modId xmlns:p14="http://schemas.microsoft.com/office/powerpoint/2010/main" val="329419615"/>
              </p:ext>
            </p:extLst>
          </p:nvPr>
        </p:nvGraphicFramePr>
        <p:xfrm>
          <a:off x="445774" y="5191364"/>
          <a:ext cx="1355054" cy="720000"/>
        </p:xfrm>
        <a:graphic>
          <a:graphicData uri="http://schemas.openxmlformats.org/drawingml/2006/table">
            <a:tbl>
              <a:tblPr firstRow="1" bandRow="1">
                <a:tableStyleId>{2D5ABB26-0587-4C30-8999-92F81FD0307C}</a:tableStyleId>
              </a:tblPr>
              <a:tblGrid>
                <a:gridCol w="1355054">
                  <a:extLst>
                    <a:ext uri="{9D8B030D-6E8A-4147-A177-3AD203B41FA5}">
                      <a16:colId xmlns:a16="http://schemas.microsoft.com/office/drawing/2014/main" val="20000"/>
                    </a:ext>
                  </a:extLst>
                </a:gridCol>
              </a:tblGrid>
              <a:tr h="360000">
                <a:tc>
                  <a:txBody>
                    <a:bodyPr/>
                    <a:lstStyle/>
                    <a:p>
                      <a:pPr marL="171450" indent="-171450" algn="l">
                        <a:spcAft>
                          <a:spcPts val="600"/>
                        </a:spcAft>
                        <a:buFont typeface="Wingdings" panose="05000000000000000000" pitchFamily="2" charset="2"/>
                        <a:buChar char="§"/>
                      </a:pPr>
                      <a:r>
                        <a:rPr lang="es-ES" sz="800" dirty="0">
                          <a:latin typeface="Avenir 35" panose="00000400000000000000" pitchFamily="2" charset="0"/>
                          <a:cs typeface="Arial" panose="020B0604020202020204" pitchFamily="34" charset="0"/>
                        </a:rPr>
                        <a:t>Plan de Gestión y Marco</a:t>
                      </a:r>
                      <a:r>
                        <a:rPr lang="es-ES" sz="800" baseline="0" dirty="0">
                          <a:latin typeface="Avenir 35" panose="00000400000000000000" pitchFamily="2" charset="0"/>
                          <a:cs typeface="Arial" panose="020B0604020202020204" pitchFamily="34" charset="0"/>
                        </a:rPr>
                        <a:t> </a:t>
                      </a:r>
                      <a:r>
                        <a:rPr lang="es-ES" sz="800" kern="1200" baseline="0" dirty="0">
                          <a:solidFill>
                            <a:schemeClr val="tx1"/>
                          </a:solidFill>
                          <a:latin typeface="Avenir 35" panose="00000400000000000000" pitchFamily="2" charset="0"/>
                          <a:ea typeface="+mn-ea"/>
                          <a:cs typeface="Arial" panose="020B0604020202020204" pitchFamily="34" charset="0"/>
                        </a:rPr>
                        <a:t>del</a:t>
                      </a:r>
                      <a:r>
                        <a:rPr lang="es-ES" sz="800" baseline="0" dirty="0">
                          <a:latin typeface="Avenir 35" panose="00000400000000000000" pitchFamily="2" charset="0"/>
                          <a:cs typeface="Arial" panose="020B0604020202020204" pitchFamily="34" charset="0"/>
                        </a:rPr>
                        <a:t> Proyecto</a:t>
                      </a:r>
                      <a:endParaRPr lang="es-ES" sz="800" dirty="0">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0000">
                <a:tc>
                  <a:txBody>
                    <a:bodyPr/>
                    <a:lstStyle/>
                    <a:p>
                      <a:pPr marL="171450" indent="-171450" algn="l">
                        <a:spcAft>
                          <a:spcPts val="600"/>
                        </a:spcAft>
                        <a:buFont typeface="Wingdings" panose="05000000000000000000" pitchFamily="2" charset="2"/>
                        <a:buChar char="§"/>
                      </a:pPr>
                      <a:r>
                        <a:rPr lang="es-ES" sz="800" dirty="0">
                          <a:latin typeface="Avenir 35" panose="00000400000000000000" pitchFamily="2" charset="0"/>
                          <a:cs typeface="Arial" panose="020B0604020202020204" pitchFamily="34" charset="0"/>
                        </a:rPr>
                        <a:t>Planificación del proyecto de Integración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graphicFrame>
        <p:nvGraphicFramePr>
          <p:cNvPr id="26" name="15 Tabla"/>
          <p:cNvGraphicFramePr>
            <a:graphicFrameLocks noGrp="1"/>
          </p:cNvGraphicFramePr>
          <p:nvPr>
            <p:extLst>
              <p:ext uri="{D42A27DB-BD31-4B8C-83A1-F6EECF244321}">
                <p14:modId xmlns:p14="http://schemas.microsoft.com/office/powerpoint/2010/main" val="3875902760"/>
              </p:ext>
            </p:extLst>
          </p:nvPr>
        </p:nvGraphicFramePr>
        <p:xfrm>
          <a:off x="2281700" y="5140088"/>
          <a:ext cx="1671734" cy="1723200"/>
        </p:xfrm>
        <a:graphic>
          <a:graphicData uri="http://schemas.openxmlformats.org/drawingml/2006/table">
            <a:tbl>
              <a:tblPr firstRow="1" bandRow="1">
                <a:tableStyleId>{2D5ABB26-0587-4C30-8999-92F81FD0307C}</a:tableStyleId>
              </a:tblPr>
              <a:tblGrid>
                <a:gridCol w="1671734">
                  <a:extLst>
                    <a:ext uri="{9D8B030D-6E8A-4147-A177-3AD203B41FA5}">
                      <a16:colId xmlns:a16="http://schemas.microsoft.com/office/drawing/2014/main" val="20000"/>
                    </a:ext>
                  </a:extLst>
                </a:gridCol>
              </a:tblGrid>
              <a:tr h="0">
                <a:tc>
                  <a:txBody>
                    <a:bodyPr/>
                    <a:lstStyle/>
                    <a:p>
                      <a:pPr marL="171450" indent="-171450" algn="l">
                        <a:spcAft>
                          <a:spcPts val="600"/>
                        </a:spcAft>
                        <a:buFont typeface="Wingdings" panose="05000000000000000000" pitchFamily="2" charset="2"/>
                        <a:buChar char="§"/>
                      </a:pPr>
                      <a:r>
                        <a:rPr lang="es-ES" sz="800" dirty="0">
                          <a:latin typeface="Avenir 35" panose="00000400000000000000" pitchFamily="2" charset="0"/>
                          <a:cs typeface="Arial" panose="020B0604020202020204" pitchFamily="34" charset="0"/>
                        </a:rPr>
                        <a:t>Fichas de Definición</a:t>
                      </a:r>
                      <a:r>
                        <a:rPr lang="es-ES" sz="800" baseline="0" dirty="0">
                          <a:latin typeface="Avenir 35" panose="00000400000000000000" pitchFamily="2" charset="0"/>
                          <a:cs typeface="Arial" panose="020B0604020202020204" pitchFamily="34" charset="0"/>
                        </a:rPr>
                        <a:t> de Maestros</a:t>
                      </a:r>
                      <a:endParaRPr lang="es-ES" sz="800" dirty="0">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0">
                <a:tc>
                  <a:txBody>
                    <a:bodyPr/>
                    <a:lstStyle/>
                    <a:p>
                      <a:pPr marL="171450" indent="-171450">
                        <a:spcAft>
                          <a:spcPts val="600"/>
                        </a:spcAft>
                        <a:buFont typeface="Wingdings" panose="05000000000000000000" pitchFamily="2" charset="2"/>
                        <a:buChar char="§"/>
                      </a:pPr>
                      <a:r>
                        <a:rPr lang="es-ES" sz="800" dirty="0">
                          <a:latin typeface="Avenir 35" panose="00000400000000000000" pitchFamily="2" charset="0"/>
                          <a:cs typeface="Arial" panose="020B0604020202020204" pitchFamily="34" charset="0"/>
                        </a:rPr>
                        <a:t>Inventario de Reglas de Calidad</a:t>
                      </a:r>
                      <a:endParaRPr lang="es-ES" sz="800" baseline="0" dirty="0">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0">
                <a:tc>
                  <a:txBody>
                    <a:bodyPr/>
                    <a:lstStyle/>
                    <a:p>
                      <a:pPr marL="171450" indent="-171450">
                        <a:spcAft>
                          <a:spcPts val="600"/>
                        </a:spcAft>
                        <a:buFont typeface="Wingdings" panose="05000000000000000000" pitchFamily="2" charset="2"/>
                        <a:buChar char="§"/>
                      </a:pPr>
                      <a:r>
                        <a:rPr lang="es-ES" sz="800" baseline="0" dirty="0">
                          <a:latin typeface="Avenir 35" panose="00000400000000000000" pitchFamily="2" charset="0"/>
                          <a:cs typeface="Arial" panose="020B0604020202020204" pitchFamily="34" charset="0"/>
                        </a:rPr>
                        <a:t>Definición Técnica de Interfaces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0">
                <a:tc>
                  <a:txBody>
                    <a:bodyPr/>
                    <a:lstStyle/>
                    <a:p>
                      <a:pPr marL="171450" indent="-171450">
                        <a:spcAft>
                          <a:spcPts val="600"/>
                        </a:spcAft>
                        <a:buFont typeface="Wingdings" panose="05000000000000000000" pitchFamily="2" charset="2"/>
                        <a:buChar char="§"/>
                      </a:pPr>
                      <a:r>
                        <a:rPr lang="es-ES" sz="800" baseline="0" dirty="0">
                          <a:latin typeface="Avenir 35" panose="00000400000000000000" pitchFamily="2" charset="0"/>
                          <a:cs typeface="Arial" panose="020B0604020202020204" pitchFamily="34" charset="0"/>
                        </a:rPr>
                        <a:t>Diseño Técnico y Funcional Preliminar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04000">
                <a:tc>
                  <a:txBody>
                    <a:bodyPr/>
                    <a:lstStyle/>
                    <a:p>
                      <a:pPr marL="171450" indent="-171450">
                        <a:spcAft>
                          <a:spcPts val="600"/>
                        </a:spcAft>
                        <a:buFont typeface="Wingdings" panose="05000000000000000000" pitchFamily="2" charset="2"/>
                        <a:buChar char="§"/>
                      </a:pPr>
                      <a:r>
                        <a:rPr lang="es-ES" sz="800" baseline="0" dirty="0">
                          <a:latin typeface="Avenir 35" panose="00000400000000000000" pitchFamily="2" charset="0"/>
                          <a:cs typeface="Arial" panose="020B0604020202020204" pitchFamily="34" charset="0"/>
                        </a:rPr>
                        <a:t>Plan de Pruebas Integrales, Rendimiento &amp; Aceptación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aphicFrame>
        <p:nvGraphicFramePr>
          <p:cNvPr id="29" name="15 Tabla"/>
          <p:cNvGraphicFramePr>
            <a:graphicFrameLocks noGrp="1"/>
          </p:cNvGraphicFramePr>
          <p:nvPr>
            <p:extLst>
              <p:ext uri="{D42A27DB-BD31-4B8C-83A1-F6EECF244321}">
                <p14:modId xmlns:p14="http://schemas.microsoft.com/office/powerpoint/2010/main" val="3539058430"/>
              </p:ext>
            </p:extLst>
          </p:nvPr>
        </p:nvGraphicFramePr>
        <p:xfrm>
          <a:off x="4194456" y="5140088"/>
          <a:ext cx="1459349" cy="1152048"/>
        </p:xfrm>
        <a:graphic>
          <a:graphicData uri="http://schemas.openxmlformats.org/drawingml/2006/table">
            <a:tbl>
              <a:tblPr firstRow="1" bandRow="1">
                <a:tableStyleId>{2D5ABB26-0587-4C30-8999-92F81FD0307C}</a:tableStyleId>
              </a:tblPr>
              <a:tblGrid>
                <a:gridCol w="1459349">
                  <a:extLst>
                    <a:ext uri="{9D8B030D-6E8A-4147-A177-3AD203B41FA5}">
                      <a16:colId xmlns:a16="http://schemas.microsoft.com/office/drawing/2014/main" val="20000"/>
                    </a:ext>
                  </a:extLst>
                </a:gridCol>
              </a:tblGrid>
              <a:tr h="360000">
                <a:tc>
                  <a:txBody>
                    <a:bodyPr/>
                    <a:lstStyle/>
                    <a:p>
                      <a:pPr marL="171450" indent="-171450" algn="l">
                        <a:spcAft>
                          <a:spcPts val="600"/>
                        </a:spcAft>
                        <a:buFont typeface="Wingdings" panose="05000000000000000000" pitchFamily="2" charset="2"/>
                        <a:buChar char="§"/>
                      </a:pPr>
                      <a:r>
                        <a:rPr lang="es-ES" sz="800" dirty="0">
                          <a:latin typeface="Avenir 35" panose="00000400000000000000" pitchFamily="2" charset="0"/>
                          <a:cs typeface="Arial" panose="020B0604020202020204" pitchFamily="34" charset="0"/>
                        </a:rPr>
                        <a:t>Diseño Técnico Final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0000">
                <a:tc>
                  <a:txBody>
                    <a:bodyPr/>
                    <a:lstStyle/>
                    <a:p>
                      <a:pPr marL="171450" indent="-171450">
                        <a:spcAft>
                          <a:spcPts val="600"/>
                        </a:spcAft>
                        <a:buFont typeface="Wingdings" panose="05000000000000000000" pitchFamily="2" charset="2"/>
                        <a:buChar char="§"/>
                      </a:pPr>
                      <a:r>
                        <a:rPr lang="es-ES" sz="800" dirty="0">
                          <a:latin typeface="Avenir 35" panose="00000400000000000000" pitchFamily="2" charset="0"/>
                          <a:cs typeface="Arial" panose="020B0604020202020204" pitchFamily="34" charset="0"/>
                        </a:rPr>
                        <a:t>Inventario de  reglas</a:t>
                      </a:r>
                      <a:r>
                        <a:rPr lang="es-ES" sz="800" baseline="0" dirty="0">
                          <a:latin typeface="Avenir 35" panose="00000400000000000000" pitchFamily="2" charset="0"/>
                          <a:cs typeface="Arial" panose="020B0604020202020204" pitchFamily="34" charset="0"/>
                        </a:rPr>
                        <a:t> de Calidad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32048">
                <a:tc>
                  <a:txBody>
                    <a:bodyPr/>
                    <a:lstStyle/>
                    <a:p>
                      <a:pPr marL="171450" indent="-171450">
                        <a:spcAft>
                          <a:spcPts val="600"/>
                        </a:spcAft>
                        <a:buFont typeface="Wingdings" panose="05000000000000000000" pitchFamily="2" charset="2"/>
                        <a:buChar char="§"/>
                      </a:pPr>
                      <a:r>
                        <a:rPr lang="es-ES" sz="800" baseline="0" dirty="0">
                          <a:latin typeface="Avenir 35" panose="00000400000000000000" pitchFamily="2" charset="0"/>
                          <a:cs typeface="Arial" panose="020B0604020202020204" pitchFamily="34" charset="0"/>
                        </a:rPr>
                        <a:t>Plan de Despliegue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35" name="15 Tabla"/>
          <p:cNvGraphicFramePr>
            <a:graphicFrameLocks noGrp="1"/>
          </p:cNvGraphicFramePr>
          <p:nvPr>
            <p:extLst>
              <p:ext uri="{D42A27DB-BD31-4B8C-83A1-F6EECF244321}">
                <p14:modId xmlns:p14="http://schemas.microsoft.com/office/powerpoint/2010/main" val="1653201404"/>
              </p:ext>
            </p:extLst>
          </p:nvPr>
        </p:nvGraphicFramePr>
        <p:xfrm>
          <a:off x="6105129" y="5140088"/>
          <a:ext cx="1459349" cy="1080000"/>
        </p:xfrm>
        <a:graphic>
          <a:graphicData uri="http://schemas.openxmlformats.org/drawingml/2006/table">
            <a:tbl>
              <a:tblPr firstRow="1" bandRow="1">
                <a:tableStyleId>{2D5ABB26-0587-4C30-8999-92F81FD0307C}</a:tableStyleId>
              </a:tblPr>
              <a:tblGrid>
                <a:gridCol w="1459349">
                  <a:extLst>
                    <a:ext uri="{9D8B030D-6E8A-4147-A177-3AD203B41FA5}">
                      <a16:colId xmlns:a16="http://schemas.microsoft.com/office/drawing/2014/main" val="20000"/>
                    </a:ext>
                  </a:extLst>
                </a:gridCol>
              </a:tblGrid>
              <a:tr h="360000">
                <a:tc>
                  <a:txBody>
                    <a:bodyPr/>
                    <a:lstStyle/>
                    <a:p>
                      <a:pPr marL="171450" indent="-171450" algn="l">
                        <a:spcAft>
                          <a:spcPts val="600"/>
                        </a:spcAft>
                        <a:buFont typeface="Wingdings" panose="05000000000000000000" pitchFamily="2" charset="2"/>
                        <a:buChar char="§"/>
                      </a:pPr>
                      <a:r>
                        <a:rPr lang="es-ES" sz="800" dirty="0">
                          <a:latin typeface="Avenir 35" panose="00000400000000000000" pitchFamily="2" charset="0"/>
                          <a:cs typeface="Arial" panose="020B0604020202020204" pitchFamily="34" charset="0"/>
                        </a:rPr>
                        <a:t>Manual de Operaciones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0000">
                <a:tc>
                  <a:txBody>
                    <a:bodyPr/>
                    <a:lstStyle/>
                    <a:p>
                      <a:pPr marL="171450" indent="-171450">
                        <a:spcAft>
                          <a:spcPts val="600"/>
                        </a:spcAft>
                        <a:buFont typeface="Wingdings" panose="05000000000000000000" pitchFamily="2" charset="2"/>
                        <a:buChar char="§"/>
                      </a:pPr>
                      <a:r>
                        <a:rPr lang="es-ES" sz="800" dirty="0">
                          <a:latin typeface="Avenir 35" panose="00000400000000000000" pitchFamily="2" charset="0"/>
                          <a:cs typeface="Arial" panose="020B0604020202020204" pitchFamily="34" charset="0"/>
                        </a:rPr>
                        <a:t>Plan de Mantenimiento &amp; Soporte</a:t>
                      </a:r>
                      <a:endParaRPr lang="es-ES" sz="800" baseline="0" dirty="0">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60000">
                <a:tc>
                  <a:txBody>
                    <a:bodyPr/>
                    <a:lstStyle/>
                    <a:p>
                      <a:pPr marL="171450" indent="-171450">
                        <a:spcAft>
                          <a:spcPts val="600"/>
                        </a:spcAft>
                        <a:buFont typeface="Wingdings" panose="05000000000000000000" pitchFamily="2" charset="2"/>
                        <a:buChar char="§"/>
                      </a:pPr>
                      <a:r>
                        <a:rPr lang="es-ES" sz="800" baseline="0" dirty="0">
                          <a:latin typeface="Avenir 35" panose="00000400000000000000" pitchFamily="2" charset="0"/>
                          <a:cs typeface="Arial" panose="020B0604020202020204" pitchFamily="34" charset="0"/>
                        </a:rPr>
                        <a:t>Modelo Analytics.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37" name="15 Tabla"/>
          <p:cNvGraphicFramePr>
            <a:graphicFrameLocks noGrp="1"/>
          </p:cNvGraphicFramePr>
          <p:nvPr>
            <p:extLst>
              <p:ext uri="{D42A27DB-BD31-4B8C-83A1-F6EECF244321}">
                <p14:modId xmlns:p14="http://schemas.microsoft.com/office/powerpoint/2010/main" val="1494125054"/>
              </p:ext>
            </p:extLst>
          </p:nvPr>
        </p:nvGraphicFramePr>
        <p:xfrm>
          <a:off x="8049345" y="5140088"/>
          <a:ext cx="1459349" cy="432048"/>
        </p:xfrm>
        <a:graphic>
          <a:graphicData uri="http://schemas.openxmlformats.org/drawingml/2006/table">
            <a:tbl>
              <a:tblPr firstRow="1" bandRow="1">
                <a:tableStyleId>{2D5ABB26-0587-4C30-8999-92F81FD0307C}</a:tableStyleId>
              </a:tblPr>
              <a:tblGrid>
                <a:gridCol w="1459349">
                  <a:extLst>
                    <a:ext uri="{9D8B030D-6E8A-4147-A177-3AD203B41FA5}">
                      <a16:colId xmlns:a16="http://schemas.microsoft.com/office/drawing/2014/main" val="20000"/>
                    </a:ext>
                  </a:extLst>
                </a:gridCol>
              </a:tblGrid>
              <a:tr h="432048">
                <a:tc>
                  <a:txBody>
                    <a:bodyPr/>
                    <a:lstStyle/>
                    <a:p>
                      <a:pPr marL="171450" indent="-171450" algn="l">
                        <a:spcAft>
                          <a:spcPts val="600"/>
                        </a:spcAft>
                        <a:buFont typeface="Wingdings" panose="05000000000000000000" pitchFamily="2" charset="2"/>
                        <a:buChar char="§"/>
                      </a:pPr>
                      <a:r>
                        <a:rPr lang="es-ES" sz="800" dirty="0">
                          <a:latin typeface="Avenir 35" panose="00000400000000000000" pitchFamily="2" charset="0"/>
                          <a:cs typeface="Arial" panose="020B0604020202020204" pitchFamily="34" charset="0"/>
                        </a:rPr>
                        <a:t>Guía Soporte 1er nivel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38"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44</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17458997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 name="15 Tabla"/>
          <p:cNvGraphicFramePr>
            <a:graphicFrameLocks noGrp="1"/>
          </p:cNvGraphicFramePr>
          <p:nvPr>
            <p:extLst>
              <p:ext uri="{D42A27DB-BD31-4B8C-83A1-F6EECF244321}">
                <p14:modId xmlns:p14="http://schemas.microsoft.com/office/powerpoint/2010/main" val="404583686"/>
              </p:ext>
            </p:extLst>
          </p:nvPr>
        </p:nvGraphicFramePr>
        <p:xfrm>
          <a:off x="7533073" y="4941168"/>
          <a:ext cx="2132723" cy="1805760"/>
        </p:xfrm>
        <a:graphic>
          <a:graphicData uri="http://schemas.openxmlformats.org/drawingml/2006/table">
            <a:tbl>
              <a:tblPr firstRow="1" bandRow="1">
                <a:tableStyleId>{2D5ABB26-0587-4C30-8999-92F81FD0307C}</a:tableStyleId>
              </a:tblPr>
              <a:tblGrid>
                <a:gridCol w="2132723">
                  <a:extLst>
                    <a:ext uri="{9D8B030D-6E8A-4147-A177-3AD203B41FA5}">
                      <a16:colId xmlns:a16="http://schemas.microsoft.com/office/drawing/2014/main" val="20000"/>
                    </a:ext>
                  </a:extLst>
                </a:gridCol>
              </a:tblGrid>
              <a:tr h="360000">
                <a:tc>
                  <a:txBody>
                    <a:bodyPr/>
                    <a:lstStyle/>
                    <a:p>
                      <a:pPr marL="171450" indent="-171450" algn="l">
                        <a:spcAft>
                          <a:spcPts val="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FAQs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0000">
                <a:tc>
                  <a:txBody>
                    <a:bodyPr/>
                    <a:lstStyle/>
                    <a:p>
                      <a:pPr marL="171450" indent="-171450" algn="l">
                        <a:spcAft>
                          <a:spcPts val="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Documento Seguimiento Semanal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60000">
                <a:tc>
                  <a:txBody>
                    <a:bodyPr/>
                    <a:lstStyle/>
                    <a:p>
                      <a:pPr marL="171450" indent="-171450" algn="l">
                        <a:spcAft>
                          <a:spcPts val="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Documentos</a:t>
                      </a:r>
                      <a:r>
                        <a:rPr lang="es-ES" sz="900" baseline="0" dirty="0">
                          <a:latin typeface="Avenir 35" panose="00000400000000000000" pitchFamily="2" charset="0"/>
                          <a:cs typeface="Arial" panose="020B0604020202020204" pitchFamily="34" charset="0"/>
                        </a:rPr>
                        <a:t> Gestión del Cambio</a:t>
                      </a:r>
                      <a:endParaRPr lang="es-ES" sz="900" dirty="0">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60000">
                <a:tc>
                  <a:txBody>
                    <a:bodyPr/>
                    <a:lstStyle/>
                    <a:p>
                      <a:pPr marL="171450" indent="-171450" algn="l">
                        <a:spcAft>
                          <a:spcPts val="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Inventario de Entregables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60000">
                <a:tc>
                  <a:txBody>
                    <a:bodyPr/>
                    <a:lstStyle/>
                    <a:p>
                      <a:pPr marL="171450" indent="-171450" algn="l">
                        <a:spcAft>
                          <a:spcPts val="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Documentación Final &amp; Acta de Aceptación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41" name="40 Rectángulo"/>
          <p:cNvSpPr/>
          <p:nvPr/>
        </p:nvSpPr>
        <p:spPr>
          <a:xfrm>
            <a:off x="458234" y="2204866"/>
            <a:ext cx="2046494" cy="3527963"/>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36000" bIns="72000" rtlCol="0" anchor="t"/>
          <a:lstStyle/>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Identificación de </a:t>
            </a:r>
            <a:r>
              <a:rPr lang="es-ES" sz="900" kern="0" dirty="0">
                <a:solidFill>
                  <a:prstClr val="black"/>
                </a:solidFill>
                <a:latin typeface="Avenir 65" panose="02000600000000000000" pitchFamily="2" charset="0"/>
              </a:rPr>
              <a:t>stakeholders.</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Convocatoria de </a:t>
            </a:r>
            <a:r>
              <a:rPr lang="es-ES" sz="900" kern="0" dirty="0">
                <a:solidFill>
                  <a:prstClr val="black"/>
                </a:solidFill>
                <a:latin typeface="Avenir 65" panose="02000600000000000000" pitchFamily="2" charset="0"/>
              </a:rPr>
              <a:t>reuniones para sincronizar SQL Server con SF.</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Elaboración </a:t>
            </a:r>
            <a:r>
              <a:rPr lang="es-ES" sz="900" kern="0" dirty="0">
                <a:solidFill>
                  <a:prstClr val="black"/>
                </a:solidFill>
                <a:latin typeface="Avenir 65" panose="02000600000000000000" pitchFamily="2" charset="0"/>
              </a:rPr>
              <a:t>documentos </a:t>
            </a:r>
            <a:r>
              <a:rPr lang="es-ES" sz="900" kern="0" dirty="0">
                <a:solidFill>
                  <a:prstClr val="black"/>
                </a:solidFill>
                <a:latin typeface="Avenir 35" panose="00000400000000000000" pitchFamily="2" charset="0"/>
              </a:rPr>
              <a:t>de requerimientos.</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Elaboración de </a:t>
            </a:r>
            <a:r>
              <a:rPr lang="es-ES" sz="900" kern="0" dirty="0">
                <a:solidFill>
                  <a:prstClr val="black"/>
                </a:solidFill>
                <a:latin typeface="Avenir 65" panose="02000600000000000000" pitchFamily="2" charset="0"/>
              </a:rPr>
              <a:t>diseño</a:t>
            </a:r>
            <a:r>
              <a:rPr lang="es-ES" sz="900" kern="0" dirty="0">
                <a:solidFill>
                  <a:prstClr val="black"/>
                </a:solidFill>
                <a:latin typeface="Avenir 35" panose="00000400000000000000" pitchFamily="2" charset="0"/>
              </a:rPr>
              <a:t> funcional en SalesForce.</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65" panose="02000600000000000000" pitchFamily="2" charset="0"/>
              </a:rPr>
              <a:t>Presentación </a:t>
            </a:r>
            <a:r>
              <a:rPr lang="es-ES" sz="900" kern="0" dirty="0">
                <a:solidFill>
                  <a:prstClr val="black"/>
                </a:solidFill>
                <a:latin typeface="Avenir 35" panose="00000400000000000000" pitchFamily="2" charset="0"/>
              </a:rPr>
              <a:t>de modelo a las áreas implicadas de Easy Money.</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Elaboración de las </a:t>
            </a:r>
            <a:r>
              <a:rPr lang="es-ES" sz="900" kern="0" dirty="0">
                <a:solidFill>
                  <a:prstClr val="black"/>
                </a:solidFill>
                <a:latin typeface="Avenir 65" panose="02000600000000000000" pitchFamily="2" charset="0"/>
              </a:rPr>
              <a:t>estrategias </a:t>
            </a:r>
            <a:r>
              <a:rPr lang="es-ES" sz="900" kern="0" dirty="0">
                <a:solidFill>
                  <a:prstClr val="black"/>
                </a:solidFill>
                <a:latin typeface="Avenir 35" panose="00000400000000000000" pitchFamily="2" charset="0"/>
              </a:rPr>
              <a:t>de gestión del cambio, formación, migraciones, procesos y autorizaciones.</a:t>
            </a:r>
          </a:p>
          <a:p>
            <a:pPr marL="285750"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65" panose="02000600000000000000" pitchFamily="2" charset="0"/>
              </a:rPr>
              <a:t>Desarrollo de plan </a:t>
            </a:r>
            <a:r>
              <a:rPr lang="es-ES" sz="900" kern="0" dirty="0">
                <a:solidFill>
                  <a:prstClr val="black"/>
                </a:solidFill>
                <a:latin typeface="Avenir 35" panose="00000400000000000000" pitchFamily="2" charset="0"/>
              </a:rPr>
              <a:t>de proyecto.</a:t>
            </a:r>
          </a:p>
          <a:p>
            <a:pPr marL="285750" indent="-285750">
              <a:buClr>
                <a:srgbClr val="323232"/>
              </a:buClr>
              <a:buFont typeface="Wingdings" panose="05000000000000000000" pitchFamily="2" charset="2"/>
              <a:buChar char="§"/>
            </a:pPr>
            <a:endParaRPr lang="es-ES" sz="1400" dirty="0">
              <a:solidFill>
                <a:srgbClr val="505050"/>
              </a:solidFill>
              <a:latin typeface="Arial" panose="020B0604020202020204" pitchFamily="34" charset="0"/>
              <a:cs typeface="Arial" panose="020B0604020202020204" pitchFamily="34" charset="0"/>
            </a:endParaRPr>
          </a:p>
        </p:txBody>
      </p:sp>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Metodologías &amp; Herramientas</a:t>
            </a:r>
          </a:p>
          <a:p>
            <a:endParaRPr lang="en-US" dirty="0">
              <a:solidFill>
                <a:srgbClr val="323232"/>
              </a:solidFill>
              <a:latin typeface="Avenir 35" panose="00000400000000000000" pitchFamily="2" charset="0"/>
            </a:endParaRP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METODOLOGÍA - IMPLANTACIÓN</a:t>
            </a:r>
            <a:endParaRPr lang="es-ES" sz="1400" b="1" dirty="0">
              <a:solidFill>
                <a:srgbClr val="323232"/>
              </a:solidFill>
              <a:latin typeface="Avenir 35" panose="00000400000000000000" pitchFamily="2" charset="0"/>
            </a:endParaRPr>
          </a:p>
        </p:txBody>
      </p:sp>
      <p:sp>
        <p:nvSpPr>
          <p:cNvPr id="22" name="19 Rectángulo"/>
          <p:cNvSpPr/>
          <p:nvPr/>
        </p:nvSpPr>
        <p:spPr bwMode="auto">
          <a:xfrm>
            <a:off x="128496" y="2303364"/>
            <a:ext cx="288000" cy="2565797"/>
          </a:xfrm>
          <a:prstGeom prst="rect">
            <a:avLst/>
          </a:prstGeom>
          <a:solidFill>
            <a:srgbClr val="4BACC6"/>
          </a:solidFill>
          <a:ln w="12700" cap="flat" cmpd="sng" algn="ctr">
            <a:noFill/>
            <a:prstDash val="solid"/>
            <a:round/>
            <a:headEnd type="none" w="med" len="med"/>
            <a:tailEnd type="none" w="med" len="med"/>
          </a:ln>
          <a:effectLst/>
        </p:spPr>
        <p:txBody>
          <a:bodyPr vert="vert270" lIns="91350" tIns="45670" rIns="91350" bIns="45670" anchor="ctr"/>
          <a:lstStyle/>
          <a:p>
            <a:pPr algn="ctr" defTabSz="915052" eaLnBrk="0" hangingPunct="0">
              <a:spcBef>
                <a:spcPts val="300"/>
              </a:spcBef>
              <a:buClr>
                <a:srgbClr val="9AAE04"/>
              </a:buClr>
            </a:pPr>
            <a:r>
              <a:rPr lang="es-ES" sz="1050" kern="0" dirty="0">
                <a:solidFill>
                  <a:schemeClr val="bg1"/>
                </a:solidFill>
                <a:latin typeface="Avenir 35" panose="00000400000000000000" pitchFamily="2" charset="0"/>
                <a:cs typeface="Arial" pitchFamily="34" charset="0"/>
              </a:rPr>
              <a:t>Actividades</a:t>
            </a:r>
          </a:p>
        </p:txBody>
      </p:sp>
      <p:sp>
        <p:nvSpPr>
          <p:cNvPr id="27" name="Chevron 118"/>
          <p:cNvSpPr/>
          <p:nvPr/>
        </p:nvSpPr>
        <p:spPr>
          <a:xfrm>
            <a:off x="488504" y="1522450"/>
            <a:ext cx="2340000" cy="644748"/>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r>
              <a:rPr lang="es-ES" sz="1000" dirty="0">
                <a:solidFill>
                  <a:srgbClr val="FFFFFF"/>
                </a:solidFill>
                <a:latin typeface="Avenir 35" panose="00000400000000000000" pitchFamily="2" charset="0"/>
                <a:cs typeface="Arial" pitchFamily="34" charset="0"/>
              </a:rPr>
              <a:t>Análisis y Diseño</a:t>
            </a:r>
          </a:p>
        </p:txBody>
      </p:sp>
      <p:sp>
        <p:nvSpPr>
          <p:cNvPr id="28" name="Chevron 119"/>
          <p:cNvSpPr/>
          <p:nvPr/>
        </p:nvSpPr>
        <p:spPr>
          <a:xfrm>
            <a:off x="2816763" y="1522450"/>
            <a:ext cx="2340000" cy="646414"/>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Construcción</a:t>
            </a:r>
            <a:endParaRPr lang="en-US" sz="1000" kern="0" dirty="0">
              <a:solidFill>
                <a:srgbClr val="FFFFFF"/>
              </a:solidFill>
              <a:latin typeface="Avenir 35" panose="00000400000000000000" pitchFamily="2" charset="0"/>
              <a:cs typeface="Arial" pitchFamily="34" charset="0"/>
            </a:endParaRPr>
          </a:p>
        </p:txBody>
      </p:sp>
      <p:sp>
        <p:nvSpPr>
          <p:cNvPr id="31" name="Chevron 122"/>
          <p:cNvSpPr/>
          <p:nvPr/>
        </p:nvSpPr>
        <p:spPr>
          <a:xfrm>
            <a:off x="5145022" y="1522450"/>
            <a:ext cx="2340000" cy="660142"/>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Implantación</a:t>
            </a:r>
            <a:endParaRPr lang="en-US" sz="1000" kern="0" dirty="0">
              <a:solidFill>
                <a:srgbClr val="FFFFFF"/>
              </a:solidFill>
              <a:latin typeface="Avenir 35" panose="00000400000000000000" pitchFamily="2" charset="0"/>
              <a:cs typeface="Arial" pitchFamily="34" charset="0"/>
            </a:endParaRPr>
          </a:p>
        </p:txBody>
      </p:sp>
      <p:sp>
        <p:nvSpPr>
          <p:cNvPr id="32" name="31 Rectángulo"/>
          <p:cNvSpPr/>
          <p:nvPr/>
        </p:nvSpPr>
        <p:spPr bwMode="auto">
          <a:xfrm>
            <a:off x="128496" y="1522798"/>
            <a:ext cx="288000" cy="644400"/>
          </a:xfrm>
          <a:prstGeom prst="rect">
            <a:avLst/>
          </a:prstGeom>
          <a:solidFill>
            <a:srgbClr val="4BACC6"/>
          </a:solidFill>
          <a:ln w="12700" cap="flat" cmpd="sng" algn="ctr">
            <a:noFill/>
            <a:prstDash val="solid"/>
            <a:round/>
            <a:headEnd type="none" w="med" len="med"/>
            <a:tailEnd type="none" w="med" len="med"/>
          </a:ln>
          <a:effectLst/>
        </p:spPr>
        <p:txBody>
          <a:bodyPr vert="vert270" lIns="91350" tIns="45670" rIns="91350" bIns="45670" anchor="ctr"/>
          <a:lstStyle/>
          <a:p>
            <a:pPr algn="ctr" defTabSz="915052" eaLnBrk="0" hangingPunct="0">
              <a:spcBef>
                <a:spcPts val="300"/>
              </a:spcBef>
              <a:buClr>
                <a:srgbClr val="9AAE04"/>
              </a:buClr>
            </a:pPr>
            <a:r>
              <a:rPr lang="es-ES" sz="1050" kern="0" dirty="0">
                <a:solidFill>
                  <a:schemeClr val="bg1"/>
                </a:solidFill>
                <a:latin typeface="Avenir 35" panose="00000400000000000000" pitchFamily="2" charset="0"/>
                <a:cs typeface="Arial" pitchFamily="34" charset="0"/>
              </a:rPr>
              <a:t>Fases</a:t>
            </a:r>
          </a:p>
        </p:txBody>
      </p:sp>
      <p:sp>
        <p:nvSpPr>
          <p:cNvPr id="43" name="36 Rectángulo"/>
          <p:cNvSpPr/>
          <p:nvPr/>
        </p:nvSpPr>
        <p:spPr>
          <a:xfrm>
            <a:off x="2825783" y="2168864"/>
            <a:ext cx="2127219" cy="3852000"/>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0" bIns="72000" rtlCol="0" anchor="t"/>
          <a:lstStyle/>
          <a:p>
            <a:pPr marL="173038" lvl="1" indent="-1714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Adaptación diseño técnico a los requerimientos de explotación.</a:t>
            </a:r>
          </a:p>
          <a:p>
            <a:pPr marL="173038" lvl="1" indent="-1714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Elaboración de Plan de pruebas.</a:t>
            </a:r>
          </a:p>
          <a:p>
            <a:pPr marL="173038" lvl="1" indent="-1714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Construcción modelo de datos necesario para la explotación.</a:t>
            </a:r>
          </a:p>
          <a:p>
            <a:pPr marL="173038" lvl="1" indent="-1714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Parametrización y configuración de la herramienta.</a:t>
            </a:r>
          </a:p>
          <a:p>
            <a:pPr marL="173038" lvl="1" indent="-1714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Construcción de desarrollos.</a:t>
            </a:r>
          </a:p>
          <a:p>
            <a:pPr marL="173038" lvl="1" indent="-1714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Desarrollo de interfaces con otros sistemas (In &amp; Out)</a:t>
            </a:r>
          </a:p>
          <a:p>
            <a:pPr marL="173038" lvl="1" indent="-1714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Migración y de los datos SQL Server a SF.</a:t>
            </a:r>
          </a:p>
          <a:p>
            <a:pPr marL="173038" lvl="1" indent="-1714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Ejecución de pruebas unitarias, integración, migración, stress y validación</a:t>
            </a:r>
            <a:endParaRPr lang="es-ES" sz="900" kern="0" dirty="0">
              <a:solidFill>
                <a:srgbClr val="323232"/>
              </a:solidFill>
              <a:latin typeface="Avenir 35" panose="00000400000000000000" pitchFamily="2" charset="0"/>
              <a:cs typeface="Arial" pitchFamily="34" charset="0"/>
              <a:sym typeface="Calibri"/>
            </a:endParaRPr>
          </a:p>
          <a:p>
            <a:pPr marL="171450" indent="-171450" defTabSz="825500">
              <a:spcAft>
                <a:spcPts val="600"/>
              </a:spcAft>
              <a:buFont typeface="Wingdings" pitchFamily="2" charset="2"/>
              <a:buChar char="§"/>
            </a:pPr>
            <a:endParaRPr lang="es-ES" sz="900" kern="0" dirty="0">
              <a:solidFill>
                <a:srgbClr val="323232"/>
              </a:solidFill>
              <a:latin typeface="Avenir 35" panose="00000400000000000000" pitchFamily="2" charset="0"/>
              <a:cs typeface="Arial" pitchFamily="34" charset="0"/>
              <a:sym typeface="Calibri"/>
            </a:endParaRPr>
          </a:p>
        </p:txBody>
      </p:sp>
      <p:sp>
        <p:nvSpPr>
          <p:cNvPr id="44" name="36 Rectángulo"/>
          <p:cNvSpPr/>
          <p:nvPr/>
        </p:nvSpPr>
        <p:spPr>
          <a:xfrm>
            <a:off x="5241033" y="2188257"/>
            <a:ext cx="1944216" cy="3950090"/>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0" bIns="72000" rtlCol="0" anchor="t"/>
          <a:lstStyle/>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Elaboración de guías </a:t>
            </a:r>
            <a:r>
              <a:rPr lang="es-ES" sz="900" kern="0" dirty="0">
                <a:solidFill>
                  <a:prstClr val="black"/>
                </a:solidFill>
                <a:latin typeface="Avenir 65" panose="02000600000000000000" pitchFamily="2" charset="0"/>
              </a:rPr>
              <a:t>parametrización.</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Elaboración de manual de usuario SF.</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Elaboración de manual de explotación SF.</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Carga de la </a:t>
            </a:r>
            <a:r>
              <a:rPr lang="es-ES" sz="900" kern="0" dirty="0">
                <a:solidFill>
                  <a:prstClr val="black"/>
                </a:solidFill>
                <a:latin typeface="Avenir 65" panose="02000600000000000000" pitchFamily="2" charset="0"/>
              </a:rPr>
              <a:t>migración.</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65" panose="02000600000000000000" pitchFamily="2" charset="0"/>
              </a:rPr>
              <a:t>Gestión </a:t>
            </a:r>
            <a:r>
              <a:rPr lang="es-ES" sz="900" kern="0" dirty="0">
                <a:solidFill>
                  <a:prstClr val="black"/>
                </a:solidFill>
                <a:latin typeface="Avenir 35" panose="00000400000000000000" pitchFamily="2" charset="0"/>
              </a:rPr>
              <a:t>de la </a:t>
            </a:r>
            <a:r>
              <a:rPr lang="es-ES" sz="900" kern="0" dirty="0">
                <a:solidFill>
                  <a:prstClr val="black"/>
                </a:solidFill>
                <a:latin typeface="Avenir 65" panose="02000600000000000000" pitchFamily="2" charset="0"/>
              </a:rPr>
              <a:t>convivencia </a:t>
            </a:r>
            <a:r>
              <a:rPr lang="es-ES" sz="900" kern="0" dirty="0">
                <a:solidFill>
                  <a:prstClr val="black"/>
                </a:solidFill>
                <a:latin typeface="Avenir 35" panose="00000400000000000000" pitchFamily="2" charset="0"/>
              </a:rPr>
              <a:t>con las herramientas actuales.</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Pruebas de </a:t>
            </a:r>
            <a:r>
              <a:rPr lang="es-ES" sz="900" kern="0" dirty="0">
                <a:solidFill>
                  <a:prstClr val="black"/>
                </a:solidFill>
                <a:latin typeface="Avenir 65" panose="02000600000000000000" pitchFamily="2" charset="0"/>
              </a:rPr>
              <a:t>verificación </a:t>
            </a:r>
            <a:r>
              <a:rPr lang="es-ES" sz="900" kern="0" dirty="0">
                <a:solidFill>
                  <a:prstClr val="black"/>
                </a:solidFill>
                <a:latin typeface="Avenir 35" panose="00000400000000000000" pitchFamily="2" charset="0"/>
              </a:rPr>
              <a:t>en producción.</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65" panose="02000600000000000000" pitchFamily="2" charset="0"/>
              </a:rPr>
              <a:t>Formación </a:t>
            </a:r>
            <a:r>
              <a:rPr lang="es-ES" sz="900" kern="0" dirty="0">
                <a:solidFill>
                  <a:prstClr val="black"/>
                </a:solidFill>
                <a:latin typeface="Avenir 35" panose="00000400000000000000" pitchFamily="2" charset="0"/>
              </a:rPr>
              <a:t>a usuarios clave y finales.</a:t>
            </a:r>
            <a:endParaRPr lang="es-ES" sz="850" dirty="0">
              <a:solidFill>
                <a:srgbClr val="000000"/>
              </a:solidFill>
              <a:latin typeface="Arial" pitchFamily="34" charset="0"/>
              <a:cs typeface="Arial" pitchFamily="34" charset="0"/>
            </a:endParaRPr>
          </a:p>
          <a:p>
            <a:pPr marL="171450" indent="-171450" defTabSz="825500">
              <a:spcAft>
                <a:spcPts val="300"/>
              </a:spcAft>
              <a:buFont typeface="Wingdings" pitchFamily="2" charset="2"/>
              <a:buChar char="§"/>
            </a:pPr>
            <a:endParaRPr lang="es-ES" sz="800" kern="0" dirty="0">
              <a:solidFill>
                <a:srgbClr val="323232"/>
              </a:solidFill>
              <a:latin typeface="Avenir 35" panose="00000400000000000000" pitchFamily="2" charset="0"/>
              <a:cs typeface="Arial" pitchFamily="34" charset="0"/>
              <a:sym typeface="Calibri"/>
            </a:endParaRPr>
          </a:p>
          <a:p>
            <a:pPr marL="171450" indent="-171450" defTabSz="825500">
              <a:spcAft>
                <a:spcPts val="300"/>
              </a:spcAft>
              <a:buFont typeface="Wingdings" pitchFamily="2" charset="2"/>
              <a:buChar char="§"/>
            </a:pPr>
            <a:endParaRPr lang="es-ES" sz="800" kern="0" dirty="0">
              <a:solidFill>
                <a:srgbClr val="323232"/>
              </a:solidFill>
              <a:latin typeface="Avenir 35" panose="00000400000000000000" pitchFamily="2" charset="0"/>
              <a:cs typeface="Arial" pitchFamily="34" charset="0"/>
              <a:sym typeface="Calibri"/>
            </a:endParaRPr>
          </a:p>
        </p:txBody>
      </p:sp>
      <p:sp>
        <p:nvSpPr>
          <p:cNvPr id="4" name="3 Rectángulo"/>
          <p:cNvSpPr/>
          <p:nvPr/>
        </p:nvSpPr>
        <p:spPr>
          <a:xfrm>
            <a:off x="7545288" y="2204864"/>
            <a:ext cx="2016224" cy="2808312"/>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0" bIns="72000" rtlCol="0" anchor="t"/>
          <a:lstStyle/>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65" panose="02000600000000000000" pitchFamily="2" charset="0"/>
              </a:rPr>
              <a:t>Modificar a BB.DD. SF </a:t>
            </a:r>
            <a:r>
              <a:rPr lang="es-ES" sz="900" kern="0" dirty="0">
                <a:solidFill>
                  <a:prstClr val="black"/>
                </a:solidFill>
                <a:latin typeface="Avenir 35" panose="00000400000000000000" pitchFamily="2" charset="0"/>
              </a:rPr>
              <a:t>con información actualizada de provenientes de la Golden Table.</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65" panose="02000600000000000000" pitchFamily="2" charset="0"/>
              </a:rPr>
              <a:t>Acompañamiento </a:t>
            </a:r>
            <a:r>
              <a:rPr lang="es-ES" sz="900" kern="0" dirty="0">
                <a:solidFill>
                  <a:prstClr val="black"/>
                </a:solidFill>
                <a:latin typeface="Avenir 35" panose="00000400000000000000" pitchFamily="2" charset="0"/>
              </a:rPr>
              <a:t>a las áreas implicadas.</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65" panose="02000600000000000000" pitchFamily="2" charset="0"/>
              </a:rPr>
              <a:t>Soporte</a:t>
            </a:r>
            <a:r>
              <a:rPr lang="es-ES" sz="900" b="1" kern="0" dirty="0">
                <a:solidFill>
                  <a:prstClr val="black"/>
                </a:solidFill>
                <a:latin typeface="Avenir 35" panose="00000400000000000000" pitchFamily="2" charset="0"/>
              </a:rPr>
              <a:t> </a:t>
            </a:r>
            <a:r>
              <a:rPr lang="es-ES" sz="900" kern="0" dirty="0">
                <a:solidFill>
                  <a:prstClr val="black"/>
                </a:solidFill>
                <a:latin typeface="Avenir 35" panose="00000400000000000000" pitchFamily="2" charset="0"/>
              </a:rPr>
              <a:t>técnico.</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35" panose="00000400000000000000" pitchFamily="2" charset="0"/>
              </a:rPr>
              <a:t>Resolución de </a:t>
            </a:r>
            <a:r>
              <a:rPr lang="es-ES" sz="900" kern="0" dirty="0">
                <a:solidFill>
                  <a:prstClr val="black"/>
                </a:solidFill>
                <a:latin typeface="Avenir 65" panose="02000600000000000000" pitchFamily="2" charset="0"/>
              </a:rPr>
              <a:t>dudas </a:t>
            </a:r>
            <a:r>
              <a:rPr lang="es-ES" sz="900" kern="0" dirty="0">
                <a:solidFill>
                  <a:prstClr val="black"/>
                </a:solidFill>
                <a:latin typeface="Avenir 35" panose="00000400000000000000" pitchFamily="2" charset="0"/>
              </a:rPr>
              <a:t>a usuarios sobre la operativa que se debe seguir </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65" panose="02000600000000000000" pitchFamily="2" charset="0"/>
              </a:rPr>
              <a:t>Formación </a:t>
            </a:r>
            <a:r>
              <a:rPr lang="es-ES" sz="900" kern="0" dirty="0">
                <a:solidFill>
                  <a:prstClr val="black"/>
                </a:solidFill>
                <a:latin typeface="Avenir 35" panose="00000400000000000000" pitchFamily="2" charset="0"/>
              </a:rPr>
              <a:t>de refuerzo</a:t>
            </a:r>
          </a:p>
          <a:p>
            <a:pPr marL="287338" lvl="1" indent="-285750" defTabSz="915988">
              <a:spcBef>
                <a:spcPct val="50000"/>
              </a:spcBef>
              <a:buClr>
                <a:srgbClr val="323232"/>
              </a:buClr>
              <a:buFont typeface="Wingdings" panose="05000000000000000000" pitchFamily="2" charset="2"/>
              <a:buChar char="§"/>
            </a:pPr>
            <a:r>
              <a:rPr lang="es-ES" sz="900" kern="0" dirty="0">
                <a:solidFill>
                  <a:prstClr val="black"/>
                </a:solidFill>
                <a:latin typeface="Avenir 65" panose="02000600000000000000" pitchFamily="2" charset="0"/>
              </a:rPr>
              <a:t>Actualización </a:t>
            </a:r>
            <a:r>
              <a:rPr lang="es-ES" sz="900" kern="0" dirty="0">
                <a:solidFill>
                  <a:prstClr val="black"/>
                </a:solidFill>
                <a:latin typeface="Avenir 35" panose="00000400000000000000" pitchFamily="2" charset="0"/>
              </a:rPr>
              <a:t>de la documentación con posibles cambios debidos a incidencias detectadas</a:t>
            </a:r>
          </a:p>
          <a:p>
            <a:pPr marL="171450" indent="-171450" defTabSz="825500">
              <a:spcAft>
                <a:spcPts val="300"/>
              </a:spcAft>
              <a:buFont typeface="Wingdings" pitchFamily="2" charset="2"/>
              <a:buChar char="§"/>
            </a:pPr>
            <a:endParaRPr lang="es-ES" sz="800" b="1" kern="0" dirty="0">
              <a:solidFill>
                <a:srgbClr val="323232"/>
              </a:solidFill>
              <a:latin typeface="Avenir 35" panose="00000400000000000000" pitchFamily="2" charset="0"/>
              <a:cs typeface="Arial" pitchFamily="34" charset="0"/>
              <a:sym typeface="Calibri"/>
            </a:endParaRPr>
          </a:p>
        </p:txBody>
      </p:sp>
      <p:sp>
        <p:nvSpPr>
          <p:cNvPr id="21" name="Chevron 121"/>
          <p:cNvSpPr/>
          <p:nvPr/>
        </p:nvSpPr>
        <p:spPr>
          <a:xfrm>
            <a:off x="7473280" y="1522450"/>
            <a:ext cx="2340000" cy="660142"/>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Soporte &amp; Garantía</a:t>
            </a:r>
            <a:endParaRPr lang="en-US" sz="1000" kern="0" dirty="0">
              <a:solidFill>
                <a:srgbClr val="FFFFFF"/>
              </a:solidFill>
              <a:latin typeface="Avenir 35" panose="00000400000000000000" pitchFamily="2" charset="0"/>
              <a:cs typeface="Arial" pitchFamily="34" charset="0"/>
            </a:endParaRPr>
          </a:p>
        </p:txBody>
      </p:sp>
      <p:sp>
        <p:nvSpPr>
          <p:cNvPr id="20" name="AutoShape 4"/>
          <p:cNvSpPr>
            <a:spLocks noChangeArrowheads="1"/>
          </p:cNvSpPr>
          <p:nvPr/>
        </p:nvSpPr>
        <p:spPr bwMode="auto">
          <a:xfrm>
            <a:off x="632527" y="832079"/>
            <a:ext cx="8660261" cy="432048"/>
          </a:xfrm>
          <a:prstGeom prst="roundRect">
            <a:avLst>
              <a:gd name="adj" fmla="val 12500"/>
            </a:avLst>
          </a:prstGeom>
        </p:spPr>
        <p:txBody>
          <a:bodyPr lIns="92583" tIns="46292" rIns="92583" bIns="46292" anchor="ctr">
            <a:noAutofit/>
          </a:bodyPr>
          <a:lstStyle/>
          <a:p>
            <a:pPr algn="ctr"/>
            <a:r>
              <a:rPr lang="es-ES" sz="1000" dirty="0">
                <a:solidFill>
                  <a:srgbClr val="505050"/>
                </a:solidFill>
                <a:latin typeface="Avenir 35" panose="00000400000000000000" pitchFamily="2" charset="0"/>
                <a:cs typeface="Arial" panose="020B0604020202020204" pitchFamily="34" charset="0"/>
              </a:rPr>
              <a:t>El enfoque metodológico considerado para la iniciativa global será SCRUM (metodología Agile). SCRUM es un conjunto de prácticas de gestión de producto/ proyecto para fomentar la comunicación, el feedback rápido y el trabajo en equipo (incluyendo al cliente)</a:t>
            </a:r>
          </a:p>
        </p:txBody>
      </p:sp>
      <p:sp>
        <p:nvSpPr>
          <p:cNvPr id="24" name="19 Rectángulo"/>
          <p:cNvSpPr/>
          <p:nvPr/>
        </p:nvSpPr>
        <p:spPr bwMode="auto">
          <a:xfrm>
            <a:off x="129967" y="4941168"/>
            <a:ext cx="288000" cy="1800200"/>
          </a:xfrm>
          <a:prstGeom prst="rect">
            <a:avLst/>
          </a:prstGeom>
          <a:solidFill>
            <a:srgbClr val="4BACC6"/>
          </a:solidFill>
          <a:ln w="12700" cap="flat" cmpd="sng" algn="ctr">
            <a:noFill/>
            <a:prstDash val="solid"/>
            <a:round/>
            <a:headEnd type="none" w="med" len="med"/>
            <a:tailEnd type="none" w="med" len="med"/>
          </a:ln>
          <a:effectLst/>
        </p:spPr>
        <p:txBody>
          <a:bodyPr vert="vert270" lIns="91350" tIns="45670" rIns="91350" bIns="45670" anchor="ctr"/>
          <a:lstStyle/>
          <a:p>
            <a:pPr algn="ctr" defTabSz="915052" eaLnBrk="0" hangingPunct="0">
              <a:spcBef>
                <a:spcPts val="300"/>
              </a:spcBef>
              <a:buClr>
                <a:srgbClr val="9AAE04"/>
              </a:buClr>
            </a:pPr>
            <a:r>
              <a:rPr lang="es-ES" sz="1050" kern="0" dirty="0">
                <a:solidFill>
                  <a:schemeClr val="bg1"/>
                </a:solidFill>
                <a:latin typeface="Avenir 35" panose="00000400000000000000" pitchFamily="2" charset="0"/>
                <a:cs typeface="Arial" pitchFamily="34" charset="0"/>
              </a:rPr>
              <a:t>Entregables</a:t>
            </a:r>
          </a:p>
        </p:txBody>
      </p:sp>
      <p:graphicFrame>
        <p:nvGraphicFramePr>
          <p:cNvPr id="38" name="15 Tabla"/>
          <p:cNvGraphicFramePr>
            <a:graphicFrameLocks noGrp="1"/>
          </p:cNvGraphicFramePr>
          <p:nvPr>
            <p:extLst>
              <p:ext uri="{D42A27DB-BD31-4B8C-83A1-F6EECF244321}">
                <p14:modId xmlns:p14="http://schemas.microsoft.com/office/powerpoint/2010/main" val="879572090"/>
              </p:ext>
            </p:extLst>
          </p:nvPr>
        </p:nvGraphicFramePr>
        <p:xfrm>
          <a:off x="425042" y="4941168"/>
          <a:ext cx="2079686" cy="1805760"/>
        </p:xfrm>
        <a:graphic>
          <a:graphicData uri="http://schemas.openxmlformats.org/drawingml/2006/table">
            <a:tbl>
              <a:tblPr firstRow="1" bandRow="1">
                <a:tableStyleId>{2D5ABB26-0587-4C30-8999-92F81FD0307C}</a:tableStyleId>
              </a:tblPr>
              <a:tblGrid>
                <a:gridCol w="2079686">
                  <a:extLst>
                    <a:ext uri="{9D8B030D-6E8A-4147-A177-3AD203B41FA5}">
                      <a16:colId xmlns:a16="http://schemas.microsoft.com/office/drawing/2014/main" val="20000"/>
                    </a:ext>
                  </a:extLst>
                </a:gridCol>
              </a:tblGrid>
              <a:tr h="360000">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Macro plan de Proyecto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0000">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Presentación </a:t>
                      </a:r>
                      <a:br>
                        <a:rPr lang="es-ES" sz="900" dirty="0">
                          <a:latin typeface="Avenir 35" panose="00000400000000000000" pitchFamily="2" charset="0"/>
                          <a:cs typeface="Arial" panose="020B0604020202020204" pitchFamily="34" charset="0"/>
                        </a:rPr>
                      </a:br>
                      <a:r>
                        <a:rPr lang="es-ES" sz="900" dirty="0">
                          <a:latin typeface="Avenir 35" panose="00000400000000000000" pitchFamily="2" charset="0"/>
                          <a:cs typeface="Arial" panose="020B0604020202020204" pitchFamily="34" charset="0"/>
                        </a:rPr>
                        <a:t>Kick-off</a:t>
                      </a:r>
                      <a:endParaRPr lang="es-ES" sz="1400" dirty="0">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60000">
                <a:tc>
                  <a:txBody>
                    <a:bodyPr/>
                    <a:lstStyle/>
                    <a:p>
                      <a:pPr marL="171450" indent="-171450">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Documento</a:t>
                      </a:r>
                      <a:r>
                        <a:rPr lang="es-ES" sz="900" baseline="0" dirty="0">
                          <a:latin typeface="Avenir 35" panose="00000400000000000000" pitchFamily="2" charset="0"/>
                          <a:cs typeface="Arial" panose="020B0604020202020204" pitchFamily="34" charset="0"/>
                        </a:rPr>
                        <a:t> de requerimientos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60000">
                <a:tc>
                  <a:txBody>
                    <a:bodyPr/>
                    <a:lstStyle/>
                    <a:p>
                      <a:pPr marL="171450" indent="-171450">
                        <a:spcAft>
                          <a:spcPts val="600"/>
                        </a:spcAft>
                        <a:buFont typeface="Wingdings" panose="05000000000000000000" pitchFamily="2" charset="2"/>
                        <a:buChar char="§"/>
                      </a:pPr>
                      <a:r>
                        <a:rPr lang="es-ES" sz="900" baseline="0" dirty="0">
                          <a:latin typeface="Avenir 35" panose="00000400000000000000" pitchFamily="2" charset="0"/>
                          <a:cs typeface="Arial" panose="020B0604020202020204" pitchFamily="34" charset="0"/>
                        </a:rPr>
                        <a:t>Diseño Funcional &amp; Modelo de Datos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60000">
                <a:tc>
                  <a:txBody>
                    <a:bodyPr/>
                    <a:lstStyle/>
                    <a:p>
                      <a:pPr marL="171450" indent="-171450">
                        <a:spcAft>
                          <a:spcPts val="600"/>
                        </a:spcAft>
                        <a:buFont typeface="Wingdings" panose="05000000000000000000" pitchFamily="2" charset="2"/>
                        <a:buChar char="§"/>
                      </a:pPr>
                      <a:r>
                        <a:rPr lang="es-ES" sz="900" baseline="0" dirty="0">
                          <a:latin typeface="Avenir 35" panose="00000400000000000000" pitchFamily="2" charset="0"/>
                          <a:cs typeface="Arial" panose="020B0604020202020204" pitchFamily="34" charset="0"/>
                        </a:rPr>
                        <a:t>Documento de Estrategias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aphicFrame>
        <p:nvGraphicFramePr>
          <p:cNvPr id="39" name="15 Tabla"/>
          <p:cNvGraphicFramePr>
            <a:graphicFrameLocks noGrp="1"/>
          </p:cNvGraphicFramePr>
          <p:nvPr>
            <p:extLst>
              <p:ext uri="{D42A27DB-BD31-4B8C-83A1-F6EECF244321}">
                <p14:modId xmlns:p14="http://schemas.microsoft.com/office/powerpoint/2010/main" val="1578451343"/>
              </p:ext>
            </p:extLst>
          </p:nvPr>
        </p:nvGraphicFramePr>
        <p:xfrm>
          <a:off x="2816764" y="4941168"/>
          <a:ext cx="2208244" cy="1805760"/>
        </p:xfrm>
        <a:graphic>
          <a:graphicData uri="http://schemas.openxmlformats.org/drawingml/2006/table">
            <a:tbl>
              <a:tblPr firstRow="1" bandRow="1">
                <a:tableStyleId>{2D5ABB26-0587-4C30-8999-92F81FD0307C}</a:tableStyleId>
              </a:tblPr>
              <a:tblGrid>
                <a:gridCol w="2208244">
                  <a:extLst>
                    <a:ext uri="{9D8B030D-6E8A-4147-A177-3AD203B41FA5}">
                      <a16:colId xmlns:a16="http://schemas.microsoft.com/office/drawing/2014/main" val="20000"/>
                    </a:ext>
                  </a:extLst>
                </a:gridCol>
              </a:tblGrid>
              <a:tr h="360000">
                <a:tc>
                  <a:txBody>
                    <a:bodyPr/>
                    <a:lstStyle/>
                    <a:p>
                      <a:pPr marL="171450" indent="-171450" algn="l">
                        <a:spcAft>
                          <a:spcPts val="600"/>
                        </a:spcAft>
                        <a:buFont typeface="Wingdings" panose="05000000000000000000" pitchFamily="2" charset="2"/>
                        <a:buChar char="§"/>
                      </a:pPr>
                      <a:r>
                        <a:rPr lang="es-ES" sz="900" b="0" dirty="0">
                          <a:latin typeface="Avenir 35" panose="00000400000000000000" pitchFamily="2" charset="0"/>
                          <a:cs typeface="Arial" panose="020B0604020202020204" pitchFamily="34" charset="0"/>
                        </a:rPr>
                        <a:t>Diseño Técnico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0000">
                <a:tc>
                  <a:txBody>
                    <a:bodyPr/>
                    <a:lstStyle/>
                    <a:p>
                      <a:pPr marL="171450" marR="0" indent="-171450" algn="l" defTabSz="825495" eaLnBrk="1" fontAlgn="auto" latinLnBrk="0" hangingPunct="1">
                        <a:lnSpc>
                          <a:spcPct val="100000"/>
                        </a:lnSpc>
                        <a:spcBef>
                          <a:spcPts val="0"/>
                        </a:spcBef>
                        <a:spcAft>
                          <a:spcPts val="600"/>
                        </a:spcAft>
                        <a:buClrTx/>
                        <a:buSzTx/>
                        <a:buFont typeface="Wingdings" panose="05000000000000000000" pitchFamily="2" charset="2"/>
                        <a:buChar char="§"/>
                        <a:tabLst/>
                        <a:defRPr/>
                      </a:pPr>
                      <a:r>
                        <a:rPr lang="es-ES" sz="900" dirty="0">
                          <a:latin typeface="Avenir 35" panose="00000400000000000000" pitchFamily="2" charset="0"/>
                          <a:cs typeface="Arial" panose="020B0604020202020204" pitchFamily="34" charset="0"/>
                        </a:rPr>
                        <a:t>Plan de Pruebas &amp; Calendario</a:t>
                      </a:r>
                      <a:r>
                        <a:rPr lang="es-ES" sz="900" baseline="0" dirty="0">
                          <a:latin typeface="Avenir 35" panose="00000400000000000000" pitchFamily="2" charset="0"/>
                          <a:cs typeface="Arial" panose="020B0604020202020204" pitchFamily="34" charset="0"/>
                        </a:rPr>
                        <a:t> de Reuniones</a:t>
                      </a:r>
                      <a:endParaRPr lang="es-ES" sz="900" dirty="0">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60000">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Detalle de Integraciones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60000">
                <a:tc>
                  <a:txBody>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s-ES" sz="900" b="0" i="0" u="none" strike="noStrike" kern="1200" cap="none" spc="0" normalizeH="0" baseline="0" noProof="0" dirty="0">
                          <a:ln>
                            <a:noFill/>
                          </a:ln>
                          <a:solidFill>
                            <a:srgbClr val="000000"/>
                          </a:solidFill>
                          <a:effectLst/>
                          <a:uLnTx/>
                          <a:uFillTx/>
                          <a:latin typeface="Avenir 35" panose="00000400000000000000" pitchFamily="2" charset="0"/>
                          <a:ea typeface="+mn-ea"/>
                          <a:cs typeface="Arial" panose="020B0604020202020204" pitchFamily="34" charset="0"/>
                        </a:rPr>
                        <a:t>Migración &amp; Transformación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60000">
                <a:tc>
                  <a:txBody>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lang="es-ES" sz="900" dirty="0">
                          <a:latin typeface="Avenir 35" panose="00000400000000000000" pitchFamily="2" charset="0"/>
                          <a:cs typeface="Arial" panose="020B0604020202020204" pitchFamily="34" charset="0"/>
                        </a:rPr>
                        <a:t>Diseño BBDD SF</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aphicFrame>
        <p:nvGraphicFramePr>
          <p:cNvPr id="40" name="39 Tabla"/>
          <p:cNvGraphicFramePr>
            <a:graphicFrameLocks noGrp="1"/>
          </p:cNvGraphicFramePr>
          <p:nvPr>
            <p:extLst>
              <p:ext uri="{D42A27DB-BD31-4B8C-83A1-F6EECF244321}">
                <p14:modId xmlns:p14="http://schemas.microsoft.com/office/powerpoint/2010/main" val="837966697"/>
              </p:ext>
            </p:extLst>
          </p:nvPr>
        </p:nvGraphicFramePr>
        <p:xfrm>
          <a:off x="5241032" y="4941168"/>
          <a:ext cx="2016223" cy="1800000"/>
        </p:xfrm>
        <a:graphic>
          <a:graphicData uri="http://schemas.openxmlformats.org/drawingml/2006/table">
            <a:tbl>
              <a:tblPr firstRow="1" bandRow="1">
                <a:tableStyleId>{2D5ABB26-0587-4C30-8999-92F81FD0307C}</a:tableStyleId>
              </a:tblPr>
              <a:tblGrid>
                <a:gridCol w="2016223">
                  <a:extLst>
                    <a:ext uri="{9D8B030D-6E8A-4147-A177-3AD203B41FA5}">
                      <a16:colId xmlns:a16="http://schemas.microsoft.com/office/drawing/2014/main" val="20000"/>
                    </a:ext>
                  </a:extLst>
                </a:gridCol>
              </a:tblGrid>
              <a:tr h="360000">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Manual de instalación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0000">
                <a:tc>
                  <a:txBody>
                    <a:bodyPr/>
                    <a:lstStyle/>
                    <a:p>
                      <a:pPr marL="171450" indent="-171450" algn="l">
                        <a:spcAft>
                          <a:spcPts val="600"/>
                        </a:spcAft>
                        <a:buFont typeface="Wingdings" panose="05000000000000000000" pitchFamily="2" charset="2"/>
                        <a:buChar char="§"/>
                      </a:pPr>
                      <a:r>
                        <a:rPr lang="es-ES" sz="900" dirty="0">
                          <a:latin typeface="Avenir 35" panose="00000400000000000000" pitchFamily="2" charset="0"/>
                          <a:cs typeface="Arial" panose="020B0604020202020204" pitchFamily="34" charset="0"/>
                        </a:rPr>
                        <a:t>Manual</a:t>
                      </a:r>
                      <a:r>
                        <a:rPr lang="es-ES" sz="900" baseline="0" dirty="0">
                          <a:latin typeface="Avenir 35" panose="00000400000000000000" pitchFamily="2" charset="0"/>
                          <a:cs typeface="Arial" panose="020B0604020202020204" pitchFamily="34" charset="0"/>
                        </a:rPr>
                        <a:t> de administración</a:t>
                      </a:r>
                      <a:endParaRPr lang="es-ES" sz="900" dirty="0">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60000">
                <a:tc>
                  <a:txBody>
                    <a:bodyPr/>
                    <a:lstStyle/>
                    <a:p>
                      <a:pPr marL="171450" marR="0" indent="-171450" algn="l" defTabSz="825495" eaLnBrk="1" fontAlgn="auto" latinLnBrk="0" hangingPunct="1">
                        <a:lnSpc>
                          <a:spcPct val="100000"/>
                        </a:lnSpc>
                        <a:spcBef>
                          <a:spcPts val="0"/>
                        </a:spcBef>
                        <a:spcAft>
                          <a:spcPts val="600"/>
                        </a:spcAft>
                        <a:buClrTx/>
                        <a:buSzTx/>
                        <a:buFont typeface="Wingdings" panose="05000000000000000000" pitchFamily="2" charset="2"/>
                        <a:buChar char="§"/>
                        <a:tabLst/>
                        <a:defRPr/>
                      </a:pPr>
                      <a:r>
                        <a:rPr lang="es-ES" sz="900" dirty="0">
                          <a:latin typeface="Avenir 35" panose="00000400000000000000" pitchFamily="2" charset="0"/>
                          <a:cs typeface="Arial" panose="020B0604020202020204" pitchFamily="34" charset="0"/>
                        </a:rPr>
                        <a:t>Manual de Usuario &amp; Formación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60000">
                <a:tc>
                  <a:txBody>
                    <a:bodyPr/>
                    <a:lstStyle/>
                    <a:p>
                      <a:pPr marL="171450" marR="0" indent="-171450" algn="l" defTabSz="825495" eaLnBrk="1" fontAlgn="auto" latinLnBrk="0" hangingPunct="1">
                        <a:lnSpc>
                          <a:spcPct val="100000"/>
                        </a:lnSpc>
                        <a:spcBef>
                          <a:spcPts val="0"/>
                        </a:spcBef>
                        <a:spcAft>
                          <a:spcPts val="600"/>
                        </a:spcAft>
                        <a:buClrTx/>
                        <a:buSzTx/>
                        <a:buFont typeface="Wingdings" panose="05000000000000000000" pitchFamily="2" charset="2"/>
                        <a:buChar char="§"/>
                        <a:tabLst/>
                        <a:defRPr/>
                      </a:pPr>
                      <a:r>
                        <a:rPr lang="es-ES" sz="900" dirty="0">
                          <a:latin typeface="Avenir 35" panose="00000400000000000000" pitchFamily="2" charset="0"/>
                          <a:cs typeface="Arial" panose="020B0604020202020204" pitchFamily="34" charset="0"/>
                        </a:rPr>
                        <a:t>Plan de Pruebas de Regresión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60000">
                <a:tc>
                  <a:txBody>
                    <a:bodyPr/>
                    <a:lstStyle/>
                    <a:p>
                      <a:pPr marL="171450" marR="0" indent="-171450" algn="l" defTabSz="825495" eaLnBrk="1" fontAlgn="auto" latinLnBrk="0" hangingPunct="1">
                        <a:lnSpc>
                          <a:spcPct val="100000"/>
                        </a:lnSpc>
                        <a:spcBef>
                          <a:spcPts val="0"/>
                        </a:spcBef>
                        <a:spcAft>
                          <a:spcPts val="600"/>
                        </a:spcAft>
                        <a:buClrTx/>
                        <a:buSzTx/>
                        <a:buFont typeface="Wingdings" panose="05000000000000000000" pitchFamily="2" charset="2"/>
                        <a:buChar char="§"/>
                        <a:tabLst/>
                        <a:defRPr/>
                      </a:pPr>
                      <a:r>
                        <a:rPr lang="es-ES" sz="900" dirty="0">
                          <a:latin typeface="Avenir 35" panose="00000400000000000000" pitchFamily="2" charset="0"/>
                          <a:cs typeface="Arial" panose="020B0604020202020204" pitchFamily="34" charset="0"/>
                        </a:rPr>
                        <a:t>Plan de Paso a Producción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25"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45</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31673084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 name="15 Tabla"/>
          <p:cNvGraphicFramePr>
            <a:graphicFrameLocks noGrp="1"/>
          </p:cNvGraphicFramePr>
          <p:nvPr>
            <p:extLst>
              <p:ext uri="{D42A27DB-BD31-4B8C-83A1-F6EECF244321}">
                <p14:modId xmlns:p14="http://schemas.microsoft.com/office/powerpoint/2010/main" val="4291000236"/>
              </p:ext>
            </p:extLst>
          </p:nvPr>
        </p:nvGraphicFramePr>
        <p:xfrm>
          <a:off x="7851202" y="4725142"/>
          <a:ext cx="1651372" cy="1980000"/>
        </p:xfrm>
        <a:graphic>
          <a:graphicData uri="http://schemas.openxmlformats.org/drawingml/2006/table">
            <a:tbl>
              <a:tblPr firstRow="1" bandRow="1">
                <a:tableStyleId>{2D5ABB26-0587-4C30-8999-92F81FD0307C}</a:tableStyleId>
              </a:tblPr>
              <a:tblGrid>
                <a:gridCol w="1651372">
                  <a:extLst>
                    <a:ext uri="{9D8B030D-6E8A-4147-A177-3AD203B41FA5}">
                      <a16:colId xmlns:a16="http://schemas.microsoft.com/office/drawing/2014/main" val="20000"/>
                    </a:ext>
                  </a:extLst>
                </a:gridCol>
              </a:tblGrid>
              <a:tr h="365786">
                <a:tc>
                  <a:txBody>
                    <a:bodyPr/>
                    <a:lstStyle/>
                    <a:p>
                      <a:pPr marL="171450" indent="-171450" algn="l">
                        <a:spcAft>
                          <a:spcPts val="0"/>
                        </a:spcAft>
                        <a:buFont typeface="Wingdings" panose="05000000000000000000" pitchFamily="2" charset="2"/>
                        <a:buChar char="§"/>
                      </a:pPr>
                      <a:r>
                        <a:rPr lang="es-ES" sz="900" dirty="0">
                          <a:solidFill>
                            <a:schemeClr val="tx1"/>
                          </a:solidFill>
                          <a:latin typeface="Avenir 35" panose="00000400000000000000" pitchFamily="2" charset="0"/>
                          <a:cs typeface="Arial" panose="020B0604020202020204" pitchFamily="34" charset="0"/>
                        </a:rPr>
                        <a:t>FAQs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11003">
                <a:tc>
                  <a:txBody>
                    <a:bodyPr/>
                    <a:lstStyle/>
                    <a:p>
                      <a:pPr marL="171450" indent="-171450" algn="l">
                        <a:spcAft>
                          <a:spcPts val="0"/>
                        </a:spcAft>
                        <a:buFont typeface="Wingdings" panose="05000000000000000000" pitchFamily="2" charset="2"/>
                        <a:buChar char="§"/>
                      </a:pPr>
                      <a:r>
                        <a:rPr lang="es-ES" sz="900" dirty="0">
                          <a:solidFill>
                            <a:schemeClr val="tx1"/>
                          </a:solidFill>
                          <a:latin typeface="Avenir 35" panose="00000400000000000000" pitchFamily="2" charset="0"/>
                          <a:cs typeface="Arial" panose="020B0604020202020204" pitchFamily="34" charset="0"/>
                        </a:rPr>
                        <a:t>Reporte</a:t>
                      </a:r>
                      <a:r>
                        <a:rPr lang="es-ES" sz="900" baseline="0" dirty="0">
                          <a:solidFill>
                            <a:schemeClr val="tx1"/>
                          </a:solidFill>
                          <a:latin typeface="Avenir 35" panose="00000400000000000000" pitchFamily="2" charset="0"/>
                          <a:cs typeface="Arial" panose="020B0604020202020204" pitchFamily="34" charset="0"/>
                        </a:rPr>
                        <a:t> Periódico Campaña (Con análisis de Grupo de Control)</a:t>
                      </a:r>
                      <a:endParaRPr lang="es-ES" sz="900" dirty="0">
                        <a:solidFill>
                          <a:schemeClr val="tx1"/>
                        </a:solidFill>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1639">
                <a:tc>
                  <a:txBody>
                    <a:bodyPr/>
                    <a:lstStyle/>
                    <a:p>
                      <a:pPr marL="171450" indent="-171450" algn="l">
                        <a:spcAft>
                          <a:spcPts val="0"/>
                        </a:spcAft>
                        <a:buFont typeface="Wingdings" panose="05000000000000000000" pitchFamily="2" charset="2"/>
                        <a:buChar char="§"/>
                      </a:pPr>
                      <a:r>
                        <a:rPr lang="es-ES" sz="900" dirty="0">
                          <a:solidFill>
                            <a:schemeClr val="tx1"/>
                          </a:solidFill>
                          <a:latin typeface="Avenir 35" panose="00000400000000000000" pitchFamily="2" charset="0"/>
                          <a:cs typeface="Arial" panose="020B0604020202020204" pitchFamily="34" charset="0"/>
                        </a:rPr>
                        <a:t>Alineación de resultados con la red comercial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65786">
                <a:tc>
                  <a:txBody>
                    <a:bodyPr/>
                    <a:lstStyle/>
                    <a:p>
                      <a:pPr marL="171450" indent="-171450" algn="l">
                        <a:spcAft>
                          <a:spcPts val="0"/>
                        </a:spcAft>
                        <a:buFont typeface="Wingdings" panose="05000000000000000000" pitchFamily="2" charset="2"/>
                        <a:buChar char="§"/>
                      </a:pPr>
                      <a:r>
                        <a:rPr lang="es-ES" sz="900" dirty="0">
                          <a:solidFill>
                            <a:schemeClr val="tx1"/>
                          </a:solidFill>
                          <a:latin typeface="Avenir 35" panose="00000400000000000000" pitchFamily="2" charset="0"/>
                          <a:cs typeface="Arial" panose="020B0604020202020204" pitchFamily="34" charset="0"/>
                        </a:rPr>
                        <a:t>Lecciones Aprendidas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65786">
                <a:tc>
                  <a:txBody>
                    <a:bodyPr/>
                    <a:lstStyle/>
                    <a:p>
                      <a:pPr marL="171450" indent="-171450" algn="l">
                        <a:spcAft>
                          <a:spcPts val="0"/>
                        </a:spcAft>
                        <a:buFont typeface="Wingdings" panose="05000000000000000000" pitchFamily="2" charset="2"/>
                        <a:buChar char="§"/>
                      </a:pPr>
                      <a:r>
                        <a:rPr lang="es-ES" sz="900" dirty="0">
                          <a:solidFill>
                            <a:schemeClr val="tx1"/>
                          </a:solidFill>
                          <a:latin typeface="Avenir 35" panose="00000400000000000000" pitchFamily="2" charset="0"/>
                          <a:cs typeface="Arial" panose="020B0604020202020204" pitchFamily="34" charset="0"/>
                        </a:rPr>
                        <a:t>Repositorio</a:t>
                      </a:r>
                      <a:r>
                        <a:rPr lang="es-ES" sz="900" baseline="0" dirty="0">
                          <a:solidFill>
                            <a:schemeClr val="tx1"/>
                          </a:solidFill>
                          <a:latin typeface="Avenir 35" panose="00000400000000000000" pitchFamily="2" charset="0"/>
                          <a:cs typeface="Arial" panose="020B0604020202020204" pitchFamily="34" charset="0"/>
                        </a:rPr>
                        <a:t> de Campañas</a:t>
                      </a:r>
                      <a:endParaRPr lang="es-ES" sz="900" dirty="0">
                        <a:solidFill>
                          <a:schemeClr val="tx1"/>
                        </a:solidFill>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41" name="40 Rectángulo"/>
          <p:cNvSpPr/>
          <p:nvPr/>
        </p:nvSpPr>
        <p:spPr>
          <a:xfrm>
            <a:off x="458234" y="2204866"/>
            <a:ext cx="2046494" cy="2376263"/>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36000" bIns="72000" rtlCol="0" anchor="t"/>
          <a:lstStyle/>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Easy Money España &amp; AG define la estrategia de la campaña, objetivo,  orientación de la campaña y target de cliente.</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Comunicación y coordinación con proveedores de comunicación.</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Planificación de la campaña.</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El proveedor participa como oyente para conocer el contexto de la campaña y orientar de manera más efectiva el resto de fases.</a:t>
            </a:r>
          </a:p>
        </p:txBody>
      </p:sp>
      <p:sp>
        <p:nvSpPr>
          <p:cNvPr id="36" name="1 Título"/>
          <p:cNvSpPr txBox="1">
            <a:spLocks/>
          </p:cNvSpPr>
          <p:nvPr/>
        </p:nvSpPr>
        <p:spPr>
          <a:xfrm>
            <a:off x="0" y="207172"/>
            <a:ext cx="9906000" cy="370484"/>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noAutofit/>
          </a:bodyPr>
          <a:lstStyle>
            <a:defPPr>
              <a:defRPr lang="es-ES"/>
            </a:defPPr>
            <a:lvl1pPr algn="ctr">
              <a:spcBef>
                <a:spcPct val="0"/>
              </a:spcBef>
              <a:buNone/>
              <a:defRPr sz="1600">
                <a:solidFill>
                  <a:schemeClr val="tx1">
                    <a:lumMod val="50000"/>
                    <a:lumOff val="50000"/>
                  </a:schemeClr>
                </a:solidFill>
                <a:latin typeface="Century Gothic" panose="020B0502020202020204" pitchFamily="34" charset="0"/>
                <a:ea typeface="+mj-ea"/>
                <a:cs typeface="+mj-cs"/>
              </a:defRPr>
            </a:lvl1pPr>
          </a:lstStyle>
          <a:p>
            <a:r>
              <a:rPr lang="en-US" dirty="0">
                <a:solidFill>
                  <a:srgbClr val="323232"/>
                </a:solidFill>
                <a:latin typeface="Avenir 35" panose="00000400000000000000" pitchFamily="2" charset="0"/>
              </a:rPr>
              <a:t>Metodologías &amp; Herramientas</a:t>
            </a:r>
          </a:p>
          <a:p>
            <a:endParaRPr lang="en-US" dirty="0">
              <a:solidFill>
                <a:srgbClr val="323232"/>
              </a:solidFill>
              <a:latin typeface="Avenir 35" panose="00000400000000000000" pitchFamily="2" charset="0"/>
            </a:endParaRPr>
          </a:p>
        </p:txBody>
      </p:sp>
      <p:sp>
        <p:nvSpPr>
          <p:cNvPr id="9" name="6 CuadroTexto"/>
          <p:cNvSpPr txBox="1"/>
          <p:nvPr/>
        </p:nvSpPr>
        <p:spPr>
          <a:xfrm>
            <a:off x="632527" y="414018"/>
            <a:ext cx="8660261" cy="400110"/>
          </a:xfrm>
          <a:prstGeom prst="rect">
            <a:avLst/>
          </a:prstGeom>
          <a:noFill/>
        </p:spPr>
        <p:txBody>
          <a:bodyPr wrap="square" rtlCol="0">
            <a:spAutoFit/>
          </a:bodyPr>
          <a:lstStyle/>
          <a:p>
            <a:pPr algn="ctr"/>
            <a:r>
              <a:rPr lang="es-ES" sz="2000" b="1" dirty="0">
                <a:solidFill>
                  <a:srgbClr val="323232"/>
                </a:solidFill>
                <a:latin typeface="Avenir 35" panose="00000400000000000000" pitchFamily="2" charset="0"/>
              </a:rPr>
              <a:t>METODOLOGÍA - EXPLOTACIÓN</a:t>
            </a:r>
            <a:endParaRPr lang="es-ES" sz="1400" b="1" dirty="0">
              <a:solidFill>
                <a:srgbClr val="323232"/>
              </a:solidFill>
              <a:latin typeface="Avenir 35" panose="00000400000000000000" pitchFamily="2" charset="0"/>
            </a:endParaRPr>
          </a:p>
        </p:txBody>
      </p:sp>
      <p:sp>
        <p:nvSpPr>
          <p:cNvPr id="22" name="19 Rectángulo"/>
          <p:cNvSpPr/>
          <p:nvPr/>
        </p:nvSpPr>
        <p:spPr bwMode="auto">
          <a:xfrm>
            <a:off x="128496" y="2303365"/>
            <a:ext cx="288000" cy="2277764"/>
          </a:xfrm>
          <a:prstGeom prst="rect">
            <a:avLst/>
          </a:prstGeom>
          <a:solidFill>
            <a:srgbClr val="4BACC6"/>
          </a:solidFill>
          <a:ln w="12700" cap="flat" cmpd="sng" algn="ctr">
            <a:noFill/>
            <a:prstDash val="solid"/>
            <a:round/>
            <a:headEnd type="none" w="med" len="med"/>
            <a:tailEnd type="none" w="med" len="med"/>
          </a:ln>
          <a:effectLst/>
        </p:spPr>
        <p:txBody>
          <a:bodyPr vert="vert270" lIns="91350" tIns="45670" rIns="91350" bIns="45670" anchor="ctr"/>
          <a:lstStyle/>
          <a:p>
            <a:pPr algn="ctr" defTabSz="915052" eaLnBrk="0" hangingPunct="0">
              <a:spcBef>
                <a:spcPts val="300"/>
              </a:spcBef>
              <a:buClr>
                <a:srgbClr val="9AAE04"/>
              </a:buClr>
            </a:pPr>
            <a:r>
              <a:rPr lang="es-ES" sz="1050" kern="0" dirty="0">
                <a:solidFill>
                  <a:schemeClr val="bg1"/>
                </a:solidFill>
                <a:latin typeface="Avenir 35" panose="00000400000000000000" pitchFamily="2" charset="0"/>
                <a:cs typeface="Arial" pitchFamily="34" charset="0"/>
              </a:rPr>
              <a:t>Actividades</a:t>
            </a:r>
          </a:p>
        </p:txBody>
      </p:sp>
      <p:sp>
        <p:nvSpPr>
          <p:cNvPr id="27" name="Chevron 118"/>
          <p:cNvSpPr/>
          <p:nvPr/>
        </p:nvSpPr>
        <p:spPr>
          <a:xfrm>
            <a:off x="488504" y="1522450"/>
            <a:ext cx="2340000" cy="644748"/>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r>
              <a:rPr lang="es-ES" sz="1000" dirty="0">
                <a:solidFill>
                  <a:srgbClr val="FFFFFF"/>
                </a:solidFill>
                <a:latin typeface="Avenir 35" panose="00000400000000000000" pitchFamily="2" charset="0"/>
                <a:cs typeface="Arial" pitchFamily="34" charset="0"/>
              </a:rPr>
              <a:t>Briefing de Campaña</a:t>
            </a:r>
          </a:p>
        </p:txBody>
      </p:sp>
      <p:sp>
        <p:nvSpPr>
          <p:cNvPr id="28" name="Chevron 119"/>
          <p:cNvSpPr/>
          <p:nvPr/>
        </p:nvSpPr>
        <p:spPr>
          <a:xfrm>
            <a:off x="2816763" y="1522450"/>
            <a:ext cx="2340000" cy="646414"/>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Preparación</a:t>
            </a:r>
            <a:endParaRPr lang="en-US" sz="1000" kern="0" dirty="0">
              <a:solidFill>
                <a:srgbClr val="FFFFFF"/>
              </a:solidFill>
              <a:latin typeface="Avenir 35" panose="00000400000000000000" pitchFamily="2" charset="0"/>
              <a:cs typeface="Arial" pitchFamily="34" charset="0"/>
            </a:endParaRPr>
          </a:p>
        </p:txBody>
      </p:sp>
      <p:sp>
        <p:nvSpPr>
          <p:cNvPr id="31" name="Chevron 122"/>
          <p:cNvSpPr/>
          <p:nvPr/>
        </p:nvSpPr>
        <p:spPr>
          <a:xfrm>
            <a:off x="5145022" y="1522450"/>
            <a:ext cx="2340000" cy="660142"/>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Ejecución</a:t>
            </a:r>
            <a:endParaRPr lang="en-US" sz="1000" kern="0" dirty="0">
              <a:solidFill>
                <a:srgbClr val="FFFFFF"/>
              </a:solidFill>
              <a:latin typeface="Avenir 35" panose="00000400000000000000" pitchFamily="2" charset="0"/>
              <a:cs typeface="Arial" pitchFamily="34" charset="0"/>
            </a:endParaRPr>
          </a:p>
        </p:txBody>
      </p:sp>
      <p:sp>
        <p:nvSpPr>
          <p:cNvPr id="32" name="31 Rectángulo"/>
          <p:cNvSpPr/>
          <p:nvPr/>
        </p:nvSpPr>
        <p:spPr bwMode="auto">
          <a:xfrm>
            <a:off x="128496" y="1522798"/>
            <a:ext cx="288000" cy="644400"/>
          </a:xfrm>
          <a:prstGeom prst="rect">
            <a:avLst/>
          </a:prstGeom>
          <a:solidFill>
            <a:srgbClr val="4BACC6"/>
          </a:solidFill>
          <a:ln w="12700" cap="flat" cmpd="sng" algn="ctr">
            <a:noFill/>
            <a:prstDash val="solid"/>
            <a:round/>
            <a:headEnd type="none" w="med" len="med"/>
            <a:tailEnd type="none" w="med" len="med"/>
          </a:ln>
          <a:effectLst/>
        </p:spPr>
        <p:txBody>
          <a:bodyPr vert="vert270" lIns="91350" tIns="45670" rIns="91350" bIns="45670" anchor="ctr"/>
          <a:lstStyle/>
          <a:p>
            <a:pPr algn="ctr" defTabSz="915052" eaLnBrk="0" hangingPunct="0">
              <a:spcBef>
                <a:spcPts val="300"/>
              </a:spcBef>
              <a:buClr>
                <a:srgbClr val="9AAE04"/>
              </a:buClr>
            </a:pPr>
            <a:r>
              <a:rPr lang="es-ES" sz="1050" kern="0" dirty="0">
                <a:solidFill>
                  <a:schemeClr val="bg1"/>
                </a:solidFill>
                <a:latin typeface="Avenir 35" panose="00000400000000000000" pitchFamily="2" charset="0"/>
                <a:cs typeface="Arial" pitchFamily="34" charset="0"/>
              </a:rPr>
              <a:t>Fases</a:t>
            </a:r>
          </a:p>
        </p:txBody>
      </p:sp>
      <p:sp>
        <p:nvSpPr>
          <p:cNvPr id="43" name="36 Rectángulo"/>
          <p:cNvSpPr/>
          <p:nvPr/>
        </p:nvSpPr>
        <p:spPr>
          <a:xfrm>
            <a:off x="2825783" y="2168864"/>
            <a:ext cx="2127219" cy="2412265"/>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0" bIns="72000" rtlCol="0" anchor="t"/>
          <a:lstStyle/>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Definición de la estrategia de segmentación, target group.</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Extraer segmentaciones  de clientes o potenciales objetivo.</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Depurar las segmentaciones de clientes o potenciales objetivo.</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Eliminar la lista de clientes o potenciales Robinson.</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Estimar la posibilidad de retorno económico de una campaña.</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Realizar un mapa de contactos.</a:t>
            </a:r>
          </a:p>
          <a:p>
            <a:pPr marL="171450" indent="-171450" defTabSz="825500">
              <a:spcAft>
                <a:spcPts val="600"/>
              </a:spcAft>
              <a:buFont typeface="Wingdings" pitchFamily="2" charset="2"/>
              <a:buChar char="§"/>
            </a:pPr>
            <a:endParaRPr lang="es-ES" sz="800" kern="0" dirty="0">
              <a:solidFill>
                <a:srgbClr val="323232"/>
              </a:solidFill>
              <a:latin typeface="Avenir 35" panose="00000400000000000000" pitchFamily="2" charset="0"/>
              <a:cs typeface="Arial" pitchFamily="34" charset="0"/>
              <a:sym typeface="Calibri"/>
            </a:endParaRPr>
          </a:p>
        </p:txBody>
      </p:sp>
      <p:sp>
        <p:nvSpPr>
          <p:cNvPr id="44" name="36 Rectángulo"/>
          <p:cNvSpPr/>
          <p:nvPr/>
        </p:nvSpPr>
        <p:spPr>
          <a:xfrm>
            <a:off x="5241033" y="2188257"/>
            <a:ext cx="1944216" cy="2536887"/>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0" bIns="72000" rtlCol="0" anchor="t"/>
          <a:lstStyle/>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Validar con los responsables de la BU de Easy Money AG.</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Definir y configurar la campaña en CRM a los target group acordados.</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Ejecutar  la campaña a través de CRM involucrando a la agencia o con Factory Content.</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Coordinar internamente a todas las concesiones o SSOO .</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Definir Workflow y argumentario  para el Call Center.</a:t>
            </a:r>
          </a:p>
          <a:p>
            <a:pPr marL="171450" indent="-171450" defTabSz="825500">
              <a:spcAft>
                <a:spcPts val="300"/>
              </a:spcAft>
              <a:buFont typeface="Wingdings" pitchFamily="2" charset="2"/>
              <a:buChar char="§"/>
            </a:pPr>
            <a:endParaRPr lang="es-ES" sz="800" kern="0" dirty="0">
              <a:solidFill>
                <a:srgbClr val="323232"/>
              </a:solidFill>
              <a:latin typeface="Avenir 35" panose="00000400000000000000" pitchFamily="2" charset="0"/>
              <a:cs typeface="Arial" pitchFamily="34" charset="0"/>
              <a:sym typeface="Calibri"/>
            </a:endParaRPr>
          </a:p>
          <a:p>
            <a:pPr marL="171450" indent="-171450" defTabSz="825500">
              <a:spcAft>
                <a:spcPts val="300"/>
              </a:spcAft>
              <a:buFont typeface="Wingdings" pitchFamily="2" charset="2"/>
              <a:buChar char="§"/>
            </a:pPr>
            <a:endParaRPr lang="es-ES" sz="800" kern="0" dirty="0">
              <a:solidFill>
                <a:srgbClr val="323232"/>
              </a:solidFill>
              <a:latin typeface="Avenir 35" panose="00000400000000000000" pitchFamily="2" charset="0"/>
              <a:cs typeface="Arial" pitchFamily="34" charset="0"/>
              <a:sym typeface="Calibri"/>
            </a:endParaRPr>
          </a:p>
        </p:txBody>
      </p:sp>
      <p:sp>
        <p:nvSpPr>
          <p:cNvPr id="4" name="3 Rectángulo"/>
          <p:cNvSpPr/>
          <p:nvPr/>
        </p:nvSpPr>
        <p:spPr>
          <a:xfrm>
            <a:off x="7545288" y="2204864"/>
            <a:ext cx="2016224" cy="2520280"/>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36000" tIns="72000" rIns="0" bIns="72000" rtlCol="0" anchor="t"/>
          <a:lstStyle/>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Definición de KPI's con los que medir el éxito de la campaña.</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Definir el método de recoger la información necesaria para calcular dichos KPI's: automático (Integrando los ficheros de Easy Money AG, módulo de reporting SF o Herramienta de Analítica Web) </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Análisis de las muestras de control para medir las campañas.</a:t>
            </a:r>
          </a:p>
          <a:p>
            <a:pPr marL="287338" lvl="1" indent="-285750" defTabSz="915988">
              <a:spcBef>
                <a:spcPct val="50000"/>
              </a:spcBef>
              <a:buClr>
                <a:prstClr val="white">
                  <a:lumMod val="50000"/>
                </a:prstClr>
              </a:buClr>
              <a:buFont typeface="Arial" pitchFamily="34" charset="0"/>
              <a:buChar char="•"/>
            </a:pPr>
            <a:r>
              <a:rPr lang="es-ES" sz="900" kern="0" dirty="0">
                <a:solidFill>
                  <a:prstClr val="black"/>
                </a:solidFill>
                <a:latin typeface="Avenir 35" panose="00000400000000000000" pitchFamily="2" charset="0"/>
              </a:rPr>
              <a:t>Análisis en tiempo real de la performance de las campañas. (evolutivo)</a:t>
            </a:r>
          </a:p>
          <a:p>
            <a:pPr marL="171450" indent="-171450" defTabSz="825500">
              <a:spcAft>
                <a:spcPts val="300"/>
              </a:spcAft>
              <a:buFont typeface="Wingdings" pitchFamily="2" charset="2"/>
              <a:buChar char="§"/>
            </a:pPr>
            <a:endParaRPr lang="es-ES" sz="800" b="1" kern="0" dirty="0">
              <a:solidFill>
                <a:srgbClr val="323232"/>
              </a:solidFill>
              <a:latin typeface="Avenir 35" panose="00000400000000000000" pitchFamily="2" charset="0"/>
              <a:cs typeface="Arial" pitchFamily="34" charset="0"/>
              <a:sym typeface="Calibri"/>
            </a:endParaRPr>
          </a:p>
        </p:txBody>
      </p:sp>
      <p:sp>
        <p:nvSpPr>
          <p:cNvPr id="21" name="Chevron 121"/>
          <p:cNvSpPr/>
          <p:nvPr/>
        </p:nvSpPr>
        <p:spPr>
          <a:xfrm>
            <a:off x="7473280" y="1522450"/>
            <a:ext cx="2340000" cy="660142"/>
          </a:xfrm>
          <a:prstGeom prst="chevron">
            <a:avLst>
              <a:gd name="adj" fmla="val 27778"/>
            </a:avLst>
          </a:prstGeom>
          <a:solidFill>
            <a:schemeClr val="tx1">
              <a:lumMod val="65000"/>
              <a:lumOff val="35000"/>
            </a:schemeClr>
          </a:solidFill>
          <a:ln w="3175" cap="flat" cmpd="sng" algn="ctr">
            <a:noFill/>
            <a:prstDash val="solid"/>
            <a:round/>
            <a:headEnd type="none" w="med" len="med"/>
            <a:tailEnd type="none" w="med" len="med"/>
          </a:ln>
          <a:effectLst/>
        </p:spPr>
        <p:txBody>
          <a:bodyPr vert="horz" wrap="square" lIns="36000" tIns="45720" rIns="36000" bIns="45720" numCol="1" rtlCol="0" anchor="ctr" anchorCtr="0" compatLnSpc="1">
            <a:prstTxWarp prst="textNoShape">
              <a:avLst/>
            </a:prstTxWarp>
          </a:bodyPr>
          <a:lstStyle/>
          <a:p>
            <a:pPr algn="ctr">
              <a:defRPr/>
            </a:pPr>
            <a:r>
              <a:rPr lang="es-ES" sz="1000" kern="0" dirty="0">
                <a:solidFill>
                  <a:srgbClr val="FFFFFF"/>
                </a:solidFill>
                <a:latin typeface="Avenir 35" panose="00000400000000000000" pitchFamily="2" charset="0"/>
                <a:cs typeface="Arial" pitchFamily="34" charset="0"/>
              </a:rPr>
              <a:t>Medición</a:t>
            </a:r>
            <a:endParaRPr lang="en-US" sz="1000" kern="0" dirty="0">
              <a:solidFill>
                <a:srgbClr val="FFFFFF"/>
              </a:solidFill>
              <a:latin typeface="Avenir 35" panose="00000400000000000000" pitchFamily="2" charset="0"/>
              <a:cs typeface="Arial" pitchFamily="34" charset="0"/>
            </a:endParaRPr>
          </a:p>
        </p:txBody>
      </p:sp>
      <p:sp>
        <p:nvSpPr>
          <p:cNvPr id="20" name="AutoShape 4"/>
          <p:cNvSpPr>
            <a:spLocks noChangeArrowheads="1"/>
          </p:cNvSpPr>
          <p:nvPr/>
        </p:nvSpPr>
        <p:spPr bwMode="auto">
          <a:xfrm>
            <a:off x="632527" y="832079"/>
            <a:ext cx="8660261" cy="432048"/>
          </a:xfrm>
          <a:prstGeom prst="roundRect">
            <a:avLst>
              <a:gd name="adj" fmla="val 12500"/>
            </a:avLst>
          </a:prstGeom>
        </p:spPr>
        <p:txBody>
          <a:bodyPr lIns="92583" tIns="46292" rIns="92583" bIns="46292" anchor="ctr">
            <a:noAutofit/>
          </a:bodyPr>
          <a:lstStyle/>
          <a:p>
            <a:pPr algn="ctr"/>
            <a:r>
              <a:rPr lang="es-ES" sz="1000" dirty="0">
                <a:solidFill>
                  <a:srgbClr val="505050"/>
                </a:solidFill>
                <a:latin typeface="Avenir 35" panose="00000400000000000000" pitchFamily="2" charset="0"/>
                <a:cs typeface="Arial" panose="020B0604020202020204" pitchFamily="34" charset="0"/>
              </a:rPr>
              <a:t>Proponemos utilizar nuestro marco metodológico CRM, que cubre desde la definición de la Estrategia hasta su ejecución de las Campañas para ayudar a BANCO a definir y operar la oficina de Campañas de Marketing. </a:t>
            </a:r>
          </a:p>
        </p:txBody>
      </p:sp>
      <p:sp>
        <p:nvSpPr>
          <p:cNvPr id="24" name="19 Rectángulo"/>
          <p:cNvSpPr/>
          <p:nvPr/>
        </p:nvSpPr>
        <p:spPr bwMode="auto">
          <a:xfrm>
            <a:off x="147059" y="4725144"/>
            <a:ext cx="288000" cy="2016224"/>
          </a:xfrm>
          <a:prstGeom prst="rect">
            <a:avLst/>
          </a:prstGeom>
          <a:solidFill>
            <a:srgbClr val="4BACC6"/>
          </a:solidFill>
          <a:ln w="12700" cap="flat" cmpd="sng" algn="ctr">
            <a:noFill/>
            <a:prstDash val="solid"/>
            <a:round/>
            <a:headEnd type="none" w="med" len="med"/>
            <a:tailEnd type="none" w="med" len="med"/>
          </a:ln>
          <a:effectLst/>
        </p:spPr>
        <p:txBody>
          <a:bodyPr vert="vert270" lIns="91350" tIns="45670" rIns="91350" bIns="45670" anchor="ctr"/>
          <a:lstStyle/>
          <a:p>
            <a:pPr algn="ctr" defTabSz="915052" eaLnBrk="0" hangingPunct="0">
              <a:spcBef>
                <a:spcPts val="300"/>
              </a:spcBef>
              <a:buClr>
                <a:srgbClr val="9AAE04"/>
              </a:buClr>
            </a:pPr>
            <a:r>
              <a:rPr lang="es-ES" sz="1050" kern="0" dirty="0">
                <a:solidFill>
                  <a:schemeClr val="bg1"/>
                </a:solidFill>
                <a:latin typeface="Avenir 35" panose="00000400000000000000" pitchFamily="2" charset="0"/>
                <a:cs typeface="Arial" pitchFamily="34" charset="0"/>
              </a:rPr>
              <a:t>Entregables</a:t>
            </a:r>
          </a:p>
        </p:txBody>
      </p:sp>
      <p:graphicFrame>
        <p:nvGraphicFramePr>
          <p:cNvPr id="38" name="15 Tabla"/>
          <p:cNvGraphicFramePr>
            <a:graphicFrameLocks noGrp="1"/>
          </p:cNvGraphicFramePr>
          <p:nvPr>
            <p:extLst>
              <p:ext uri="{D42A27DB-BD31-4B8C-83A1-F6EECF244321}">
                <p14:modId xmlns:p14="http://schemas.microsoft.com/office/powerpoint/2010/main" val="2428278012"/>
              </p:ext>
            </p:extLst>
          </p:nvPr>
        </p:nvGraphicFramePr>
        <p:xfrm>
          <a:off x="666338" y="4725142"/>
          <a:ext cx="1635588" cy="1584000"/>
        </p:xfrm>
        <a:graphic>
          <a:graphicData uri="http://schemas.openxmlformats.org/drawingml/2006/table">
            <a:tbl>
              <a:tblPr firstRow="1" bandRow="1">
                <a:tableStyleId>{2D5ABB26-0587-4C30-8999-92F81FD0307C}</a:tableStyleId>
              </a:tblPr>
              <a:tblGrid>
                <a:gridCol w="1635588">
                  <a:extLst>
                    <a:ext uri="{9D8B030D-6E8A-4147-A177-3AD203B41FA5}">
                      <a16:colId xmlns:a16="http://schemas.microsoft.com/office/drawing/2014/main" val="20000"/>
                    </a:ext>
                  </a:extLst>
                </a:gridCol>
              </a:tblGrid>
              <a:tr h="396000">
                <a:tc>
                  <a:txBody>
                    <a:bodyPr/>
                    <a:lstStyle/>
                    <a:p>
                      <a:pPr marL="171450" indent="-171450" algn="l">
                        <a:spcAft>
                          <a:spcPts val="600"/>
                        </a:spcAft>
                        <a:buFont typeface="Wingdings" panose="05000000000000000000" pitchFamily="2" charset="2"/>
                        <a:buChar char="§"/>
                      </a:pPr>
                      <a:r>
                        <a:rPr lang="es-ES" sz="900" dirty="0">
                          <a:solidFill>
                            <a:schemeClr val="tx1"/>
                          </a:solidFill>
                          <a:latin typeface="Avenir 35" panose="00000400000000000000" pitchFamily="2" charset="0"/>
                          <a:cs typeface="Arial" panose="020B0604020202020204" pitchFamily="34" charset="0"/>
                        </a:rPr>
                        <a:t>Enfoque</a:t>
                      </a:r>
                      <a:r>
                        <a:rPr lang="es-ES" sz="900" baseline="0" dirty="0">
                          <a:solidFill>
                            <a:schemeClr val="tx1"/>
                          </a:solidFill>
                          <a:latin typeface="Avenir 35" panose="00000400000000000000" pitchFamily="2" charset="0"/>
                          <a:cs typeface="Arial" panose="020B0604020202020204" pitchFamily="34" charset="0"/>
                        </a:rPr>
                        <a:t>  de  Campaña</a:t>
                      </a:r>
                      <a:endParaRPr lang="es-ES" sz="900" dirty="0">
                        <a:solidFill>
                          <a:schemeClr val="tx1"/>
                        </a:solidFill>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96000">
                <a:tc>
                  <a:txBody>
                    <a:bodyPr/>
                    <a:lstStyle/>
                    <a:p>
                      <a:pPr marL="171450" indent="-171450" algn="l">
                        <a:spcAft>
                          <a:spcPts val="600"/>
                        </a:spcAft>
                        <a:buFont typeface="Wingdings" panose="05000000000000000000" pitchFamily="2" charset="2"/>
                        <a:buChar char="§"/>
                      </a:pPr>
                      <a:r>
                        <a:rPr lang="es-ES" sz="900" dirty="0">
                          <a:solidFill>
                            <a:schemeClr val="tx1"/>
                          </a:solidFill>
                          <a:latin typeface="Avenir 35" panose="00000400000000000000" pitchFamily="2" charset="0"/>
                          <a:cs typeface="Arial" panose="020B0604020202020204" pitchFamily="34" charset="0"/>
                        </a:rPr>
                        <a:t>Forecast de Campaña</a:t>
                      </a:r>
                      <a:endParaRPr lang="es-ES" sz="1400" dirty="0">
                        <a:solidFill>
                          <a:schemeClr val="tx1"/>
                        </a:solidFill>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96000">
                <a:tc>
                  <a:txBody>
                    <a:bodyPr/>
                    <a:lstStyle/>
                    <a:p>
                      <a:pPr marL="171450" indent="-171450">
                        <a:spcAft>
                          <a:spcPts val="600"/>
                        </a:spcAft>
                        <a:buFont typeface="Wingdings" panose="05000000000000000000" pitchFamily="2" charset="2"/>
                        <a:buChar char="§"/>
                      </a:pPr>
                      <a:r>
                        <a:rPr lang="es-ES" sz="900" baseline="0" dirty="0">
                          <a:solidFill>
                            <a:schemeClr val="tx1"/>
                          </a:solidFill>
                          <a:latin typeface="Avenir 35" panose="00000400000000000000" pitchFamily="2" charset="0"/>
                          <a:cs typeface="Arial" panose="020B0604020202020204" pitchFamily="34" charset="0"/>
                        </a:rPr>
                        <a:t>Diseño Comunicación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96000">
                <a:tc>
                  <a:txBody>
                    <a:bodyPr/>
                    <a:lstStyle/>
                    <a:p>
                      <a:pPr marL="171450" indent="-171450">
                        <a:spcAft>
                          <a:spcPts val="600"/>
                        </a:spcAft>
                        <a:buFont typeface="Wingdings" panose="05000000000000000000" pitchFamily="2" charset="2"/>
                        <a:buChar char="§"/>
                      </a:pPr>
                      <a:r>
                        <a:rPr lang="es-ES" sz="900" baseline="0" dirty="0">
                          <a:solidFill>
                            <a:schemeClr val="tx1"/>
                          </a:solidFill>
                          <a:latin typeface="Avenir 35" panose="00000400000000000000" pitchFamily="2" charset="0"/>
                          <a:cs typeface="Arial" panose="020B0604020202020204" pitchFamily="34" charset="0"/>
                        </a:rPr>
                        <a:t>Calendario Campaña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graphicFrame>
        <p:nvGraphicFramePr>
          <p:cNvPr id="39" name="15 Tabla"/>
          <p:cNvGraphicFramePr>
            <a:graphicFrameLocks noGrp="1"/>
          </p:cNvGraphicFramePr>
          <p:nvPr>
            <p:extLst>
              <p:ext uri="{D42A27DB-BD31-4B8C-83A1-F6EECF244321}">
                <p14:modId xmlns:p14="http://schemas.microsoft.com/office/powerpoint/2010/main" val="2453224811"/>
              </p:ext>
            </p:extLst>
          </p:nvPr>
        </p:nvGraphicFramePr>
        <p:xfrm>
          <a:off x="3061293" y="4725142"/>
          <a:ext cx="1665001" cy="1980001"/>
        </p:xfrm>
        <a:graphic>
          <a:graphicData uri="http://schemas.openxmlformats.org/drawingml/2006/table">
            <a:tbl>
              <a:tblPr firstRow="1" bandRow="1">
                <a:tableStyleId>{2D5ABB26-0587-4C30-8999-92F81FD0307C}</a:tableStyleId>
              </a:tblPr>
              <a:tblGrid>
                <a:gridCol w="1665001">
                  <a:extLst>
                    <a:ext uri="{9D8B030D-6E8A-4147-A177-3AD203B41FA5}">
                      <a16:colId xmlns:a16="http://schemas.microsoft.com/office/drawing/2014/main" val="20000"/>
                    </a:ext>
                  </a:extLst>
                </a:gridCol>
              </a:tblGrid>
              <a:tr h="394737">
                <a:tc>
                  <a:txBody>
                    <a:bodyPr/>
                    <a:lstStyle/>
                    <a:p>
                      <a:pPr marL="171450" indent="-171450" algn="l">
                        <a:spcAft>
                          <a:spcPts val="600"/>
                        </a:spcAft>
                        <a:buFont typeface="Wingdings" panose="05000000000000000000" pitchFamily="2" charset="2"/>
                        <a:buChar char="§"/>
                      </a:pPr>
                      <a:r>
                        <a:rPr lang="es-ES" sz="900" b="0" dirty="0">
                          <a:solidFill>
                            <a:schemeClr val="tx1"/>
                          </a:solidFill>
                          <a:latin typeface="Avenir 35" panose="00000400000000000000" pitchFamily="2" charset="0"/>
                          <a:cs typeface="Arial" panose="020B0604020202020204" pitchFamily="34" charset="0"/>
                        </a:rPr>
                        <a:t>Parámetros de Segmentación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94737">
                <a:tc>
                  <a:txBody>
                    <a:bodyPr/>
                    <a:lstStyle/>
                    <a:p>
                      <a:pPr marL="171450" marR="0" indent="-171450" algn="l" defTabSz="825495" eaLnBrk="1" fontAlgn="auto" latinLnBrk="0" hangingPunct="1">
                        <a:lnSpc>
                          <a:spcPct val="100000"/>
                        </a:lnSpc>
                        <a:spcBef>
                          <a:spcPts val="0"/>
                        </a:spcBef>
                        <a:spcAft>
                          <a:spcPts val="600"/>
                        </a:spcAft>
                        <a:buClrTx/>
                        <a:buSzTx/>
                        <a:buFont typeface="Wingdings" panose="05000000000000000000" pitchFamily="2" charset="2"/>
                        <a:buChar char="§"/>
                        <a:tabLst/>
                        <a:defRPr/>
                      </a:pPr>
                      <a:r>
                        <a:rPr lang="es-ES" sz="900" dirty="0">
                          <a:solidFill>
                            <a:schemeClr val="tx1"/>
                          </a:solidFill>
                          <a:latin typeface="Avenir 35" panose="00000400000000000000" pitchFamily="2" charset="0"/>
                          <a:cs typeface="Arial" panose="020B0604020202020204" pitchFamily="34" charset="0"/>
                        </a:rPr>
                        <a:t>Segmentación de Potenciales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01053">
                <a:tc>
                  <a:txBody>
                    <a:bodyPr/>
                    <a:lstStyle/>
                    <a:p>
                      <a:pPr marL="171450" indent="-171450" algn="l">
                        <a:spcAft>
                          <a:spcPts val="600"/>
                        </a:spcAft>
                        <a:buFont typeface="Wingdings" panose="05000000000000000000" pitchFamily="2" charset="2"/>
                        <a:buChar char="§"/>
                      </a:pPr>
                      <a:r>
                        <a:rPr lang="es-ES" sz="900" dirty="0">
                          <a:solidFill>
                            <a:schemeClr val="tx1"/>
                          </a:solidFill>
                          <a:latin typeface="Avenir 35" panose="00000400000000000000" pitchFamily="2" charset="0"/>
                          <a:cs typeface="Arial" panose="020B0604020202020204" pitchFamily="34" charset="0"/>
                        </a:rPr>
                        <a:t>Establecimiento Grupo de Control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94737">
                <a:tc>
                  <a:txBody>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s-ES" sz="900" b="0" i="0" u="none" strike="noStrike" kern="1200" cap="none" spc="0" normalizeH="0" baseline="0" noProof="0" dirty="0">
                          <a:ln>
                            <a:noFill/>
                          </a:ln>
                          <a:solidFill>
                            <a:schemeClr val="tx1"/>
                          </a:solidFill>
                          <a:effectLst/>
                          <a:uLnTx/>
                          <a:uFillTx/>
                          <a:latin typeface="Avenir 35" panose="00000400000000000000" pitchFamily="2" charset="0"/>
                          <a:ea typeface="+mn-ea"/>
                          <a:cs typeface="Arial" panose="020B0604020202020204" pitchFamily="34" charset="0"/>
                        </a:rPr>
                        <a:t>Ficha de campaña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94737">
                <a:tc>
                  <a:txBody>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lang="es-ES" sz="900" dirty="0">
                          <a:solidFill>
                            <a:schemeClr val="tx1"/>
                          </a:solidFill>
                          <a:latin typeface="Avenir 35" panose="00000400000000000000" pitchFamily="2" charset="0"/>
                          <a:cs typeface="Arial" panose="020B0604020202020204" pitchFamily="34" charset="0"/>
                        </a:rPr>
                        <a:t>Forecast Campaña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aphicFrame>
        <p:nvGraphicFramePr>
          <p:cNvPr id="40" name="39 Tabla"/>
          <p:cNvGraphicFramePr>
            <a:graphicFrameLocks noGrp="1"/>
          </p:cNvGraphicFramePr>
          <p:nvPr>
            <p:extLst>
              <p:ext uri="{D42A27DB-BD31-4B8C-83A1-F6EECF244321}">
                <p14:modId xmlns:p14="http://schemas.microsoft.com/office/powerpoint/2010/main" val="1345090795"/>
              </p:ext>
            </p:extLst>
          </p:nvPr>
        </p:nvGraphicFramePr>
        <p:xfrm>
          <a:off x="5456248" y="4725142"/>
          <a:ext cx="1651373" cy="1980000"/>
        </p:xfrm>
        <a:graphic>
          <a:graphicData uri="http://schemas.openxmlformats.org/drawingml/2006/table">
            <a:tbl>
              <a:tblPr firstRow="1" bandRow="1">
                <a:tableStyleId>{2D5ABB26-0587-4C30-8999-92F81FD0307C}</a:tableStyleId>
              </a:tblPr>
              <a:tblGrid>
                <a:gridCol w="1651373">
                  <a:extLst>
                    <a:ext uri="{9D8B030D-6E8A-4147-A177-3AD203B41FA5}">
                      <a16:colId xmlns:a16="http://schemas.microsoft.com/office/drawing/2014/main" val="20000"/>
                    </a:ext>
                  </a:extLst>
                </a:gridCol>
              </a:tblGrid>
              <a:tr h="365786">
                <a:tc>
                  <a:txBody>
                    <a:bodyPr/>
                    <a:lstStyle/>
                    <a:p>
                      <a:pPr marL="171450" indent="-171450" algn="l">
                        <a:spcAft>
                          <a:spcPts val="600"/>
                        </a:spcAft>
                        <a:buFont typeface="Wingdings" panose="05000000000000000000" pitchFamily="2" charset="2"/>
                        <a:buChar char="§"/>
                      </a:pPr>
                      <a:r>
                        <a:rPr lang="es-ES" sz="900" dirty="0">
                          <a:solidFill>
                            <a:schemeClr val="tx1"/>
                          </a:solidFill>
                          <a:latin typeface="Avenir 35" panose="00000400000000000000" pitchFamily="2" charset="0"/>
                          <a:cs typeface="Arial" panose="020B0604020202020204" pitchFamily="34" charset="0"/>
                        </a:rPr>
                        <a:t>Segmentación Final Marca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5786">
                <a:tc>
                  <a:txBody>
                    <a:bodyPr/>
                    <a:lstStyle/>
                    <a:p>
                      <a:pPr marL="171450" indent="-171450" algn="l">
                        <a:spcAft>
                          <a:spcPts val="600"/>
                        </a:spcAft>
                        <a:buFont typeface="Wingdings" panose="05000000000000000000" pitchFamily="2" charset="2"/>
                        <a:buChar char="§"/>
                      </a:pPr>
                      <a:r>
                        <a:rPr lang="es-ES" sz="900" dirty="0">
                          <a:solidFill>
                            <a:schemeClr val="tx1"/>
                          </a:solidFill>
                          <a:latin typeface="Avenir 35" panose="00000400000000000000" pitchFamily="2" charset="0"/>
                          <a:cs typeface="Arial" panose="020B0604020202020204" pitchFamily="34" charset="0"/>
                        </a:rPr>
                        <a:t>Creatividad Final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1639">
                <a:tc>
                  <a:txBody>
                    <a:bodyPr/>
                    <a:lstStyle/>
                    <a:p>
                      <a:pPr marL="171450" marR="0" indent="-171450" algn="l" defTabSz="825495" eaLnBrk="1" fontAlgn="auto" latinLnBrk="0" hangingPunct="1">
                        <a:lnSpc>
                          <a:spcPct val="100000"/>
                        </a:lnSpc>
                        <a:spcBef>
                          <a:spcPts val="0"/>
                        </a:spcBef>
                        <a:spcAft>
                          <a:spcPts val="600"/>
                        </a:spcAft>
                        <a:buClrTx/>
                        <a:buSzTx/>
                        <a:buFont typeface="Wingdings" panose="05000000000000000000" pitchFamily="2" charset="2"/>
                        <a:buChar char="§"/>
                        <a:tabLst/>
                        <a:defRPr/>
                      </a:pPr>
                      <a:r>
                        <a:rPr lang="es-ES" sz="900" dirty="0">
                          <a:solidFill>
                            <a:schemeClr val="tx1"/>
                          </a:solidFill>
                          <a:latin typeface="Avenir 35" panose="00000400000000000000" pitchFamily="2" charset="0"/>
                          <a:cs typeface="Arial" panose="020B0604020202020204" pitchFamily="34" charset="0"/>
                        </a:rPr>
                        <a:t>Actualizar</a:t>
                      </a:r>
                      <a:r>
                        <a:rPr lang="es-ES" sz="900" baseline="0" dirty="0">
                          <a:solidFill>
                            <a:schemeClr val="tx1"/>
                          </a:solidFill>
                          <a:latin typeface="Avenir 35" panose="00000400000000000000" pitchFamily="2" charset="0"/>
                          <a:cs typeface="Arial" panose="020B0604020202020204" pitchFamily="34" charset="0"/>
                        </a:rPr>
                        <a:t> Ficha de Campaña</a:t>
                      </a:r>
                      <a:endParaRPr lang="es-ES" sz="900" dirty="0">
                        <a:solidFill>
                          <a:schemeClr val="tx1"/>
                        </a:solidFill>
                        <a:latin typeface="Avenir 35" panose="00000400000000000000" pitchFamily="2"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65786">
                <a:tc>
                  <a:txBody>
                    <a:bodyPr/>
                    <a:lstStyle/>
                    <a:p>
                      <a:pPr marL="171450" marR="0" indent="-171450" algn="l" defTabSz="825495" eaLnBrk="1" fontAlgn="auto" latinLnBrk="0" hangingPunct="1">
                        <a:lnSpc>
                          <a:spcPct val="100000"/>
                        </a:lnSpc>
                        <a:spcBef>
                          <a:spcPts val="0"/>
                        </a:spcBef>
                        <a:spcAft>
                          <a:spcPts val="600"/>
                        </a:spcAft>
                        <a:buClrTx/>
                        <a:buSzTx/>
                        <a:buFont typeface="Wingdings" panose="05000000000000000000" pitchFamily="2" charset="2"/>
                        <a:buChar char="§"/>
                        <a:tabLst/>
                        <a:defRPr/>
                      </a:pPr>
                      <a:r>
                        <a:rPr lang="es-ES" sz="900" dirty="0">
                          <a:solidFill>
                            <a:schemeClr val="tx1"/>
                          </a:solidFill>
                          <a:latin typeface="Avenir 35" panose="00000400000000000000" pitchFamily="2" charset="0"/>
                          <a:cs typeface="Arial" panose="020B0604020202020204" pitchFamily="34" charset="0"/>
                        </a:rPr>
                        <a:t>Workflows de Ejecución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11003">
                <a:tc>
                  <a:txBody>
                    <a:bodyPr/>
                    <a:lstStyle/>
                    <a:p>
                      <a:pPr marL="171450" marR="0" indent="-171450" algn="l" defTabSz="825495" eaLnBrk="1" fontAlgn="auto" latinLnBrk="0" hangingPunct="1">
                        <a:lnSpc>
                          <a:spcPct val="100000"/>
                        </a:lnSpc>
                        <a:spcBef>
                          <a:spcPts val="0"/>
                        </a:spcBef>
                        <a:spcAft>
                          <a:spcPts val="600"/>
                        </a:spcAft>
                        <a:buClrTx/>
                        <a:buSzTx/>
                        <a:buFont typeface="Wingdings" panose="05000000000000000000" pitchFamily="2" charset="2"/>
                        <a:buChar char="§"/>
                        <a:tabLst/>
                        <a:defRPr/>
                      </a:pPr>
                      <a:r>
                        <a:rPr lang="es-ES" sz="900" dirty="0">
                          <a:solidFill>
                            <a:schemeClr val="tx1"/>
                          </a:solidFill>
                          <a:latin typeface="Avenir 35" panose="00000400000000000000" pitchFamily="2" charset="0"/>
                          <a:cs typeface="Arial" panose="020B0604020202020204" pitchFamily="34" charset="0"/>
                        </a:rPr>
                        <a:t>Segmentación Final (Validada por el Dealer o SSOO)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25" name="Slide Number Placeholder 2"/>
          <p:cNvSpPr txBox="1">
            <a:spLocks/>
          </p:cNvSpPr>
          <p:nvPr/>
        </p:nvSpPr>
        <p:spPr>
          <a:xfrm>
            <a:off x="7545288" y="6639163"/>
            <a:ext cx="2311400" cy="246221"/>
          </a:xfrm>
          <a:prstGeom prst="rect">
            <a:avLst/>
          </a:prstGeom>
          <a:ln w="3175">
            <a:miter lim="400000"/>
          </a:ln>
        </p:spPr>
        <p:txBody>
          <a:bodyPr lIns="19594" tIns="19594" rIns="19594" bIns="19594" anchor="ctr">
            <a:spAutoFit/>
          </a:bodyPr>
          <a:lstStyle>
            <a:defPPr>
              <a:defRPr lang="es-ES"/>
            </a:defPPr>
            <a:lvl1pPr marL="0" algn="r" defTabSz="914400" rtl="0" eaLnBrk="1" latinLnBrk="0" hangingPunct="1">
              <a:defRPr sz="1400" kern="1200">
                <a:solidFill>
                  <a:srgbClr val="88888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0061AB-E3E3-4B82-98B1-945D99ABF5FB}" type="slidenum">
              <a:rPr lang="es-ES" sz="1100" smtClean="0">
                <a:solidFill>
                  <a:srgbClr val="000000">
                    <a:tint val="75000"/>
                  </a:srgbClr>
                </a:solidFill>
                <a:latin typeface="Avenir 35" panose="00000400000000000000" pitchFamily="2" charset="0"/>
              </a:rPr>
              <a:pPr/>
              <a:t>46</a:t>
            </a:fld>
            <a:endParaRPr lang="es-ES" sz="1100" dirty="0">
              <a:solidFill>
                <a:srgbClr val="000000">
                  <a:tint val="75000"/>
                </a:srgbClr>
              </a:solidFill>
              <a:latin typeface="Avenir 35" panose="00000400000000000000" pitchFamily="2" charset="0"/>
            </a:endParaRPr>
          </a:p>
        </p:txBody>
      </p:sp>
    </p:spTree>
    <p:extLst>
      <p:ext uri="{BB962C8B-B14F-4D97-AF65-F5344CB8AC3E}">
        <p14:creationId xmlns:p14="http://schemas.microsoft.com/office/powerpoint/2010/main" val="28679036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svpbq1svKUKM8W6LNJi6S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StB7F8JjHEmoLa6LhNPcK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QNuv7KdjwU2HVPnq3d7oy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q1JRivvDh0iZvu6pqJgc8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YzooicVmkKrA8PylE9bX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EZs2MXx5mE.qSoLqYbBJk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JzrwKApRKUy.up29lV7d9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ExznAo3xSEaBnU7FvRF9g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KJt0fhF6OkKttEtRkiMdT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Ex4fZ0SBE0eKMwsAO3c3O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Ju8kQT.hQEahy0rejBmcT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RI.o7fLgg0y.XFvTxKfCu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0mcoJFZLykOsDEeh2g5o8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dAGbjKQOj0OAuHjHI7iLV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dSaXl6qZJEaMHESm5XrVE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XTB2OuLFwE68uTuFLJRRv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stISnTTaUkeBStbSxcFiy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iaJJBBImrEybDAJ7cbeNt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QNuv7KdjwU2HVPnq3d7oyg"/>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QNuv7KdjwU2HVPnq3d7oyg"/>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q1JRivvDh0iZvu6pqJgc8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q1JRivvDh0iZvu6pqJgc8g"/>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pg7P3Djh58UCq1823XRCR7w"/>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pOo1JI0wAVk.r07S52dA3yg"/>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pUazEeORNDUmPDF2Icgtx8w"/>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pMEi8vmYDc0SqpbvUyTfjIA"/>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p2e0vyrW1Lka0fjQC3uJRAA"/>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2_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2700" dir="5400000" rotWithShape="0">
              <a:srgbClr val="000000">
                <a:alpha val="35000"/>
              </a:srgbClr>
            </a:outerShdw>
          </a:effectLst>
        </a:effectStyle>
        <a:effectStyle>
          <a:effectLst>
            <a:outerShdw blurRad="12700" dir="5400000" rotWithShape="0">
              <a:srgbClr val="000000">
                <a:alpha val="35000"/>
              </a:srgbClr>
            </a:outerShdw>
          </a:effectLst>
        </a:effectStyle>
        <a:effectStyle>
          <a:effectLst>
            <a:outerShdw blurRad="127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w="3175" cap="flat">
          <a:solidFill>
            <a:schemeClr val="bg1">
              <a:lumMod val="75000"/>
            </a:schemeClr>
          </a:solidFill>
          <a:prstDash val="solid"/>
          <a:bevel/>
        </a:ln>
        <a:effectLst>
          <a:outerShdw blurRad="12700" dir="5400000" rotWithShape="0">
            <a:srgbClr val="000000">
              <a:alpha val="35000"/>
            </a:srgbClr>
          </a:outerShdw>
        </a:effectLst>
      </a:spPr>
      <a:bodyPr rot="0" spcFirstLastPara="1" vertOverflow="overflow" horzOverflow="overflow" vert="horz" wrap="square" lIns="19594" tIns="19594" rIns="19594" bIns="19594" numCol="1" spcCol="38100" rtlCol="0" anchor="ctr">
        <a:noAutofit/>
      </a:bodyPr>
      <a:lstStyle>
        <a:defPPr marL="0" marR="0" indent="0" algn="ctr" defTabSz="825500" rtl="0" fontAlgn="auto" latinLnBrk="1"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Calibri"/>
            <a:ea typeface="Calibri"/>
            <a:cs typeface="Calibri"/>
            <a:sym typeface="Calibri"/>
          </a:defRPr>
        </a:defPPr>
      </a:lstStyle>
      <a:style>
        <a:lnRef idx="0">
          <a:scrgbClr r="0" g="0" b="0"/>
        </a:lnRef>
        <a:fillRef idx="0">
          <a:scrgbClr r="0" g="0" b="0"/>
        </a:fillRef>
        <a:effectRef idx="0">
          <a:scrgbClr r="0" g="0" b="0"/>
        </a:effectRef>
        <a:fontRef idx="none"/>
      </a:style>
    </a:spDef>
    <a:lnDef>
      <a:spPr>
        <a:noFill/>
        <a:ln w="3175" cap="flat">
          <a:solidFill>
            <a:srgbClr val="4F81BD"/>
          </a:solidFill>
          <a:prstDash val="solid"/>
          <a:bevel/>
        </a:ln>
        <a:effectLst>
          <a:outerShdw blurRad="127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Pr>
      <a:bodyPr rot="0" spcFirstLastPara="1" vertOverflow="overflow" horzOverflow="overflow" vert="horz" wrap="none" lIns="19594" tIns="19594" rIns="19594" bIns="19594" numCol="1" spcCol="38100" rtlCol="0" anchor="t">
        <a:spAutoFit/>
      </a:bodyPr>
      <a:lstStyle>
        <a:defPPr marL="0" marR="0" indent="0" algn="ctr" defTabSz="825500" rtl="0" fontAlgn="auto" latinLnBrk="1" hangingPunct="0">
          <a:lnSpc>
            <a:spcPct val="100000"/>
          </a:lnSpc>
          <a:spcBef>
            <a:spcPts val="0"/>
          </a:spcBef>
          <a:spcAft>
            <a:spcPts val="0"/>
          </a:spcAft>
          <a:buClrTx/>
          <a:buSzTx/>
          <a:buFontTx/>
          <a:buNone/>
          <a:tabLst/>
          <a:defRPr kumimoji="0" sz="2400" b="0" i="0" u="none" strike="noStrike" cap="none" spc="0" normalizeH="0" baseline="0" dirty="0" smtClean="0">
            <a:ln>
              <a:noFill/>
            </a:ln>
            <a:solidFill>
              <a:srgbClr val="000000"/>
            </a:solidFill>
            <a:effectLst/>
            <a:uFillTx/>
            <a:latin typeface="Arial" panose="020B0604020202020204" pitchFamily="34" charset="0"/>
            <a:cs typeface="Arial" panose="020B0604020202020204" pitchFamily="34" charset="0"/>
            <a:sym typeface="Calibri"/>
          </a:defRPr>
        </a:def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2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6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7202</TotalTime>
  <Words>7242</Words>
  <Application>Microsoft Office PowerPoint</Application>
  <PresentationFormat>A4 (210 x 297 mm)</PresentationFormat>
  <Paragraphs>1528</Paragraphs>
  <Slides>46</Slides>
  <Notes>18</Notes>
  <HiddenSlides>0</HiddenSlides>
  <MMClips>0</MMClips>
  <ScaleCrop>false</ScaleCrop>
  <HeadingPairs>
    <vt:vector size="8" baseType="variant">
      <vt:variant>
        <vt:lpstr>Fuentes usadas</vt:lpstr>
      </vt:variant>
      <vt:variant>
        <vt:i4>14</vt:i4>
      </vt:variant>
      <vt:variant>
        <vt:lpstr>Tema</vt:lpstr>
      </vt:variant>
      <vt:variant>
        <vt:i4>8</vt:i4>
      </vt:variant>
      <vt:variant>
        <vt:lpstr>Servidores OLE incrustados</vt:lpstr>
      </vt:variant>
      <vt:variant>
        <vt:i4>1</vt:i4>
      </vt:variant>
      <vt:variant>
        <vt:lpstr>Títulos de diapositiva</vt:lpstr>
      </vt:variant>
      <vt:variant>
        <vt:i4>46</vt:i4>
      </vt:variant>
    </vt:vector>
  </HeadingPairs>
  <TitlesOfParts>
    <vt:vector size="69" baseType="lpstr">
      <vt:lpstr>Arial</vt:lpstr>
      <vt:lpstr>Avenir 35</vt:lpstr>
      <vt:lpstr>Avenir 35 Light</vt:lpstr>
      <vt:lpstr>Avenir 65</vt:lpstr>
      <vt:lpstr>Calibri</vt:lpstr>
      <vt:lpstr>Calibri Light</vt:lpstr>
      <vt:lpstr>Century Gothic</vt:lpstr>
      <vt:lpstr>Corporate A BQ</vt:lpstr>
      <vt:lpstr>Franklin Gothic Demi Cond</vt:lpstr>
      <vt:lpstr>HelveticaNeueLT Std Thin</vt:lpstr>
      <vt:lpstr>Master Of Break</vt:lpstr>
      <vt:lpstr>Roboto Condensed</vt:lpstr>
      <vt:lpstr>Roboto Regular</vt:lpstr>
      <vt:lpstr>Wingdings</vt:lpstr>
      <vt:lpstr>Tema de Office</vt:lpstr>
      <vt:lpstr>12_Default</vt:lpstr>
      <vt:lpstr>2_Tema de Office</vt:lpstr>
      <vt:lpstr>3_Tema de Office</vt:lpstr>
      <vt:lpstr>4_Tema de Office</vt:lpstr>
      <vt:lpstr>5_Tema de Office</vt:lpstr>
      <vt:lpstr>1_Tema de Office</vt:lpstr>
      <vt:lpstr>6_Tema de Office</vt:lpstr>
      <vt:lpstr>Diapositiva de think-cell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everis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Alvaro Maestre Reyna</dc:creator>
  <cp:lastModifiedBy>Ashley Morrison</cp:lastModifiedBy>
  <cp:revision>310</cp:revision>
  <dcterms:created xsi:type="dcterms:W3CDTF">2016-04-06T13:44:20Z</dcterms:created>
  <dcterms:modified xsi:type="dcterms:W3CDTF">2026-04-04T11:01:29Z</dcterms:modified>
</cp:coreProperties>
</file>